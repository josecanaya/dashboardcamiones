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st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502920"/>
            <a:ext cx="320040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31089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3A56"/>
                </a:solidFill>
                <a:latin typeface="Calibri"/>
              </a:rPr>
              <a:t>Comité de seguridad y eficiencia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327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Nueva Vicentin Argentina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3611880"/>
            <a:ext cx="1325880" cy="508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3611880"/>
            <a:ext cx="1325880" cy="508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5943600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971032"/>
            <a:ext cx="2103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3A56"/>
                </a:solidFill>
                <a:latin typeface="Calibri"/>
              </a:rPr>
              <a:t>22/06/2026  —  05/07/2026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49840" y="5897880"/>
            <a:ext cx="1600200" cy="640080"/>
          </a:xfrm>
          <a:prstGeom prst="roundRect">
            <a:avLst>
              <a:gd name="adj" fmla="val 12000"/>
            </a:avLst>
          </a:prstGeom>
          <a:solidFill>
            <a:srgbClr val="1C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0" y="5943600"/>
            <a:ext cx="1463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Nueva
Vicentin
Argentina.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56032"/>
            <a:ext cx="1143000" cy="566928"/>
          </a:xfrm>
          <a:prstGeom prst="roundRect">
            <a:avLst>
              <a:gd name="adj" fmla="val 12000"/>
            </a:avLst>
          </a:prstGeom>
          <a:solidFill>
            <a:srgbClr val="1C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83464"/>
            <a:ext cx="10515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Nueva
Vicentin
Argentina.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"/>
            <a:ext cx="10332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F3A56"/>
                </a:solidFill>
                <a:latin typeface="Calibri"/>
              </a:rPr>
              <a:t>Tamaño de la Muestra y Periodo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932688"/>
            <a:ext cx="1600200" cy="508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0760" y="932688"/>
            <a:ext cx="1600200" cy="508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371600"/>
            <a:ext cx="3291840" cy="15087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81328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B6CB0"/>
                </a:solidFill>
                <a:latin typeface="Calibri"/>
              </a:rPr>
              <a:t>TOTAL CAPTADO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3291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2B6CB0"/>
                </a:solidFill>
                <a:latin typeface="Calibri"/>
              </a:rPr>
              <a:t>2.894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camiones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7860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Total real: 3.936 (74%)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371600"/>
            <a:ext cx="3291840" cy="15087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481328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Calibri"/>
              </a:rPr>
              <a:t>SOJA CAPTADA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783080"/>
            <a:ext cx="3291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2E7D32"/>
                </a:solidFill>
                <a:latin typeface="Calibri"/>
              </a:rPr>
              <a:t>2.775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37744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camiones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57860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Total real: 3.648 (76%)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371600"/>
            <a:ext cx="3291840" cy="15087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1481328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DE952E"/>
                </a:solidFill>
                <a:latin typeface="Calibri"/>
              </a:rPr>
              <a:t>GIRASOL CAPTADO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1783080"/>
            <a:ext cx="3291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DE952E"/>
                </a:solidFill>
                <a:latin typeface="Calibri"/>
              </a:rPr>
              <a:t>119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37744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camiones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57860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Total real: 288 (41%)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108960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3A56"/>
                </a:solidFill>
                <a:latin typeface="Calibri"/>
              </a:rPr>
              <a:t>DISPONIBILIDAD CAPTADA COMO % DEL TOTAL REAL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52044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Calibri"/>
              </a:rPr>
              <a:t>SOJA — 2.775 captados de 3.648 reales (76.1%)</a:t>
            </a:r>
          </a:p>
        </p:txBody>
      </p:sp>
      <p:pic>
        <p:nvPicPr>
          <p:cNvPr id="24" name="Picture 23" descr="soja_av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840480"/>
            <a:ext cx="5212080" cy="124713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22960" y="5074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DE952E"/>
                </a:solidFill>
                <a:latin typeface="Calibri"/>
              </a:rPr>
              <a:t>GIRASOL — 119 captados de 288 reales (41.3%)</a:t>
            </a:r>
          </a:p>
        </p:txBody>
      </p:sp>
      <p:pic>
        <p:nvPicPr>
          <p:cNvPr id="26" name="Picture 25" descr="gira_av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394960"/>
            <a:ext cx="5212080" cy="1247134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7040880" y="3108960"/>
            <a:ext cx="4480560" cy="31089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0" y="324612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3A56"/>
                </a:solidFill>
                <a:latin typeface="Calibri"/>
              </a:rPr>
              <a:t>MUESTRA SELECCIONADA PARA EL ANÁLISIS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352044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Se analiza la muestra clasificada del período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0" y="3977639"/>
            <a:ext cx="39319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79" y="411480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Calibri"/>
              </a:rPr>
              <a:t>SOJA · R7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4480560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76% del real de R7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4069080"/>
            <a:ext cx="1463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2E7D32"/>
                </a:solidFill>
                <a:latin typeface="Calibri"/>
              </a:rPr>
              <a:t>118,3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46177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Kilotoneladas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0" y="5074920"/>
            <a:ext cx="39319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79" y="52120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DE952E"/>
                </a:solidFill>
                <a:latin typeface="Calibri"/>
              </a:rPr>
              <a:t>GIRASOL · R5/R6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5577840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41% del real de R5+R6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5166360"/>
            <a:ext cx="1463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DE952E"/>
                </a:solidFill>
                <a:latin typeface="Calibri"/>
              </a:rPr>
              <a:t>8,5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571500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Kilotoneladas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56032"/>
            <a:ext cx="1143000" cy="566928"/>
          </a:xfrm>
          <a:prstGeom prst="roundRect">
            <a:avLst>
              <a:gd name="adj" fmla="val 12000"/>
            </a:avLst>
          </a:prstGeom>
          <a:solidFill>
            <a:srgbClr val="1C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83464"/>
            <a:ext cx="10515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Nueva
Vicentin
Argentina.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"/>
            <a:ext cx="10332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F3A56"/>
                </a:solidFill>
                <a:latin typeface="Calibri"/>
              </a:rPr>
              <a:t>Circuito R7  |  Producto: Soja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932688"/>
            <a:ext cx="1600200" cy="508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0760" y="932688"/>
            <a:ext cx="1600200" cy="508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734769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8368" y="1435608"/>
            <a:ext cx="292608" cy="292608"/>
          </a:xfrm>
          <a:prstGeom prst="ellipse">
            <a:avLst/>
          </a:prstGeom>
          <a:solidFill>
            <a:srgbClr val="1F3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44752"/>
            <a:ext cx="2926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453896"/>
            <a:ext cx="123184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6"/>
                </a:solidFill>
                <a:latin typeface="Calibri"/>
              </a:rPr>
              <a:t>Ingreso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828800"/>
            <a:ext cx="147873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Calibri"/>
              </a:rPr>
              <a:t>Ingreso → Preingreso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2286000"/>
            <a:ext cx="1478737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F3A56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807208"/>
            <a:ext cx="147873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Calibri"/>
              </a:rPr>
              <a:t>min - n=2137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20569" y="1325880"/>
            <a:ext cx="1734769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530297" y="1435608"/>
            <a:ext cx="292608" cy="292608"/>
          </a:xfrm>
          <a:prstGeom prst="ellipse">
            <a:avLst/>
          </a:prstGeom>
          <a:solidFill>
            <a:srgbClr val="1F3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30297" y="1444752"/>
            <a:ext cx="2926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7769" y="1453896"/>
            <a:ext cx="123184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6"/>
                </a:solidFill>
                <a:latin typeface="Calibri"/>
              </a:rPr>
              <a:t>Calada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48585" y="1828800"/>
            <a:ext cx="147873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Calibri"/>
              </a:rPr>
              <a:t>Preingreso → Calada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8585" y="2286000"/>
            <a:ext cx="1478737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F3A56"/>
                </a:solidFill>
                <a:latin typeface="Calibri"/>
              </a:rPr>
              <a:t>124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8585" y="2807208"/>
            <a:ext cx="147873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Calibri"/>
              </a:rPr>
              <a:t>min - n=2015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2498" y="1325880"/>
            <a:ext cx="1734769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02226" y="1435608"/>
            <a:ext cx="292608" cy="292608"/>
          </a:xfrm>
          <a:prstGeom prst="ellipse">
            <a:avLst/>
          </a:prstGeom>
          <a:solidFill>
            <a:srgbClr val="1F3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02226" y="1444752"/>
            <a:ext cx="2926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49698" y="1453896"/>
            <a:ext cx="123184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6"/>
                </a:solidFill>
                <a:latin typeface="Calibri"/>
              </a:rPr>
              <a:t>Egreso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0514" y="1828800"/>
            <a:ext cx="147873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Calibri"/>
              </a:rPr>
              <a:t>Calada → Egreso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0514" y="2286000"/>
            <a:ext cx="1478737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F3A56"/>
                </a:solidFill>
                <a:latin typeface="Calibri"/>
              </a:rPr>
              <a:t>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20514" y="2807208"/>
            <a:ext cx="147873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Calibri"/>
              </a:rPr>
              <a:t>min - n=2069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1325880"/>
            <a:ext cx="1734769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274155" y="1435608"/>
            <a:ext cx="292608" cy="292608"/>
          </a:xfrm>
          <a:prstGeom prst="ellipse">
            <a:avLst/>
          </a:prstGeom>
          <a:solidFill>
            <a:srgbClr val="1F3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74155" y="1444752"/>
            <a:ext cx="2926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1627" y="1453896"/>
            <a:ext cx="123184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6"/>
                </a:solidFill>
                <a:latin typeface="Calibri"/>
              </a:rPr>
              <a:t>Tránsito interpl.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2443" y="1828800"/>
            <a:ext cx="147873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Calibri"/>
              </a:rPr>
              <a:t>Egreso → Ingreso SL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92443" y="2286000"/>
            <a:ext cx="1478737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F3A56"/>
                </a:solidFill>
                <a:latin typeface="Calibri"/>
              </a:rPr>
              <a:t>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2443" y="2807208"/>
            <a:ext cx="147873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Calibri"/>
              </a:rPr>
              <a:t>min - n=1150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36356" y="1325880"/>
            <a:ext cx="1734769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46084" y="1435608"/>
            <a:ext cx="292608" cy="292608"/>
          </a:xfrm>
          <a:prstGeom prst="ellipse">
            <a:avLst/>
          </a:prstGeom>
          <a:solidFill>
            <a:srgbClr val="1F3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46084" y="1444752"/>
            <a:ext cx="2926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93556" y="1453896"/>
            <a:ext cx="123184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6"/>
                </a:solidFill>
                <a:latin typeface="Calibri"/>
              </a:rPr>
              <a:t>Espera Balanza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64372" y="1828800"/>
            <a:ext cx="147873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Calibri"/>
              </a:rPr>
              <a:t>Ingreso → Balanza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64372" y="2286000"/>
            <a:ext cx="1478737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F3A56"/>
                </a:solidFill>
                <a:latin typeface="Calibri"/>
              </a:rPr>
              <a:t>110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64372" y="2807208"/>
            <a:ext cx="147873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Calibri"/>
              </a:rPr>
              <a:t>min - n=653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908285" y="1325880"/>
            <a:ext cx="1734769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018013" y="1435608"/>
            <a:ext cx="292608" cy="292608"/>
          </a:xfrm>
          <a:prstGeom prst="ellipse">
            <a:avLst/>
          </a:prstGeom>
          <a:solidFill>
            <a:srgbClr val="1F3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18013" y="1444752"/>
            <a:ext cx="2926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65485" y="1453896"/>
            <a:ext cx="123184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6"/>
                </a:solidFill>
                <a:latin typeface="Calibri"/>
              </a:rPr>
              <a:t>Descarga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36301" y="1828800"/>
            <a:ext cx="147873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Calibri"/>
              </a:rPr>
              <a:t>Balanza In → Balanza Eg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36301" y="2286000"/>
            <a:ext cx="1478737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F3A56"/>
                </a:solidFill>
                <a:latin typeface="Calibri"/>
              </a:rPr>
              <a:t>62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36301" y="2807208"/>
            <a:ext cx="147873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Calibri"/>
              </a:rPr>
              <a:t>min - n=718</a:t>
            </a:r>
          </a:p>
        </p:txBody>
      </p:sp>
      <p:pic>
        <p:nvPicPr>
          <p:cNvPr id="49" name="Picture 48" descr="stack_R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383280"/>
            <a:ext cx="11064240" cy="1842826"/>
          </a:xfrm>
          <a:prstGeom prst="rect">
            <a:avLst/>
          </a:prstGeom>
        </p:spPr>
      </p:pic>
      <p:sp>
        <p:nvSpPr>
          <p:cNvPr id="50" name="Oval 49"/>
          <p:cNvSpPr/>
          <p:nvPr/>
        </p:nvSpPr>
        <p:spPr>
          <a:xfrm>
            <a:off x="640080" y="4818888"/>
            <a:ext cx="128016" cy="128016"/>
          </a:xfrm>
          <a:prstGeom prst="ellipse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477316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Ingreso (1.4%)</a:t>
            </a:r>
          </a:p>
        </p:txBody>
      </p:sp>
      <p:sp>
        <p:nvSpPr>
          <p:cNvPr id="52" name="Oval 51"/>
          <p:cNvSpPr/>
          <p:nvPr/>
        </p:nvSpPr>
        <p:spPr>
          <a:xfrm>
            <a:off x="2514599" y="4818888"/>
            <a:ext cx="128016" cy="128016"/>
          </a:xfrm>
          <a:prstGeom prst="ellipse">
            <a:avLst/>
          </a:prstGeom>
          <a:solidFill>
            <a:srgbClr val="E45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697479" y="477316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Calada (36.1%)</a:t>
            </a:r>
          </a:p>
        </p:txBody>
      </p:sp>
      <p:sp>
        <p:nvSpPr>
          <p:cNvPr id="54" name="Oval 53"/>
          <p:cNvSpPr/>
          <p:nvPr/>
        </p:nvSpPr>
        <p:spPr>
          <a:xfrm>
            <a:off x="4389118" y="4818888"/>
            <a:ext cx="128016" cy="128016"/>
          </a:xfrm>
          <a:prstGeom prst="ellipse">
            <a:avLst/>
          </a:prstGeom>
          <a:solidFill>
            <a:srgbClr val="6FB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1998" y="477316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Egreso (8.5%)</a:t>
            </a:r>
          </a:p>
        </p:txBody>
      </p:sp>
      <p:sp>
        <p:nvSpPr>
          <p:cNvPr id="56" name="Oval 55"/>
          <p:cNvSpPr/>
          <p:nvPr/>
        </p:nvSpPr>
        <p:spPr>
          <a:xfrm>
            <a:off x="6263637" y="4818888"/>
            <a:ext cx="128016" cy="128016"/>
          </a:xfrm>
          <a:prstGeom prst="ellipse">
            <a:avLst/>
          </a:prstGeom>
          <a:solidFill>
            <a:srgbClr val="9B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46517" y="477316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Tránsito interpl. (3.7%)</a:t>
            </a:r>
          </a:p>
        </p:txBody>
      </p:sp>
      <p:sp>
        <p:nvSpPr>
          <p:cNvPr id="58" name="Oval 57"/>
          <p:cNvSpPr/>
          <p:nvPr/>
        </p:nvSpPr>
        <p:spPr>
          <a:xfrm>
            <a:off x="8138156" y="4818888"/>
            <a:ext cx="128016" cy="128016"/>
          </a:xfrm>
          <a:prstGeom prst="ellipse">
            <a:avLst/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21036" y="477316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Espera Balanza (32.0%)</a:t>
            </a:r>
          </a:p>
        </p:txBody>
      </p:sp>
      <p:sp>
        <p:nvSpPr>
          <p:cNvPr id="60" name="Oval 59"/>
          <p:cNvSpPr/>
          <p:nvPr/>
        </p:nvSpPr>
        <p:spPr>
          <a:xfrm>
            <a:off x="10012675" y="4818888"/>
            <a:ext cx="128016" cy="128016"/>
          </a:xfrm>
          <a:prstGeom prst="ellipse">
            <a:avLst/>
          </a:prstGeom>
          <a:solidFill>
            <a:srgbClr val="4FB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195555" y="477316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Descarga (18.2%)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" y="5532120"/>
            <a:ext cx="4754880" cy="960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8680" y="5669280"/>
            <a:ext cx="2377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Calibri"/>
              </a:rPr>
              <a:t>TIEMPO MEDIO TOTAL
DEL CIRCUITO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91840" y="5623560"/>
            <a:ext cx="1371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2E7D32"/>
                </a:solidFill>
                <a:latin typeface="Calibri"/>
              </a:rPr>
              <a:t>232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0" y="5806440"/>
            <a:ext cx="731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min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91840" y="61722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(3.87 horas)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760720" y="5532120"/>
            <a:ext cx="5852160" cy="960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989320" y="5669280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6"/>
                </a:solidFill>
                <a:latin typeface="Calibri"/>
              </a:rPr>
              <a:t>Muestra COMPLETOS del circuito: 2.775 viajes - desvio total 127 min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89320" y="605332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Tiempos por tramo calculados desde Truckflow (camaras), igual que el software.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56032"/>
            <a:ext cx="1143000" cy="566928"/>
          </a:xfrm>
          <a:prstGeom prst="roundRect">
            <a:avLst>
              <a:gd name="adj" fmla="val 12000"/>
            </a:avLst>
          </a:prstGeom>
          <a:solidFill>
            <a:srgbClr val="1C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83464"/>
            <a:ext cx="10515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Nueva
Vicentin
Argentina.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"/>
            <a:ext cx="10332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F3A56"/>
                </a:solidFill>
                <a:latin typeface="Calibri"/>
              </a:rPr>
              <a:t>Circuito R7  |  Tramo: Calada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932688"/>
            <a:ext cx="1600200" cy="508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0760" y="932688"/>
            <a:ext cx="1600200" cy="508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2084831" cy="1051560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20848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Calibri"/>
              </a:rPr>
              <a:t>Tiempo medio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55648"/>
            <a:ext cx="208483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F3A56"/>
                </a:solidFill>
                <a:latin typeface="Calibri"/>
              </a:rPr>
              <a:t>124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12848"/>
            <a:ext cx="208483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16351" y="1371600"/>
            <a:ext cx="2084831" cy="1051560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16351" y="1481328"/>
            <a:ext cx="20848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Calibri"/>
              </a:rPr>
              <a:t>Desviacion estandar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6351" y="1755648"/>
            <a:ext cx="208483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2B6CB0"/>
                </a:solidFill>
                <a:latin typeface="Calibri"/>
              </a:rPr>
              <a:t>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6351" y="2212848"/>
            <a:ext cx="208483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92622" y="1371600"/>
            <a:ext cx="2084831" cy="1051560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92622" y="1481328"/>
            <a:ext cx="20848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Calibri"/>
              </a:rPr>
              <a:t>Mediana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92622" y="1755648"/>
            <a:ext cx="208483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F3A56"/>
                </a:solidFill>
                <a:latin typeface="Calibri"/>
              </a:rPr>
              <a:t>103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2622" y="2212848"/>
            <a:ext cx="208483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68893" y="1371600"/>
            <a:ext cx="2084831" cy="1051560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68893" y="1481328"/>
            <a:ext cx="20848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Calibri"/>
              </a:rPr>
              <a:t>P90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3" y="1755648"/>
            <a:ext cx="208483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E4574C"/>
                </a:solidFill>
                <a:latin typeface="Calibri"/>
              </a:rPr>
              <a:t>243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3" y="2212848"/>
            <a:ext cx="208483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45164" y="1371600"/>
            <a:ext cx="2084831" cy="1051560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4" y="1481328"/>
            <a:ext cx="20848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Calibri"/>
              </a:rPr>
              <a:t>Camiones (n)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164" y="1755648"/>
            <a:ext cx="208483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2E7D32"/>
                </a:solidFill>
                <a:latin typeface="Calibri"/>
              </a:rPr>
              <a:t>2015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4" y="2212848"/>
            <a:ext cx="208483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viajes</a:t>
            </a:r>
          </a:p>
        </p:txBody>
      </p:sp>
      <p:pic>
        <p:nvPicPr>
          <p:cNvPr id="27" name="Picture 26" descr="scatter_R7_PREINGRESO_CAL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43200"/>
            <a:ext cx="6949440" cy="4212748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7772400" y="2743200"/>
            <a:ext cx="3840480" cy="32918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79" y="292608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3A56"/>
                </a:solidFill>
                <a:latin typeface="Calibri"/>
              </a:rPr>
              <a:t>Lectura del tramo Calada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3383280"/>
            <a:ext cx="34747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6"/>
                </a:solidFill>
                <a:latin typeface="Calibri"/>
              </a:rPr>
              <a:t>Tiempo medio semanal: 124 min</a:t>
            </a:r>
          </a:p>
          <a:p>
            <a:r>
              <a:rPr sz="1000" b="0">
                <a:solidFill>
                  <a:srgbClr val="64748B"/>
                </a:solidFill>
                <a:latin typeface="Calibri"/>
              </a:rPr>
              <a:t>Desvio estandar: 82 min</a:t>
            </a:r>
          </a:p>
          <a:p>
            <a:r>
              <a:rPr sz="1000" b="1">
                <a:solidFill>
                  <a:srgbClr val="E4574C"/>
                </a:solidFill>
                <a:latin typeface="Calibri"/>
              </a:rPr>
              <a:t>Distancia al promedio general: +26 min</a:t>
            </a:r>
          </a:p>
          <a:p>
            <a:r>
              <a:rPr sz="1000" b="0">
                <a:solidFill>
                  <a:srgbClr val="64748B"/>
                </a:solidFill>
                <a:latin typeface="Calibri"/>
              </a:rPr>
              <a:t>Muestra: 2015 camiones COMPLETOS</a:t>
            </a:r>
          </a:p>
          <a:p>
            <a:r>
              <a:rPr sz="800" b="0">
                <a:solidFill>
                  <a:srgbClr val="64748B"/>
                </a:solidFill>
                <a:latin typeface="Calibri"/>
              </a:rPr>
              <a:t/>
            </a:r>
          </a:p>
          <a:p>
            <a:r>
              <a:rPr sz="900" b="0">
                <a:solidFill>
                  <a:srgbClr val="94A3B8"/>
                </a:solidFill>
                <a:latin typeface="Calibri"/>
              </a:rPr>
              <a:t>Fuente: tiempos entre camaras Truckflow (mismo calculo KPI del software del repo).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56032"/>
            <a:ext cx="1143000" cy="566928"/>
          </a:xfrm>
          <a:prstGeom prst="roundRect">
            <a:avLst>
              <a:gd name="adj" fmla="val 12000"/>
            </a:avLst>
          </a:prstGeom>
          <a:solidFill>
            <a:srgbClr val="1C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83464"/>
            <a:ext cx="10515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Nueva
Vicentin
Argentina.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"/>
            <a:ext cx="10332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F3A56"/>
                </a:solidFill>
                <a:latin typeface="Calibri"/>
              </a:rPr>
              <a:t>Circuito R7  |  Tramo: Espera Balanza (San Lorenzo)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932688"/>
            <a:ext cx="1600200" cy="508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0760" y="932688"/>
            <a:ext cx="1600200" cy="508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2084831" cy="1051560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20848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Calibri"/>
              </a:rPr>
              <a:t>Tiempo medio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55648"/>
            <a:ext cx="208483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F3A56"/>
                </a:solidFill>
                <a:latin typeface="Calibri"/>
              </a:rPr>
              <a:t>110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12848"/>
            <a:ext cx="208483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16351" y="1371600"/>
            <a:ext cx="2084831" cy="1051560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16351" y="1481328"/>
            <a:ext cx="20848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Calibri"/>
              </a:rPr>
              <a:t>Desviacion estandar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6351" y="1755648"/>
            <a:ext cx="208483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2B6CB0"/>
                </a:solidFill>
                <a:latin typeface="Calibri"/>
              </a:rPr>
              <a:t>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6351" y="2212848"/>
            <a:ext cx="208483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92622" y="1371600"/>
            <a:ext cx="2084831" cy="1051560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92622" y="1481328"/>
            <a:ext cx="20848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Calibri"/>
              </a:rPr>
              <a:t>Mediana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92622" y="1755648"/>
            <a:ext cx="208483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F3A56"/>
                </a:solidFill>
                <a:latin typeface="Calibri"/>
              </a:rPr>
              <a:t>103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2622" y="2212848"/>
            <a:ext cx="208483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68893" y="1371600"/>
            <a:ext cx="2084831" cy="1051560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68893" y="1481328"/>
            <a:ext cx="20848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Calibri"/>
              </a:rPr>
              <a:t>P90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3" y="1755648"/>
            <a:ext cx="208483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E4574C"/>
                </a:solidFill>
                <a:latin typeface="Calibri"/>
              </a:rPr>
              <a:t>241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3" y="2212848"/>
            <a:ext cx="208483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45164" y="1371600"/>
            <a:ext cx="2084831" cy="1051560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4" y="1481328"/>
            <a:ext cx="20848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Calibri"/>
              </a:rPr>
              <a:t>Camiones (n)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164" y="1755648"/>
            <a:ext cx="208483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2E7D32"/>
                </a:solidFill>
                <a:latin typeface="Calibri"/>
              </a:rPr>
              <a:t>653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4" y="2212848"/>
            <a:ext cx="208483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viajes</a:t>
            </a:r>
          </a:p>
        </p:txBody>
      </p:sp>
      <p:pic>
        <p:nvPicPr>
          <p:cNvPr id="27" name="Picture 26" descr="scatter_R7_SL_INGRESO_SL_BALANZA_INGRE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43200"/>
            <a:ext cx="6949440" cy="4241969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7772400" y="2743200"/>
            <a:ext cx="3840480" cy="32918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79" y="292608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3A56"/>
                </a:solidFill>
                <a:latin typeface="Calibri"/>
              </a:rPr>
              <a:t>Lectura del tramo Espera Balanza (San Lorenzo)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3383280"/>
            <a:ext cx="34747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6"/>
                </a:solidFill>
                <a:latin typeface="Calibri"/>
              </a:rPr>
              <a:t>Tiempo medio semanal: 110 min</a:t>
            </a:r>
          </a:p>
          <a:p>
            <a:r>
              <a:rPr sz="1000" b="0">
                <a:solidFill>
                  <a:srgbClr val="64748B"/>
                </a:solidFill>
                <a:latin typeface="Calibri"/>
              </a:rPr>
              <a:t>Desvio estandar: 84 min</a:t>
            </a:r>
          </a:p>
          <a:p>
            <a:r>
              <a:rPr sz="1000" b="1">
                <a:solidFill>
                  <a:srgbClr val="2E7D32"/>
                </a:solidFill>
                <a:latin typeface="Calibri"/>
              </a:rPr>
              <a:t>Distancia al promedio general: +0 min</a:t>
            </a:r>
          </a:p>
          <a:p>
            <a:r>
              <a:rPr sz="1000" b="0">
                <a:solidFill>
                  <a:srgbClr val="64748B"/>
                </a:solidFill>
                <a:latin typeface="Calibri"/>
              </a:rPr>
              <a:t>Muestra: 653 camiones COMPLETOS</a:t>
            </a:r>
          </a:p>
          <a:p>
            <a:r>
              <a:rPr sz="800" b="0">
                <a:solidFill>
                  <a:srgbClr val="64748B"/>
                </a:solidFill>
                <a:latin typeface="Calibri"/>
              </a:rPr>
              <a:t/>
            </a:r>
          </a:p>
          <a:p>
            <a:r>
              <a:rPr sz="900" b="0">
                <a:solidFill>
                  <a:srgbClr val="94A3B8"/>
                </a:solidFill>
                <a:latin typeface="Calibri"/>
              </a:rPr>
              <a:t>Fuente: tiempos entre camaras Truckflow (mismo calculo KPI del software del repo).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56032"/>
            <a:ext cx="1143000" cy="566928"/>
          </a:xfrm>
          <a:prstGeom prst="roundRect">
            <a:avLst>
              <a:gd name="adj" fmla="val 12000"/>
            </a:avLst>
          </a:prstGeom>
          <a:solidFill>
            <a:srgbClr val="1C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83464"/>
            <a:ext cx="10515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Nueva
Vicentin
Argentina.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"/>
            <a:ext cx="10332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F3A56"/>
                </a:solidFill>
                <a:latin typeface="Calibri"/>
              </a:rPr>
              <a:t>Circuito R7  |  Tramo: Descarga (Balanza San Lorenzo)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932688"/>
            <a:ext cx="1600200" cy="508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0760" y="932688"/>
            <a:ext cx="1600200" cy="508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2084831" cy="1051560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20848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Calibri"/>
              </a:rPr>
              <a:t>Tiempo medio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55648"/>
            <a:ext cx="208483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F3A56"/>
                </a:solidFill>
                <a:latin typeface="Calibri"/>
              </a:rPr>
              <a:t>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12848"/>
            <a:ext cx="208483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16351" y="1371600"/>
            <a:ext cx="2084831" cy="1051560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16351" y="1481328"/>
            <a:ext cx="20848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Calibri"/>
              </a:rPr>
              <a:t>Desviacion estandar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6351" y="1755648"/>
            <a:ext cx="208483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2B6CB0"/>
                </a:solidFill>
                <a:latin typeface="Calibri"/>
              </a:rPr>
              <a:t>34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6351" y="2212848"/>
            <a:ext cx="208483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92622" y="1371600"/>
            <a:ext cx="2084831" cy="1051560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92622" y="1481328"/>
            <a:ext cx="20848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Calibri"/>
              </a:rPr>
              <a:t>Mediana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92622" y="1755648"/>
            <a:ext cx="208483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F3A56"/>
                </a:solidFill>
                <a:latin typeface="Calibri"/>
              </a:rPr>
              <a:t>55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2622" y="2212848"/>
            <a:ext cx="208483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68893" y="1371600"/>
            <a:ext cx="2084831" cy="1051560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68893" y="1481328"/>
            <a:ext cx="20848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Calibri"/>
              </a:rPr>
              <a:t>P90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3" y="1755648"/>
            <a:ext cx="208483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E4574C"/>
                </a:solidFill>
                <a:latin typeface="Calibri"/>
              </a:rPr>
              <a:t>112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3" y="2212848"/>
            <a:ext cx="208483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45164" y="1371600"/>
            <a:ext cx="2084831" cy="1051560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4" y="1481328"/>
            <a:ext cx="20848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Calibri"/>
              </a:rPr>
              <a:t>Camiones (n)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164" y="1755648"/>
            <a:ext cx="208483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2E7D32"/>
                </a:solidFill>
                <a:latin typeface="Calibri"/>
              </a:rPr>
              <a:t>718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4" y="2212848"/>
            <a:ext cx="208483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viajes</a:t>
            </a:r>
          </a:p>
        </p:txBody>
      </p:sp>
      <p:pic>
        <p:nvPicPr>
          <p:cNvPr id="27" name="Picture 26" descr="scatter_R7_SL_BALANZA_INGRESO_SL_EGRE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43200"/>
            <a:ext cx="6949440" cy="4246879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7772400" y="2743200"/>
            <a:ext cx="3840480" cy="32918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79" y="292608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3A56"/>
                </a:solidFill>
                <a:latin typeface="Calibri"/>
              </a:rPr>
              <a:t>Lectura del tramo Descarga (Balanza San Lorenzo)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3383280"/>
            <a:ext cx="34747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6"/>
                </a:solidFill>
                <a:latin typeface="Calibri"/>
              </a:rPr>
              <a:t>Tiempo medio semanal: 62 min</a:t>
            </a:r>
          </a:p>
          <a:p>
            <a:r>
              <a:rPr sz="1000" b="0">
                <a:solidFill>
                  <a:srgbClr val="64748B"/>
                </a:solidFill>
                <a:latin typeface="Calibri"/>
              </a:rPr>
              <a:t>Desvio estandar: 34 min</a:t>
            </a:r>
          </a:p>
          <a:p>
            <a:r>
              <a:rPr sz="1000" b="1">
                <a:solidFill>
                  <a:srgbClr val="2E7D32"/>
                </a:solidFill>
                <a:latin typeface="Calibri"/>
              </a:rPr>
              <a:t>Distancia al promedio general: +0 min</a:t>
            </a:r>
          </a:p>
          <a:p>
            <a:r>
              <a:rPr sz="1000" b="0">
                <a:solidFill>
                  <a:srgbClr val="64748B"/>
                </a:solidFill>
                <a:latin typeface="Calibri"/>
              </a:rPr>
              <a:t>Muestra: 718 camiones COMPLETOS</a:t>
            </a:r>
          </a:p>
          <a:p>
            <a:r>
              <a:rPr sz="800" b="0">
                <a:solidFill>
                  <a:srgbClr val="64748B"/>
                </a:solidFill>
                <a:latin typeface="Calibri"/>
              </a:rPr>
              <a:t/>
            </a:r>
          </a:p>
          <a:p>
            <a:r>
              <a:rPr sz="900" b="0">
                <a:solidFill>
                  <a:srgbClr val="94A3B8"/>
                </a:solidFill>
                <a:latin typeface="Calibri"/>
              </a:rPr>
              <a:t>Fuente: tiempos entre camaras Truckflow (mismo calculo KPI del software del repo).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56032"/>
            <a:ext cx="1143000" cy="566928"/>
          </a:xfrm>
          <a:prstGeom prst="roundRect">
            <a:avLst>
              <a:gd name="adj" fmla="val 12000"/>
            </a:avLst>
          </a:prstGeom>
          <a:solidFill>
            <a:srgbClr val="1C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83464"/>
            <a:ext cx="10515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Nueva
Vicentin
Argentina.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"/>
            <a:ext cx="10332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F3A56"/>
                </a:solidFill>
                <a:latin typeface="Calibri"/>
              </a:rPr>
              <a:t>Circuito R5  |  Producto: Girasol (Volcable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932688"/>
            <a:ext cx="1600200" cy="508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0760" y="932688"/>
            <a:ext cx="1600200" cy="508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3606698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8368" y="1435608"/>
            <a:ext cx="292608" cy="292608"/>
          </a:xfrm>
          <a:prstGeom prst="ellipse">
            <a:avLst/>
          </a:prstGeom>
          <a:solidFill>
            <a:srgbClr val="1F3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44752"/>
            <a:ext cx="2926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453896"/>
            <a:ext cx="310377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6"/>
                </a:solidFill>
                <a:latin typeface="Calibri"/>
              </a:rPr>
              <a:t>Ingreso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828800"/>
            <a:ext cx="33506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Calibri"/>
              </a:rPr>
              <a:t>Ingreso a Preingreso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2286000"/>
            <a:ext cx="335066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F3A56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807208"/>
            <a:ext cx="335066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Calibri"/>
              </a:rPr>
              <a:t>min - n=54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2498" y="1325880"/>
            <a:ext cx="3606698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02226" y="1435608"/>
            <a:ext cx="292608" cy="292608"/>
          </a:xfrm>
          <a:prstGeom prst="ellipse">
            <a:avLst/>
          </a:prstGeom>
          <a:solidFill>
            <a:srgbClr val="1F3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2226" y="1444752"/>
            <a:ext cx="2926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49698" y="1453896"/>
            <a:ext cx="310377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6"/>
                </a:solidFill>
                <a:latin typeface="Calibri"/>
              </a:rPr>
              <a:t>Calada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0514" y="1828800"/>
            <a:ext cx="33506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Calibri"/>
              </a:rPr>
              <a:t>Preingreso a Calada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0514" y="2286000"/>
            <a:ext cx="335066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F3A56"/>
                </a:solidFill>
                <a:latin typeface="Calibri"/>
              </a:rPr>
              <a:t>82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0514" y="2807208"/>
            <a:ext cx="335066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Calibri"/>
              </a:rPr>
              <a:t>min - n=51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36356" y="1325880"/>
            <a:ext cx="3606698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146084" y="1435608"/>
            <a:ext cx="292608" cy="292608"/>
          </a:xfrm>
          <a:prstGeom prst="ellipse">
            <a:avLst/>
          </a:prstGeom>
          <a:solidFill>
            <a:srgbClr val="1F3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6084" y="1444752"/>
            <a:ext cx="2926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93556" y="1453896"/>
            <a:ext cx="310377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6"/>
                </a:solidFill>
                <a:latin typeface="Calibri"/>
              </a:rPr>
              <a:t>Espera Balanza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4372" y="1828800"/>
            <a:ext cx="33506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Calibri"/>
              </a:rPr>
              <a:t>Calada a Balanza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4372" y="2286000"/>
            <a:ext cx="335066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F3A56"/>
                </a:solidFill>
                <a:latin typeface="Calibri"/>
              </a:rPr>
              <a:t>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4372" y="2807208"/>
            <a:ext cx="335066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Calibri"/>
              </a:rPr>
              <a:t>min - n=71</a:t>
            </a:r>
          </a:p>
        </p:txBody>
      </p:sp>
      <p:pic>
        <p:nvPicPr>
          <p:cNvPr id="28" name="Picture 27" descr="stack_R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383280"/>
            <a:ext cx="11064240" cy="1842826"/>
          </a:xfrm>
          <a:prstGeom prst="rect">
            <a:avLst/>
          </a:prstGeom>
        </p:spPr>
      </p:pic>
      <p:sp>
        <p:nvSpPr>
          <p:cNvPr id="29" name="Oval 28"/>
          <p:cNvSpPr/>
          <p:nvPr/>
        </p:nvSpPr>
        <p:spPr>
          <a:xfrm>
            <a:off x="640080" y="4818888"/>
            <a:ext cx="128016" cy="128016"/>
          </a:xfrm>
          <a:prstGeom prst="ellipse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77316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Ingreso (4.6%)</a:t>
            </a:r>
          </a:p>
        </p:txBody>
      </p:sp>
      <p:sp>
        <p:nvSpPr>
          <p:cNvPr id="31" name="Oval 30"/>
          <p:cNvSpPr/>
          <p:nvPr/>
        </p:nvSpPr>
        <p:spPr>
          <a:xfrm>
            <a:off x="2514599" y="4818888"/>
            <a:ext cx="128016" cy="128016"/>
          </a:xfrm>
          <a:prstGeom prst="ellipse">
            <a:avLst/>
          </a:prstGeom>
          <a:solidFill>
            <a:srgbClr val="E45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97479" y="477316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Calada (80.6%)</a:t>
            </a:r>
          </a:p>
        </p:txBody>
      </p:sp>
      <p:sp>
        <p:nvSpPr>
          <p:cNvPr id="33" name="Oval 32"/>
          <p:cNvSpPr/>
          <p:nvPr/>
        </p:nvSpPr>
        <p:spPr>
          <a:xfrm>
            <a:off x="4389118" y="4818888"/>
            <a:ext cx="128016" cy="128016"/>
          </a:xfrm>
          <a:prstGeom prst="ellipse">
            <a:avLst/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1998" y="477316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Espera Balanza (14.8%)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532120"/>
            <a:ext cx="4754880" cy="960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5669280"/>
            <a:ext cx="2377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Calibri"/>
              </a:rPr>
              <a:t>TIEMPO MEDIO TOTAL
DEL CIRCUITO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5623560"/>
            <a:ext cx="1371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DE952E"/>
                </a:solidFill>
                <a:latin typeface="Calibri"/>
              </a:rPr>
              <a:t>211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5806440"/>
            <a:ext cx="731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61722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(3.52 horas)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60720" y="5532120"/>
            <a:ext cx="5852160" cy="960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89320" y="5669280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6"/>
                </a:solidFill>
                <a:latin typeface="Calibri"/>
              </a:rPr>
              <a:t>Muestra COMPLETOS del circuito: 84 viajes - desvio total 87 min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9320" y="605332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Tiempos por tramo calculados desde Truckflow (camaras), igual que el software.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56032"/>
            <a:ext cx="1143000" cy="566928"/>
          </a:xfrm>
          <a:prstGeom prst="roundRect">
            <a:avLst>
              <a:gd name="adj" fmla="val 12000"/>
            </a:avLst>
          </a:prstGeom>
          <a:solidFill>
            <a:srgbClr val="1C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83464"/>
            <a:ext cx="10515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Nueva
Vicentin
Argentina.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"/>
            <a:ext cx="10332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F3A56"/>
                </a:solidFill>
                <a:latin typeface="Calibri"/>
              </a:rPr>
              <a:t>Circuito R6  |  Producto: Girasol (Volcable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932688"/>
            <a:ext cx="1600200" cy="508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0760" y="932688"/>
            <a:ext cx="1600200" cy="508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3606698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8368" y="1435608"/>
            <a:ext cx="292608" cy="292608"/>
          </a:xfrm>
          <a:prstGeom prst="ellipse">
            <a:avLst/>
          </a:prstGeom>
          <a:solidFill>
            <a:srgbClr val="1F3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44752"/>
            <a:ext cx="2926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453896"/>
            <a:ext cx="310377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6"/>
                </a:solidFill>
                <a:latin typeface="Calibri"/>
              </a:rPr>
              <a:t>Ingreso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828800"/>
            <a:ext cx="33506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Calibri"/>
              </a:rPr>
              <a:t>Ingreso a Preingreso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2286000"/>
            <a:ext cx="335066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F3A56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807208"/>
            <a:ext cx="335066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Calibri"/>
              </a:rPr>
              <a:t>min - n=11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2498" y="1325880"/>
            <a:ext cx="3606698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02226" y="1435608"/>
            <a:ext cx="292608" cy="292608"/>
          </a:xfrm>
          <a:prstGeom prst="ellipse">
            <a:avLst/>
          </a:prstGeom>
          <a:solidFill>
            <a:srgbClr val="1F3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2226" y="1444752"/>
            <a:ext cx="2926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49698" y="1453896"/>
            <a:ext cx="310377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6"/>
                </a:solidFill>
                <a:latin typeface="Calibri"/>
              </a:rPr>
              <a:t>Calada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0514" y="1828800"/>
            <a:ext cx="33506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Calibri"/>
              </a:rPr>
              <a:t>Preingreso a Calada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0514" y="2286000"/>
            <a:ext cx="335066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F3A56"/>
                </a:solidFill>
                <a:latin typeface="Calibri"/>
              </a:rPr>
              <a:t>71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0514" y="2807208"/>
            <a:ext cx="335066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Calibri"/>
              </a:rPr>
              <a:t>min - n=11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36356" y="1325880"/>
            <a:ext cx="3606698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146084" y="1435608"/>
            <a:ext cx="292608" cy="292608"/>
          </a:xfrm>
          <a:prstGeom prst="ellipse">
            <a:avLst/>
          </a:prstGeom>
          <a:solidFill>
            <a:srgbClr val="1F3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6084" y="1444752"/>
            <a:ext cx="2926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93556" y="1453896"/>
            <a:ext cx="310377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6"/>
                </a:solidFill>
                <a:latin typeface="Calibri"/>
              </a:rPr>
              <a:t>Espera Balanza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4372" y="1828800"/>
            <a:ext cx="33506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Calibri"/>
              </a:rPr>
              <a:t>Calada a Balanza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4372" y="2286000"/>
            <a:ext cx="335066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F3A56"/>
                </a:solidFill>
                <a:latin typeface="Calibri"/>
              </a:rPr>
              <a:t>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4372" y="2807208"/>
            <a:ext cx="335066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Calibri"/>
              </a:rPr>
              <a:t>min - n=20</a:t>
            </a:r>
          </a:p>
        </p:txBody>
      </p:sp>
      <p:pic>
        <p:nvPicPr>
          <p:cNvPr id="28" name="Picture 27" descr="stack_R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383280"/>
            <a:ext cx="11064240" cy="1842826"/>
          </a:xfrm>
          <a:prstGeom prst="rect">
            <a:avLst/>
          </a:prstGeom>
        </p:spPr>
      </p:pic>
      <p:sp>
        <p:nvSpPr>
          <p:cNvPr id="29" name="Oval 28"/>
          <p:cNvSpPr/>
          <p:nvPr/>
        </p:nvSpPr>
        <p:spPr>
          <a:xfrm>
            <a:off x="640080" y="4818888"/>
            <a:ext cx="128016" cy="128016"/>
          </a:xfrm>
          <a:prstGeom prst="ellipse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77316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Ingreso (5.5%)</a:t>
            </a:r>
          </a:p>
        </p:txBody>
      </p:sp>
      <p:sp>
        <p:nvSpPr>
          <p:cNvPr id="31" name="Oval 30"/>
          <p:cNvSpPr/>
          <p:nvPr/>
        </p:nvSpPr>
        <p:spPr>
          <a:xfrm>
            <a:off x="2514599" y="4818888"/>
            <a:ext cx="128016" cy="128016"/>
          </a:xfrm>
          <a:prstGeom prst="ellipse">
            <a:avLst/>
          </a:prstGeom>
          <a:solidFill>
            <a:srgbClr val="E45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97479" y="477316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Calada (83.8%)</a:t>
            </a:r>
          </a:p>
        </p:txBody>
      </p:sp>
      <p:sp>
        <p:nvSpPr>
          <p:cNvPr id="33" name="Oval 32"/>
          <p:cNvSpPr/>
          <p:nvPr/>
        </p:nvSpPr>
        <p:spPr>
          <a:xfrm>
            <a:off x="4389118" y="4818888"/>
            <a:ext cx="128016" cy="128016"/>
          </a:xfrm>
          <a:prstGeom prst="ellipse">
            <a:avLst/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1998" y="477316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Espera Balanza (10.6%)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532120"/>
            <a:ext cx="4754880" cy="960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5669280"/>
            <a:ext cx="2377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Calibri"/>
              </a:rPr>
              <a:t>TIEMPO MEDIO TOTAL
DEL CIRCUITO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5623560"/>
            <a:ext cx="1371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DE952E"/>
                </a:solidFill>
                <a:latin typeface="Calibri"/>
              </a:rPr>
              <a:t>404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5806440"/>
            <a:ext cx="731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61722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(6.73 horas)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60720" y="5532120"/>
            <a:ext cx="5852160" cy="960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89320" y="5669280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6"/>
                </a:solidFill>
                <a:latin typeface="Calibri"/>
              </a:rPr>
              <a:t>Muestra COMPLETOS del circuito: 35 viajes - desvio total 265 min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9320" y="605332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Tiempos por tramo calculados desde Truckflow (camaras), igual que el software.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56032"/>
            <a:ext cx="1143000" cy="566928"/>
          </a:xfrm>
          <a:prstGeom prst="roundRect">
            <a:avLst>
              <a:gd name="adj" fmla="val 12000"/>
            </a:avLst>
          </a:prstGeom>
          <a:solidFill>
            <a:srgbClr val="1C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83464"/>
            <a:ext cx="10515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Nueva
Vicentin
Argentina.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"/>
            <a:ext cx="10332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F3A56"/>
                </a:solidFill>
                <a:latin typeface="Calibri"/>
              </a:rPr>
              <a:t>Circuito Aceite / Liquidos  |  R8 + San Lorenzo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932688"/>
            <a:ext cx="1600200" cy="508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0760" y="932688"/>
            <a:ext cx="1600200" cy="508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3291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Calibri"/>
              </a:rPr>
              <a:t>Operaciones aceite (Excel)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463040"/>
            <a:ext cx="1280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DE952E"/>
                </a:solidFill>
                <a:latin typeface="Calibri"/>
              </a:rPr>
              <a:t>391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0848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movimientos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7160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90472"/>
            <a:ext cx="3291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Calibri"/>
              </a:rPr>
              <a:t>Recepcion liquida R8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1463040"/>
            <a:ext cx="1280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2B6CB0"/>
                </a:solidFill>
                <a:latin typeface="Calibri"/>
              </a:rPr>
              <a:t>227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20848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viajes Truckflow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60604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724912"/>
            <a:ext cx="3291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Calibri"/>
              </a:rPr>
              <a:t>SL - liquido San Lorenzo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697480"/>
            <a:ext cx="1280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2E7D32"/>
                </a:solidFill>
                <a:latin typeface="Calibri"/>
              </a:rPr>
              <a:t>366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3192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cohorte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60604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724912"/>
            <a:ext cx="3291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Calibri"/>
              </a:rPr>
              <a:t>Transile externo Ric a SL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2697480"/>
            <a:ext cx="1280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F3A56"/>
                </a:solidFill>
                <a:latin typeface="Calibri"/>
              </a:rPr>
              <a:t>825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33192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cohorte</a:t>
            </a:r>
          </a:p>
        </p:txBody>
      </p:sp>
      <p:pic>
        <p:nvPicPr>
          <p:cNvPr id="23" name="Picture 22" descr="stack_R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977639"/>
            <a:ext cx="10058400" cy="1675296"/>
          </a:xfrm>
          <a:prstGeom prst="rect">
            <a:avLst/>
          </a:prstGeom>
        </p:spPr>
      </p:pic>
      <p:sp>
        <p:nvSpPr>
          <p:cNvPr id="24" name="Oval 23"/>
          <p:cNvSpPr/>
          <p:nvPr/>
        </p:nvSpPr>
        <p:spPr>
          <a:xfrm>
            <a:off x="822960" y="5138928"/>
            <a:ext cx="128016" cy="128016"/>
          </a:xfrm>
          <a:prstGeom prst="ellipse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1023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Ingreso (5 min)</a:t>
            </a:r>
          </a:p>
        </p:txBody>
      </p:sp>
      <p:sp>
        <p:nvSpPr>
          <p:cNvPr id="26" name="Oval 25"/>
          <p:cNvSpPr/>
          <p:nvPr/>
        </p:nvSpPr>
        <p:spPr>
          <a:xfrm>
            <a:off x="3291840" y="5138928"/>
            <a:ext cx="128016" cy="128016"/>
          </a:xfrm>
          <a:prstGeom prst="ellipse">
            <a:avLst/>
          </a:prstGeom>
          <a:solidFill>
            <a:srgbClr val="E45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51023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Calada (86 min)</a:t>
            </a:r>
          </a:p>
        </p:txBody>
      </p:sp>
      <p:sp>
        <p:nvSpPr>
          <p:cNvPr id="28" name="Oval 27"/>
          <p:cNvSpPr/>
          <p:nvPr/>
        </p:nvSpPr>
        <p:spPr>
          <a:xfrm>
            <a:off x="5760720" y="5138928"/>
            <a:ext cx="128016" cy="128016"/>
          </a:xfrm>
          <a:prstGeom prst="ellipse">
            <a:avLst/>
          </a:prstGeom>
          <a:solidFill>
            <a:srgbClr val="9B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51023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Calada-Liquido (27 min)</a:t>
            </a:r>
          </a:p>
        </p:txBody>
      </p:sp>
      <p:sp>
        <p:nvSpPr>
          <p:cNvPr id="30" name="Oval 29"/>
          <p:cNvSpPr/>
          <p:nvPr/>
        </p:nvSpPr>
        <p:spPr>
          <a:xfrm>
            <a:off x="8229600" y="5138928"/>
            <a:ext cx="128016" cy="128016"/>
          </a:xfrm>
          <a:prstGeom prst="ellipse">
            <a:avLst/>
          </a:prstGeom>
          <a:solidFill>
            <a:srgbClr val="4FB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51023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Liquido-Balanza (8 min)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62356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3A56"/>
                </a:solidFill>
                <a:latin typeface="Calibri"/>
              </a:rPr>
              <a:t>Aceite y liquidos: 515 movimientos en Excel (40,9 kt). Plataformas de aceite (ACEITE / ACEITE_OSL / ACEITE_PTO) sin punto de camara S10 instrumentado: 0 capturados por Truckflow, de 391 operaciones -&gt; trazabilidad de aceite pendiente de cierre de camaras S10.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56032"/>
            <a:ext cx="1143000" cy="566928"/>
          </a:xfrm>
          <a:prstGeom prst="roundRect">
            <a:avLst>
              <a:gd name="adj" fmla="val 12000"/>
            </a:avLst>
          </a:prstGeom>
          <a:solidFill>
            <a:srgbClr val="1C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83464"/>
            <a:ext cx="10515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Nueva
Vicentin
Argentina.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"/>
            <a:ext cx="10332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F3A56"/>
                </a:solidFill>
                <a:latin typeface="Calibri"/>
              </a:rPr>
              <a:t>Calidad de la evidencia y cobertura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932688"/>
            <a:ext cx="1600200" cy="508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0760" y="932688"/>
            <a:ext cx="1600200" cy="508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474720" cy="12344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  <a:latin typeface="Calibri"/>
              </a:rPr>
              <a:t>Eventos Truckflow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20"/>
            <a:ext cx="3474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2B6CB0"/>
                </a:solidFill>
                <a:latin typeface="Calibri"/>
              </a:rPr>
              <a:t>47.514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50008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lecturas de camara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474720" cy="12344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55448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  <a:latin typeface="Calibri"/>
              </a:rPr>
              <a:t>Alertas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874520"/>
            <a:ext cx="3474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F3A56"/>
                </a:solidFill>
                <a:latin typeface="Calibri"/>
              </a:rPr>
              <a:t>51.615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350008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del periodo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474720" cy="12344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55448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  <a:latin typeface="Calibri"/>
              </a:rPr>
              <a:t>Circuitos reconstruidos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1874520"/>
            <a:ext cx="3474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2E7D32"/>
                </a:solidFill>
                <a:latin typeface="Calibri"/>
              </a:rPr>
              <a:t>5.242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350008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journeys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880360"/>
            <a:ext cx="3474720" cy="12344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01752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  <a:latin typeface="Calibri"/>
              </a:rPr>
              <a:t>Clasificados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337560"/>
            <a:ext cx="3474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2E7D32"/>
                </a:solidFill>
                <a:latin typeface="Calibri"/>
              </a:rPr>
              <a:t>2.029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813048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39% de la muestra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2880360"/>
            <a:ext cx="3474720" cy="12344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01752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  <a:latin typeface="Calibri"/>
              </a:rPr>
              <a:t>Incompletos / revision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337560"/>
            <a:ext cx="3474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DE952E"/>
                </a:solidFill>
                <a:latin typeface="Calibri"/>
              </a:rPr>
              <a:t>3.213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3813048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61% de la muestra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2880360"/>
            <a:ext cx="3474720" cy="12344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301752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  <a:latin typeface="Calibri"/>
              </a:rPr>
              <a:t>Alertas LPR (lectura patente)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3337560"/>
            <a:ext cx="3474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E4574C"/>
                </a:solidFill>
                <a:latin typeface="Calibri"/>
              </a:rPr>
              <a:t>25.574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3813048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fallas de lectura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572000"/>
            <a:ext cx="10972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3A56"/>
                </a:solidFill>
                <a:latin typeface="Calibri"/>
              </a:rPr>
              <a:t>Coherencia global del periodo: Coherente.</a:t>
            </a:r>
          </a:p>
          <a:p>
            <a:r>
              <a:rPr sz="1000" b="0">
                <a:solidFill>
                  <a:srgbClr val="64748B"/>
                </a:solidFill>
                <a:latin typeface="Calibri"/>
              </a:rPr>
              <a:t>Circuitos con ingreso operativo: 4.233  -  con egreso operativo: 3.637.</a:t>
            </a:r>
          </a:p>
          <a:p>
            <a:r>
              <a:rPr sz="1000" b="0">
                <a:solidFill>
                  <a:srgbClr val="64748B"/>
                </a:solidFill>
                <a:latin typeface="Calibri"/>
              </a:rPr>
              <a:t>Alertas operativas cruzadas contra journeys: 14.228 de 19.152.</a:t>
            </a:r>
          </a:p>
          <a:p>
            <a:r>
              <a:rPr sz="1000" b="0">
                <a:solidFill>
                  <a:srgbClr val="94A3B8"/>
                </a:solidFill>
                <a:latin typeface="Calibri"/>
              </a:rPr>
              <a:t>La clasificacion, el filtrado de camaras traseras y la reconstruccion de journeys se ejecutan con el mismo pipeline ETL del software del repo (etl_transform_v12).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56032"/>
            <a:ext cx="1143000" cy="566928"/>
          </a:xfrm>
          <a:prstGeom prst="roundRect">
            <a:avLst>
              <a:gd name="adj" fmla="val 12000"/>
            </a:avLst>
          </a:prstGeom>
          <a:solidFill>
            <a:srgbClr val="1C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83464"/>
            <a:ext cx="10515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Nueva
Vicentin
Argentina.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"/>
            <a:ext cx="10332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F3A56"/>
                </a:solidFill>
                <a:latin typeface="Calibri"/>
              </a:rPr>
              <a:t>Anomalias y desvios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932688"/>
            <a:ext cx="1600200" cy="508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0760" y="932688"/>
            <a:ext cx="1600200" cy="508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1556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Del periodo: 1.227 journeys anomalos y 1.888 incompletos (sobre 5.242 reconstruidos).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3A56"/>
                </a:solidFill>
                <a:latin typeface="Calibri"/>
              </a:rPr>
              <a:t>MOTIVOS DE ANOMALIA (conteo)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5029200" cy="56692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35661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6"/>
                </a:solidFill>
                <a:latin typeface="Calibri"/>
              </a:rPr>
              <a:t>Invalid Route Alert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057400"/>
            <a:ext cx="1005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4574C"/>
                </a:solidFill>
                <a:latin typeface="Calibri"/>
              </a:rPr>
              <a:t>1.204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670048"/>
            <a:ext cx="5029200" cy="56692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715768"/>
            <a:ext cx="35661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6"/>
                </a:solidFill>
                <a:latin typeface="Calibri"/>
              </a:rPr>
              <a:t>No Respeta Secuencia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715768"/>
            <a:ext cx="1005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4574C"/>
                </a:solidFill>
                <a:latin typeface="Calibri"/>
              </a:rPr>
              <a:t>23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28416"/>
            <a:ext cx="5029200" cy="56692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74136"/>
            <a:ext cx="35661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6"/>
                </a:solidFill>
                <a:latin typeface="Calibri"/>
              </a:rPr>
              <a:t>No Respeta Secuencia Sl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374136"/>
            <a:ext cx="1005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4574C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1600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3A56"/>
                </a:solidFill>
                <a:latin typeface="Calibri"/>
              </a:rPr>
              <a:t>EJEMPLOS DE RECORRIDO ANOMALO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2011680"/>
            <a:ext cx="5486400" cy="71323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2057400"/>
            <a:ext cx="1828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3A56"/>
                </a:solidFill>
                <a:latin typeface="Calibri"/>
              </a:rPr>
              <a:t>(patente no leida)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075688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E4574C"/>
                </a:solidFill>
                <a:latin typeface="Calibri"/>
              </a:rPr>
              <a:t>Invalid Route Alert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395728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INGRESO&gt;PREINGRESO&gt;EGRESO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2816352"/>
            <a:ext cx="5486400" cy="71323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2862072"/>
            <a:ext cx="1828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3A56"/>
                </a:solidFill>
                <a:latin typeface="Calibri"/>
              </a:rPr>
              <a:t>(patente no leida)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2880360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E4574C"/>
                </a:solidFill>
                <a:latin typeface="Calibri"/>
              </a:rPr>
              <a:t>Invalid Route Alert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200400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INGRESO&gt;PREINGRESO&gt;CALADA&gt;EGRESO&gt;SL_INGRESO&gt;SL_EGRESO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3621024"/>
            <a:ext cx="5486400" cy="71323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3666744"/>
            <a:ext cx="1828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3A56"/>
                </a:solidFill>
                <a:latin typeface="Calibri"/>
              </a:rPr>
              <a:t>(patente no leida)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3685032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E4574C"/>
                </a:solidFill>
                <a:latin typeface="Calibri"/>
              </a:rPr>
              <a:t>Invalid Route Alert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005072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INGRESO&gt;PREINGRESO&gt;CALADA&gt;EGRESO&gt;SL_INGRESO&gt;SL_EGRESO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4425696"/>
            <a:ext cx="5486400" cy="71323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4471416"/>
            <a:ext cx="1828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3A56"/>
                </a:solidFill>
                <a:latin typeface="Calibri"/>
              </a:rPr>
              <a:t>(patente no leida)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4489704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E4574C"/>
                </a:solidFill>
                <a:latin typeface="Calibri"/>
              </a:rPr>
              <a:t>Invalid Route Alert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4809744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INGRESO&gt;PREINGRESO&gt;CALADA&gt;EGRESO&gt;SL_INGRESO&gt;SL_EGRESO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35040" y="5230368"/>
            <a:ext cx="5486400" cy="71323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5276088"/>
            <a:ext cx="1828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3A56"/>
                </a:solidFill>
                <a:latin typeface="Calibri"/>
              </a:rPr>
              <a:t>(patente no leida)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5294376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E4574C"/>
                </a:solidFill>
                <a:latin typeface="Calibri"/>
              </a:rPr>
              <a:t>Invalid Route Alert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5614416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INGRESO&gt;PREINGRESO&gt;CALADA&gt;EGRESO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56032"/>
            <a:ext cx="1143000" cy="566928"/>
          </a:xfrm>
          <a:prstGeom prst="roundRect">
            <a:avLst>
              <a:gd name="adj" fmla="val 12000"/>
            </a:avLst>
          </a:prstGeom>
          <a:solidFill>
            <a:srgbClr val="1C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83464"/>
            <a:ext cx="10515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Nueva
Vicentin
Argentina.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"/>
            <a:ext cx="10332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F3A56"/>
                </a:solidFill>
                <a:latin typeface="Calibri"/>
              </a:rPr>
              <a:t>Conclusiones ejecutivas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932688"/>
            <a:ext cx="1600200" cy="508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0760" y="932688"/>
            <a:ext cx="1600200" cy="508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572768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463040"/>
            <a:ext cx="10332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A56"/>
                </a:solidFill>
                <a:latin typeface="Calibri"/>
              </a:rPr>
              <a:t>R7 / Soja es el circuito dominante: 2.775 viajes COMPLETOS, tiempo medio total 232 min (3.9 h).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505456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95728"/>
            <a:ext cx="10332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A56"/>
                </a:solidFill>
                <a:latin typeface="Calibri"/>
              </a:rPr>
              <a:t>El principal punto de tension sigue en Calada (124 min promedio) y en la Espera de Balanza en San Lorenzo (110 min), que concentran la mayor parte del tiempo del circuito.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438144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328416"/>
            <a:ext cx="10332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A56"/>
                </a:solidFill>
                <a:latin typeface="Calibri"/>
              </a:rPr>
              <a:t>Girasol (R5/R6 Volcable) mantiene una muestra chica (119 viajes); R6 muestra tiempos mas altos y mayor dispersion que R5.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370832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261104"/>
            <a:ext cx="10332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A56"/>
                </a:solidFill>
                <a:latin typeface="Calibri"/>
              </a:rPr>
              <a:t>Aceite / liquidos: 515 movimientos en Excel, pero las plataformas de aceite no tienen punto de camara S10 instrumentado; la trazabilidad de aceite queda pendiente de cierre de camaras.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530352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193792"/>
            <a:ext cx="10332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A56"/>
                </a:solidFill>
                <a:latin typeface="Calibri"/>
              </a:rPr>
              <a:t>Calidad de evidencia: 2029 de 5242 circuitos clasificados (39%); 25.574 alertas LPR indican puntos de lectura de patente a mejorar.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56032"/>
            <a:ext cx="1143000" cy="566928"/>
          </a:xfrm>
          <a:prstGeom prst="roundRect">
            <a:avLst>
              <a:gd name="adj" fmla="val 12000"/>
            </a:avLst>
          </a:prstGeom>
          <a:solidFill>
            <a:srgbClr val="1C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83464"/>
            <a:ext cx="10515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Nueva
Vicentin
Argentina.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"/>
            <a:ext cx="10332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F3A56"/>
                </a:solidFill>
                <a:latin typeface="Calibri"/>
              </a:rPr>
              <a:t>Proximos pasos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932688"/>
            <a:ext cx="1600200" cy="508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0760" y="932688"/>
            <a:ext cx="1600200" cy="508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55448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54480"/>
            <a:ext cx="98755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A56"/>
                </a:solidFill>
                <a:latin typeface="Calibri"/>
              </a:rPr>
              <a:t>Cerrar los puntos de camara pendientes (especialmente S10 de aceite / lineas liquidas) para completar la trazabilidad de aceite y refinados.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423160"/>
            <a:ext cx="98755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A56"/>
                </a:solidFill>
                <a:latin typeface="Calibri"/>
              </a:rPr>
              <a:t>Reducir la Espera de Balanza en San Lorenzo, principal componente evitable del tiempo total de R7.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29184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918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291840"/>
            <a:ext cx="98755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A56"/>
                </a:solidFill>
                <a:latin typeface="Calibri"/>
              </a:rPr>
              <a:t>Ampliar la muestra de Girasol (R5/R6) y revisar la dispersion de R6.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16052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1605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0520"/>
            <a:ext cx="98755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A56"/>
                </a:solidFill>
                <a:latin typeface="Calibri"/>
              </a:rPr>
              <a:t>Continuar la calibracion del sistema y la mejora de la lectura de patentes (LPR) para bajar el % de journeys incompletos.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02920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02920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29200"/>
            <a:ext cx="98755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A56"/>
                </a:solidFill>
                <a:latin typeface="Calibri"/>
              </a:rPr>
              <a:t>Consolidar el cruce Excel (Movimientos por Contrato) con Truckflow para conciliar volumenes por contrato y producto.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3093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Periodo analizado: 22/06/2026 a 05/07/2026  -  Datos: Truckflow + Movimientos por Contrato (Excel).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