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6"/>
    <p:sldId id="261" r:id="rId7"/>
    <p:sldId id="262" r:id="rId8"/>
    <p:sldId id="264" r:id="rId10"/>
    <p:sldId id="269" r:id="rId2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  <Relationship Id="rId20" Type="http://schemas.openxmlformats.org/officeDocument/2006/relationships/slide" Target="slides/slide14.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Universo: 545 camiones del Excel de Movimientos por Contrato de Ricardone y Terminal Embarque con salida del 12 al 18 de octubre. Corrida 2026-10-12_2026-10-18, etl_transform_v17. Se compara contra la semana anterior, del 5 al 11 de octubre (897 camiones). La reconstrucción es la del algoritmo por lote: los 560 camiones que ingresaron en la semana son el universo conocido y avanzan nodo por nodo, con las capturas del feed y del export del DSS (color, marca y tipo). Prueba con patentes borradas: 321 de 709 reubicadas, 8 errores (97,6 % de las asignadas correctas).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 una patente mal leída se puede reconstruir con el algoritmo; lo grave es que la cámara no capture el camión. Captura = camiones leídos más los que tienen, cerca de la hora de su paso (±30 minutos), una captura de la cámara con patente inválida, cortada o parecida a la suya, que no corresponde a otro camión. Totales de Ricardone: lee 78 % (82 % de día, 74 % de noche) y captura 86 % (88 % y 84 %). Con el algoritmo por lote (sin Ingreso ni Balanza ingreso, fuera por falla de cámara), de cada 100 pasos la cámara lee 68, se reconstruyen 14 (captura dudosa asignada a su camión), se deducen 17 (sin captura, pero el camión se identificó antes y después) y falta 1. Balanza ingreso: lee 28 % y captura 51 %; de noche captura 24 %, de día 70 %. Volcable 2: lee 59 %, captura 75 % (76 % de noche, 75 % de día). Ingreso: lee 74 % (la semana anterior 50 %), captura 82 %. Playa 3: de día lee 89 %. Balanza egreso: lee 74 %, captura 80 %.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Porcentaje de camiones con la patente leída sobre los que pasaron por el nodo según su circuito. Semana anterior: 2026-10-05 a 2026-10-11, 897 camiones. Esta semana: 2026-10-12 a 2026-10-18, 545 camiones. El cambio se mide sobre el total del nodo (día y noche juntos); ±3 puntos se considera igual. Nodos con menos de 20 camiones en la semana fuera de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Algoritmo por lote: los camiones que ingresaron en la semana son el universo conocido y avanzan nodo por nodo. En cada nodo, una captura dudosa (patente mal leída, cortada o vacía) se compara solo contra los camiones del lote que tienen ese paso pendiente, pesados por el tiempo de tramo, la patente, color, marca y tipo del DSS y el acoplado. Leyó la cámara: la patente salió bien. Reconstruido: captura dudosa asignada a su camión. Deducido: sin captura, pero el camión se identificó en un punto anterior y en uno posterior, o terminó su recorrido. Falta: no se pudo ubicar. Total de la planta: 83 % cámara, 7 % reconstruido, 10 % deducido, 0,2 % falta (3 pasos), sobre 1371 pasos. Ingreso y Balanza ingreso de Ricardone quedan fuera del lote por falla de las cámaras en el período. Prueba: a 1 de cada 4 lecturas buenas se le borró la patente; el lote volvió a ubicar 444 de 699 y se equivocó en 28 (de las asignadas, 94,1 % correctas). Detalle: Preingreso: 402 pasos, 362 leídos por la cámara, 16 reconstruidos, 23 deducidos, 1 faltan. Calada: 402 pasos, 333 leídos por la cámara, 28 reconstruidos, 40 deducidos, 1 faltan. Playa 3: 78 pasos, 59 leídos por la cámara, 9 reconstruidos, 10 deducidos, 0 faltan. Volcable 2: 70 pasos, 40 leídos por la cámara, 12 reconstruidos, 18 deducidos, 0 faltan. Balanza egreso (B2): 137 pasos, 102 leídos por la cámara, 7 reconstruidos, 28 deducidos, 0 faltan. Salida: 277 pasos, 239 leídos por la cámara, 24 reconstruidos, 13 deducidos, 1 faltan.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Totales del puerto: lee 83 % (95 % de día, 66 % de noche) y captura 89 % (96 % y 80 %). Con el algoritmo por lote, de cada 100 pasos la cámara lee 64, se reconstruyen 18 (captura dudosa asignada a su camión), se deducen 17 (sin captura, pero el camión se identificó antes y después) y falta 1. Balanza egreso (SLZBalSC1Fte y SLZBalSC2Fte): lee 72 % (la semana anterior 33 %); de día lee 98 % y captura 99 %, de noche lee 36 % y captura 58 %. Carga OSL (Renova): lee 68 %, captura 71 %; de noche captura 54 %. Volcables: de día lee 97 %, de noche 48 % con captura 76 %. Egreso: de noche lee 82 % y captura 94 %.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Porcentaje de camiones con la patente leída sobre los que pasaron por el nodo según su circuito. Semana anterior: 2026-10-05 a 2026-10-11, 897 camiones. Esta semana: 2026-10-12 a 2026-10-18, 545 camiones. El cambio se mide sobre el total del nodo (día y noche juntos); ±3 puntos se considera igual. Nodos con menos de 20 camiones en la semana fuera de la tabla.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Algoritmo por lote: los camiones que ingresaron en la semana son el universo conocido y avanzan nodo por nodo. En cada nodo, una captura dudosa (patente mal leída, cortada o vacía) se compara solo contra los camiones del lote que tienen ese paso pendiente, pesados por el tiempo de tramo, la patente, color, marca y tipo del DSS y el acoplado. Leyó la cámara: la patente salió bien. Reconstruido: captura dudosa asignada a su camión. Deducido: sin captura, pero el camión se identificó en un punto anterior y en uno posterior, o terminó su recorrido. Falta: no se pudo ubicar. Total de la planta: 81 % cámara, 6 % reconstruido, 13 % deducido, 0,2 % falta (5 pasos), sobre 2061 pasos. Prueba: a 1 de cada 4 lecturas buenas se le borró la patente; el lote volvió a ubicar 444 de 699 y se equivocó en 28 (de las asignadas, 94,1 % correctas). Detalle: Ingreso: 413 pasos, 366 leídos por la cámara, 16 reconstruidos, 30 deducidos, 1 faltan. Balanza ingreso: 413 pasos, 362 leídos por la cámara, 12 reconstruidos, 38 deducidos, 1 faltan. Carga OSL: 137 pasos, 90 leídos por la cámara, 6 reconstruidos, 41 deducidos, 0 faltan. Volcables: 265 pasos, 184 leídos por la cámara, 41 reconstruidos, 39 deducidos, 1 faltan. Balanza egreso: 413 pasos, 290 leídos por la cámara, 28 reconstruidos, 94 deducidos, 1 faltan. Egreso: 413 pasos, 372 leídos por la cámara, 17 reconstruidos, 23 deducidos, 1 faltan.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camiones del circuito R7 (grano de Ricardone al puerto), con la hora de cámara de cada paso. AB436BP (martes 13/10): las cámaras leyeron su patente en los 8 puntos, de Preingreso 07:55 a Egreso del puerto 10:52. KQI971 (sábado 17/10): las cámaras leyeron bien 5 puntos y en 3 la patente salió mal; esas tres capturas se asignaron a KQI971 porque era el único camión del lote con ese paso pendiente a esa hora: Balanza de ingreso del puerto 22:48 leyó KOI971 (93 %), Balanza de egreso 23:07 leyó QI971 (100 %) y Egreso 23:11 leyó KOI971 (87 %). En las fotos de las láminas siguientes se ve que es el mismo Mercedes Axor. AI342EV (martes 13/10): se lo leyó en la balanza de ingreso del puerto a las 23:37 y en el egreso a las 23:52; en el medio no hay captura de los volcables ni de la balanza de egreso, pero el circuito pasa por ahí, así que esos dos pasos se deducen. Ingreso de Ricardone queda fuera del análisis por falla de la cámara en el período. Fuente: algoritmo por lote, semana 12–18 de octubre, con el export del DSS.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AB436BP, circuito R7, martes 13 de octubre. Cada recuadro es el recorte de la patente que guardó la cámara del punto, con la hora de cámara: Preingreso 07:55 (RicPreIngInFr), Calada 08:44 (RicCal04), Salida 08:54 (RicEgrCamFrente), Ingreso del puerto 09:04 (SLZIngCamFrente), Balanza de ingreso 09:37 (SLZBalIngFte), Volcables 10:40 (SLZVolcableC5), Balanza de egreso 10:49 (SLZBalSC2Fte) y Egreso 10:52 (SLZSalidaC1Fte). Fotos del DSS.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KQI971, circuito R7, sábado 17 de octubre. Preingreso 21:14, Calada 22:24, Salida 22:35, Ingreso del puerto 22:45 y Volcables 22:53 los leyó bien la cámara. Tres capturas salieron con la patente mal y el algoritmo por lote las asignó a KQI971: Balanza de ingreso del puerto 22:48 leyó KOI971 (probabilidad 93 %, la Q se leyó como O), Balanza de egreso 23:07 leyó QI971 (100 %, patente a medio ver por la niebla) y Egreso 23:11 leyó KOI971 (87 %). Las fotos muestran el mismo Mercedes Axor en los cuatro puntos. Sin pasos deducidos: los 8 puntos tienen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AI342EV, circuito R7, martes 13 de octubre. Las cámaras lo leyeron en Preingreso 20:37, Calada 23:11, Salida 23:17, Ingreso del puerto 23:25, Balanza de ingreso 23:37 (foto izquierda) y Egreso 23:52 (foto derecha). Entre esos dos puntos ninguna cámara de los volcables ni de la balanza de egreso lo capturó; como el circuito R7 pasa por ambos y el camión se identificó antes y después, esos dos pasos quedan deducidos. Un paso deducido no tiene foto: es una inferencia por recorrido, no una lectura.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0921"/>
          </a:xfrm>
          <a:prstGeom prst="rect">
            <a:avLst/>
          </a:prstGeom>
          <a:noFill/>
          <a:ln/>
        </p:spPr>
        <p:txBody>
          <a:bodyPr wrap="square" lIns="0" tIns="0" rIns="0" bIns="0" rtlCol="0" anchor="t"/>
          <a:lstStyle>
            <a:lvl1pPr algn="l" indent="0" marL="0">
              <a:lnSpc>
                <a:spcPct val="115000"/>
              </a:lnSpc>
              <a:buNone/>
              <a:defRPr lang="en-US" sz="2200"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200" dirty="0"/>
          </a:p>
        </p:txBody>
      </p:sp>
      <p:sp>
        <p:nvSpPr>
          <p:cNvPr id="3" name="Text Placeholder 2"/>
          <p:cNvSpPr/>
          <p:nvPr>
            <p:ph idx="101" type="body"/>
          </p:nvPr>
        </p:nvSpPr>
        <p:spPr>
          <a:xfrm>
            <a:off x="812800" y="1842641"/>
            <a:ext cx="10566400" cy="4202559"/>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0921"/>
          </a:xfrm>
          <a:prstGeom prst="rect">
            <a:avLst/>
          </a:prstGeom>
          <a:noFill/>
          <a:ln/>
        </p:spPr>
        <p:txBody>
          <a:bodyPr wrap="square" lIns="0" tIns="0" rIns="0" bIns="0" rtlCol="0" anchor="t"/>
          <a:lstStyle>
            <a:lvl1pPr algn="l" indent="0" marL="0">
              <a:lnSpc>
                <a:spcPct val="115000"/>
              </a:lnSpc>
              <a:buNone/>
              <a:defRPr lang="en-US" sz="2200" dirty="0">
                <a:solidFill>
                  <a:srgbClr val="14281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200" dirty="0"/>
          </a:p>
        </p:txBody>
      </p:sp>
      <p:sp>
        <p:nvSpPr>
          <p:cNvPr id="3" name="Text Placeholder 2"/>
          <p:cNvSpPr/>
          <p:nvPr>
            <p:ph idx="101" type="body"/>
          </p:nvPr>
        </p:nvSpPr>
        <p:spPr>
          <a:xfrm>
            <a:off x="812800" y="1842641"/>
            <a:ext cx="10566400" cy="4202559"/>
          </a:xfrm>
          <a:prstGeom prst="rect">
            <a:avLst/>
          </a:prstGeom>
          <a:noFill/>
          <a:ln/>
        </p:spPr>
        <p:txBody>
          <a:bodyPr wrap="square" lIns="0" tIns="0" rIns="0" bIns="0" rtlCol="0" anchor="t"/>
          <a:lstStyle>
            <a:lvl1pPr algn="l" indent="0" marL="0">
              <a:lnSpc>
                <a:spcPct val="140000"/>
              </a:lnSpc>
              <a:buNone/>
              <a:defRPr lang="en-US" sz="1600" dirty="0">
                <a:solidFill>
                  <a:srgbClr val="1428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webp"/><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image" Target="../media/image-11-5.jpeg"/><Relationship Id="rId6" Type="http://schemas.openxmlformats.org/officeDocument/2006/relationships/image" Target="../media/image-11-6.jpeg"/><Relationship Id="rId7" Type="http://schemas.openxmlformats.org/officeDocument/2006/relationships/image" Target="../media/image-11-7.jpeg"/><Relationship Id="rId8" Type="http://schemas.openxmlformats.org/officeDocument/2006/relationships/image" Target="../media/image-11-8.jpeg"/><Relationship Id="rId9" Type="http://schemas.openxmlformats.org/officeDocument/2006/relationships/image" Target="../media/image-11-9.jpe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2.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image" Target="../media/image-12-5.jpeg"/><Relationship Id="rId6" Type="http://schemas.openxmlformats.org/officeDocument/2006/relationships/image" Target="../media/image-12-6.jpeg"/><Relationship Id="rId7" Type="http://schemas.openxmlformats.org/officeDocument/2006/relationships/image" Target="../media/image-12-7.jpeg"/><Relationship Id="rId8" Type="http://schemas.openxmlformats.org/officeDocument/2006/relationships/image" Target="../media/image-12-8.jpe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jpe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638"/>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6333" r="6333"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B5638">
                  <a:alpha val="74000"/>
                </a:srgbClr>
              </a:gs>
              <a:gs pos="55000">
                <a:srgbClr val="0E4A33">
                  <a:alpha val="50000"/>
                </a:srgbClr>
              </a:gs>
              <a:gs pos="100000">
                <a:srgbClr val="2E1B4E">
                  <a:alpha val="64000"/>
                </a:srgbClr>
              </a:gs>
            </a:gsLst>
            <a:lin ang="1800000" scaled="0"/>
          </a:gradFill>
          <a:ln/>
        </p:spPr>
      </p:sp>
      <p:pic>
        <p:nvPicPr>
          <p:cNvPr id="4" name="Image 1" descr="Nueva Vicentin Argentina">    </p:cNvPr>
          <p:cNvPicPr>
            <a:picLocks noChangeAspect="1"/>
          </p:cNvPicPr>
          <p:nvPr/>
        </p:nvPicPr>
        <p:blipFill>
          <a:blip r:embed="rId2"/>
          <a:srcRect l="0" r="0" t="-56" b="-56"/>
          <a:stretch/>
        </p:blipFill>
        <p:spPr>
          <a:xfrm>
            <a:off x="812800" y="711200"/>
            <a:ext cx="1778000" cy="952500"/>
          </a:xfrm>
          <a:prstGeom prst="rect">
            <a:avLst/>
          </a:prstGeom>
        </p:spPr>
      </p:pic>
      <p:pic>
        <p:nvPicPr>
          <p:cNvPr id="5" name="Image 2" descr="Bimtrazer">    </p:cNvPr>
          <p:cNvPicPr>
            <a:picLocks noChangeAspect="1"/>
          </p:cNvPicPr>
          <p:nvPr/>
        </p:nvPicPr>
        <p:blipFill>
          <a:blip r:embed="rId3"/>
          <a:srcRect l="0" r="0" t="-440" b="-440"/>
          <a:stretch/>
        </p:blipFill>
        <p:spPr>
          <a:xfrm>
            <a:off x="9906000" y="812800"/>
            <a:ext cx="1473200" cy="698500"/>
          </a:xfrm>
          <a:prstGeom prst="rect">
            <a:avLst/>
          </a:prstGeom>
        </p:spPr>
      </p:pic>
      <p:sp>
        <p:nvSpPr>
          <p:cNvPr id="6" name="Text 1"/>
          <p:cNvSpPr/>
          <p:nvPr/>
        </p:nvSpPr>
        <p:spPr>
          <a:xfrm>
            <a:off x="812800" y="24054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CBAE"/>
                </a:solidFill>
                <a:latin typeface="IBM Plex Sans" pitchFamily="34" charset="0"/>
                <a:ea typeface="IBM Plex Sans" pitchFamily="34" charset="-122"/>
                <a:cs typeface="IBM Plex Sans" pitchFamily="34" charset="-120"/>
              </a:rPr>
              <a:t>LOGÍSTICA · RICARDONE Y PUERTO SAN LORENZO</a:t>
            </a:r>
            <a:endParaRPr lang="en-US" sz="1400" dirty="0"/>
          </a:p>
        </p:txBody>
      </p:sp>
      <p:sp>
        <p:nvSpPr>
          <p:cNvPr id="7" name="Text 2"/>
          <p:cNvSpPr/>
          <p:nvPr>
            <p:ph type="title"/>
          </p:nvPr>
        </p:nvSpPr>
        <p:spPr>
          <a:xfrm>
            <a:off x="812800" y="2832100"/>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1F6F2"/>
                </a:solidFill>
                <a:latin typeface="IBM Plex Sans" pitchFamily="34" charset="0"/>
                <a:ea typeface="IBM Plex Sans" pitchFamily="34" charset="-122"/>
                <a:cs typeface="IBM Plex Sans" pitchFamily="34" charset="-120"/>
              </a:rPr>
              <a:t>Reconocimiento de camiones por cámara</a:t>
            </a:r>
            <a:endParaRPr lang="en-US" sz="6000" dirty="0"/>
          </a:p>
        </p:txBody>
      </p:sp>
      <p:sp>
        <p:nvSpPr>
          <p:cNvPr id="8" name="Text 3"/>
          <p:cNvSpPr/>
          <p:nvPr/>
        </p:nvSpPr>
        <p:spPr>
          <a:xfrm>
            <a:off x="812800" y="46101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6E4DA"/>
                </a:solidFill>
                <a:latin typeface="IBM Plex Sans" pitchFamily="34" charset="0"/>
                <a:ea typeface="IBM Plex Sans" pitchFamily="34" charset="-122"/>
                <a:cs typeface="IBM Plex Sans" pitchFamily="34" charset="-120"/>
              </a:rPr>
              <a:t>Semana del lunes 12 al domingo 18 de octubre</a:t>
            </a:r>
            <a:endParaRPr lang="en-US" sz="2000" dirty="0"/>
          </a:p>
        </p:txBody>
      </p:sp>
      <p:sp>
        <p:nvSpPr>
          <p:cNvPr id="9" name="Shape 4"/>
          <p:cNvSpPr/>
          <p:nvPr/>
        </p:nvSpPr>
        <p:spPr>
          <a:xfrm>
            <a:off x="812800" y="5118100"/>
            <a:ext cx="1016000" cy="50800"/>
          </a:xfrm>
          <a:prstGeom prst="roundRect">
            <a:avLst>
              <a:gd name="adj" fmla="val 50000"/>
            </a:avLst>
          </a:prstGeom>
          <a:solidFill>
            <a:srgbClr val="9CCBAE"/>
          </a:solidFill>
          <a:ln/>
        </p:spPr>
      </p:sp>
      <p:sp>
        <p:nvSpPr>
          <p:cNvPr id="10" name="Text 5"/>
          <p:cNvSpPr/>
          <p:nvPr/>
        </p:nvSpPr>
        <p:spPr>
          <a:xfrm>
            <a:off x="812800" y="5346700"/>
            <a:ext cx="85026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8CE"/>
                </a:solidFill>
                <a:latin typeface="IBM Plex Sans" pitchFamily="34" charset="0"/>
                <a:ea typeface="IBM Plex Sans" pitchFamily="34" charset="-122"/>
                <a:cs typeface="IBM Plex Sans" pitchFamily="34" charset="-120"/>
              </a:rPr>
              <a:t>Cuántos de los camiones que ingresaron a planta identificaron las cámaras a lo largo de su recorrido, de día y de noche, cuántas lecturas corrige el algoritmo y cuántas quedan por corregir.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2690912" cy="289520"/>
          </a:xfrm>
          <a:custGeom>
            <a:avLst/>
            <a:gdLst/>
            <a:ahLst/>
            <a:cxnLst/>
            <a:rect l="l" t="t" r="r" b="b"/>
            <a:pathLst>
              <a:path w="2690912" h="289520">
                <a:moveTo>
                  <a:pt x="144760" y="0"/>
                </a:moveTo>
                <a:lnTo>
                  <a:pt x="2546152" y="0"/>
                </a:lnTo>
                <a:arcTo hR="144760" wR="144760" stAng="16200000" swAng="5400000"/>
                <a:lnTo>
                  <a:pt x="2690912"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CONCLUSIONES · RICARDONE</a:t>
            </a:r>
            <a:endParaRPr lang="en-US" sz="1200" dirty="0"/>
          </a:p>
        </p:txBody>
      </p:sp>
      <p:sp>
        <p:nvSpPr>
          <p:cNvPr id="3" name="Text 1"/>
          <p:cNvSpPr/>
          <p:nvPr/>
        </p:nvSpPr>
        <p:spPr>
          <a:xfrm>
            <a:off x="3605312" y="749300"/>
            <a:ext cx="2839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Lunes 12 a domingo 18 de octubre</a:t>
            </a:r>
            <a:endParaRPr lang="en-US" sz="1200" dirty="0"/>
          </a:p>
        </p:txBody>
      </p:sp>
      <p:sp>
        <p:nvSpPr>
          <p:cNvPr id="4" name="Text 2"/>
          <p:cNvSpPr/>
          <p:nvPr>
            <p:ph type="title"/>
          </p:nvPr>
        </p:nvSpPr>
        <p:spPr>
          <a:xfrm>
            <a:off x="812800" y="1076920"/>
            <a:ext cx="10883392"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Ingreso volvió a leer; lo urgente sigue siendo la balanza de ingreso de noche</a:t>
            </a:r>
            <a:endParaRPr lang="en-US" sz="2200" dirty="0"/>
          </a:p>
        </p:txBody>
      </p:sp>
      <p:sp>
        <p:nvSpPr>
          <p:cNvPr id="5" name="Shape 3"/>
          <p:cNvSpPr/>
          <p:nvPr/>
        </p:nvSpPr>
        <p:spPr>
          <a:xfrm>
            <a:off x="815975" y="1539776"/>
            <a:ext cx="3431084" cy="615950"/>
          </a:xfrm>
          <a:prstGeom prst="roundRect">
            <a:avLst>
              <a:gd name="adj" fmla="val 11856"/>
            </a:avLst>
          </a:prstGeom>
          <a:solidFill>
            <a:srgbClr val="FCFDFB"/>
          </a:solidFill>
          <a:ln w="6350">
            <a:solidFill>
              <a:srgbClr val="D3E2D7"/>
            </a:solidFill>
            <a:prstDash val="solid"/>
          </a:ln>
        </p:spPr>
      </p:sp>
      <p:sp>
        <p:nvSpPr>
          <p:cNvPr id="6" name="Text 4"/>
          <p:cNvSpPr/>
          <p:nvPr/>
        </p:nvSpPr>
        <p:spPr>
          <a:xfrm>
            <a:off x="971550" y="164455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81E"/>
                </a:solidFill>
                <a:latin typeface="IBM Plex Sans" pitchFamily="34" charset="0"/>
                <a:ea typeface="IBM Plex Sans" pitchFamily="34" charset="-122"/>
                <a:cs typeface="IBM Plex Sans" pitchFamily="34" charset="-120"/>
              </a:rPr>
              <a:t>78 %</a:t>
            </a:r>
            <a:endParaRPr lang="en-US" sz="3200" dirty="0"/>
          </a:p>
        </p:txBody>
      </p:sp>
      <p:sp>
        <p:nvSpPr>
          <p:cNvPr id="7" name="Text 5"/>
          <p:cNvSpPr/>
          <p:nvPr/>
        </p:nvSpPr>
        <p:spPr>
          <a:xfrm>
            <a:off x="2078038" y="1649710"/>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lee la patente</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82 % día · 74 % noche</a:t>
            </a:r>
            <a:endParaRPr lang="en-US" sz="1200" dirty="0"/>
          </a:p>
        </p:txBody>
      </p:sp>
      <p:sp>
        <p:nvSpPr>
          <p:cNvPr id="8" name="Shape 6"/>
          <p:cNvSpPr/>
          <p:nvPr/>
        </p:nvSpPr>
        <p:spPr>
          <a:xfrm>
            <a:off x="4380409" y="1539776"/>
            <a:ext cx="3431084" cy="615950"/>
          </a:xfrm>
          <a:prstGeom prst="roundRect">
            <a:avLst>
              <a:gd name="adj" fmla="val 11856"/>
            </a:avLst>
          </a:prstGeom>
          <a:solidFill>
            <a:srgbClr val="FCFDFB"/>
          </a:solidFill>
          <a:ln w="6350">
            <a:solidFill>
              <a:srgbClr val="D3E2D7"/>
            </a:solidFill>
            <a:prstDash val="solid"/>
          </a:ln>
        </p:spPr>
      </p:sp>
      <p:sp>
        <p:nvSpPr>
          <p:cNvPr id="9" name="Text 7"/>
          <p:cNvSpPr/>
          <p:nvPr/>
        </p:nvSpPr>
        <p:spPr>
          <a:xfrm>
            <a:off x="4535984" y="164455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B5638"/>
                </a:solidFill>
                <a:latin typeface="IBM Plex Sans" pitchFamily="34" charset="0"/>
                <a:ea typeface="IBM Plex Sans" pitchFamily="34" charset="-122"/>
                <a:cs typeface="IBM Plex Sans" pitchFamily="34" charset="-120"/>
              </a:rPr>
              <a:t>86 %</a:t>
            </a:r>
            <a:endParaRPr lang="en-US" sz="3200" dirty="0"/>
          </a:p>
        </p:txBody>
      </p:sp>
      <p:sp>
        <p:nvSpPr>
          <p:cNvPr id="10" name="Text 8"/>
          <p:cNvSpPr/>
          <p:nvPr/>
        </p:nvSpPr>
        <p:spPr>
          <a:xfrm>
            <a:off x="5642471" y="1649710"/>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captura el camión</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88 % día · 84 % noche</a:t>
            </a:r>
            <a:endParaRPr lang="en-US" sz="1200" dirty="0"/>
          </a:p>
        </p:txBody>
      </p:sp>
      <p:sp>
        <p:nvSpPr>
          <p:cNvPr id="11" name="Shape 9"/>
          <p:cNvSpPr/>
          <p:nvPr/>
        </p:nvSpPr>
        <p:spPr>
          <a:xfrm>
            <a:off x="7944842" y="1539776"/>
            <a:ext cx="3431084" cy="615950"/>
          </a:xfrm>
          <a:prstGeom prst="roundRect">
            <a:avLst>
              <a:gd name="adj" fmla="val 11856"/>
            </a:avLst>
          </a:prstGeom>
          <a:solidFill>
            <a:srgbClr val="FCFDFB"/>
          </a:solidFill>
          <a:ln w="6350">
            <a:solidFill>
              <a:srgbClr val="D3E2D7"/>
            </a:solidFill>
            <a:prstDash val="solid"/>
          </a:ln>
        </p:spPr>
      </p:sp>
      <p:sp>
        <p:nvSpPr>
          <p:cNvPr id="12" name="Text 10"/>
          <p:cNvSpPr/>
          <p:nvPr/>
        </p:nvSpPr>
        <p:spPr>
          <a:xfrm>
            <a:off x="8100417" y="1644551"/>
            <a:ext cx="15600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E1B4E"/>
                </a:solidFill>
                <a:latin typeface="IBM Plex Sans" pitchFamily="34" charset="0"/>
                <a:ea typeface="IBM Plex Sans" pitchFamily="34" charset="-122"/>
                <a:cs typeface="IBM Plex Sans" pitchFamily="34" charset="-120"/>
              </a:rPr>
              <a:t>99,8 %</a:t>
            </a:r>
            <a:endParaRPr lang="en-US" sz="3200" dirty="0"/>
          </a:p>
        </p:txBody>
      </p:sp>
      <p:sp>
        <p:nvSpPr>
          <p:cNvPr id="13" name="Text 11"/>
          <p:cNvSpPr/>
          <p:nvPr/>
        </p:nvSpPr>
        <p:spPr>
          <a:xfrm>
            <a:off x="9700000" y="1649710"/>
            <a:ext cx="16400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pasos identificados</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con el lote · falta 0,2 %</a:t>
            </a:r>
            <a:endParaRPr lang="en-US" sz="1200" dirty="0"/>
          </a:p>
        </p:txBody>
      </p:sp>
      <p:sp>
        <p:nvSpPr>
          <p:cNvPr id="14" name="Text 12"/>
          <p:cNvSpPr/>
          <p:nvPr/>
        </p:nvSpPr>
        <p:spPr>
          <a:xfrm>
            <a:off x="812800" y="2311301"/>
            <a:ext cx="3437434" cy="307280"/>
          </a:xfrm>
          <a:prstGeom prst="roundRect">
            <a:avLst>
              <a:gd name="adj" fmla="val 16532"/>
            </a:avLst>
          </a:prstGeom>
          <a:solidFill>
            <a:srgbClr val="B3261E"/>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No captura · corregir la cámara</a:t>
            </a:r>
            <a:endParaRPr lang="en-US" sz="1300" dirty="0"/>
          </a:p>
        </p:txBody>
      </p:sp>
      <p:sp>
        <p:nvSpPr>
          <p:cNvPr id="15" name="Shape 13"/>
          <p:cNvSpPr/>
          <p:nvPr/>
        </p:nvSpPr>
        <p:spPr>
          <a:xfrm>
            <a:off x="815975" y="2697956"/>
            <a:ext cx="3431084" cy="859631"/>
          </a:xfrm>
          <a:prstGeom prst="roundRect">
            <a:avLst>
              <a:gd name="adj" fmla="val 7018"/>
            </a:avLst>
          </a:prstGeom>
          <a:solidFill>
            <a:srgbClr val="FCFDFB"/>
          </a:solidFill>
          <a:ln w="6350">
            <a:solidFill>
              <a:srgbClr val="E6C6C2"/>
            </a:solidFill>
            <a:prstDash val="solid"/>
          </a:ln>
        </p:spPr>
      </p:sp>
      <p:sp>
        <p:nvSpPr>
          <p:cNvPr id="16" name="Text 14"/>
          <p:cNvSpPr/>
          <p:nvPr/>
        </p:nvSpPr>
        <p:spPr>
          <a:xfrm>
            <a:off x="933450" y="2777331"/>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ingreso (B1)</a:t>
            </a:r>
            <a:endParaRPr lang="en-US" sz="1300" dirty="0"/>
          </a:p>
        </p:txBody>
      </p:sp>
      <p:sp>
        <p:nvSpPr>
          <p:cNvPr id="17" name="Text 15"/>
          <p:cNvSpPr/>
          <p:nvPr/>
        </p:nvSpPr>
        <p:spPr>
          <a:xfrm>
            <a:off x="933450" y="30211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76 % de noche</a:t>
            </a:r>
            <a:endParaRPr lang="en-US" sz="1300" dirty="0"/>
          </a:p>
        </p:txBody>
      </p:sp>
      <p:sp>
        <p:nvSpPr>
          <p:cNvPr id="18" name="Text 16"/>
          <p:cNvSpPr/>
          <p:nvPr/>
        </p:nvSpPr>
        <p:spPr>
          <a:xfrm>
            <a:off x="933450" y="3264892"/>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Iluminación y revisión</a:t>
            </a:r>
            <a:endParaRPr lang="en-US" sz="1200" dirty="0"/>
          </a:p>
        </p:txBody>
      </p:sp>
      <p:sp>
        <p:nvSpPr>
          <p:cNvPr id="19" name="Shape 17"/>
          <p:cNvSpPr/>
          <p:nvPr/>
        </p:nvSpPr>
        <p:spPr>
          <a:xfrm>
            <a:off x="815975" y="3640138"/>
            <a:ext cx="3431084" cy="859631"/>
          </a:xfrm>
          <a:prstGeom prst="roundRect">
            <a:avLst>
              <a:gd name="adj" fmla="val 7018"/>
            </a:avLst>
          </a:prstGeom>
          <a:solidFill>
            <a:srgbClr val="FCFDFB"/>
          </a:solidFill>
          <a:ln w="6350">
            <a:solidFill>
              <a:srgbClr val="E6C6C2"/>
            </a:solidFill>
            <a:prstDash val="solid"/>
          </a:ln>
        </p:spPr>
      </p:sp>
      <p:sp>
        <p:nvSpPr>
          <p:cNvPr id="20" name="Text 18"/>
          <p:cNvSpPr/>
          <p:nvPr/>
        </p:nvSpPr>
        <p:spPr>
          <a:xfrm>
            <a:off x="933450" y="37195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 2</a:t>
            </a:r>
            <a:endParaRPr lang="en-US" sz="1300" dirty="0"/>
          </a:p>
        </p:txBody>
      </p:sp>
      <p:sp>
        <p:nvSpPr>
          <p:cNvPr id="21" name="Text 19"/>
          <p:cNvSpPr/>
          <p:nvPr/>
        </p:nvSpPr>
        <p:spPr>
          <a:xfrm>
            <a:off x="933450" y="39632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25 %</a:t>
            </a:r>
            <a:endParaRPr lang="en-US" sz="1300" dirty="0"/>
          </a:p>
        </p:txBody>
      </p:sp>
      <p:sp>
        <p:nvSpPr>
          <p:cNvPr id="22" name="Text 20"/>
          <p:cNvSpPr/>
          <p:nvPr/>
        </p:nvSpPr>
        <p:spPr>
          <a:xfrm>
            <a:off x="933450" y="42070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Parejo de día y de noche: encuadre</a:t>
            </a:r>
            <a:endParaRPr lang="en-US" sz="1200" dirty="0"/>
          </a:p>
        </p:txBody>
      </p:sp>
      <p:sp>
        <p:nvSpPr>
          <p:cNvPr id="23" name="Text 21"/>
          <p:cNvSpPr/>
          <p:nvPr/>
        </p:nvSpPr>
        <p:spPr>
          <a:xfrm>
            <a:off x="4377234" y="2311301"/>
            <a:ext cx="3437434" cy="307280"/>
          </a:xfrm>
          <a:prstGeom prst="roundRect">
            <a:avLst>
              <a:gd name="adj" fmla="val 16532"/>
            </a:avLst>
          </a:prstGeom>
          <a:solidFill>
            <a:srgbClr val="E8B931"/>
          </a:solidFill>
          <a:ln/>
        </p:spPr>
        <p:txBody>
          <a:bodyPr wrap="square" lIns="86721" tIns="23221" rIns="0" bIns="0" rtlCol="0" anchor="t">
            <a:normAutofit/>
          </a:bodyPr>
          <a:lstStyle/>
          <a:p>
            <a:pPr algn="l" indent="0" marL="0">
              <a:lnSpc>
                <a:spcPts val="1820"/>
              </a:lnSpc>
              <a:buNone/>
            </a:pPr>
            <a:r>
              <a:rPr lang="en-US" sz="1300" b="1" dirty="0">
                <a:solidFill>
                  <a:srgbClr val="3A2A00"/>
                </a:solidFill>
                <a:latin typeface="IBM Plex Sans" pitchFamily="34" charset="0"/>
                <a:ea typeface="IBM Plex Sans" pitchFamily="34" charset="-122"/>
                <a:cs typeface="IBM Plex Sans" pitchFamily="34" charset="-120"/>
              </a:rPr>
              <a:t>Captura pero lee mal</a:t>
            </a:r>
            <a:endParaRPr lang="en-US" sz="1300" dirty="0"/>
          </a:p>
        </p:txBody>
      </p:sp>
      <p:sp>
        <p:nvSpPr>
          <p:cNvPr id="24" name="Shape 22"/>
          <p:cNvSpPr/>
          <p:nvPr/>
        </p:nvSpPr>
        <p:spPr>
          <a:xfrm>
            <a:off x="4380409" y="2697956"/>
            <a:ext cx="3431084" cy="859631"/>
          </a:xfrm>
          <a:prstGeom prst="roundRect">
            <a:avLst>
              <a:gd name="adj" fmla="val 7018"/>
            </a:avLst>
          </a:prstGeom>
          <a:solidFill>
            <a:srgbClr val="FCFDFB"/>
          </a:solidFill>
          <a:ln w="6350">
            <a:solidFill>
              <a:srgbClr val="EAD9A8"/>
            </a:solidFill>
            <a:prstDash val="solid"/>
          </a:ln>
        </p:spPr>
      </p:sp>
      <p:sp>
        <p:nvSpPr>
          <p:cNvPr id="25" name="Text 23"/>
          <p:cNvSpPr/>
          <p:nvPr/>
        </p:nvSpPr>
        <p:spPr>
          <a:xfrm>
            <a:off x="4497884" y="2777331"/>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Ingreso</a:t>
            </a:r>
            <a:endParaRPr lang="en-US" sz="1300" dirty="0"/>
          </a:p>
        </p:txBody>
      </p:sp>
      <p:sp>
        <p:nvSpPr>
          <p:cNvPr id="26" name="Text 24"/>
          <p:cNvSpPr/>
          <p:nvPr/>
        </p:nvSpPr>
        <p:spPr>
          <a:xfrm>
            <a:off x="4497884" y="30211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74 % · captura 82 %</a:t>
            </a:r>
            <a:endParaRPr lang="en-US" sz="1300" dirty="0"/>
          </a:p>
        </p:txBody>
      </p:sp>
      <p:sp>
        <p:nvSpPr>
          <p:cNvPr id="27" name="Text 25"/>
          <p:cNvSpPr/>
          <p:nvPr/>
        </p:nvSpPr>
        <p:spPr>
          <a:xfrm>
            <a:off x="4497884" y="3264892"/>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La semana anterior leía 50 %</a:t>
            </a:r>
            <a:endParaRPr lang="en-US" sz="1200" dirty="0"/>
          </a:p>
        </p:txBody>
      </p:sp>
      <p:sp>
        <p:nvSpPr>
          <p:cNvPr id="28" name="Shape 26"/>
          <p:cNvSpPr/>
          <p:nvPr/>
        </p:nvSpPr>
        <p:spPr>
          <a:xfrm>
            <a:off x="4380409" y="3640138"/>
            <a:ext cx="3431084" cy="859631"/>
          </a:xfrm>
          <a:prstGeom prst="roundRect">
            <a:avLst>
              <a:gd name="adj" fmla="val 7018"/>
            </a:avLst>
          </a:prstGeom>
          <a:solidFill>
            <a:srgbClr val="FCFDFB"/>
          </a:solidFill>
          <a:ln w="6350">
            <a:solidFill>
              <a:srgbClr val="EAD9A8"/>
            </a:solidFill>
            <a:prstDash val="solid"/>
          </a:ln>
        </p:spPr>
      </p:sp>
      <p:sp>
        <p:nvSpPr>
          <p:cNvPr id="29" name="Text 27"/>
          <p:cNvSpPr/>
          <p:nvPr/>
        </p:nvSpPr>
        <p:spPr>
          <a:xfrm>
            <a:off x="4497884" y="37195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Playa 3 de noche</a:t>
            </a:r>
            <a:endParaRPr lang="en-US" sz="1300" dirty="0"/>
          </a:p>
        </p:txBody>
      </p:sp>
      <p:sp>
        <p:nvSpPr>
          <p:cNvPr id="30" name="Text 28"/>
          <p:cNvSpPr/>
          <p:nvPr/>
        </p:nvSpPr>
        <p:spPr>
          <a:xfrm>
            <a:off x="4497884" y="39632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62 % · captura 72 %</a:t>
            </a:r>
            <a:endParaRPr lang="en-US" sz="1300" dirty="0"/>
          </a:p>
        </p:txBody>
      </p:sp>
      <p:sp>
        <p:nvSpPr>
          <p:cNvPr id="31" name="Text 29"/>
          <p:cNvSpPr/>
          <p:nvPr/>
        </p:nvSpPr>
        <p:spPr>
          <a:xfrm>
            <a:off x="4497884" y="42070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Iluminación nocturna</a:t>
            </a:r>
            <a:endParaRPr lang="en-US" sz="1200" dirty="0"/>
          </a:p>
        </p:txBody>
      </p:sp>
      <p:sp>
        <p:nvSpPr>
          <p:cNvPr id="32" name="Shape 30"/>
          <p:cNvSpPr/>
          <p:nvPr/>
        </p:nvSpPr>
        <p:spPr>
          <a:xfrm>
            <a:off x="4380409" y="4582319"/>
            <a:ext cx="3431084" cy="633611"/>
          </a:xfrm>
          <a:prstGeom prst="roundRect">
            <a:avLst>
              <a:gd name="adj" fmla="val 9521"/>
            </a:avLst>
          </a:prstGeom>
          <a:solidFill>
            <a:srgbClr val="FCFDFB"/>
          </a:solidFill>
          <a:ln w="6350">
            <a:solidFill>
              <a:srgbClr val="EAD9A8"/>
            </a:solidFill>
            <a:prstDash val="solid"/>
          </a:ln>
        </p:spPr>
      </p:sp>
      <p:sp>
        <p:nvSpPr>
          <p:cNvPr id="33" name="Text 31"/>
          <p:cNvSpPr/>
          <p:nvPr/>
        </p:nvSpPr>
        <p:spPr>
          <a:xfrm>
            <a:off x="4497884" y="4661694"/>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 (B2)</a:t>
            </a:r>
            <a:endParaRPr lang="en-US" sz="1300" dirty="0"/>
          </a:p>
        </p:txBody>
      </p:sp>
      <p:sp>
        <p:nvSpPr>
          <p:cNvPr id="34" name="Text 32"/>
          <p:cNvSpPr/>
          <p:nvPr/>
        </p:nvSpPr>
        <p:spPr>
          <a:xfrm>
            <a:off x="4497884" y="4905474"/>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74 % · captura 80 %</a:t>
            </a:r>
            <a:endParaRPr lang="en-US" sz="1300" dirty="0"/>
          </a:p>
        </p:txBody>
      </p:sp>
      <p:sp>
        <p:nvSpPr>
          <p:cNvPr id="35" name="Text 33"/>
          <p:cNvSpPr/>
          <p:nvPr/>
        </p:nvSpPr>
        <p:spPr>
          <a:xfrm>
            <a:off x="7941667" y="2311301"/>
            <a:ext cx="3437434" cy="307280"/>
          </a:xfrm>
          <a:prstGeom prst="roundRect">
            <a:avLst>
              <a:gd name="adj" fmla="val 16532"/>
            </a:avLst>
          </a:prstGeom>
          <a:solidFill>
            <a:srgbClr val="0B5638"/>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Funciona bien</a:t>
            </a:r>
            <a:endParaRPr lang="en-US" sz="1300" dirty="0"/>
          </a:p>
        </p:txBody>
      </p:sp>
      <p:sp>
        <p:nvSpPr>
          <p:cNvPr id="36" name="Shape 34"/>
          <p:cNvSpPr/>
          <p:nvPr/>
        </p:nvSpPr>
        <p:spPr>
          <a:xfrm>
            <a:off x="7944842" y="2697956"/>
            <a:ext cx="3431084" cy="633611"/>
          </a:xfrm>
          <a:prstGeom prst="roundRect">
            <a:avLst>
              <a:gd name="adj" fmla="val 9521"/>
            </a:avLst>
          </a:prstGeom>
          <a:solidFill>
            <a:srgbClr val="FCFDFB"/>
          </a:solidFill>
          <a:ln w="6350">
            <a:solidFill>
              <a:srgbClr val="C9DECF"/>
            </a:solidFill>
            <a:prstDash val="solid"/>
          </a:ln>
        </p:spPr>
      </p:sp>
      <p:sp>
        <p:nvSpPr>
          <p:cNvPr id="37" name="Text 35"/>
          <p:cNvSpPr/>
          <p:nvPr/>
        </p:nvSpPr>
        <p:spPr>
          <a:xfrm>
            <a:off x="8062317" y="2777331"/>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Salida</a:t>
            </a:r>
            <a:endParaRPr lang="en-US" sz="1300" dirty="0"/>
          </a:p>
        </p:txBody>
      </p:sp>
      <p:sp>
        <p:nvSpPr>
          <p:cNvPr id="38" name="Text 36"/>
          <p:cNvSpPr/>
          <p:nvPr/>
        </p:nvSpPr>
        <p:spPr>
          <a:xfrm>
            <a:off x="8062317" y="30211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90 % · captura 96 %</a:t>
            </a:r>
            <a:endParaRPr lang="en-US" sz="1300" dirty="0"/>
          </a:p>
        </p:txBody>
      </p:sp>
      <p:sp>
        <p:nvSpPr>
          <p:cNvPr id="39" name="Shape 37"/>
          <p:cNvSpPr/>
          <p:nvPr/>
        </p:nvSpPr>
        <p:spPr>
          <a:xfrm>
            <a:off x="7944842" y="3414117"/>
            <a:ext cx="3431084" cy="633611"/>
          </a:xfrm>
          <a:prstGeom prst="roundRect">
            <a:avLst>
              <a:gd name="adj" fmla="val 9521"/>
            </a:avLst>
          </a:prstGeom>
          <a:solidFill>
            <a:srgbClr val="FCFDFB"/>
          </a:solidFill>
          <a:ln w="6350">
            <a:solidFill>
              <a:srgbClr val="C9DECF"/>
            </a:solidFill>
            <a:prstDash val="solid"/>
          </a:ln>
        </p:spPr>
      </p:sp>
      <p:sp>
        <p:nvSpPr>
          <p:cNvPr id="40" name="Text 38"/>
          <p:cNvSpPr/>
          <p:nvPr/>
        </p:nvSpPr>
        <p:spPr>
          <a:xfrm>
            <a:off x="8062317" y="34934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Preingreso</a:t>
            </a:r>
            <a:endParaRPr lang="en-US" sz="1300" dirty="0"/>
          </a:p>
        </p:txBody>
      </p:sp>
      <p:sp>
        <p:nvSpPr>
          <p:cNvPr id="41" name="Text 39"/>
          <p:cNvSpPr/>
          <p:nvPr/>
        </p:nvSpPr>
        <p:spPr>
          <a:xfrm>
            <a:off x="8062317" y="37372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89 % · captura 92 %</a:t>
            </a:r>
            <a:endParaRPr lang="en-US" sz="1300" dirty="0"/>
          </a:p>
        </p:txBody>
      </p:sp>
      <p:sp>
        <p:nvSpPr>
          <p:cNvPr id="42" name="Shape 40"/>
          <p:cNvSpPr/>
          <p:nvPr/>
        </p:nvSpPr>
        <p:spPr>
          <a:xfrm>
            <a:off x="7944842" y="4130278"/>
            <a:ext cx="3431084" cy="633611"/>
          </a:xfrm>
          <a:prstGeom prst="roundRect">
            <a:avLst>
              <a:gd name="adj" fmla="val 9521"/>
            </a:avLst>
          </a:prstGeom>
          <a:solidFill>
            <a:srgbClr val="FCFDFB"/>
          </a:solidFill>
          <a:ln w="6350">
            <a:solidFill>
              <a:srgbClr val="C9DECF"/>
            </a:solidFill>
            <a:prstDash val="solid"/>
          </a:ln>
        </p:spPr>
      </p:sp>
      <p:sp>
        <p:nvSpPr>
          <p:cNvPr id="43" name="Text 41"/>
          <p:cNvSpPr/>
          <p:nvPr/>
        </p:nvSpPr>
        <p:spPr>
          <a:xfrm>
            <a:off x="8062317" y="420965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Calada</a:t>
            </a:r>
            <a:endParaRPr lang="en-US" sz="1300" dirty="0"/>
          </a:p>
        </p:txBody>
      </p:sp>
      <p:sp>
        <p:nvSpPr>
          <p:cNvPr id="44" name="Text 42"/>
          <p:cNvSpPr/>
          <p:nvPr/>
        </p:nvSpPr>
        <p:spPr>
          <a:xfrm>
            <a:off x="8062317" y="4453434"/>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87 % · captura 93 %</a:t>
            </a:r>
            <a:endParaRPr lang="en-US" sz="1300" dirty="0"/>
          </a:p>
        </p:txBody>
      </p:sp>
      <p:pic>
        <p:nvPicPr>
          <p:cNvPr id="45"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46"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455319" cy="289520"/>
          </a:xfrm>
          <a:custGeom>
            <a:avLst/>
            <a:gdLst/>
            <a:ahLst/>
            <a:cxnLst/>
            <a:rect l="l" t="t" r="r" b="b"/>
            <a:pathLst>
              <a:path w="4455319" h="289520">
                <a:moveTo>
                  <a:pt x="144760" y="0"/>
                </a:moveTo>
                <a:lnTo>
                  <a:pt x="4310559" y="0"/>
                </a:lnTo>
                <a:arcTo hR="144760" wR="144760" stAng="16200000" swAng="5400000"/>
                <a:lnTo>
                  <a:pt x="4455319"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ESTA SEMANA CONTRA LA ANTERIOR · RICARDONE</a:t>
            </a:r>
            <a:endParaRPr lang="en-US" sz="1200" dirty="0"/>
          </a:p>
        </p:txBody>
      </p:sp>
      <p:sp>
        <p:nvSpPr>
          <p:cNvPr id="3" name="Text 1"/>
          <p:cNvSpPr/>
          <p:nvPr>
            <p:ph type="title"/>
          </p:nvPr>
        </p:nvSpPr>
        <p:spPr>
          <a:xfrm>
            <a:off x="812800" y="1102320"/>
            <a:ext cx="10883392" cy="75168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81E"/>
                </a:solidFill>
                <a:latin typeface="IBM Plex Sans" pitchFamily="34" charset="0"/>
                <a:ea typeface="IBM Plex Sans" pitchFamily="34" charset="-122"/>
                <a:cs typeface="IBM Plex Sans" pitchFamily="34" charset="-120"/>
              </a:rPr>
              <a:t>Mejoraron casi todos los nodos: Ingreso volvió a leer y Salida pasó a 90 %</a:t>
            </a:r>
            <a:endParaRPr lang="en-US" sz="2600" dirty="0"/>
          </a:p>
        </p:txBody>
      </p:sp>
      <p:sp>
        <p:nvSpPr>
          <p:cNvPr id="4" name="Shape 2"/>
          <p:cNvSpPr/>
          <p:nvPr/>
        </p:nvSpPr>
        <p:spPr>
          <a:xfrm>
            <a:off x="812800" y="2006402"/>
            <a:ext cx="10566400" cy="289520"/>
          </a:xfrm>
          <a:custGeom>
            <a:avLst/>
            <a:gdLst/>
            <a:ahLst/>
            <a:cxnLst/>
            <a:rect l="l" t="t" r="r" b="b"/>
            <a:pathLst>
              <a:path w="10566400" h="289520">
                <a:moveTo>
                  <a:pt x="50800" y="0"/>
                </a:moveTo>
                <a:lnTo>
                  <a:pt x="10515600" y="0"/>
                </a:lnTo>
                <a:arcTo hR="50800" wR="50800" stAng="16200000" swAng="5400000"/>
                <a:lnTo>
                  <a:pt x="10566400" y="289520"/>
                </a:lnTo>
                <a:lnTo>
                  <a:pt x="0" y="289520"/>
                </a:lnTo>
                <a:lnTo>
                  <a:pt x="0" y="50800"/>
                </a:lnTo>
                <a:arcTo hR="50800" wR="50800" stAng="10800000" swAng="5400000"/>
                <a:close/>
              </a:path>
            </a:pathLst>
          </a:custGeom>
          <a:solidFill>
            <a:srgbClr val="0B5638"/>
          </a:solidFill>
          <a:ln/>
        </p:spPr>
      </p:sp>
      <p:sp>
        <p:nvSpPr>
          <p:cNvPr id="5" name="Text 3"/>
          <p:cNvSpPr/>
          <p:nvPr/>
        </p:nvSpPr>
        <p:spPr>
          <a:xfrm>
            <a:off x="889000" y="2044502"/>
            <a:ext cx="26750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352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lun 5 al dom 11</a:t>
            </a:r>
            <a:endParaRPr lang="en-US" sz="1200" dirty="0"/>
          </a:p>
        </p:txBody>
      </p:sp>
      <p:sp>
        <p:nvSpPr>
          <p:cNvPr id="7" name="Text 5"/>
          <p:cNvSpPr/>
          <p:nvPr/>
        </p:nvSpPr>
        <p:spPr>
          <a:xfrm>
            <a:off x="606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lun 12 al dom 18</a:t>
            </a:r>
            <a:endParaRPr lang="en-US" sz="1200" dirty="0"/>
          </a:p>
        </p:txBody>
      </p:sp>
      <p:sp>
        <p:nvSpPr>
          <p:cNvPr id="8" name="Text 6"/>
          <p:cNvSpPr/>
          <p:nvPr/>
        </p:nvSpPr>
        <p:spPr>
          <a:xfrm>
            <a:off x="8601297" y="2044502"/>
            <a:ext cx="281895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Cambio</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308622"/>
          <a:ext cx="10553700" cy="3114675"/>
        </p:xfrm>
        <a:graphic>
          <a:graphicData uri="http://schemas.openxmlformats.org/drawingml/2006/table">
            <a:tbl>
              <a:tblPr/>
              <a:tblGrid>
                <a:gridCol w="2743962"/>
                <a:gridCol w="1266444"/>
                <a:gridCol w="1266444"/>
                <a:gridCol w="1266444"/>
                <a:gridCol w="1266444"/>
                <a:gridCol w="2743962"/>
              </a:tblGrid>
              <a:tr h="346075">
                <a:tc>
                  <a:txBody>
                    <a:bodyPr/>
                    <a:lstStyle/>
                    <a:p>
                      <a:pP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Nodo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ct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Total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52 %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48 %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50 → 74 %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Preingreso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90 → 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Calada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80 %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81 → 87 %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ingreso (B1)</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39 %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17 %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34 %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19 %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29 → 28 %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Playa 3</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49 %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62 %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69 → 76 %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 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50 %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44 %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56 %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61 %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47 → 59 %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egreso (B2)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58 %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69 → 74 %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Salida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71 %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83 %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79 → 90 %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bl>
          </a:graphicData>
        </a:graphic>
      </p:graphicFrame>
      <p:pic>
        <p:nvPicPr>
          <p:cNvPr id="1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2" name="Text 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Fila verde = mejoró · blanca = igual (±3 puntos) · roja = empeoró · cambio sobre el total del nodo · 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816376" cy="289520"/>
          </a:xfrm>
          <a:custGeom>
            <a:avLst/>
            <a:gdLst/>
            <a:ahLst/>
            <a:cxnLst/>
            <a:rect l="l" t="t" r="r" b="b"/>
            <a:pathLst>
              <a:path w="4816376" h="289520">
                <a:moveTo>
                  <a:pt x="144760" y="0"/>
                </a:moveTo>
                <a:lnTo>
                  <a:pt x="4671616" y="0"/>
                </a:lnTo>
                <a:arcTo hR="144760" wR="144760" stAng="16200000" swAng="5400000"/>
                <a:lnTo>
                  <a:pt x="4816376"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LECTURA Y RECONSTRUCCIÓN POR NODO · RICARDONE</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Con el lote: de cada 100 pasos la cámara lee 83, se reconstruyen 7 y se deducen 10; faltan 0,2</a:t>
            </a:r>
            <a:endParaRPr lang="en-US" sz="2200" dirty="0"/>
          </a:p>
        </p:txBody>
      </p:sp>
      <p:sp>
        <p:nvSpPr>
          <p:cNvPr id="4" name="Shape 2"/>
          <p:cNvSpPr/>
          <p:nvPr/>
        </p:nvSpPr>
        <p:spPr>
          <a:xfrm>
            <a:off x="812800" y="1843881"/>
            <a:ext cx="10566400" cy="314920"/>
          </a:xfrm>
          <a:custGeom>
            <a:avLst/>
            <a:gdLst/>
            <a:ahLst/>
            <a:cxnLst/>
            <a:rect l="l" t="t" r="r" b="b"/>
            <a:pathLst>
              <a:path w="10566400" h="314920">
                <a:moveTo>
                  <a:pt x="50800" y="0"/>
                </a:moveTo>
                <a:lnTo>
                  <a:pt x="10515600" y="0"/>
                </a:lnTo>
                <a:arcTo hR="50800" wR="50800" stAng="16200000" swAng="5400000"/>
                <a:lnTo>
                  <a:pt x="10566400" y="314920"/>
                </a:lnTo>
                <a:lnTo>
                  <a:pt x="0" y="314920"/>
                </a:lnTo>
                <a:lnTo>
                  <a:pt x="0" y="50800"/>
                </a:lnTo>
                <a:arcTo hR="50800" wR="50800" stAng="10800000" swAng="5400000"/>
                <a:close/>
              </a:path>
            </a:pathLst>
          </a:custGeom>
          <a:solidFill>
            <a:srgbClr val="0B5638"/>
          </a:solidFill>
          <a:ln/>
        </p:spPr>
      </p:sp>
      <p:sp>
        <p:nvSpPr>
          <p:cNvPr id="5" name="Text 3"/>
          <p:cNvSpPr/>
          <p:nvPr/>
        </p:nvSpPr>
        <p:spPr>
          <a:xfrm>
            <a:off x="889000" y="1894681"/>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2959100" y="1894681"/>
            <a:ext cx="6731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Pasos</a:t>
            </a:r>
            <a:endParaRPr lang="en-US" sz="1200" dirty="0"/>
          </a:p>
        </p:txBody>
      </p:sp>
      <p:sp>
        <p:nvSpPr>
          <p:cNvPr id="7" name="Text 5"/>
          <p:cNvSpPr/>
          <p:nvPr/>
        </p:nvSpPr>
        <p:spPr>
          <a:xfrm>
            <a:off x="3733800" y="1894681"/>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De 100 pasos</a:t>
            </a:r>
            <a:endParaRPr lang="en-US" sz="1200" dirty="0"/>
          </a:p>
        </p:txBody>
      </p:sp>
      <p:sp>
        <p:nvSpPr>
          <p:cNvPr id="8" name="Text 6"/>
          <p:cNvSpPr/>
          <p:nvPr/>
        </p:nvSpPr>
        <p:spPr>
          <a:xfrm>
            <a:off x="6985000" y="1894681"/>
            <a:ext cx="1193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Leyó la cámara</a:t>
            </a:r>
            <a:endParaRPr lang="en-US" sz="1200" dirty="0"/>
          </a:p>
        </p:txBody>
      </p:sp>
      <p:sp>
        <p:nvSpPr>
          <p:cNvPr id="9" name="Text 7"/>
          <p:cNvSpPr/>
          <p:nvPr/>
        </p:nvSpPr>
        <p:spPr>
          <a:xfrm>
            <a:off x="81280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Reconstruido</a:t>
            </a:r>
            <a:endParaRPr lang="en-US" sz="1200" dirty="0"/>
          </a:p>
        </p:txBody>
      </p:sp>
      <p:sp>
        <p:nvSpPr>
          <p:cNvPr id="10" name="Text 8"/>
          <p:cNvSpPr/>
          <p:nvPr/>
        </p:nvSpPr>
        <p:spPr>
          <a:xfrm>
            <a:off x="92075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Deducido</a:t>
            </a:r>
            <a:endParaRPr lang="en-US" sz="1200" dirty="0"/>
          </a:p>
        </p:txBody>
      </p:sp>
      <p:sp>
        <p:nvSpPr>
          <p:cNvPr id="11" name="Text 9"/>
          <p:cNvSpPr/>
          <p:nvPr/>
        </p:nvSpPr>
        <p:spPr>
          <a:xfrm>
            <a:off x="10363200" y="1894681"/>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Falta</a:t>
            </a:r>
            <a:endParaRPr lang="en-US" sz="1200" dirty="0"/>
          </a:p>
        </p:txBody>
      </p:sp>
      <p:sp>
        <p:nvSpPr>
          <p:cNvPr id="12" name="Shape 10"/>
          <p:cNvSpPr/>
          <p:nvPr/>
        </p:nvSpPr>
        <p:spPr>
          <a:xfrm>
            <a:off x="812800" y="2158802"/>
            <a:ext cx="10566400" cy="313630"/>
          </a:xfrm>
          <a:prstGeom prst="rect">
            <a:avLst/>
          </a:prstGeom>
          <a:solidFill>
            <a:srgbClr val="FCFDFB"/>
          </a:solidFill>
          <a:ln/>
        </p:spPr>
      </p:sp>
      <p:sp>
        <p:nvSpPr>
          <p:cNvPr id="13" name="Shape 11"/>
          <p:cNvSpPr/>
          <p:nvPr/>
        </p:nvSpPr>
        <p:spPr>
          <a:xfrm>
            <a:off x="812800" y="2469257"/>
            <a:ext cx="10566400" cy="0"/>
          </a:xfrm>
          <a:prstGeom prst="line">
            <a:avLst/>
          </a:prstGeom>
          <a:noFill/>
          <a:ln w="6350">
            <a:solidFill>
              <a:srgbClr val="D3E2D7"/>
            </a:solidFill>
            <a:prstDash val="solid"/>
          </a:ln>
        </p:spPr>
      </p:sp>
      <p:sp>
        <p:nvSpPr>
          <p:cNvPr id="14" name="Text 12"/>
          <p:cNvSpPr/>
          <p:nvPr/>
        </p:nvSpPr>
        <p:spPr>
          <a:xfrm>
            <a:off x="889000" y="219690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Preingreso</a:t>
            </a:r>
            <a:endParaRPr lang="en-US" sz="1300" dirty="0"/>
          </a:p>
        </p:txBody>
      </p:sp>
      <p:sp>
        <p:nvSpPr>
          <p:cNvPr id="15" name="Text 13"/>
          <p:cNvSpPr/>
          <p:nvPr/>
        </p:nvSpPr>
        <p:spPr>
          <a:xfrm>
            <a:off x="2959100" y="219690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402</a:t>
            </a:r>
            <a:endParaRPr lang="en-US" sz="1300" dirty="0"/>
          </a:p>
        </p:txBody>
      </p:sp>
      <p:sp>
        <p:nvSpPr>
          <p:cNvPr id="106" name="Shape 106"/>
          <p:cNvSpPr/>
          <p:nvPr/>
        </p:nvSpPr>
        <p:spPr>
          <a:xfrm>
            <a:off x="3733800" y="2217142"/>
            <a:ext cx="2973443" cy="190500"/>
          </a:xfrm>
          <a:custGeom>
            <a:avLst/>
            <a:gdLst/>
            <a:ahLst/>
            <a:cxnLst/>
            <a:rect l="l" t="t" r="r" b="b"/>
            <a:pathLst>
              <a:path w="2973443" h="190500">
                <a:moveTo>
                  <a:pt x="38100" y="0"/>
                </a:moveTo>
                <a:lnTo>
                  <a:pt x="2973443" y="0"/>
                </a:lnTo>
                <a:lnTo>
                  <a:pt x="2973443"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07" name="Shape 107"/>
          <p:cNvSpPr/>
          <p:nvPr/>
        </p:nvSpPr>
        <p:spPr>
          <a:xfrm>
            <a:off x="6707243" y="2217142"/>
            <a:ext cx="131423" cy="190500"/>
          </a:xfrm>
          <a:prstGeom prst="rect">
            <a:avLst/>
          </a:prstGeom>
          <a:solidFill>
            <a:srgbClr val="7FB894"/>
          </a:solidFill>
          <a:ln/>
        </p:spPr>
      </p:sp>
      <p:sp>
        <p:nvSpPr>
          <p:cNvPr id="108" name="Shape 108"/>
          <p:cNvSpPr/>
          <p:nvPr/>
        </p:nvSpPr>
        <p:spPr>
          <a:xfrm>
            <a:off x="6838666" y="2217142"/>
            <a:ext cx="188920" cy="190500"/>
          </a:xfrm>
          <a:prstGeom prst="rect">
            <a:avLst/>
          </a:prstGeom>
          <a:solidFill>
            <a:srgbClr val="9C8FC4"/>
          </a:solidFill>
          <a:ln/>
        </p:spPr>
      </p:sp>
      <p:sp>
        <p:nvSpPr>
          <p:cNvPr id="109" name="Shape 109"/>
          <p:cNvSpPr/>
          <p:nvPr/>
        </p:nvSpPr>
        <p:spPr>
          <a:xfrm>
            <a:off x="7027586" y="2217142"/>
            <a:ext cx="8214" cy="190500"/>
          </a:xfrm>
          <a:custGeom>
            <a:avLst/>
            <a:gdLst/>
            <a:ahLst/>
            <a:cxnLst/>
            <a:rect l="l" t="t" r="r" b="b"/>
            <a:pathLst>
              <a:path w="8214" h="190500">
                <a:moveTo>
                  <a:pt x="0" y="0"/>
                </a:moveTo>
                <a:lnTo>
                  <a:pt x="4107" y="0"/>
                </a:lnTo>
                <a:arcTo hR="4107" wR="4107" stAng="16200000" swAng="5400000"/>
                <a:lnTo>
                  <a:pt x="8214" y="186393"/>
                </a:lnTo>
                <a:arcTo hR="4107" wR="4107" stAng="0" swAng="5400000"/>
                <a:lnTo>
                  <a:pt x="0" y="190500"/>
                </a:lnTo>
                <a:close/>
              </a:path>
            </a:pathLst>
          </a:custGeom>
          <a:solidFill>
            <a:srgbClr val="B3261E"/>
          </a:solidFill>
          <a:ln/>
        </p:spPr>
      </p:sp>
      <p:sp>
        <p:nvSpPr>
          <p:cNvPr id="20" name="Text 18"/>
          <p:cNvSpPr/>
          <p:nvPr/>
        </p:nvSpPr>
        <p:spPr>
          <a:xfrm>
            <a:off x="6985000" y="219690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90 %</a:t>
            </a:r>
            <a:endParaRPr lang="en-US" sz="1300" dirty="0"/>
          </a:p>
        </p:txBody>
      </p:sp>
      <p:sp>
        <p:nvSpPr>
          <p:cNvPr id="21" name="Text 19"/>
          <p:cNvSpPr/>
          <p:nvPr/>
        </p:nvSpPr>
        <p:spPr>
          <a:xfrm>
            <a:off x="81280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4 %</a:t>
            </a:r>
            <a:endParaRPr lang="en-US" sz="1300" dirty="0"/>
          </a:p>
        </p:txBody>
      </p:sp>
      <p:sp>
        <p:nvSpPr>
          <p:cNvPr id="22" name="Text 20"/>
          <p:cNvSpPr/>
          <p:nvPr/>
        </p:nvSpPr>
        <p:spPr>
          <a:xfrm>
            <a:off x="92075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6 %</a:t>
            </a:r>
            <a:endParaRPr lang="en-US" sz="1300" dirty="0"/>
          </a:p>
        </p:txBody>
      </p:sp>
      <p:sp>
        <p:nvSpPr>
          <p:cNvPr id="23" name="Text 21"/>
          <p:cNvSpPr/>
          <p:nvPr/>
        </p:nvSpPr>
        <p:spPr>
          <a:xfrm>
            <a:off x="10363200" y="219690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24" name="Shape 22"/>
          <p:cNvSpPr/>
          <p:nvPr/>
        </p:nvSpPr>
        <p:spPr>
          <a:xfrm>
            <a:off x="812800" y="2472432"/>
            <a:ext cx="10566400" cy="313630"/>
          </a:xfrm>
          <a:prstGeom prst="rect">
            <a:avLst/>
          </a:prstGeom>
          <a:solidFill>
            <a:srgbClr val="FCFDFB"/>
          </a:solidFill>
          <a:ln/>
        </p:spPr>
      </p:sp>
      <p:sp>
        <p:nvSpPr>
          <p:cNvPr id="25" name="Shape 23"/>
          <p:cNvSpPr/>
          <p:nvPr/>
        </p:nvSpPr>
        <p:spPr>
          <a:xfrm>
            <a:off x="812800" y="2782888"/>
            <a:ext cx="10566400" cy="0"/>
          </a:xfrm>
          <a:prstGeom prst="line">
            <a:avLst/>
          </a:prstGeom>
          <a:noFill/>
          <a:ln w="6350">
            <a:solidFill>
              <a:srgbClr val="D3E2D7"/>
            </a:solidFill>
            <a:prstDash val="solid"/>
          </a:ln>
        </p:spPr>
      </p:sp>
      <p:sp>
        <p:nvSpPr>
          <p:cNvPr id="26" name="Text 24"/>
          <p:cNvSpPr/>
          <p:nvPr/>
        </p:nvSpPr>
        <p:spPr>
          <a:xfrm>
            <a:off x="889000" y="251053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Calada</a:t>
            </a:r>
            <a:endParaRPr lang="en-US" sz="1300" dirty="0"/>
          </a:p>
        </p:txBody>
      </p:sp>
      <p:sp>
        <p:nvSpPr>
          <p:cNvPr id="27" name="Text 25"/>
          <p:cNvSpPr/>
          <p:nvPr/>
        </p:nvSpPr>
        <p:spPr>
          <a:xfrm>
            <a:off x="2959100" y="251053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402</a:t>
            </a:r>
            <a:endParaRPr lang="en-US" sz="1300" dirty="0"/>
          </a:p>
        </p:txBody>
      </p:sp>
      <p:sp>
        <p:nvSpPr>
          <p:cNvPr id="110" name="Shape 110"/>
          <p:cNvSpPr/>
          <p:nvPr/>
        </p:nvSpPr>
        <p:spPr>
          <a:xfrm>
            <a:off x="3733800" y="2530773"/>
            <a:ext cx="2735239" cy="190500"/>
          </a:xfrm>
          <a:custGeom>
            <a:avLst/>
            <a:gdLst/>
            <a:ahLst/>
            <a:cxnLst/>
            <a:rect l="l" t="t" r="r" b="b"/>
            <a:pathLst>
              <a:path w="2735239" h="190500">
                <a:moveTo>
                  <a:pt x="38100" y="0"/>
                </a:moveTo>
                <a:lnTo>
                  <a:pt x="2735239" y="0"/>
                </a:lnTo>
                <a:lnTo>
                  <a:pt x="2735239"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1" name="Shape 111"/>
          <p:cNvSpPr/>
          <p:nvPr/>
        </p:nvSpPr>
        <p:spPr>
          <a:xfrm>
            <a:off x="6469039" y="2530773"/>
            <a:ext cx="229990" cy="190500"/>
          </a:xfrm>
          <a:prstGeom prst="rect">
            <a:avLst/>
          </a:prstGeom>
          <a:solidFill>
            <a:srgbClr val="7FB894"/>
          </a:solidFill>
          <a:ln/>
        </p:spPr>
      </p:sp>
      <p:sp>
        <p:nvSpPr>
          <p:cNvPr id="112" name="Shape 112"/>
          <p:cNvSpPr/>
          <p:nvPr/>
        </p:nvSpPr>
        <p:spPr>
          <a:xfrm>
            <a:off x="6699029" y="2530773"/>
            <a:ext cx="328557" cy="190500"/>
          </a:xfrm>
          <a:prstGeom prst="rect">
            <a:avLst/>
          </a:prstGeom>
          <a:solidFill>
            <a:srgbClr val="9C8FC4"/>
          </a:solidFill>
          <a:ln/>
        </p:spPr>
      </p:sp>
      <p:sp>
        <p:nvSpPr>
          <p:cNvPr id="113" name="Shape 113"/>
          <p:cNvSpPr/>
          <p:nvPr/>
        </p:nvSpPr>
        <p:spPr>
          <a:xfrm>
            <a:off x="7027586" y="2530773"/>
            <a:ext cx="8214" cy="190500"/>
          </a:xfrm>
          <a:custGeom>
            <a:avLst/>
            <a:gdLst/>
            <a:ahLst/>
            <a:cxnLst/>
            <a:rect l="l" t="t" r="r" b="b"/>
            <a:pathLst>
              <a:path w="8214" h="190500">
                <a:moveTo>
                  <a:pt x="0" y="0"/>
                </a:moveTo>
                <a:lnTo>
                  <a:pt x="4107" y="0"/>
                </a:lnTo>
                <a:arcTo hR="4107" wR="4107" stAng="16200000" swAng="5400000"/>
                <a:lnTo>
                  <a:pt x="8214" y="186393"/>
                </a:lnTo>
                <a:arcTo hR="4107" wR="4107" stAng="0" swAng="5400000"/>
                <a:lnTo>
                  <a:pt x="0" y="190500"/>
                </a:lnTo>
                <a:close/>
              </a:path>
            </a:pathLst>
          </a:custGeom>
          <a:solidFill>
            <a:srgbClr val="B3261E"/>
          </a:solidFill>
          <a:ln/>
        </p:spPr>
      </p:sp>
      <p:sp>
        <p:nvSpPr>
          <p:cNvPr id="32" name="Text 30"/>
          <p:cNvSpPr/>
          <p:nvPr/>
        </p:nvSpPr>
        <p:spPr>
          <a:xfrm>
            <a:off x="6985000" y="251053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83 %</a:t>
            </a:r>
            <a:endParaRPr lang="en-US" sz="1300" dirty="0"/>
          </a:p>
        </p:txBody>
      </p:sp>
      <p:sp>
        <p:nvSpPr>
          <p:cNvPr id="33" name="Text 31"/>
          <p:cNvSpPr/>
          <p:nvPr/>
        </p:nvSpPr>
        <p:spPr>
          <a:xfrm>
            <a:off x="81280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7 %</a:t>
            </a:r>
            <a:endParaRPr lang="en-US" sz="1300" dirty="0"/>
          </a:p>
        </p:txBody>
      </p:sp>
      <p:sp>
        <p:nvSpPr>
          <p:cNvPr id="34" name="Text 32"/>
          <p:cNvSpPr/>
          <p:nvPr/>
        </p:nvSpPr>
        <p:spPr>
          <a:xfrm>
            <a:off x="92075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10 %</a:t>
            </a:r>
            <a:endParaRPr lang="en-US" sz="1300" dirty="0"/>
          </a:p>
        </p:txBody>
      </p:sp>
      <p:sp>
        <p:nvSpPr>
          <p:cNvPr id="35" name="Text 33"/>
          <p:cNvSpPr/>
          <p:nvPr/>
        </p:nvSpPr>
        <p:spPr>
          <a:xfrm>
            <a:off x="10363200" y="251053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36" name="Shape 34"/>
          <p:cNvSpPr/>
          <p:nvPr/>
        </p:nvSpPr>
        <p:spPr>
          <a:xfrm>
            <a:off x="812800" y="2786063"/>
            <a:ext cx="10566400" cy="313630"/>
          </a:xfrm>
          <a:prstGeom prst="rect">
            <a:avLst/>
          </a:prstGeom>
          <a:solidFill>
            <a:srgbClr val="FCFDFB"/>
          </a:solidFill>
          <a:ln/>
        </p:spPr>
      </p:sp>
      <p:sp>
        <p:nvSpPr>
          <p:cNvPr id="37" name="Shape 35"/>
          <p:cNvSpPr/>
          <p:nvPr/>
        </p:nvSpPr>
        <p:spPr>
          <a:xfrm>
            <a:off x="812800" y="3096518"/>
            <a:ext cx="10566400" cy="0"/>
          </a:xfrm>
          <a:prstGeom prst="line">
            <a:avLst/>
          </a:prstGeom>
          <a:noFill/>
          <a:ln w="6350">
            <a:solidFill>
              <a:srgbClr val="D3E2D7"/>
            </a:solidFill>
            <a:prstDash val="solid"/>
          </a:ln>
        </p:spPr>
      </p:sp>
      <p:sp>
        <p:nvSpPr>
          <p:cNvPr id="38" name="Text 36"/>
          <p:cNvSpPr/>
          <p:nvPr/>
        </p:nvSpPr>
        <p:spPr>
          <a:xfrm>
            <a:off x="889000" y="282416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Playa 3</a:t>
            </a:r>
            <a:endParaRPr lang="en-US" sz="1300" dirty="0"/>
          </a:p>
        </p:txBody>
      </p:sp>
      <p:sp>
        <p:nvSpPr>
          <p:cNvPr id="39" name="Text 37"/>
          <p:cNvSpPr/>
          <p:nvPr/>
        </p:nvSpPr>
        <p:spPr>
          <a:xfrm>
            <a:off x="2959100" y="282416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78</a:t>
            </a:r>
            <a:endParaRPr lang="en-US" sz="1300" dirty="0"/>
          </a:p>
        </p:txBody>
      </p:sp>
      <p:sp>
        <p:nvSpPr>
          <p:cNvPr id="114" name="Shape 114"/>
          <p:cNvSpPr/>
          <p:nvPr/>
        </p:nvSpPr>
        <p:spPr>
          <a:xfrm>
            <a:off x="3733800" y="2844403"/>
            <a:ext cx="2497667" cy="190500"/>
          </a:xfrm>
          <a:custGeom>
            <a:avLst/>
            <a:gdLst/>
            <a:ahLst/>
            <a:cxnLst/>
            <a:rect l="l" t="t" r="r" b="b"/>
            <a:pathLst>
              <a:path w="2497667" h="190500">
                <a:moveTo>
                  <a:pt x="38100" y="0"/>
                </a:moveTo>
                <a:lnTo>
                  <a:pt x="2497667" y="0"/>
                </a:lnTo>
                <a:lnTo>
                  <a:pt x="249766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5" name="Shape 115"/>
          <p:cNvSpPr/>
          <p:nvPr/>
        </p:nvSpPr>
        <p:spPr>
          <a:xfrm>
            <a:off x="6231467" y="2844403"/>
            <a:ext cx="381000" cy="190500"/>
          </a:xfrm>
          <a:prstGeom prst="rect">
            <a:avLst/>
          </a:prstGeom>
          <a:solidFill>
            <a:srgbClr val="7FB894"/>
          </a:solidFill>
          <a:ln/>
        </p:spPr>
      </p:sp>
      <p:sp>
        <p:nvSpPr>
          <p:cNvPr id="116" name="Shape 116"/>
          <p:cNvSpPr/>
          <p:nvPr/>
        </p:nvSpPr>
        <p:spPr>
          <a:xfrm>
            <a:off x="6612467" y="2844403"/>
            <a:ext cx="423333" cy="190500"/>
          </a:xfrm>
          <a:custGeom>
            <a:avLst/>
            <a:gdLst/>
            <a:ahLst/>
            <a:cxnLst/>
            <a:rect l="l" t="t" r="r" b="b"/>
            <a:pathLst>
              <a:path w="423333" h="190500">
                <a:moveTo>
                  <a:pt x="0" y="0"/>
                </a:moveTo>
                <a:lnTo>
                  <a:pt x="385233" y="0"/>
                </a:lnTo>
                <a:arcTo hR="38100" wR="38100" stAng="16200000" swAng="5400000"/>
                <a:lnTo>
                  <a:pt x="423333" y="152400"/>
                </a:lnTo>
                <a:arcTo hR="38100" wR="38100" stAng="0" swAng="5400000"/>
                <a:lnTo>
                  <a:pt x="0" y="190500"/>
                </a:lnTo>
                <a:close/>
              </a:path>
            </a:pathLst>
          </a:custGeom>
          <a:solidFill>
            <a:srgbClr val="9C8FC4"/>
          </a:solidFill>
          <a:ln/>
        </p:spPr>
      </p:sp>
      <p:sp>
        <p:nvSpPr>
          <p:cNvPr id="44" name="Text 42"/>
          <p:cNvSpPr/>
          <p:nvPr/>
        </p:nvSpPr>
        <p:spPr>
          <a:xfrm>
            <a:off x="6985000" y="282416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76 %</a:t>
            </a:r>
            <a:endParaRPr lang="en-US" sz="1300" dirty="0"/>
          </a:p>
        </p:txBody>
      </p:sp>
      <p:sp>
        <p:nvSpPr>
          <p:cNvPr id="45" name="Text 43"/>
          <p:cNvSpPr/>
          <p:nvPr/>
        </p:nvSpPr>
        <p:spPr>
          <a:xfrm>
            <a:off x="81280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11 %</a:t>
            </a:r>
            <a:endParaRPr lang="en-US" sz="1300" dirty="0"/>
          </a:p>
        </p:txBody>
      </p:sp>
      <p:sp>
        <p:nvSpPr>
          <p:cNvPr id="46" name="Text 44"/>
          <p:cNvSpPr/>
          <p:nvPr/>
        </p:nvSpPr>
        <p:spPr>
          <a:xfrm>
            <a:off x="92075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13 %</a:t>
            </a:r>
            <a:endParaRPr lang="en-US" sz="1300" dirty="0"/>
          </a:p>
        </p:txBody>
      </p:sp>
      <p:sp>
        <p:nvSpPr>
          <p:cNvPr id="47" name="Text 45"/>
          <p:cNvSpPr/>
          <p:nvPr/>
        </p:nvSpPr>
        <p:spPr>
          <a:xfrm>
            <a:off x="10363200" y="282416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0 %</a:t>
            </a:r>
            <a:endParaRPr lang="en-US" sz="1300" dirty="0"/>
          </a:p>
        </p:txBody>
      </p:sp>
      <p:sp>
        <p:nvSpPr>
          <p:cNvPr id="48" name="Shape 46"/>
          <p:cNvSpPr/>
          <p:nvPr/>
        </p:nvSpPr>
        <p:spPr>
          <a:xfrm>
            <a:off x="812800" y="3099693"/>
            <a:ext cx="10566400" cy="313630"/>
          </a:xfrm>
          <a:prstGeom prst="rect">
            <a:avLst/>
          </a:prstGeom>
          <a:solidFill>
            <a:srgbClr val="FCFDFB"/>
          </a:solidFill>
          <a:ln/>
        </p:spPr>
      </p:sp>
      <p:sp>
        <p:nvSpPr>
          <p:cNvPr id="49" name="Shape 47"/>
          <p:cNvSpPr/>
          <p:nvPr/>
        </p:nvSpPr>
        <p:spPr>
          <a:xfrm>
            <a:off x="812800" y="3410148"/>
            <a:ext cx="10566400" cy="0"/>
          </a:xfrm>
          <a:prstGeom prst="line">
            <a:avLst/>
          </a:prstGeom>
          <a:noFill/>
          <a:ln w="6350">
            <a:solidFill>
              <a:srgbClr val="D3E2D7"/>
            </a:solidFill>
            <a:prstDash val="solid"/>
          </a:ln>
        </p:spPr>
      </p:sp>
      <p:sp>
        <p:nvSpPr>
          <p:cNvPr id="50" name="Text 48"/>
          <p:cNvSpPr/>
          <p:nvPr/>
        </p:nvSpPr>
        <p:spPr>
          <a:xfrm>
            <a:off x="889000" y="313779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 2</a:t>
            </a:r>
            <a:endParaRPr lang="en-US" sz="1300" dirty="0"/>
          </a:p>
        </p:txBody>
      </p:sp>
      <p:sp>
        <p:nvSpPr>
          <p:cNvPr id="51" name="Text 49"/>
          <p:cNvSpPr/>
          <p:nvPr/>
        </p:nvSpPr>
        <p:spPr>
          <a:xfrm>
            <a:off x="2959100" y="313779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70</a:t>
            </a:r>
            <a:endParaRPr lang="en-US" sz="1300" dirty="0"/>
          </a:p>
        </p:txBody>
      </p:sp>
      <p:sp>
        <p:nvSpPr>
          <p:cNvPr id="117" name="Shape 117"/>
          <p:cNvSpPr/>
          <p:nvPr/>
        </p:nvSpPr>
        <p:spPr>
          <a:xfrm>
            <a:off x="3733800" y="3158034"/>
            <a:ext cx="1886857" cy="190500"/>
          </a:xfrm>
          <a:custGeom>
            <a:avLst/>
            <a:gdLst/>
            <a:ahLst/>
            <a:cxnLst/>
            <a:rect l="l" t="t" r="r" b="b"/>
            <a:pathLst>
              <a:path w="1886857" h="190500">
                <a:moveTo>
                  <a:pt x="38100" y="0"/>
                </a:moveTo>
                <a:lnTo>
                  <a:pt x="1886857" y="0"/>
                </a:lnTo>
                <a:lnTo>
                  <a:pt x="188685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8" name="Shape 118"/>
          <p:cNvSpPr/>
          <p:nvPr/>
        </p:nvSpPr>
        <p:spPr>
          <a:xfrm>
            <a:off x="5620657" y="3158034"/>
            <a:ext cx="566057" cy="190500"/>
          </a:xfrm>
          <a:prstGeom prst="rect">
            <a:avLst/>
          </a:prstGeom>
          <a:solidFill>
            <a:srgbClr val="7FB894"/>
          </a:solidFill>
          <a:ln/>
        </p:spPr>
      </p:sp>
      <p:sp>
        <p:nvSpPr>
          <p:cNvPr id="119" name="Shape 119"/>
          <p:cNvSpPr/>
          <p:nvPr/>
        </p:nvSpPr>
        <p:spPr>
          <a:xfrm>
            <a:off x="6186714" y="3158034"/>
            <a:ext cx="849086" cy="190500"/>
          </a:xfrm>
          <a:custGeom>
            <a:avLst/>
            <a:gdLst/>
            <a:ahLst/>
            <a:cxnLst/>
            <a:rect l="l" t="t" r="r" b="b"/>
            <a:pathLst>
              <a:path w="849086" h="190500">
                <a:moveTo>
                  <a:pt x="0" y="0"/>
                </a:moveTo>
                <a:lnTo>
                  <a:pt x="810986" y="0"/>
                </a:lnTo>
                <a:arcTo hR="38100" wR="38100" stAng="16200000" swAng="5400000"/>
                <a:lnTo>
                  <a:pt x="849086" y="152400"/>
                </a:lnTo>
                <a:arcTo hR="38100" wR="38100" stAng="0" swAng="5400000"/>
                <a:lnTo>
                  <a:pt x="0" y="190500"/>
                </a:lnTo>
                <a:close/>
              </a:path>
            </a:pathLst>
          </a:custGeom>
          <a:solidFill>
            <a:srgbClr val="9C8FC4"/>
          </a:solidFill>
          <a:ln/>
        </p:spPr>
      </p:sp>
      <p:sp>
        <p:nvSpPr>
          <p:cNvPr id="55" name="Text 53"/>
          <p:cNvSpPr/>
          <p:nvPr/>
        </p:nvSpPr>
        <p:spPr>
          <a:xfrm>
            <a:off x="6985000" y="313779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57 %</a:t>
            </a:r>
            <a:endParaRPr lang="en-US" sz="1300" dirty="0"/>
          </a:p>
        </p:txBody>
      </p:sp>
      <p:sp>
        <p:nvSpPr>
          <p:cNvPr id="56" name="Text 54"/>
          <p:cNvSpPr/>
          <p:nvPr/>
        </p:nvSpPr>
        <p:spPr>
          <a:xfrm>
            <a:off x="81280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17 %</a:t>
            </a:r>
            <a:endParaRPr lang="en-US" sz="1300" dirty="0"/>
          </a:p>
        </p:txBody>
      </p:sp>
      <p:sp>
        <p:nvSpPr>
          <p:cNvPr id="57" name="Text 55"/>
          <p:cNvSpPr/>
          <p:nvPr/>
        </p:nvSpPr>
        <p:spPr>
          <a:xfrm>
            <a:off x="92075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26 %</a:t>
            </a:r>
            <a:endParaRPr lang="en-US" sz="1300" dirty="0"/>
          </a:p>
        </p:txBody>
      </p:sp>
      <p:sp>
        <p:nvSpPr>
          <p:cNvPr id="58" name="Text 56"/>
          <p:cNvSpPr/>
          <p:nvPr/>
        </p:nvSpPr>
        <p:spPr>
          <a:xfrm>
            <a:off x="10363200" y="313779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0 %</a:t>
            </a:r>
            <a:endParaRPr lang="en-US" sz="1300" dirty="0"/>
          </a:p>
        </p:txBody>
      </p:sp>
      <p:sp>
        <p:nvSpPr>
          <p:cNvPr id="59" name="Shape 57"/>
          <p:cNvSpPr/>
          <p:nvPr/>
        </p:nvSpPr>
        <p:spPr>
          <a:xfrm>
            <a:off x="812800" y="3413323"/>
            <a:ext cx="10566400" cy="313630"/>
          </a:xfrm>
          <a:prstGeom prst="rect">
            <a:avLst/>
          </a:prstGeom>
          <a:solidFill>
            <a:srgbClr val="FCFDFB"/>
          </a:solidFill>
          <a:ln/>
        </p:spPr>
      </p:sp>
      <p:sp>
        <p:nvSpPr>
          <p:cNvPr id="60" name="Shape 58"/>
          <p:cNvSpPr/>
          <p:nvPr/>
        </p:nvSpPr>
        <p:spPr>
          <a:xfrm>
            <a:off x="812800" y="3723779"/>
            <a:ext cx="10566400" cy="0"/>
          </a:xfrm>
          <a:prstGeom prst="line">
            <a:avLst/>
          </a:prstGeom>
          <a:noFill/>
          <a:ln w="6350">
            <a:solidFill>
              <a:srgbClr val="D3E2D7"/>
            </a:solidFill>
            <a:prstDash val="solid"/>
          </a:ln>
        </p:spPr>
      </p:sp>
      <p:sp>
        <p:nvSpPr>
          <p:cNvPr id="61" name="Text 59"/>
          <p:cNvSpPr/>
          <p:nvPr/>
        </p:nvSpPr>
        <p:spPr>
          <a:xfrm>
            <a:off x="889000" y="345142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 (B2)</a:t>
            </a:r>
            <a:endParaRPr lang="en-US" sz="1300" dirty="0"/>
          </a:p>
        </p:txBody>
      </p:sp>
      <p:sp>
        <p:nvSpPr>
          <p:cNvPr id="62" name="Text 60"/>
          <p:cNvSpPr/>
          <p:nvPr/>
        </p:nvSpPr>
        <p:spPr>
          <a:xfrm>
            <a:off x="2959100" y="345142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137</a:t>
            </a:r>
            <a:endParaRPr lang="en-US" sz="1300" dirty="0"/>
          </a:p>
        </p:txBody>
      </p:sp>
      <p:sp>
        <p:nvSpPr>
          <p:cNvPr id="120" name="Shape 120"/>
          <p:cNvSpPr/>
          <p:nvPr/>
        </p:nvSpPr>
        <p:spPr>
          <a:xfrm>
            <a:off x="3733800" y="3471664"/>
            <a:ext cx="2458424" cy="190500"/>
          </a:xfrm>
          <a:custGeom>
            <a:avLst/>
            <a:gdLst/>
            <a:ahLst/>
            <a:cxnLst/>
            <a:rect l="l" t="t" r="r" b="b"/>
            <a:pathLst>
              <a:path w="2458424" h="190500">
                <a:moveTo>
                  <a:pt x="38100" y="0"/>
                </a:moveTo>
                <a:lnTo>
                  <a:pt x="2458424" y="0"/>
                </a:lnTo>
                <a:lnTo>
                  <a:pt x="2458424"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21" name="Shape 121"/>
          <p:cNvSpPr/>
          <p:nvPr/>
        </p:nvSpPr>
        <p:spPr>
          <a:xfrm>
            <a:off x="6192224" y="3471664"/>
            <a:ext cx="168715" cy="190500"/>
          </a:xfrm>
          <a:prstGeom prst="rect">
            <a:avLst/>
          </a:prstGeom>
          <a:solidFill>
            <a:srgbClr val="7FB894"/>
          </a:solidFill>
          <a:ln/>
        </p:spPr>
      </p:sp>
      <p:sp>
        <p:nvSpPr>
          <p:cNvPr id="122" name="Shape 122"/>
          <p:cNvSpPr/>
          <p:nvPr/>
        </p:nvSpPr>
        <p:spPr>
          <a:xfrm>
            <a:off x="6360939" y="3471664"/>
            <a:ext cx="674861" cy="190500"/>
          </a:xfrm>
          <a:custGeom>
            <a:avLst/>
            <a:gdLst/>
            <a:ahLst/>
            <a:cxnLst/>
            <a:rect l="l" t="t" r="r" b="b"/>
            <a:pathLst>
              <a:path w="674861" h="190500">
                <a:moveTo>
                  <a:pt x="0" y="0"/>
                </a:moveTo>
                <a:lnTo>
                  <a:pt x="636761" y="0"/>
                </a:lnTo>
                <a:arcTo hR="38100" wR="38100" stAng="16200000" swAng="5400000"/>
                <a:lnTo>
                  <a:pt x="674861" y="152400"/>
                </a:lnTo>
                <a:arcTo hR="38100" wR="38100" stAng="0" swAng="5400000"/>
                <a:lnTo>
                  <a:pt x="0" y="190500"/>
                </a:lnTo>
                <a:close/>
              </a:path>
            </a:pathLst>
          </a:custGeom>
          <a:solidFill>
            <a:srgbClr val="9C8FC4"/>
          </a:solidFill>
          <a:ln/>
        </p:spPr>
      </p:sp>
      <p:sp>
        <p:nvSpPr>
          <p:cNvPr id="67" name="Text 65"/>
          <p:cNvSpPr/>
          <p:nvPr/>
        </p:nvSpPr>
        <p:spPr>
          <a:xfrm>
            <a:off x="6985000" y="345142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75 %</a:t>
            </a:r>
            <a:endParaRPr lang="en-US" sz="1300" dirty="0"/>
          </a:p>
        </p:txBody>
      </p:sp>
      <p:sp>
        <p:nvSpPr>
          <p:cNvPr id="68" name="Text 66"/>
          <p:cNvSpPr/>
          <p:nvPr/>
        </p:nvSpPr>
        <p:spPr>
          <a:xfrm>
            <a:off x="81280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5 %</a:t>
            </a:r>
            <a:endParaRPr lang="en-US" sz="1300" dirty="0"/>
          </a:p>
        </p:txBody>
      </p:sp>
      <p:sp>
        <p:nvSpPr>
          <p:cNvPr id="69" name="Text 67"/>
          <p:cNvSpPr/>
          <p:nvPr/>
        </p:nvSpPr>
        <p:spPr>
          <a:xfrm>
            <a:off x="92075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20 %</a:t>
            </a:r>
            <a:endParaRPr lang="en-US" sz="1300" dirty="0"/>
          </a:p>
        </p:txBody>
      </p:sp>
      <p:sp>
        <p:nvSpPr>
          <p:cNvPr id="70" name="Text 68"/>
          <p:cNvSpPr/>
          <p:nvPr/>
        </p:nvSpPr>
        <p:spPr>
          <a:xfrm>
            <a:off x="10363200" y="345142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0 %</a:t>
            </a:r>
            <a:endParaRPr lang="en-US" sz="1300" dirty="0"/>
          </a:p>
        </p:txBody>
      </p:sp>
      <p:sp>
        <p:nvSpPr>
          <p:cNvPr id="71" name="Shape 69"/>
          <p:cNvSpPr/>
          <p:nvPr/>
        </p:nvSpPr>
        <p:spPr>
          <a:xfrm>
            <a:off x="812800" y="3726954"/>
            <a:ext cx="10566400" cy="313630"/>
          </a:xfrm>
          <a:prstGeom prst="rect">
            <a:avLst/>
          </a:prstGeom>
          <a:solidFill>
            <a:srgbClr val="FCFDFB"/>
          </a:solidFill>
          <a:ln/>
        </p:spPr>
      </p:sp>
      <p:sp>
        <p:nvSpPr>
          <p:cNvPr id="72" name="Shape 70"/>
          <p:cNvSpPr/>
          <p:nvPr/>
        </p:nvSpPr>
        <p:spPr>
          <a:xfrm>
            <a:off x="812800" y="4037409"/>
            <a:ext cx="10566400" cy="0"/>
          </a:xfrm>
          <a:prstGeom prst="line">
            <a:avLst/>
          </a:prstGeom>
          <a:noFill/>
          <a:ln w="6350">
            <a:solidFill>
              <a:srgbClr val="D3E2D7"/>
            </a:solidFill>
            <a:prstDash val="solid"/>
          </a:ln>
        </p:spPr>
      </p:sp>
      <p:sp>
        <p:nvSpPr>
          <p:cNvPr id="73" name="Text 71"/>
          <p:cNvSpPr/>
          <p:nvPr/>
        </p:nvSpPr>
        <p:spPr>
          <a:xfrm>
            <a:off x="889000" y="376505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Salida</a:t>
            </a:r>
            <a:endParaRPr lang="en-US" sz="1300" dirty="0"/>
          </a:p>
        </p:txBody>
      </p:sp>
      <p:sp>
        <p:nvSpPr>
          <p:cNvPr id="74" name="Text 72"/>
          <p:cNvSpPr/>
          <p:nvPr/>
        </p:nvSpPr>
        <p:spPr>
          <a:xfrm>
            <a:off x="2959100" y="3765054"/>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277</a:t>
            </a:r>
            <a:endParaRPr lang="en-US" sz="1300" dirty="0"/>
          </a:p>
        </p:txBody>
      </p:sp>
      <p:sp>
        <p:nvSpPr>
          <p:cNvPr id="123" name="Shape 123"/>
          <p:cNvSpPr/>
          <p:nvPr/>
        </p:nvSpPr>
        <p:spPr>
          <a:xfrm>
            <a:off x="3733800" y="3785295"/>
            <a:ext cx="2849017" cy="190500"/>
          </a:xfrm>
          <a:custGeom>
            <a:avLst/>
            <a:gdLst/>
            <a:ahLst/>
            <a:cxnLst/>
            <a:rect l="l" t="t" r="r" b="b"/>
            <a:pathLst>
              <a:path w="2849017" h="190500">
                <a:moveTo>
                  <a:pt x="38100" y="0"/>
                </a:moveTo>
                <a:lnTo>
                  <a:pt x="2849017" y="0"/>
                </a:lnTo>
                <a:lnTo>
                  <a:pt x="284901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24" name="Shape 124"/>
          <p:cNvSpPr/>
          <p:nvPr/>
        </p:nvSpPr>
        <p:spPr>
          <a:xfrm>
            <a:off x="6582817" y="3785295"/>
            <a:ext cx="286094" cy="190500"/>
          </a:xfrm>
          <a:prstGeom prst="rect">
            <a:avLst/>
          </a:prstGeom>
          <a:solidFill>
            <a:srgbClr val="7FB894"/>
          </a:solidFill>
          <a:ln/>
        </p:spPr>
      </p:sp>
      <p:sp>
        <p:nvSpPr>
          <p:cNvPr id="125" name="Shape 125"/>
          <p:cNvSpPr/>
          <p:nvPr/>
        </p:nvSpPr>
        <p:spPr>
          <a:xfrm>
            <a:off x="6868911" y="3785295"/>
            <a:ext cx="154968" cy="190500"/>
          </a:xfrm>
          <a:prstGeom prst="rect">
            <a:avLst/>
          </a:prstGeom>
          <a:solidFill>
            <a:srgbClr val="9C8FC4"/>
          </a:solidFill>
          <a:ln/>
        </p:spPr>
      </p:sp>
      <p:sp>
        <p:nvSpPr>
          <p:cNvPr id="126" name="Shape 126"/>
          <p:cNvSpPr/>
          <p:nvPr/>
        </p:nvSpPr>
        <p:spPr>
          <a:xfrm>
            <a:off x="7023879" y="3785295"/>
            <a:ext cx="11921" cy="190500"/>
          </a:xfrm>
          <a:custGeom>
            <a:avLst/>
            <a:gdLst/>
            <a:ahLst/>
            <a:cxnLst/>
            <a:rect l="l" t="t" r="r" b="b"/>
            <a:pathLst>
              <a:path w="11921" h="190500">
                <a:moveTo>
                  <a:pt x="0" y="0"/>
                </a:moveTo>
                <a:lnTo>
                  <a:pt x="5961" y="0"/>
                </a:lnTo>
                <a:arcTo hR="5960" wR="5960" stAng="16200000" swAng="5400000"/>
                <a:lnTo>
                  <a:pt x="11921" y="184540"/>
                </a:lnTo>
                <a:arcTo hR="5960" wR="5960" stAng="0" swAng="5400000"/>
                <a:lnTo>
                  <a:pt x="0" y="190500"/>
                </a:lnTo>
                <a:close/>
              </a:path>
            </a:pathLst>
          </a:custGeom>
          <a:solidFill>
            <a:srgbClr val="B3261E"/>
          </a:solidFill>
          <a:ln/>
        </p:spPr>
      </p:sp>
      <p:sp>
        <p:nvSpPr>
          <p:cNvPr id="79" name="Text 77"/>
          <p:cNvSpPr/>
          <p:nvPr/>
        </p:nvSpPr>
        <p:spPr>
          <a:xfrm>
            <a:off x="6985000" y="376505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86 %</a:t>
            </a:r>
            <a:endParaRPr lang="en-US" sz="1300" dirty="0"/>
          </a:p>
        </p:txBody>
      </p:sp>
      <p:sp>
        <p:nvSpPr>
          <p:cNvPr id="80" name="Text 78"/>
          <p:cNvSpPr/>
          <p:nvPr/>
        </p:nvSpPr>
        <p:spPr>
          <a:xfrm>
            <a:off x="81280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9 %</a:t>
            </a:r>
            <a:endParaRPr lang="en-US" sz="1300" dirty="0"/>
          </a:p>
        </p:txBody>
      </p:sp>
      <p:sp>
        <p:nvSpPr>
          <p:cNvPr id="81" name="Text 79"/>
          <p:cNvSpPr/>
          <p:nvPr/>
        </p:nvSpPr>
        <p:spPr>
          <a:xfrm>
            <a:off x="92075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5 %</a:t>
            </a:r>
            <a:endParaRPr lang="en-US" sz="1300" dirty="0"/>
          </a:p>
        </p:txBody>
      </p:sp>
      <p:sp>
        <p:nvSpPr>
          <p:cNvPr id="82" name="Text 80"/>
          <p:cNvSpPr/>
          <p:nvPr/>
        </p:nvSpPr>
        <p:spPr>
          <a:xfrm>
            <a:off x="10363200" y="376505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0,4 %</a:t>
            </a:r>
            <a:endParaRPr lang="en-US" sz="1300" dirty="0"/>
          </a:p>
        </p:txBody>
      </p:sp>
      <p:sp>
        <p:nvSpPr>
          <p:cNvPr id="83" name="Shape 81"/>
          <p:cNvSpPr/>
          <p:nvPr/>
        </p:nvSpPr>
        <p:spPr>
          <a:xfrm>
            <a:off x="812800" y="4040584"/>
            <a:ext cx="10566400" cy="313630"/>
          </a:xfrm>
          <a:prstGeom prst="rect">
            <a:avLst/>
          </a:prstGeom>
          <a:solidFill>
            <a:srgbClr val="E3ECE5"/>
          </a:solidFill>
          <a:ln/>
        </p:spPr>
      </p:sp>
      <p:sp>
        <p:nvSpPr>
          <p:cNvPr id="84" name="Shape 82"/>
          <p:cNvSpPr/>
          <p:nvPr/>
        </p:nvSpPr>
        <p:spPr>
          <a:xfrm>
            <a:off x="812800" y="4351040"/>
            <a:ext cx="10566400" cy="0"/>
          </a:xfrm>
          <a:prstGeom prst="line">
            <a:avLst/>
          </a:prstGeom>
          <a:noFill/>
          <a:ln w="6350">
            <a:solidFill>
              <a:srgbClr val="D3E2D7"/>
            </a:solidFill>
            <a:prstDash val="solid"/>
          </a:ln>
        </p:spPr>
      </p:sp>
      <p:sp>
        <p:nvSpPr>
          <p:cNvPr id="85" name="Text 83"/>
          <p:cNvSpPr/>
          <p:nvPr/>
        </p:nvSpPr>
        <p:spPr>
          <a:xfrm>
            <a:off x="889000" y="407868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Total Ricardone</a:t>
            </a:r>
            <a:endParaRPr lang="en-US" sz="1300" dirty="0"/>
          </a:p>
        </p:txBody>
      </p:sp>
      <p:sp>
        <p:nvSpPr>
          <p:cNvPr id="86" name="Text 84"/>
          <p:cNvSpPr/>
          <p:nvPr/>
        </p:nvSpPr>
        <p:spPr>
          <a:xfrm>
            <a:off x="2959100" y="4078684"/>
            <a:ext cx="6731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1371</a:t>
            </a:r>
            <a:endParaRPr lang="en-US" sz="1300" dirty="0"/>
          </a:p>
        </p:txBody>
      </p:sp>
      <p:sp>
        <p:nvSpPr>
          <p:cNvPr id="127" name="Shape 127"/>
          <p:cNvSpPr/>
          <p:nvPr/>
        </p:nvSpPr>
        <p:spPr>
          <a:xfrm>
            <a:off x="3733800" y="4098925"/>
            <a:ext cx="2743237" cy="190500"/>
          </a:xfrm>
          <a:custGeom>
            <a:avLst/>
            <a:gdLst/>
            <a:ahLst/>
            <a:cxnLst/>
            <a:rect l="l" t="t" r="r" b="b"/>
            <a:pathLst>
              <a:path w="2743237" h="190500">
                <a:moveTo>
                  <a:pt x="38100" y="0"/>
                </a:moveTo>
                <a:lnTo>
                  <a:pt x="2743237" y="0"/>
                </a:lnTo>
                <a:lnTo>
                  <a:pt x="274323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28" name="Shape 128"/>
          <p:cNvSpPr/>
          <p:nvPr/>
        </p:nvSpPr>
        <p:spPr>
          <a:xfrm>
            <a:off x="6477037" y="4098925"/>
            <a:ext cx="233621" cy="190500"/>
          </a:xfrm>
          <a:prstGeom prst="rect">
            <a:avLst/>
          </a:prstGeom>
          <a:solidFill>
            <a:srgbClr val="7FB894"/>
          </a:solidFill>
          <a:ln/>
        </p:spPr>
      </p:sp>
      <p:sp>
        <p:nvSpPr>
          <p:cNvPr id="129" name="Shape 129"/>
          <p:cNvSpPr/>
          <p:nvPr/>
        </p:nvSpPr>
        <p:spPr>
          <a:xfrm>
            <a:off x="6710658" y="4098925"/>
            <a:ext cx="317917" cy="190500"/>
          </a:xfrm>
          <a:prstGeom prst="rect">
            <a:avLst/>
          </a:prstGeom>
          <a:solidFill>
            <a:srgbClr val="9C8FC4"/>
          </a:solidFill>
          <a:ln/>
        </p:spPr>
      </p:sp>
      <p:sp>
        <p:nvSpPr>
          <p:cNvPr id="130" name="Shape 130"/>
          <p:cNvSpPr/>
          <p:nvPr/>
        </p:nvSpPr>
        <p:spPr>
          <a:xfrm>
            <a:off x="7028575" y="4098925"/>
            <a:ext cx="7225" cy="190500"/>
          </a:xfrm>
          <a:custGeom>
            <a:avLst/>
            <a:gdLst/>
            <a:ahLst/>
            <a:cxnLst/>
            <a:rect l="l" t="t" r="r" b="b"/>
            <a:pathLst>
              <a:path w="7225" h="190500">
                <a:moveTo>
                  <a:pt x="0" y="0"/>
                </a:moveTo>
                <a:lnTo>
                  <a:pt x="3613" y="0"/>
                </a:lnTo>
                <a:arcTo hR="3612" wR="3612" stAng="16200000" swAng="5400000"/>
                <a:lnTo>
                  <a:pt x="7225" y="186888"/>
                </a:lnTo>
                <a:arcTo hR="3612" wR="3612" stAng="0" swAng="5400000"/>
                <a:lnTo>
                  <a:pt x="0" y="190500"/>
                </a:lnTo>
                <a:close/>
              </a:path>
            </a:pathLst>
          </a:custGeom>
          <a:solidFill>
            <a:srgbClr val="B3261E"/>
          </a:solidFill>
          <a:ln/>
        </p:spPr>
      </p:sp>
      <p:sp>
        <p:nvSpPr>
          <p:cNvPr id="91" name="Text 89"/>
          <p:cNvSpPr/>
          <p:nvPr/>
        </p:nvSpPr>
        <p:spPr>
          <a:xfrm>
            <a:off x="6985000" y="407868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83 %</a:t>
            </a:r>
            <a:endParaRPr lang="en-US" sz="1300" dirty="0"/>
          </a:p>
        </p:txBody>
      </p:sp>
      <p:sp>
        <p:nvSpPr>
          <p:cNvPr id="92" name="Text 90"/>
          <p:cNvSpPr/>
          <p:nvPr/>
        </p:nvSpPr>
        <p:spPr>
          <a:xfrm>
            <a:off x="81280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7 %</a:t>
            </a:r>
            <a:endParaRPr lang="en-US" sz="1300" dirty="0"/>
          </a:p>
        </p:txBody>
      </p:sp>
      <p:sp>
        <p:nvSpPr>
          <p:cNvPr id="93" name="Text 91"/>
          <p:cNvSpPr/>
          <p:nvPr/>
        </p:nvSpPr>
        <p:spPr>
          <a:xfrm>
            <a:off x="92075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B3D7A"/>
                </a:solidFill>
                <a:latin typeface="IBM Plex Sans" pitchFamily="34" charset="0"/>
                <a:ea typeface="IBM Plex Sans" pitchFamily="34" charset="-122"/>
                <a:cs typeface="IBM Plex Sans" pitchFamily="34" charset="-120"/>
              </a:rPr>
              <a:t>10 %</a:t>
            </a:r>
            <a:endParaRPr lang="en-US" sz="1300" dirty="0"/>
          </a:p>
        </p:txBody>
      </p:sp>
      <p:sp>
        <p:nvSpPr>
          <p:cNvPr id="94" name="Text 92"/>
          <p:cNvSpPr/>
          <p:nvPr/>
        </p:nvSpPr>
        <p:spPr>
          <a:xfrm>
            <a:off x="10363200" y="407868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95" name="Shape 93"/>
          <p:cNvSpPr/>
          <p:nvPr/>
        </p:nvSpPr>
        <p:spPr>
          <a:xfrm>
            <a:off x="812800" y="4524375"/>
            <a:ext cx="177800" cy="177800"/>
          </a:xfrm>
          <a:prstGeom prst="roundRect">
            <a:avLst>
              <a:gd name="adj" fmla="val 21429"/>
            </a:avLst>
          </a:prstGeom>
          <a:solidFill>
            <a:srgbClr val="0B5638"/>
          </a:solidFill>
          <a:ln/>
        </p:spPr>
      </p:sp>
      <p:sp>
        <p:nvSpPr>
          <p:cNvPr id="96" name="Text 94"/>
          <p:cNvSpPr/>
          <p:nvPr/>
        </p:nvSpPr>
        <p:spPr>
          <a:xfrm>
            <a:off x="1054100" y="4506615"/>
            <a:ext cx="1225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la cámara</a:t>
            </a:r>
            <a:endParaRPr lang="en-US" sz="1200" dirty="0"/>
          </a:p>
        </p:txBody>
      </p:sp>
      <p:sp>
        <p:nvSpPr>
          <p:cNvPr id="97" name="Shape 95"/>
          <p:cNvSpPr/>
          <p:nvPr/>
        </p:nvSpPr>
        <p:spPr>
          <a:xfrm>
            <a:off x="2279650" y="4524375"/>
            <a:ext cx="177800" cy="177800"/>
          </a:xfrm>
          <a:prstGeom prst="roundRect">
            <a:avLst>
              <a:gd name="adj" fmla="val 21429"/>
            </a:avLst>
          </a:prstGeom>
          <a:solidFill>
            <a:srgbClr val="7FB894"/>
          </a:solidFill>
          <a:ln/>
        </p:spPr>
      </p:sp>
      <p:sp>
        <p:nvSpPr>
          <p:cNvPr id="98" name="Text 96"/>
          <p:cNvSpPr/>
          <p:nvPr/>
        </p:nvSpPr>
        <p:spPr>
          <a:xfrm>
            <a:off x="2520950" y="4506615"/>
            <a:ext cx="10890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Reconstruido</a:t>
            </a:r>
            <a:endParaRPr lang="en-US" sz="1200" dirty="0"/>
          </a:p>
        </p:txBody>
      </p:sp>
      <p:sp>
        <p:nvSpPr>
          <p:cNvPr id="99" name="Shape 97"/>
          <p:cNvSpPr/>
          <p:nvPr/>
        </p:nvSpPr>
        <p:spPr>
          <a:xfrm>
            <a:off x="3631704" y="4524375"/>
            <a:ext cx="177800" cy="177800"/>
          </a:xfrm>
          <a:prstGeom prst="roundRect">
            <a:avLst>
              <a:gd name="adj" fmla="val 21429"/>
            </a:avLst>
          </a:prstGeom>
          <a:solidFill>
            <a:srgbClr val="9C8FC4"/>
          </a:solidFill>
          <a:ln/>
        </p:spPr>
      </p:sp>
      <p:sp>
        <p:nvSpPr>
          <p:cNvPr id="100" name="Text 98"/>
          <p:cNvSpPr/>
          <p:nvPr/>
        </p:nvSpPr>
        <p:spPr>
          <a:xfrm>
            <a:off x="3873004" y="4506615"/>
            <a:ext cx="779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Deducido</a:t>
            </a:r>
            <a:endParaRPr lang="en-US" sz="1200" dirty="0"/>
          </a:p>
        </p:txBody>
      </p:sp>
      <p:sp>
        <p:nvSpPr>
          <p:cNvPr id="101" name="Shape 99"/>
          <p:cNvSpPr/>
          <p:nvPr/>
        </p:nvSpPr>
        <p:spPr>
          <a:xfrm>
            <a:off x="4725591" y="4524375"/>
            <a:ext cx="177800" cy="177800"/>
          </a:xfrm>
          <a:prstGeom prst="roundRect">
            <a:avLst>
              <a:gd name="adj" fmla="val 21429"/>
            </a:avLst>
          </a:prstGeom>
          <a:solidFill>
            <a:srgbClr val="B3261E"/>
          </a:solidFill>
          <a:ln/>
        </p:spPr>
      </p:sp>
      <p:sp>
        <p:nvSpPr>
          <p:cNvPr id="102" name="Text 100"/>
          <p:cNvSpPr/>
          <p:nvPr/>
        </p:nvSpPr>
        <p:spPr>
          <a:xfrm>
            <a:off x="4966891" y="4506615"/>
            <a:ext cx="4032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Falta</a:t>
            </a:r>
            <a:endParaRPr lang="en-US" sz="1200" dirty="0"/>
          </a:p>
        </p:txBody>
      </p:sp>
      <p:sp>
        <p:nvSpPr>
          <p:cNvPr id="105" name="Text 101"/>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 patente exacta u OCR, como la lámina 3 · reconstruido = captura sin patente legible asignada por franja, horario o DSS · 4</a:t>
            </a:r>
            <a:endParaRPr lang="en-US" sz="1200" dirty="0"/>
          </a:p>
        </p:txBody>
      </p:sp>
      <p:pic>
        <p:nvPicPr>
          <p:cNvPr id="103"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4"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3568204" cy="289520"/>
          </a:xfrm>
          <a:custGeom>
            <a:avLst/>
            <a:gdLst/>
            <a:ahLst/>
            <a:cxnLst/>
            <a:rect l="l" t="t" r="r" b="b"/>
            <a:pathLst>
              <a:path w="3568204" h="289520">
                <a:moveTo>
                  <a:pt x="144760" y="0"/>
                </a:moveTo>
                <a:lnTo>
                  <a:pt x="3423444" y="0"/>
                </a:lnTo>
                <a:arcTo hR="144760" wR="144760" stAng="16200000" swAng="5400000"/>
                <a:lnTo>
                  <a:pt x="3568204"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CONCLUSIONES · PUERTO SAN LORENZO</a:t>
            </a:r>
            <a:endParaRPr lang="en-US" sz="1200" dirty="0"/>
          </a:p>
        </p:txBody>
      </p:sp>
      <p:sp>
        <p:nvSpPr>
          <p:cNvPr id="3" name="Text 1"/>
          <p:cNvSpPr/>
          <p:nvPr/>
        </p:nvSpPr>
        <p:spPr>
          <a:xfrm>
            <a:off x="4482604" y="749300"/>
            <a:ext cx="2839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Lunes 12 a domingo 18 de octubre</a:t>
            </a:r>
            <a:endParaRPr lang="en-US" sz="1200" dirty="0"/>
          </a:p>
        </p:txBody>
      </p:sp>
      <p:sp>
        <p:nvSpPr>
          <p:cNvPr id="4" name="Text 2"/>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De día el puerto lee 95 %; lo que falta es de noche, en la balanza de egreso y los volcables</a:t>
            </a:r>
            <a:endParaRPr lang="en-US" sz="2200" dirty="0"/>
          </a:p>
        </p:txBody>
      </p:sp>
      <p:sp>
        <p:nvSpPr>
          <p:cNvPr id="5" name="Shape 3"/>
          <p:cNvSpPr/>
          <p:nvPr/>
        </p:nvSpPr>
        <p:spPr>
          <a:xfrm>
            <a:off x="815975" y="1847056"/>
            <a:ext cx="3431084" cy="615950"/>
          </a:xfrm>
          <a:prstGeom prst="roundRect">
            <a:avLst>
              <a:gd name="adj" fmla="val 11856"/>
            </a:avLst>
          </a:prstGeom>
          <a:solidFill>
            <a:srgbClr val="FCFDFB"/>
          </a:solidFill>
          <a:ln w="6350">
            <a:solidFill>
              <a:srgbClr val="D3E2D7"/>
            </a:solidFill>
            <a:prstDash val="solid"/>
          </a:ln>
        </p:spPr>
      </p:sp>
      <p:sp>
        <p:nvSpPr>
          <p:cNvPr id="6" name="Text 4"/>
          <p:cNvSpPr/>
          <p:nvPr/>
        </p:nvSpPr>
        <p:spPr>
          <a:xfrm>
            <a:off x="971550" y="195183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4281E"/>
                </a:solidFill>
                <a:latin typeface="IBM Plex Sans" pitchFamily="34" charset="0"/>
                <a:ea typeface="IBM Plex Sans" pitchFamily="34" charset="-122"/>
                <a:cs typeface="IBM Plex Sans" pitchFamily="34" charset="-120"/>
              </a:rPr>
              <a:t>83 %</a:t>
            </a:r>
            <a:endParaRPr lang="en-US" sz="3200" dirty="0"/>
          </a:p>
        </p:txBody>
      </p:sp>
      <p:sp>
        <p:nvSpPr>
          <p:cNvPr id="7" name="Text 5"/>
          <p:cNvSpPr/>
          <p:nvPr/>
        </p:nvSpPr>
        <p:spPr>
          <a:xfrm>
            <a:off x="2078038" y="1956991"/>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lee la patente</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95 % día · 66 % noche</a:t>
            </a:r>
            <a:endParaRPr lang="en-US" sz="1200" dirty="0"/>
          </a:p>
        </p:txBody>
      </p:sp>
      <p:sp>
        <p:nvSpPr>
          <p:cNvPr id="8" name="Shape 6"/>
          <p:cNvSpPr/>
          <p:nvPr/>
        </p:nvSpPr>
        <p:spPr>
          <a:xfrm>
            <a:off x="4380409" y="1847056"/>
            <a:ext cx="3431084" cy="615950"/>
          </a:xfrm>
          <a:prstGeom prst="roundRect">
            <a:avLst>
              <a:gd name="adj" fmla="val 11856"/>
            </a:avLst>
          </a:prstGeom>
          <a:solidFill>
            <a:srgbClr val="FCFDFB"/>
          </a:solidFill>
          <a:ln w="6350">
            <a:solidFill>
              <a:srgbClr val="D3E2D7"/>
            </a:solidFill>
            <a:prstDash val="solid"/>
          </a:ln>
        </p:spPr>
      </p:sp>
      <p:sp>
        <p:nvSpPr>
          <p:cNvPr id="9" name="Text 7"/>
          <p:cNvSpPr/>
          <p:nvPr/>
        </p:nvSpPr>
        <p:spPr>
          <a:xfrm>
            <a:off x="4535984" y="1951831"/>
            <a:ext cx="110648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B5638"/>
                </a:solidFill>
                <a:latin typeface="IBM Plex Sans" pitchFamily="34" charset="0"/>
                <a:ea typeface="IBM Plex Sans" pitchFamily="34" charset="-122"/>
                <a:cs typeface="IBM Plex Sans" pitchFamily="34" charset="-120"/>
              </a:rPr>
              <a:t>89 %</a:t>
            </a:r>
            <a:endParaRPr lang="en-US" sz="3200" dirty="0"/>
          </a:p>
        </p:txBody>
      </p:sp>
      <p:sp>
        <p:nvSpPr>
          <p:cNvPr id="10" name="Text 8"/>
          <p:cNvSpPr/>
          <p:nvPr/>
        </p:nvSpPr>
        <p:spPr>
          <a:xfrm>
            <a:off x="5642471" y="1956991"/>
            <a:ext cx="159127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captura el camión</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96 % día · 80 % noche</a:t>
            </a:r>
            <a:endParaRPr lang="en-US" sz="1200" dirty="0"/>
          </a:p>
        </p:txBody>
      </p:sp>
      <p:sp>
        <p:nvSpPr>
          <p:cNvPr id="11" name="Shape 9"/>
          <p:cNvSpPr/>
          <p:nvPr/>
        </p:nvSpPr>
        <p:spPr>
          <a:xfrm>
            <a:off x="7944842" y="1847056"/>
            <a:ext cx="3431084" cy="615950"/>
          </a:xfrm>
          <a:prstGeom prst="roundRect">
            <a:avLst>
              <a:gd name="adj" fmla="val 11856"/>
            </a:avLst>
          </a:prstGeom>
          <a:solidFill>
            <a:srgbClr val="FCFDFB"/>
          </a:solidFill>
          <a:ln w="6350">
            <a:solidFill>
              <a:srgbClr val="D3E2D7"/>
            </a:solidFill>
            <a:prstDash val="solid"/>
          </a:ln>
        </p:spPr>
      </p:sp>
      <p:sp>
        <p:nvSpPr>
          <p:cNvPr id="12" name="Text 10"/>
          <p:cNvSpPr/>
          <p:nvPr/>
        </p:nvSpPr>
        <p:spPr>
          <a:xfrm>
            <a:off x="8100417" y="1951831"/>
            <a:ext cx="15600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E1B4E"/>
                </a:solidFill>
                <a:latin typeface="IBM Plex Sans" pitchFamily="34" charset="0"/>
                <a:ea typeface="IBM Plex Sans" pitchFamily="34" charset="-122"/>
                <a:cs typeface="IBM Plex Sans" pitchFamily="34" charset="-120"/>
              </a:rPr>
              <a:t>99,8 %</a:t>
            </a:r>
            <a:endParaRPr lang="en-US" sz="3200" dirty="0"/>
          </a:p>
        </p:txBody>
      </p:sp>
      <p:sp>
        <p:nvSpPr>
          <p:cNvPr id="13" name="Text 11"/>
          <p:cNvSpPr/>
          <p:nvPr/>
        </p:nvSpPr>
        <p:spPr>
          <a:xfrm>
            <a:off x="9700000" y="1956991"/>
            <a:ext cx="16400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pasos identificados</a:t>
            </a:r>
            <a:endParaRPr lang="en-US" sz="1200" dirty="0"/>
          </a:p>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con el lote · falta 0,2 %</a:t>
            </a:r>
            <a:endParaRPr lang="en-US" sz="1200" dirty="0"/>
          </a:p>
        </p:txBody>
      </p:sp>
      <p:sp>
        <p:nvSpPr>
          <p:cNvPr id="14" name="Text 12"/>
          <p:cNvSpPr/>
          <p:nvPr/>
        </p:nvSpPr>
        <p:spPr>
          <a:xfrm>
            <a:off x="812800" y="2618581"/>
            <a:ext cx="3437434" cy="307280"/>
          </a:xfrm>
          <a:prstGeom prst="roundRect">
            <a:avLst>
              <a:gd name="adj" fmla="val 16532"/>
            </a:avLst>
          </a:prstGeom>
          <a:solidFill>
            <a:srgbClr val="B3261E"/>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No captura · corregir la cámara</a:t>
            </a:r>
            <a:endParaRPr lang="en-US" sz="1300" dirty="0"/>
          </a:p>
        </p:txBody>
      </p:sp>
      <p:sp>
        <p:nvSpPr>
          <p:cNvPr id="15" name="Shape 13"/>
          <p:cNvSpPr/>
          <p:nvPr/>
        </p:nvSpPr>
        <p:spPr>
          <a:xfrm>
            <a:off x="815975" y="3005237"/>
            <a:ext cx="3431084" cy="859631"/>
          </a:xfrm>
          <a:prstGeom prst="roundRect">
            <a:avLst>
              <a:gd name="adj" fmla="val 7018"/>
            </a:avLst>
          </a:prstGeom>
          <a:solidFill>
            <a:srgbClr val="FCFDFB"/>
          </a:solidFill>
          <a:ln w="6350">
            <a:solidFill>
              <a:srgbClr val="E6C6C2"/>
            </a:solidFill>
            <a:prstDash val="solid"/>
          </a:ln>
        </p:spPr>
      </p:sp>
      <p:sp>
        <p:nvSpPr>
          <p:cNvPr id="16" name="Text 14"/>
          <p:cNvSpPr/>
          <p:nvPr/>
        </p:nvSpPr>
        <p:spPr>
          <a:xfrm>
            <a:off x="933450" y="30846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 de noche</a:t>
            </a:r>
            <a:endParaRPr lang="en-US" sz="1300" dirty="0"/>
          </a:p>
        </p:txBody>
      </p:sp>
      <p:sp>
        <p:nvSpPr>
          <p:cNvPr id="17" name="Text 15"/>
          <p:cNvSpPr/>
          <p:nvPr/>
        </p:nvSpPr>
        <p:spPr>
          <a:xfrm>
            <a:off x="933450" y="33283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42 % de noche</a:t>
            </a:r>
            <a:endParaRPr lang="en-US" sz="1300" dirty="0"/>
          </a:p>
        </p:txBody>
      </p:sp>
      <p:sp>
        <p:nvSpPr>
          <p:cNvPr id="18" name="Text 16"/>
          <p:cNvSpPr/>
          <p:nvPr/>
        </p:nvSpPr>
        <p:spPr>
          <a:xfrm>
            <a:off x="933450" y="35721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 día captura 99 %: iluminación</a:t>
            </a:r>
            <a:endParaRPr lang="en-US" sz="1200" dirty="0"/>
          </a:p>
        </p:txBody>
      </p:sp>
      <p:sp>
        <p:nvSpPr>
          <p:cNvPr id="19" name="Shape 17"/>
          <p:cNvSpPr/>
          <p:nvPr/>
        </p:nvSpPr>
        <p:spPr>
          <a:xfrm>
            <a:off x="815975" y="3947418"/>
            <a:ext cx="3431084" cy="859631"/>
          </a:xfrm>
          <a:prstGeom prst="roundRect">
            <a:avLst>
              <a:gd name="adj" fmla="val 7018"/>
            </a:avLst>
          </a:prstGeom>
          <a:solidFill>
            <a:srgbClr val="FCFDFB"/>
          </a:solidFill>
          <a:ln w="6350">
            <a:solidFill>
              <a:srgbClr val="E6C6C2"/>
            </a:solidFill>
            <a:prstDash val="solid"/>
          </a:ln>
        </p:spPr>
      </p:sp>
      <p:sp>
        <p:nvSpPr>
          <p:cNvPr id="20" name="Text 18"/>
          <p:cNvSpPr/>
          <p:nvPr/>
        </p:nvSpPr>
        <p:spPr>
          <a:xfrm>
            <a:off x="933450" y="40267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Carga OSL</a:t>
            </a:r>
            <a:endParaRPr lang="en-US" sz="1300" dirty="0"/>
          </a:p>
        </p:txBody>
      </p:sp>
      <p:sp>
        <p:nvSpPr>
          <p:cNvPr id="21" name="Text 19"/>
          <p:cNvSpPr/>
          <p:nvPr/>
        </p:nvSpPr>
        <p:spPr>
          <a:xfrm>
            <a:off x="933450" y="42705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3261E"/>
                </a:solidFill>
                <a:latin typeface="IBM Plex Sans" pitchFamily="34" charset="0"/>
                <a:ea typeface="IBM Plex Sans" pitchFamily="34" charset="-122"/>
                <a:cs typeface="IBM Plex Sans" pitchFamily="34" charset="-120"/>
              </a:rPr>
              <a:t>No captura 29 %</a:t>
            </a:r>
            <a:endParaRPr lang="en-US" sz="1300" dirty="0"/>
          </a:p>
        </p:txBody>
      </p:sp>
      <p:sp>
        <p:nvSpPr>
          <p:cNvPr id="22" name="Text 20"/>
          <p:cNvSpPr/>
          <p:nvPr/>
        </p:nvSpPr>
        <p:spPr>
          <a:xfrm>
            <a:off x="933450" y="4514354"/>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 noche no captura 46 %</a:t>
            </a:r>
            <a:endParaRPr lang="en-US" sz="1200" dirty="0"/>
          </a:p>
        </p:txBody>
      </p:sp>
      <p:sp>
        <p:nvSpPr>
          <p:cNvPr id="23" name="Text 21"/>
          <p:cNvSpPr/>
          <p:nvPr/>
        </p:nvSpPr>
        <p:spPr>
          <a:xfrm>
            <a:off x="4377234" y="2618581"/>
            <a:ext cx="3437434" cy="307280"/>
          </a:xfrm>
          <a:prstGeom prst="roundRect">
            <a:avLst>
              <a:gd name="adj" fmla="val 16532"/>
            </a:avLst>
          </a:prstGeom>
          <a:solidFill>
            <a:srgbClr val="E8B931"/>
          </a:solidFill>
          <a:ln/>
        </p:spPr>
        <p:txBody>
          <a:bodyPr wrap="square" lIns="86721" tIns="23221" rIns="0" bIns="0" rtlCol="0" anchor="t">
            <a:normAutofit/>
          </a:bodyPr>
          <a:lstStyle/>
          <a:p>
            <a:pPr algn="l" indent="0" marL="0">
              <a:lnSpc>
                <a:spcPts val="1820"/>
              </a:lnSpc>
              <a:buNone/>
            </a:pPr>
            <a:r>
              <a:rPr lang="en-US" sz="1300" b="1" dirty="0">
                <a:solidFill>
                  <a:srgbClr val="3A2A00"/>
                </a:solidFill>
                <a:latin typeface="IBM Plex Sans" pitchFamily="34" charset="0"/>
                <a:ea typeface="IBM Plex Sans" pitchFamily="34" charset="-122"/>
                <a:cs typeface="IBM Plex Sans" pitchFamily="34" charset="-120"/>
              </a:rPr>
              <a:t>Captura pero lee mal</a:t>
            </a:r>
            <a:endParaRPr lang="en-US" sz="1300" dirty="0"/>
          </a:p>
        </p:txBody>
      </p:sp>
      <p:sp>
        <p:nvSpPr>
          <p:cNvPr id="24" name="Shape 22"/>
          <p:cNvSpPr/>
          <p:nvPr/>
        </p:nvSpPr>
        <p:spPr>
          <a:xfrm>
            <a:off x="4380409" y="3005237"/>
            <a:ext cx="3431084" cy="859631"/>
          </a:xfrm>
          <a:prstGeom prst="roundRect">
            <a:avLst>
              <a:gd name="adj" fmla="val 7018"/>
            </a:avLst>
          </a:prstGeom>
          <a:solidFill>
            <a:srgbClr val="FCFDFB"/>
          </a:solidFill>
          <a:ln w="6350">
            <a:solidFill>
              <a:srgbClr val="EAD9A8"/>
            </a:solidFill>
            <a:prstDash val="solid"/>
          </a:ln>
        </p:spPr>
      </p:sp>
      <p:sp>
        <p:nvSpPr>
          <p:cNvPr id="25" name="Text 23"/>
          <p:cNvSpPr/>
          <p:nvPr/>
        </p:nvSpPr>
        <p:spPr>
          <a:xfrm>
            <a:off x="4497884" y="30846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Volcables de noche</a:t>
            </a:r>
            <a:endParaRPr lang="en-US" sz="1300" dirty="0"/>
          </a:p>
        </p:txBody>
      </p:sp>
      <p:sp>
        <p:nvSpPr>
          <p:cNvPr id="26" name="Text 24"/>
          <p:cNvSpPr/>
          <p:nvPr/>
        </p:nvSpPr>
        <p:spPr>
          <a:xfrm>
            <a:off x="4497884" y="33283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48 % · captura 76 %</a:t>
            </a:r>
            <a:endParaRPr lang="en-US" sz="1300" dirty="0"/>
          </a:p>
        </p:txBody>
      </p:sp>
      <p:sp>
        <p:nvSpPr>
          <p:cNvPr id="27" name="Text 25"/>
          <p:cNvSpPr/>
          <p:nvPr/>
        </p:nvSpPr>
        <p:spPr>
          <a:xfrm>
            <a:off x="4497884" y="3572173"/>
            <a:ext cx="3292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Iluminación nocturna</a:t>
            </a:r>
            <a:endParaRPr lang="en-US" sz="1200" dirty="0"/>
          </a:p>
        </p:txBody>
      </p:sp>
      <p:sp>
        <p:nvSpPr>
          <p:cNvPr id="28" name="Shape 26"/>
          <p:cNvSpPr/>
          <p:nvPr/>
        </p:nvSpPr>
        <p:spPr>
          <a:xfrm>
            <a:off x="4380409" y="3947418"/>
            <a:ext cx="3431084" cy="633611"/>
          </a:xfrm>
          <a:prstGeom prst="roundRect">
            <a:avLst>
              <a:gd name="adj" fmla="val 9521"/>
            </a:avLst>
          </a:prstGeom>
          <a:solidFill>
            <a:srgbClr val="FCFDFB"/>
          </a:solidFill>
          <a:ln w="6350">
            <a:solidFill>
              <a:srgbClr val="EAD9A8"/>
            </a:solidFill>
            <a:prstDash val="solid"/>
          </a:ln>
        </p:spPr>
      </p:sp>
      <p:sp>
        <p:nvSpPr>
          <p:cNvPr id="29" name="Text 27"/>
          <p:cNvSpPr/>
          <p:nvPr/>
        </p:nvSpPr>
        <p:spPr>
          <a:xfrm>
            <a:off x="4497884" y="402679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Egreso de noche</a:t>
            </a:r>
            <a:endParaRPr lang="en-US" sz="1300" dirty="0"/>
          </a:p>
        </p:txBody>
      </p:sp>
      <p:sp>
        <p:nvSpPr>
          <p:cNvPr id="30" name="Text 28"/>
          <p:cNvSpPr/>
          <p:nvPr/>
        </p:nvSpPr>
        <p:spPr>
          <a:xfrm>
            <a:off x="4497884" y="42705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5A00"/>
                </a:solidFill>
                <a:latin typeface="IBM Plex Sans" pitchFamily="34" charset="0"/>
                <a:ea typeface="IBM Plex Sans" pitchFamily="34" charset="-122"/>
                <a:cs typeface="IBM Plex Sans" pitchFamily="34" charset="-120"/>
              </a:rPr>
              <a:t>Lee 82 % · captura 94 %</a:t>
            </a:r>
            <a:endParaRPr lang="en-US" sz="1300" dirty="0"/>
          </a:p>
        </p:txBody>
      </p:sp>
      <p:sp>
        <p:nvSpPr>
          <p:cNvPr id="31" name="Text 29"/>
          <p:cNvSpPr/>
          <p:nvPr/>
        </p:nvSpPr>
        <p:spPr>
          <a:xfrm>
            <a:off x="7941667" y="2618581"/>
            <a:ext cx="3437434" cy="307280"/>
          </a:xfrm>
          <a:prstGeom prst="roundRect">
            <a:avLst>
              <a:gd name="adj" fmla="val 16532"/>
            </a:avLst>
          </a:prstGeom>
          <a:solidFill>
            <a:srgbClr val="0B5638"/>
          </a:solidFill>
          <a:ln/>
        </p:spPr>
        <p:txBody>
          <a:bodyPr wrap="square" lIns="86721" tIns="23221" rIns="0" bIns="0" rtlCol="0" anchor="t">
            <a:normAutofit/>
          </a:bodyPr>
          <a:lstStyle/>
          <a:p>
            <a:pPr algn="l" indent="0" marL="0">
              <a:lnSpc>
                <a:spcPts val="1820"/>
              </a:lnSpc>
              <a:buNone/>
            </a:pPr>
            <a:r>
              <a:rPr lang="en-US" sz="1300" b="1" dirty="0">
                <a:solidFill>
                  <a:srgbClr val="F1F6F2"/>
                </a:solidFill>
                <a:latin typeface="IBM Plex Sans" pitchFamily="34" charset="0"/>
                <a:ea typeface="IBM Plex Sans" pitchFamily="34" charset="-122"/>
                <a:cs typeface="IBM Plex Sans" pitchFamily="34" charset="-120"/>
              </a:rPr>
              <a:t>Funciona bien</a:t>
            </a:r>
            <a:endParaRPr lang="en-US" sz="1300" dirty="0"/>
          </a:p>
        </p:txBody>
      </p:sp>
      <p:sp>
        <p:nvSpPr>
          <p:cNvPr id="32" name="Shape 30"/>
          <p:cNvSpPr/>
          <p:nvPr/>
        </p:nvSpPr>
        <p:spPr>
          <a:xfrm>
            <a:off x="7944842" y="3005237"/>
            <a:ext cx="3431084" cy="633611"/>
          </a:xfrm>
          <a:prstGeom prst="roundRect">
            <a:avLst>
              <a:gd name="adj" fmla="val 9521"/>
            </a:avLst>
          </a:prstGeom>
          <a:solidFill>
            <a:srgbClr val="FCFDFB"/>
          </a:solidFill>
          <a:ln w="6350">
            <a:solidFill>
              <a:srgbClr val="C9DECF"/>
            </a:solidFill>
            <a:prstDash val="solid"/>
          </a:ln>
        </p:spPr>
      </p:sp>
      <p:sp>
        <p:nvSpPr>
          <p:cNvPr id="33" name="Text 31"/>
          <p:cNvSpPr/>
          <p:nvPr/>
        </p:nvSpPr>
        <p:spPr>
          <a:xfrm>
            <a:off x="8062317" y="3084612"/>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Ingreso</a:t>
            </a:r>
            <a:endParaRPr lang="en-US" sz="1300" dirty="0"/>
          </a:p>
        </p:txBody>
      </p:sp>
      <p:sp>
        <p:nvSpPr>
          <p:cNvPr id="34" name="Text 32"/>
          <p:cNvSpPr/>
          <p:nvPr/>
        </p:nvSpPr>
        <p:spPr>
          <a:xfrm>
            <a:off x="8062317" y="3328392"/>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91 % · captura 95 %</a:t>
            </a:r>
            <a:endParaRPr lang="en-US" sz="1300" dirty="0"/>
          </a:p>
        </p:txBody>
      </p:sp>
      <p:sp>
        <p:nvSpPr>
          <p:cNvPr id="35" name="Shape 33"/>
          <p:cNvSpPr/>
          <p:nvPr/>
        </p:nvSpPr>
        <p:spPr>
          <a:xfrm>
            <a:off x="7944842" y="3721398"/>
            <a:ext cx="3431084" cy="633611"/>
          </a:xfrm>
          <a:prstGeom prst="roundRect">
            <a:avLst>
              <a:gd name="adj" fmla="val 9521"/>
            </a:avLst>
          </a:prstGeom>
          <a:solidFill>
            <a:srgbClr val="FCFDFB"/>
          </a:solidFill>
          <a:ln w="6350">
            <a:solidFill>
              <a:srgbClr val="C9DECF"/>
            </a:solidFill>
            <a:prstDash val="solid"/>
          </a:ln>
        </p:spPr>
      </p:sp>
      <p:sp>
        <p:nvSpPr>
          <p:cNvPr id="36" name="Text 34"/>
          <p:cNvSpPr/>
          <p:nvPr/>
        </p:nvSpPr>
        <p:spPr>
          <a:xfrm>
            <a:off x="8062317" y="3800773"/>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Egreso</a:t>
            </a:r>
            <a:endParaRPr lang="en-US" sz="1300" dirty="0"/>
          </a:p>
        </p:txBody>
      </p:sp>
      <p:sp>
        <p:nvSpPr>
          <p:cNvPr id="37" name="Text 35"/>
          <p:cNvSpPr/>
          <p:nvPr/>
        </p:nvSpPr>
        <p:spPr>
          <a:xfrm>
            <a:off x="8062317" y="4044553"/>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91 % · captura 97 %</a:t>
            </a:r>
            <a:endParaRPr lang="en-US" sz="1300" dirty="0"/>
          </a:p>
        </p:txBody>
      </p:sp>
      <p:sp>
        <p:nvSpPr>
          <p:cNvPr id="38" name="Shape 36"/>
          <p:cNvSpPr/>
          <p:nvPr/>
        </p:nvSpPr>
        <p:spPr>
          <a:xfrm>
            <a:off x="7944842" y="4437559"/>
            <a:ext cx="3431084" cy="633611"/>
          </a:xfrm>
          <a:prstGeom prst="roundRect">
            <a:avLst>
              <a:gd name="adj" fmla="val 9521"/>
            </a:avLst>
          </a:prstGeom>
          <a:solidFill>
            <a:srgbClr val="FCFDFB"/>
          </a:solidFill>
          <a:ln w="6350">
            <a:solidFill>
              <a:srgbClr val="C9DECF"/>
            </a:solidFill>
            <a:prstDash val="solid"/>
          </a:ln>
        </p:spPr>
      </p:sp>
      <p:sp>
        <p:nvSpPr>
          <p:cNvPr id="39" name="Text 37"/>
          <p:cNvSpPr/>
          <p:nvPr/>
        </p:nvSpPr>
        <p:spPr>
          <a:xfrm>
            <a:off x="8062317" y="4516934"/>
            <a:ext cx="329201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ingreso</a:t>
            </a:r>
            <a:endParaRPr lang="en-US" sz="1300" dirty="0"/>
          </a:p>
        </p:txBody>
      </p:sp>
      <p:sp>
        <p:nvSpPr>
          <p:cNvPr id="40" name="Text 38"/>
          <p:cNvSpPr/>
          <p:nvPr/>
        </p:nvSpPr>
        <p:spPr>
          <a:xfrm>
            <a:off x="8062317" y="4760714"/>
            <a:ext cx="32920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5638"/>
                </a:solidFill>
                <a:latin typeface="IBM Plex Sans" pitchFamily="34" charset="0"/>
                <a:ea typeface="IBM Plex Sans" pitchFamily="34" charset="-122"/>
                <a:cs typeface="IBM Plex Sans" pitchFamily="34" charset="-120"/>
              </a:rPr>
              <a:t>Lee 89 % · captura 93 %</a:t>
            </a:r>
            <a:endParaRPr lang="en-US" sz="1300" dirty="0"/>
          </a:p>
        </p:txBody>
      </p:sp>
      <p:pic>
        <p:nvPicPr>
          <p:cNvPr id="41"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42"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5332512" cy="289520"/>
          </a:xfrm>
          <a:custGeom>
            <a:avLst/>
            <a:gdLst/>
            <a:ahLst/>
            <a:cxnLst/>
            <a:rect l="l" t="t" r="r" b="b"/>
            <a:pathLst>
              <a:path w="5332512" h="289520">
                <a:moveTo>
                  <a:pt x="144760" y="0"/>
                </a:moveTo>
                <a:lnTo>
                  <a:pt x="5187752" y="0"/>
                </a:lnTo>
                <a:arcTo hR="144760" wR="144760" stAng="16200000" swAng="5400000"/>
                <a:lnTo>
                  <a:pt x="5332512"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ESTA SEMANA CONTRA LA ANTERIOR · PUERTO SAN LORENZO</a:t>
            </a:r>
            <a:endParaRPr lang="en-US" sz="1200" dirty="0"/>
          </a:p>
        </p:txBody>
      </p:sp>
      <p:sp>
        <p:nvSpPr>
          <p:cNvPr id="3" name="Text 1"/>
          <p:cNvSpPr/>
          <p:nvPr>
            <p:ph type="title"/>
          </p:nvPr>
        </p:nvSpPr>
        <p:spPr>
          <a:xfrm>
            <a:off x="812800" y="1102320"/>
            <a:ext cx="10883392" cy="75168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4281E"/>
                </a:solidFill>
                <a:latin typeface="IBM Plex Sans" pitchFamily="34" charset="0"/>
                <a:ea typeface="IBM Plex Sans" pitchFamily="34" charset="-122"/>
                <a:cs typeface="IBM Plex Sans" pitchFamily="34" charset="-120"/>
              </a:rPr>
              <a:t>La balanza de egreso pasó de 33 % a 72 %; mejoraron volcables y Carga OSL</a:t>
            </a:r>
            <a:endParaRPr lang="en-US" sz="2600" dirty="0"/>
          </a:p>
        </p:txBody>
      </p:sp>
      <p:sp>
        <p:nvSpPr>
          <p:cNvPr id="4" name="Shape 2"/>
          <p:cNvSpPr/>
          <p:nvPr/>
        </p:nvSpPr>
        <p:spPr>
          <a:xfrm>
            <a:off x="812800" y="2006402"/>
            <a:ext cx="10566400" cy="289520"/>
          </a:xfrm>
          <a:custGeom>
            <a:avLst/>
            <a:gdLst/>
            <a:ahLst/>
            <a:cxnLst/>
            <a:rect l="l" t="t" r="r" b="b"/>
            <a:pathLst>
              <a:path w="10566400" h="289520">
                <a:moveTo>
                  <a:pt x="50800" y="0"/>
                </a:moveTo>
                <a:lnTo>
                  <a:pt x="10515600" y="0"/>
                </a:lnTo>
                <a:arcTo hR="50800" wR="50800" stAng="16200000" swAng="5400000"/>
                <a:lnTo>
                  <a:pt x="10566400" y="289520"/>
                </a:lnTo>
                <a:lnTo>
                  <a:pt x="0" y="289520"/>
                </a:lnTo>
                <a:lnTo>
                  <a:pt x="0" y="50800"/>
                </a:lnTo>
                <a:arcTo hR="50800" wR="50800" stAng="10800000" swAng="5400000"/>
                <a:close/>
              </a:path>
            </a:pathLst>
          </a:custGeom>
          <a:solidFill>
            <a:srgbClr val="0B5638"/>
          </a:solidFill>
          <a:ln/>
        </p:spPr>
      </p:sp>
      <p:sp>
        <p:nvSpPr>
          <p:cNvPr id="5" name="Text 3"/>
          <p:cNvSpPr/>
          <p:nvPr/>
        </p:nvSpPr>
        <p:spPr>
          <a:xfrm>
            <a:off x="889000" y="2044502"/>
            <a:ext cx="26750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352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lun 5 al dom 11</a:t>
            </a:r>
            <a:endParaRPr lang="en-US" sz="1200" dirty="0"/>
          </a:p>
        </p:txBody>
      </p:sp>
      <p:sp>
        <p:nvSpPr>
          <p:cNvPr id="7" name="Text 5"/>
          <p:cNvSpPr/>
          <p:nvPr/>
        </p:nvSpPr>
        <p:spPr>
          <a:xfrm>
            <a:off x="6064250" y="2044502"/>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lun 12 al dom 18</a:t>
            </a:r>
            <a:endParaRPr lang="en-US" sz="1200" dirty="0"/>
          </a:p>
        </p:txBody>
      </p:sp>
      <p:sp>
        <p:nvSpPr>
          <p:cNvPr id="8" name="Text 6"/>
          <p:cNvSpPr/>
          <p:nvPr/>
        </p:nvSpPr>
        <p:spPr>
          <a:xfrm>
            <a:off x="8601297" y="2044502"/>
            <a:ext cx="281895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Cambio</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308622"/>
          <a:ext cx="10553700" cy="2422525"/>
        </p:xfrm>
        <a:graphic>
          <a:graphicData uri="http://schemas.openxmlformats.org/drawingml/2006/table">
            <a:tbl>
              <a:tblPr/>
              <a:tblGrid>
                <a:gridCol w="2743962"/>
                <a:gridCol w="1266444"/>
                <a:gridCol w="1266444"/>
                <a:gridCol w="1266444"/>
                <a:gridCol w="1266444"/>
                <a:gridCol w="2743962"/>
              </a:tblGrid>
              <a:tr h="346075">
                <a:tc>
                  <a:txBody>
                    <a:bodyPr/>
                    <a:lstStyle/>
                    <a:p>
                      <a:pP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Nodo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Día</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Noche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c>
                  <a:txBody>
                    <a:bodyPr/>
                    <a:lstStyle/>
                    <a:p>
                      <a:pPr algn="ctr" indent="0" marL="0">
                        <a:lnSpc>
                          <a:spcPts val="1750"/>
                        </a:lnSpc>
                        <a:buNone/>
                      </a:pPr>
                      <a:r>
                        <a:rPr lang="en-US" sz="1250" b="1" dirty="0">
                          <a:solidFill>
                            <a:srgbClr val="14281E"/>
                          </a:solidFill>
                          <a:latin typeface="IBM Plex Sans" pitchFamily="34" charset="0"/>
                          <a:ea typeface="IBM Plex Sans" pitchFamily="34" charset="-122"/>
                          <a:cs typeface="IBM Plex Sans" pitchFamily="34" charset="-120"/>
                        </a:rPr>
                        <a:t>Total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ABB5AD"/>
                      </a:solidFill>
                      <a:prstDash val="solid"/>
                      <a:round/>
                      <a:headEnd type="none" w="med" len="med"/>
                      <a:tailEnd type="none" w="med" len="med"/>
                    </a:lnL>
                    <a:lnR w="12700" cap="flat" cmpd="sng" algn="ctr">
                      <a:solidFill>
                        <a:srgbClr val="ABB5AD"/>
                      </a:solidFill>
                      <a:prstDash val="solid"/>
                      <a:round/>
                      <a:headEnd type="none" w="med" len="med"/>
                      <a:tailEnd type="none" w="med" len="med"/>
                    </a:lnR>
                    <a:lnT w="12700" cap="flat" cmpd="sng" algn="ctr">
                      <a:solidFill>
                        <a:srgbClr val="C4C6C3"/>
                      </a:solidFill>
                      <a:prstDash val="solid"/>
                      <a:round/>
                      <a:headEnd type="none" w="med" len="med"/>
                      <a:tailEnd type="none" w="med" len="med"/>
                    </a:lnT>
                    <a:lnB w="12700" cap="flat" cmpd="sng" algn="ctr">
                      <a:solidFill>
                        <a:srgbClr val="ABB5AD"/>
                      </a:solidFill>
                      <a:prstDash val="solid"/>
                      <a:round/>
                      <a:headEnd type="none" w="med" len="med"/>
                      <a:tailEnd type="none" w="med" len="med"/>
                    </a:lnB>
                    <a:solidFill>
                      <a:srgbClr val="D5E3D9"/>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84 %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90 → 91 %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ABB5AD"/>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ingreso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93 %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76 %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75 %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84 → 89 %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Carga OSL</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71 %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37 %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8A5A00"/>
                          </a:solidFill>
                          <a:latin typeface="IBM Plex Sans" pitchFamily="34" charset="0"/>
                          <a:ea typeface="IBM Plex Sans" pitchFamily="34" charset="-122"/>
                          <a:cs typeface="IBM Plex Sans" pitchFamily="34" charset="-120"/>
                        </a:rPr>
                        <a:t>76 %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49 %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62 → 68 %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Volcables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93 %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32 %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97 %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48 %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58 → 72 %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Balanza egreso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60 %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r" indent="0" marL="0">
                        <a:lnSpc>
                          <a:spcPts val="1750"/>
                        </a:lnSpc>
                        <a:buNone/>
                      </a:pPr>
                      <a:r>
                        <a:rPr lang="en-US" sz="1250" dirty="0">
                          <a:solidFill>
                            <a:srgbClr val="B3261E"/>
                          </a:solidFill>
                          <a:latin typeface="IBM Plex Sans" pitchFamily="34" charset="0"/>
                          <a:ea typeface="IBM Plex Sans" pitchFamily="34" charset="-122"/>
                          <a:cs typeface="IBM Plex Sans" pitchFamily="34" charset="-120"/>
                        </a:rPr>
                        <a:t>36 %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c>
                  <a:txBody>
                    <a:bodyPr/>
                    <a:lstStyle/>
                    <a:p>
                      <a:pPr algn="ct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Mejoró · 33 → 72 %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B5C1B8"/>
                      </a:solidFill>
                      <a:prstDash val="solid"/>
                      <a:round/>
                      <a:headEnd type="none" w="med" len="med"/>
                      <a:tailEnd type="none" w="med" len="med"/>
                    </a:lnL>
                    <a:lnR w="12700" cap="flat" cmpd="sng" algn="ctr">
                      <a:solidFill>
                        <a:srgbClr val="B5C1B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B5C1B8"/>
                      </a:solidFill>
                      <a:prstDash val="solid"/>
                      <a:round/>
                      <a:headEnd type="none" w="med" len="med"/>
                      <a:tailEnd type="none" w="med" len="med"/>
                    </a:lnB>
                    <a:solidFill>
                      <a:srgbClr val="E3F2E6"/>
                    </a:solidFill>
                  </a:tcPr>
                </a:tc>
              </a:tr>
              <a:tr h="346075">
                <a:tc>
                  <a:txBody>
                    <a:bodyPr/>
                    <a:lstStyle/>
                    <a:p>
                      <a:pPr indent="0" marL="0">
                        <a:lnSpc>
                          <a:spcPts val="1750"/>
                        </a:lnSpc>
                        <a:buNone/>
                      </a:pPr>
                      <a:r>
                        <a:rPr lang="en-US" sz="1250" dirty="0">
                          <a:solidFill>
                            <a:srgbClr val="14281E"/>
                          </a:solidFill>
                          <a:latin typeface="IBM Plex Sans" pitchFamily="34" charset="0"/>
                          <a:ea typeface="IBM Plex Sans" pitchFamily="34" charset="-122"/>
                          <a:cs typeface="IBM Plex Sans" pitchFamily="34" charset="-120"/>
                        </a:rPr>
                        <a:t>Egreso</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3"/>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92 %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85 %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98 %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r" indent="0" marL="0">
                        <a:lnSpc>
                          <a:spcPts val="1750"/>
                        </a:lnSpc>
                        <a:buNone/>
                      </a:pPr>
                      <a:r>
                        <a:rPr lang="en-US" sz="1250" dirty="0">
                          <a:solidFill>
                            <a:srgbClr val="0B5638"/>
                          </a:solidFill>
                          <a:latin typeface="IBM Plex Sans" pitchFamily="34" charset="0"/>
                          <a:ea typeface="IBM Plex Sans" pitchFamily="34" charset="-122"/>
                          <a:cs typeface="IBM Plex Sans" pitchFamily="34" charset="-120"/>
                        </a:rPr>
                        <a:t>82 %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algn="ctr" indent="0" marL="0">
                        <a:lnSpc>
                          <a:spcPts val="1750"/>
                        </a:lnSpc>
                        <a:buNone/>
                      </a:pPr>
                      <a:r>
                        <a:rPr lang="en-US" sz="1250" dirty="0">
                          <a:solidFill>
                            <a:srgbClr val="4A5D52"/>
                          </a:solidFill>
                          <a:latin typeface="IBM Plex Sans" pitchFamily="34" charset="0"/>
                          <a:ea typeface="IBM Plex Sans" pitchFamily="34" charset="-122"/>
                          <a:cs typeface="IBM Plex Sans" pitchFamily="34" charset="-120"/>
                        </a:rPr>
                        <a:t>Igual · 88 → 91 %</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B5C1B8"/>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bl>
          </a:graphicData>
        </a:graphic>
      </p:graphicFrame>
      <p:pic>
        <p:nvPicPr>
          <p:cNvPr id="10"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1"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12" name="Text 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Fila verde = mejoró · blanca = igual (±3 puntos) · roja = empeoró · cambio sobre el total del nodo · 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5693569" cy="289520"/>
          </a:xfrm>
          <a:custGeom>
            <a:avLst/>
            <a:gdLst/>
            <a:ahLst/>
            <a:cxnLst/>
            <a:rect l="l" t="t" r="r" b="b"/>
            <a:pathLst>
              <a:path w="5693569" h="289520">
                <a:moveTo>
                  <a:pt x="144760" y="0"/>
                </a:moveTo>
                <a:lnTo>
                  <a:pt x="5548809" y="0"/>
                </a:lnTo>
                <a:arcTo hR="144760" wR="144760" stAng="16200000" swAng="5400000"/>
                <a:lnTo>
                  <a:pt x="5693569"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LECTURA Y RECONSTRUCCIÓN POR NODO · PUERTO SAN LORENZO</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Con el lote: de cada 100 pasos la cámara lee 81, se reconstruyen 6 y se deducen 13; faltan 0,2</a:t>
            </a:r>
            <a:endParaRPr lang="en-US" sz="2200" dirty="0"/>
          </a:p>
        </p:txBody>
      </p:sp>
      <p:sp>
        <p:nvSpPr>
          <p:cNvPr id="4" name="Shape 2"/>
          <p:cNvSpPr/>
          <p:nvPr/>
        </p:nvSpPr>
        <p:spPr>
          <a:xfrm>
            <a:off x="812800" y="1843881"/>
            <a:ext cx="10566400" cy="314920"/>
          </a:xfrm>
          <a:custGeom>
            <a:avLst/>
            <a:gdLst/>
            <a:ahLst/>
            <a:cxnLst/>
            <a:rect l="l" t="t" r="r" b="b"/>
            <a:pathLst>
              <a:path w="10566400" h="314920">
                <a:moveTo>
                  <a:pt x="50800" y="0"/>
                </a:moveTo>
                <a:lnTo>
                  <a:pt x="10515600" y="0"/>
                </a:lnTo>
                <a:arcTo hR="50800" wR="50800" stAng="16200000" swAng="5400000"/>
                <a:lnTo>
                  <a:pt x="10566400" y="314920"/>
                </a:lnTo>
                <a:lnTo>
                  <a:pt x="0" y="314920"/>
                </a:lnTo>
                <a:lnTo>
                  <a:pt x="0" y="50800"/>
                </a:lnTo>
                <a:arcTo hR="50800" wR="50800" stAng="10800000" swAng="5400000"/>
                <a:close/>
              </a:path>
            </a:pathLst>
          </a:custGeom>
          <a:solidFill>
            <a:srgbClr val="0B5638"/>
          </a:solidFill>
          <a:ln/>
        </p:spPr>
      </p:sp>
      <p:sp>
        <p:nvSpPr>
          <p:cNvPr id="5" name="Text 3"/>
          <p:cNvSpPr/>
          <p:nvPr/>
        </p:nvSpPr>
        <p:spPr>
          <a:xfrm>
            <a:off x="889000" y="1894681"/>
            <a:ext cx="20013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Nodo</a:t>
            </a:r>
            <a:endParaRPr lang="en-US" sz="1200" dirty="0"/>
          </a:p>
        </p:txBody>
      </p:sp>
      <p:sp>
        <p:nvSpPr>
          <p:cNvPr id="6" name="Text 4"/>
          <p:cNvSpPr/>
          <p:nvPr/>
        </p:nvSpPr>
        <p:spPr>
          <a:xfrm>
            <a:off x="2959100" y="1894681"/>
            <a:ext cx="6731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Pasos</a:t>
            </a:r>
            <a:endParaRPr lang="en-US" sz="1200" dirty="0"/>
          </a:p>
        </p:txBody>
      </p:sp>
      <p:sp>
        <p:nvSpPr>
          <p:cNvPr id="7" name="Text 5"/>
          <p:cNvSpPr/>
          <p:nvPr/>
        </p:nvSpPr>
        <p:spPr>
          <a:xfrm>
            <a:off x="3733800" y="1894681"/>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8CE"/>
                </a:solidFill>
                <a:latin typeface="IBM Plex Sans" pitchFamily="34" charset="0"/>
                <a:ea typeface="IBM Plex Sans" pitchFamily="34" charset="-122"/>
                <a:cs typeface="IBM Plex Sans" pitchFamily="34" charset="-120"/>
              </a:rPr>
              <a:t>De 100 pasos</a:t>
            </a:r>
            <a:endParaRPr lang="en-US" sz="1200" dirty="0"/>
          </a:p>
        </p:txBody>
      </p:sp>
      <p:sp>
        <p:nvSpPr>
          <p:cNvPr id="8" name="Text 6"/>
          <p:cNvSpPr/>
          <p:nvPr/>
        </p:nvSpPr>
        <p:spPr>
          <a:xfrm>
            <a:off x="6985000" y="1894681"/>
            <a:ext cx="1193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Leyó la cámara</a:t>
            </a:r>
            <a:endParaRPr lang="en-US" sz="1200" dirty="0"/>
          </a:p>
        </p:txBody>
      </p:sp>
      <p:sp>
        <p:nvSpPr>
          <p:cNvPr id="9" name="Text 7"/>
          <p:cNvSpPr/>
          <p:nvPr/>
        </p:nvSpPr>
        <p:spPr>
          <a:xfrm>
            <a:off x="81280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Reconstruido</a:t>
            </a:r>
            <a:endParaRPr lang="en-US" sz="1200" dirty="0"/>
          </a:p>
        </p:txBody>
      </p:sp>
      <p:sp>
        <p:nvSpPr>
          <p:cNvPr id="10" name="Text 8"/>
          <p:cNvSpPr/>
          <p:nvPr/>
        </p:nvSpPr>
        <p:spPr>
          <a:xfrm>
            <a:off x="9207500" y="1894681"/>
            <a:ext cx="1130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Deducido</a:t>
            </a:r>
            <a:endParaRPr lang="en-US" sz="1200" dirty="0"/>
          </a:p>
        </p:txBody>
      </p:sp>
      <p:sp>
        <p:nvSpPr>
          <p:cNvPr id="11" name="Text 9"/>
          <p:cNvSpPr/>
          <p:nvPr/>
        </p:nvSpPr>
        <p:spPr>
          <a:xfrm>
            <a:off x="10363200" y="1894681"/>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Falta</a:t>
            </a:r>
            <a:endParaRPr lang="en-US" sz="1200" dirty="0"/>
          </a:p>
        </p:txBody>
      </p:sp>
      <p:sp>
        <p:nvSpPr>
          <p:cNvPr id="12" name="Shape 10"/>
          <p:cNvSpPr/>
          <p:nvPr/>
        </p:nvSpPr>
        <p:spPr>
          <a:xfrm>
            <a:off x="812800" y="2158802"/>
            <a:ext cx="10566400" cy="313630"/>
          </a:xfrm>
          <a:prstGeom prst="rect">
            <a:avLst/>
          </a:prstGeom>
          <a:solidFill>
            <a:srgbClr val="FCFDFB"/>
          </a:solidFill>
          <a:ln/>
        </p:spPr>
      </p:sp>
      <p:sp>
        <p:nvSpPr>
          <p:cNvPr id="13" name="Shape 11"/>
          <p:cNvSpPr/>
          <p:nvPr/>
        </p:nvSpPr>
        <p:spPr>
          <a:xfrm>
            <a:off x="812800" y="2469257"/>
            <a:ext cx="10566400" cy="0"/>
          </a:xfrm>
          <a:prstGeom prst="line">
            <a:avLst/>
          </a:prstGeom>
          <a:noFill/>
          <a:ln w="6350">
            <a:solidFill>
              <a:srgbClr val="D3E2D7"/>
            </a:solidFill>
            <a:prstDash val="solid"/>
          </a:ln>
        </p:spPr>
      </p:sp>
      <p:sp>
        <p:nvSpPr>
          <p:cNvPr id="14" name="Text 12"/>
          <p:cNvSpPr/>
          <p:nvPr/>
        </p:nvSpPr>
        <p:spPr>
          <a:xfrm>
            <a:off x="889000" y="219690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Ingreso</a:t>
            </a:r>
            <a:endParaRPr lang="en-US" sz="1300" dirty="0"/>
          </a:p>
        </p:txBody>
      </p:sp>
      <p:sp>
        <p:nvSpPr>
          <p:cNvPr id="15" name="Text 13"/>
          <p:cNvSpPr/>
          <p:nvPr/>
        </p:nvSpPr>
        <p:spPr>
          <a:xfrm>
            <a:off x="2959100" y="219690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413</a:t>
            </a:r>
            <a:endParaRPr lang="en-US" sz="1300" dirty="0"/>
          </a:p>
        </p:txBody>
      </p:sp>
      <p:sp>
        <p:nvSpPr>
          <p:cNvPr id="107" name="Shape 107"/>
          <p:cNvSpPr/>
          <p:nvPr/>
        </p:nvSpPr>
        <p:spPr>
          <a:xfrm>
            <a:off x="3733800" y="2217142"/>
            <a:ext cx="2926227" cy="190500"/>
          </a:xfrm>
          <a:custGeom>
            <a:avLst/>
            <a:gdLst/>
            <a:ahLst/>
            <a:cxnLst/>
            <a:rect l="l" t="t" r="r" b="b"/>
            <a:pathLst>
              <a:path w="2926227" h="190500">
                <a:moveTo>
                  <a:pt x="38100" y="0"/>
                </a:moveTo>
                <a:lnTo>
                  <a:pt x="2926227" y="0"/>
                </a:lnTo>
                <a:lnTo>
                  <a:pt x="292622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08" name="Shape 108"/>
          <p:cNvSpPr/>
          <p:nvPr/>
        </p:nvSpPr>
        <p:spPr>
          <a:xfrm>
            <a:off x="6660027" y="2217142"/>
            <a:ext cx="127923" cy="190500"/>
          </a:xfrm>
          <a:prstGeom prst="rect">
            <a:avLst/>
          </a:prstGeom>
          <a:solidFill>
            <a:srgbClr val="7FB894"/>
          </a:solidFill>
          <a:ln/>
        </p:spPr>
      </p:sp>
      <p:sp>
        <p:nvSpPr>
          <p:cNvPr id="109" name="Shape 109"/>
          <p:cNvSpPr/>
          <p:nvPr/>
        </p:nvSpPr>
        <p:spPr>
          <a:xfrm>
            <a:off x="6787950" y="2217142"/>
            <a:ext cx="239855" cy="190500"/>
          </a:xfrm>
          <a:prstGeom prst="rect">
            <a:avLst/>
          </a:prstGeom>
          <a:solidFill>
            <a:srgbClr val="9C8FC4"/>
          </a:solidFill>
          <a:ln/>
        </p:spPr>
      </p:sp>
      <p:sp>
        <p:nvSpPr>
          <p:cNvPr id="110" name="Shape 110"/>
          <p:cNvSpPr/>
          <p:nvPr/>
        </p:nvSpPr>
        <p:spPr>
          <a:xfrm>
            <a:off x="7027805" y="2217142"/>
            <a:ext cx="7995" cy="190500"/>
          </a:xfrm>
          <a:custGeom>
            <a:avLst/>
            <a:gdLst/>
            <a:ahLst/>
            <a:cxnLst/>
            <a:rect l="l" t="t" r="r" b="b"/>
            <a:pathLst>
              <a:path w="7995" h="190500">
                <a:moveTo>
                  <a:pt x="0" y="0"/>
                </a:moveTo>
                <a:lnTo>
                  <a:pt x="3998" y="0"/>
                </a:lnTo>
                <a:arcTo hR="3997" wR="3997" stAng="16200000" swAng="5400000"/>
                <a:lnTo>
                  <a:pt x="7995" y="186503"/>
                </a:lnTo>
                <a:arcTo hR="3997" wR="3997" stAng="0" swAng="5400000"/>
                <a:lnTo>
                  <a:pt x="0" y="190500"/>
                </a:lnTo>
                <a:close/>
              </a:path>
            </a:pathLst>
          </a:custGeom>
          <a:solidFill>
            <a:srgbClr val="B3261E"/>
          </a:solidFill>
          <a:ln/>
        </p:spPr>
      </p:sp>
      <p:sp>
        <p:nvSpPr>
          <p:cNvPr id="20" name="Text 18"/>
          <p:cNvSpPr/>
          <p:nvPr/>
        </p:nvSpPr>
        <p:spPr>
          <a:xfrm>
            <a:off x="6985000" y="219690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89 %</a:t>
            </a:r>
            <a:endParaRPr lang="en-US" sz="1300" dirty="0"/>
          </a:p>
        </p:txBody>
      </p:sp>
      <p:sp>
        <p:nvSpPr>
          <p:cNvPr id="21" name="Text 19"/>
          <p:cNvSpPr/>
          <p:nvPr/>
        </p:nvSpPr>
        <p:spPr>
          <a:xfrm>
            <a:off x="81280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4 %</a:t>
            </a:r>
            <a:endParaRPr lang="en-US" sz="1300" dirty="0"/>
          </a:p>
        </p:txBody>
      </p:sp>
      <p:sp>
        <p:nvSpPr>
          <p:cNvPr id="22" name="Text 20"/>
          <p:cNvSpPr/>
          <p:nvPr/>
        </p:nvSpPr>
        <p:spPr>
          <a:xfrm>
            <a:off x="9207500" y="219690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7 %</a:t>
            </a:r>
            <a:endParaRPr lang="en-US" sz="1300" dirty="0"/>
          </a:p>
        </p:txBody>
      </p:sp>
      <p:sp>
        <p:nvSpPr>
          <p:cNvPr id="23" name="Text 21"/>
          <p:cNvSpPr/>
          <p:nvPr/>
        </p:nvSpPr>
        <p:spPr>
          <a:xfrm>
            <a:off x="10363200" y="219690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24" name="Shape 22"/>
          <p:cNvSpPr/>
          <p:nvPr/>
        </p:nvSpPr>
        <p:spPr>
          <a:xfrm>
            <a:off x="812800" y="2472432"/>
            <a:ext cx="10566400" cy="313630"/>
          </a:xfrm>
          <a:prstGeom prst="rect">
            <a:avLst/>
          </a:prstGeom>
          <a:solidFill>
            <a:srgbClr val="FCFDFB"/>
          </a:solidFill>
          <a:ln/>
        </p:spPr>
      </p:sp>
      <p:sp>
        <p:nvSpPr>
          <p:cNvPr id="25" name="Shape 23"/>
          <p:cNvSpPr/>
          <p:nvPr/>
        </p:nvSpPr>
        <p:spPr>
          <a:xfrm>
            <a:off x="812800" y="2782888"/>
            <a:ext cx="10566400" cy="0"/>
          </a:xfrm>
          <a:prstGeom prst="line">
            <a:avLst/>
          </a:prstGeom>
          <a:noFill/>
          <a:ln w="6350">
            <a:solidFill>
              <a:srgbClr val="D3E2D7"/>
            </a:solidFill>
            <a:prstDash val="solid"/>
          </a:ln>
        </p:spPr>
      </p:sp>
      <p:sp>
        <p:nvSpPr>
          <p:cNvPr id="26" name="Text 24"/>
          <p:cNvSpPr/>
          <p:nvPr/>
        </p:nvSpPr>
        <p:spPr>
          <a:xfrm>
            <a:off x="889000" y="2510532"/>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ingreso</a:t>
            </a:r>
            <a:endParaRPr lang="en-US" sz="1300" dirty="0"/>
          </a:p>
        </p:txBody>
      </p:sp>
      <p:sp>
        <p:nvSpPr>
          <p:cNvPr id="27" name="Text 25"/>
          <p:cNvSpPr/>
          <p:nvPr/>
        </p:nvSpPr>
        <p:spPr>
          <a:xfrm>
            <a:off x="2959100" y="2510532"/>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413</a:t>
            </a:r>
            <a:endParaRPr lang="en-US" sz="1300" dirty="0"/>
          </a:p>
        </p:txBody>
      </p:sp>
      <p:sp>
        <p:nvSpPr>
          <p:cNvPr id="111" name="Shape 111"/>
          <p:cNvSpPr/>
          <p:nvPr/>
        </p:nvSpPr>
        <p:spPr>
          <a:xfrm>
            <a:off x="3733800" y="2530773"/>
            <a:ext cx="2894247" cy="190500"/>
          </a:xfrm>
          <a:custGeom>
            <a:avLst/>
            <a:gdLst/>
            <a:ahLst/>
            <a:cxnLst/>
            <a:rect l="l" t="t" r="r" b="b"/>
            <a:pathLst>
              <a:path w="2894247" h="190500">
                <a:moveTo>
                  <a:pt x="38100" y="0"/>
                </a:moveTo>
                <a:lnTo>
                  <a:pt x="2894247" y="0"/>
                </a:lnTo>
                <a:lnTo>
                  <a:pt x="289424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2" name="Shape 112"/>
          <p:cNvSpPr/>
          <p:nvPr/>
        </p:nvSpPr>
        <p:spPr>
          <a:xfrm>
            <a:off x="6628047" y="2530773"/>
            <a:ext cx="95942" cy="190500"/>
          </a:xfrm>
          <a:prstGeom prst="rect">
            <a:avLst/>
          </a:prstGeom>
          <a:solidFill>
            <a:srgbClr val="7FB894"/>
          </a:solidFill>
          <a:ln/>
        </p:spPr>
      </p:sp>
      <p:sp>
        <p:nvSpPr>
          <p:cNvPr id="113" name="Shape 113"/>
          <p:cNvSpPr/>
          <p:nvPr/>
        </p:nvSpPr>
        <p:spPr>
          <a:xfrm>
            <a:off x="6723989" y="2530773"/>
            <a:ext cx="303816" cy="190500"/>
          </a:xfrm>
          <a:prstGeom prst="rect">
            <a:avLst/>
          </a:prstGeom>
          <a:solidFill>
            <a:srgbClr val="9C8FC4"/>
          </a:solidFill>
          <a:ln/>
        </p:spPr>
      </p:sp>
      <p:sp>
        <p:nvSpPr>
          <p:cNvPr id="114" name="Shape 114"/>
          <p:cNvSpPr/>
          <p:nvPr/>
        </p:nvSpPr>
        <p:spPr>
          <a:xfrm>
            <a:off x="7027805" y="2530773"/>
            <a:ext cx="7995" cy="190500"/>
          </a:xfrm>
          <a:custGeom>
            <a:avLst/>
            <a:gdLst/>
            <a:ahLst/>
            <a:cxnLst/>
            <a:rect l="l" t="t" r="r" b="b"/>
            <a:pathLst>
              <a:path w="7995" h="190500">
                <a:moveTo>
                  <a:pt x="0" y="0"/>
                </a:moveTo>
                <a:lnTo>
                  <a:pt x="3998" y="0"/>
                </a:lnTo>
                <a:arcTo hR="3997" wR="3997" stAng="16200000" swAng="5400000"/>
                <a:lnTo>
                  <a:pt x="7995" y="186503"/>
                </a:lnTo>
                <a:arcTo hR="3997" wR="3997" stAng="0" swAng="5400000"/>
                <a:lnTo>
                  <a:pt x="0" y="190500"/>
                </a:lnTo>
                <a:close/>
              </a:path>
            </a:pathLst>
          </a:custGeom>
          <a:solidFill>
            <a:srgbClr val="B3261E"/>
          </a:solidFill>
          <a:ln/>
        </p:spPr>
      </p:sp>
      <p:sp>
        <p:nvSpPr>
          <p:cNvPr id="32" name="Text 30"/>
          <p:cNvSpPr/>
          <p:nvPr/>
        </p:nvSpPr>
        <p:spPr>
          <a:xfrm>
            <a:off x="6985000" y="2510532"/>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88 %</a:t>
            </a:r>
            <a:endParaRPr lang="en-US" sz="1300" dirty="0"/>
          </a:p>
        </p:txBody>
      </p:sp>
      <p:sp>
        <p:nvSpPr>
          <p:cNvPr id="33" name="Text 31"/>
          <p:cNvSpPr/>
          <p:nvPr/>
        </p:nvSpPr>
        <p:spPr>
          <a:xfrm>
            <a:off x="81280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3 %</a:t>
            </a:r>
            <a:endParaRPr lang="en-US" sz="1300" dirty="0"/>
          </a:p>
        </p:txBody>
      </p:sp>
      <p:sp>
        <p:nvSpPr>
          <p:cNvPr id="34" name="Text 32"/>
          <p:cNvSpPr/>
          <p:nvPr/>
        </p:nvSpPr>
        <p:spPr>
          <a:xfrm>
            <a:off x="9207500" y="2510532"/>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9 %</a:t>
            </a:r>
            <a:endParaRPr lang="en-US" sz="1300" dirty="0"/>
          </a:p>
        </p:txBody>
      </p:sp>
      <p:sp>
        <p:nvSpPr>
          <p:cNvPr id="35" name="Text 33"/>
          <p:cNvSpPr/>
          <p:nvPr/>
        </p:nvSpPr>
        <p:spPr>
          <a:xfrm>
            <a:off x="10363200" y="2510532"/>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36" name="Shape 34"/>
          <p:cNvSpPr/>
          <p:nvPr/>
        </p:nvSpPr>
        <p:spPr>
          <a:xfrm>
            <a:off x="812800" y="2786063"/>
            <a:ext cx="10566400" cy="313630"/>
          </a:xfrm>
          <a:prstGeom prst="rect">
            <a:avLst/>
          </a:prstGeom>
          <a:solidFill>
            <a:srgbClr val="FCFDFB"/>
          </a:solidFill>
          <a:ln/>
        </p:spPr>
      </p:sp>
      <p:sp>
        <p:nvSpPr>
          <p:cNvPr id="37" name="Shape 35"/>
          <p:cNvSpPr/>
          <p:nvPr/>
        </p:nvSpPr>
        <p:spPr>
          <a:xfrm>
            <a:off x="812800" y="3096518"/>
            <a:ext cx="10566400" cy="0"/>
          </a:xfrm>
          <a:prstGeom prst="line">
            <a:avLst/>
          </a:prstGeom>
          <a:noFill/>
          <a:ln w="6350">
            <a:solidFill>
              <a:srgbClr val="D3E2D7"/>
            </a:solidFill>
            <a:prstDash val="solid"/>
          </a:ln>
        </p:spPr>
      </p:sp>
      <p:sp>
        <p:nvSpPr>
          <p:cNvPr id="38" name="Text 36"/>
          <p:cNvSpPr/>
          <p:nvPr/>
        </p:nvSpPr>
        <p:spPr>
          <a:xfrm>
            <a:off x="889000" y="282416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Carga OSL</a:t>
            </a:r>
            <a:endParaRPr lang="en-US" sz="1300" dirty="0"/>
          </a:p>
        </p:txBody>
      </p:sp>
      <p:sp>
        <p:nvSpPr>
          <p:cNvPr id="39" name="Text 37"/>
          <p:cNvSpPr/>
          <p:nvPr/>
        </p:nvSpPr>
        <p:spPr>
          <a:xfrm>
            <a:off x="2959100" y="282416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137</a:t>
            </a:r>
            <a:endParaRPr lang="en-US" sz="1300" dirty="0"/>
          </a:p>
        </p:txBody>
      </p:sp>
      <p:sp>
        <p:nvSpPr>
          <p:cNvPr id="115" name="Shape 115"/>
          <p:cNvSpPr/>
          <p:nvPr/>
        </p:nvSpPr>
        <p:spPr>
          <a:xfrm>
            <a:off x="3733800" y="2844403"/>
            <a:ext cx="2169197" cy="190500"/>
          </a:xfrm>
          <a:custGeom>
            <a:avLst/>
            <a:gdLst/>
            <a:ahLst/>
            <a:cxnLst/>
            <a:rect l="l" t="t" r="r" b="b"/>
            <a:pathLst>
              <a:path w="2169197" h="190500">
                <a:moveTo>
                  <a:pt x="38100" y="0"/>
                </a:moveTo>
                <a:lnTo>
                  <a:pt x="2169197" y="0"/>
                </a:lnTo>
                <a:lnTo>
                  <a:pt x="2169197"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6" name="Shape 116"/>
          <p:cNvSpPr/>
          <p:nvPr/>
        </p:nvSpPr>
        <p:spPr>
          <a:xfrm>
            <a:off x="5902997" y="2844403"/>
            <a:ext cx="144613" cy="190500"/>
          </a:xfrm>
          <a:prstGeom prst="rect">
            <a:avLst/>
          </a:prstGeom>
          <a:solidFill>
            <a:srgbClr val="7FB894"/>
          </a:solidFill>
          <a:ln/>
        </p:spPr>
      </p:sp>
      <p:sp>
        <p:nvSpPr>
          <p:cNvPr id="117" name="Shape 117"/>
          <p:cNvSpPr/>
          <p:nvPr/>
        </p:nvSpPr>
        <p:spPr>
          <a:xfrm>
            <a:off x="6047610" y="2844403"/>
            <a:ext cx="988190" cy="190500"/>
          </a:xfrm>
          <a:custGeom>
            <a:avLst/>
            <a:gdLst/>
            <a:ahLst/>
            <a:cxnLst/>
            <a:rect l="l" t="t" r="r" b="b"/>
            <a:pathLst>
              <a:path w="988190" h="190500">
                <a:moveTo>
                  <a:pt x="0" y="0"/>
                </a:moveTo>
                <a:lnTo>
                  <a:pt x="950090" y="0"/>
                </a:lnTo>
                <a:arcTo hR="38100" wR="38100" stAng="16200000" swAng="5400000"/>
                <a:lnTo>
                  <a:pt x="988190" y="152400"/>
                </a:lnTo>
                <a:arcTo hR="38100" wR="38100" stAng="0" swAng="5400000"/>
                <a:lnTo>
                  <a:pt x="0" y="190500"/>
                </a:lnTo>
                <a:close/>
              </a:path>
            </a:pathLst>
          </a:custGeom>
          <a:solidFill>
            <a:srgbClr val="9C8FC4"/>
          </a:solidFill>
          <a:ln/>
        </p:spPr>
      </p:sp>
      <p:sp>
        <p:nvSpPr>
          <p:cNvPr id="44" name="Text 42"/>
          <p:cNvSpPr/>
          <p:nvPr/>
        </p:nvSpPr>
        <p:spPr>
          <a:xfrm>
            <a:off x="6985000" y="282416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66 %</a:t>
            </a:r>
            <a:endParaRPr lang="en-US" sz="1300" dirty="0"/>
          </a:p>
        </p:txBody>
      </p:sp>
      <p:sp>
        <p:nvSpPr>
          <p:cNvPr id="45" name="Text 43"/>
          <p:cNvSpPr/>
          <p:nvPr/>
        </p:nvSpPr>
        <p:spPr>
          <a:xfrm>
            <a:off x="81280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4 %</a:t>
            </a:r>
            <a:endParaRPr lang="en-US" sz="1300" dirty="0"/>
          </a:p>
        </p:txBody>
      </p:sp>
      <p:sp>
        <p:nvSpPr>
          <p:cNvPr id="46" name="Text 44"/>
          <p:cNvSpPr/>
          <p:nvPr/>
        </p:nvSpPr>
        <p:spPr>
          <a:xfrm>
            <a:off x="9207500" y="282416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30 %</a:t>
            </a:r>
            <a:endParaRPr lang="en-US" sz="1300" dirty="0"/>
          </a:p>
        </p:txBody>
      </p:sp>
      <p:sp>
        <p:nvSpPr>
          <p:cNvPr id="47" name="Text 45"/>
          <p:cNvSpPr/>
          <p:nvPr/>
        </p:nvSpPr>
        <p:spPr>
          <a:xfrm>
            <a:off x="10363200" y="282416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0 %</a:t>
            </a:r>
            <a:endParaRPr lang="en-US" sz="1300" dirty="0"/>
          </a:p>
        </p:txBody>
      </p:sp>
      <p:sp>
        <p:nvSpPr>
          <p:cNvPr id="48" name="Shape 46"/>
          <p:cNvSpPr/>
          <p:nvPr/>
        </p:nvSpPr>
        <p:spPr>
          <a:xfrm>
            <a:off x="812800" y="3099693"/>
            <a:ext cx="10566400" cy="313630"/>
          </a:xfrm>
          <a:prstGeom prst="rect">
            <a:avLst/>
          </a:prstGeom>
          <a:solidFill>
            <a:srgbClr val="FCFDFB"/>
          </a:solidFill>
          <a:ln/>
        </p:spPr>
      </p:sp>
      <p:sp>
        <p:nvSpPr>
          <p:cNvPr id="49" name="Shape 47"/>
          <p:cNvSpPr/>
          <p:nvPr/>
        </p:nvSpPr>
        <p:spPr>
          <a:xfrm>
            <a:off x="812800" y="3410148"/>
            <a:ext cx="10566400" cy="0"/>
          </a:xfrm>
          <a:prstGeom prst="line">
            <a:avLst/>
          </a:prstGeom>
          <a:noFill/>
          <a:ln w="6350">
            <a:solidFill>
              <a:srgbClr val="D3E2D7"/>
            </a:solidFill>
            <a:prstDash val="solid"/>
          </a:ln>
        </p:spPr>
      </p:sp>
      <p:sp>
        <p:nvSpPr>
          <p:cNvPr id="50" name="Text 48"/>
          <p:cNvSpPr/>
          <p:nvPr/>
        </p:nvSpPr>
        <p:spPr>
          <a:xfrm>
            <a:off x="889000" y="313779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Volcables</a:t>
            </a:r>
            <a:endParaRPr lang="en-US" sz="1300" dirty="0"/>
          </a:p>
        </p:txBody>
      </p:sp>
      <p:sp>
        <p:nvSpPr>
          <p:cNvPr id="51" name="Text 49"/>
          <p:cNvSpPr/>
          <p:nvPr/>
        </p:nvSpPr>
        <p:spPr>
          <a:xfrm>
            <a:off x="2959100" y="313779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265</a:t>
            </a:r>
            <a:endParaRPr lang="en-US" sz="1300" dirty="0"/>
          </a:p>
        </p:txBody>
      </p:sp>
      <p:sp>
        <p:nvSpPr>
          <p:cNvPr id="118" name="Shape 118"/>
          <p:cNvSpPr/>
          <p:nvPr/>
        </p:nvSpPr>
        <p:spPr>
          <a:xfrm>
            <a:off x="3733800" y="3158034"/>
            <a:ext cx="2292710" cy="190500"/>
          </a:xfrm>
          <a:custGeom>
            <a:avLst/>
            <a:gdLst/>
            <a:ahLst/>
            <a:cxnLst/>
            <a:rect l="l" t="t" r="r" b="b"/>
            <a:pathLst>
              <a:path w="2292710" h="190500">
                <a:moveTo>
                  <a:pt x="38100" y="0"/>
                </a:moveTo>
                <a:lnTo>
                  <a:pt x="2292710" y="0"/>
                </a:lnTo>
                <a:lnTo>
                  <a:pt x="2292710"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19" name="Shape 119"/>
          <p:cNvSpPr/>
          <p:nvPr/>
        </p:nvSpPr>
        <p:spPr>
          <a:xfrm>
            <a:off x="6026510" y="3158034"/>
            <a:ext cx="510875" cy="190500"/>
          </a:xfrm>
          <a:prstGeom prst="rect">
            <a:avLst/>
          </a:prstGeom>
          <a:solidFill>
            <a:srgbClr val="7FB894"/>
          </a:solidFill>
          <a:ln/>
        </p:spPr>
      </p:sp>
      <p:sp>
        <p:nvSpPr>
          <p:cNvPr id="120" name="Shape 120"/>
          <p:cNvSpPr/>
          <p:nvPr/>
        </p:nvSpPr>
        <p:spPr>
          <a:xfrm>
            <a:off x="6537385" y="3158034"/>
            <a:ext cx="485955" cy="190500"/>
          </a:xfrm>
          <a:prstGeom prst="rect">
            <a:avLst/>
          </a:prstGeom>
          <a:solidFill>
            <a:srgbClr val="9C8FC4"/>
          </a:solidFill>
          <a:ln/>
        </p:spPr>
      </p:sp>
      <p:sp>
        <p:nvSpPr>
          <p:cNvPr id="121" name="Shape 121"/>
          <p:cNvSpPr/>
          <p:nvPr/>
        </p:nvSpPr>
        <p:spPr>
          <a:xfrm>
            <a:off x="7023340" y="3158034"/>
            <a:ext cx="12460" cy="190500"/>
          </a:xfrm>
          <a:custGeom>
            <a:avLst/>
            <a:gdLst/>
            <a:ahLst/>
            <a:cxnLst/>
            <a:rect l="l" t="t" r="r" b="b"/>
            <a:pathLst>
              <a:path w="12460" h="190500">
                <a:moveTo>
                  <a:pt x="0" y="0"/>
                </a:moveTo>
                <a:lnTo>
                  <a:pt x="6230" y="0"/>
                </a:lnTo>
                <a:arcTo hR="6230" wR="6230" stAng="16200000" swAng="5400000"/>
                <a:lnTo>
                  <a:pt x="12460" y="184270"/>
                </a:lnTo>
                <a:arcTo hR="6230" wR="6230" stAng="0" swAng="5400000"/>
                <a:lnTo>
                  <a:pt x="0" y="190500"/>
                </a:lnTo>
                <a:close/>
              </a:path>
            </a:pathLst>
          </a:custGeom>
          <a:solidFill>
            <a:srgbClr val="B3261E"/>
          </a:solidFill>
          <a:ln/>
        </p:spPr>
      </p:sp>
      <p:sp>
        <p:nvSpPr>
          <p:cNvPr id="56" name="Text 54"/>
          <p:cNvSpPr/>
          <p:nvPr/>
        </p:nvSpPr>
        <p:spPr>
          <a:xfrm>
            <a:off x="6985000" y="313779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69 %</a:t>
            </a:r>
            <a:endParaRPr lang="en-US" sz="1300" dirty="0"/>
          </a:p>
        </p:txBody>
      </p:sp>
      <p:sp>
        <p:nvSpPr>
          <p:cNvPr id="57" name="Text 55"/>
          <p:cNvSpPr/>
          <p:nvPr/>
        </p:nvSpPr>
        <p:spPr>
          <a:xfrm>
            <a:off x="81280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16 %</a:t>
            </a:r>
            <a:endParaRPr lang="en-US" sz="1300" dirty="0"/>
          </a:p>
        </p:txBody>
      </p:sp>
      <p:sp>
        <p:nvSpPr>
          <p:cNvPr id="58" name="Text 56"/>
          <p:cNvSpPr/>
          <p:nvPr/>
        </p:nvSpPr>
        <p:spPr>
          <a:xfrm>
            <a:off x="9207500" y="313779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15 %</a:t>
            </a:r>
            <a:endParaRPr lang="en-US" sz="1300" dirty="0"/>
          </a:p>
        </p:txBody>
      </p:sp>
      <p:sp>
        <p:nvSpPr>
          <p:cNvPr id="59" name="Text 57"/>
          <p:cNvSpPr/>
          <p:nvPr/>
        </p:nvSpPr>
        <p:spPr>
          <a:xfrm>
            <a:off x="10363200" y="313779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0,4 %</a:t>
            </a:r>
            <a:endParaRPr lang="en-US" sz="1300" dirty="0"/>
          </a:p>
        </p:txBody>
      </p:sp>
      <p:sp>
        <p:nvSpPr>
          <p:cNvPr id="60" name="Shape 58"/>
          <p:cNvSpPr/>
          <p:nvPr/>
        </p:nvSpPr>
        <p:spPr>
          <a:xfrm>
            <a:off x="812800" y="3413323"/>
            <a:ext cx="10566400" cy="313630"/>
          </a:xfrm>
          <a:prstGeom prst="rect">
            <a:avLst/>
          </a:prstGeom>
          <a:solidFill>
            <a:srgbClr val="FCFDFB"/>
          </a:solidFill>
          <a:ln/>
        </p:spPr>
      </p:sp>
      <p:sp>
        <p:nvSpPr>
          <p:cNvPr id="61" name="Shape 59"/>
          <p:cNvSpPr/>
          <p:nvPr/>
        </p:nvSpPr>
        <p:spPr>
          <a:xfrm>
            <a:off x="812800" y="3723779"/>
            <a:ext cx="10566400" cy="0"/>
          </a:xfrm>
          <a:prstGeom prst="line">
            <a:avLst/>
          </a:prstGeom>
          <a:noFill/>
          <a:ln w="6350">
            <a:solidFill>
              <a:srgbClr val="D3E2D7"/>
            </a:solidFill>
            <a:prstDash val="solid"/>
          </a:ln>
        </p:spPr>
      </p:sp>
      <p:sp>
        <p:nvSpPr>
          <p:cNvPr id="62" name="Text 60"/>
          <p:cNvSpPr/>
          <p:nvPr/>
        </p:nvSpPr>
        <p:spPr>
          <a:xfrm>
            <a:off x="889000" y="3451423"/>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Balanza egreso</a:t>
            </a:r>
            <a:endParaRPr lang="en-US" sz="1300" dirty="0"/>
          </a:p>
        </p:txBody>
      </p:sp>
      <p:sp>
        <p:nvSpPr>
          <p:cNvPr id="63" name="Text 61"/>
          <p:cNvSpPr/>
          <p:nvPr/>
        </p:nvSpPr>
        <p:spPr>
          <a:xfrm>
            <a:off x="2959100" y="3451423"/>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413</a:t>
            </a:r>
            <a:endParaRPr lang="en-US" sz="1300" dirty="0"/>
          </a:p>
        </p:txBody>
      </p:sp>
      <p:sp>
        <p:nvSpPr>
          <p:cNvPr id="122" name="Shape 122"/>
          <p:cNvSpPr/>
          <p:nvPr/>
        </p:nvSpPr>
        <p:spPr>
          <a:xfrm>
            <a:off x="3733800" y="3471664"/>
            <a:ext cx="2318596" cy="190500"/>
          </a:xfrm>
          <a:custGeom>
            <a:avLst/>
            <a:gdLst/>
            <a:ahLst/>
            <a:cxnLst/>
            <a:rect l="l" t="t" r="r" b="b"/>
            <a:pathLst>
              <a:path w="2318596" h="190500">
                <a:moveTo>
                  <a:pt x="38100" y="0"/>
                </a:moveTo>
                <a:lnTo>
                  <a:pt x="2318596" y="0"/>
                </a:lnTo>
                <a:lnTo>
                  <a:pt x="2318596"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23" name="Shape 123"/>
          <p:cNvSpPr/>
          <p:nvPr/>
        </p:nvSpPr>
        <p:spPr>
          <a:xfrm>
            <a:off x="6052396" y="3471664"/>
            <a:ext cx="223864" cy="190500"/>
          </a:xfrm>
          <a:prstGeom prst="rect">
            <a:avLst/>
          </a:prstGeom>
          <a:solidFill>
            <a:srgbClr val="7FB894"/>
          </a:solidFill>
          <a:ln/>
        </p:spPr>
      </p:sp>
      <p:sp>
        <p:nvSpPr>
          <p:cNvPr id="124" name="Shape 124"/>
          <p:cNvSpPr/>
          <p:nvPr/>
        </p:nvSpPr>
        <p:spPr>
          <a:xfrm>
            <a:off x="6276260" y="3471664"/>
            <a:ext cx="751545" cy="190500"/>
          </a:xfrm>
          <a:prstGeom prst="rect">
            <a:avLst/>
          </a:prstGeom>
          <a:solidFill>
            <a:srgbClr val="9C8FC4"/>
          </a:solidFill>
          <a:ln/>
        </p:spPr>
      </p:sp>
      <p:sp>
        <p:nvSpPr>
          <p:cNvPr id="125" name="Shape 125"/>
          <p:cNvSpPr/>
          <p:nvPr/>
        </p:nvSpPr>
        <p:spPr>
          <a:xfrm>
            <a:off x="7027805" y="3471664"/>
            <a:ext cx="7995" cy="190500"/>
          </a:xfrm>
          <a:custGeom>
            <a:avLst/>
            <a:gdLst/>
            <a:ahLst/>
            <a:cxnLst/>
            <a:rect l="l" t="t" r="r" b="b"/>
            <a:pathLst>
              <a:path w="7995" h="190500">
                <a:moveTo>
                  <a:pt x="0" y="0"/>
                </a:moveTo>
                <a:lnTo>
                  <a:pt x="3998" y="0"/>
                </a:lnTo>
                <a:arcTo hR="3997" wR="3997" stAng="16200000" swAng="5400000"/>
                <a:lnTo>
                  <a:pt x="7995" y="186503"/>
                </a:lnTo>
                <a:arcTo hR="3997" wR="3997" stAng="0" swAng="5400000"/>
                <a:lnTo>
                  <a:pt x="0" y="190500"/>
                </a:lnTo>
                <a:close/>
              </a:path>
            </a:pathLst>
          </a:custGeom>
          <a:solidFill>
            <a:srgbClr val="B3261E"/>
          </a:solidFill>
          <a:ln/>
        </p:spPr>
      </p:sp>
      <p:sp>
        <p:nvSpPr>
          <p:cNvPr id="68" name="Text 66"/>
          <p:cNvSpPr/>
          <p:nvPr/>
        </p:nvSpPr>
        <p:spPr>
          <a:xfrm>
            <a:off x="6985000" y="3451423"/>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70 %</a:t>
            </a:r>
            <a:endParaRPr lang="en-US" sz="1300" dirty="0"/>
          </a:p>
        </p:txBody>
      </p:sp>
      <p:sp>
        <p:nvSpPr>
          <p:cNvPr id="69" name="Text 67"/>
          <p:cNvSpPr/>
          <p:nvPr/>
        </p:nvSpPr>
        <p:spPr>
          <a:xfrm>
            <a:off x="81280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7 %</a:t>
            </a:r>
            <a:endParaRPr lang="en-US" sz="1300" dirty="0"/>
          </a:p>
        </p:txBody>
      </p:sp>
      <p:sp>
        <p:nvSpPr>
          <p:cNvPr id="70" name="Text 68"/>
          <p:cNvSpPr/>
          <p:nvPr/>
        </p:nvSpPr>
        <p:spPr>
          <a:xfrm>
            <a:off x="9207500" y="3451423"/>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23 %</a:t>
            </a:r>
            <a:endParaRPr lang="en-US" sz="1300" dirty="0"/>
          </a:p>
        </p:txBody>
      </p:sp>
      <p:sp>
        <p:nvSpPr>
          <p:cNvPr id="71" name="Text 69"/>
          <p:cNvSpPr/>
          <p:nvPr/>
        </p:nvSpPr>
        <p:spPr>
          <a:xfrm>
            <a:off x="10363200" y="3451423"/>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72" name="Shape 70"/>
          <p:cNvSpPr/>
          <p:nvPr/>
        </p:nvSpPr>
        <p:spPr>
          <a:xfrm>
            <a:off x="812800" y="3726954"/>
            <a:ext cx="10566400" cy="313630"/>
          </a:xfrm>
          <a:prstGeom prst="rect">
            <a:avLst/>
          </a:prstGeom>
          <a:solidFill>
            <a:srgbClr val="FCFDFB"/>
          </a:solidFill>
          <a:ln/>
        </p:spPr>
      </p:sp>
      <p:sp>
        <p:nvSpPr>
          <p:cNvPr id="73" name="Shape 71"/>
          <p:cNvSpPr/>
          <p:nvPr/>
        </p:nvSpPr>
        <p:spPr>
          <a:xfrm>
            <a:off x="812800" y="4037409"/>
            <a:ext cx="10566400" cy="0"/>
          </a:xfrm>
          <a:prstGeom prst="line">
            <a:avLst/>
          </a:prstGeom>
          <a:noFill/>
          <a:ln w="6350">
            <a:solidFill>
              <a:srgbClr val="D3E2D7"/>
            </a:solidFill>
            <a:prstDash val="solid"/>
          </a:ln>
        </p:spPr>
      </p:sp>
      <p:sp>
        <p:nvSpPr>
          <p:cNvPr id="74" name="Text 72"/>
          <p:cNvSpPr/>
          <p:nvPr/>
        </p:nvSpPr>
        <p:spPr>
          <a:xfrm>
            <a:off x="889000" y="376505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Egreso</a:t>
            </a:r>
            <a:endParaRPr lang="en-US" sz="1300" dirty="0"/>
          </a:p>
        </p:txBody>
      </p:sp>
      <p:sp>
        <p:nvSpPr>
          <p:cNvPr id="75" name="Text 73"/>
          <p:cNvSpPr/>
          <p:nvPr/>
        </p:nvSpPr>
        <p:spPr>
          <a:xfrm>
            <a:off x="2959100" y="3765054"/>
            <a:ext cx="6731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413</a:t>
            </a:r>
            <a:endParaRPr lang="en-US" sz="1300" dirty="0"/>
          </a:p>
        </p:txBody>
      </p:sp>
      <p:sp>
        <p:nvSpPr>
          <p:cNvPr id="126" name="Shape 126"/>
          <p:cNvSpPr/>
          <p:nvPr/>
        </p:nvSpPr>
        <p:spPr>
          <a:xfrm>
            <a:off x="3733800" y="3785295"/>
            <a:ext cx="2974198" cy="190500"/>
          </a:xfrm>
          <a:custGeom>
            <a:avLst/>
            <a:gdLst/>
            <a:ahLst/>
            <a:cxnLst/>
            <a:rect l="l" t="t" r="r" b="b"/>
            <a:pathLst>
              <a:path w="2974198" h="190500">
                <a:moveTo>
                  <a:pt x="38100" y="0"/>
                </a:moveTo>
                <a:lnTo>
                  <a:pt x="2974198" y="0"/>
                </a:lnTo>
                <a:lnTo>
                  <a:pt x="2974198"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27" name="Shape 127"/>
          <p:cNvSpPr/>
          <p:nvPr/>
        </p:nvSpPr>
        <p:spPr>
          <a:xfrm>
            <a:off x="6707998" y="3785295"/>
            <a:ext cx="135918" cy="190500"/>
          </a:xfrm>
          <a:prstGeom prst="rect">
            <a:avLst/>
          </a:prstGeom>
          <a:solidFill>
            <a:srgbClr val="7FB894"/>
          </a:solidFill>
          <a:ln/>
        </p:spPr>
      </p:sp>
      <p:sp>
        <p:nvSpPr>
          <p:cNvPr id="128" name="Shape 128"/>
          <p:cNvSpPr/>
          <p:nvPr/>
        </p:nvSpPr>
        <p:spPr>
          <a:xfrm>
            <a:off x="6843916" y="3785295"/>
            <a:ext cx="183889" cy="190500"/>
          </a:xfrm>
          <a:prstGeom prst="rect">
            <a:avLst/>
          </a:prstGeom>
          <a:solidFill>
            <a:srgbClr val="9C8FC4"/>
          </a:solidFill>
          <a:ln/>
        </p:spPr>
      </p:sp>
      <p:sp>
        <p:nvSpPr>
          <p:cNvPr id="129" name="Shape 129"/>
          <p:cNvSpPr/>
          <p:nvPr/>
        </p:nvSpPr>
        <p:spPr>
          <a:xfrm>
            <a:off x="7027805" y="3785295"/>
            <a:ext cx="7995" cy="190500"/>
          </a:xfrm>
          <a:custGeom>
            <a:avLst/>
            <a:gdLst/>
            <a:ahLst/>
            <a:cxnLst/>
            <a:rect l="l" t="t" r="r" b="b"/>
            <a:pathLst>
              <a:path w="7995" h="190500">
                <a:moveTo>
                  <a:pt x="0" y="0"/>
                </a:moveTo>
                <a:lnTo>
                  <a:pt x="3998" y="0"/>
                </a:lnTo>
                <a:arcTo hR="3997" wR="3997" stAng="16200000" swAng="5400000"/>
                <a:lnTo>
                  <a:pt x="7995" y="186503"/>
                </a:lnTo>
                <a:arcTo hR="3997" wR="3997" stAng="0" swAng="5400000"/>
                <a:lnTo>
                  <a:pt x="0" y="190500"/>
                </a:lnTo>
                <a:close/>
              </a:path>
            </a:pathLst>
          </a:custGeom>
          <a:solidFill>
            <a:srgbClr val="B3261E"/>
          </a:solidFill>
          <a:ln/>
        </p:spPr>
      </p:sp>
      <p:sp>
        <p:nvSpPr>
          <p:cNvPr id="80" name="Text 78"/>
          <p:cNvSpPr/>
          <p:nvPr/>
        </p:nvSpPr>
        <p:spPr>
          <a:xfrm>
            <a:off x="6985000" y="376505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90 %</a:t>
            </a:r>
            <a:endParaRPr lang="en-US" sz="1300" dirty="0"/>
          </a:p>
        </p:txBody>
      </p:sp>
      <p:sp>
        <p:nvSpPr>
          <p:cNvPr id="81" name="Text 79"/>
          <p:cNvSpPr/>
          <p:nvPr/>
        </p:nvSpPr>
        <p:spPr>
          <a:xfrm>
            <a:off x="81280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4 %</a:t>
            </a:r>
            <a:endParaRPr lang="en-US" sz="1300" dirty="0"/>
          </a:p>
        </p:txBody>
      </p:sp>
      <p:sp>
        <p:nvSpPr>
          <p:cNvPr id="82" name="Text 80"/>
          <p:cNvSpPr/>
          <p:nvPr/>
        </p:nvSpPr>
        <p:spPr>
          <a:xfrm>
            <a:off x="9207500" y="3765054"/>
            <a:ext cx="1130300"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B3D7A"/>
                </a:solidFill>
                <a:latin typeface="IBM Plex Sans" pitchFamily="34" charset="0"/>
                <a:ea typeface="IBM Plex Sans" pitchFamily="34" charset="-122"/>
                <a:cs typeface="IBM Plex Sans" pitchFamily="34" charset="-120"/>
              </a:rPr>
              <a:t>6 %</a:t>
            </a:r>
            <a:endParaRPr lang="en-US" sz="1300" dirty="0"/>
          </a:p>
        </p:txBody>
      </p:sp>
      <p:sp>
        <p:nvSpPr>
          <p:cNvPr id="83" name="Text 81"/>
          <p:cNvSpPr/>
          <p:nvPr/>
        </p:nvSpPr>
        <p:spPr>
          <a:xfrm>
            <a:off x="10363200" y="376505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84" name="Shape 82"/>
          <p:cNvSpPr/>
          <p:nvPr/>
        </p:nvSpPr>
        <p:spPr>
          <a:xfrm>
            <a:off x="812800" y="4040584"/>
            <a:ext cx="10566400" cy="313630"/>
          </a:xfrm>
          <a:prstGeom prst="rect">
            <a:avLst/>
          </a:prstGeom>
          <a:solidFill>
            <a:srgbClr val="E3ECE5"/>
          </a:solidFill>
          <a:ln/>
        </p:spPr>
      </p:sp>
      <p:sp>
        <p:nvSpPr>
          <p:cNvPr id="85" name="Shape 83"/>
          <p:cNvSpPr/>
          <p:nvPr/>
        </p:nvSpPr>
        <p:spPr>
          <a:xfrm>
            <a:off x="812800" y="4351040"/>
            <a:ext cx="10566400" cy="0"/>
          </a:xfrm>
          <a:prstGeom prst="line">
            <a:avLst/>
          </a:prstGeom>
          <a:noFill/>
          <a:ln w="6350">
            <a:solidFill>
              <a:srgbClr val="D3E2D7"/>
            </a:solidFill>
            <a:prstDash val="solid"/>
          </a:ln>
        </p:spPr>
      </p:sp>
      <p:sp>
        <p:nvSpPr>
          <p:cNvPr id="86" name="Text 84"/>
          <p:cNvSpPr/>
          <p:nvPr/>
        </p:nvSpPr>
        <p:spPr>
          <a:xfrm>
            <a:off x="889000" y="4078684"/>
            <a:ext cx="20013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1E"/>
                </a:solidFill>
                <a:latin typeface="IBM Plex Sans" pitchFamily="34" charset="0"/>
                <a:ea typeface="IBM Plex Sans" pitchFamily="34" charset="-122"/>
                <a:cs typeface="IBM Plex Sans" pitchFamily="34" charset="-120"/>
              </a:rPr>
              <a:t>Total puerto</a:t>
            </a:r>
            <a:endParaRPr lang="en-US" sz="1300" dirty="0"/>
          </a:p>
        </p:txBody>
      </p:sp>
      <p:sp>
        <p:nvSpPr>
          <p:cNvPr id="87" name="Text 85"/>
          <p:cNvSpPr/>
          <p:nvPr/>
        </p:nvSpPr>
        <p:spPr>
          <a:xfrm>
            <a:off x="2959100" y="4078684"/>
            <a:ext cx="6731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A5D52"/>
                </a:solidFill>
                <a:latin typeface="IBM Plex Sans" pitchFamily="34" charset="0"/>
                <a:ea typeface="IBM Plex Sans" pitchFamily="34" charset="-122"/>
                <a:cs typeface="IBM Plex Sans" pitchFamily="34" charset="-120"/>
              </a:rPr>
              <a:t>2061</a:t>
            </a:r>
            <a:endParaRPr lang="en-US" sz="1300" dirty="0"/>
          </a:p>
        </p:txBody>
      </p:sp>
      <p:sp>
        <p:nvSpPr>
          <p:cNvPr id="130" name="Shape 130"/>
          <p:cNvSpPr/>
          <p:nvPr/>
        </p:nvSpPr>
        <p:spPr>
          <a:xfrm>
            <a:off x="3733800" y="4098925"/>
            <a:ext cx="2665953" cy="190500"/>
          </a:xfrm>
          <a:custGeom>
            <a:avLst/>
            <a:gdLst/>
            <a:ahLst/>
            <a:cxnLst/>
            <a:rect l="l" t="t" r="r" b="b"/>
            <a:pathLst>
              <a:path w="2665953" h="190500">
                <a:moveTo>
                  <a:pt x="38100" y="0"/>
                </a:moveTo>
                <a:lnTo>
                  <a:pt x="2665953" y="0"/>
                </a:lnTo>
                <a:lnTo>
                  <a:pt x="2665953" y="190500"/>
                </a:lnTo>
                <a:lnTo>
                  <a:pt x="38100" y="190500"/>
                </a:lnTo>
                <a:arcTo hR="38100" wR="38100" stAng="5400000" swAng="5400000"/>
                <a:lnTo>
                  <a:pt x="0" y="38100"/>
                </a:lnTo>
                <a:arcTo hR="38100" wR="38100" stAng="10800000" swAng="5400000"/>
                <a:close/>
              </a:path>
            </a:pathLst>
          </a:custGeom>
          <a:solidFill>
            <a:srgbClr val="0B5638"/>
          </a:solidFill>
          <a:ln/>
        </p:spPr>
      </p:sp>
      <p:sp>
        <p:nvSpPr>
          <p:cNvPr id="131" name="Shape 131"/>
          <p:cNvSpPr/>
          <p:nvPr/>
        </p:nvSpPr>
        <p:spPr>
          <a:xfrm>
            <a:off x="6399753" y="4098925"/>
            <a:ext cx="195460" cy="190500"/>
          </a:xfrm>
          <a:prstGeom prst="rect">
            <a:avLst/>
          </a:prstGeom>
          <a:solidFill>
            <a:srgbClr val="7FB894"/>
          </a:solidFill>
          <a:ln/>
        </p:spPr>
      </p:sp>
      <p:sp>
        <p:nvSpPr>
          <p:cNvPr id="132" name="Shape 132"/>
          <p:cNvSpPr/>
          <p:nvPr/>
        </p:nvSpPr>
        <p:spPr>
          <a:xfrm>
            <a:off x="6595213" y="4098925"/>
            <a:ext cx="432576" cy="190500"/>
          </a:xfrm>
          <a:prstGeom prst="rect">
            <a:avLst/>
          </a:prstGeom>
          <a:solidFill>
            <a:srgbClr val="9C8FC4"/>
          </a:solidFill>
          <a:ln/>
        </p:spPr>
      </p:sp>
      <p:sp>
        <p:nvSpPr>
          <p:cNvPr id="133" name="Shape 133"/>
          <p:cNvSpPr/>
          <p:nvPr/>
        </p:nvSpPr>
        <p:spPr>
          <a:xfrm>
            <a:off x="7027789" y="4098925"/>
            <a:ext cx="8011" cy="190500"/>
          </a:xfrm>
          <a:custGeom>
            <a:avLst/>
            <a:gdLst/>
            <a:ahLst/>
            <a:cxnLst/>
            <a:rect l="l" t="t" r="r" b="b"/>
            <a:pathLst>
              <a:path w="8011" h="190500">
                <a:moveTo>
                  <a:pt x="0" y="0"/>
                </a:moveTo>
                <a:lnTo>
                  <a:pt x="4006" y="0"/>
                </a:lnTo>
                <a:arcTo hR="4005" wR="4005" stAng="16200000" swAng="5400000"/>
                <a:lnTo>
                  <a:pt x="8011" y="186495"/>
                </a:lnTo>
                <a:arcTo hR="4005" wR="4005" stAng="0" swAng="5400000"/>
                <a:lnTo>
                  <a:pt x="0" y="190500"/>
                </a:lnTo>
                <a:close/>
              </a:path>
            </a:pathLst>
          </a:custGeom>
          <a:solidFill>
            <a:srgbClr val="B3261E"/>
          </a:solidFill>
          <a:ln/>
        </p:spPr>
      </p:sp>
      <p:sp>
        <p:nvSpPr>
          <p:cNvPr id="92" name="Text 90"/>
          <p:cNvSpPr/>
          <p:nvPr/>
        </p:nvSpPr>
        <p:spPr>
          <a:xfrm>
            <a:off x="6985000" y="4078684"/>
            <a:ext cx="1193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B5638"/>
                </a:solidFill>
                <a:latin typeface="IBM Plex Sans" pitchFamily="34" charset="0"/>
                <a:ea typeface="IBM Plex Sans" pitchFamily="34" charset="-122"/>
                <a:cs typeface="IBM Plex Sans" pitchFamily="34" charset="-120"/>
              </a:rPr>
              <a:t>81 %</a:t>
            </a:r>
            <a:endParaRPr lang="en-US" sz="1300" dirty="0"/>
          </a:p>
        </p:txBody>
      </p:sp>
      <p:sp>
        <p:nvSpPr>
          <p:cNvPr id="93" name="Text 91"/>
          <p:cNvSpPr/>
          <p:nvPr/>
        </p:nvSpPr>
        <p:spPr>
          <a:xfrm>
            <a:off x="81280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2F6B47"/>
                </a:solidFill>
                <a:latin typeface="IBM Plex Sans" pitchFamily="34" charset="0"/>
                <a:ea typeface="IBM Plex Sans" pitchFamily="34" charset="-122"/>
                <a:cs typeface="IBM Plex Sans" pitchFamily="34" charset="-120"/>
              </a:rPr>
              <a:t>6 %</a:t>
            </a:r>
            <a:endParaRPr lang="en-US" sz="1300" dirty="0"/>
          </a:p>
        </p:txBody>
      </p:sp>
      <p:sp>
        <p:nvSpPr>
          <p:cNvPr id="94" name="Text 92"/>
          <p:cNvSpPr/>
          <p:nvPr/>
        </p:nvSpPr>
        <p:spPr>
          <a:xfrm>
            <a:off x="9207500" y="4078684"/>
            <a:ext cx="11303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4B3D7A"/>
                </a:solidFill>
                <a:latin typeface="IBM Plex Sans" pitchFamily="34" charset="0"/>
                <a:ea typeface="IBM Plex Sans" pitchFamily="34" charset="-122"/>
                <a:cs typeface="IBM Plex Sans" pitchFamily="34" charset="-120"/>
              </a:rPr>
              <a:t>13 %</a:t>
            </a:r>
            <a:endParaRPr lang="en-US" sz="1300" dirty="0"/>
          </a:p>
        </p:txBody>
      </p:sp>
      <p:sp>
        <p:nvSpPr>
          <p:cNvPr id="95" name="Text 93"/>
          <p:cNvSpPr/>
          <p:nvPr/>
        </p:nvSpPr>
        <p:spPr>
          <a:xfrm>
            <a:off x="10363200" y="4078684"/>
            <a:ext cx="939800"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B3261E"/>
                </a:solidFill>
                <a:latin typeface="IBM Plex Sans" pitchFamily="34" charset="0"/>
                <a:ea typeface="IBM Plex Sans" pitchFamily="34" charset="-122"/>
                <a:cs typeface="IBM Plex Sans" pitchFamily="34" charset="-120"/>
              </a:rPr>
              <a:t>0,2 %</a:t>
            </a:r>
            <a:endParaRPr lang="en-US" sz="1300" dirty="0"/>
          </a:p>
        </p:txBody>
      </p:sp>
      <p:sp>
        <p:nvSpPr>
          <p:cNvPr id="96" name="Shape 94"/>
          <p:cNvSpPr/>
          <p:nvPr/>
        </p:nvSpPr>
        <p:spPr>
          <a:xfrm>
            <a:off x="812800" y="4524375"/>
            <a:ext cx="177800" cy="177800"/>
          </a:xfrm>
          <a:prstGeom prst="roundRect">
            <a:avLst>
              <a:gd name="adj" fmla="val 21429"/>
            </a:avLst>
          </a:prstGeom>
          <a:solidFill>
            <a:srgbClr val="0B5638"/>
          </a:solidFill>
          <a:ln/>
        </p:spPr>
      </p:sp>
      <p:sp>
        <p:nvSpPr>
          <p:cNvPr id="97" name="Text 95"/>
          <p:cNvSpPr/>
          <p:nvPr/>
        </p:nvSpPr>
        <p:spPr>
          <a:xfrm>
            <a:off x="1054100" y="4506615"/>
            <a:ext cx="1225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la cámara</a:t>
            </a:r>
            <a:endParaRPr lang="en-US" sz="1200" dirty="0"/>
          </a:p>
        </p:txBody>
      </p:sp>
      <p:sp>
        <p:nvSpPr>
          <p:cNvPr id="98" name="Shape 96"/>
          <p:cNvSpPr/>
          <p:nvPr/>
        </p:nvSpPr>
        <p:spPr>
          <a:xfrm>
            <a:off x="2279650" y="4524375"/>
            <a:ext cx="177800" cy="177800"/>
          </a:xfrm>
          <a:prstGeom prst="roundRect">
            <a:avLst>
              <a:gd name="adj" fmla="val 21429"/>
            </a:avLst>
          </a:prstGeom>
          <a:solidFill>
            <a:srgbClr val="7FB894"/>
          </a:solidFill>
          <a:ln/>
        </p:spPr>
      </p:sp>
      <p:sp>
        <p:nvSpPr>
          <p:cNvPr id="99" name="Text 97"/>
          <p:cNvSpPr/>
          <p:nvPr/>
        </p:nvSpPr>
        <p:spPr>
          <a:xfrm>
            <a:off x="2520950" y="4506615"/>
            <a:ext cx="10890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Reconstruido</a:t>
            </a:r>
            <a:endParaRPr lang="en-US" sz="1200" dirty="0"/>
          </a:p>
        </p:txBody>
      </p:sp>
      <p:sp>
        <p:nvSpPr>
          <p:cNvPr id="100" name="Shape 98"/>
          <p:cNvSpPr/>
          <p:nvPr/>
        </p:nvSpPr>
        <p:spPr>
          <a:xfrm>
            <a:off x="3631704" y="4524375"/>
            <a:ext cx="177800" cy="177800"/>
          </a:xfrm>
          <a:prstGeom prst="roundRect">
            <a:avLst>
              <a:gd name="adj" fmla="val 21429"/>
            </a:avLst>
          </a:prstGeom>
          <a:solidFill>
            <a:srgbClr val="9C8FC4"/>
          </a:solidFill>
          <a:ln/>
        </p:spPr>
      </p:sp>
      <p:sp>
        <p:nvSpPr>
          <p:cNvPr id="101" name="Text 99"/>
          <p:cNvSpPr/>
          <p:nvPr/>
        </p:nvSpPr>
        <p:spPr>
          <a:xfrm>
            <a:off x="3873004" y="4506615"/>
            <a:ext cx="7792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Deducido</a:t>
            </a:r>
            <a:endParaRPr lang="en-US" sz="1200" dirty="0"/>
          </a:p>
        </p:txBody>
      </p:sp>
      <p:sp>
        <p:nvSpPr>
          <p:cNvPr id="102" name="Shape 100"/>
          <p:cNvSpPr/>
          <p:nvPr/>
        </p:nvSpPr>
        <p:spPr>
          <a:xfrm>
            <a:off x="4725591" y="4524375"/>
            <a:ext cx="177800" cy="177800"/>
          </a:xfrm>
          <a:prstGeom prst="roundRect">
            <a:avLst>
              <a:gd name="adj" fmla="val 21429"/>
            </a:avLst>
          </a:prstGeom>
          <a:solidFill>
            <a:srgbClr val="B3261E"/>
          </a:solidFill>
          <a:ln/>
        </p:spPr>
      </p:sp>
      <p:sp>
        <p:nvSpPr>
          <p:cNvPr id="103" name="Text 101"/>
          <p:cNvSpPr/>
          <p:nvPr/>
        </p:nvSpPr>
        <p:spPr>
          <a:xfrm>
            <a:off x="4966891" y="4506615"/>
            <a:ext cx="4032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Falta</a:t>
            </a:r>
            <a:endParaRPr lang="en-US" sz="1200" dirty="0"/>
          </a:p>
        </p:txBody>
      </p:sp>
      <p:sp>
        <p:nvSpPr>
          <p:cNvPr id="106" name="Text 102"/>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Leyó = patente exacta u OCR, como la lámina 6 · reconstruido = captura sin patente legible asignada por franja, horario o DSS · 7</a:t>
            </a:r>
            <a:endParaRPr lang="en-US" sz="1200" dirty="0"/>
          </a:p>
        </p:txBody>
      </p:sp>
      <p:pic>
        <p:nvPicPr>
          <p:cNvPr id="104"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5"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2886670" cy="289520"/>
          </a:xfrm>
          <a:custGeom>
            <a:avLst/>
            <a:gdLst/>
            <a:ahLst/>
            <a:cxnLst/>
            <a:rect l="l" t="t" r="r" b="b"/>
            <a:pathLst>
              <a:path w="2886670" h="289520">
                <a:moveTo>
                  <a:pt x="144760" y="0"/>
                </a:moveTo>
                <a:lnTo>
                  <a:pt x="2741910" y="0"/>
                </a:lnTo>
                <a:arcTo hR="144760" wR="144760" stAng="16200000" swAng="5400000"/>
                <a:lnTo>
                  <a:pt x="2886670"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EJEMPLOS · TRES CAMIONES R7</a:t>
            </a:r>
            <a:endParaRPr lang="en-US" sz="1200" dirty="0"/>
          </a:p>
        </p:txBody>
      </p:sp>
      <p:sp>
        <p:nvSpPr>
          <p:cNvPr id="3" name="Text 1"/>
          <p:cNvSpPr/>
          <p:nvPr>
            <p:ph type="title"/>
          </p:nvPr>
        </p:nvSpPr>
        <p:spPr>
          <a:xfrm>
            <a:off x="812800" y="1076920"/>
            <a:ext cx="10883392"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Así queda el recorrido: leído por la cámara, reconstruido o deducido</a:t>
            </a:r>
            <a:endParaRPr lang="en-US" sz="2200" dirty="0"/>
          </a:p>
        </p:txBody>
      </p:sp>
      <p:sp>
        <p:nvSpPr>
          <p:cNvPr id="4" name="Text 2"/>
          <p:cNvSpPr/>
          <p:nvPr/>
        </p:nvSpPr>
        <p:spPr>
          <a:xfrm>
            <a:off x="812800" y="1536601"/>
            <a:ext cx="1676400" cy="528241"/>
          </a:xfrm>
          <a:prstGeom prst="rect">
            <a:avLst/>
          </a:prstGeom>
          <a:solidFill>
            <a:srgbClr val="0B5638"/>
          </a:solidFill>
          <a:ln/>
        </p:spPr>
        <p:txBody>
          <a:bodyPr wrap="square" lIns="76200" tIns="50800" rIns="2540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Camión</a:t>
            </a:r>
            <a:endParaRPr lang="en-US" sz="1200" dirty="0"/>
          </a:p>
        </p:txBody>
      </p:sp>
      <p:sp>
        <p:nvSpPr>
          <p:cNvPr id="5" name="Text 3"/>
          <p:cNvSpPr/>
          <p:nvPr/>
        </p:nvSpPr>
        <p:spPr>
          <a:xfrm>
            <a:off x="24892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Preingreso</a:t>
            </a:r>
            <a:endParaRPr lang="en-US" sz="1200" dirty="0"/>
          </a:p>
        </p:txBody>
      </p:sp>
      <p:sp>
        <p:nvSpPr>
          <p:cNvPr id="6" name="Text 4"/>
          <p:cNvSpPr/>
          <p:nvPr/>
        </p:nvSpPr>
        <p:spPr>
          <a:xfrm>
            <a:off x="36004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Calada</a:t>
            </a:r>
            <a:endParaRPr lang="en-US" sz="1200" dirty="0"/>
          </a:p>
        </p:txBody>
      </p:sp>
      <p:sp>
        <p:nvSpPr>
          <p:cNvPr id="7" name="Text 5"/>
          <p:cNvSpPr/>
          <p:nvPr/>
        </p:nvSpPr>
        <p:spPr>
          <a:xfrm>
            <a:off x="47117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Salida</a:t>
            </a:r>
            <a:endParaRPr lang="en-US" sz="1200" dirty="0"/>
          </a:p>
        </p:txBody>
      </p:sp>
      <p:sp>
        <p:nvSpPr>
          <p:cNvPr id="8" name="Text 6"/>
          <p:cNvSpPr/>
          <p:nvPr/>
        </p:nvSpPr>
        <p:spPr>
          <a:xfrm>
            <a:off x="58229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Ingreso SL</a:t>
            </a:r>
            <a:endParaRPr lang="en-US" sz="1200" dirty="0"/>
          </a:p>
        </p:txBody>
      </p:sp>
      <p:sp>
        <p:nvSpPr>
          <p:cNvPr id="9" name="Text 7"/>
          <p:cNvSpPr/>
          <p:nvPr/>
        </p:nvSpPr>
        <p:spPr>
          <a:xfrm>
            <a:off x="69342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Balanza ingr. SL</a:t>
            </a:r>
            <a:endParaRPr lang="en-US" sz="1200" dirty="0"/>
          </a:p>
        </p:txBody>
      </p:sp>
      <p:sp>
        <p:nvSpPr>
          <p:cNvPr id="10" name="Text 8"/>
          <p:cNvSpPr/>
          <p:nvPr/>
        </p:nvSpPr>
        <p:spPr>
          <a:xfrm>
            <a:off x="80454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Volcables</a:t>
            </a:r>
            <a:endParaRPr lang="en-US" sz="1200" dirty="0"/>
          </a:p>
        </p:txBody>
      </p:sp>
      <p:sp>
        <p:nvSpPr>
          <p:cNvPr id="11" name="Text 9"/>
          <p:cNvSpPr/>
          <p:nvPr/>
        </p:nvSpPr>
        <p:spPr>
          <a:xfrm>
            <a:off x="915670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Balanza egr. SL</a:t>
            </a:r>
            <a:endParaRPr lang="en-US" sz="1200" dirty="0"/>
          </a:p>
        </p:txBody>
      </p:sp>
      <p:sp>
        <p:nvSpPr>
          <p:cNvPr id="12" name="Text 10"/>
          <p:cNvSpPr/>
          <p:nvPr/>
        </p:nvSpPr>
        <p:spPr>
          <a:xfrm>
            <a:off x="10267950" y="1536601"/>
            <a:ext cx="1111250" cy="528241"/>
          </a:xfrm>
          <a:prstGeom prst="rect">
            <a:avLst/>
          </a:prstGeom>
          <a:solidFill>
            <a:srgbClr val="0B5638"/>
          </a:solidFill>
          <a:ln/>
        </p:spPr>
        <p:txBody>
          <a:bodyPr wrap="square" lIns="50800" tIns="50800" rIns="0" bIns="2540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Egreso SL</a:t>
            </a:r>
            <a:endParaRPr lang="en-US" sz="1200" dirty="0"/>
          </a:p>
        </p:txBody>
      </p:sp>
      <p:sp>
        <p:nvSpPr>
          <p:cNvPr id="13" name="Text 11"/>
          <p:cNvSpPr/>
          <p:nvPr/>
        </p:nvSpPr>
        <p:spPr>
          <a:xfrm>
            <a:off x="815975" y="2068016"/>
            <a:ext cx="1670050" cy="529431"/>
          </a:xfrm>
          <a:prstGeom prst="rect">
            <a:avLst/>
          </a:prstGeom>
          <a:solidFill>
            <a:srgbClr val="FCFDFB"/>
          </a:solidFill>
          <a:ln w="6350">
            <a:solidFill>
              <a:srgbClr val="D3E2D7"/>
            </a:solidFill>
            <a:prstDash val="solid"/>
          </a:ln>
        </p:spPr>
        <p:txBody>
          <a:bodyPr wrap="square" lIns="79375" tIns="66675" rIns="28575" bIns="41275" rtlCol="0" anchor="t">
            <a:normAutofit/>
          </a:bodyPr>
          <a:lstStyle/>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AB436BP</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8 de 8 por cámara</a:t>
            </a:r>
            <a:endParaRPr lang="en-US" sz="1200" dirty="0"/>
          </a:p>
        </p:txBody>
      </p:sp>
      <p:sp>
        <p:nvSpPr>
          <p:cNvPr id="14" name="Text 12"/>
          <p:cNvSpPr/>
          <p:nvPr/>
        </p:nvSpPr>
        <p:spPr>
          <a:xfrm>
            <a:off x="24923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07:55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5" name="Text 13"/>
          <p:cNvSpPr/>
          <p:nvPr/>
        </p:nvSpPr>
        <p:spPr>
          <a:xfrm>
            <a:off x="36036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08:44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6" name="Text 14"/>
          <p:cNvSpPr/>
          <p:nvPr/>
        </p:nvSpPr>
        <p:spPr>
          <a:xfrm>
            <a:off x="47148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08:54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7" name="Text 15"/>
          <p:cNvSpPr/>
          <p:nvPr/>
        </p:nvSpPr>
        <p:spPr>
          <a:xfrm>
            <a:off x="58261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09:04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8" name="Text 16"/>
          <p:cNvSpPr/>
          <p:nvPr/>
        </p:nvSpPr>
        <p:spPr>
          <a:xfrm>
            <a:off x="69373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09:37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19" name="Text 17"/>
          <p:cNvSpPr/>
          <p:nvPr/>
        </p:nvSpPr>
        <p:spPr>
          <a:xfrm>
            <a:off x="80486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10:40</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20" name="Text 18"/>
          <p:cNvSpPr/>
          <p:nvPr/>
        </p:nvSpPr>
        <p:spPr>
          <a:xfrm>
            <a:off x="915987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10:49</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21" name="Text 19"/>
          <p:cNvSpPr/>
          <p:nvPr/>
        </p:nvSpPr>
        <p:spPr>
          <a:xfrm>
            <a:off x="10271125" y="2068016"/>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10:52</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AB436BP</a:t>
            </a:r>
            <a:endParaRPr lang="en-US" sz="1200" dirty="0"/>
          </a:p>
        </p:txBody>
      </p:sp>
      <p:sp>
        <p:nvSpPr>
          <p:cNvPr id="22" name="Text 20"/>
          <p:cNvSpPr/>
          <p:nvPr/>
        </p:nvSpPr>
        <p:spPr>
          <a:xfrm>
            <a:off x="815975" y="2603798"/>
            <a:ext cx="1670050" cy="529431"/>
          </a:xfrm>
          <a:prstGeom prst="rect">
            <a:avLst/>
          </a:prstGeom>
          <a:solidFill>
            <a:srgbClr val="FCFDFB"/>
          </a:solidFill>
          <a:ln w="6350">
            <a:solidFill>
              <a:srgbClr val="D3E2D7"/>
            </a:solidFill>
            <a:prstDash val="solid"/>
          </a:ln>
        </p:spPr>
        <p:txBody>
          <a:bodyPr wrap="square" lIns="79375" tIns="66675" rIns="28575" bIns="41275" rtlCol="0" anchor="t">
            <a:normAutofit/>
          </a:bodyPr>
          <a:lstStyle/>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KQI971</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3 reconstruidos</a:t>
            </a:r>
            <a:endParaRPr lang="en-US" sz="1200" dirty="0"/>
          </a:p>
        </p:txBody>
      </p:sp>
      <p:sp>
        <p:nvSpPr>
          <p:cNvPr id="23" name="Text 21"/>
          <p:cNvSpPr/>
          <p:nvPr/>
        </p:nvSpPr>
        <p:spPr>
          <a:xfrm>
            <a:off x="249237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21:14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4" name="Text 22"/>
          <p:cNvSpPr/>
          <p:nvPr/>
        </p:nvSpPr>
        <p:spPr>
          <a:xfrm>
            <a:off x="360362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22:24</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5" name="Text 23"/>
          <p:cNvSpPr/>
          <p:nvPr/>
        </p:nvSpPr>
        <p:spPr>
          <a:xfrm>
            <a:off x="471487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22:35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6" name="Text 24"/>
          <p:cNvSpPr/>
          <p:nvPr/>
        </p:nvSpPr>
        <p:spPr>
          <a:xfrm>
            <a:off x="582612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22:45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7" name="Text 25"/>
          <p:cNvSpPr/>
          <p:nvPr/>
        </p:nvSpPr>
        <p:spPr>
          <a:xfrm>
            <a:off x="6937375" y="2603798"/>
            <a:ext cx="1104900" cy="529431"/>
          </a:xfrm>
          <a:prstGeom prst="rect">
            <a:avLst/>
          </a:prstGeom>
          <a:solidFill>
            <a:srgbClr val="7FB89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22:48</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KOI971</a:t>
            </a:r>
            <a:endParaRPr lang="en-US" sz="1200" dirty="0"/>
          </a:p>
        </p:txBody>
      </p:sp>
      <p:sp>
        <p:nvSpPr>
          <p:cNvPr id="28" name="Text 26"/>
          <p:cNvSpPr/>
          <p:nvPr/>
        </p:nvSpPr>
        <p:spPr>
          <a:xfrm>
            <a:off x="8048625" y="2603798"/>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22:53</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KQI971</a:t>
            </a:r>
            <a:endParaRPr lang="en-US" sz="1200" dirty="0"/>
          </a:p>
        </p:txBody>
      </p:sp>
      <p:sp>
        <p:nvSpPr>
          <p:cNvPr id="29" name="Text 27"/>
          <p:cNvSpPr/>
          <p:nvPr/>
        </p:nvSpPr>
        <p:spPr>
          <a:xfrm>
            <a:off x="9159875" y="2603798"/>
            <a:ext cx="1104900" cy="529431"/>
          </a:xfrm>
          <a:prstGeom prst="rect">
            <a:avLst/>
          </a:prstGeom>
          <a:solidFill>
            <a:srgbClr val="7FB89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23:07</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QI971</a:t>
            </a:r>
            <a:endParaRPr lang="en-US" sz="1200" dirty="0"/>
          </a:p>
        </p:txBody>
      </p:sp>
      <p:sp>
        <p:nvSpPr>
          <p:cNvPr id="30" name="Text 28"/>
          <p:cNvSpPr/>
          <p:nvPr/>
        </p:nvSpPr>
        <p:spPr>
          <a:xfrm>
            <a:off x="10271125" y="2603798"/>
            <a:ext cx="1104900" cy="529431"/>
          </a:xfrm>
          <a:prstGeom prst="rect">
            <a:avLst/>
          </a:prstGeom>
          <a:solidFill>
            <a:srgbClr val="7FB89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23:11</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KOI971</a:t>
            </a:r>
            <a:endParaRPr lang="en-US" sz="1200" dirty="0"/>
          </a:p>
        </p:txBody>
      </p:sp>
      <p:sp>
        <p:nvSpPr>
          <p:cNvPr id="31" name="Text 29"/>
          <p:cNvSpPr/>
          <p:nvPr/>
        </p:nvSpPr>
        <p:spPr>
          <a:xfrm>
            <a:off x="815975" y="3139579"/>
            <a:ext cx="1670050" cy="529431"/>
          </a:xfrm>
          <a:prstGeom prst="rect">
            <a:avLst/>
          </a:prstGeom>
          <a:solidFill>
            <a:srgbClr val="FCFDFB"/>
          </a:solidFill>
          <a:ln w="6350">
            <a:solidFill>
              <a:srgbClr val="D3E2D7"/>
            </a:solidFill>
            <a:prstDash val="solid"/>
          </a:ln>
        </p:spPr>
        <p:txBody>
          <a:bodyPr wrap="square" lIns="79375" tIns="66675" rIns="28575" bIns="41275" rtlCol="0" anchor="t">
            <a:normAutofit/>
          </a:bodyPr>
          <a:lstStyle/>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AI342EV</a:t>
            </a:r>
            <a:endParaRPr lang="en-US" sz="1200" dirty="0"/>
          </a:p>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2 deducidos</a:t>
            </a:r>
            <a:endParaRPr lang="en-US" sz="1200" dirty="0"/>
          </a:p>
        </p:txBody>
      </p:sp>
      <p:sp>
        <p:nvSpPr>
          <p:cNvPr id="32" name="Text 30"/>
          <p:cNvSpPr/>
          <p:nvPr/>
        </p:nvSpPr>
        <p:spPr>
          <a:xfrm>
            <a:off x="249237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20:37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3" name="Text 31"/>
          <p:cNvSpPr/>
          <p:nvPr/>
        </p:nvSpPr>
        <p:spPr>
          <a:xfrm>
            <a:off x="360362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23:11</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4" name="Text 32"/>
          <p:cNvSpPr/>
          <p:nvPr/>
        </p:nvSpPr>
        <p:spPr>
          <a:xfrm>
            <a:off x="471487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23:17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5" name="Text 33"/>
          <p:cNvSpPr/>
          <p:nvPr/>
        </p:nvSpPr>
        <p:spPr>
          <a:xfrm>
            <a:off x="582612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23:25</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6" name="Text 34"/>
          <p:cNvSpPr/>
          <p:nvPr/>
        </p:nvSpPr>
        <p:spPr>
          <a:xfrm>
            <a:off x="693737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23:37</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37" name="Text 35"/>
          <p:cNvSpPr/>
          <p:nvPr/>
        </p:nvSpPr>
        <p:spPr>
          <a:xfrm>
            <a:off x="8048625" y="3139579"/>
            <a:ext cx="1104900" cy="529431"/>
          </a:xfrm>
          <a:prstGeom prst="rect">
            <a:avLst/>
          </a:prstGeom>
          <a:solidFill>
            <a:srgbClr val="9C8FC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deducido</a:t>
            </a:r>
            <a:endParaRPr lang="en-US" sz="1200" dirty="0"/>
          </a:p>
        </p:txBody>
      </p:sp>
      <p:sp>
        <p:nvSpPr>
          <p:cNvPr id="38" name="Text 36"/>
          <p:cNvSpPr/>
          <p:nvPr/>
        </p:nvSpPr>
        <p:spPr>
          <a:xfrm>
            <a:off x="9159875" y="3139579"/>
            <a:ext cx="1104900" cy="529431"/>
          </a:xfrm>
          <a:prstGeom prst="rect">
            <a:avLst/>
          </a:prstGeom>
          <a:solidFill>
            <a:srgbClr val="9C8FC4"/>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deducido</a:t>
            </a:r>
            <a:endParaRPr lang="en-US" sz="1200" dirty="0"/>
          </a:p>
        </p:txBody>
      </p:sp>
      <p:sp>
        <p:nvSpPr>
          <p:cNvPr id="39" name="Text 37"/>
          <p:cNvSpPr/>
          <p:nvPr/>
        </p:nvSpPr>
        <p:spPr>
          <a:xfrm>
            <a:off x="10271125" y="3139579"/>
            <a:ext cx="1104900" cy="529431"/>
          </a:xfrm>
          <a:prstGeom prst="rect">
            <a:avLst/>
          </a:prstGeom>
          <a:solidFill>
            <a:srgbClr val="0B5638"/>
          </a:solidFill>
          <a:ln w="6350">
            <a:solidFill>
              <a:srgbClr val="F5F8F4"/>
            </a:solidFill>
            <a:prstDash val="solid"/>
          </a:ln>
        </p:spPr>
        <p:txBody>
          <a:bodyPr wrap="square" lIns="53975" tIns="66675" rIns="3175" bIns="41275" rtlCol="0" anchor="t">
            <a:normAutofit/>
          </a:bodyPr>
          <a:lstStyle/>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23:52</a:t>
            </a:r>
            <a:endParaRPr lang="en-US" sz="1200" dirty="0"/>
          </a:p>
          <a:p>
            <a:pPr algn="l" indent="0" marL="0">
              <a:lnSpc>
                <a:spcPts val="1560"/>
              </a:lnSpc>
              <a:buNone/>
            </a:pPr>
            <a:r>
              <a:rPr lang="en-US" sz="1200" dirty="0">
                <a:solidFill>
                  <a:srgbClr val="F1F6F2"/>
                </a:solidFill>
                <a:latin typeface="IBM Plex Sans" pitchFamily="34" charset="0"/>
                <a:ea typeface="IBM Plex Sans" pitchFamily="34" charset="-122"/>
                <a:cs typeface="IBM Plex Sans" pitchFamily="34" charset="-120"/>
              </a:rPr>
              <a:t>AI342EV</a:t>
            </a:r>
            <a:endParaRPr lang="en-US" sz="1200" dirty="0"/>
          </a:p>
        </p:txBody>
      </p:sp>
      <p:sp>
        <p:nvSpPr>
          <p:cNvPr id="40" name="Shape 38"/>
          <p:cNvSpPr/>
          <p:nvPr/>
        </p:nvSpPr>
        <p:spPr>
          <a:xfrm>
            <a:off x="815975" y="3827760"/>
            <a:ext cx="3431084" cy="793552"/>
          </a:xfrm>
          <a:prstGeom prst="roundRect">
            <a:avLst>
              <a:gd name="adj" fmla="val 7602"/>
            </a:avLst>
          </a:prstGeom>
          <a:solidFill>
            <a:srgbClr val="FCFDFB"/>
          </a:solidFill>
          <a:ln w="6350">
            <a:solidFill>
              <a:srgbClr val="C9DECF"/>
            </a:solidFill>
            <a:prstDash val="solid"/>
          </a:ln>
        </p:spPr>
      </p:sp>
      <p:sp>
        <p:nvSpPr>
          <p:cNvPr id="41" name="Text 39"/>
          <p:cNvSpPr/>
          <p:nvPr/>
        </p:nvSpPr>
        <p:spPr>
          <a:xfrm>
            <a:off x="933450" y="3907135"/>
            <a:ext cx="32920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5638"/>
                </a:solidFill>
                <a:latin typeface="IBM Plex Sans" pitchFamily="34" charset="0"/>
                <a:ea typeface="IBM Plex Sans" pitchFamily="34" charset="-122"/>
                <a:cs typeface="IBM Plex Sans" pitchFamily="34" charset="-120"/>
              </a:rPr>
              <a:t>Leído por la cámara</a:t>
            </a:r>
            <a:endParaRPr lang="en-US" sz="1200" dirty="0"/>
          </a:p>
        </p:txBody>
      </p:sp>
      <p:sp>
        <p:nvSpPr>
          <p:cNvPr id="42" name="Text 40"/>
          <p:cNvSpPr/>
          <p:nvPr/>
        </p:nvSpPr>
        <p:spPr>
          <a:xfrm>
            <a:off x="933450" y="4145855"/>
            <a:ext cx="3292018"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La patente salió bien en cada punto.</a:t>
            </a:r>
            <a:endParaRPr lang="en-US" sz="1200" dirty="0"/>
          </a:p>
        </p:txBody>
      </p:sp>
      <p:sp>
        <p:nvSpPr>
          <p:cNvPr id="43" name="Shape 41"/>
          <p:cNvSpPr/>
          <p:nvPr/>
        </p:nvSpPr>
        <p:spPr>
          <a:xfrm>
            <a:off x="4380409" y="3827760"/>
            <a:ext cx="3431084" cy="793552"/>
          </a:xfrm>
          <a:prstGeom prst="roundRect">
            <a:avLst>
              <a:gd name="adj" fmla="val 7602"/>
            </a:avLst>
          </a:prstGeom>
          <a:solidFill>
            <a:srgbClr val="FCFDFB"/>
          </a:solidFill>
          <a:ln w="6350">
            <a:solidFill>
              <a:srgbClr val="C9DECF"/>
            </a:solidFill>
            <a:prstDash val="solid"/>
          </a:ln>
        </p:spPr>
      </p:sp>
      <p:sp>
        <p:nvSpPr>
          <p:cNvPr id="44" name="Text 42"/>
          <p:cNvSpPr/>
          <p:nvPr/>
        </p:nvSpPr>
        <p:spPr>
          <a:xfrm>
            <a:off x="4497884" y="3907135"/>
            <a:ext cx="32920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B47"/>
                </a:solidFill>
                <a:latin typeface="IBM Plex Sans" pitchFamily="34" charset="0"/>
                <a:ea typeface="IBM Plex Sans" pitchFamily="34" charset="-122"/>
                <a:cs typeface="IBM Plex Sans" pitchFamily="34" charset="-120"/>
              </a:rPr>
              <a:t>Reconstruido</a:t>
            </a:r>
            <a:endParaRPr lang="en-US" sz="1200" dirty="0"/>
          </a:p>
        </p:txBody>
      </p:sp>
      <p:sp>
        <p:nvSpPr>
          <p:cNvPr id="45" name="Text 43"/>
          <p:cNvSpPr/>
          <p:nvPr/>
        </p:nvSpPr>
        <p:spPr>
          <a:xfrm>
            <a:off x="4497884" y="4145855"/>
            <a:ext cx="329201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La cámara lo capturó con la patente mal. Era el único camión del lote con ese paso pendiente.</a:t>
            </a:r>
            <a:endParaRPr lang="en-US" sz="1200" dirty="0"/>
          </a:p>
        </p:txBody>
      </p:sp>
      <p:sp>
        <p:nvSpPr>
          <p:cNvPr id="46" name="Shape 44"/>
          <p:cNvSpPr/>
          <p:nvPr/>
        </p:nvSpPr>
        <p:spPr>
          <a:xfrm>
            <a:off x="7944842" y="3827760"/>
            <a:ext cx="3431084" cy="793552"/>
          </a:xfrm>
          <a:prstGeom prst="roundRect">
            <a:avLst>
              <a:gd name="adj" fmla="val 7602"/>
            </a:avLst>
          </a:prstGeom>
          <a:solidFill>
            <a:srgbClr val="FCFDFB"/>
          </a:solidFill>
          <a:ln w="6350">
            <a:solidFill>
              <a:srgbClr val="C9DECF"/>
            </a:solidFill>
            <a:prstDash val="solid"/>
          </a:ln>
        </p:spPr>
      </p:sp>
      <p:sp>
        <p:nvSpPr>
          <p:cNvPr id="47" name="Text 45"/>
          <p:cNvSpPr/>
          <p:nvPr/>
        </p:nvSpPr>
        <p:spPr>
          <a:xfrm>
            <a:off x="8062317" y="3907135"/>
            <a:ext cx="32920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B3D7A"/>
                </a:solidFill>
                <a:latin typeface="IBM Plex Sans" pitchFamily="34" charset="0"/>
                <a:ea typeface="IBM Plex Sans" pitchFamily="34" charset="-122"/>
                <a:cs typeface="IBM Plex Sans" pitchFamily="34" charset="-120"/>
              </a:rPr>
              <a:t>Deducido</a:t>
            </a:r>
            <a:endParaRPr lang="en-US" sz="1200" dirty="0"/>
          </a:p>
        </p:txBody>
      </p:sp>
      <p:sp>
        <p:nvSpPr>
          <p:cNvPr id="48" name="Text 46"/>
          <p:cNvSpPr/>
          <p:nvPr/>
        </p:nvSpPr>
        <p:spPr>
          <a:xfrm>
            <a:off x="8062317" y="4145855"/>
            <a:ext cx="329201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D52"/>
                </a:solidFill>
                <a:latin typeface="IBM Plex Sans" pitchFamily="34" charset="0"/>
                <a:ea typeface="IBM Plex Sans" pitchFamily="34" charset="-122"/>
                <a:cs typeface="IBM Plex Sans" pitchFamily="34" charset="-120"/>
              </a:rPr>
              <a:t>Sin captura, pero se lo vio antes y después: tuvo que pasar por ahí.</a:t>
            </a:r>
            <a:endParaRPr lang="en-US" sz="1200" dirty="0"/>
          </a:p>
        </p:txBody>
      </p:sp>
      <p:pic>
        <p:nvPicPr>
          <p:cNvPr id="49"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50"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
        <p:nvSpPr>
          <p:cNvPr id="51" name="Text 4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Hora de cámara · AB436BP y AI342EV el martes 13/10, KQI971 el sábado 17/10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4458494" cy="289520"/>
          </a:xfrm>
          <a:custGeom>
            <a:avLst/>
            <a:gdLst/>
            <a:ahLst/>
            <a:cxnLst/>
            <a:rect l="l" t="t" r="r" b="b"/>
            <a:pathLst>
              <a:path w="4458494" h="289520">
                <a:moveTo>
                  <a:pt x="144760" y="0"/>
                </a:moveTo>
                <a:lnTo>
                  <a:pt x="4313734" y="0"/>
                </a:lnTo>
                <a:arcTo hR="144760" wR="144760" stAng="16200000" swAng="5400000"/>
                <a:lnTo>
                  <a:pt x="4458494" y="144760"/>
                </a:lnTo>
                <a:arcTo hR="144760" wR="144760" stAng="0" swAng="5400000"/>
                <a:lnTo>
                  <a:pt x="144760" y="289520"/>
                </a:lnTo>
                <a:arcTo hR="144760" wR="144760" stAng="5400000" swAng="5400000"/>
                <a:lnTo>
                  <a:pt x="0" y="144760"/>
                </a:lnTo>
                <a:arcTo hR="144760" wR="144760" stAng="10800000" swAng="5400000"/>
                <a:close/>
              </a:path>
            </a:pathLst>
          </a:custGeom>
          <a:solidFill>
            <a:srgbClr val="0B5638"/>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LEÍDO POR LA CÁMARA · AB436BP · MARTES 13/10</a:t>
            </a:r>
            <a:endParaRPr lang="en-US" sz="1200" dirty="0"/>
          </a:p>
        </p:txBody>
      </p:sp>
      <p:sp>
        <p:nvSpPr>
          <p:cNvPr id="3" name="Text 1"/>
          <p:cNvSpPr/>
          <p:nvPr>
            <p:ph type="title"/>
          </p:nvPr>
        </p:nvSpPr>
        <p:spPr>
          <a:xfrm>
            <a:off x="812800" y="1076920"/>
            <a:ext cx="10883392"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Recorrido completo: las cámaras leyeron la patente en los 8 puntos</a:t>
            </a:r>
            <a:endParaRPr lang="en-US" sz="2200" dirty="0"/>
          </a:p>
        </p:txBody>
      </p:sp>
      <p:pic>
        <p:nvPicPr>
          <p:cNvPr id="4" name="Image 0" descr="AB436BP en la cámara de ingreso del puerto a las 09:04">    </p:cNvPr>
          <p:cNvPicPr>
            <a:picLocks noChangeAspect="1"/>
          </p:cNvPicPr>
          <p:nvPr/>
        </p:nvPicPr>
        <p:blipFill>
          <a:blip r:embed="rId1"/>
          <a:srcRect l="0" r="0" t="61" b="61"/>
          <a:stretch/>
        </p:blipFill>
        <p:spPr>
          <a:xfrm>
            <a:off x="812800" y="1536601"/>
            <a:ext cx="4445000" cy="2616200"/>
          </a:xfrm>
          <a:prstGeom prst="roundRect">
            <a:avLst>
              <a:gd name="adj" fmla="val 2913"/>
            </a:avLst>
          </a:prstGeom>
        </p:spPr>
      </p:pic>
      <p:sp>
        <p:nvSpPr>
          <p:cNvPr id="5" name="Text 2"/>
          <p:cNvSpPr/>
          <p:nvPr/>
        </p:nvSpPr>
        <p:spPr>
          <a:xfrm>
            <a:off x="812800" y="421630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Ingreso del puerto · 09:04 · SLZIngCamFrente</a:t>
            </a:r>
            <a:endParaRPr lang="en-US" sz="1200" dirty="0"/>
          </a:p>
        </p:txBody>
      </p:sp>
      <p:sp>
        <p:nvSpPr>
          <p:cNvPr id="6" name="Shape 3"/>
          <p:cNvSpPr/>
          <p:nvPr/>
        </p:nvSpPr>
        <p:spPr>
          <a:xfrm>
            <a:off x="5514975" y="1539776"/>
            <a:ext cx="2863850" cy="590550"/>
          </a:xfrm>
          <a:prstGeom prst="roundRect">
            <a:avLst>
              <a:gd name="adj" fmla="val 10215"/>
            </a:avLst>
          </a:prstGeom>
          <a:solidFill>
            <a:srgbClr val="FCFDFB"/>
          </a:solidFill>
          <a:ln w="6350">
            <a:solidFill>
              <a:srgbClr val="C9DECF"/>
            </a:solidFill>
            <a:prstDash val="solid"/>
          </a:ln>
        </p:spPr>
      </p:sp>
      <p:sp>
        <p:nvSpPr>
          <p:cNvPr id="7" name="Shape 4"/>
          <p:cNvSpPr/>
          <p:nvPr/>
        </p:nvSpPr>
        <p:spPr>
          <a:xfrm>
            <a:off x="5607050" y="1606451"/>
            <a:ext cx="1143000" cy="457200"/>
          </a:xfrm>
          <a:prstGeom prst="roundRect">
            <a:avLst>
              <a:gd name="adj" fmla="val 8333"/>
            </a:avLst>
          </a:prstGeom>
          <a:solidFill>
            <a:srgbClr val="14281E"/>
          </a:solidFill>
          <a:ln/>
        </p:spPr>
      </p:sp>
      <p:pic>
        <p:nvPicPr>
          <p:cNvPr id="8" name="Image 1" descr="Patente AB436BP leída en Preingreso">    </p:cNvPr>
          <p:cNvPicPr>
            <a:picLocks noChangeAspect="1"/>
          </p:cNvPicPr>
          <p:nvPr/>
        </p:nvPicPr>
        <p:blipFill>
          <a:blip r:embed="rId2"/>
          <a:srcRect l="0" r="0" t="0" b="0"/>
          <a:stretch/>
        </p:blipFill>
        <p:spPr>
          <a:xfrm>
            <a:off x="5607050" y="1606451"/>
            <a:ext cx="1143000" cy="457200"/>
          </a:xfrm>
          <a:prstGeom prst="roundRect">
            <a:avLst>
              <a:gd name="adj" fmla="val 8333"/>
            </a:avLst>
          </a:prstGeom>
        </p:spPr>
      </p:pic>
      <p:sp>
        <p:nvSpPr>
          <p:cNvPr id="9" name="Text 5"/>
          <p:cNvSpPr/>
          <p:nvPr/>
        </p:nvSpPr>
        <p:spPr>
          <a:xfrm>
            <a:off x="6851650" y="1637010"/>
            <a:ext cx="784027"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Preingreso</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07:55</a:t>
            </a:r>
            <a:endParaRPr lang="en-US" sz="1200" dirty="0"/>
          </a:p>
        </p:txBody>
      </p:sp>
      <p:sp>
        <p:nvSpPr>
          <p:cNvPr id="10" name="Shape 6"/>
          <p:cNvSpPr/>
          <p:nvPr/>
        </p:nvSpPr>
        <p:spPr>
          <a:xfrm>
            <a:off x="8461375" y="1539776"/>
            <a:ext cx="2863850" cy="590550"/>
          </a:xfrm>
          <a:prstGeom prst="roundRect">
            <a:avLst>
              <a:gd name="adj" fmla="val 10215"/>
            </a:avLst>
          </a:prstGeom>
          <a:solidFill>
            <a:srgbClr val="FCFDFB"/>
          </a:solidFill>
          <a:ln w="6350">
            <a:solidFill>
              <a:srgbClr val="C9DECF"/>
            </a:solidFill>
            <a:prstDash val="solid"/>
          </a:ln>
        </p:spPr>
      </p:sp>
      <p:sp>
        <p:nvSpPr>
          <p:cNvPr id="11" name="Shape 7"/>
          <p:cNvSpPr/>
          <p:nvPr/>
        </p:nvSpPr>
        <p:spPr>
          <a:xfrm>
            <a:off x="8553450" y="1606451"/>
            <a:ext cx="1143000" cy="457200"/>
          </a:xfrm>
          <a:prstGeom prst="roundRect">
            <a:avLst>
              <a:gd name="adj" fmla="val 8333"/>
            </a:avLst>
          </a:prstGeom>
          <a:solidFill>
            <a:srgbClr val="14281E"/>
          </a:solidFill>
          <a:ln/>
        </p:spPr>
      </p:sp>
      <p:pic>
        <p:nvPicPr>
          <p:cNvPr id="12" name="Image 2" descr="Patente AB436BP leída en Calada">    </p:cNvPr>
          <p:cNvPicPr>
            <a:picLocks noChangeAspect="1"/>
          </p:cNvPicPr>
          <p:nvPr/>
        </p:nvPicPr>
        <p:blipFill>
          <a:blip r:embed="rId3"/>
          <a:stretch>
            <a:fillRect/>
          </a:stretch>
        </p:blipFill>
        <p:spPr>
          <a:xfrm>
            <a:off x="8591550" y="1606451"/>
            <a:ext cx="1066800" cy="457200"/>
          </a:xfrm>
          <a:prstGeom prst="rect">
            <a:avLst/>
          </a:prstGeom>
        </p:spPr>
      </p:pic>
      <p:sp>
        <p:nvSpPr>
          <p:cNvPr id="13" name="Text 8"/>
          <p:cNvSpPr/>
          <p:nvPr/>
        </p:nvSpPr>
        <p:spPr>
          <a:xfrm>
            <a:off x="9798050" y="1637010"/>
            <a:ext cx="51950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Calada</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08:44</a:t>
            </a:r>
            <a:endParaRPr lang="en-US" sz="1200" dirty="0"/>
          </a:p>
        </p:txBody>
      </p:sp>
      <p:sp>
        <p:nvSpPr>
          <p:cNvPr id="14" name="Shape 9"/>
          <p:cNvSpPr/>
          <p:nvPr/>
        </p:nvSpPr>
        <p:spPr>
          <a:xfrm>
            <a:off x="5514975" y="2212876"/>
            <a:ext cx="2863850" cy="590550"/>
          </a:xfrm>
          <a:prstGeom prst="roundRect">
            <a:avLst>
              <a:gd name="adj" fmla="val 10215"/>
            </a:avLst>
          </a:prstGeom>
          <a:solidFill>
            <a:srgbClr val="FCFDFB"/>
          </a:solidFill>
          <a:ln w="6350">
            <a:solidFill>
              <a:srgbClr val="C9DECF"/>
            </a:solidFill>
            <a:prstDash val="solid"/>
          </a:ln>
        </p:spPr>
      </p:sp>
      <p:sp>
        <p:nvSpPr>
          <p:cNvPr id="15" name="Shape 10"/>
          <p:cNvSpPr/>
          <p:nvPr/>
        </p:nvSpPr>
        <p:spPr>
          <a:xfrm>
            <a:off x="5607050" y="2279551"/>
            <a:ext cx="1143000" cy="457200"/>
          </a:xfrm>
          <a:prstGeom prst="roundRect">
            <a:avLst>
              <a:gd name="adj" fmla="val 8333"/>
            </a:avLst>
          </a:prstGeom>
          <a:solidFill>
            <a:srgbClr val="14281E"/>
          </a:solidFill>
          <a:ln/>
        </p:spPr>
      </p:sp>
      <p:pic>
        <p:nvPicPr>
          <p:cNvPr id="16" name="Image 3" descr="Patente AB436BP leída en Salida">    </p:cNvPr>
          <p:cNvPicPr>
            <a:picLocks noChangeAspect="1"/>
          </p:cNvPicPr>
          <p:nvPr/>
        </p:nvPicPr>
        <p:blipFill>
          <a:blip r:embed="rId4"/>
          <a:stretch>
            <a:fillRect/>
          </a:stretch>
        </p:blipFill>
        <p:spPr>
          <a:xfrm>
            <a:off x="5623379" y="2279551"/>
            <a:ext cx="1110343" cy="457200"/>
          </a:xfrm>
          <a:custGeom>
            <a:avLst/>
            <a:gdLst/>
            <a:ahLst/>
            <a:cxnLst/>
            <a:rect l="l" t="t" r="r" b="b"/>
            <a:pathLst>
              <a:path w="1110343" h="457200">
                <a:moveTo>
                  <a:pt x="0" y="6833"/>
                </a:moveTo>
                <a:arcTo wR="38100" hR="38100" stAng="14109006" swAng="2090994"/>
                <a:lnTo>
                  <a:pt x="1088571" y="0"/>
                </a:lnTo>
                <a:arcTo wR="38100" hR="38100" stAng="16200000" swAng="2090994"/>
                <a:lnTo>
                  <a:pt x="1110343" y="450367"/>
                </a:lnTo>
                <a:arcTo wR="38100" hR="38100" stAng="3309006" swAng="2090994"/>
                <a:lnTo>
                  <a:pt x="21771" y="457200"/>
                </a:lnTo>
                <a:arcTo wR="38100" hR="38100" stAng="5400000" swAng="2090994"/>
                <a:close/>
              </a:path>
            </a:pathLst>
          </a:custGeom>
        </p:spPr>
      </p:pic>
      <p:sp>
        <p:nvSpPr>
          <p:cNvPr id="17" name="Text 11"/>
          <p:cNvSpPr/>
          <p:nvPr/>
        </p:nvSpPr>
        <p:spPr>
          <a:xfrm>
            <a:off x="6851650" y="2310110"/>
            <a:ext cx="47009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Salida</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08:54</a:t>
            </a:r>
            <a:endParaRPr lang="en-US" sz="1200" dirty="0"/>
          </a:p>
        </p:txBody>
      </p:sp>
      <p:sp>
        <p:nvSpPr>
          <p:cNvPr id="18" name="Shape 12"/>
          <p:cNvSpPr/>
          <p:nvPr/>
        </p:nvSpPr>
        <p:spPr>
          <a:xfrm>
            <a:off x="8461375" y="2212876"/>
            <a:ext cx="2863850" cy="590550"/>
          </a:xfrm>
          <a:prstGeom prst="roundRect">
            <a:avLst>
              <a:gd name="adj" fmla="val 10215"/>
            </a:avLst>
          </a:prstGeom>
          <a:solidFill>
            <a:srgbClr val="FCFDFB"/>
          </a:solidFill>
          <a:ln w="6350">
            <a:solidFill>
              <a:srgbClr val="C9DECF"/>
            </a:solidFill>
            <a:prstDash val="solid"/>
          </a:ln>
        </p:spPr>
      </p:sp>
      <p:sp>
        <p:nvSpPr>
          <p:cNvPr id="19" name="Shape 13"/>
          <p:cNvSpPr/>
          <p:nvPr/>
        </p:nvSpPr>
        <p:spPr>
          <a:xfrm>
            <a:off x="8553450" y="2279551"/>
            <a:ext cx="1143000" cy="457200"/>
          </a:xfrm>
          <a:prstGeom prst="roundRect">
            <a:avLst>
              <a:gd name="adj" fmla="val 8333"/>
            </a:avLst>
          </a:prstGeom>
          <a:solidFill>
            <a:srgbClr val="14281E"/>
          </a:solidFill>
          <a:ln/>
        </p:spPr>
      </p:sp>
      <p:pic>
        <p:nvPicPr>
          <p:cNvPr id="20" name="Image 4" descr="Patente AB436BP leída en Ingreso del puerto">    </p:cNvPr>
          <p:cNvPicPr>
            <a:picLocks noChangeAspect="1"/>
          </p:cNvPicPr>
          <p:nvPr/>
        </p:nvPicPr>
        <p:blipFill>
          <a:blip r:embed="rId5"/>
          <a:stretch>
            <a:fillRect/>
          </a:stretch>
        </p:blipFill>
        <p:spPr>
          <a:xfrm>
            <a:off x="8705850" y="2279551"/>
            <a:ext cx="838200" cy="457200"/>
          </a:xfrm>
          <a:prstGeom prst="rect">
            <a:avLst/>
          </a:prstGeom>
        </p:spPr>
      </p:pic>
      <p:sp>
        <p:nvSpPr>
          <p:cNvPr id="21" name="Text 14"/>
          <p:cNvSpPr/>
          <p:nvPr/>
        </p:nvSpPr>
        <p:spPr>
          <a:xfrm>
            <a:off x="9798050" y="2310110"/>
            <a:ext cx="778073"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Ingreso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09:04</a:t>
            </a:r>
            <a:endParaRPr lang="en-US" sz="1200" dirty="0"/>
          </a:p>
        </p:txBody>
      </p:sp>
      <p:sp>
        <p:nvSpPr>
          <p:cNvPr id="22" name="Shape 15"/>
          <p:cNvSpPr/>
          <p:nvPr/>
        </p:nvSpPr>
        <p:spPr>
          <a:xfrm>
            <a:off x="5514975" y="2885976"/>
            <a:ext cx="2863850" cy="590550"/>
          </a:xfrm>
          <a:prstGeom prst="roundRect">
            <a:avLst>
              <a:gd name="adj" fmla="val 10215"/>
            </a:avLst>
          </a:prstGeom>
          <a:solidFill>
            <a:srgbClr val="FCFDFB"/>
          </a:solidFill>
          <a:ln w="6350">
            <a:solidFill>
              <a:srgbClr val="C9DECF"/>
            </a:solidFill>
            <a:prstDash val="solid"/>
          </a:ln>
        </p:spPr>
      </p:sp>
      <p:sp>
        <p:nvSpPr>
          <p:cNvPr id="23" name="Shape 16"/>
          <p:cNvSpPr/>
          <p:nvPr/>
        </p:nvSpPr>
        <p:spPr>
          <a:xfrm>
            <a:off x="5607050" y="2952651"/>
            <a:ext cx="1143000" cy="457200"/>
          </a:xfrm>
          <a:prstGeom prst="roundRect">
            <a:avLst>
              <a:gd name="adj" fmla="val 8333"/>
            </a:avLst>
          </a:prstGeom>
          <a:solidFill>
            <a:srgbClr val="14281E"/>
          </a:solidFill>
          <a:ln/>
        </p:spPr>
      </p:sp>
      <p:pic>
        <p:nvPicPr>
          <p:cNvPr id="24" name="Image 5" descr="Patente AB436BP leída en Balanza de ingreso del puerto">    </p:cNvPr>
          <p:cNvPicPr>
            <a:picLocks noChangeAspect="1"/>
          </p:cNvPicPr>
          <p:nvPr/>
        </p:nvPicPr>
        <p:blipFill>
          <a:blip r:embed="rId6"/>
          <a:stretch>
            <a:fillRect/>
          </a:stretch>
        </p:blipFill>
        <p:spPr>
          <a:xfrm>
            <a:off x="5688693" y="2952651"/>
            <a:ext cx="979714" cy="457200"/>
          </a:xfrm>
          <a:prstGeom prst="rect">
            <a:avLst/>
          </a:prstGeom>
        </p:spPr>
      </p:pic>
      <p:sp>
        <p:nvSpPr>
          <p:cNvPr id="25" name="Text 17"/>
          <p:cNvSpPr/>
          <p:nvPr/>
        </p:nvSpPr>
        <p:spPr>
          <a:xfrm>
            <a:off x="6851650" y="2983210"/>
            <a:ext cx="112037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Balanza ingr.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09:37</a:t>
            </a:r>
            <a:endParaRPr lang="en-US" sz="1200" dirty="0"/>
          </a:p>
        </p:txBody>
      </p:sp>
      <p:sp>
        <p:nvSpPr>
          <p:cNvPr id="26" name="Shape 18"/>
          <p:cNvSpPr/>
          <p:nvPr/>
        </p:nvSpPr>
        <p:spPr>
          <a:xfrm>
            <a:off x="8461375" y="2885976"/>
            <a:ext cx="2863850" cy="590550"/>
          </a:xfrm>
          <a:prstGeom prst="roundRect">
            <a:avLst>
              <a:gd name="adj" fmla="val 10215"/>
            </a:avLst>
          </a:prstGeom>
          <a:solidFill>
            <a:srgbClr val="FCFDFB"/>
          </a:solidFill>
          <a:ln w="6350">
            <a:solidFill>
              <a:srgbClr val="C9DECF"/>
            </a:solidFill>
            <a:prstDash val="solid"/>
          </a:ln>
        </p:spPr>
      </p:sp>
      <p:sp>
        <p:nvSpPr>
          <p:cNvPr id="27" name="Shape 19"/>
          <p:cNvSpPr/>
          <p:nvPr/>
        </p:nvSpPr>
        <p:spPr>
          <a:xfrm>
            <a:off x="8553450" y="2952651"/>
            <a:ext cx="1143000" cy="457200"/>
          </a:xfrm>
          <a:prstGeom prst="roundRect">
            <a:avLst>
              <a:gd name="adj" fmla="val 8333"/>
            </a:avLst>
          </a:prstGeom>
          <a:solidFill>
            <a:srgbClr val="14281E"/>
          </a:solidFill>
          <a:ln/>
        </p:spPr>
      </p:sp>
      <p:pic>
        <p:nvPicPr>
          <p:cNvPr id="28" name="Image 6" descr="Patente AB436BP leída en Volcables">    </p:cNvPr>
          <p:cNvPicPr>
            <a:picLocks noChangeAspect="1"/>
          </p:cNvPicPr>
          <p:nvPr/>
        </p:nvPicPr>
        <p:blipFill>
          <a:blip r:embed="rId7"/>
          <a:stretch>
            <a:fillRect/>
          </a:stretch>
        </p:blipFill>
        <p:spPr>
          <a:xfrm>
            <a:off x="8553450" y="2973433"/>
            <a:ext cx="1143000" cy="415636"/>
          </a:xfrm>
          <a:custGeom>
            <a:avLst/>
            <a:gdLst/>
            <a:ahLst/>
            <a:cxnLst/>
            <a:rect l="l" t="t" r="r" b="b"/>
            <a:pathLst>
              <a:path w="1143000" h="415636">
                <a:moveTo>
                  <a:pt x="0" y="17318"/>
                </a:moveTo>
                <a:arcTo wR="38100" hR="38100" stAng="10800000" swAng="1622142"/>
                <a:lnTo>
                  <a:pt x="1138837" y="0"/>
                </a:lnTo>
                <a:arcTo wR="38100" hR="38100" stAng="19977858" swAng="1622142"/>
                <a:lnTo>
                  <a:pt x="1143000" y="398318"/>
                </a:lnTo>
                <a:arcTo wR="38100" hR="38100" stAng="0" swAng="1622142"/>
                <a:lnTo>
                  <a:pt x="4163" y="415636"/>
                </a:lnTo>
                <a:arcTo wR="38100" hR="38100" stAng="9177858" swAng="1622142"/>
                <a:close/>
              </a:path>
            </a:pathLst>
          </a:custGeom>
        </p:spPr>
      </p:pic>
      <p:sp>
        <p:nvSpPr>
          <p:cNvPr id="29" name="Text 20"/>
          <p:cNvSpPr/>
          <p:nvPr/>
        </p:nvSpPr>
        <p:spPr>
          <a:xfrm>
            <a:off x="9798050" y="2983210"/>
            <a:ext cx="711696"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Volcables</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10:40</a:t>
            </a:r>
            <a:endParaRPr lang="en-US" sz="1200" dirty="0"/>
          </a:p>
        </p:txBody>
      </p:sp>
      <p:sp>
        <p:nvSpPr>
          <p:cNvPr id="30" name="Shape 21"/>
          <p:cNvSpPr/>
          <p:nvPr/>
        </p:nvSpPr>
        <p:spPr>
          <a:xfrm>
            <a:off x="5514975" y="3559076"/>
            <a:ext cx="2863850" cy="590550"/>
          </a:xfrm>
          <a:prstGeom prst="roundRect">
            <a:avLst>
              <a:gd name="adj" fmla="val 10215"/>
            </a:avLst>
          </a:prstGeom>
          <a:solidFill>
            <a:srgbClr val="FCFDFB"/>
          </a:solidFill>
          <a:ln w="6350">
            <a:solidFill>
              <a:srgbClr val="C9DECF"/>
            </a:solidFill>
            <a:prstDash val="solid"/>
          </a:ln>
        </p:spPr>
      </p:sp>
      <p:sp>
        <p:nvSpPr>
          <p:cNvPr id="31" name="Shape 22"/>
          <p:cNvSpPr/>
          <p:nvPr/>
        </p:nvSpPr>
        <p:spPr>
          <a:xfrm>
            <a:off x="5607050" y="3625751"/>
            <a:ext cx="1143000" cy="457200"/>
          </a:xfrm>
          <a:prstGeom prst="roundRect">
            <a:avLst>
              <a:gd name="adj" fmla="val 8333"/>
            </a:avLst>
          </a:prstGeom>
          <a:solidFill>
            <a:srgbClr val="14281E"/>
          </a:solidFill>
          <a:ln/>
        </p:spPr>
      </p:sp>
      <p:pic>
        <p:nvPicPr>
          <p:cNvPr id="32" name="Image 7" descr="Patente AB436BP leída en Balanza de egreso del puerto">    </p:cNvPr>
          <p:cNvPicPr>
            <a:picLocks noChangeAspect="1"/>
          </p:cNvPicPr>
          <p:nvPr/>
        </p:nvPicPr>
        <p:blipFill>
          <a:blip r:embed="rId8"/>
          <a:stretch>
            <a:fillRect/>
          </a:stretch>
        </p:blipFill>
        <p:spPr>
          <a:xfrm>
            <a:off x="5683250" y="3625751"/>
            <a:ext cx="990600" cy="457200"/>
          </a:xfrm>
          <a:prstGeom prst="rect">
            <a:avLst/>
          </a:prstGeom>
        </p:spPr>
      </p:pic>
      <p:sp>
        <p:nvSpPr>
          <p:cNvPr id="33" name="Text 23"/>
          <p:cNvSpPr/>
          <p:nvPr/>
        </p:nvSpPr>
        <p:spPr>
          <a:xfrm>
            <a:off x="6851650" y="3656310"/>
            <a:ext cx="107940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Balanza egr.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10:49</a:t>
            </a:r>
            <a:endParaRPr lang="en-US" sz="1200" dirty="0"/>
          </a:p>
        </p:txBody>
      </p:sp>
      <p:sp>
        <p:nvSpPr>
          <p:cNvPr id="34" name="Shape 24"/>
          <p:cNvSpPr/>
          <p:nvPr/>
        </p:nvSpPr>
        <p:spPr>
          <a:xfrm>
            <a:off x="8461375" y="3559076"/>
            <a:ext cx="2863850" cy="590550"/>
          </a:xfrm>
          <a:prstGeom prst="roundRect">
            <a:avLst>
              <a:gd name="adj" fmla="val 10215"/>
            </a:avLst>
          </a:prstGeom>
          <a:solidFill>
            <a:srgbClr val="FCFDFB"/>
          </a:solidFill>
          <a:ln w="6350">
            <a:solidFill>
              <a:srgbClr val="C9DECF"/>
            </a:solidFill>
            <a:prstDash val="solid"/>
          </a:ln>
        </p:spPr>
      </p:sp>
      <p:sp>
        <p:nvSpPr>
          <p:cNvPr id="35" name="Shape 25"/>
          <p:cNvSpPr/>
          <p:nvPr/>
        </p:nvSpPr>
        <p:spPr>
          <a:xfrm>
            <a:off x="8553450" y="3625751"/>
            <a:ext cx="1143000" cy="457200"/>
          </a:xfrm>
          <a:prstGeom prst="roundRect">
            <a:avLst>
              <a:gd name="adj" fmla="val 8333"/>
            </a:avLst>
          </a:prstGeom>
          <a:solidFill>
            <a:srgbClr val="14281E"/>
          </a:solidFill>
          <a:ln/>
        </p:spPr>
      </p:sp>
      <p:pic>
        <p:nvPicPr>
          <p:cNvPr id="36" name="Image 8" descr="Patente AB436BP leída en Egreso del puerto">    </p:cNvPr>
          <p:cNvPicPr>
            <a:picLocks noChangeAspect="1"/>
          </p:cNvPicPr>
          <p:nvPr/>
        </p:nvPicPr>
        <p:blipFill>
          <a:blip r:embed="rId9"/>
          <a:stretch>
            <a:fillRect/>
          </a:stretch>
        </p:blipFill>
        <p:spPr>
          <a:xfrm>
            <a:off x="8602436" y="3625751"/>
            <a:ext cx="1045029" cy="457200"/>
          </a:xfrm>
          <a:prstGeom prst="rect">
            <a:avLst/>
          </a:prstGeom>
        </p:spPr>
      </p:pic>
      <p:sp>
        <p:nvSpPr>
          <p:cNvPr id="37" name="Text 26"/>
          <p:cNvSpPr/>
          <p:nvPr/>
        </p:nvSpPr>
        <p:spPr>
          <a:xfrm>
            <a:off x="9798050" y="3656310"/>
            <a:ext cx="718641"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Egreso SL</a:t>
            </a:r>
            <a:endParaRPr lang="en-US" sz="1200" dirty="0"/>
          </a:p>
          <a:p>
            <a:pPr algn="l" indent="0" marL="0">
              <a:lnSpc>
                <a:spcPts val="1560"/>
              </a:lnSpc>
              <a:buNone/>
            </a:pPr>
            <a:r>
              <a:rPr lang="en-US" sz="1200" b="1" dirty="0">
                <a:solidFill>
                  <a:srgbClr val="14281E"/>
                </a:solidFill>
                <a:latin typeface="IBM Plex Sans" pitchFamily="34" charset="0"/>
                <a:ea typeface="IBM Plex Sans" pitchFamily="34" charset="-122"/>
                <a:cs typeface="IBM Plex Sans" pitchFamily="34" charset="-120"/>
              </a:rPr>
              <a:t>10:52</a:t>
            </a:r>
            <a:endParaRPr lang="en-US" sz="1200" dirty="0"/>
          </a:p>
        </p:txBody>
      </p:sp>
      <p:pic>
        <p:nvPicPr>
          <p:cNvPr id="38" name="Image 9" descr="Nueva Vicentin Argentina">    </p:cNvPr>
          <p:cNvPicPr>
            <a:picLocks noChangeAspect="1"/>
          </p:cNvPicPr>
          <p:nvPr/>
        </p:nvPicPr>
        <p:blipFill>
          <a:blip r:embed="rId10"/>
          <a:srcRect l="-167" r="-167" t="0" b="0"/>
          <a:stretch/>
        </p:blipFill>
        <p:spPr>
          <a:xfrm>
            <a:off x="812800" y="6197600"/>
            <a:ext cx="571500" cy="304800"/>
          </a:xfrm>
          <a:prstGeom prst="rect">
            <a:avLst/>
          </a:prstGeom>
        </p:spPr>
      </p:pic>
      <p:pic>
        <p:nvPicPr>
          <p:cNvPr id="39" name="Image 10" descr="Bimtrazer">    </p:cNvPr>
          <p:cNvPicPr>
            <a:picLocks noChangeAspect="1"/>
          </p:cNvPicPr>
          <p:nvPr/>
        </p:nvPicPr>
        <p:blipFill>
          <a:blip r:embed="rId11"/>
          <a:srcRect l="0" r="0" t="-63" b="-63"/>
          <a:stretch/>
        </p:blipFill>
        <p:spPr>
          <a:xfrm>
            <a:off x="10731500" y="6197600"/>
            <a:ext cx="647700" cy="304800"/>
          </a:xfrm>
          <a:prstGeom prst="rect">
            <a:avLst/>
          </a:prstGeom>
        </p:spPr>
      </p:pic>
      <p:sp>
        <p:nvSpPr>
          <p:cNvPr id="40" name="Text 27"/>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Recorte de la patente que guardó la cámara en cada punto · hora de cámara · 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3727252" cy="289520"/>
          </a:xfrm>
          <a:custGeom>
            <a:avLst/>
            <a:gdLst/>
            <a:ahLst/>
            <a:cxnLst/>
            <a:rect l="l" t="t" r="r" b="b"/>
            <a:pathLst>
              <a:path w="3727252" h="289520">
                <a:moveTo>
                  <a:pt x="144760" y="0"/>
                </a:moveTo>
                <a:lnTo>
                  <a:pt x="3582491" y="0"/>
                </a:lnTo>
                <a:arcTo hR="144760" wR="144760" stAng="16200000" swAng="5400000"/>
                <a:lnTo>
                  <a:pt x="3727252" y="144760"/>
                </a:lnTo>
                <a:arcTo hR="144760" wR="144760" stAng="0" swAng="5400000"/>
                <a:lnTo>
                  <a:pt x="144760" y="289520"/>
                </a:lnTo>
                <a:arcTo hR="144760" wR="144760" stAng="5400000" swAng="5400000"/>
                <a:lnTo>
                  <a:pt x="0" y="144760"/>
                </a:lnTo>
                <a:arcTo hR="144760" wR="144760" stAng="10800000" swAng="5400000"/>
                <a:close/>
              </a:path>
            </a:pathLst>
          </a:custGeom>
          <a:solidFill>
            <a:srgbClr val="7FB894"/>
          </a:solidFill>
          <a:ln/>
        </p:spPr>
        <p:txBody>
          <a:bodyPr wrap="none" lIns="0" tIns="0" rIns="0" bIns="0" rtlCol="0" anchor="ctr">
            <a:normAutofit/>
          </a:bodyPr>
          <a:lstStyle/>
          <a:p>
            <a:pPr algn="ctr" indent="0" marL="0">
              <a:lnSpc>
                <a:spcPts val="1680"/>
              </a:lnSpc>
              <a:buNone/>
            </a:pPr>
            <a:r>
              <a:rPr lang="en-US" sz="1200" b="1" spc="100" kern="0" dirty="0">
                <a:solidFill>
                  <a:srgbClr val="14281E"/>
                </a:solidFill>
                <a:latin typeface="IBM Plex Sans" pitchFamily="34" charset="0"/>
                <a:ea typeface="IBM Plex Sans" pitchFamily="34" charset="-122"/>
                <a:cs typeface="IBM Plex Sans" pitchFamily="34" charset="-120"/>
              </a:rPr>
              <a:t>RECONSTRUIDO · KQI971 · SÁBADO 17/10</a:t>
            </a:r>
            <a:endParaRPr lang="en-US" sz="1200" dirty="0"/>
          </a:p>
        </p:txBody>
      </p:sp>
      <p:sp>
        <p:nvSpPr>
          <p:cNvPr id="3" name="Text 1"/>
          <p:cNvSpPr/>
          <p:nvPr>
            <p:ph type="title"/>
          </p:nvPr>
        </p:nvSpPr>
        <p:spPr>
          <a:xfrm>
            <a:off x="812800" y="1076920"/>
            <a:ext cx="11379200" cy="332680"/>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Tres capturas con la patente mal leída, el mismo Mercedes Axor: se reconstruyen</a:t>
            </a:r>
            <a:endParaRPr lang="en-US" sz="2200" dirty="0"/>
          </a:p>
        </p:txBody>
      </p:sp>
      <p:sp>
        <p:nvSpPr>
          <p:cNvPr id="4" name="Text 2"/>
          <p:cNvSpPr/>
          <p:nvPr/>
        </p:nvSpPr>
        <p:spPr>
          <a:xfrm>
            <a:off x="812800" y="1536601"/>
            <a:ext cx="2540000" cy="289520"/>
          </a:xfrm>
          <a:prstGeom prst="roundRect">
            <a:avLst>
              <a:gd name="adj" fmla="val 17546"/>
            </a:avLst>
          </a:prstGeom>
          <a:solidFill>
            <a:srgbClr val="0B5638"/>
          </a:solidFill>
          <a:ln/>
        </p:spPr>
        <p:txBody>
          <a:bodyPr wrap="square" lIns="61321" tIns="23221"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Leído · Ingreso SL 22:45</a:t>
            </a:r>
            <a:endParaRPr lang="en-US" sz="1200" dirty="0"/>
          </a:p>
        </p:txBody>
      </p:sp>
      <p:pic>
        <p:nvPicPr>
          <p:cNvPr id="5" name="Image 0" descr="KQI971 en el ingreso del puerto, patente leída bien">    </p:cNvPr>
          <p:cNvPicPr>
            <a:picLocks noChangeAspect="1"/>
          </p:cNvPicPr>
          <p:nvPr/>
        </p:nvPicPr>
        <p:blipFill>
          <a:blip r:embed="rId1"/>
          <a:srcRect l="61" r="61" t="0" b="0"/>
          <a:stretch/>
        </p:blipFill>
        <p:spPr>
          <a:xfrm>
            <a:off x="812800" y="1876921"/>
            <a:ext cx="2540000" cy="1498600"/>
          </a:xfrm>
          <a:prstGeom prst="roundRect">
            <a:avLst>
              <a:gd name="adj" fmla="val 4237"/>
            </a:avLst>
          </a:prstGeom>
        </p:spPr>
      </p:pic>
      <p:sp>
        <p:nvSpPr>
          <p:cNvPr id="6" name="Shape 3"/>
          <p:cNvSpPr/>
          <p:nvPr/>
        </p:nvSpPr>
        <p:spPr>
          <a:xfrm>
            <a:off x="812800" y="3426321"/>
            <a:ext cx="2540000" cy="635000"/>
          </a:xfrm>
          <a:prstGeom prst="roundRect">
            <a:avLst>
              <a:gd name="adj" fmla="val 10000"/>
            </a:avLst>
          </a:prstGeom>
          <a:solidFill>
            <a:srgbClr val="14281E"/>
          </a:solidFill>
          <a:ln/>
        </p:spPr>
      </p:sp>
      <p:pic>
        <p:nvPicPr>
          <p:cNvPr id="7" name="Image 1" descr="Recorte de patente KQI 971">    </p:cNvPr>
          <p:cNvPicPr>
            <a:picLocks noChangeAspect="1"/>
          </p:cNvPicPr>
          <p:nvPr/>
        </p:nvPicPr>
        <p:blipFill>
          <a:blip r:embed="rId2"/>
          <a:stretch>
            <a:fillRect/>
          </a:stretch>
        </p:blipFill>
        <p:spPr>
          <a:xfrm>
            <a:off x="1592118" y="3426321"/>
            <a:ext cx="981364" cy="635000"/>
          </a:xfrm>
          <a:prstGeom prst="rect">
            <a:avLst/>
          </a:prstGeom>
        </p:spPr>
      </p:pic>
      <p:sp>
        <p:nvSpPr>
          <p:cNvPr id="8" name="Text 4"/>
          <p:cNvSpPr/>
          <p:nvPr/>
        </p:nvSpPr>
        <p:spPr>
          <a:xfrm>
            <a:off x="812800" y="411212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La cámara leyó </a:t>
            </a:r>
            <a:r>
              <a:rPr lang="en-US" sz="1200" b="1" dirty="0">
                <a:solidFill>
                  <a:srgbClr val="14281E"/>
                </a:solidFill>
                <a:latin typeface="IBM Plex Sans" pitchFamily="34" charset="0"/>
                <a:ea typeface="IBM Plex Sans" pitchFamily="34" charset="-122"/>
                <a:cs typeface="IBM Plex Sans" pitchFamily="34" charset="-120"/>
              </a:rPr>
              <a:t>KQI971</a:t>
            </a:r>
            <a:endParaRPr lang="en-US" sz="1200" dirty="0"/>
          </a:p>
        </p:txBody>
      </p:sp>
      <p:sp>
        <p:nvSpPr>
          <p:cNvPr id="9" name="Text 5"/>
          <p:cNvSpPr/>
          <p:nvPr/>
        </p:nvSpPr>
        <p:spPr>
          <a:xfrm>
            <a:off x="3486150" y="1536601"/>
            <a:ext cx="2540000" cy="502841"/>
          </a:xfrm>
          <a:prstGeom prst="roundRect">
            <a:avLst>
              <a:gd name="adj" fmla="val 10103"/>
            </a:avLst>
          </a:prstGeom>
          <a:solidFill>
            <a:srgbClr val="7FB89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Reconstruido · Balanza ingr. 22:48</a:t>
            </a:r>
            <a:endParaRPr lang="en-US" sz="1200" dirty="0"/>
          </a:p>
        </p:txBody>
      </p:sp>
      <p:pic>
        <p:nvPicPr>
          <p:cNvPr id="10" name="Image 2" descr="KQI971 en la balanza de ingreso del puerto, leído KOI971">    </p:cNvPr>
          <p:cNvPicPr>
            <a:picLocks noChangeAspect="1"/>
          </p:cNvPicPr>
          <p:nvPr/>
        </p:nvPicPr>
        <p:blipFill>
          <a:blip r:embed="rId3"/>
          <a:srcRect l="61" r="61" t="0" b="0"/>
          <a:stretch/>
        </p:blipFill>
        <p:spPr>
          <a:xfrm>
            <a:off x="3486150" y="2090241"/>
            <a:ext cx="2540000" cy="1498600"/>
          </a:xfrm>
          <a:prstGeom prst="roundRect">
            <a:avLst>
              <a:gd name="adj" fmla="val 4237"/>
            </a:avLst>
          </a:prstGeom>
        </p:spPr>
      </p:pic>
      <p:sp>
        <p:nvSpPr>
          <p:cNvPr id="11" name="Shape 6"/>
          <p:cNvSpPr/>
          <p:nvPr/>
        </p:nvSpPr>
        <p:spPr>
          <a:xfrm>
            <a:off x="3486150" y="3639641"/>
            <a:ext cx="2540000" cy="635000"/>
          </a:xfrm>
          <a:prstGeom prst="roundRect">
            <a:avLst>
              <a:gd name="adj" fmla="val 10000"/>
            </a:avLst>
          </a:prstGeom>
          <a:solidFill>
            <a:srgbClr val="14281E"/>
          </a:solidFill>
          <a:ln/>
        </p:spPr>
      </p:sp>
      <p:pic>
        <p:nvPicPr>
          <p:cNvPr id="12" name="Image 3" descr="Recorte de patente leída KOI971">    </p:cNvPr>
          <p:cNvPicPr>
            <a:picLocks noChangeAspect="1"/>
          </p:cNvPicPr>
          <p:nvPr/>
        </p:nvPicPr>
        <p:blipFill>
          <a:blip r:embed="rId4"/>
          <a:stretch>
            <a:fillRect/>
          </a:stretch>
        </p:blipFill>
        <p:spPr>
          <a:xfrm>
            <a:off x="3930650" y="3639641"/>
            <a:ext cx="1651000" cy="635000"/>
          </a:xfrm>
          <a:prstGeom prst="rect">
            <a:avLst/>
          </a:prstGeom>
        </p:spPr>
      </p:pic>
      <p:sp>
        <p:nvSpPr>
          <p:cNvPr id="13" name="Text 7"/>
          <p:cNvSpPr/>
          <p:nvPr/>
        </p:nvSpPr>
        <p:spPr>
          <a:xfrm>
            <a:off x="3486150" y="432544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a:t>
            </a:r>
            <a:r>
              <a:rPr lang="en-US" sz="1200" b="1" dirty="0">
                <a:solidFill>
                  <a:srgbClr val="14281E"/>
                </a:solidFill>
                <a:latin typeface="IBM Plex Sans" pitchFamily="34" charset="0"/>
                <a:ea typeface="IBM Plex Sans" pitchFamily="34" charset="-122"/>
                <a:cs typeface="IBM Plex Sans" pitchFamily="34" charset="-120"/>
              </a:rPr>
              <a:t>KOI971</a:t>
            </a:r>
            <a:r>
              <a:rPr lang="en-US" sz="1200" dirty="0">
                <a:solidFill>
                  <a:srgbClr val="14281E"/>
                </a:solidFill>
                <a:latin typeface="IBM Plex Sans" pitchFamily="34" charset="0"/>
                <a:ea typeface="IBM Plex Sans" pitchFamily="34" charset="-122"/>
                <a:cs typeface="IBM Plex Sans" pitchFamily="34" charset="-120"/>
              </a:rPr>
              <a:t> → es KQI971</a:t>
            </a:r>
            <a:endParaRPr lang="en-US" sz="1200" dirty="0"/>
          </a:p>
        </p:txBody>
      </p:sp>
      <p:sp>
        <p:nvSpPr>
          <p:cNvPr id="14" name="Text 8"/>
          <p:cNvSpPr/>
          <p:nvPr/>
        </p:nvSpPr>
        <p:spPr>
          <a:xfrm>
            <a:off x="6159500" y="1536601"/>
            <a:ext cx="2540000" cy="502841"/>
          </a:xfrm>
          <a:prstGeom prst="roundRect">
            <a:avLst>
              <a:gd name="adj" fmla="val 10103"/>
            </a:avLst>
          </a:prstGeom>
          <a:solidFill>
            <a:srgbClr val="7FB89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Reconstruido · Balanza egr. 23:07</a:t>
            </a:r>
            <a:endParaRPr lang="en-US" sz="1200" dirty="0"/>
          </a:p>
        </p:txBody>
      </p:sp>
      <p:pic>
        <p:nvPicPr>
          <p:cNvPr id="15" name="Image 4" descr="KQI971 en la balanza de egreso del puerto con niebla, leído QI971">    </p:cNvPr>
          <p:cNvPicPr>
            <a:picLocks noChangeAspect="1"/>
          </p:cNvPicPr>
          <p:nvPr/>
        </p:nvPicPr>
        <p:blipFill>
          <a:blip r:embed="rId5"/>
          <a:srcRect l="61" r="61" t="0" b="0"/>
          <a:stretch/>
        </p:blipFill>
        <p:spPr>
          <a:xfrm>
            <a:off x="6159500" y="2090241"/>
            <a:ext cx="2540000" cy="1498600"/>
          </a:xfrm>
          <a:prstGeom prst="roundRect">
            <a:avLst>
              <a:gd name="adj" fmla="val 4237"/>
            </a:avLst>
          </a:prstGeom>
        </p:spPr>
      </p:pic>
      <p:sp>
        <p:nvSpPr>
          <p:cNvPr id="16" name="Shape 9"/>
          <p:cNvSpPr/>
          <p:nvPr/>
        </p:nvSpPr>
        <p:spPr>
          <a:xfrm>
            <a:off x="6159500" y="3639641"/>
            <a:ext cx="2540000" cy="635000"/>
          </a:xfrm>
          <a:prstGeom prst="roundRect">
            <a:avLst>
              <a:gd name="adj" fmla="val 10000"/>
            </a:avLst>
          </a:prstGeom>
          <a:solidFill>
            <a:srgbClr val="14281E"/>
          </a:solidFill>
          <a:ln/>
        </p:spPr>
      </p:sp>
      <p:pic>
        <p:nvPicPr>
          <p:cNvPr id="17" name="Image 5" descr="Recorte de patente leída QI971">    </p:cNvPr>
          <p:cNvPicPr>
            <a:picLocks noChangeAspect="1"/>
          </p:cNvPicPr>
          <p:nvPr/>
        </p:nvPicPr>
        <p:blipFill>
          <a:blip r:embed="rId6"/>
          <a:stretch>
            <a:fillRect/>
          </a:stretch>
        </p:blipFill>
        <p:spPr>
          <a:xfrm>
            <a:off x="6688667" y="3639641"/>
            <a:ext cx="1481667" cy="635000"/>
          </a:xfrm>
          <a:prstGeom prst="rect">
            <a:avLst/>
          </a:prstGeom>
        </p:spPr>
      </p:pic>
      <p:sp>
        <p:nvSpPr>
          <p:cNvPr id="18" name="Text 10"/>
          <p:cNvSpPr/>
          <p:nvPr/>
        </p:nvSpPr>
        <p:spPr>
          <a:xfrm>
            <a:off x="6159500" y="432544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a:t>
            </a:r>
            <a:r>
              <a:rPr lang="en-US" sz="1200" b="1" dirty="0">
                <a:solidFill>
                  <a:srgbClr val="14281E"/>
                </a:solidFill>
                <a:latin typeface="IBM Plex Sans" pitchFamily="34" charset="0"/>
                <a:ea typeface="IBM Plex Sans" pitchFamily="34" charset="-122"/>
                <a:cs typeface="IBM Plex Sans" pitchFamily="34" charset="-120"/>
              </a:rPr>
              <a:t>QI971</a:t>
            </a:r>
            <a:r>
              <a:rPr lang="en-US" sz="1200" dirty="0">
                <a:solidFill>
                  <a:srgbClr val="14281E"/>
                </a:solidFill>
                <a:latin typeface="IBM Plex Sans" pitchFamily="34" charset="0"/>
                <a:ea typeface="IBM Plex Sans" pitchFamily="34" charset="-122"/>
                <a:cs typeface="IBM Plex Sans" pitchFamily="34" charset="-120"/>
              </a:rPr>
              <a:t> → es KQI971</a:t>
            </a:r>
            <a:endParaRPr lang="en-US" sz="1200" dirty="0"/>
          </a:p>
        </p:txBody>
      </p:sp>
      <p:sp>
        <p:nvSpPr>
          <p:cNvPr id="19" name="Text 11"/>
          <p:cNvSpPr/>
          <p:nvPr/>
        </p:nvSpPr>
        <p:spPr>
          <a:xfrm>
            <a:off x="8832850" y="1536601"/>
            <a:ext cx="2540000" cy="289520"/>
          </a:xfrm>
          <a:prstGeom prst="roundRect">
            <a:avLst>
              <a:gd name="adj" fmla="val 17546"/>
            </a:avLst>
          </a:prstGeom>
          <a:solidFill>
            <a:srgbClr val="7FB89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Reconstruido · Egreso SL 23:11</a:t>
            </a:r>
            <a:endParaRPr lang="en-US" sz="1200" dirty="0"/>
          </a:p>
        </p:txBody>
      </p:sp>
      <p:pic>
        <p:nvPicPr>
          <p:cNvPr id="20" name="Image 6" descr="KQI971 en el egreso del puerto, leído KOI971">    </p:cNvPr>
          <p:cNvPicPr>
            <a:picLocks noChangeAspect="1"/>
          </p:cNvPicPr>
          <p:nvPr/>
        </p:nvPicPr>
        <p:blipFill>
          <a:blip r:embed="rId7"/>
          <a:srcRect l="61" r="61" t="0" b="0"/>
          <a:stretch/>
        </p:blipFill>
        <p:spPr>
          <a:xfrm>
            <a:off x="8832850" y="1876921"/>
            <a:ext cx="2540000" cy="1498600"/>
          </a:xfrm>
          <a:prstGeom prst="roundRect">
            <a:avLst>
              <a:gd name="adj" fmla="val 4237"/>
            </a:avLst>
          </a:prstGeom>
        </p:spPr>
      </p:pic>
      <p:sp>
        <p:nvSpPr>
          <p:cNvPr id="21" name="Shape 12"/>
          <p:cNvSpPr/>
          <p:nvPr/>
        </p:nvSpPr>
        <p:spPr>
          <a:xfrm>
            <a:off x="8832850" y="3426321"/>
            <a:ext cx="2540000" cy="635000"/>
          </a:xfrm>
          <a:prstGeom prst="roundRect">
            <a:avLst>
              <a:gd name="adj" fmla="val 10000"/>
            </a:avLst>
          </a:prstGeom>
          <a:solidFill>
            <a:srgbClr val="14281E"/>
          </a:solidFill>
          <a:ln/>
        </p:spPr>
      </p:sp>
      <p:pic>
        <p:nvPicPr>
          <p:cNvPr id="22" name="Image 7" descr="Recorte de patente leída KOI971">    </p:cNvPr>
          <p:cNvPicPr>
            <a:picLocks noChangeAspect="1"/>
          </p:cNvPicPr>
          <p:nvPr/>
        </p:nvPicPr>
        <p:blipFill>
          <a:blip r:embed="rId8"/>
          <a:stretch>
            <a:fillRect/>
          </a:stretch>
        </p:blipFill>
        <p:spPr>
          <a:xfrm>
            <a:off x="9414933" y="3426321"/>
            <a:ext cx="1375833" cy="635000"/>
          </a:xfrm>
          <a:prstGeom prst="rect">
            <a:avLst/>
          </a:prstGeom>
        </p:spPr>
      </p:pic>
      <p:sp>
        <p:nvSpPr>
          <p:cNvPr id="23" name="Text 13"/>
          <p:cNvSpPr/>
          <p:nvPr/>
        </p:nvSpPr>
        <p:spPr>
          <a:xfrm>
            <a:off x="8832850" y="4112121"/>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Leyó </a:t>
            </a:r>
            <a:r>
              <a:rPr lang="en-US" sz="1200" b="1" dirty="0">
                <a:solidFill>
                  <a:srgbClr val="14281E"/>
                </a:solidFill>
                <a:latin typeface="IBM Plex Sans" pitchFamily="34" charset="0"/>
                <a:ea typeface="IBM Plex Sans" pitchFamily="34" charset="-122"/>
                <a:cs typeface="IBM Plex Sans" pitchFamily="34" charset="-120"/>
              </a:rPr>
              <a:t>KOI971</a:t>
            </a:r>
            <a:r>
              <a:rPr lang="en-US" sz="1200" dirty="0">
                <a:solidFill>
                  <a:srgbClr val="14281E"/>
                </a:solidFill>
                <a:latin typeface="IBM Plex Sans" pitchFamily="34" charset="0"/>
                <a:ea typeface="IBM Plex Sans" pitchFamily="34" charset="-122"/>
                <a:cs typeface="IBM Plex Sans" pitchFamily="34" charset="-120"/>
              </a:rPr>
              <a:t> → es KQI971</a:t>
            </a:r>
            <a:endParaRPr lang="en-US" sz="1200" dirty="0"/>
          </a:p>
        </p:txBody>
      </p:sp>
      <p:sp>
        <p:nvSpPr>
          <p:cNvPr id="24" name="Text 14"/>
          <p:cNvSpPr/>
          <p:nvPr/>
        </p:nvSpPr>
        <p:spPr>
          <a:xfrm>
            <a:off x="812800" y="4675882"/>
            <a:ext cx="981075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En cada punto KQI971 era el único camión del lote con ese paso pendiente a esa hora, y la patente leída difiere en una o dos letras. El resto de su recorrido lo leyó bien la cámara.</a:t>
            </a:r>
            <a:endParaRPr lang="en-US" sz="1300" dirty="0"/>
          </a:p>
        </p:txBody>
      </p:sp>
      <p:pic>
        <p:nvPicPr>
          <p:cNvPr id="25" name="Image 8" descr="Nueva Vicentin Argentina">    </p:cNvPr>
          <p:cNvPicPr>
            <a:picLocks noChangeAspect="1"/>
          </p:cNvPicPr>
          <p:nvPr/>
        </p:nvPicPr>
        <p:blipFill>
          <a:blip r:embed="rId9"/>
          <a:srcRect l="-167" r="-167" t="0" b="0"/>
          <a:stretch/>
        </p:blipFill>
        <p:spPr>
          <a:xfrm>
            <a:off x="812800" y="6197600"/>
            <a:ext cx="571500" cy="304800"/>
          </a:xfrm>
          <a:prstGeom prst="rect">
            <a:avLst/>
          </a:prstGeom>
        </p:spPr>
      </p:pic>
      <p:pic>
        <p:nvPicPr>
          <p:cNvPr id="26" name="Image 9" descr="Bimtrazer">    </p:cNvPr>
          <p:cNvPicPr>
            <a:picLocks noChangeAspect="1"/>
          </p:cNvPicPr>
          <p:nvPr/>
        </p:nvPicPr>
        <p:blipFill>
          <a:blip r:embed="rId10"/>
          <a:srcRect l="0" r="0" t="-63" b="-63"/>
          <a:stretch/>
        </p:blipFill>
        <p:spPr>
          <a:xfrm>
            <a:off x="10731500" y="6197600"/>
            <a:ext cx="647700" cy="304800"/>
          </a:xfrm>
          <a:prstGeom prst="rect">
            <a:avLst/>
          </a:prstGeom>
        </p:spPr>
      </p:pic>
      <p:sp>
        <p:nvSpPr>
          <p:cNvPr id="27" name="Text 15"/>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Fotos del DSS · hora de cámara · 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4"/>
        </a:solidFill>
      </p:bgPr>
    </p:bg>
    <p:spTree>
      <p:nvGrpSpPr>
        <p:cNvPr id="1" name=""/>
        <p:cNvGrpSpPr/>
        <p:nvPr/>
      </p:nvGrpSpPr>
      <p:grpSpPr>
        <a:xfrm>
          <a:off x="0" y="0"/>
          <a:ext cx="0" cy="0"/>
          <a:chOff x="0" y="0"/>
          <a:chExt cx="0" cy="0"/>
        </a:xfrm>
      </p:grpSpPr>
      <p:sp>
        <p:nvSpPr>
          <p:cNvPr id="2" name="Text 0"/>
          <p:cNvSpPr/>
          <p:nvPr/>
        </p:nvSpPr>
        <p:spPr>
          <a:xfrm>
            <a:off x="812800" y="711200"/>
            <a:ext cx="3375422" cy="289520"/>
          </a:xfrm>
          <a:custGeom>
            <a:avLst/>
            <a:gdLst/>
            <a:ahLst/>
            <a:cxnLst/>
            <a:rect l="l" t="t" r="r" b="b"/>
            <a:pathLst>
              <a:path w="3375422" h="289520">
                <a:moveTo>
                  <a:pt x="144760" y="0"/>
                </a:moveTo>
                <a:lnTo>
                  <a:pt x="3230662" y="0"/>
                </a:lnTo>
                <a:arcTo hR="144760" wR="144760" stAng="16200000" swAng="5400000"/>
                <a:lnTo>
                  <a:pt x="3375422" y="144760"/>
                </a:lnTo>
                <a:arcTo hR="144760" wR="144760" stAng="0" swAng="5400000"/>
                <a:lnTo>
                  <a:pt x="144760" y="289520"/>
                </a:lnTo>
                <a:arcTo hR="144760" wR="144760" stAng="5400000" swAng="5400000"/>
                <a:lnTo>
                  <a:pt x="0" y="144760"/>
                </a:lnTo>
                <a:arcTo hR="144760" wR="144760" stAng="10800000" swAng="5400000"/>
                <a:close/>
              </a:path>
            </a:pathLst>
          </a:custGeom>
          <a:solidFill>
            <a:srgbClr val="9C8FC4"/>
          </a:solidFill>
          <a:ln/>
        </p:spPr>
        <p:txBody>
          <a:bodyPr wrap="none" lIns="0" tIns="0" rIns="0" bIns="0" rtlCol="0" anchor="ctr">
            <a:normAutofit/>
          </a:bodyPr>
          <a:lstStyle/>
          <a:p>
            <a:pPr algn="ctr" indent="0" marL="0">
              <a:lnSpc>
                <a:spcPts val="1680"/>
              </a:lnSpc>
              <a:buNone/>
            </a:pPr>
            <a:r>
              <a:rPr lang="en-US" sz="1200" b="1" spc="100" kern="0" dirty="0">
                <a:solidFill>
                  <a:srgbClr val="14281E"/>
                </a:solidFill>
                <a:latin typeface="IBM Plex Sans" pitchFamily="34" charset="0"/>
                <a:ea typeface="IBM Plex Sans" pitchFamily="34" charset="-122"/>
                <a:cs typeface="IBM Plex Sans" pitchFamily="34" charset="-120"/>
              </a:rPr>
              <a:t>DEDUCIDO · AI342EV · MARTES 13/10</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Visto a las 23:37 y a las 23:52: los dos pasos del medio no tienen captura y se deducen</a:t>
            </a:r>
            <a:endParaRPr lang="en-US" sz="2200" dirty="0"/>
          </a:p>
        </p:txBody>
      </p:sp>
      <p:sp>
        <p:nvSpPr>
          <p:cNvPr id="4" name="Text 2"/>
          <p:cNvSpPr/>
          <p:nvPr/>
        </p:nvSpPr>
        <p:spPr>
          <a:xfrm>
            <a:off x="812800" y="1843881"/>
            <a:ext cx="2540000" cy="289520"/>
          </a:xfrm>
          <a:prstGeom prst="roundRect">
            <a:avLst>
              <a:gd name="adj" fmla="val 17546"/>
            </a:avLst>
          </a:prstGeom>
          <a:solidFill>
            <a:srgbClr val="0B5638"/>
          </a:solidFill>
          <a:ln/>
        </p:spPr>
        <p:txBody>
          <a:bodyPr wrap="square" lIns="61321" tIns="23221"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Leído · Balanza ingr. 23:37</a:t>
            </a:r>
            <a:endParaRPr lang="en-US" sz="1200" dirty="0"/>
          </a:p>
        </p:txBody>
      </p:sp>
      <p:pic>
        <p:nvPicPr>
          <p:cNvPr id="5" name="Image 0" descr="AI342EV en la balanza de ingreso del puerto">    </p:cNvPr>
          <p:cNvPicPr>
            <a:picLocks noChangeAspect="1"/>
          </p:cNvPicPr>
          <p:nvPr/>
        </p:nvPicPr>
        <p:blipFill>
          <a:blip r:embed="rId1"/>
          <a:srcRect l="61" r="61" t="0" b="0"/>
          <a:stretch/>
        </p:blipFill>
        <p:spPr>
          <a:xfrm>
            <a:off x="812800" y="2184202"/>
            <a:ext cx="2540000" cy="1498600"/>
          </a:xfrm>
          <a:prstGeom prst="roundRect">
            <a:avLst>
              <a:gd name="adj" fmla="val 4237"/>
            </a:avLst>
          </a:prstGeom>
        </p:spPr>
      </p:pic>
      <p:sp>
        <p:nvSpPr>
          <p:cNvPr id="6" name="Shape 3"/>
          <p:cNvSpPr/>
          <p:nvPr/>
        </p:nvSpPr>
        <p:spPr>
          <a:xfrm>
            <a:off x="812800" y="3733602"/>
            <a:ext cx="2540000" cy="635000"/>
          </a:xfrm>
          <a:prstGeom prst="roundRect">
            <a:avLst>
              <a:gd name="adj" fmla="val 10000"/>
            </a:avLst>
          </a:prstGeom>
          <a:solidFill>
            <a:srgbClr val="14281E"/>
          </a:solidFill>
          <a:ln/>
        </p:spPr>
      </p:sp>
      <p:pic>
        <p:nvPicPr>
          <p:cNvPr id="7" name="Image 1" descr="Recorte de patente AI342EV">    </p:cNvPr>
          <p:cNvPicPr>
            <a:picLocks noChangeAspect="1"/>
          </p:cNvPicPr>
          <p:nvPr/>
        </p:nvPicPr>
        <p:blipFill>
          <a:blip r:embed="rId2"/>
          <a:stretch>
            <a:fillRect/>
          </a:stretch>
        </p:blipFill>
        <p:spPr>
          <a:xfrm>
            <a:off x="1266371" y="3733602"/>
            <a:ext cx="1632857" cy="635000"/>
          </a:xfrm>
          <a:prstGeom prst="rect">
            <a:avLst/>
          </a:prstGeom>
        </p:spPr>
      </p:pic>
      <p:sp>
        <p:nvSpPr>
          <p:cNvPr id="8" name="Text 4"/>
          <p:cNvSpPr/>
          <p:nvPr/>
        </p:nvSpPr>
        <p:spPr>
          <a:xfrm>
            <a:off x="81280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La cámara leyó </a:t>
            </a:r>
            <a:r>
              <a:rPr lang="en-US" sz="1200" b="1" dirty="0">
                <a:solidFill>
                  <a:srgbClr val="14281E"/>
                </a:solidFill>
                <a:latin typeface="IBM Plex Sans" pitchFamily="34" charset="0"/>
                <a:ea typeface="IBM Plex Sans" pitchFamily="34" charset="-122"/>
                <a:cs typeface="IBM Plex Sans" pitchFamily="34" charset="-120"/>
              </a:rPr>
              <a:t>AI342EV</a:t>
            </a:r>
            <a:endParaRPr lang="en-US" sz="1200" dirty="0"/>
          </a:p>
        </p:txBody>
      </p:sp>
      <p:sp>
        <p:nvSpPr>
          <p:cNvPr id="9" name="Text 5"/>
          <p:cNvSpPr/>
          <p:nvPr/>
        </p:nvSpPr>
        <p:spPr>
          <a:xfrm>
            <a:off x="3486150" y="1843881"/>
            <a:ext cx="2540000" cy="289520"/>
          </a:xfrm>
          <a:prstGeom prst="roundRect">
            <a:avLst>
              <a:gd name="adj" fmla="val 17546"/>
            </a:avLst>
          </a:prstGeom>
          <a:solidFill>
            <a:srgbClr val="9C8FC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Deducido · Volcables</a:t>
            </a:r>
            <a:endParaRPr lang="en-US" sz="1200" dirty="0"/>
          </a:p>
        </p:txBody>
      </p:sp>
      <p:sp>
        <p:nvSpPr>
          <p:cNvPr id="10" name="Shape 6"/>
          <p:cNvSpPr/>
          <p:nvPr/>
        </p:nvSpPr>
        <p:spPr>
          <a:xfrm>
            <a:off x="3492500" y="2190552"/>
            <a:ext cx="2527300" cy="2171700"/>
          </a:xfrm>
          <a:prstGeom prst="roundRect">
            <a:avLst>
              <a:gd name="adj" fmla="val 2632"/>
            </a:avLst>
          </a:prstGeom>
          <a:solidFill>
            <a:srgbClr val="E6E1F0"/>
          </a:solidFill>
          <a:ln w="12700">
            <a:solidFill>
              <a:srgbClr val="9C8FC4"/>
            </a:solidFill>
            <a:prstDash val="dash"/>
          </a:ln>
        </p:spPr>
      </p:sp>
      <p:sp>
        <p:nvSpPr>
          <p:cNvPr id="11" name="Text 7"/>
          <p:cNvSpPr/>
          <p:nvPr/>
        </p:nvSpPr>
        <p:spPr>
          <a:xfrm>
            <a:off x="4142512" y="2904331"/>
            <a:ext cx="122717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4B3D7A"/>
                </a:solidFill>
                <a:latin typeface="IBM Plex Sans" pitchFamily="34" charset="0"/>
                <a:ea typeface="IBM Plex Sans" pitchFamily="34" charset="-122"/>
                <a:cs typeface="IBM Plex Sans" pitchFamily="34" charset="-120"/>
              </a:rPr>
              <a:t>Sin captura</a:t>
            </a:r>
            <a:endParaRPr lang="en-US" sz="1500" dirty="0"/>
          </a:p>
        </p:txBody>
      </p:sp>
      <p:sp>
        <p:nvSpPr>
          <p:cNvPr id="12" name="Text 8"/>
          <p:cNvSpPr/>
          <p:nvPr/>
        </p:nvSpPr>
        <p:spPr>
          <a:xfrm>
            <a:off x="3644265" y="3221831"/>
            <a:ext cx="222377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3D7A"/>
                </a:solidFill>
                <a:latin typeface="IBM Plex Sans" pitchFamily="34" charset="0"/>
                <a:ea typeface="IBM Plex Sans" pitchFamily="34" charset="-122"/>
                <a:cs typeface="IBM Plex Sans" pitchFamily="34" charset="-120"/>
              </a:rPr>
              <a:t>El circuito R7 descarga en los volcables</a:t>
            </a:r>
            <a:endParaRPr lang="en-US" sz="1200" dirty="0"/>
          </a:p>
        </p:txBody>
      </p:sp>
      <p:sp>
        <p:nvSpPr>
          <p:cNvPr id="13" name="Text 9"/>
          <p:cNvSpPr/>
          <p:nvPr/>
        </p:nvSpPr>
        <p:spPr>
          <a:xfrm>
            <a:off x="348615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Entre 23:37 y 23:52</a:t>
            </a:r>
            <a:endParaRPr lang="en-US" sz="1200" dirty="0"/>
          </a:p>
        </p:txBody>
      </p:sp>
      <p:sp>
        <p:nvSpPr>
          <p:cNvPr id="14" name="Text 10"/>
          <p:cNvSpPr/>
          <p:nvPr/>
        </p:nvSpPr>
        <p:spPr>
          <a:xfrm>
            <a:off x="6159500" y="1843881"/>
            <a:ext cx="2540000" cy="289520"/>
          </a:xfrm>
          <a:prstGeom prst="roundRect">
            <a:avLst>
              <a:gd name="adj" fmla="val 17546"/>
            </a:avLst>
          </a:prstGeom>
          <a:solidFill>
            <a:srgbClr val="9C8FC4"/>
          </a:solidFill>
          <a:ln/>
        </p:spPr>
        <p:txBody>
          <a:bodyPr wrap="square" lIns="61321" tIns="23221" rIns="0" bIns="0" rtlCol="0" anchor="t">
            <a:normAutofit/>
          </a:bodyPr>
          <a:lstStyle/>
          <a:p>
            <a:pPr algn="l" indent="0" marL="0">
              <a:lnSpc>
                <a:spcPts val="1680"/>
              </a:lnSpc>
              <a:buNone/>
            </a:pPr>
            <a:r>
              <a:rPr lang="en-US" sz="1200" b="1" dirty="0">
                <a:solidFill>
                  <a:srgbClr val="14281E"/>
                </a:solidFill>
                <a:latin typeface="IBM Plex Sans" pitchFamily="34" charset="0"/>
                <a:ea typeface="IBM Plex Sans" pitchFamily="34" charset="-122"/>
                <a:cs typeface="IBM Plex Sans" pitchFamily="34" charset="-120"/>
              </a:rPr>
              <a:t>Deducido · Balanza egr.</a:t>
            </a:r>
            <a:endParaRPr lang="en-US" sz="1200" dirty="0"/>
          </a:p>
        </p:txBody>
      </p:sp>
      <p:sp>
        <p:nvSpPr>
          <p:cNvPr id="15" name="Shape 11"/>
          <p:cNvSpPr/>
          <p:nvPr/>
        </p:nvSpPr>
        <p:spPr>
          <a:xfrm>
            <a:off x="6165850" y="2190552"/>
            <a:ext cx="2527300" cy="2171700"/>
          </a:xfrm>
          <a:prstGeom prst="roundRect">
            <a:avLst>
              <a:gd name="adj" fmla="val 2632"/>
            </a:avLst>
          </a:prstGeom>
          <a:solidFill>
            <a:srgbClr val="E6E1F0"/>
          </a:solidFill>
          <a:ln w="12700">
            <a:solidFill>
              <a:srgbClr val="9C8FC4"/>
            </a:solidFill>
            <a:prstDash val="dash"/>
          </a:ln>
        </p:spPr>
      </p:sp>
      <p:sp>
        <p:nvSpPr>
          <p:cNvPr id="16" name="Text 12"/>
          <p:cNvSpPr/>
          <p:nvPr/>
        </p:nvSpPr>
        <p:spPr>
          <a:xfrm>
            <a:off x="6815862" y="3010991"/>
            <a:ext cx="122717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4B3D7A"/>
                </a:solidFill>
                <a:latin typeface="IBM Plex Sans" pitchFamily="34" charset="0"/>
                <a:ea typeface="IBM Plex Sans" pitchFamily="34" charset="-122"/>
                <a:cs typeface="IBM Plex Sans" pitchFamily="34" charset="-120"/>
              </a:rPr>
              <a:t>Sin captura</a:t>
            </a:r>
            <a:endParaRPr lang="en-US" sz="1500" dirty="0"/>
          </a:p>
        </p:txBody>
      </p:sp>
      <p:sp>
        <p:nvSpPr>
          <p:cNvPr id="17" name="Text 13"/>
          <p:cNvSpPr/>
          <p:nvPr/>
        </p:nvSpPr>
        <p:spPr>
          <a:xfrm>
            <a:off x="6172200" y="3328491"/>
            <a:ext cx="25146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3D7A"/>
                </a:solidFill>
                <a:latin typeface="IBM Plex Sans" pitchFamily="34" charset="0"/>
                <a:ea typeface="IBM Plex Sans" pitchFamily="34" charset="-122"/>
                <a:cs typeface="IBM Plex Sans" pitchFamily="34" charset="-120"/>
              </a:rPr>
              <a:t>Para salir tiene que pesar vacío</a:t>
            </a:r>
            <a:endParaRPr lang="en-US" sz="1200" dirty="0"/>
          </a:p>
        </p:txBody>
      </p:sp>
      <p:sp>
        <p:nvSpPr>
          <p:cNvPr id="18" name="Text 14"/>
          <p:cNvSpPr/>
          <p:nvPr/>
        </p:nvSpPr>
        <p:spPr>
          <a:xfrm>
            <a:off x="615950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Entre 23:37 y 23:52</a:t>
            </a:r>
            <a:endParaRPr lang="en-US" sz="1200" dirty="0"/>
          </a:p>
        </p:txBody>
      </p:sp>
      <p:sp>
        <p:nvSpPr>
          <p:cNvPr id="19" name="Text 15"/>
          <p:cNvSpPr/>
          <p:nvPr/>
        </p:nvSpPr>
        <p:spPr>
          <a:xfrm>
            <a:off x="8832850" y="1843881"/>
            <a:ext cx="2540000" cy="289520"/>
          </a:xfrm>
          <a:prstGeom prst="roundRect">
            <a:avLst>
              <a:gd name="adj" fmla="val 17546"/>
            </a:avLst>
          </a:prstGeom>
          <a:solidFill>
            <a:srgbClr val="0B5638"/>
          </a:solidFill>
          <a:ln/>
        </p:spPr>
        <p:txBody>
          <a:bodyPr wrap="square" lIns="61321" tIns="23221" rIns="0" bIns="0" rtlCol="0" anchor="t">
            <a:normAutofit/>
          </a:bodyPr>
          <a:lstStyle/>
          <a:p>
            <a:pPr algn="l" indent="0" marL="0">
              <a:lnSpc>
                <a:spcPts val="1680"/>
              </a:lnSpc>
              <a:buNone/>
            </a:pPr>
            <a:r>
              <a:rPr lang="en-US" sz="1200" b="1" dirty="0">
                <a:solidFill>
                  <a:srgbClr val="F1F6F2"/>
                </a:solidFill>
                <a:latin typeface="IBM Plex Sans" pitchFamily="34" charset="0"/>
                <a:ea typeface="IBM Plex Sans" pitchFamily="34" charset="-122"/>
                <a:cs typeface="IBM Plex Sans" pitchFamily="34" charset="-120"/>
              </a:rPr>
              <a:t>Leído · Egreso SL 23:52</a:t>
            </a:r>
            <a:endParaRPr lang="en-US" sz="1200" dirty="0"/>
          </a:p>
        </p:txBody>
      </p:sp>
      <p:pic>
        <p:nvPicPr>
          <p:cNvPr id="20" name="Image 2" descr="AI342EV en el egreso del puerto">    </p:cNvPr>
          <p:cNvPicPr>
            <a:picLocks noChangeAspect="1"/>
          </p:cNvPicPr>
          <p:nvPr/>
        </p:nvPicPr>
        <p:blipFill>
          <a:blip r:embed="rId3"/>
          <a:srcRect l="61" r="61" t="0" b="0"/>
          <a:stretch/>
        </p:blipFill>
        <p:spPr>
          <a:xfrm>
            <a:off x="8832850" y="2184202"/>
            <a:ext cx="2540000" cy="1498600"/>
          </a:xfrm>
          <a:prstGeom prst="roundRect">
            <a:avLst>
              <a:gd name="adj" fmla="val 4237"/>
            </a:avLst>
          </a:prstGeom>
        </p:spPr>
      </p:pic>
      <p:sp>
        <p:nvSpPr>
          <p:cNvPr id="21" name="Shape 16"/>
          <p:cNvSpPr/>
          <p:nvPr/>
        </p:nvSpPr>
        <p:spPr>
          <a:xfrm>
            <a:off x="8832850" y="3733602"/>
            <a:ext cx="2540000" cy="635000"/>
          </a:xfrm>
          <a:prstGeom prst="roundRect">
            <a:avLst>
              <a:gd name="adj" fmla="val 10000"/>
            </a:avLst>
          </a:prstGeom>
          <a:solidFill>
            <a:srgbClr val="14281E"/>
          </a:solidFill>
          <a:ln/>
        </p:spPr>
      </p:sp>
      <p:pic>
        <p:nvPicPr>
          <p:cNvPr id="22" name="Image 3" descr="Recorte de patente AI342EV">    </p:cNvPr>
          <p:cNvPicPr>
            <a:picLocks noChangeAspect="1"/>
          </p:cNvPicPr>
          <p:nvPr/>
        </p:nvPicPr>
        <p:blipFill>
          <a:blip r:embed="rId4"/>
          <a:stretch>
            <a:fillRect/>
          </a:stretch>
        </p:blipFill>
        <p:spPr>
          <a:xfrm>
            <a:off x="9507538" y="3733602"/>
            <a:ext cx="1190625" cy="635000"/>
          </a:xfrm>
          <a:prstGeom prst="rect">
            <a:avLst/>
          </a:prstGeom>
        </p:spPr>
      </p:pic>
      <p:sp>
        <p:nvSpPr>
          <p:cNvPr id="23" name="Text 17"/>
          <p:cNvSpPr/>
          <p:nvPr/>
        </p:nvSpPr>
        <p:spPr>
          <a:xfrm>
            <a:off x="8832850" y="4419402"/>
            <a:ext cx="2616200"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81E"/>
                </a:solidFill>
                <a:latin typeface="IBM Plex Sans" pitchFamily="34" charset="0"/>
                <a:ea typeface="IBM Plex Sans" pitchFamily="34" charset="-122"/>
                <a:cs typeface="IBM Plex Sans" pitchFamily="34" charset="-120"/>
              </a:rPr>
              <a:t>La cámara leyó </a:t>
            </a:r>
            <a:r>
              <a:rPr lang="en-US" sz="1200" b="1" dirty="0">
                <a:solidFill>
                  <a:srgbClr val="14281E"/>
                </a:solidFill>
                <a:latin typeface="IBM Plex Sans" pitchFamily="34" charset="0"/>
                <a:ea typeface="IBM Plex Sans" pitchFamily="34" charset="-122"/>
                <a:cs typeface="IBM Plex Sans" pitchFamily="34" charset="-120"/>
              </a:rPr>
              <a:t>AI342EV</a:t>
            </a:r>
            <a:endParaRPr lang="en-US" sz="1200" dirty="0"/>
          </a:p>
        </p:txBody>
      </p:sp>
      <p:sp>
        <p:nvSpPr>
          <p:cNvPr id="24" name="Text 18"/>
          <p:cNvSpPr/>
          <p:nvPr/>
        </p:nvSpPr>
        <p:spPr>
          <a:xfrm>
            <a:off x="812800" y="4769842"/>
            <a:ext cx="981075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D52"/>
                </a:solidFill>
                <a:latin typeface="IBM Plex Sans" pitchFamily="34" charset="0"/>
                <a:ea typeface="IBM Plex Sans" pitchFamily="34" charset="-122"/>
                <a:cs typeface="IBM Plex Sans" pitchFamily="34" charset="-120"/>
              </a:rPr>
              <a:t>El camión entró a la balanza de ingreso y salió por el egreso 15 minutos después: por el circuito, tuvo que pasar por los volcables y por la balanza de egreso aunque ninguna cámara lo haya capturado ahí.</a:t>
            </a:r>
            <a:endParaRPr lang="en-US" sz="1300" dirty="0"/>
          </a:p>
        </p:txBody>
      </p:sp>
      <p:pic>
        <p:nvPicPr>
          <p:cNvPr id="25" name="Image 4" descr="Nueva Vicentin Argentina">    </p:cNvPr>
          <p:cNvPicPr>
            <a:picLocks noChangeAspect="1"/>
          </p:cNvPicPr>
          <p:nvPr/>
        </p:nvPicPr>
        <p:blipFill>
          <a:blip r:embed="rId5"/>
          <a:srcRect l="-167" r="-167" t="0" b="0"/>
          <a:stretch/>
        </p:blipFill>
        <p:spPr>
          <a:xfrm>
            <a:off x="812800" y="6197600"/>
            <a:ext cx="571500" cy="304800"/>
          </a:xfrm>
          <a:prstGeom prst="rect">
            <a:avLst/>
          </a:prstGeom>
        </p:spPr>
      </p:pic>
      <p:pic>
        <p:nvPicPr>
          <p:cNvPr id="26" name="Image 5" descr="Bimtrazer">    </p:cNvPr>
          <p:cNvPicPr>
            <a:picLocks noChangeAspect="1"/>
          </p:cNvPicPr>
          <p:nvPr/>
        </p:nvPicPr>
        <p:blipFill>
          <a:blip r:embed="rId6"/>
          <a:srcRect l="0" r="0" t="-63" b="-63"/>
          <a:stretch/>
        </p:blipFill>
        <p:spPr>
          <a:xfrm>
            <a:off x="10731500" y="6197600"/>
            <a:ext cx="647700" cy="304800"/>
          </a:xfrm>
          <a:prstGeom prst="rect">
            <a:avLst/>
          </a:prstGeom>
        </p:spPr>
      </p:pic>
      <p:sp>
        <p:nvSpPr>
          <p:cNvPr id="27" name="Text 19"/>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Fotos del DSS · hora de cámara · 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5F8F4"/>
        </a:solidFill>
      </p:bgPr>
    </p:bg>
    <p:spTree>
      <p:nvGrpSpPr>
        <p:cNvPr id="1" name=""/>
        <p:cNvGrpSpPr/>
        <p:nvPr/>
      </p:nvGrpSpPr>
      <p:grpSpPr>
        <a:xfrm>
          <a:off x="0" y="0"/>
          <a:ext cx="0" cy="0"/>
          <a:chOff x="0" y="0"/>
          <a:chExt cx="0" cy="0"/>
        </a:xfrm>
      </p:grpSpPr>
      <p:sp>
        <p:nvSpPr>
          <p:cNvPr id="201" name="Item 201"/>
          <p:cNvSpPr/>
          <p:nvPr/>
        </p:nvSpPr>
        <p:spPr>
          <a:xfrm>
            <a:off x="812800" y="711200"/>
            <a:ext cx="4300000" cy="289520"/>
          </a:xfrm>
          <a:custGeom>
            <a:avLst/>
            <a:gdLst/>
            <a:ahLst/>
            <a:cxnLst/>
            <a:rect l="l" t="t" r="r" b="b"/>
            <a:pathLst>
              <a:path w="4816376" h="289520">
                <a:moveTo>
                  <a:pt x="144760" y="0"/>
                </a:moveTo>
                <a:lnTo>
                  <a:pt x="4671616" y="0"/>
                </a:lnTo>
                <a:arcTo hR="144760" wR="144760" stAng="16200000" swAng="5400000"/>
                <a:lnTo>
                  <a:pt x="4816376" y="144760"/>
                </a:lnTo>
                <a:arcTo hR="144760" wR="144760" stAng="0" swAng="5400000"/>
                <a:lnTo>
                  <a:pt x="144760" y="289520"/>
                </a:lnTo>
                <a:arcTo hR="144760" wR="144760" stAng="5400000" swAng="5400000"/>
                <a:lnTo>
                  <a:pt x="0" y="144760"/>
                </a:lnTo>
                <a:arcTo hR="144760" wR="144760" stAng="10800000" swAng="5400000"/>
                <a:close/>
              </a:path>
            </a:pathLst>
          </a:custGeom>
          <a:solidFill>
            <a:srgbClr val="2E1B4E"/>
          </a:solidFill>
          <a:ln/>
        </p:spPr>
        <p:txBody>
          <a:bodyPr wrap="none" lIns="0" tIns="0" rIns="0" bIns="0" rtlCol="0" anchor="ctr">
            <a:normAutofit/>
          </a:bodyPr>
          <a:lstStyle/>
          <a:p>
            <a:pPr algn="ctr" indent="0" marL="0">
              <a:lnSpc>
                <a:spcPts val="1680"/>
              </a:lnSpc>
              <a:buNone/>
            </a:pPr>
            <a:r>
              <a:rPr lang="en-US" sz="1200" b="1" spc="100" kern="0" dirty="0">
                <a:solidFill>
                  <a:srgbClr val="F1F6F2"/>
                </a:solidFill>
                <a:latin typeface="IBM Plex Sans" pitchFamily="34" charset="0"/>
                <a:ea typeface="IBM Plex Sans" pitchFamily="34" charset="-122"/>
                <a:cs typeface="IBM Plex Sans" pitchFamily="34" charset="-120"/>
              </a:rPr>
              <a:t>LOS PASOS QUE FALTAN · SEMANA 12 AL 18</a:t>
            </a:r>
            <a:endParaRPr lang="en-US" sz="1200" dirty="0"/>
          </a:p>
        </p:txBody>
      </p:sp>
      <p:sp>
        <p:nvSpPr>
          <p:cNvPr id="3" name="Text 1"/>
          <p:cNvSpPr/>
          <p:nvPr>
            <p:ph type="title"/>
          </p:nvPr>
        </p:nvSpPr>
        <p:spPr>
          <a:xfrm>
            <a:off x="812800" y="1076920"/>
            <a:ext cx="10883392" cy="639961"/>
          </a:xfrm>
          <a:prstGeom prst="rect">
            <a:avLst/>
          </a:prstGeom>
          <a:noFill/>
          <a:ln/>
        </p:spPr>
        <p:txBody>
          <a:bodyPr wrap="square" lIns="0" tIns="0" rIns="0" bIns="0" rtlCol="0" anchor="t">
            <a:normAutofit/>
          </a:bodyPr>
          <a:lstStyle/>
          <a:p>
            <a:pPr algn="l" indent="0" marL="0">
              <a:lnSpc>
                <a:spcPts val="2420"/>
              </a:lnSpc>
              <a:buNone/>
            </a:pPr>
            <a:r>
              <a:rPr lang="en-US" sz="2200" b="1" i="0" dirty="0">
                <a:solidFill>
                  <a:srgbClr val="14281E"/>
                </a:solidFill>
                <a:latin typeface="IBM Plex Sans" pitchFamily="34" charset="0"/>
                <a:ea typeface="IBM Plex Sans" pitchFamily="34" charset="-122"/>
                <a:cs typeface="IBM Plex Sans" pitchFamily="34" charset="-120"/>
              </a:rPr>
              <a:t>Falta 1 camión de 540: ADS392, 8 de 3.432 pasos (0,2 %); ninguna cámara leyó su patente</a:t>
            </a:r>
            <a:endParaRPr lang="en-US" sz="2200" dirty="0"/>
          </a:p>
        </p:txBody>
      </p:sp>
      <p:sp>
        <p:nvSpPr>
          <p:cNvPr id="202" name="Shape 202"/>
          <p:cNvSpPr/>
          <p:nvPr/>
        </p:nvSpPr>
        <p:spPr>
          <a:xfrm>
            <a:off x="812800" y="1843881"/>
            <a:ext cx="10566400" cy="314920"/>
          </a:xfrm>
          <a:prstGeom prst="rect">
            <a:avLst/>
          </a:prstGeom>
          <a:solidFill>
            <a:srgbClr val="0B5638"/>
          </a:solidFill>
          <a:ln/>
        </p:spPr>
      </p:sp>
      <p:sp>
        <p:nvSpPr>
          <p:cNvPr id="203" name="Text 203"/>
          <p:cNvSpPr txBox="1"/>
          <p:nvPr/>
        </p:nvSpPr>
        <p:spPr>
          <a:xfrm>
            <a:off x="889000" y="1894681"/>
            <a:ext cx="1250000" cy="23872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F1F6F2"/>
                </a:solidFill>
                <a:latin typeface="IBM Plex Sans" pitchFamily="34" charset="0"/>
                <a:ea typeface="IBM Plex Sans" pitchFamily="34" charset="-122"/>
                <a:cs typeface="IBM Plex Sans" pitchFamily="34" charset="-120"/>
              </a:rPr>
              <a:t xml:space="preserve">Camión</a:t>
            </a:r>
            <a:endParaRPr lang="es-AR" sz="1200" dirty="0"/>
          </a:p>
        </p:txBody>
      </p:sp>
      <p:sp>
        <p:nvSpPr>
          <p:cNvPr id="204" name="Text 204"/>
          <p:cNvSpPr txBox="1"/>
          <p:nvPr/>
        </p:nvSpPr>
        <p:spPr>
          <a:xfrm>
            <a:off x="2200000" y="1894681"/>
            <a:ext cx="2050000" cy="23872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F1F6F2"/>
                </a:solidFill>
                <a:latin typeface="IBM Plex Sans" pitchFamily="34" charset="0"/>
                <a:ea typeface="IBM Plex Sans" pitchFamily="34" charset="-122"/>
                <a:cs typeface="IBM Plex Sans" pitchFamily="34" charset="-120"/>
              </a:rPr>
              <a:t xml:space="preserve">Circuito · visita (Excel)</a:t>
            </a:r>
            <a:endParaRPr lang="es-AR" sz="1200" dirty="0"/>
          </a:p>
        </p:txBody>
      </p:sp>
      <p:sp>
        <p:nvSpPr>
          <p:cNvPr id="205" name="Text 205"/>
          <p:cNvSpPr txBox="1"/>
          <p:nvPr/>
        </p:nvSpPr>
        <p:spPr>
          <a:xfrm>
            <a:off x="4380000" y="1894681"/>
            <a:ext cx="3000000" cy="23872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F1F6F2"/>
                </a:solidFill>
                <a:latin typeface="IBM Plex Sans" pitchFamily="34" charset="0"/>
                <a:ea typeface="IBM Plex Sans" pitchFamily="34" charset="-122"/>
                <a:cs typeface="IBM Plex Sans" pitchFamily="34" charset="-120"/>
              </a:rPr>
              <a:t xml:space="preserve">Pasos sin ubicar</a:t>
            </a:r>
            <a:endParaRPr lang="es-AR" sz="1200" dirty="0"/>
          </a:p>
        </p:txBody>
      </p:sp>
      <p:sp>
        <p:nvSpPr>
          <p:cNvPr id="206" name="Text 206"/>
          <p:cNvSpPr txBox="1"/>
          <p:nvPr/>
        </p:nvSpPr>
        <p:spPr>
          <a:xfrm>
            <a:off x="7520000" y="1894681"/>
            <a:ext cx="3780000" cy="23872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F1F6F2"/>
                </a:solidFill>
                <a:latin typeface="IBM Plex Sans" pitchFamily="34" charset="0"/>
                <a:ea typeface="IBM Plex Sans" pitchFamily="34" charset="-122"/>
                <a:cs typeface="IBM Plex Sans" pitchFamily="34" charset="-120"/>
              </a:rPr>
              <a:t xml:space="preserve">Qué vio la cámara</a:t>
            </a:r>
            <a:endParaRPr lang="es-AR" sz="1200" dirty="0"/>
          </a:p>
        </p:txBody>
      </p:sp>
      <p:sp>
        <p:nvSpPr>
          <p:cNvPr id="207" name="Shape 207"/>
          <p:cNvSpPr/>
          <p:nvPr/>
        </p:nvSpPr>
        <p:spPr>
          <a:xfrm>
            <a:off x="812800" y="2158801"/>
            <a:ext cx="10566400" cy="1180000"/>
          </a:xfrm>
          <a:prstGeom prst="rect">
            <a:avLst/>
          </a:prstGeom>
          <a:solidFill>
            <a:srgbClr val="FCFDFB"/>
          </a:solidFill>
          <a:ln/>
        </p:spPr>
      </p:sp>
      <p:sp>
        <p:nvSpPr>
          <p:cNvPr id="208" name="Text 208"/>
          <p:cNvSpPr txBox="1"/>
          <p:nvPr/>
        </p:nvSpPr>
        <p:spPr>
          <a:xfrm>
            <a:off x="889000" y="2268801"/>
            <a:ext cx="1250000" cy="102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600" b="1" dirty="0">
                <a:solidFill>
                  <a:srgbClr val="B3261E"/>
                </a:solidFill>
                <a:latin typeface="IBM Plex Sans" pitchFamily="34" charset="0"/>
                <a:ea typeface="IBM Plex Sans" pitchFamily="34" charset="-122"/>
                <a:cs typeface="IBM Plex Sans" pitchFamily="34" charset="-120"/>
              </a:rPr>
              <a:t xml:space="preserve">ADS392</a:t>
            </a:r>
            <a:endParaRPr lang="es-AR" sz="1600" dirty="0"/>
          </a:p>
          <a:p>
            <a:pPr algn="l" indent="0" marL="0">
              <a:lnSpc>
                <a:spcPct val="110000"/>
              </a:lnSpc>
              <a:spcAft>
                <a:spcPts val="300"/>
              </a:spcAft>
              <a:buNone/>
            </a:pPr>
            <a:r>
              <a:rPr lang="es-AR" sz="1100" dirty="0">
                <a:solidFill>
                  <a:srgbClr val="4A5D52"/>
                </a:solidFill>
                <a:latin typeface="IBM Plex Sans" pitchFamily="34" charset="0"/>
                <a:ea typeface="IBM Plex Sans" pitchFamily="34" charset="-122"/>
                <a:cs typeface="IBM Plex Sans" pitchFamily="34" charset="-120"/>
              </a:rPr>
              <a:t xml:space="preserve">8 pasos · las dos plantas</a:t>
            </a:r>
            <a:endParaRPr lang="es-AR" sz="1100" dirty="0"/>
          </a:p>
        </p:txBody>
      </p:sp>
      <p:sp>
        <p:nvSpPr>
          <p:cNvPr id="209" name="Text 209"/>
          <p:cNvSpPr txBox="1"/>
          <p:nvPr/>
        </p:nvSpPr>
        <p:spPr>
          <a:xfrm>
            <a:off x="2200000" y="2268801"/>
            <a:ext cx="2050000" cy="102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300" b="1" dirty="0">
                <a:solidFill>
                  <a:srgbClr val="14281E"/>
                </a:solidFill>
                <a:latin typeface="IBM Plex Sans" pitchFamily="34" charset="0"/>
                <a:ea typeface="IBM Plex Sans" pitchFamily="34" charset="-122"/>
                <a:cs typeface="IBM Plex Sans" pitchFamily="34" charset="-120"/>
              </a:rPr>
              <a:t xml:space="preserve">R7 · soja Ricardone → puerto</a:t>
            </a:r>
            <a:endParaRPr lang="es-AR" sz="1300" dirty="0"/>
          </a:p>
          <a:p>
            <a:pPr algn="l" indent="0" marL="0">
              <a:lnSpc>
                <a:spcPct val="110000"/>
              </a:lnSpc>
              <a:spcAft>
                <a:spcPts val="300"/>
              </a:spcAft>
              <a:buNone/>
            </a:pPr>
            <a:r>
              <a:rPr lang="es-AR" sz="1200" dirty="0">
                <a:solidFill>
                  <a:srgbClr val="4A5D52"/>
                </a:solidFill>
                <a:latin typeface="IBM Plex Sans" pitchFamily="34" charset="0"/>
                <a:ea typeface="IBM Plex Sans" pitchFamily="34" charset="-122"/>
                <a:cs typeface="IBM Plex Sans" pitchFamily="34" charset="-120"/>
              </a:rPr>
              <a:t xml:space="preserve">Mar 13/10 19:47 → 20:57</a:t>
            </a:r>
            <a:endParaRPr lang="es-AR" sz="1200" dirty="0"/>
          </a:p>
        </p:txBody>
      </p:sp>
      <p:sp>
        <p:nvSpPr>
          <p:cNvPr id="210" name="Text 210"/>
          <p:cNvSpPr txBox="1"/>
          <p:nvPr/>
        </p:nvSpPr>
        <p:spPr>
          <a:xfrm>
            <a:off x="4380000" y="2268801"/>
            <a:ext cx="3000000" cy="102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dirty="0">
                <a:solidFill>
                  <a:srgbClr val="14281E"/>
                </a:solidFill>
                <a:latin typeface="IBM Plex Sans" pitchFamily="34" charset="0"/>
                <a:ea typeface="IBM Plex Sans" pitchFamily="34" charset="-122"/>
                <a:cs typeface="IBM Plex Sans" pitchFamily="34" charset="-120"/>
              </a:rPr>
              <a:t xml:space="preserve">Ricardone: Preingreso, Calada y Salida</a:t>
            </a:r>
            <a:endParaRPr lang="es-AR" sz="1200" dirty="0"/>
          </a:p>
          <a:p>
            <a:pPr algn="l" indent="0" marL="0">
              <a:lnSpc>
                <a:spcPct val="110000"/>
              </a:lnSpc>
              <a:spcAft>
                <a:spcPts val="300"/>
              </a:spcAft>
              <a:buNone/>
            </a:pPr>
            <a:r>
              <a:rPr lang="es-AR" sz="1200" dirty="0">
                <a:solidFill>
                  <a:srgbClr val="14281E"/>
                </a:solidFill>
                <a:latin typeface="IBM Plex Sans" pitchFamily="34" charset="0"/>
                <a:ea typeface="IBM Plex Sans" pitchFamily="34" charset="-122"/>
                <a:cs typeface="IBM Plex Sans" pitchFamily="34" charset="-120"/>
              </a:rPr>
              <a:t xml:space="preserve">Puerto: Ingreso, Balanza ingreso, Volcables, Balanza egreso y Egreso</a:t>
            </a:r>
            <a:endParaRPr lang="es-AR" sz="1200" dirty="0"/>
          </a:p>
        </p:txBody>
      </p:sp>
      <p:sp>
        <p:nvSpPr>
          <p:cNvPr id="211" name="Text 211"/>
          <p:cNvSpPr txBox="1"/>
          <p:nvPr/>
        </p:nvSpPr>
        <p:spPr>
          <a:xfrm>
            <a:off x="7520000" y="2268801"/>
            <a:ext cx="3780000" cy="102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dirty="0">
                <a:solidFill>
                  <a:srgbClr val="14281E"/>
                </a:solidFill>
                <a:latin typeface="IBM Plex Sans" pitchFamily="34" charset="0"/>
                <a:ea typeface="IBM Plex Sans" pitchFamily="34" charset="-122"/>
                <a:cs typeface="IBM Plex Sans" pitchFamily="34" charset="-120"/>
              </a:rPr>
              <a:t xml:space="preserve">Ninguna cámara leyó la patente. Solo un fragmento </a:t>
            </a:r>
            <a:r>
              <a:rPr lang="es-AR" sz="1200" b="1" dirty="0">
                <a:solidFill>
                  <a:srgbClr val="4B3D7A"/>
                </a:solidFill>
                <a:latin typeface="IBM Plex Sans" pitchFamily="34" charset="0"/>
                <a:ea typeface="IBM Plex Sans" pitchFamily="34" charset="-122"/>
                <a:cs typeface="IBM Plex Sans" pitchFamily="34" charset="-120"/>
              </a:rPr>
              <a:t xml:space="preserve">A92</a:t>
            </a:r>
            <a:r>
              <a:rPr lang="es-AR" sz="1200" dirty="0">
                <a:solidFill>
                  <a:srgbClr val="14281E"/>
                </a:solidFill>
                <a:latin typeface="IBM Plex Sans" pitchFamily="34" charset="0"/>
                <a:ea typeface="IBM Plex Sans" pitchFamily="34" charset="-122"/>
                <a:cs typeface="IBM Plex Sans" pitchFamily="34" charset="-120"/>
              </a:rPr>
              <a:t xml:space="preserve"> en el volcable 5 a las 20:37, la plataforma que figura en el Excel.</a:t>
            </a:r>
            <a:endParaRPr lang="es-AR" sz="1200" dirty="0"/>
          </a:p>
          <a:p>
            <a:pPr algn="l" indent="0" marL="0">
              <a:lnSpc>
                <a:spcPct val="110000"/>
              </a:lnSpc>
              <a:spcAft>
                <a:spcPts val="300"/>
              </a:spcAft>
              <a:buNone/>
            </a:pPr>
            <a:r>
              <a:rPr lang="es-AR" sz="1100" dirty="0">
                <a:solidFill>
                  <a:srgbClr val="4A5D52"/>
                </a:solidFill>
                <a:latin typeface="IBM Plex Sans" pitchFamily="34" charset="0"/>
                <a:ea typeface="IBM Plex Sans" pitchFamily="34" charset="-122"/>
                <a:cs typeface="IBM Plex Sans" pitchFamily="34" charset="-120"/>
              </a:rPr>
              <a:t xml:space="preserve">Hay que revisar las fotos del DSS de esa noche.</a:t>
            </a:r>
            <a:endParaRPr lang="es-AR" sz="1100" dirty="0"/>
          </a:p>
        </p:txBody>
      </p:sp>
      <p:cxnSp>
        <p:nvCxnSpPr>
          <p:cNvPr id="212" name="Line 212"/>
          <p:cNvCxnSpPr/>
          <p:nvPr/>
        </p:nvCxnSpPr>
        <p:spPr>
          <a:xfrm>
            <a:off x="812800" y="3338801"/>
            <a:ext cx="10566400" cy="0"/>
          </a:xfrm>
          <a:prstGeom prst="line">
            <a:avLst/>
          </a:prstGeom>
          <a:ln w="12700">
            <a:solidFill>
              <a:srgbClr val="D3E2D7"/>
            </a:solidFill>
          </a:ln>
        </p:spPr>
      </p:cxnSp>
      <p:sp>
        <p:nvSpPr>
          <p:cNvPr id="213" name="Shape 213"/>
          <p:cNvSpPr/>
          <p:nvPr/>
        </p:nvSpPr>
        <p:spPr>
          <a:xfrm>
            <a:off x="812800" y="3638801"/>
            <a:ext cx="10566400" cy="1300000"/>
          </a:xfrm>
          <a:prstGeom prst="roundRect">
            <a:avLst>
              <a:gd name="adj" fmla="val 6000"/>
            </a:avLst>
          </a:prstGeom>
          <a:solidFill>
            <a:srgbClr val="E3ECE5"/>
          </a:solidFill>
          <a:ln/>
        </p:spPr>
      </p:sp>
      <p:sp>
        <p:nvSpPr>
          <p:cNvPr id="214" name="Text 214"/>
          <p:cNvSpPr txBox="1"/>
          <p:nvPr/>
        </p:nvSpPr>
        <p:spPr>
          <a:xfrm>
            <a:off x="1042800" y="3788801"/>
            <a:ext cx="2350000" cy="105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0B5638"/>
                </a:solidFill>
                <a:latin typeface="IBM Plex Sans" pitchFamily="34" charset="0"/>
                <a:ea typeface="IBM Plex Sans" pitchFamily="34" charset="-122"/>
                <a:cs typeface="IBM Plex Sans" pitchFamily="34" charset="-120"/>
              </a:rPr>
              <a:t xml:space="preserve">Antes de la corrección</a:t>
            </a:r>
            <a:endParaRPr lang="es-AR" sz="1200" dirty="0"/>
          </a:p>
          <a:p>
            <a:pPr algn="l" indent="0" marL="0">
              <a:lnSpc>
                <a:spcPct val="110000"/>
              </a:lnSpc>
              <a:spcAft>
                <a:spcPts val="300"/>
              </a:spcAft>
              <a:buNone/>
            </a:pPr>
            <a:r>
              <a:rPr lang="es-AR" sz="2000" b="1" dirty="0">
                <a:solidFill>
                  <a:srgbClr val="14281E"/>
                </a:solidFill>
                <a:latin typeface="IBM Plex Sans" pitchFamily="34" charset="0"/>
                <a:ea typeface="IBM Plex Sans" pitchFamily="34" charset="-122"/>
                <a:cs typeface="IBM Plex Sans" pitchFamily="34" charset="-120"/>
              </a:rPr>
              <a:t xml:space="preserve">34 pasos · 1 %</a:t>
            </a:r>
            <a:endParaRPr lang="es-AR" sz="2000" dirty="0"/>
          </a:p>
          <a:p>
            <a:pPr algn="l" indent="0" marL="0">
              <a:lnSpc>
                <a:spcPct val="110000"/>
              </a:lnSpc>
              <a:spcAft>
                <a:spcPts val="300"/>
              </a:spcAft>
              <a:buNone/>
            </a:pPr>
            <a:r>
              <a:rPr lang="es-AR" sz="1200" dirty="0">
                <a:solidFill>
                  <a:srgbClr val="4A5D52"/>
                </a:solidFill>
                <a:latin typeface="IBM Plex Sans" pitchFamily="34" charset="0"/>
                <a:ea typeface="IBM Plex Sans" pitchFamily="34" charset="-122"/>
                <a:cs typeface="IBM Plex Sans" pitchFamily="34" charset="-120"/>
              </a:rPr>
              <a:t xml:space="preserve">en 7 camiones</a:t>
            </a:r>
            <a:endParaRPr lang="es-AR" sz="1200" dirty="0"/>
          </a:p>
        </p:txBody>
      </p:sp>
      <p:sp>
        <p:nvSpPr>
          <p:cNvPr id="215" name="Text 215"/>
          <p:cNvSpPr txBox="1"/>
          <p:nvPr/>
        </p:nvSpPr>
        <p:spPr>
          <a:xfrm>
            <a:off x="3562800" y="3788801"/>
            <a:ext cx="7586400" cy="1050000"/>
          </a:xfrm>
          <a:prstGeom prst="rect">
            <a:avLst/>
          </a:prstGeom>
          <a:noFill/>
          <a:ln/>
        </p:spPr>
        <p:txBody>
          <a:bodyPr wrap="square" lIns="0" tIns="0" rIns="0" bIns="0" rtlCol="0" anchor="t">
            <a:noAutofit/>
          </a:bodyPr>
          <a:lstStyle/>
          <a:p>
            <a:pPr algn="l" indent="0" marL="0">
              <a:lnSpc>
                <a:spcPct val="110000"/>
              </a:lnSpc>
              <a:spcAft>
                <a:spcPts val="300"/>
              </a:spcAft>
              <a:buNone/>
            </a:pPr>
            <a:r>
              <a:rPr lang="es-AR" sz="1200" b="1" dirty="0">
                <a:solidFill>
                  <a:srgbClr val="14281E"/>
                </a:solidFill>
                <a:latin typeface="IBM Plex Sans" pitchFamily="34" charset="0"/>
                <a:ea typeface="IBM Plex Sans" pitchFamily="34" charset="-122"/>
                <a:cs typeface="IBM Plex Sans" pitchFamily="34" charset="-120"/>
              </a:rPr>
              <a:t xml:space="preserve">Recuperados: </a:t>
            </a:r>
            <a:r>
              <a:rPr lang="es-AR" sz="1200" b="1" dirty="0">
                <a:solidFill>
                  <a:srgbClr val="0B5638"/>
                </a:solidFill>
                <a:latin typeface="IBM Plex Sans" pitchFamily="34" charset="0"/>
                <a:ea typeface="IBM Plex Sans" pitchFamily="34" charset="-122"/>
                <a:cs typeface="IBM Plex Sans" pitchFamily="34" charset="-120"/>
              </a:rPr>
              <a:t xml:space="preserve">AVB781</a:t>
            </a:r>
            <a:r>
              <a:rPr lang="es-AR" sz="1200" dirty="0">
                <a:solidFill>
                  <a:srgbClr val="14281E"/>
                </a:solidFill>
                <a:latin typeface="IBM Plex Sans" pitchFamily="34" charset="0"/>
                <a:ea typeface="IBM Plex Sans" pitchFamily="34" charset="-122"/>
                <a:cs typeface="IBM Plex Sans" pitchFamily="34" charset="-120"/>
              </a:rPr>
              <a:t xml:space="preserve"> (leyó IVB7874 y el DSS lo tomó por un auto) · </a:t>
            </a:r>
            <a:r>
              <a:rPr lang="es-AR" sz="1200" b="1" dirty="0">
                <a:solidFill>
                  <a:srgbClr val="0B5638"/>
                </a:solidFill>
                <a:latin typeface="IBM Plex Sans" pitchFamily="34" charset="0"/>
                <a:ea typeface="IBM Plex Sans" pitchFamily="34" charset="-122"/>
                <a:cs typeface="IBM Plex Sans" pitchFamily="34" charset="-120"/>
              </a:rPr>
              <a:t xml:space="preserve">STN281</a:t>
            </a:r>
            <a:r>
              <a:rPr lang="es-AR" sz="1200" dirty="0">
                <a:solidFill>
                  <a:srgbClr val="14281E"/>
                </a:solidFill>
                <a:latin typeface="IBM Plex Sans" pitchFamily="34" charset="0"/>
                <a:ea typeface="IBM Plex Sans" pitchFamily="34" charset="-122"/>
                <a:cs typeface="IBM Plex Sans" pitchFamily="34" charset="-120"/>
              </a:rPr>
              <a:t xml:space="preserve"> (STK281 en el puerto, sin lectura en Ricardone) · </a:t>
            </a:r>
            <a:r>
              <a:rPr lang="es-AR" sz="1200" b="1" dirty="0">
                <a:solidFill>
                  <a:srgbClr val="0B5638"/>
                </a:solidFill>
                <a:latin typeface="IBM Plex Sans" pitchFamily="34" charset="0"/>
                <a:ea typeface="IBM Plex Sans" pitchFamily="34" charset="-122"/>
                <a:cs typeface="IBM Plex Sans" pitchFamily="34" charset="-120"/>
              </a:rPr>
              <a:t xml:space="preserve">GFP699</a:t>
            </a:r>
            <a:r>
              <a:rPr lang="es-AR" sz="1200" dirty="0">
                <a:solidFill>
                  <a:srgbClr val="14281E"/>
                </a:solidFill>
                <a:latin typeface="IBM Plex Sans" pitchFamily="34" charset="0"/>
                <a:ea typeface="IBM Plex Sans" pitchFamily="34" charset="-122"/>
                <a:cs typeface="IBM Plex Sans" pitchFamily="34" charset="-120"/>
              </a:rPr>
              <a:t xml:space="preserve"> (glicerina del puerto, no de Ricardone) · </a:t>
            </a:r>
            <a:r>
              <a:rPr lang="es-AR" sz="1200" b="1" dirty="0">
                <a:solidFill>
                  <a:srgbClr val="0B5638"/>
                </a:solidFill>
                <a:latin typeface="IBM Plex Sans" pitchFamily="34" charset="0"/>
                <a:ea typeface="IBM Plex Sans" pitchFamily="34" charset="-122"/>
                <a:cs typeface="IBM Plex Sans" pitchFamily="34" charset="-120"/>
              </a:rPr>
              <a:t xml:space="preserve">AD602QY</a:t>
            </a:r>
            <a:r>
              <a:rPr lang="es-AR" sz="1200" dirty="0">
                <a:solidFill>
                  <a:srgbClr val="14281E"/>
                </a:solidFill>
                <a:latin typeface="IBM Plex Sans" pitchFamily="34" charset="0"/>
                <a:ea typeface="IBM Plex Sans" pitchFamily="34" charset="-122"/>
                <a:cs typeface="IBM Plex Sans" pitchFamily="34" charset="-120"/>
              </a:rPr>
              <a:t xml:space="preserve"> (visita de 18 h) · </a:t>
            </a:r>
            <a:r>
              <a:rPr lang="es-AR" sz="1200" b="1" dirty="0">
                <a:solidFill>
                  <a:srgbClr val="0B5638"/>
                </a:solidFill>
                <a:latin typeface="IBM Plex Sans" pitchFamily="34" charset="0"/>
                <a:ea typeface="IBM Plex Sans" pitchFamily="34" charset="-122"/>
                <a:cs typeface="IBM Plex Sans" pitchFamily="34" charset="-120"/>
              </a:rPr>
              <a:t xml:space="preserve">OJP930</a:t>
            </a:r>
            <a:r>
              <a:rPr lang="es-AR" sz="1200" dirty="0">
                <a:solidFill>
                  <a:srgbClr val="14281E"/>
                </a:solidFill>
                <a:latin typeface="IBM Plex Sans" pitchFamily="34" charset="0"/>
                <a:ea typeface="IBM Plex Sans" pitchFamily="34" charset="-122"/>
                <a:cs typeface="IBM Plex Sans" pitchFamily="34" charset="-120"/>
              </a:rPr>
              <a:t xml:space="preserve"> · </a:t>
            </a:r>
            <a:r>
              <a:rPr lang="es-AR" sz="1200" b="1" dirty="0">
                <a:solidFill>
                  <a:srgbClr val="0B5638"/>
                </a:solidFill>
                <a:latin typeface="IBM Plex Sans" pitchFamily="34" charset="0"/>
                <a:ea typeface="IBM Plex Sans" pitchFamily="34" charset="-122"/>
                <a:cs typeface="IBM Plex Sans" pitchFamily="34" charset="-120"/>
              </a:rPr>
              <a:t xml:space="preserve">GZI868</a:t>
            </a:r>
            <a:r>
              <a:rPr lang="es-AR" sz="1200" dirty="0">
                <a:solidFill>
                  <a:srgbClr val="14281E"/>
                </a:solidFill>
                <a:latin typeface="IBM Plex Sans" pitchFamily="34" charset="0"/>
                <a:ea typeface="IBM Plex Sans" pitchFamily="34" charset="-122"/>
                <a:cs typeface="IBM Plex Sans" pitchFamily="34" charset="-120"/>
              </a:rPr>
              <a:t xml:space="preserve"> (lecturas cortadas GZI04 y GZI, que arrancan igual que su patente)</a:t>
            </a:r>
            <a:endParaRPr lang="es-AR" sz="1200" dirty="0"/>
          </a:p>
          <a:p>
            <a:pPr algn="l" indent="0" marL="0">
              <a:lnSpc>
                <a:spcPct val="110000"/>
              </a:lnSpc>
              <a:spcAft>
                <a:spcPts val="300"/>
              </a:spcAft>
              <a:buNone/>
            </a:pPr>
            <a:r>
              <a:rPr lang="es-AR" sz="1200" b="1" dirty="0">
                <a:solidFill>
                  <a:srgbClr val="14281E"/>
                </a:solidFill>
                <a:latin typeface="IBM Plex Sans" pitchFamily="34" charset="0"/>
                <a:ea typeface="IBM Plex Sans" pitchFamily="34" charset="-122"/>
                <a:cs typeface="IBM Plex Sans" pitchFamily="34" charset="-120"/>
              </a:rPr>
              <a:t xml:space="preserve">Fuera del lote: </a:t>
            </a:r>
            <a:r>
              <a:rPr lang="es-AR" sz="1200" b="1" dirty="0">
                <a:solidFill>
                  <a:srgbClr val="14281E"/>
                </a:solidFill>
                <a:latin typeface="IBM Plex Sans" pitchFamily="34" charset="0"/>
                <a:ea typeface="IBM Plex Sans" pitchFamily="34" charset="-122"/>
                <a:cs typeface="IBM Plex Sans" pitchFamily="34" charset="-120"/>
              </a:rPr>
              <a:t xml:space="preserve">ROO085</a:t>
            </a:r>
            <a:r>
              <a:rPr lang="es-AR" sz="1200" dirty="0">
                <a:solidFill>
                  <a:srgbClr val="14281E"/>
                </a:solidFill>
                <a:latin typeface="IBM Plex Sans" pitchFamily="34" charset="0"/>
                <a:ea typeface="IBM Plex Sans" pitchFamily="34" charset="-122"/>
                <a:cs typeface="IBM Plex Sans" pitchFamily="34" charset="-120"/>
              </a:rPr>
              <a:t xml:space="preserve"> tenía ingreso y salida en el mismo minuto y ninguna cámara lo vio: registro sin visita.</a:t>
            </a:r>
            <a:endParaRPr lang="es-AR" sz="1200" dirty="0"/>
          </a:p>
          <a:p>
            <a:pPr algn="l" indent="0" marL="0">
              <a:lnSpc>
                <a:spcPct val="110000"/>
              </a:lnSpc>
              <a:spcAft>
                <a:spcPts val="300"/>
              </a:spcAft>
              <a:buNone/>
            </a:pPr>
            <a:r>
              <a:rPr lang="es-AR" sz="1200" b="1" dirty="0">
                <a:solidFill>
                  <a:srgbClr val="14281E"/>
                </a:solidFill>
                <a:latin typeface="IBM Plex Sans" pitchFamily="34" charset="0"/>
                <a:ea typeface="IBM Plex Sans" pitchFamily="34" charset="-122"/>
                <a:cs typeface="IBM Plex Sans" pitchFamily="34" charset="-120"/>
              </a:rPr>
              <a:t xml:space="preserve">Pasa a faltante: </a:t>
            </a:r>
            <a:r>
              <a:rPr lang="es-AR" sz="1200" b="1" dirty="0">
                <a:solidFill>
                  <a:srgbClr val="B3261E"/>
                </a:solidFill>
                <a:latin typeface="IBM Plex Sans" pitchFamily="34" charset="0"/>
                <a:ea typeface="IBM Plex Sans" pitchFamily="34" charset="-122"/>
                <a:cs typeface="IBM Plex Sans" pitchFamily="34" charset="-120"/>
              </a:rPr>
              <a:t xml:space="preserve">ADS392</a:t>
            </a:r>
            <a:r>
              <a:rPr lang="es-AR" sz="1200" dirty="0">
                <a:solidFill>
                  <a:srgbClr val="14281E"/>
                </a:solidFill>
                <a:latin typeface="IBM Plex Sans" pitchFamily="34" charset="0"/>
                <a:ea typeface="IBM Plex Sans" pitchFamily="34" charset="-122"/>
                <a:cs typeface="IBM Plex Sans" pitchFamily="34" charset="-120"/>
              </a:rPr>
              <a:t xml:space="preserve"> figuraba completo por una lectura asignada 6 h después de su salida.</a:t>
            </a:r>
            <a:endParaRPr lang="es-AR" sz="1200" dirty="0"/>
          </a:p>
        </p:txBody>
      </p:sp>
      <p:sp>
        <p:nvSpPr>
          <p:cNvPr id="105" name="Text 101"/>
          <p:cNvSpPr/>
          <p:nvPr/>
        </p:nvSpPr>
        <p:spPr>
          <a:xfrm>
            <a:off x="1517650" y="6235700"/>
            <a:ext cx="91567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D52"/>
                </a:solidFill>
                <a:latin typeface="IBM Plex Sans" pitchFamily="34" charset="0"/>
                <a:ea typeface="IBM Plex Sans" pitchFamily="34" charset="-122"/>
                <a:cs typeface="IBM Plex Sans" pitchFamily="34" charset="-120"/>
              </a:rPr>
              <a:t>Algoritmo por lote · pasos = camiones del lote que debían pasar por el nodo según su circuito · hora de Argentina · 8</a:t>
            </a:r>
            <a:endParaRPr lang="en-US" sz="1200" dirty="0"/>
          </a:p>
        </p:txBody>
      </p:sp>
      <p:pic>
        <p:nvPicPr>
          <p:cNvPr id="103" name="Image 0" descr="Nueva Vicentin Argentina">    </p:cNvPr>
          <p:cNvPicPr>
            <a:picLocks noChangeAspect="1"/>
          </p:cNvPicPr>
          <p:nvPr/>
        </p:nvPicPr>
        <p:blipFill>
          <a:blip r:embed="rId1"/>
          <a:srcRect l="-167" r="-167" t="0" b="0"/>
          <a:stretch/>
        </p:blipFill>
        <p:spPr>
          <a:xfrm>
            <a:off x="812800" y="6197600"/>
            <a:ext cx="571500" cy="304800"/>
          </a:xfrm>
          <a:prstGeom prst="rect">
            <a:avLst/>
          </a:prstGeom>
        </p:spPr>
      </p:pic>
      <p:pic>
        <p:nvPicPr>
          <p:cNvPr id="104" name="Image 1" descr="Bimtrazer">    </p:cNvPr>
          <p:cNvPicPr>
            <a:picLocks noChangeAspect="1"/>
          </p:cNvPicPr>
          <p:nvPr/>
        </p:nvPicPr>
        <p:blipFill>
          <a:blip r:embed="rId2"/>
          <a:srcRect l="0" r="0" t="-63" b="-63"/>
          <a:stretch/>
        </p:blipFill>
        <p:spPr>
          <a:xfrm>
            <a:off x="10731500" y="6197600"/>
            <a:ext cx="647700" cy="304800"/>
          </a:xfrm>
          <a:prstGeom prst="rect">
            <a:avLst/>
          </a:prstGeom>
        </p:spPr>
      </p:pic>
    </p:spTree>
  </p:cSld>
  <p:clrMapOvr>
    <a:masterClrMapping/>
  </p:clrMapOvr>
</p:sld>
</file>

<file path=ppt/theme/theme1.xml><?xml version="1.0" encoding="utf-8"?>
<a:theme xmlns:a="http://schemas.openxmlformats.org/drawingml/2006/main" name="Reconocimiento de cámaras · 12 al 18 de octubre">
  <a:themeElements>
    <a:clrScheme name="Reconocimiento de cámaras · 12 al 18 de octubre">
      <a:dk1>
        <a:srgbClr val="14281E"/>
      </a:dk1>
      <a:lt1>
        <a:srgbClr val="F5F8F4"/>
      </a:lt1>
      <a:dk2>
        <a:srgbClr val="4C5C54"/>
      </a:dk2>
      <a:lt2>
        <a:srgbClr val="DFE3DF"/>
      </a:lt2>
      <a:accent1>
        <a:srgbClr val="0B5638"/>
      </a:accent1>
      <a:accent2>
        <a:srgbClr val="B3261E"/>
      </a:accent2>
      <a:accent3>
        <a:srgbClr val="8A5A00"/>
      </a:accent3>
      <a:accent4>
        <a:srgbClr val="7FB894"/>
      </a:accent4>
      <a:accent5>
        <a:srgbClr val="9C8FC4"/>
      </a:accent5>
      <a:accent6>
        <a:srgbClr val="4B3D7A"/>
      </a:accent6>
      <a:hlink>
        <a:srgbClr val="0563C1"/>
      </a:hlink>
      <a:folHlink>
        <a:srgbClr val="954F72"/>
      </a:folHlink>
    </a:clrScheme>
    <a:fontScheme name="Reconocimiento de cámaras · 12 al 18 de octub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Reconocimiento de cámaras · 12 al 18 de octubre</dc:title>
  <dc:subject/>
  <dc:creator/>
  <cp:lastModifiedBy/>
  <cp:revision>1</cp:revision>
  <dcterms:created xsi:type="dcterms:W3CDTF">2026-10-19T18:56:58Z</dcterms:created>
  <dcterms:modified xsi:type="dcterms:W3CDTF">2026-10-19T18:56:58Z</dcterms:modified>
</cp:coreProperties>
</file>