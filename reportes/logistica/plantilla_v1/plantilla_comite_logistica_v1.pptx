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448300" cx="9144000"/>
  <p:notesSz cx="6858000" cy="9144000"/>
  <p:embeddedFontLst>
    <p:embeddedFont>
      <p:font typeface="Inter"/>
      <p:regular r:id="rId78"/>
      <p:bold r:id="rId79"/>
      <p:italic r:id="rId80"/>
      <p:boldItalic r:id="rId81"/>
    </p:embeddedFont>
    <p:embeddedFont>
      <p:font typeface="Inter ExtraBold"/>
      <p:bold r:id="rId82"/>
      <p:boldItalic r:id="rId83"/>
    </p:embeddedFont>
    <p:embeddedFont>
      <p:font typeface="Inter Medium"/>
      <p:regular r:id="rId84"/>
      <p:bold r:id="rId85"/>
      <p:italic r:id="rId86"/>
      <p:boldItalic r:id="rId87"/>
    </p:embeddedFont>
    <p:embeddedFont>
      <p:font typeface="Inter ExtraLight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InterMedium-regular.fntdata"/><Relationship Id="rId83" Type="http://schemas.openxmlformats.org/officeDocument/2006/relationships/font" Target="fonts/InterExtraBold-boldItalic.fntdata"/><Relationship Id="rId42" Type="http://schemas.openxmlformats.org/officeDocument/2006/relationships/slide" Target="slides/slide37.xml"/><Relationship Id="rId86" Type="http://schemas.openxmlformats.org/officeDocument/2006/relationships/font" Target="fonts/InterMedium-italic.fntdata"/><Relationship Id="rId41" Type="http://schemas.openxmlformats.org/officeDocument/2006/relationships/slide" Target="slides/slide36.xml"/><Relationship Id="rId85" Type="http://schemas.openxmlformats.org/officeDocument/2006/relationships/font" Target="fonts/InterMedium-bold.fntdata"/><Relationship Id="rId44" Type="http://schemas.openxmlformats.org/officeDocument/2006/relationships/slide" Target="slides/slide39.xml"/><Relationship Id="rId88" Type="http://schemas.openxmlformats.org/officeDocument/2006/relationships/font" Target="fonts/InterExtraLight-regular.fntdata"/><Relationship Id="rId43" Type="http://schemas.openxmlformats.org/officeDocument/2006/relationships/slide" Target="slides/slide38.xml"/><Relationship Id="rId87" Type="http://schemas.openxmlformats.org/officeDocument/2006/relationships/font" Target="fonts/InterMedium-boldItalic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InterExtraLight-bold.fntdata"/><Relationship Id="rId80" Type="http://schemas.openxmlformats.org/officeDocument/2006/relationships/font" Target="fonts/Inter-italic.fntdata"/><Relationship Id="rId82" Type="http://schemas.openxmlformats.org/officeDocument/2006/relationships/font" Target="fonts/InterExtraBold-bold.fntdata"/><Relationship Id="rId81" Type="http://schemas.openxmlformats.org/officeDocument/2006/relationships/font" Target="fonts/Int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Inter-bold.fntdata"/><Relationship Id="rId34" Type="http://schemas.openxmlformats.org/officeDocument/2006/relationships/slide" Target="slides/slide29.xml"/><Relationship Id="rId78" Type="http://schemas.openxmlformats.org/officeDocument/2006/relationships/font" Target="fonts/Inter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InterExtraLight-boldItalic.fntdata"/><Relationship Id="rId90" Type="http://schemas.openxmlformats.org/officeDocument/2006/relationships/font" Target="fonts/InterExtraLight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1a73295ee3a200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h1a73295ee3a200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1. Los valores son reportados, no recalculados.</a:t>
            </a:r>
          </a:p>
          <a:p>
            <a:r>
              <a:t>Familia: cover. Fuente prevista: static.</a:t>
            </a:r>
          </a:p>
          <a:p>
            <a:r>
              <a:t>Campos previstos: report.title, period.label, committee.date.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1a73295ee3a2006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1a73295ee3a2006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2. Los valores son reportados, no recalculados.</a:t>
            </a:r>
          </a:p>
          <a:p>
            <a:r>
              <a:t>Familia: index. Fuente prevista: static.</a:t>
            </a:r>
          </a:p>
          <a:p>
            <a:r>
              <a:t>Campos previstos: sections[].title, sections[].page_range,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a73295ee3a2006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a73295ee3a2006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3. Los valores son reportados, no recalculados.</a:t>
            </a:r>
          </a:p>
          <a:p>
            <a:r>
              <a:t>Familia: sample. Fuente prevista: executive.</a:t>
            </a:r>
          </a:p>
          <a:p>
            <a:r>
              <a:t>Campos previstos: sample.products[].count, sample.products[].unit, sample.total, period.label.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1a73295ee3a2006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1a73295ee3a2006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1a73295ee3a20068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1a73295ee3a2006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1a73295ee3a2006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h1a73295ee3a2006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1a73295ee3a20068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h1a73295ee3a20068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1a73295ee3a20068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h1a73295ee3a20068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8.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h1a73295ee3a20068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h1a73295ee3a20068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9.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h1a73295ee3a20068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h1a73295ee3a20068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10.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1a73295ee3a20068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h1a73295ee3a20068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11.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1a73295ee3a20068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h1a73295ee3a20068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12.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h1a73295ee3a20068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h1a73295ee3a20068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h1a73295ee3a20068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h1a73295ee3a20068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h1a73295ee3a2006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h1a73295ee3a2006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15.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h1a73295ee3a20068_0_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h1a73295ee3a20068_0_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16.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h1a73295ee3a20068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h1a73295ee3a20068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17.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h1a73295ee3a20068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h1a73295ee3a20068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18.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h1a73295ee3a20068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h1a73295ee3a20068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19.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h1a73295ee3a20068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h1a73295ee3a20068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20. Los valores son reportados, no recalculados.</a:t>
            </a:r>
          </a:p>
          <a:p>
            <a:r>
              <a:t>Familia: operation. Fuente prevista: derived.</a:t>
            </a:r>
          </a:p>
          <a:p>
            <a:r>
              <a:t>Campos previstos: operation.start, operation.end, operation.status, truck_count, estimated_tonnes, tonnes_assumption.</a:t>
            </a:r>
          </a:p>
          <a:p>
            <a:r>
              <a:t>Inclusión futura: product_has_activity.</a:t>
            </a:r>
          </a:p>
          <a:p>
            <a:r>
              <a:t>Toneladas estimadas = camiones × 30; falta conciliar 185/188 de referencia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h1a73295ee3a20068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h1a73295ee3a20068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21.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h1a73295ee3a20068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h1a73295ee3a20068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22.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h1a73295ee3a20068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6" name="Google Shape;936;h1a73295ee3a20068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23.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h1a73295ee3a20068_0_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h1a73295ee3a20068_0_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24. Los valores son reportados, no recalculados.</a:t>
            </a:r>
          </a:p>
          <a:p>
            <a:r>
              <a:t>Familia: timing_daily.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previous_operation.delta_minutes, quarters.Q1, quarters.Q2, quarters.Q3, quarters.Q4, day.</a:t>
            </a:r>
          </a:p>
          <a:p>
            <a:r>
              <a:t>Inclusión futura: product_circuit_day_has_activity.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h1a73295ee3a20068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h1a73295ee3a20068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25.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h1a73295ee3a20068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h1a73295ee3a20068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26.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h1a73295ee3a20068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h1a73295ee3a20068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27. Los valores son reportados, no recalculados.</a:t>
            </a:r>
          </a:p>
          <a:p>
            <a:r>
              <a:t>Familia: section_index. Fuente prevista: static.</a:t>
            </a:r>
          </a:p>
          <a:p>
            <a:r>
              <a:t>Campos previstos: section.items.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h1a73295ee3a20068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h1a73295ee3a20068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28. Los valores son reportados, no recalculados.</a:t>
            </a:r>
          </a:p>
          <a:p>
            <a:r>
              <a:t>Familia: lpr. Fuente prevista: calibration.</a:t>
            </a:r>
          </a:p>
          <a:p>
            <a:r>
              <a:t>Campos previstos: recognitionDepthBuckets, top_missing_step, missing_count, sample_n.</a:t>
            </a:r>
          </a:p>
          <a:p>
            <a:r>
              <a:t>Inclusión futura: always.</a:t>
            </a:r>
          </a:p>
          <a:p>
            <a:r>
              <a:t>Conservar cobertura observada; no sumar baja cobertura a TODAS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h1a73295ee3a20068_0_1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h1a73295ee3a20068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29. Los valores son reportados, no recalculados.</a:t>
            </a:r>
          </a:p>
          <a:p>
            <a:r>
              <a:t>Familia: route. Fuente prevista: static.</a:t>
            </a:r>
          </a:p>
          <a:p>
            <a:r>
              <a:t>Campos previstos: route.label, product.label, route.steps.</a:t>
            </a:r>
          </a:p>
          <a:p>
            <a:r>
              <a:t>Inclusión futura: circuit_has_activity.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h1a73295ee3a20068_0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h1a73295ee3a20068_0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30. Los valores son reportados, no recalculados.</a:t>
            </a:r>
          </a:p>
          <a:p>
            <a:r>
              <a:t>Familia: timing_weekly. Fuente prevista: timing.</a:t>
            </a:r>
          </a:p>
          <a:p>
            <a:r>
              <a:t>Campos previstos: segments[].mean_minutes, segments[].sample_n, sum_segment_means_minutes, plants[].sum_segment_means_minutes, sample_count, sample_unit, previous_operation.delta_minutes.</a:t>
            </a:r>
          </a:p>
          <a:p>
            <a:r>
              <a:t>Inclusión futura: product_circuit_has_activity.</a:t>
            </a:r>
          </a:p>
          <a:p>
            <a:r>
              <a:t>No confundir suma de medias con media de ciclo; comparar con último operativo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1a73295ee3a20068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h1a73295ee3a20068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31. Los valores son reportados, no recalculados.</a:t>
            </a:r>
          </a:p>
          <a:p>
            <a:r>
              <a:t>Familia: history. Fuente prevista: history.</a:t>
            </a:r>
          </a:p>
          <a:p>
            <a:r>
              <a:t>Campos previstos: historical_series[].reported_values, historical_series[].periods, historical_series[].unit, previous_operation.period.</a:t>
            </a:r>
          </a:p>
          <a:p>
            <a:r>
              <a:t>Inclusión futura: always.</a:t>
            </a:r>
          </a:p>
          <a:p>
            <a:r>
              <a:t>No recalcular el histórico presentado; sustituir imagen solo con transcripción validada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h1a73295ee3a20068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h1a73295ee3a20068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32. Los valores son reportados, no recalculados.</a:t>
            </a:r>
          </a:p>
          <a:p>
            <a:r>
              <a:t>Familia: conclusions. Fuente prevista: derived.</a:t>
            </a:r>
          </a:p>
          <a:p>
            <a:r>
              <a:t>Campos previstos: findings[].statement, findings[].metric_refs.</a:t>
            </a:r>
          </a:p>
          <a:p>
            <a:r>
              <a:t>Inclusión futura: product_has_activity.</a:t>
            </a:r>
          </a:p>
          <a:p>
            <a:r>
              <a:t>Redacción basada en indicadores; no inferir causas sin evidencia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h1a73295ee3a20068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h1a73295ee3a20068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33.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h1a73295ee3a20068_0_1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h1a73295ee3a20068_0_1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34.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h1a73295ee3a20068_0_1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h1a73295ee3a20068_0_1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35.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h1a73295ee3a20068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h1a73295ee3a20068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36.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h1a73295ee3a20068_0_1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h1a73295ee3a20068_0_1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37.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1a73295ee3a20068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h1a73295ee3a20068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38.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h1a73295ee3a20068_0_1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h1a73295ee3a20068_0_1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39.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h1a73295ee3a20068_0_1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h1a73295ee3a20068_0_1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40.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h1a73295ee3a20068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h1a73295ee3a20068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41.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h1a73295ee3a20068_0_1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h1a73295ee3a20068_0_1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42.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4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h1a73295ee3a20068_0_1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h1a73295ee3a20068_0_1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43.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Google Shape;1420;h1a73295ee3a20068_0_1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1" name="Google Shape;1421;h1a73295ee3a20068_0_1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44.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h1a73295ee3a2006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h1a73295ee3a2006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45.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h1a73295ee3a20068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h1a73295ee3a20068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46.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h1a73295ee3a20068_0_1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h1a73295ee3a20068_0_1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47.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h1a73295ee3a2006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h1a73295ee3a2006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48. Los valores son reportados, no recalculados.</a:t>
            </a:r>
          </a:p>
          <a:p>
            <a:r>
              <a:t>Familia: activity_line.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h1a73295ee3a20068_0_1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8" name="Google Shape;1498;h1a73295ee3a20068_0_1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49.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site_day_has_activity.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h1a73295ee3a20068_0_1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h1a73295ee3a20068_0_1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50.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h1a73295ee3a20068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0" name="Google Shape;1550;h1a73295ee3a20068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51. Los valores son reportados, no recalculados.</a:t>
            </a:r>
          </a:p>
          <a:p>
            <a:r>
              <a:t>Familia: activity_summary. Fuente prevista: calada.</a:t>
            </a:r>
          </a:p>
          <a:p>
            <a:r>
              <a:t>Campos previstos: hourly[].bucket, hourly[].trucks, hourly[].active_cameras, perCamera[].trucks, perCamera[].active_hours, totals.trucks, totals.peakTrucks, totals.peakTrucksLabel, totals.avgTrucksPerHour, periodHours.</a:t>
            </a:r>
          </a:p>
          <a:p>
            <a:r>
              <a:t>Inclusión futura: site_has_activity.</a:t>
            </a:r>
          </a:p>
          <a:p>
            <a:r>
              <a:t>Calendario actual; migración 22:00 pendiente. Pico de tarjeta y curva pueden usar poblaciones distintas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h1a73295ee3a20068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h1a73295ee3a20068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52. Los valores son reportados, no recalculados.</a:t>
            </a:r>
          </a:p>
          <a:p>
            <a:r>
              <a:t>Familia: divider. Fuente prevista: static.</a:t>
            </a:r>
          </a:p>
          <a:p>
            <a:r>
              <a:t>Campos previstos: .</a:t>
            </a:r>
          </a:p>
          <a:p>
            <a:r>
              <a:t>Inclusión futura: always.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h1a73295ee3a20068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h1a73295ee3a20068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53.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h1a73295ee3a20068_0_1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1" name="Google Shape;1591;h1a73295ee3a20068_0_1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54.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0" name="Shape 1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1" name="Google Shape;1611;h1a73295ee3a20068_0_1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2" name="Google Shape;1612;h1a73295ee3a20068_0_1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55.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h1a73295ee3a20068_0_1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h1a73295ee3a20068_0_1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56.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h1a73295ee3a20068_0_1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h1a73295ee3a20068_0_1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57.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h1a73295ee3a20068_0_17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3" name="Google Shape;1663;h1a73295ee3a20068_0_1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58.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h1a73295ee3a20068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4" name="Google Shape;1674;h1a73295ee3a20068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59.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h1a73295ee3a20068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3" name="Google Shape;1683;h1a73295ee3a20068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60.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h1a73295ee3a20068_0_1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h1a73295ee3a20068_0_1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61.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h1a73295ee3a20068_0_1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7" name="Google Shape;1717;h1a73295ee3a20068_0_1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62.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h1a73295ee3a20068_0_1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h1a73295ee3a20068_0_1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63.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h1a73295ee3a20068_0_1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h1a73295ee3a20068_0_1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64.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h1a73295ee3a20068_0_1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h1a73295ee3a20068_0_1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65.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h1a73295ee3a20068_0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h1a73295ee3a20068_0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66.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h1a73295ee3a20068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0" name="Google Shape;1810;h1a73295ee3a20068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67.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h1a73295ee3a20068_0_1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9" name="Google Shape;1819;h1a73295ee3a20068_0_1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68.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h1a73295ee3a20068_0_1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h1a73295ee3a20068_0_1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69.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1" name="Shape 1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Google Shape;1852;h1a73295ee3a20068_0_19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3" name="Google Shape;1853;h1a73295ee3a20068_0_19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70.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h1a73295ee3a20068_0_1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8" name="Google Shape;1878;h1a73295ee3a20068_0_1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71. Los valores son reportados, no recalculados.</a:t>
            </a:r>
          </a:p>
          <a:p>
            <a:r>
              <a:t>Familia: activity_line.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h1a73295ee3a20068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h1a73295ee3a20068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r>
              <a:t>Plantilla v1. Fuente visual: Reporte de Logistica 18_9.pptx, diapositiva 72. Los valores son reportados, no recalculados.</a:t>
            </a:r>
          </a:p>
          <a:p>
            <a:r>
              <a:t>Familia: activity_summary. Fuente prevista: discharge.</a:t>
            </a:r>
          </a:p>
          <a:p>
            <a:r>
              <a:t>Campos previstos: hourly[].trucks, perCamera[].trucks, totals.trucks, totals.peakTrucks, totals.peakTrucksLabel, totals.avgTrucksPerHour, periodHours, average_daily, distribution_pct.</a:t>
            </a:r>
          </a:p>
          <a:p>
            <a:r>
              <a:t>Inclusión futura: equipment_day_has_activity.</a:t>
            </a:r>
          </a:p>
          <a:p>
            <a:r>
              <a:t>SL: conteo principal Excel y solo cámara separados; no sumar distintos diarios para forzar total semanal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2.jpg"/><Relationship Id="rId7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2.jp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8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21.png"/><Relationship Id="rId5" Type="http://schemas.openxmlformats.org/officeDocument/2006/relationships/image" Target="../media/image24.png"/><Relationship Id="rId6" Type="http://schemas.openxmlformats.org/officeDocument/2006/relationships/image" Target="../media/image10.png"/><Relationship Id="rId7" Type="http://schemas.openxmlformats.org/officeDocument/2006/relationships/image" Target="../media/image2.jpg"/><Relationship Id="rId8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6.png"/><Relationship Id="rId7" Type="http://schemas.openxmlformats.org/officeDocument/2006/relationships/image" Target="../media/image9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8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53.png"/><Relationship Id="rId7" Type="http://schemas.openxmlformats.org/officeDocument/2006/relationships/image" Target="../media/image8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4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Relationship Id="rId7" Type="http://schemas.openxmlformats.org/officeDocument/2006/relationships/image" Target="../media/image5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0.png"/><Relationship Id="rId7" Type="http://schemas.openxmlformats.org/officeDocument/2006/relationships/image" Target="../media/image6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1.png"/><Relationship Id="rId7" Type="http://schemas.openxmlformats.org/officeDocument/2006/relationships/image" Target="../media/image5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6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7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1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74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6.png"/><Relationship Id="rId4" Type="http://schemas.openxmlformats.org/officeDocument/2006/relationships/image" Target="../media/image2.jpg"/><Relationship Id="rId5" Type="http://schemas.openxmlformats.org/officeDocument/2006/relationships/image" Target="../media/image16.png"/><Relationship Id="rId6" Type="http://schemas.openxmlformats.org/officeDocument/2006/relationships/image" Target="../media/image1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Ricardone_icono.png"/>
          <p:cNvPicPr preferRelativeResize="0"/>
          <p:nvPr/>
        </p:nvPicPr>
        <p:blipFill rotWithShape="1">
          <a:blip r:embed="rId3">
            <a:alphaModFix amt="52000"/>
          </a:blip>
          <a:srcRect b="0" l="0" r="0" t="18307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369125" y="300250"/>
            <a:ext cx="2551301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455900" y="358075"/>
            <a:ext cx="23796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s001.text.57"/>
          <p:cNvSpPr txBox="1"/>
          <p:nvPr/>
        </p:nvSpPr>
        <p:spPr>
          <a:xfrm>
            <a:off x="269150" y="363475"/>
            <a:ext cx="27258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147">
                <a:latin typeface="Inter Medium"/>
                <a:ea typeface="Inter Medium"/>
                <a:cs typeface="Inter Medium"/>
                <a:sym typeface="Inter Medium"/>
              </a:rPr>
              <a:t>Comite de Logistica</a:t>
            </a:r>
            <a:endParaRPr b="0" i="0" sz="11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58" name="s001.text.58"/>
          <p:cNvSpPr txBox="1"/>
          <p:nvPr/>
        </p:nvSpPr>
        <p:spPr>
          <a:xfrm>
            <a:off x="1362900" y="2063613"/>
            <a:ext cx="6418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i="0" lang="es" sz="3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Nueva Vicentin Argentina</a:t>
            </a:r>
            <a:endParaRPr b="1" i="0" sz="35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" name="Google Shape;59;p1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09175" y="2731175"/>
            <a:ext cx="2725651" cy="12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nv_argentina_logo.jfif"/>
          <p:cNvPicPr preferRelativeResize="0"/>
          <p:nvPr/>
        </p:nvPicPr>
        <p:blipFill rotWithShape="1">
          <a:blip r:embed="rId6">
            <a:alphaModFix/>
          </a:blip>
          <a:srcRect b="18961" l="0" r="0" t="13585"/>
          <a:stretch/>
        </p:blipFill>
        <p:spPr>
          <a:xfrm>
            <a:off x="7972129" y="4285249"/>
            <a:ext cx="730246" cy="49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Logo sin text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40014" y="331950"/>
            <a:ext cx="462351" cy="4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Diseño sin título (3).png"/>
          <p:cNvPicPr preferRelativeResize="0"/>
          <p:nvPr/>
        </p:nvPicPr>
        <p:blipFill rotWithShape="1">
          <a:blip r:embed="rId4">
            <a:alphaModFix/>
          </a:blip>
          <a:srcRect b="38440" l="19392" r="19398" t="33879"/>
          <a:stretch/>
        </p:blipFill>
        <p:spPr>
          <a:xfrm>
            <a:off x="852300" y="4231700"/>
            <a:ext cx="1298424" cy="4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898837" y="4289527"/>
            <a:ext cx="1206300" cy="365400"/>
          </a:xfrm>
          <a:prstGeom prst="roundRect">
            <a:avLst>
              <a:gd fmla="val 16667" name="adj"/>
            </a:avLst>
          </a:prstGeom>
          <a:solidFill>
            <a:srgbClr val="FFFFFF">
              <a:alpha val="564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s001.text.64"/>
          <p:cNvSpPr txBox="1"/>
          <p:nvPr/>
        </p:nvSpPr>
        <p:spPr>
          <a:xfrm>
            <a:off x="398750" y="4285250"/>
            <a:ext cx="21519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7"/>
              <a:buFont typeface="Arial"/>
              <a:buNone/>
            </a:pPr>
            <a:r>
              <a:rPr lang="es" sz="1347">
                <a:latin typeface="Inter Medium"/>
                <a:ea typeface="Inter Medium"/>
                <a:cs typeface="Inter Medium"/>
                <a:sym typeface="Inter Medium"/>
              </a:rPr>
              <a:t>18-09-2026</a:t>
            </a:r>
            <a:endParaRPr b="0" i="0" sz="1347" u="none" cap="none" strike="noStrik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1/72</a:t>
            </a:r>
            <a:endParaRPr lang="es-AR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1323" l="0" r="22499" t="19083"/>
          <a:stretch/>
        </p:blipFill>
        <p:spPr>
          <a:xfrm>
            <a:off x="1001525" y="1007175"/>
            <a:ext cx="7104050" cy="308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Diseño sin título (1).png"/>
          <p:cNvPicPr preferRelativeResize="0"/>
          <p:nvPr/>
        </p:nvPicPr>
        <p:blipFill rotWithShape="1">
          <a:blip r:embed="rId4">
            <a:alphaModFix/>
          </a:blip>
          <a:srcRect b="51705" l="20359" r="19953" t="41314"/>
          <a:stretch/>
        </p:blipFill>
        <p:spPr>
          <a:xfrm>
            <a:off x="3080225" y="654800"/>
            <a:ext cx="2966501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s002.text.71"/>
          <p:cNvSpPr txBox="1"/>
          <p:nvPr/>
        </p:nvSpPr>
        <p:spPr>
          <a:xfrm>
            <a:off x="263100" y="24407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Análisis Logístico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72" name="Google Shape;72;p14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s002.text.74"/>
          <p:cNvSpPr txBox="1"/>
          <p:nvPr/>
        </p:nvSpPr>
        <p:spPr>
          <a:xfrm>
            <a:off x="2970724" y="774375"/>
            <a:ext cx="43839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Periodo Analizado desde 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/09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hasta 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16</a:t>
            </a:r>
            <a:r>
              <a:rPr lang="es" sz="11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/09</a:t>
            </a:r>
            <a:endParaRPr sz="11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" name="s002.text.75"/>
          <p:cNvSpPr/>
          <p:nvPr/>
        </p:nvSpPr>
        <p:spPr>
          <a:xfrm>
            <a:off x="7185606" y="1287028"/>
            <a:ext cx="689100" cy="254100"/>
          </a:xfrm>
          <a:prstGeom prst="flowChartAlternateProcess">
            <a:avLst/>
          </a:prstGeom>
          <a:solidFill>
            <a:srgbClr val="1D6950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Pág.3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6" name="s002.text.76"/>
          <p:cNvSpPr/>
          <p:nvPr/>
        </p:nvSpPr>
        <p:spPr>
          <a:xfrm>
            <a:off x="7185606" y="1852893"/>
            <a:ext cx="689100" cy="254100"/>
          </a:xfrm>
          <a:prstGeom prst="flowChartAlternateProcess">
            <a:avLst/>
          </a:prstGeom>
          <a:solidFill>
            <a:srgbClr val="5B8E49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Pág.4-18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7" name="s002.text.77"/>
          <p:cNvSpPr/>
          <p:nvPr/>
        </p:nvSpPr>
        <p:spPr>
          <a:xfrm>
            <a:off x="7185606" y="2468132"/>
            <a:ext cx="689100" cy="254100"/>
          </a:xfrm>
          <a:prstGeom prst="flowChartAlternateProcess">
            <a:avLst/>
          </a:prstGeom>
          <a:solidFill>
            <a:srgbClr val="D5A927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Pág.19-26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8" name="s002.text.78"/>
          <p:cNvSpPr/>
          <p:nvPr/>
        </p:nvSpPr>
        <p:spPr>
          <a:xfrm>
            <a:off x="7185606" y="3058690"/>
            <a:ext cx="689100" cy="254100"/>
          </a:xfrm>
          <a:prstGeom prst="flowChartAlternateProcess">
            <a:avLst/>
          </a:prstGeom>
          <a:solidFill>
            <a:srgbClr val="D89123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Pág.27-32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79" name="s002.text.79"/>
          <p:cNvSpPr/>
          <p:nvPr/>
        </p:nvSpPr>
        <p:spPr>
          <a:xfrm>
            <a:off x="7185606" y="3649236"/>
            <a:ext cx="689100" cy="254100"/>
          </a:xfrm>
          <a:prstGeom prst="flowChartAlternateProcess">
            <a:avLst/>
          </a:prstGeom>
          <a:solidFill>
            <a:srgbClr val="2D678C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Pág.33-51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1836375" y="4161650"/>
            <a:ext cx="6269100" cy="424800"/>
          </a:xfrm>
          <a:prstGeom prst="rect">
            <a:avLst/>
          </a:prstGeom>
          <a:solidFill>
            <a:srgbClr val="D5A6BD">
              <a:alpha val="26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1753675" y="4136600"/>
            <a:ext cx="546300" cy="4749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1882525" y="4243100"/>
            <a:ext cx="288600" cy="261900"/>
          </a:xfrm>
          <a:prstGeom prst="ellipse">
            <a:avLst/>
          </a:prstGeom>
          <a:solidFill>
            <a:srgbClr val="351C7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83" name="s002.text.83"/>
          <p:cNvSpPr txBox="1"/>
          <p:nvPr/>
        </p:nvSpPr>
        <p:spPr>
          <a:xfrm>
            <a:off x="1893500" y="4197050"/>
            <a:ext cx="357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lt1"/>
                </a:solidFill>
              </a:rPr>
              <a:t>6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84" name="s002.text.84"/>
          <p:cNvSpPr/>
          <p:nvPr/>
        </p:nvSpPr>
        <p:spPr>
          <a:xfrm>
            <a:off x="7185606" y="4239761"/>
            <a:ext cx="689100" cy="254100"/>
          </a:xfrm>
          <a:prstGeom prst="flowChartAlternateProcess">
            <a:avLst/>
          </a:prstGeom>
          <a:solidFill>
            <a:srgbClr val="0B1F60"/>
          </a:solidFill>
          <a:ln cap="flat" cmpd="sng" w="8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725" lIns="83725" spcFirstLastPara="1" rIns="83725" wrap="square" tIns="83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24">
                <a:solidFill>
                  <a:schemeClr val="lt1"/>
                </a:solidFill>
              </a:rPr>
              <a:t>Pág.52-72</a:t>
            </a:r>
            <a:endParaRPr sz="824">
              <a:solidFill>
                <a:schemeClr val="lt1"/>
              </a:solidFill>
            </a:endParaRPr>
          </a:p>
        </p:txBody>
      </p:sp>
      <p:sp>
        <p:nvSpPr>
          <p:cNvPr id="85" name="s002.text.85"/>
          <p:cNvSpPr txBox="1"/>
          <p:nvPr/>
        </p:nvSpPr>
        <p:spPr>
          <a:xfrm>
            <a:off x="2464625" y="4210775"/>
            <a:ext cx="210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153E4B"/>
                </a:solidFill>
              </a:rPr>
              <a:t>Actividad de Volcables</a:t>
            </a:r>
            <a:endParaRPr b="1" sz="1200">
              <a:solidFill>
                <a:srgbClr val="153E4B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8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2/72</a:t>
            </a:r>
            <a:endParaRPr lang="es-AR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4729146" y="2924525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CD5F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91" name="Google Shape;91;p15"/>
          <p:cNvSpPr/>
          <p:nvPr/>
        </p:nvSpPr>
        <p:spPr>
          <a:xfrm>
            <a:off x="2538570" y="2924525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92" name="Google Shape;92;p15"/>
          <p:cNvSpPr/>
          <p:nvPr/>
        </p:nvSpPr>
        <p:spPr>
          <a:xfrm>
            <a:off x="405425" y="2935836"/>
            <a:ext cx="18201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36A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93" name="Google Shape;93;p15"/>
          <p:cNvPicPr preferRelativeResize="0"/>
          <p:nvPr/>
        </p:nvPicPr>
        <p:blipFill rotWithShape="1">
          <a:blip r:embed="rId3">
            <a:alphaModFix/>
          </a:blip>
          <a:srcRect b="68256" l="0" r="0" t="0"/>
          <a:stretch/>
        </p:blipFill>
        <p:spPr>
          <a:xfrm>
            <a:off x="263100" y="1146425"/>
            <a:ext cx="8716599" cy="137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Diseño sin título (1).png"/>
          <p:cNvPicPr preferRelativeResize="0"/>
          <p:nvPr/>
        </p:nvPicPr>
        <p:blipFill rotWithShape="1">
          <a:blip r:embed="rId4">
            <a:alphaModFix/>
          </a:blip>
          <a:srcRect b="51705" l="20359" r="19953" t="41314"/>
          <a:stretch/>
        </p:blipFill>
        <p:spPr>
          <a:xfrm>
            <a:off x="2674714" y="654800"/>
            <a:ext cx="3794573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s003.text.95"/>
          <p:cNvSpPr txBox="1"/>
          <p:nvPr/>
        </p:nvSpPr>
        <p:spPr>
          <a:xfrm>
            <a:off x="263100" y="24407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Tamaño de la Muestra y Periodo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96" name="Google Shape;96;p15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5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s003.text.98"/>
          <p:cNvSpPr txBox="1"/>
          <p:nvPr/>
        </p:nvSpPr>
        <p:spPr>
          <a:xfrm>
            <a:off x="936606" y="1859825"/>
            <a:ext cx="1067400" cy="12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92454"/>
                </a:solidFill>
                <a:highlight>
                  <a:srgbClr val="F2F7FE"/>
                </a:highlight>
                <a:latin typeface="Inter"/>
                <a:ea typeface="Inter"/>
                <a:cs typeface="Inter"/>
                <a:sym typeface="Inter"/>
              </a:rPr>
              <a:t>                   </a:t>
            </a:r>
            <a:r>
              <a:rPr b="1" lang="es" sz="2000">
                <a:solidFill>
                  <a:srgbClr val="092454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10/09</a:t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92454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s003.text.99"/>
          <p:cNvSpPr txBox="1"/>
          <p:nvPr/>
        </p:nvSpPr>
        <p:spPr>
          <a:xfrm>
            <a:off x="4054825" y="2029025"/>
            <a:ext cx="42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92454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7</a:t>
            </a:r>
            <a:endParaRPr b="1" sz="2600">
              <a:solidFill>
                <a:srgbClr val="092454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s003.text.100"/>
          <p:cNvSpPr txBox="1"/>
          <p:nvPr/>
        </p:nvSpPr>
        <p:spPr>
          <a:xfrm>
            <a:off x="2781117" y="3265067"/>
            <a:ext cx="1294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</a:t>
            </a:r>
            <a:r>
              <a:rPr lang="es" sz="2413">
                <a:solidFill>
                  <a:srgbClr val="E5A119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523</a:t>
            </a:r>
            <a:endParaRPr sz="2912">
              <a:solidFill>
                <a:srgbClr val="E5A119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" name="s003.text.101"/>
          <p:cNvSpPr txBox="1"/>
          <p:nvPr/>
        </p:nvSpPr>
        <p:spPr>
          <a:xfrm>
            <a:off x="523331" y="3232932"/>
            <a:ext cx="15843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29">
                <a:solidFill>
                  <a:srgbClr val="3C8A40"/>
                </a:solidFill>
                <a:highlight>
                  <a:srgbClr val="FDFDFD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2557</a:t>
            </a:r>
            <a:endParaRPr sz="2778">
              <a:solidFill>
                <a:srgbClr val="3C8A40"/>
              </a:solidFill>
              <a:highlight>
                <a:srgbClr val="FDFDFD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2" name="s003.text.102"/>
          <p:cNvSpPr txBox="1"/>
          <p:nvPr/>
        </p:nvSpPr>
        <p:spPr>
          <a:xfrm>
            <a:off x="4996181" y="32650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</a:t>
            </a:r>
            <a:r>
              <a:rPr lang="es" sz="2313">
                <a:solidFill>
                  <a:srgbClr val="FA700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155</a:t>
            </a:r>
            <a:endParaRPr sz="3228">
              <a:solidFill>
                <a:srgbClr val="FA700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3" name="s003.text.103"/>
          <p:cNvSpPr txBox="1"/>
          <p:nvPr/>
        </p:nvSpPr>
        <p:spPr>
          <a:xfrm>
            <a:off x="936425" y="2941325"/>
            <a:ext cx="758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36A03"/>
                </a:solidFill>
                <a:latin typeface="Inter"/>
                <a:ea typeface="Inter"/>
                <a:cs typeface="Inter"/>
                <a:sym typeface="Inter"/>
              </a:rPr>
              <a:t>SOJA </a:t>
            </a:r>
            <a:endParaRPr b="1" sz="1500">
              <a:solidFill>
                <a:srgbClr val="036A0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s003.text.104"/>
          <p:cNvSpPr txBox="1"/>
          <p:nvPr/>
        </p:nvSpPr>
        <p:spPr>
          <a:xfrm>
            <a:off x="2920600" y="2945075"/>
            <a:ext cx="109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BF9000"/>
                </a:solidFill>
                <a:latin typeface="Inter"/>
                <a:ea typeface="Inter"/>
                <a:cs typeface="Inter"/>
                <a:sym typeface="Inter"/>
              </a:rPr>
              <a:t>GIRASOL  </a:t>
            </a:r>
            <a:endParaRPr b="1" sz="1500">
              <a:solidFill>
                <a:srgbClr val="BF9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s003.text.105"/>
          <p:cNvSpPr txBox="1"/>
          <p:nvPr/>
        </p:nvSpPr>
        <p:spPr>
          <a:xfrm>
            <a:off x="5046838" y="2948975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CD5F14"/>
                </a:solidFill>
                <a:latin typeface="Inter"/>
                <a:ea typeface="Inter"/>
                <a:cs typeface="Inter"/>
                <a:sym typeface="Inter"/>
              </a:rPr>
              <a:t>LÍQUIDOS </a:t>
            </a:r>
            <a:endParaRPr b="1">
              <a:solidFill>
                <a:srgbClr val="CD5F1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s003.text.106"/>
          <p:cNvSpPr txBox="1"/>
          <p:nvPr/>
        </p:nvSpPr>
        <p:spPr>
          <a:xfrm>
            <a:off x="2504374" y="2110975"/>
            <a:ext cx="9207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s003.text.107"/>
          <p:cNvSpPr txBox="1"/>
          <p:nvPr/>
        </p:nvSpPr>
        <p:spPr>
          <a:xfrm>
            <a:off x="5385060" y="1719250"/>
            <a:ext cx="3650100" cy="41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volumen:  3423 camiones</a:t>
            </a:r>
            <a:endParaRPr b="1" sz="17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802425" y="2941325"/>
            <a:ext cx="1560300" cy="11379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2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625" lIns="71625" spcFirstLastPara="1" rIns="71625" wrap="square" tIns="7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97"/>
          </a:p>
        </p:txBody>
      </p:sp>
      <p:sp>
        <p:nvSpPr>
          <p:cNvPr id="109" name="s003.text.109"/>
          <p:cNvSpPr txBox="1"/>
          <p:nvPr/>
        </p:nvSpPr>
        <p:spPr>
          <a:xfrm>
            <a:off x="6983831" y="327732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1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</a:t>
            </a:r>
            <a:r>
              <a:rPr lang="es" sz="2313">
                <a:solidFill>
                  <a:srgbClr val="4285F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188</a:t>
            </a:r>
            <a:endParaRPr sz="3228">
              <a:solidFill>
                <a:srgbClr val="4285F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0" name="s003.text.110"/>
          <p:cNvSpPr txBox="1"/>
          <p:nvPr/>
        </p:nvSpPr>
        <p:spPr>
          <a:xfrm>
            <a:off x="7164013" y="2952713"/>
            <a:ext cx="106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PELLET</a:t>
            </a:r>
            <a:endParaRPr b="1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04300" y="3846175"/>
            <a:ext cx="16638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04300" y="3846175"/>
            <a:ext cx="1002000" cy="69900"/>
          </a:xfrm>
          <a:prstGeom prst="roundRect">
            <a:avLst>
              <a:gd fmla="val 16667" name="adj"/>
            </a:avLst>
          </a:prstGeom>
          <a:solidFill>
            <a:srgbClr val="3C8A4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6842724" y="3856650"/>
            <a:ext cx="14538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6842724" y="3856650"/>
            <a:ext cx="224100" cy="69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796191" y="3846175"/>
            <a:ext cx="16923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4796188" y="3846175"/>
            <a:ext cx="150000" cy="699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2641925" y="3846175"/>
            <a:ext cx="1620300" cy="6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2641925" y="3846175"/>
            <a:ext cx="249900" cy="69900"/>
          </a:xfrm>
          <a:prstGeom prst="roundRect">
            <a:avLst>
              <a:gd fmla="val 16667" name="adj"/>
            </a:avLst>
          </a:prstGeom>
          <a:solidFill>
            <a:srgbClr val="E5A11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 xmlns:p="http://schemas.openxmlformats.org/presentationml/2006/main" xmlns:a="http://schemas.openxmlformats.org/drawingml/2006/main">
        <p:nvSpPr>
          <p:cNvPr id="1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3/72</a:t>
            </a:r>
            <a:endParaRPr lang="es-AR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apositiva que sirva como caratula para hablar de la seccion de soja del programa" id="123" name="Google Shape;123;p16"/>
          <p:cNvPicPr preferRelativeResize="0"/>
          <p:nvPr/>
        </p:nvPicPr>
        <p:blipFill rotWithShape="1">
          <a:blip r:embed="rId3">
            <a:alphaModFix/>
          </a:blip>
          <a:srcRect b="8044" l="0" r="0" t="14382"/>
          <a:stretch/>
        </p:blipFill>
        <p:spPr>
          <a:xfrm>
            <a:off x="15488" y="619850"/>
            <a:ext cx="9113025" cy="39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2404600" y="2271725"/>
            <a:ext cx="4362900" cy="184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s004.text.125"/>
          <p:cNvSpPr txBox="1"/>
          <p:nvPr/>
        </p:nvSpPr>
        <p:spPr>
          <a:xfrm>
            <a:off x="2745400" y="1882775"/>
            <a:ext cx="4269000" cy="26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7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Contenido del análisis</a:t>
            </a:r>
            <a:endParaRPr sz="17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Calidad de lectura de cámaras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Descripción del circuito R7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Comparativo semanal e histórico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4/72</a:t>
            </a:r>
            <a:endParaRPr lang="es-AR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title="Chart"/>
          <p:cNvPicPr preferRelativeResize="0"/>
          <p:nvPr/>
        </p:nvPicPr>
        <p:blipFill rotWithShape="1">
          <a:blip r:embed="rId3">
            <a:alphaModFix/>
          </a:blip>
          <a:srcRect b="0" l="0" r="0" t="12034"/>
          <a:stretch/>
        </p:blipFill>
        <p:spPr>
          <a:xfrm>
            <a:off x="4691086" y="1370979"/>
            <a:ext cx="3532260" cy="1921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title="Diseño sin título (1).png"/>
          <p:cNvPicPr preferRelativeResize="0"/>
          <p:nvPr/>
        </p:nvPicPr>
        <p:blipFill rotWithShape="1">
          <a:blip r:embed="rId4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s005.text.13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Calidad de lectura de Cámaras LPR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3" name="Google Shape;133;p17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s005.text.135"/>
          <p:cNvSpPr txBox="1"/>
          <p:nvPr/>
        </p:nvSpPr>
        <p:spPr>
          <a:xfrm>
            <a:off x="4701745" y="3372861"/>
            <a:ext cx="654300" cy="40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13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45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s005.text.136"/>
          <p:cNvSpPr txBox="1"/>
          <p:nvPr/>
        </p:nvSpPr>
        <p:spPr>
          <a:xfrm>
            <a:off x="3849771" y="3420110"/>
            <a:ext cx="58689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275" lIns="62275" spcFirstLastPara="1" rIns="62275" wrap="square" tIns="6227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26"/>
              </a:spcBef>
              <a:spcAft>
                <a:spcPts val="0"/>
              </a:spcAft>
              <a:buClr>
                <a:srgbClr val="000000"/>
              </a:buClr>
              <a:buSzPts val="1362"/>
              <a:buFont typeface="Arial"/>
              <a:buNone/>
            </a:pPr>
            <a:r>
              <a:rPr b="1" lang="es" sz="1226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Balanza Egreso</a:t>
            </a:r>
            <a:r>
              <a:rPr b="1" lang="es" sz="12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626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(1604  patentes no leídas)</a:t>
            </a:r>
            <a:endParaRPr b="0" i="0" sz="1034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7" name="Google Shape;137;p17" title="Chart"/>
          <p:cNvPicPr preferRelativeResize="0"/>
          <p:nvPr/>
        </p:nvPicPr>
        <p:blipFill rotWithShape="1">
          <a:blip r:embed="rId7">
            <a:alphaModFix/>
          </a:blip>
          <a:srcRect b="0" l="0" r="0" t="11801"/>
          <a:stretch/>
        </p:blipFill>
        <p:spPr>
          <a:xfrm>
            <a:off x="542025" y="1284563"/>
            <a:ext cx="3583200" cy="169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21687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3468713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66885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868975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22498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3549813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474995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5950075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s005.text.146"/>
          <p:cNvSpPr txBox="1"/>
          <p:nvPr/>
        </p:nvSpPr>
        <p:spPr>
          <a:xfrm>
            <a:off x="21837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47" name="s005.text.147"/>
          <p:cNvSpPr txBox="1"/>
          <p:nvPr/>
        </p:nvSpPr>
        <p:spPr>
          <a:xfrm>
            <a:off x="2282001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849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150200" y="4101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231300" y="4141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s005.text.150"/>
          <p:cNvSpPr txBox="1"/>
          <p:nvPr/>
        </p:nvSpPr>
        <p:spPr>
          <a:xfrm>
            <a:off x="36642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7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1" name="s005.text.151"/>
          <p:cNvSpPr txBox="1"/>
          <p:nvPr/>
        </p:nvSpPr>
        <p:spPr>
          <a:xfrm>
            <a:off x="36124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s005.text.152"/>
          <p:cNvSpPr txBox="1"/>
          <p:nvPr/>
        </p:nvSpPr>
        <p:spPr>
          <a:xfrm>
            <a:off x="483782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3" name="s005.text.153"/>
          <p:cNvSpPr txBox="1"/>
          <p:nvPr/>
        </p:nvSpPr>
        <p:spPr>
          <a:xfrm>
            <a:off x="478597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s005.text.154"/>
          <p:cNvSpPr txBox="1"/>
          <p:nvPr/>
        </p:nvSpPr>
        <p:spPr>
          <a:xfrm>
            <a:off x="6001925" y="408907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5" name="s005.text.155"/>
          <p:cNvSpPr txBox="1"/>
          <p:nvPr/>
        </p:nvSpPr>
        <p:spPr>
          <a:xfrm>
            <a:off x="5950076" y="428862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306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" name="s005.text.156"/>
          <p:cNvSpPr txBox="1"/>
          <p:nvPr/>
        </p:nvSpPr>
        <p:spPr>
          <a:xfrm>
            <a:off x="7301875" y="4101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57" name="s005.text.157"/>
          <p:cNvSpPr txBox="1"/>
          <p:nvPr/>
        </p:nvSpPr>
        <p:spPr>
          <a:xfrm>
            <a:off x="7250026" y="4301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219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5/72</a:t>
            </a:r>
            <a:endParaRPr lang="es-AR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/>
          <p:cNvPicPr preferRelativeResize="0"/>
          <p:nvPr/>
        </p:nvPicPr>
        <p:blipFill rotWithShape="1">
          <a:blip r:embed="rId3">
            <a:alphaModFix/>
          </a:blip>
          <a:srcRect b="2086" l="0" r="11910" t="0"/>
          <a:stretch/>
        </p:blipFill>
        <p:spPr>
          <a:xfrm>
            <a:off x="4666248" y="2411587"/>
            <a:ext cx="435325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/>
          <p:cNvPicPr preferRelativeResize="0"/>
          <p:nvPr/>
        </p:nvPicPr>
        <p:blipFill rotWithShape="1">
          <a:blip r:embed="rId4">
            <a:alphaModFix/>
          </a:blip>
          <a:srcRect b="1786" l="2266" r="35471" t="27039"/>
          <a:stretch/>
        </p:blipFill>
        <p:spPr>
          <a:xfrm>
            <a:off x="378300" y="2411587"/>
            <a:ext cx="3980523" cy="174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7747" y="4157670"/>
            <a:ext cx="777244" cy="7139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3622187" y="2695860"/>
            <a:ext cx="1296037" cy="1518886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712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166" name="Google Shape;166;p18"/>
          <p:cNvSpPr/>
          <p:nvPr/>
        </p:nvSpPr>
        <p:spPr>
          <a:xfrm>
            <a:off x="2259976" y="34945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7" name="Google Shape;167;p18"/>
          <p:cNvSpPr/>
          <p:nvPr/>
        </p:nvSpPr>
        <p:spPr>
          <a:xfrm>
            <a:off x="2100997" y="293428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8" name="Google Shape;168;p18"/>
          <p:cNvSpPr/>
          <p:nvPr/>
        </p:nvSpPr>
        <p:spPr>
          <a:xfrm>
            <a:off x="3323845" y="3706994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69" name="Google Shape;169;p18"/>
          <p:cNvSpPr/>
          <p:nvPr/>
        </p:nvSpPr>
        <p:spPr>
          <a:xfrm>
            <a:off x="4529257" y="3774812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0" name="Google Shape;170;p18"/>
          <p:cNvSpPr/>
          <p:nvPr/>
        </p:nvSpPr>
        <p:spPr>
          <a:xfrm>
            <a:off x="5909138" y="2910963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1" name="Google Shape;171;p18"/>
          <p:cNvSpPr/>
          <p:nvPr/>
        </p:nvSpPr>
        <p:spPr>
          <a:xfrm>
            <a:off x="7665094" y="2613691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2" name="Google Shape;172;p18"/>
          <p:cNvSpPr/>
          <p:nvPr/>
        </p:nvSpPr>
        <p:spPr>
          <a:xfrm>
            <a:off x="7720554" y="3887748"/>
            <a:ext cx="190200" cy="180900"/>
          </a:xfrm>
          <a:prstGeom prst="ellipse">
            <a:avLst/>
          </a:prstGeom>
          <a:solidFill>
            <a:srgbClr val="F4CCCC"/>
          </a:solidFill>
          <a:ln cap="flat" cmpd="sng" w="905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750" lIns="86750" spcFirstLastPara="1" rIns="86750" wrap="square" tIns="86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8"/>
          </a:p>
        </p:txBody>
      </p:sp>
      <p:sp>
        <p:nvSpPr>
          <p:cNvPr id="173" name="s006.text.173"/>
          <p:cNvSpPr txBox="1"/>
          <p:nvPr/>
        </p:nvSpPr>
        <p:spPr>
          <a:xfrm>
            <a:off x="2245307" y="34388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4" name="s006.text.174"/>
          <p:cNvSpPr txBox="1"/>
          <p:nvPr/>
        </p:nvSpPr>
        <p:spPr>
          <a:xfrm>
            <a:off x="2086328" y="287863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5" name="s006.text.175"/>
          <p:cNvSpPr txBox="1"/>
          <p:nvPr/>
        </p:nvSpPr>
        <p:spPr>
          <a:xfrm>
            <a:off x="3294516" y="3651344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6" name="s006.text.176"/>
          <p:cNvSpPr txBox="1"/>
          <p:nvPr/>
        </p:nvSpPr>
        <p:spPr>
          <a:xfrm>
            <a:off x="4499928" y="371916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7" name="s006.text.177"/>
          <p:cNvSpPr txBox="1"/>
          <p:nvPr/>
        </p:nvSpPr>
        <p:spPr>
          <a:xfrm>
            <a:off x="5894469" y="2855313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8" name="s006.text.178"/>
          <p:cNvSpPr txBox="1"/>
          <p:nvPr/>
        </p:nvSpPr>
        <p:spPr>
          <a:xfrm>
            <a:off x="7635765" y="2558041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79" name="s006.text.179"/>
          <p:cNvSpPr txBox="1"/>
          <p:nvPr/>
        </p:nvSpPr>
        <p:spPr>
          <a:xfrm>
            <a:off x="7705884" y="3832099"/>
            <a:ext cx="219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50" lIns="86750" spcFirstLastPara="1" rIns="86750" wrap="square" tIns="867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59">
                <a:solidFill>
                  <a:srgbClr val="0000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759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80" name="Google Shape;180;p18"/>
          <p:cNvCxnSpPr/>
          <p:nvPr/>
        </p:nvCxnSpPr>
        <p:spPr>
          <a:xfrm rot="10800000">
            <a:off x="2070762" y="3270611"/>
            <a:ext cx="1273200" cy="7560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oval"/>
            <a:tailEnd len="med" w="med" type="stealth"/>
          </a:ln>
        </p:spPr>
      </p:cxnSp>
      <p:cxnSp>
        <p:nvCxnSpPr>
          <p:cNvPr id="181" name="Google Shape;181;p18"/>
          <p:cNvCxnSpPr>
            <a:stCxn id="174" idx="2"/>
          </p:cNvCxnSpPr>
          <p:nvPr/>
        </p:nvCxnSpPr>
        <p:spPr>
          <a:xfrm>
            <a:off x="2196128" y="3170831"/>
            <a:ext cx="448500" cy="2577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2" name="Google Shape;182;p18"/>
          <p:cNvCxnSpPr/>
          <p:nvPr/>
        </p:nvCxnSpPr>
        <p:spPr>
          <a:xfrm>
            <a:off x="2895337" y="3610805"/>
            <a:ext cx="571800" cy="3471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3" name="Google Shape;183;p18"/>
          <p:cNvCxnSpPr/>
          <p:nvPr/>
        </p:nvCxnSpPr>
        <p:spPr>
          <a:xfrm flipH="1" rot="10800000">
            <a:off x="6210848" y="2708103"/>
            <a:ext cx="161700" cy="184500"/>
          </a:xfrm>
          <a:prstGeom prst="straightConnector1">
            <a:avLst/>
          </a:prstGeom>
          <a:noFill/>
          <a:ln cap="flat" cmpd="sng" w="905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84" name="Google Shape;184;p18"/>
          <p:cNvCxnSpPr/>
          <p:nvPr/>
        </p:nvCxnSpPr>
        <p:spPr>
          <a:xfrm rot="10800000">
            <a:off x="5478967" y="2843816"/>
            <a:ext cx="737100" cy="453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18"/>
          <p:cNvSpPr/>
          <p:nvPr/>
        </p:nvSpPr>
        <p:spPr>
          <a:xfrm>
            <a:off x="5185408" y="2842124"/>
            <a:ext cx="293677" cy="154204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6" name="Google Shape;186;p18"/>
          <p:cNvCxnSpPr/>
          <p:nvPr/>
        </p:nvCxnSpPr>
        <p:spPr>
          <a:xfrm>
            <a:off x="6759613" y="2720862"/>
            <a:ext cx="1398000" cy="1002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8"/>
          <p:cNvSpPr/>
          <p:nvPr/>
        </p:nvSpPr>
        <p:spPr>
          <a:xfrm>
            <a:off x="8157545" y="2821060"/>
            <a:ext cx="320263" cy="500771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88" name="Google Shape;188;p18"/>
          <p:cNvCxnSpPr/>
          <p:nvPr/>
        </p:nvCxnSpPr>
        <p:spPr>
          <a:xfrm rot="10800000">
            <a:off x="8524996" y="3971100"/>
            <a:ext cx="229800" cy="177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9" name="Google Shape;189;p18"/>
          <p:cNvSpPr/>
          <p:nvPr/>
        </p:nvSpPr>
        <p:spPr>
          <a:xfrm>
            <a:off x="8478445" y="3320436"/>
            <a:ext cx="356820" cy="672770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0" name="Google Shape;190;p18"/>
          <p:cNvSpPr/>
          <p:nvPr/>
        </p:nvSpPr>
        <p:spPr>
          <a:xfrm>
            <a:off x="7596180" y="3810185"/>
            <a:ext cx="755577" cy="11141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91" name="Google Shape;191;p18"/>
          <p:cNvCxnSpPr/>
          <p:nvPr/>
        </p:nvCxnSpPr>
        <p:spPr>
          <a:xfrm flipH="1">
            <a:off x="7428046" y="3844742"/>
            <a:ext cx="185100" cy="17100"/>
          </a:xfrm>
          <a:prstGeom prst="straightConnector1">
            <a:avLst/>
          </a:prstGeom>
          <a:noFill/>
          <a:ln cap="flat" cmpd="sng" w="90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92" name="Google Shape;192;p18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s006.text.19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Producto:Soja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94" name="Google Shape;194;p18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8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3236668" y="1174307"/>
            <a:ext cx="497700" cy="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00" lIns="75800" spcFirstLastPara="1" rIns="75800" wrap="square" tIns="75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8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598194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8" name="Google Shape;198;p18"/>
          <p:cNvSpPr/>
          <p:nvPr/>
        </p:nvSpPr>
        <p:spPr>
          <a:xfrm>
            <a:off x="520425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199" name="s006.text.199"/>
          <p:cNvSpPr txBox="1"/>
          <p:nvPr/>
        </p:nvSpPr>
        <p:spPr>
          <a:xfrm>
            <a:off x="520425" y="1038864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s006.text.200"/>
          <p:cNvSpPr txBox="1"/>
          <p:nvPr/>
        </p:nvSpPr>
        <p:spPr>
          <a:xfrm>
            <a:off x="540186" y="1245366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923707" y="981408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2" name="Google Shape;202;p18"/>
          <p:cNvSpPr/>
          <p:nvPr/>
        </p:nvSpPr>
        <p:spPr>
          <a:xfrm>
            <a:off x="1845937" y="981408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3" name="s006.text.203"/>
          <p:cNvSpPr txBox="1"/>
          <p:nvPr/>
        </p:nvSpPr>
        <p:spPr>
          <a:xfrm>
            <a:off x="1845937" y="1019906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s006.text.204"/>
          <p:cNvSpPr txBox="1"/>
          <p:nvPr/>
        </p:nvSpPr>
        <p:spPr>
          <a:xfrm>
            <a:off x="1865698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3197993" y="981419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6" name="Google Shape;206;p18"/>
          <p:cNvSpPr/>
          <p:nvPr/>
        </p:nvSpPr>
        <p:spPr>
          <a:xfrm>
            <a:off x="3120224" y="981419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07" name="s006.text.207"/>
          <p:cNvSpPr txBox="1"/>
          <p:nvPr/>
        </p:nvSpPr>
        <p:spPr>
          <a:xfrm>
            <a:off x="3120221" y="1019915"/>
            <a:ext cx="10122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Egreso 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s006.text.208"/>
          <p:cNvSpPr txBox="1"/>
          <p:nvPr/>
        </p:nvSpPr>
        <p:spPr>
          <a:xfrm>
            <a:off x="3139984" y="1226416"/>
            <a:ext cx="99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Egreso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674137" y="972025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0" name="Google Shape;210;p18"/>
          <p:cNvSpPr/>
          <p:nvPr/>
        </p:nvSpPr>
        <p:spPr>
          <a:xfrm>
            <a:off x="5596367" y="972025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1" name="s006.text.211"/>
          <p:cNvSpPr txBox="1"/>
          <p:nvPr/>
        </p:nvSpPr>
        <p:spPr>
          <a:xfrm>
            <a:off x="5517500" y="1010525"/>
            <a:ext cx="13395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Playa OSL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s006.text.212"/>
          <p:cNvSpPr txBox="1"/>
          <p:nvPr/>
        </p:nvSpPr>
        <p:spPr>
          <a:xfrm>
            <a:off x="5625362" y="1219367"/>
            <a:ext cx="2465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4445492" y="992212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4" name="Google Shape;214;p18"/>
          <p:cNvSpPr/>
          <p:nvPr/>
        </p:nvSpPr>
        <p:spPr>
          <a:xfrm>
            <a:off x="4367723" y="992212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5" name="s006.text.215"/>
          <p:cNvSpPr txBox="1"/>
          <p:nvPr/>
        </p:nvSpPr>
        <p:spPr>
          <a:xfrm>
            <a:off x="4367728" y="1030719"/>
            <a:ext cx="1228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Interplanta </a:t>
            </a:r>
            <a:endParaRPr b="1"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s006.text.216"/>
          <p:cNvSpPr txBox="1"/>
          <p:nvPr/>
        </p:nvSpPr>
        <p:spPr>
          <a:xfrm>
            <a:off x="4387480" y="1237220"/>
            <a:ext cx="95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909270" y="983751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8" name="Google Shape;218;p18"/>
          <p:cNvSpPr/>
          <p:nvPr/>
        </p:nvSpPr>
        <p:spPr>
          <a:xfrm>
            <a:off x="6831501" y="983751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19" name="s006.text.219"/>
          <p:cNvSpPr txBox="1"/>
          <p:nvPr/>
        </p:nvSpPr>
        <p:spPr>
          <a:xfrm>
            <a:off x="6759625" y="1022250"/>
            <a:ext cx="2537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Descarga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0" name="s006.text.220"/>
          <p:cNvSpPr txBox="1"/>
          <p:nvPr/>
        </p:nvSpPr>
        <p:spPr>
          <a:xfrm>
            <a:off x="6851262" y="1228751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s006.text.221"/>
          <p:cNvSpPr txBox="1"/>
          <p:nvPr/>
        </p:nvSpPr>
        <p:spPr>
          <a:xfrm>
            <a:off x="151779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s006.text.222"/>
          <p:cNvSpPr txBox="1"/>
          <p:nvPr/>
        </p:nvSpPr>
        <p:spPr>
          <a:xfrm>
            <a:off x="2769127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s006.text.223"/>
          <p:cNvSpPr txBox="1"/>
          <p:nvPr/>
        </p:nvSpPr>
        <p:spPr>
          <a:xfrm>
            <a:off x="4046142" y="1072206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s006.text.224"/>
          <p:cNvSpPr txBox="1"/>
          <p:nvPr/>
        </p:nvSpPr>
        <p:spPr>
          <a:xfrm>
            <a:off x="5297410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s006.text.225"/>
          <p:cNvSpPr txBox="1"/>
          <p:nvPr/>
        </p:nvSpPr>
        <p:spPr>
          <a:xfrm>
            <a:off x="6519541" y="1072217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18"/>
          <p:cNvSpPr/>
          <p:nvPr/>
        </p:nvSpPr>
        <p:spPr>
          <a:xfrm>
            <a:off x="8131420" y="990926"/>
            <a:ext cx="938400" cy="6072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7" name="Google Shape;227;p18"/>
          <p:cNvSpPr/>
          <p:nvPr/>
        </p:nvSpPr>
        <p:spPr>
          <a:xfrm>
            <a:off x="8053651" y="990926"/>
            <a:ext cx="938400" cy="5532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5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375" lIns="91375" spcFirstLastPara="1" rIns="91375" wrap="square" tIns="91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9"/>
          </a:p>
        </p:txBody>
      </p:sp>
      <p:sp>
        <p:nvSpPr>
          <p:cNvPr id="228" name="s006.text.228"/>
          <p:cNvSpPr txBox="1"/>
          <p:nvPr/>
        </p:nvSpPr>
        <p:spPr>
          <a:xfrm>
            <a:off x="8053651" y="1029423"/>
            <a:ext cx="2465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Salida</a:t>
            </a:r>
            <a:endParaRPr b="1" sz="7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s006.text.229"/>
          <p:cNvSpPr txBox="1"/>
          <p:nvPr/>
        </p:nvSpPr>
        <p:spPr>
          <a:xfrm>
            <a:off x="8073412" y="1235926"/>
            <a:ext cx="246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375" lIns="91375" spcFirstLastPara="1" rIns="91375" wrap="square" tIns="91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Pto  → </a:t>
            </a:r>
            <a:b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6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6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s006.text.230"/>
          <p:cNvSpPr txBox="1"/>
          <p:nvPr/>
        </p:nvSpPr>
        <p:spPr>
          <a:xfrm>
            <a:off x="7741691" y="1079392"/>
            <a:ext cx="346800" cy="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75" lIns="83175" spcFirstLastPara="1" rIns="83175" wrap="square" tIns="83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2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82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23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6/72</a:t>
            </a:r>
            <a:endParaRPr lang="es-AR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8" name="s007.text.23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Tiempos medios por tramo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239" name="s007.text.239"/>
          <p:cNvSpPr txBox="1"/>
          <p:nvPr/>
        </p:nvSpPr>
        <p:spPr>
          <a:xfrm>
            <a:off x="1590025" y="28536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126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s007.text.240"/>
          <p:cNvSpPr txBox="1"/>
          <p:nvPr/>
        </p:nvSpPr>
        <p:spPr>
          <a:xfrm>
            <a:off x="3107788" y="285366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s007.text.241"/>
          <p:cNvSpPr txBox="1"/>
          <p:nvPr/>
        </p:nvSpPr>
        <p:spPr>
          <a:xfrm>
            <a:off x="3832064" y="2838375"/>
            <a:ext cx="4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s007.text.242"/>
          <p:cNvSpPr txBox="1"/>
          <p:nvPr/>
        </p:nvSpPr>
        <p:spPr>
          <a:xfrm>
            <a:off x="5231838" y="28536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s007.text.243"/>
          <p:cNvSpPr txBox="1"/>
          <p:nvPr/>
        </p:nvSpPr>
        <p:spPr>
          <a:xfrm>
            <a:off x="7100012" y="283031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s007.text.244"/>
          <p:cNvSpPr txBox="1"/>
          <p:nvPr/>
        </p:nvSpPr>
        <p:spPr>
          <a:xfrm>
            <a:off x="8064625" y="2853675"/>
            <a:ext cx="74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4613452" y="3255825"/>
            <a:ext cx="22602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9"/>
          <p:cNvSpPr/>
          <p:nvPr/>
        </p:nvSpPr>
        <p:spPr>
          <a:xfrm>
            <a:off x="6873725" y="3244750"/>
            <a:ext cx="1103700" cy="1221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7983944" y="3250275"/>
            <a:ext cx="910800" cy="122100"/>
          </a:xfrm>
          <a:prstGeom prst="rect">
            <a:avLst/>
          </a:prstGeom>
          <a:solidFill>
            <a:srgbClr val="83ABE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544375" y="3242625"/>
            <a:ext cx="22152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397050" y="3242650"/>
            <a:ext cx="1647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9"/>
          <p:cNvSpPr/>
          <p:nvPr/>
        </p:nvSpPr>
        <p:spPr>
          <a:xfrm>
            <a:off x="3501300" y="3255825"/>
            <a:ext cx="11214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9"/>
          <p:cNvSpPr/>
          <p:nvPr/>
        </p:nvSpPr>
        <p:spPr>
          <a:xfrm>
            <a:off x="2747975" y="3242625"/>
            <a:ext cx="7866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"/>
          <p:cNvSpPr/>
          <p:nvPr/>
        </p:nvSpPr>
        <p:spPr>
          <a:xfrm>
            <a:off x="100617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1794025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19"/>
          <p:cNvCxnSpPr>
            <a:stCxn id="252" idx="6"/>
            <a:endCxn id="253" idx="2"/>
          </p:cNvCxnSpPr>
          <p:nvPr/>
        </p:nvCxnSpPr>
        <p:spPr>
          <a:xfrm>
            <a:off x="1183175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19"/>
          <p:cNvSpPr/>
          <p:nvPr/>
        </p:nvSpPr>
        <p:spPr>
          <a:xfrm>
            <a:off x="30951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19"/>
          <p:cNvCxnSpPr>
            <a:endCxn id="255" idx="2"/>
          </p:cNvCxnSpPr>
          <p:nvPr/>
        </p:nvCxnSpPr>
        <p:spPr>
          <a:xfrm>
            <a:off x="1973700" y="1495025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19"/>
          <p:cNvSpPr/>
          <p:nvPr/>
        </p:nvSpPr>
        <p:spPr>
          <a:xfrm>
            <a:off x="38830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19"/>
          <p:cNvCxnSpPr>
            <a:endCxn id="257" idx="2"/>
          </p:cNvCxnSpPr>
          <p:nvPr/>
        </p:nvCxnSpPr>
        <p:spPr>
          <a:xfrm>
            <a:off x="32722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19"/>
          <p:cNvSpPr/>
          <p:nvPr/>
        </p:nvSpPr>
        <p:spPr>
          <a:xfrm>
            <a:off x="46709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0" name="Google Shape;260;p19"/>
          <p:cNvCxnSpPr>
            <a:endCxn id="259" idx="2"/>
          </p:cNvCxnSpPr>
          <p:nvPr/>
        </p:nvCxnSpPr>
        <p:spPr>
          <a:xfrm>
            <a:off x="4060100" y="1498025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s007.text.261"/>
          <p:cNvSpPr txBox="1"/>
          <p:nvPr/>
        </p:nvSpPr>
        <p:spPr>
          <a:xfrm>
            <a:off x="11144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88945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19"/>
          <p:cNvCxnSpPr>
            <a:stCxn id="259" idx="6"/>
            <a:endCxn id="262" idx="2"/>
          </p:cNvCxnSpPr>
          <p:nvPr/>
        </p:nvCxnSpPr>
        <p:spPr>
          <a:xfrm>
            <a:off x="4847900" y="1498025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19"/>
          <p:cNvSpPr/>
          <p:nvPr/>
        </p:nvSpPr>
        <p:spPr>
          <a:xfrm>
            <a:off x="7034500" y="1409375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19"/>
          <p:cNvCxnSpPr>
            <a:stCxn id="262" idx="6"/>
            <a:endCxn id="264" idx="2"/>
          </p:cNvCxnSpPr>
          <p:nvPr/>
        </p:nvCxnSpPr>
        <p:spPr>
          <a:xfrm>
            <a:off x="6066450" y="1498025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s007.text.266"/>
          <p:cNvSpPr txBox="1"/>
          <p:nvPr/>
        </p:nvSpPr>
        <p:spPr>
          <a:xfrm>
            <a:off x="1604500" y="15372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7" name="s007.text.267"/>
          <p:cNvSpPr txBox="1"/>
          <p:nvPr/>
        </p:nvSpPr>
        <p:spPr>
          <a:xfrm>
            <a:off x="820600" y="15250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8" name="s007.text.268"/>
          <p:cNvSpPr txBox="1"/>
          <p:nvPr/>
        </p:nvSpPr>
        <p:spPr>
          <a:xfrm>
            <a:off x="3665425" y="154535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Ric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9" name="s007.text.269"/>
          <p:cNvSpPr txBox="1"/>
          <p:nvPr/>
        </p:nvSpPr>
        <p:spPr>
          <a:xfrm>
            <a:off x="2881525" y="1533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0" name="s007.text.270"/>
          <p:cNvSpPr txBox="1"/>
          <p:nvPr/>
        </p:nvSpPr>
        <p:spPr>
          <a:xfrm>
            <a:off x="5742475" y="15392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OSL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1" name="s007.text.271"/>
          <p:cNvSpPr txBox="1"/>
          <p:nvPr/>
        </p:nvSpPr>
        <p:spPr>
          <a:xfrm>
            <a:off x="4506200" y="1533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s007.text.272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 SLZ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s007.text.273"/>
          <p:cNvSpPr txBox="1"/>
          <p:nvPr/>
        </p:nvSpPr>
        <p:spPr>
          <a:xfrm>
            <a:off x="687372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PTO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8109025" y="1390200"/>
            <a:ext cx="177000" cy="177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19"/>
          <p:cNvCxnSpPr>
            <a:endCxn id="274" idx="2"/>
          </p:cNvCxnSpPr>
          <p:nvPr/>
        </p:nvCxnSpPr>
        <p:spPr>
          <a:xfrm flipH="1" rot="10800000">
            <a:off x="7211425" y="1478850"/>
            <a:ext cx="897600" cy="75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s007.text.276"/>
          <p:cNvSpPr txBox="1"/>
          <p:nvPr/>
        </p:nvSpPr>
        <p:spPr>
          <a:xfrm>
            <a:off x="1973700" y="1154100"/>
            <a:ext cx="1372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     Playa 1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s007.text.277"/>
          <p:cNvSpPr txBox="1"/>
          <p:nvPr/>
        </p:nvSpPr>
        <p:spPr>
          <a:xfrm>
            <a:off x="3219275" y="11440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Salida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s007.text.278"/>
          <p:cNvSpPr txBox="1"/>
          <p:nvPr/>
        </p:nvSpPr>
        <p:spPr>
          <a:xfrm>
            <a:off x="4022300" y="1145212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Interplanta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s007.text.279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334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s007.text.280"/>
          <p:cNvSpPr txBox="1"/>
          <p:nvPr/>
        </p:nvSpPr>
        <p:spPr>
          <a:xfrm>
            <a:off x="4928550" y="11440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Playa OSL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s007.text.281"/>
          <p:cNvSpPr txBox="1"/>
          <p:nvPr/>
        </p:nvSpPr>
        <p:spPr>
          <a:xfrm>
            <a:off x="6104250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2" name="s007.text.282"/>
          <p:cNvSpPr txBox="1"/>
          <p:nvPr/>
        </p:nvSpPr>
        <p:spPr>
          <a:xfrm>
            <a:off x="7249675" y="1154088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Egreso</a:t>
            </a:r>
            <a:endParaRPr b="1"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s007.text.283"/>
          <p:cNvSpPr txBox="1"/>
          <p:nvPr/>
        </p:nvSpPr>
        <p:spPr>
          <a:xfrm>
            <a:off x="289025" y="2853663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s007.text.28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85" name="s007.text.285"/>
          <p:cNvSpPr txBox="1"/>
          <p:nvPr/>
        </p:nvSpPr>
        <p:spPr>
          <a:xfrm>
            <a:off x="1473550" y="4316287"/>
            <a:ext cx="960900" cy="60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Comparativo </a:t>
            </a:r>
            <a:b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Semana anterior</a:t>
            </a:r>
            <a:endParaRPr b="1" sz="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s007.text.286"/>
          <p:cNvSpPr txBox="1"/>
          <p:nvPr/>
        </p:nvSpPr>
        <p:spPr>
          <a:xfrm>
            <a:off x="1996913" y="4339375"/>
            <a:ext cx="172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 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5425075" y="42510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8" name="Google Shape;288;p19"/>
          <p:cNvSpPr/>
          <p:nvPr/>
        </p:nvSpPr>
        <p:spPr>
          <a:xfrm>
            <a:off x="5529486" y="43029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289" name="s007.text.289"/>
          <p:cNvSpPr txBox="1"/>
          <p:nvPr/>
        </p:nvSpPr>
        <p:spPr>
          <a:xfrm>
            <a:off x="5494629" y="43029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290" name="s007.text.290"/>
          <p:cNvSpPr txBox="1"/>
          <p:nvPr/>
        </p:nvSpPr>
        <p:spPr>
          <a:xfrm>
            <a:off x="5633899" y="45036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2557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1" name="s007.text.291"/>
          <p:cNvSpPr txBox="1"/>
          <p:nvPr/>
        </p:nvSpPr>
        <p:spPr>
          <a:xfrm>
            <a:off x="2923300" y="4403025"/>
            <a:ext cx="118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D30D0C"/>
                </a:solidFill>
                <a:latin typeface="Inter"/>
                <a:ea typeface="Inter"/>
                <a:cs typeface="Inter"/>
                <a:sym typeface="Inter"/>
              </a:rPr>
              <a:t>+58</a:t>
            </a:r>
            <a:endParaRPr b="1" sz="2000">
              <a:solidFill>
                <a:srgbClr val="D30D0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s007.text.292"/>
          <p:cNvSpPr/>
          <p:nvPr/>
        </p:nvSpPr>
        <p:spPr>
          <a:xfrm>
            <a:off x="417325" y="3405075"/>
            <a:ext cx="3084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293" name="s007.text.293"/>
          <p:cNvSpPr/>
          <p:nvPr/>
        </p:nvSpPr>
        <p:spPr>
          <a:xfrm>
            <a:off x="4613450" y="3433150"/>
            <a:ext cx="4281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294" name="s007.text.294"/>
          <p:cNvSpPr txBox="1"/>
          <p:nvPr/>
        </p:nvSpPr>
        <p:spPr>
          <a:xfrm>
            <a:off x="1698800" y="35647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142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5" name="s007.text.295"/>
          <p:cNvSpPr txBox="1"/>
          <p:nvPr/>
        </p:nvSpPr>
        <p:spPr>
          <a:xfrm>
            <a:off x="5965975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6" name="s007.text.296"/>
          <p:cNvSpPr txBox="1"/>
          <p:nvPr/>
        </p:nvSpPr>
        <p:spPr>
          <a:xfrm>
            <a:off x="2183425" y="36953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22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7" name="s007.text.297"/>
          <p:cNvSpPr txBox="1"/>
          <p:nvPr/>
        </p:nvSpPr>
        <p:spPr>
          <a:xfrm>
            <a:off x="6513875" y="37696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98" name="s007.text.298"/>
          <p:cNvSpPr txBox="1"/>
          <p:nvPr/>
        </p:nvSpPr>
        <p:spPr>
          <a:xfrm>
            <a:off x="5186475" y="2264488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34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29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7/72</a:t>
            </a:r>
            <a:endParaRPr lang="es-AR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008.text.303"/>
          <p:cNvSpPr txBox="1"/>
          <p:nvPr/>
        </p:nvSpPr>
        <p:spPr>
          <a:xfrm>
            <a:off x="2723599" y="29047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164</a:t>
            </a:r>
            <a:endParaRPr b="1" sz="1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s008.text.304"/>
          <p:cNvSpPr txBox="1"/>
          <p:nvPr/>
        </p:nvSpPr>
        <p:spPr>
          <a:xfrm>
            <a:off x="3903144" y="28936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s008.text.305"/>
          <p:cNvSpPr txBox="1"/>
          <p:nvPr/>
        </p:nvSpPr>
        <p:spPr>
          <a:xfrm>
            <a:off x="4376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s008.text.306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122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s008.text.307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s008.text.308"/>
          <p:cNvSpPr txBox="1"/>
          <p:nvPr/>
        </p:nvSpPr>
        <p:spPr>
          <a:xfrm>
            <a:off x="7111744" y="289367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744975" y="3177300"/>
            <a:ext cx="1228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0" name="Google Shape;310;p20"/>
          <p:cNvSpPr/>
          <p:nvPr/>
        </p:nvSpPr>
        <p:spPr>
          <a:xfrm>
            <a:off x="5973775" y="3177050"/>
            <a:ext cx="1144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1" name="Google Shape;311;p20"/>
          <p:cNvSpPr/>
          <p:nvPr/>
        </p:nvSpPr>
        <p:spPr>
          <a:xfrm>
            <a:off x="7123371" y="3182625"/>
            <a:ext cx="6576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2" name="Google Shape;312;p20"/>
          <p:cNvSpPr/>
          <p:nvPr/>
        </p:nvSpPr>
        <p:spPr>
          <a:xfrm>
            <a:off x="1697200" y="3177050"/>
            <a:ext cx="21984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3" name="Google Shape;313;p20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4" name="Google Shape;314;p20"/>
          <p:cNvSpPr/>
          <p:nvPr/>
        </p:nvSpPr>
        <p:spPr>
          <a:xfrm>
            <a:off x="4365523" y="3177310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5" name="Google Shape;315;p20"/>
          <p:cNvSpPr/>
          <p:nvPr/>
        </p:nvSpPr>
        <p:spPr>
          <a:xfrm>
            <a:off x="3881671" y="3173250"/>
            <a:ext cx="4791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16" name="s008.text.316"/>
          <p:cNvSpPr txBox="1"/>
          <p:nvPr/>
        </p:nvSpPr>
        <p:spPr>
          <a:xfrm>
            <a:off x="3843238" y="20330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s008.text.317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s008.text.318"/>
          <p:cNvSpPr txBox="1"/>
          <p:nvPr/>
        </p:nvSpPr>
        <p:spPr>
          <a:xfrm>
            <a:off x="3927888" y="18432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19" name="Google Shape;319;p2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0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2" name="s008.text.32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323" name="Google Shape;323;p20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4" name="Google Shape;324;p20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5" name="Google Shape;325;p20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6" name="Google Shape;326;p20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7" name="Google Shape;327;p20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8" name="Google Shape;328;p20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29" name="Google Shape;329;p20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0" name="Google Shape;330;p20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331" name="s008.text.33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2" name="s008.text.33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3" name="s008.text.33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4" name="s008.text.33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335" name="s008.text.33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6" name="s008.text.33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7" name="s008.text.33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s008.text.33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s008.text.339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151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0" name="s008.text.340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118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1" name="s008.text.341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104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2" name="s008.text.342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3" name="Google Shape;343;p20"/>
          <p:cNvSpPr txBox="1"/>
          <p:nvPr/>
        </p:nvSpPr>
        <p:spPr>
          <a:xfrm>
            <a:off x="3950925" y="4210450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3637750" y="404757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5" name="Google Shape;345;p20"/>
          <p:cNvSpPr/>
          <p:nvPr/>
        </p:nvSpPr>
        <p:spPr>
          <a:xfrm>
            <a:off x="3766715" y="411174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346" name="s008.text.346"/>
          <p:cNvSpPr txBox="1"/>
          <p:nvPr/>
        </p:nvSpPr>
        <p:spPr>
          <a:xfrm>
            <a:off x="3723660" y="4111740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347" name="s008.text.347"/>
          <p:cNvSpPr txBox="1"/>
          <p:nvPr/>
        </p:nvSpPr>
        <p:spPr>
          <a:xfrm>
            <a:off x="3895682" y="4359532"/>
            <a:ext cx="12717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511</a:t>
            </a:r>
            <a:endParaRPr b="1" sz="15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s008.text.348"/>
          <p:cNvSpPr txBox="1"/>
          <p:nvPr/>
        </p:nvSpPr>
        <p:spPr>
          <a:xfrm>
            <a:off x="285175" y="28713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s008.text.349"/>
          <p:cNvSpPr txBox="1"/>
          <p:nvPr/>
        </p:nvSpPr>
        <p:spPr>
          <a:xfrm>
            <a:off x="3856350" y="24698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0" name="s008.text.350"/>
          <p:cNvSpPr/>
          <p:nvPr/>
        </p:nvSpPr>
        <p:spPr>
          <a:xfrm>
            <a:off x="1589875" y="3425475"/>
            <a:ext cx="28260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351" name="s008.text.351"/>
          <p:cNvSpPr/>
          <p:nvPr/>
        </p:nvSpPr>
        <p:spPr>
          <a:xfrm>
            <a:off x="4784225" y="3425475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352" name="s008.text.352"/>
          <p:cNvSpPr txBox="1"/>
          <p:nvPr/>
        </p:nvSpPr>
        <p:spPr>
          <a:xfrm>
            <a:off x="2382750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s008.text.353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s008.text.354"/>
          <p:cNvSpPr txBox="1"/>
          <p:nvPr/>
        </p:nvSpPr>
        <p:spPr>
          <a:xfrm>
            <a:off x="2174850" y="404312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5" name="s008.text.355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3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8/72</a:t>
            </a:r>
            <a:endParaRPr lang="es-AR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s009.text.360"/>
          <p:cNvSpPr txBox="1"/>
          <p:nvPr/>
        </p:nvSpPr>
        <p:spPr>
          <a:xfrm>
            <a:off x="2786861" y="2862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168</a:t>
            </a:r>
            <a:endParaRPr b="1" sz="1166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s009.text.361"/>
          <p:cNvSpPr txBox="1"/>
          <p:nvPr/>
        </p:nvSpPr>
        <p:spPr>
          <a:xfrm>
            <a:off x="3822269" y="2840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s009.text.362"/>
          <p:cNvSpPr txBox="1"/>
          <p:nvPr/>
        </p:nvSpPr>
        <p:spPr>
          <a:xfrm>
            <a:off x="4377471" y="2862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3" name="s009.text.363"/>
          <p:cNvSpPr txBox="1"/>
          <p:nvPr/>
        </p:nvSpPr>
        <p:spPr>
          <a:xfrm>
            <a:off x="5200520" y="2862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91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s009.text.364"/>
          <p:cNvSpPr txBox="1"/>
          <p:nvPr/>
        </p:nvSpPr>
        <p:spPr>
          <a:xfrm>
            <a:off x="6683246" y="2862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s009.text.365"/>
          <p:cNvSpPr txBox="1"/>
          <p:nvPr/>
        </p:nvSpPr>
        <p:spPr>
          <a:xfrm>
            <a:off x="7563627" y="2851575"/>
            <a:ext cx="863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739539" y="3155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7" name="Google Shape;367;p21"/>
          <p:cNvSpPr/>
          <p:nvPr/>
        </p:nvSpPr>
        <p:spPr>
          <a:xfrm>
            <a:off x="6388551" y="3146050"/>
            <a:ext cx="944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8" name="Google Shape;368;p21"/>
          <p:cNvSpPr/>
          <p:nvPr/>
        </p:nvSpPr>
        <p:spPr>
          <a:xfrm>
            <a:off x="7332914" y="3151625"/>
            <a:ext cx="7758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69" name="Google Shape;369;p21"/>
          <p:cNvSpPr/>
          <p:nvPr/>
        </p:nvSpPr>
        <p:spPr>
          <a:xfrm>
            <a:off x="2025039" y="3146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0" name="Google Shape;370;p21"/>
          <p:cNvSpPr/>
          <p:nvPr/>
        </p:nvSpPr>
        <p:spPr>
          <a:xfrm>
            <a:off x="1917703" y="3146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1" name="Google Shape;371;p21"/>
          <p:cNvSpPr/>
          <p:nvPr/>
        </p:nvSpPr>
        <p:spPr>
          <a:xfrm>
            <a:off x="4364910" y="3150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2" name="Google Shape;372;p21"/>
          <p:cNvSpPr/>
          <p:nvPr/>
        </p:nvSpPr>
        <p:spPr>
          <a:xfrm>
            <a:off x="3630502" y="3146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373" name="s009.text.373"/>
          <p:cNvSpPr txBox="1"/>
          <p:nvPr/>
        </p:nvSpPr>
        <p:spPr>
          <a:xfrm>
            <a:off x="4196975" y="23475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347 </a:t>
            </a:r>
            <a:r>
              <a:rPr b="1" lang="es" sz="1300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s009.text.374"/>
          <p:cNvSpPr txBox="1"/>
          <p:nvPr/>
        </p:nvSpPr>
        <p:spPr>
          <a:xfrm>
            <a:off x="1839000" y="2862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0154A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0154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s009.text.375"/>
          <p:cNvSpPr txBox="1"/>
          <p:nvPr/>
        </p:nvSpPr>
        <p:spPr>
          <a:xfrm>
            <a:off x="4281625" y="21577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76" name="s009.text.376"/>
          <p:cNvSpPr txBox="1"/>
          <p:nvPr/>
        </p:nvSpPr>
        <p:spPr>
          <a:xfrm>
            <a:off x="613025" y="28424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1"/>
          <p:cNvSpPr/>
          <p:nvPr/>
        </p:nvSpPr>
        <p:spPr>
          <a:xfrm>
            <a:off x="2686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/>
          <p:nvPr/>
        </p:nvSpPr>
        <p:spPr>
          <a:xfrm>
            <a:off x="2686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25238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1"/>
          <p:cNvSpPr/>
          <p:nvPr/>
        </p:nvSpPr>
        <p:spPr>
          <a:xfrm>
            <a:off x="25238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/>
          <p:nvPr/>
        </p:nvSpPr>
        <p:spPr>
          <a:xfrm>
            <a:off x="472318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472318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6978338" y="1090925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"/>
          <p:cNvSpPr/>
          <p:nvPr/>
        </p:nvSpPr>
        <p:spPr>
          <a:xfrm>
            <a:off x="6978338" y="1145500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s009.text.385"/>
          <p:cNvSpPr/>
          <p:nvPr/>
        </p:nvSpPr>
        <p:spPr>
          <a:xfrm>
            <a:off x="388363" y="12053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6" name="s009.text.386"/>
          <p:cNvSpPr/>
          <p:nvPr/>
        </p:nvSpPr>
        <p:spPr>
          <a:xfrm>
            <a:off x="2650063" y="120205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7" name="s009.text.387"/>
          <p:cNvSpPr/>
          <p:nvPr/>
        </p:nvSpPr>
        <p:spPr>
          <a:xfrm>
            <a:off x="486096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8" name="s009.text.388"/>
          <p:cNvSpPr/>
          <p:nvPr/>
        </p:nvSpPr>
        <p:spPr>
          <a:xfrm>
            <a:off x="7149013" y="11816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389" name="s009.text.389"/>
          <p:cNvSpPr txBox="1"/>
          <p:nvPr/>
        </p:nvSpPr>
        <p:spPr>
          <a:xfrm>
            <a:off x="853463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s009.text.390"/>
          <p:cNvSpPr txBox="1"/>
          <p:nvPr/>
        </p:nvSpPr>
        <p:spPr>
          <a:xfrm>
            <a:off x="2991488" y="11797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s009.text.391"/>
          <p:cNvSpPr txBox="1"/>
          <p:nvPr/>
        </p:nvSpPr>
        <p:spPr>
          <a:xfrm>
            <a:off x="5248663" y="115931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s009.text.392"/>
          <p:cNvSpPr txBox="1"/>
          <p:nvPr/>
        </p:nvSpPr>
        <p:spPr>
          <a:xfrm>
            <a:off x="7562413" y="1181663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s009.text.393"/>
          <p:cNvSpPr txBox="1"/>
          <p:nvPr/>
        </p:nvSpPr>
        <p:spPr>
          <a:xfrm>
            <a:off x="1273288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178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4" name="s009.text.394"/>
          <p:cNvSpPr txBox="1"/>
          <p:nvPr/>
        </p:nvSpPr>
        <p:spPr>
          <a:xfrm>
            <a:off x="3454163" y="1594600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78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5" name="s009.text.395"/>
          <p:cNvSpPr txBox="1"/>
          <p:nvPr/>
        </p:nvSpPr>
        <p:spPr>
          <a:xfrm>
            <a:off x="5672175" y="15808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139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96" name="s009.text.396"/>
          <p:cNvSpPr txBox="1"/>
          <p:nvPr/>
        </p:nvSpPr>
        <p:spPr>
          <a:xfrm>
            <a:off x="7983713" y="156718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97" name="Google Shape;397;p2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1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00" name="s009.text.400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3682988" y="4056100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2" name="Google Shape;402;p21"/>
          <p:cNvSpPr/>
          <p:nvPr/>
        </p:nvSpPr>
        <p:spPr>
          <a:xfrm>
            <a:off x="3817365" y="4122956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03" name="s009.text.403"/>
          <p:cNvSpPr txBox="1"/>
          <p:nvPr/>
        </p:nvSpPr>
        <p:spPr>
          <a:xfrm>
            <a:off x="3772503" y="4122956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04" name="s009.text.404"/>
          <p:cNvSpPr txBox="1"/>
          <p:nvPr/>
        </p:nvSpPr>
        <p:spPr>
          <a:xfrm>
            <a:off x="3951744" y="4381144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482</a:t>
            </a:r>
            <a:endParaRPr b="1" sz="24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s009.text.405"/>
          <p:cNvSpPr txBox="1"/>
          <p:nvPr/>
        </p:nvSpPr>
        <p:spPr>
          <a:xfrm>
            <a:off x="4276550" y="26799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(5 hs 47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06" name="s009.text.406"/>
          <p:cNvSpPr/>
          <p:nvPr/>
        </p:nvSpPr>
        <p:spPr>
          <a:xfrm>
            <a:off x="1917700" y="3425475"/>
            <a:ext cx="244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07" name="s009.text.407"/>
          <p:cNvSpPr/>
          <p:nvPr/>
        </p:nvSpPr>
        <p:spPr>
          <a:xfrm>
            <a:off x="4760325" y="3425475"/>
            <a:ext cx="3348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08" name="s009.text.408"/>
          <p:cNvSpPr txBox="1"/>
          <p:nvPr/>
        </p:nvSpPr>
        <p:spPr>
          <a:xfrm>
            <a:off x="2808000" y="361860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183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9" name="s009.text.409"/>
          <p:cNvSpPr txBox="1"/>
          <p:nvPr/>
        </p:nvSpPr>
        <p:spPr>
          <a:xfrm>
            <a:off x="5885625" y="35940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s009.text.410"/>
          <p:cNvSpPr txBox="1"/>
          <p:nvPr/>
        </p:nvSpPr>
        <p:spPr>
          <a:xfrm>
            <a:off x="2600100" y="4067650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 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s009.text.411"/>
          <p:cNvSpPr txBox="1"/>
          <p:nvPr/>
        </p:nvSpPr>
        <p:spPr>
          <a:xfrm>
            <a:off x="5807450" y="41065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41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9/72</a:t>
            </a:r>
            <a:endParaRPr lang="es-AR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s010.text.416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s010.text.417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8" name="s010.text.418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s010.text.419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0" name="s010.text.420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s010.text.421"/>
          <p:cNvSpPr txBox="1"/>
          <p:nvPr/>
        </p:nvSpPr>
        <p:spPr>
          <a:xfrm>
            <a:off x="7785499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3" name="Google Shape;423;p22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4" name="Google Shape;424;p22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5" name="Google Shape;425;p22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6" name="Google Shape;426;p22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7" name="Google Shape;427;p22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8" name="Google Shape;428;p22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29" name="s010.text.429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s010.text.430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s010.text.431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32" name="s010.text.432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3" name="Google Shape;433;p2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2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6" name="s010.text.43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2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2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2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2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2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s010.text.445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6" name="s010.text.446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7" name="s010.text.447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8" name="s010.text.448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449" name="s010.text.449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s010.text.450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s010.text.451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s010.text.452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s010.text.453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195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4" name="s010.text.454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5" name="s010.text.455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81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6" name="s010.text.456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40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57" name="Google Shape;457;p22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8" name="Google Shape;458;p22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459" name="s010.text.459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460" name="s010.text.460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419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" name="s010.text.461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462" name="s010.text.462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463" name="s010.text.463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175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s010.text.464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203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5" name="s010.text.465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55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6" name="s010.text.466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23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67" name="s010.text.467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46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10/72</a:t>
            </a:r>
            <a:endParaRPr lang="es-AR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s011.text.472"/>
          <p:cNvSpPr txBox="1"/>
          <p:nvPr/>
        </p:nvSpPr>
        <p:spPr>
          <a:xfrm>
            <a:off x="3026536" y="30635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169</a:t>
            </a:r>
            <a:endParaRPr b="1" sz="1166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3" name="s011.text.473"/>
          <p:cNvSpPr txBox="1"/>
          <p:nvPr/>
        </p:nvSpPr>
        <p:spPr>
          <a:xfrm>
            <a:off x="4061944" y="30412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4" name="s011.text.474"/>
          <p:cNvSpPr txBox="1"/>
          <p:nvPr/>
        </p:nvSpPr>
        <p:spPr>
          <a:xfrm>
            <a:off x="4617146" y="30635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5" name="s011.text.475"/>
          <p:cNvSpPr txBox="1"/>
          <p:nvPr/>
        </p:nvSpPr>
        <p:spPr>
          <a:xfrm>
            <a:off x="5440195" y="30635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6" name="s011.text.476"/>
          <p:cNvSpPr txBox="1"/>
          <p:nvPr/>
        </p:nvSpPr>
        <p:spPr>
          <a:xfrm>
            <a:off x="6820146" y="30635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7" name="s011.text.477"/>
          <p:cNvSpPr txBox="1"/>
          <p:nvPr/>
        </p:nvSpPr>
        <p:spPr>
          <a:xfrm>
            <a:off x="7785500" y="3063575"/>
            <a:ext cx="4323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979214" y="33565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79" name="Google Shape;479;p23"/>
          <p:cNvSpPr/>
          <p:nvPr/>
        </p:nvSpPr>
        <p:spPr>
          <a:xfrm>
            <a:off x="6628225" y="3346950"/>
            <a:ext cx="9894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0" name="Google Shape;480;p23"/>
          <p:cNvSpPr/>
          <p:nvPr/>
        </p:nvSpPr>
        <p:spPr>
          <a:xfrm>
            <a:off x="7597340" y="3352525"/>
            <a:ext cx="7512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1" name="Google Shape;481;p23"/>
          <p:cNvSpPr/>
          <p:nvPr/>
        </p:nvSpPr>
        <p:spPr>
          <a:xfrm>
            <a:off x="2264714" y="33469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2" name="Google Shape;482;p23"/>
          <p:cNvSpPr/>
          <p:nvPr/>
        </p:nvSpPr>
        <p:spPr>
          <a:xfrm>
            <a:off x="2157378" y="33469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3" name="Google Shape;483;p23"/>
          <p:cNvSpPr/>
          <p:nvPr/>
        </p:nvSpPr>
        <p:spPr>
          <a:xfrm>
            <a:off x="4604585" y="33509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4" name="Google Shape;484;p23"/>
          <p:cNvSpPr/>
          <p:nvPr/>
        </p:nvSpPr>
        <p:spPr>
          <a:xfrm>
            <a:off x="3870177" y="33469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485" name="s011.text.485"/>
          <p:cNvSpPr txBox="1"/>
          <p:nvPr/>
        </p:nvSpPr>
        <p:spPr>
          <a:xfrm>
            <a:off x="4300375" y="20918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272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s011.text.486"/>
          <p:cNvSpPr txBox="1"/>
          <p:nvPr/>
        </p:nvSpPr>
        <p:spPr>
          <a:xfrm>
            <a:off x="2078675" y="30635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s011.text.487"/>
          <p:cNvSpPr txBox="1"/>
          <p:nvPr/>
        </p:nvSpPr>
        <p:spPr>
          <a:xfrm>
            <a:off x="4385025" y="19021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88" name="s011.text.488"/>
          <p:cNvSpPr txBox="1"/>
          <p:nvPr/>
        </p:nvSpPr>
        <p:spPr>
          <a:xfrm>
            <a:off x="943638" y="304128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89" name="Google Shape;489;p2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2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92" name="s011.text.49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493" name="Google Shape;493;p23"/>
          <p:cNvSpPr/>
          <p:nvPr/>
        </p:nvSpPr>
        <p:spPr>
          <a:xfrm>
            <a:off x="3036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3"/>
          <p:cNvSpPr/>
          <p:nvPr/>
        </p:nvSpPr>
        <p:spPr>
          <a:xfrm>
            <a:off x="3036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3"/>
          <p:cNvSpPr/>
          <p:nvPr/>
        </p:nvSpPr>
        <p:spPr>
          <a:xfrm>
            <a:off x="25588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3"/>
          <p:cNvSpPr/>
          <p:nvPr/>
        </p:nvSpPr>
        <p:spPr>
          <a:xfrm>
            <a:off x="25588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3"/>
          <p:cNvSpPr/>
          <p:nvPr/>
        </p:nvSpPr>
        <p:spPr>
          <a:xfrm>
            <a:off x="475815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3"/>
          <p:cNvSpPr/>
          <p:nvPr/>
        </p:nvSpPr>
        <p:spPr>
          <a:xfrm>
            <a:off x="475815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3"/>
          <p:cNvSpPr/>
          <p:nvPr/>
        </p:nvSpPr>
        <p:spPr>
          <a:xfrm>
            <a:off x="7013300" y="824950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3"/>
          <p:cNvSpPr/>
          <p:nvPr/>
        </p:nvSpPr>
        <p:spPr>
          <a:xfrm>
            <a:off x="7013300" y="879525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s011.text.501"/>
          <p:cNvSpPr/>
          <p:nvPr/>
        </p:nvSpPr>
        <p:spPr>
          <a:xfrm>
            <a:off x="423325" y="9394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2" name="s011.text.502"/>
          <p:cNvSpPr/>
          <p:nvPr/>
        </p:nvSpPr>
        <p:spPr>
          <a:xfrm>
            <a:off x="2685025" y="936075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3" name="s011.text.503"/>
          <p:cNvSpPr/>
          <p:nvPr/>
        </p:nvSpPr>
        <p:spPr>
          <a:xfrm>
            <a:off x="489592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4" name="s011.text.504"/>
          <p:cNvSpPr/>
          <p:nvPr/>
        </p:nvSpPr>
        <p:spPr>
          <a:xfrm>
            <a:off x="7183975" y="915700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505" name="s011.text.505"/>
          <p:cNvSpPr txBox="1"/>
          <p:nvPr/>
        </p:nvSpPr>
        <p:spPr>
          <a:xfrm>
            <a:off x="888425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6" name="s011.text.506"/>
          <p:cNvSpPr txBox="1"/>
          <p:nvPr/>
        </p:nvSpPr>
        <p:spPr>
          <a:xfrm>
            <a:off x="3026450" y="9137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7" name="s011.text.507"/>
          <p:cNvSpPr txBox="1"/>
          <p:nvPr/>
        </p:nvSpPr>
        <p:spPr>
          <a:xfrm>
            <a:off x="5283625" y="89333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s011.text.508"/>
          <p:cNvSpPr txBox="1"/>
          <p:nvPr/>
        </p:nvSpPr>
        <p:spPr>
          <a:xfrm>
            <a:off x="7597375" y="915688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s011.text.509"/>
          <p:cNvSpPr txBox="1"/>
          <p:nvPr/>
        </p:nvSpPr>
        <p:spPr>
          <a:xfrm>
            <a:off x="1308250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0" name="s011.text.510"/>
          <p:cNvSpPr txBox="1"/>
          <p:nvPr/>
        </p:nvSpPr>
        <p:spPr>
          <a:xfrm>
            <a:off x="3489125" y="13286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5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1" name="s011.text.511"/>
          <p:cNvSpPr txBox="1"/>
          <p:nvPr/>
        </p:nvSpPr>
        <p:spPr>
          <a:xfrm>
            <a:off x="5707138" y="13149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2" name="s011.text.512"/>
          <p:cNvSpPr txBox="1"/>
          <p:nvPr/>
        </p:nvSpPr>
        <p:spPr>
          <a:xfrm>
            <a:off x="8018675" y="1301213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13" name="Google Shape;513;p23"/>
          <p:cNvSpPr/>
          <p:nvPr/>
        </p:nvSpPr>
        <p:spPr>
          <a:xfrm>
            <a:off x="3914125" y="3909225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4" name="Google Shape;514;p23"/>
          <p:cNvSpPr/>
          <p:nvPr/>
        </p:nvSpPr>
        <p:spPr>
          <a:xfrm>
            <a:off x="4048502" y="3976081"/>
            <a:ext cx="1638300" cy="901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1475" lIns="151475" spcFirstLastPara="1" rIns="151475" wrap="square" tIns="151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0"/>
          </a:p>
        </p:txBody>
      </p:sp>
      <p:sp>
        <p:nvSpPr>
          <p:cNvPr id="515" name="s011.text.515"/>
          <p:cNvSpPr txBox="1"/>
          <p:nvPr/>
        </p:nvSpPr>
        <p:spPr>
          <a:xfrm>
            <a:off x="4003641" y="3976081"/>
            <a:ext cx="18576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91">
                <a:solidFill>
                  <a:schemeClr val="dk2"/>
                </a:solidFill>
              </a:rPr>
              <a:t>Total de camiones</a:t>
            </a:r>
            <a:endParaRPr sz="1491">
              <a:solidFill>
                <a:schemeClr val="dk2"/>
              </a:solidFill>
            </a:endParaRPr>
          </a:p>
        </p:txBody>
      </p:sp>
      <p:sp>
        <p:nvSpPr>
          <p:cNvPr id="516" name="s011.text.516"/>
          <p:cNvSpPr txBox="1"/>
          <p:nvPr/>
        </p:nvSpPr>
        <p:spPr>
          <a:xfrm>
            <a:off x="4182882" y="4234269"/>
            <a:ext cx="1325100" cy="6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1475" lIns="151475" spcFirstLastPara="1" rIns="151475" wrap="square" tIns="1514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</a:t>
            </a:r>
            <a:endParaRPr b="1" sz="166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s011.text.517"/>
          <p:cNvSpPr/>
          <p:nvPr/>
        </p:nvSpPr>
        <p:spPr>
          <a:xfrm>
            <a:off x="2172450" y="3559100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18" name="s011.text.518"/>
          <p:cNvSpPr/>
          <p:nvPr/>
        </p:nvSpPr>
        <p:spPr>
          <a:xfrm>
            <a:off x="4979225" y="35591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19" name="s011.text.519"/>
          <p:cNvSpPr txBox="1"/>
          <p:nvPr/>
        </p:nvSpPr>
        <p:spPr>
          <a:xfrm>
            <a:off x="2812475" y="37522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s011.text.520"/>
          <p:cNvSpPr txBox="1"/>
          <p:nvPr/>
        </p:nvSpPr>
        <p:spPr>
          <a:xfrm>
            <a:off x="5890100" y="37276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74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s011.text.521"/>
          <p:cNvSpPr txBox="1"/>
          <p:nvPr/>
        </p:nvSpPr>
        <p:spPr>
          <a:xfrm>
            <a:off x="2604575" y="42012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2" name="s011.text.522"/>
          <p:cNvSpPr txBox="1"/>
          <p:nvPr/>
        </p:nvSpPr>
        <p:spPr>
          <a:xfrm>
            <a:off x="5890100" y="41980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14 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23" name="s011.text.523"/>
          <p:cNvSpPr txBox="1"/>
          <p:nvPr/>
        </p:nvSpPr>
        <p:spPr>
          <a:xfrm>
            <a:off x="4330625" y="25045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32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52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11/72</a:t>
            </a:r>
            <a:endParaRPr lang="es-AR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2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2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24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31" name="s012.text.53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532" name="s012.text.532"/>
          <p:cNvSpPr txBox="1"/>
          <p:nvPr/>
        </p:nvSpPr>
        <p:spPr>
          <a:xfrm>
            <a:off x="2459024" y="289367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63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s012.text.533"/>
          <p:cNvSpPr txBox="1"/>
          <p:nvPr/>
        </p:nvSpPr>
        <p:spPr>
          <a:xfrm>
            <a:off x="3494431" y="2871371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s012.text.534"/>
          <p:cNvSpPr txBox="1"/>
          <p:nvPr/>
        </p:nvSpPr>
        <p:spPr>
          <a:xfrm>
            <a:off x="4049634" y="289367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s012.text.535"/>
          <p:cNvSpPr txBox="1"/>
          <p:nvPr/>
        </p:nvSpPr>
        <p:spPr>
          <a:xfrm>
            <a:off x="4872682" y="289367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81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6" name="s012.text.536"/>
          <p:cNvSpPr txBox="1"/>
          <p:nvPr/>
        </p:nvSpPr>
        <p:spPr>
          <a:xfrm>
            <a:off x="6355409" y="289366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7" name="s012.text.537"/>
          <p:cNvSpPr txBox="1"/>
          <p:nvPr/>
        </p:nvSpPr>
        <p:spPr>
          <a:xfrm>
            <a:off x="7273611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24"/>
          <p:cNvSpPr/>
          <p:nvPr/>
        </p:nvSpPr>
        <p:spPr>
          <a:xfrm>
            <a:off x="4411702" y="318665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39" name="Google Shape;539;p24"/>
          <p:cNvSpPr/>
          <p:nvPr/>
        </p:nvSpPr>
        <p:spPr>
          <a:xfrm>
            <a:off x="6060727" y="3177050"/>
            <a:ext cx="10692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0" name="Google Shape;540;p24"/>
          <p:cNvSpPr/>
          <p:nvPr/>
        </p:nvSpPr>
        <p:spPr>
          <a:xfrm>
            <a:off x="7129934" y="3182625"/>
            <a:ext cx="6510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1" name="Google Shape;541;p24"/>
          <p:cNvSpPr/>
          <p:nvPr/>
        </p:nvSpPr>
        <p:spPr>
          <a:xfrm>
            <a:off x="1697201" y="317704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2" name="Google Shape;542;p24"/>
          <p:cNvSpPr/>
          <p:nvPr/>
        </p:nvSpPr>
        <p:spPr>
          <a:xfrm>
            <a:off x="1589866" y="317706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3" name="Google Shape;543;p24"/>
          <p:cNvSpPr/>
          <p:nvPr/>
        </p:nvSpPr>
        <p:spPr>
          <a:xfrm>
            <a:off x="4037073" y="318108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4" name="Google Shape;544;p24"/>
          <p:cNvSpPr/>
          <p:nvPr/>
        </p:nvSpPr>
        <p:spPr>
          <a:xfrm>
            <a:off x="3302664" y="317704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45" name="s012.text.545"/>
          <p:cNvSpPr txBox="1"/>
          <p:nvPr/>
        </p:nvSpPr>
        <p:spPr>
          <a:xfrm>
            <a:off x="3996688" y="212792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229 </a:t>
            </a:r>
            <a:r>
              <a:rPr b="1" lang="es" sz="13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s012.text.546"/>
          <p:cNvSpPr txBox="1"/>
          <p:nvPr/>
        </p:nvSpPr>
        <p:spPr>
          <a:xfrm>
            <a:off x="1511163" y="289366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s012.text.547"/>
          <p:cNvSpPr txBox="1"/>
          <p:nvPr/>
        </p:nvSpPr>
        <p:spPr>
          <a:xfrm>
            <a:off x="4081338" y="19381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49" name="Google Shape;549;p24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0" name="Google Shape;550;p24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1" name="Google Shape;551;p24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2" name="Google Shape;552;p24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3" name="Google Shape;553;p24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4" name="Google Shape;554;p24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5" name="Google Shape;555;p24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556" name="s012.text.556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7" name="s012.text.557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8" name="s012.text.558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59" name="s012.text.559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560" name="s012.text.560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s012.text.561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s012.text.562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3" name="s012.text.563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s012.text.564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66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5" name="s012.text.565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6" name="s012.text.566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92 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7" name="s012.text.567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3953800" y="3582825"/>
            <a:ext cx="114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69" name="Google Shape;569;p24"/>
          <p:cNvSpPr/>
          <p:nvPr/>
        </p:nvSpPr>
        <p:spPr>
          <a:xfrm>
            <a:off x="3654075" y="3804825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0" name="Google Shape;570;p24"/>
          <p:cNvSpPr/>
          <p:nvPr/>
        </p:nvSpPr>
        <p:spPr>
          <a:xfrm>
            <a:off x="3785840" y="3851490"/>
            <a:ext cx="1572300" cy="865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51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375" lIns="145375" spcFirstLastPara="1" rIns="145375" wrap="square" tIns="145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6"/>
          </a:p>
        </p:txBody>
      </p:sp>
      <p:sp>
        <p:nvSpPr>
          <p:cNvPr id="571" name="s012.text.571"/>
          <p:cNvSpPr txBox="1"/>
          <p:nvPr/>
        </p:nvSpPr>
        <p:spPr>
          <a:xfrm>
            <a:off x="3719810" y="3719715"/>
            <a:ext cx="1782600" cy="5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31">
                <a:solidFill>
                  <a:schemeClr val="dk2"/>
                </a:solidFill>
              </a:rPr>
              <a:t>Total de camiones</a:t>
            </a:r>
            <a:endParaRPr sz="1431">
              <a:solidFill>
                <a:schemeClr val="dk2"/>
              </a:solidFill>
            </a:endParaRPr>
          </a:p>
        </p:txBody>
      </p:sp>
      <p:sp>
        <p:nvSpPr>
          <p:cNvPr id="572" name="s012.text.572"/>
          <p:cNvSpPr txBox="1"/>
          <p:nvPr/>
        </p:nvSpPr>
        <p:spPr>
          <a:xfrm>
            <a:off x="3869132" y="4058582"/>
            <a:ext cx="1271700" cy="10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375" lIns="145375" spcFirstLastPara="1" rIns="145375" wrap="square" tIns="1453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5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292</a:t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85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3" name="s012.text.573"/>
          <p:cNvSpPr txBox="1"/>
          <p:nvPr/>
        </p:nvSpPr>
        <p:spPr>
          <a:xfrm>
            <a:off x="361075" y="2834997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14/09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4" name="s012.text.574"/>
          <p:cNvSpPr/>
          <p:nvPr/>
        </p:nvSpPr>
        <p:spPr>
          <a:xfrm>
            <a:off x="1589875" y="3401663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575" name="s012.text.575"/>
          <p:cNvSpPr/>
          <p:nvPr/>
        </p:nvSpPr>
        <p:spPr>
          <a:xfrm>
            <a:off x="4411775" y="337060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576" name="s012.text.576"/>
          <p:cNvSpPr txBox="1"/>
          <p:nvPr/>
        </p:nvSpPr>
        <p:spPr>
          <a:xfrm>
            <a:off x="2310425" y="358281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s012.text.577"/>
          <p:cNvSpPr txBox="1"/>
          <p:nvPr/>
        </p:nvSpPr>
        <p:spPr>
          <a:xfrm>
            <a:off x="5876625" y="3570263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139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s012.text.578"/>
          <p:cNvSpPr txBox="1"/>
          <p:nvPr/>
        </p:nvSpPr>
        <p:spPr>
          <a:xfrm>
            <a:off x="2106450" y="4058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18m)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9" name="s012.text.579"/>
          <p:cNvSpPr txBox="1"/>
          <p:nvPr/>
        </p:nvSpPr>
        <p:spPr>
          <a:xfrm>
            <a:off x="5829600" y="4058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80" name="s012.text.580"/>
          <p:cNvSpPr txBox="1"/>
          <p:nvPr/>
        </p:nvSpPr>
        <p:spPr>
          <a:xfrm>
            <a:off x="4996075" y="230071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49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5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12/72</a:t>
            </a:r>
            <a:endParaRPr lang="es-AR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s013.text.585"/>
          <p:cNvSpPr txBox="1"/>
          <p:nvPr/>
        </p:nvSpPr>
        <p:spPr>
          <a:xfrm>
            <a:off x="3061086" y="26475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83</a:t>
            </a:r>
            <a:endParaRPr b="1" sz="1166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6" name="s013.text.586"/>
          <p:cNvSpPr txBox="1"/>
          <p:nvPr/>
        </p:nvSpPr>
        <p:spPr>
          <a:xfrm>
            <a:off x="4096494" y="2625221"/>
            <a:ext cx="3747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s013.text.587"/>
          <p:cNvSpPr txBox="1"/>
          <p:nvPr/>
        </p:nvSpPr>
        <p:spPr>
          <a:xfrm>
            <a:off x="4651696" y="2647524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s013.text.588"/>
          <p:cNvSpPr txBox="1"/>
          <p:nvPr/>
        </p:nvSpPr>
        <p:spPr>
          <a:xfrm>
            <a:off x="5474745" y="26475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217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s013.text.589"/>
          <p:cNvSpPr txBox="1"/>
          <p:nvPr/>
        </p:nvSpPr>
        <p:spPr>
          <a:xfrm>
            <a:off x="6957471" y="26475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48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s013.text.590"/>
          <p:cNvSpPr txBox="1"/>
          <p:nvPr/>
        </p:nvSpPr>
        <p:spPr>
          <a:xfrm>
            <a:off x="7804624" y="2594590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1" name="Google Shape;591;p25"/>
          <p:cNvSpPr/>
          <p:nvPr/>
        </p:nvSpPr>
        <p:spPr>
          <a:xfrm>
            <a:off x="5013764" y="2940509"/>
            <a:ext cx="16563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2" name="Google Shape;592;p25"/>
          <p:cNvSpPr/>
          <p:nvPr/>
        </p:nvSpPr>
        <p:spPr>
          <a:xfrm>
            <a:off x="6662776" y="2930900"/>
            <a:ext cx="9459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3" name="Google Shape;593;p25"/>
          <p:cNvSpPr/>
          <p:nvPr/>
        </p:nvSpPr>
        <p:spPr>
          <a:xfrm>
            <a:off x="7608639" y="2936475"/>
            <a:ext cx="7743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4" name="Google Shape;594;p25"/>
          <p:cNvSpPr/>
          <p:nvPr/>
        </p:nvSpPr>
        <p:spPr>
          <a:xfrm>
            <a:off x="2299264" y="2930892"/>
            <a:ext cx="16140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5" name="Google Shape;595;p25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6" name="Google Shape;596;p25"/>
          <p:cNvSpPr/>
          <p:nvPr/>
        </p:nvSpPr>
        <p:spPr>
          <a:xfrm>
            <a:off x="4639135" y="2934935"/>
            <a:ext cx="3747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7" name="Google Shape;597;p25"/>
          <p:cNvSpPr/>
          <p:nvPr/>
        </p:nvSpPr>
        <p:spPr>
          <a:xfrm>
            <a:off x="3904727" y="2930892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598" name="s013.text.598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396 </a:t>
            </a:r>
            <a:r>
              <a:rPr b="1" lang="es" sz="13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s013.text.599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311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0" name="s013.text.600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01" name="s013.text.601"/>
          <p:cNvSpPr txBox="1"/>
          <p:nvPr/>
        </p:nvSpPr>
        <p:spPr>
          <a:xfrm>
            <a:off x="730538" y="26475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15/09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2" name="Google Shape;602;p2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5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5" name="s013.text.605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5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5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s013.text.614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5" name="s013.text.615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6" name="s013.text.616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7" name="s013.text.617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18" name="s013.text.618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s013.text.619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0" name="s013.text.620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1" name="s013.text.621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s013.text.622"/>
          <p:cNvSpPr txBox="1"/>
          <p:nvPr/>
        </p:nvSpPr>
        <p:spPr>
          <a:xfrm>
            <a:off x="1449713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110 </a:t>
            </a: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3" name="s013.text.623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83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4" name="s013.text.624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115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5" name="s013.text.625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87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7" name="Google Shape;627;p25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28" name="s013.text.628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29" name="s013.text.629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395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s013.text.630"/>
          <p:cNvSpPr/>
          <p:nvPr/>
        </p:nvSpPr>
        <p:spPr>
          <a:xfrm>
            <a:off x="2191925" y="3104025"/>
            <a:ext cx="24192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31" name="s013.text.631"/>
          <p:cNvSpPr/>
          <p:nvPr/>
        </p:nvSpPr>
        <p:spPr>
          <a:xfrm>
            <a:off x="5013775" y="3150150"/>
            <a:ext cx="3369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32" name="s013.text.632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100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s013.text.633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284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4" name="s013.text.634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5" name="s013.text.635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36" name="s013.text.636"/>
          <p:cNvSpPr txBox="1"/>
          <p:nvPr/>
        </p:nvSpPr>
        <p:spPr>
          <a:xfrm>
            <a:off x="4485150" y="24708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36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63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13/72</a:t>
            </a:r>
            <a:endParaRPr lang="es-AR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014.text.641"/>
          <p:cNvSpPr txBox="1"/>
          <p:nvPr/>
        </p:nvSpPr>
        <p:spPr>
          <a:xfrm>
            <a:off x="3004024" y="2666224"/>
            <a:ext cx="4323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66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119</a:t>
            </a:r>
            <a:endParaRPr b="1" sz="1166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2" name="s014.text.642"/>
          <p:cNvSpPr txBox="1"/>
          <p:nvPr/>
        </p:nvSpPr>
        <p:spPr>
          <a:xfrm>
            <a:off x="4357844" y="2680834"/>
            <a:ext cx="3747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s014.text.643"/>
          <p:cNvSpPr txBox="1"/>
          <p:nvPr/>
        </p:nvSpPr>
        <p:spPr>
          <a:xfrm>
            <a:off x="4927659" y="2680836"/>
            <a:ext cx="352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s014.text.644"/>
          <p:cNvSpPr txBox="1"/>
          <p:nvPr/>
        </p:nvSpPr>
        <p:spPr>
          <a:xfrm>
            <a:off x="6303295" y="2680824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179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s014.text.645"/>
          <p:cNvSpPr txBox="1"/>
          <p:nvPr/>
        </p:nvSpPr>
        <p:spPr>
          <a:xfrm>
            <a:off x="7480421" y="2666215"/>
            <a:ext cx="4791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44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6" name="s014.text.646"/>
          <p:cNvSpPr txBox="1"/>
          <p:nvPr/>
        </p:nvSpPr>
        <p:spPr>
          <a:xfrm>
            <a:off x="7964201" y="2655125"/>
            <a:ext cx="5265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5365051" y="2940500"/>
            <a:ext cx="2095800" cy="81000"/>
          </a:xfrm>
          <a:prstGeom prst="rect">
            <a:avLst/>
          </a:prstGeom>
          <a:solidFill>
            <a:srgbClr val="FDBB3A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8" name="Google Shape;648;p26"/>
          <p:cNvSpPr/>
          <p:nvPr/>
        </p:nvSpPr>
        <p:spPr>
          <a:xfrm>
            <a:off x="7460925" y="2936450"/>
            <a:ext cx="518100" cy="89100"/>
          </a:xfrm>
          <a:prstGeom prst="rect">
            <a:avLst/>
          </a:prstGeom>
          <a:solidFill>
            <a:srgbClr val="6BC5C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49" name="Google Shape;649;p26"/>
          <p:cNvSpPr/>
          <p:nvPr/>
        </p:nvSpPr>
        <p:spPr>
          <a:xfrm>
            <a:off x="7969699" y="2936475"/>
            <a:ext cx="413400" cy="89100"/>
          </a:xfrm>
          <a:prstGeom prst="rect">
            <a:avLst/>
          </a:prstGeom>
          <a:solidFill>
            <a:srgbClr val="83ABEE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0" name="Google Shape;650;p26"/>
          <p:cNvSpPr/>
          <p:nvPr/>
        </p:nvSpPr>
        <p:spPr>
          <a:xfrm>
            <a:off x="2299277" y="2930900"/>
            <a:ext cx="1858800" cy="89100"/>
          </a:xfrm>
          <a:prstGeom prst="rect">
            <a:avLst/>
          </a:prstGeom>
          <a:solidFill>
            <a:srgbClr val="E06666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1" name="Google Shape;651;p26"/>
          <p:cNvSpPr/>
          <p:nvPr/>
        </p:nvSpPr>
        <p:spPr>
          <a:xfrm>
            <a:off x="2191928" y="2930910"/>
            <a:ext cx="120000" cy="89100"/>
          </a:xfrm>
          <a:prstGeom prst="rect">
            <a:avLst/>
          </a:prstGeom>
          <a:solidFill>
            <a:srgbClr val="3C78D8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2" name="Google Shape;652;p26"/>
          <p:cNvSpPr/>
          <p:nvPr/>
        </p:nvSpPr>
        <p:spPr>
          <a:xfrm>
            <a:off x="4873947" y="2936125"/>
            <a:ext cx="491100" cy="81000"/>
          </a:xfrm>
          <a:prstGeom prst="rect">
            <a:avLst/>
          </a:prstGeom>
          <a:solidFill>
            <a:srgbClr val="BE91E0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3" name="Google Shape;653;p26"/>
          <p:cNvSpPr/>
          <p:nvPr/>
        </p:nvSpPr>
        <p:spPr>
          <a:xfrm>
            <a:off x="4150177" y="2928030"/>
            <a:ext cx="737400" cy="89100"/>
          </a:xfrm>
          <a:prstGeom prst="rect">
            <a:avLst/>
          </a:prstGeom>
          <a:solidFill>
            <a:srgbClr val="97CB93"/>
          </a:solidFill>
          <a:ln cap="flat" cmpd="sng" w="13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6600" lIns="66600" spcFirstLastPara="1" rIns="66600" wrap="square" tIns="66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20"/>
          </a:p>
        </p:txBody>
      </p:sp>
      <p:sp>
        <p:nvSpPr>
          <p:cNvPr id="654" name="s014.text.654"/>
          <p:cNvSpPr txBox="1"/>
          <p:nvPr/>
        </p:nvSpPr>
        <p:spPr>
          <a:xfrm>
            <a:off x="4471200" y="2132372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387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5" name="s014.text.655"/>
          <p:cNvSpPr txBox="1"/>
          <p:nvPr/>
        </p:nvSpPr>
        <p:spPr>
          <a:xfrm>
            <a:off x="2113225" y="2647515"/>
            <a:ext cx="3144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00" lIns="66600" spcFirstLastPara="1" rIns="66600" wrap="square" tIns="666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1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sz="131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s014.text.656"/>
          <p:cNvSpPr txBox="1"/>
          <p:nvPr/>
        </p:nvSpPr>
        <p:spPr>
          <a:xfrm>
            <a:off x="4555850" y="194257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57" name="s014.text.657"/>
          <p:cNvSpPr txBox="1"/>
          <p:nvPr/>
        </p:nvSpPr>
        <p:spPr>
          <a:xfrm>
            <a:off x="978188" y="26252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16 /09</a:t>
            </a:r>
            <a:endParaRPr b="1" sz="13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8" name="Google Shape;658;p2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2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2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61" name="s014.text.66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R7 | Miércoles 16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4451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6"/>
          <p:cNvSpPr/>
          <p:nvPr/>
        </p:nvSpPr>
        <p:spPr>
          <a:xfrm>
            <a:off x="4451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6"/>
          <p:cNvSpPr/>
          <p:nvPr/>
        </p:nvSpPr>
        <p:spPr>
          <a:xfrm>
            <a:off x="27002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27002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/>
          <p:nvPr/>
        </p:nvSpPr>
        <p:spPr>
          <a:xfrm>
            <a:off x="489961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6"/>
          <p:cNvSpPr/>
          <p:nvPr/>
        </p:nvSpPr>
        <p:spPr>
          <a:xfrm>
            <a:off x="489961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6"/>
          <p:cNvSpPr/>
          <p:nvPr/>
        </p:nvSpPr>
        <p:spPr>
          <a:xfrm>
            <a:off x="7154763" y="827963"/>
            <a:ext cx="1914600" cy="7938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7154763" y="882538"/>
            <a:ext cx="1858800" cy="7392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s014.text.670"/>
          <p:cNvSpPr/>
          <p:nvPr/>
        </p:nvSpPr>
        <p:spPr>
          <a:xfrm>
            <a:off x="564788" y="9424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Q1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1" name="s014.text.671"/>
          <p:cNvSpPr/>
          <p:nvPr/>
        </p:nvSpPr>
        <p:spPr>
          <a:xfrm>
            <a:off x="2826488" y="939088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Q2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2" name="s014.text.672"/>
          <p:cNvSpPr/>
          <p:nvPr/>
        </p:nvSpPr>
        <p:spPr>
          <a:xfrm>
            <a:off x="503738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Q3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3" name="s014.text.673"/>
          <p:cNvSpPr/>
          <p:nvPr/>
        </p:nvSpPr>
        <p:spPr>
          <a:xfrm>
            <a:off x="7325438" y="918713"/>
            <a:ext cx="413400" cy="2631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FFFFFF"/>
                </a:solidFill>
              </a:rPr>
              <a:t>Q4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74" name="s014.text.674"/>
          <p:cNvSpPr txBox="1"/>
          <p:nvPr/>
        </p:nvSpPr>
        <p:spPr>
          <a:xfrm>
            <a:off x="1029888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s014.text.675"/>
          <p:cNvSpPr txBox="1"/>
          <p:nvPr/>
        </p:nvSpPr>
        <p:spPr>
          <a:xfrm>
            <a:off x="3167913" y="9167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6" name="s014.text.676"/>
          <p:cNvSpPr txBox="1"/>
          <p:nvPr/>
        </p:nvSpPr>
        <p:spPr>
          <a:xfrm>
            <a:off x="5425088" y="89635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7" name="s014.text.677"/>
          <p:cNvSpPr txBox="1"/>
          <p:nvPr/>
        </p:nvSpPr>
        <p:spPr>
          <a:xfrm>
            <a:off x="7738838" y="918700"/>
            <a:ext cx="147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800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800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8" name="s014.text.678"/>
          <p:cNvSpPr txBox="1"/>
          <p:nvPr/>
        </p:nvSpPr>
        <p:spPr>
          <a:xfrm>
            <a:off x="1211238" y="133047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1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127 camiones</a:t>
            </a:r>
            <a:endParaRPr sz="741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79" name="s014.text.679"/>
          <p:cNvSpPr txBox="1"/>
          <p:nvPr/>
        </p:nvSpPr>
        <p:spPr>
          <a:xfrm>
            <a:off x="3630588" y="1331638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88 </a:t>
            </a:r>
            <a:r>
              <a:rPr lang="es" sz="741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0" name="s014.text.680"/>
          <p:cNvSpPr txBox="1"/>
          <p:nvPr/>
        </p:nvSpPr>
        <p:spPr>
          <a:xfrm>
            <a:off x="5848600" y="13179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98 </a:t>
            </a:r>
            <a:r>
              <a:rPr lang="es" sz="741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1" name="s014.text.681"/>
          <p:cNvSpPr txBox="1"/>
          <p:nvPr/>
        </p:nvSpPr>
        <p:spPr>
          <a:xfrm>
            <a:off x="8160138" y="1304225"/>
            <a:ext cx="1113000" cy="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39 </a:t>
            </a:r>
            <a:r>
              <a:rPr lang="es" sz="741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741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2" name="Google Shape;682;p26"/>
          <p:cNvSpPr/>
          <p:nvPr/>
        </p:nvSpPr>
        <p:spPr>
          <a:xfrm>
            <a:off x="4025552" y="3485077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3" name="Google Shape;683;p26"/>
          <p:cNvSpPr/>
          <p:nvPr/>
        </p:nvSpPr>
        <p:spPr>
          <a:xfrm>
            <a:off x="4185400" y="3564606"/>
            <a:ext cx="1948800" cy="1072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8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175" lIns="180175" spcFirstLastPara="1" rIns="180175" wrap="square" tIns="18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59"/>
          </a:p>
        </p:txBody>
      </p:sp>
      <p:sp>
        <p:nvSpPr>
          <p:cNvPr id="684" name="s014.text.684"/>
          <p:cNvSpPr txBox="1"/>
          <p:nvPr/>
        </p:nvSpPr>
        <p:spPr>
          <a:xfrm>
            <a:off x="4132035" y="3564606"/>
            <a:ext cx="22098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74">
                <a:solidFill>
                  <a:schemeClr val="dk2"/>
                </a:solidFill>
              </a:rPr>
              <a:t>Total de camiones</a:t>
            </a:r>
            <a:endParaRPr sz="1774">
              <a:solidFill>
                <a:schemeClr val="dk2"/>
              </a:solidFill>
            </a:endParaRPr>
          </a:p>
        </p:txBody>
      </p:sp>
      <p:sp>
        <p:nvSpPr>
          <p:cNvPr id="685" name="s014.text.685"/>
          <p:cNvSpPr txBox="1"/>
          <p:nvPr/>
        </p:nvSpPr>
        <p:spPr>
          <a:xfrm>
            <a:off x="4345250" y="3871730"/>
            <a:ext cx="1576200" cy="8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175" lIns="180175" spcFirstLastPara="1" rIns="180175" wrap="square" tIns="1801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56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352</a:t>
            </a:r>
            <a:endParaRPr b="1" sz="197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6" name="s014.text.686"/>
          <p:cNvSpPr/>
          <p:nvPr/>
        </p:nvSpPr>
        <p:spPr>
          <a:xfrm>
            <a:off x="5386400" y="3150150"/>
            <a:ext cx="29967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687" name="s014.text.687"/>
          <p:cNvSpPr txBox="1"/>
          <p:nvPr/>
        </p:nvSpPr>
        <p:spPr>
          <a:xfrm>
            <a:off x="6637300" y="336418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8" name="s014.text.688"/>
          <p:cNvSpPr txBox="1"/>
          <p:nvPr/>
        </p:nvSpPr>
        <p:spPr>
          <a:xfrm>
            <a:off x="6620925" y="38645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89" name="s014.text.689"/>
          <p:cNvSpPr/>
          <p:nvPr/>
        </p:nvSpPr>
        <p:spPr>
          <a:xfrm>
            <a:off x="2191925" y="3104025"/>
            <a:ext cx="27447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690" name="s014.text.690"/>
          <p:cNvSpPr txBox="1"/>
          <p:nvPr/>
        </p:nvSpPr>
        <p:spPr>
          <a:xfrm>
            <a:off x="2891375" y="3356638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135 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1" name="s014.text.691"/>
          <p:cNvSpPr txBox="1"/>
          <p:nvPr/>
        </p:nvSpPr>
        <p:spPr>
          <a:xfrm>
            <a:off x="2754275" y="3864563"/>
            <a:ext cx="94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15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692" name="s014.text.692"/>
          <p:cNvSpPr txBox="1"/>
          <p:nvPr/>
        </p:nvSpPr>
        <p:spPr>
          <a:xfrm>
            <a:off x="5473625" y="2283663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(6 hs 27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69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14/72</a:t>
            </a:r>
            <a:endParaRPr lang="es-AR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2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2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27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00" name="s015.text.700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701" name="Google Shape;701;p27" title="Puntuación obtenida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1763" y="7411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s015.text.702"/>
          <p:cNvSpPr txBox="1"/>
          <p:nvPr/>
        </p:nvSpPr>
        <p:spPr>
          <a:xfrm>
            <a:off x="373788" y="-1088387"/>
            <a:ext cx="861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5600">
                <a:solidFill>
                  <a:srgbClr val="D30D0C"/>
                </a:solidFill>
                <a:highlight>
                  <a:schemeClr val="lt1"/>
                </a:highlight>
                <a:latin typeface="Inter"/>
                <a:ea typeface="Inter"/>
                <a:cs typeface="Inter"/>
                <a:sym typeface="Inter"/>
              </a:rPr>
              <a:t>Histórico reportado</a:t>
            </a:r>
            <a:endParaRPr b="0" i="0" sz="6200" u="none" cap="none" strike="noStrike">
              <a:solidFill>
                <a:srgbClr val="D30D0C"/>
              </a:solidFill>
              <a:highlight>
                <a:schemeClr val="lt1"/>
              </a:highlight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0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15/72</a:t>
            </a:r>
            <a:endParaRPr lang="es-AR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28" title="Puntuación lograda"/>
          <p:cNvPicPr preferRelativeResize="0"/>
          <p:nvPr/>
        </p:nvPicPr>
        <p:blipFill rotWithShape="1">
          <a:blip r:embed="rId3">
            <a:alphaModFix/>
          </a:blip>
          <a:srcRect b="1966" l="0" r="0" t="1639"/>
          <a:stretch/>
        </p:blipFill>
        <p:spPr>
          <a:xfrm>
            <a:off x="1881750" y="2955400"/>
            <a:ext cx="5448501" cy="211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28" title="Puntuación lograda"/>
          <p:cNvPicPr preferRelativeResize="0"/>
          <p:nvPr/>
        </p:nvPicPr>
        <p:blipFill rotWithShape="1">
          <a:blip r:embed="rId4">
            <a:alphaModFix/>
          </a:blip>
          <a:srcRect b="0" l="0" r="0" t="12219"/>
          <a:stretch/>
        </p:blipFill>
        <p:spPr>
          <a:xfrm>
            <a:off x="2025814" y="597150"/>
            <a:ext cx="5152173" cy="2322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28" title="nv_argentina_logo.jfif"/>
          <p:cNvPicPr preferRelativeResize="0"/>
          <p:nvPr/>
        </p:nvPicPr>
        <p:blipFill rotWithShape="1">
          <a:blip r:embed="rId5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28" title="Logo sin tex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28" title="Diseño sin título (1).png"/>
          <p:cNvPicPr preferRelativeResize="0"/>
          <p:nvPr/>
        </p:nvPicPr>
        <p:blipFill rotWithShape="1">
          <a:blip r:embed="rId7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2" name="s016.text.71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71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16/72</a:t>
            </a:r>
            <a:endParaRPr lang="es-AR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29" title="Puntuación log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1275" y="1346499"/>
            <a:ext cx="4225575" cy="2612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2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2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0" name="Google Shape;720;p29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1" name="s017.text.721"/>
          <p:cNvSpPr txBox="1"/>
          <p:nvPr/>
        </p:nvSpPr>
        <p:spPr>
          <a:xfrm>
            <a:off x="373788" y="100025"/>
            <a:ext cx="8617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sz="2400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2" name="Google Shape;722;p29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4800" y="1289324"/>
            <a:ext cx="4416474" cy="2730853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7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17/72</a:t>
            </a:r>
            <a:endParaRPr lang="es-AR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8" name="Google Shape;728;p30" title="Diseño sin título (1).png"/>
          <p:cNvPicPr preferRelativeResize="0"/>
          <p:nvPr/>
        </p:nvPicPr>
        <p:blipFill rotWithShape="1">
          <a:blip r:embed="rId3">
            <a:alphaModFix/>
          </a:blip>
          <a:srcRect b="51705" l="20359" r="19953" t="41314"/>
          <a:stretch/>
        </p:blipFill>
        <p:spPr>
          <a:xfrm>
            <a:off x="3812512" y="703475"/>
            <a:ext cx="1712275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9" name="s018.text.729"/>
          <p:cNvSpPr txBox="1"/>
          <p:nvPr/>
        </p:nvSpPr>
        <p:spPr>
          <a:xfrm>
            <a:off x="345788" y="274500"/>
            <a:ext cx="861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2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730" name="Google Shape;730;p3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3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s018.text.732"/>
          <p:cNvSpPr txBox="1"/>
          <p:nvPr/>
        </p:nvSpPr>
        <p:spPr>
          <a:xfrm>
            <a:off x="965025" y="895725"/>
            <a:ext cx="7613700" cy="4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resumen del circuito R7 informa un tiempo medio de </a:t>
            </a:r>
            <a:r>
              <a:rPr b="1" lang="es" sz="1100">
                <a:solidFill>
                  <a:schemeClr val="dk1"/>
                </a:solidFill>
              </a:rPr>
              <a:t>334 minutos (5 h 34 min)</a:t>
            </a:r>
            <a:r>
              <a:rPr lang="es" sz="1100">
                <a:solidFill>
                  <a:schemeClr val="dk1"/>
                </a:solidFill>
              </a:rPr>
              <a:t>, frente a 276 minutos en la semana anterior. Esto representa un incremento de </a:t>
            </a:r>
            <a:r>
              <a:rPr b="1" lang="es" sz="1100">
                <a:solidFill>
                  <a:schemeClr val="dk1"/>
                </a:solidFill>
              </a:rPr>
              <a:t>58 minutos (+21%)</a:t>
            </a:r>
            <a:r>
              <a:rPr lang="es" sz="1100">
                <a:solidFill>
                  <a:schemeClr val="dk1"/>
                </a:solidFill>
              </a:rPr>
              <a:t>, sujeto a la conciliación del promedio semanal con el detalle diario.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mayor parte del tiempo se concentra en </a:t>
            </a:r>
            <a:r>
              <a:rPr b="1" lang="es" sz="1100">
                <a:solidFill>
                  <a:schemeClr val="dk1"/>
                </a:solidFill>
              </a:rPr>
              <a:t>Playa 1 de Ricardone, con 126 minutos, y Playa OSL, con 119 minutos</a:t>
            </a:r>
            <a:r>
              <a:rPr lang="es" sz="1100">
                <a:solidFill>
                  <a:schemeClr val="dk1"/>
                </a:solidFill>
              </a:rPr>
              <a:t>. En conjunto representan aproximadamente el </a:t>
            </a:r>
            <a:r>
              <a:rPr b="1" lang="es" sz="1100">
                <a:solidFill>
                  <a:schemeClr val="dk1"/>
                </a:solidFill>
              </a:rPr>
              <a:t>73% del ciclo informado</a:t>
            </a:r>
            <a:r>
              <a:rPr lang="es" sz="1100">
                <a:solidFill>
                  <a:schemeClr val="dk1"/>
                </a:solidFill>
              </a:rPr>
              <a:t>, por lo que ambas esperas constituyen los principales focos de revisión.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lunes 14/09 presentó el menor tiempo, con </a:t>
            </a:r>
            <a:r>
              <a:rPr b="1" lang="es" sz="1100">
                <a:solidFill>
                  <a:schemeClr val="dk1"/>
                </a:solidFill>
              </a:rPr>
              <a:t>229 minutos</a:t>
            </a:r>
            <a:r>
              <a:rPr lang="es" sz="1100">
                <a:solidFill>
                  <a:schemeClr val="dk1"/>
                </a:solidFill>
              </a:rPr>
              <a:t>. El martes 15/09 registró el mayor, con </a:t>
            </a:r>
            <a:r>
              <a:rPr b="1" lang="es" sz="1100">
                <a:solidFill>
                  <a:schemeClr val="dk1"/>
                </a:solidFill>
              </a:rPr>
              <a:t>396 minutos</a:t>
            </a:r>
            <a:r>
              <a:rPr lang="es" sz="1100">
                <a:solidFill>
                  <a:schemeClr val="dk1"/>
                </a:solidFill>
              </a:rPr>
              <a:t>, seguido por el sábado, con 390, y el miércoles, con 387. El martes y el miércoles se destaca la permanencia en Playa OSL, de </a:t>
            </a:r>
            <a:r>
              <a:rPr b="1" lang="es" sz="1100">
                <a:solidFill>
                  <a:schemeClr val="dk1"/>
                </a:solidFill>
              </a:rPr>
              <a:t>217 y 179 minutos</a:t>
            </a:r>
            <a:r>
              <a:rPr lang="es" sz="1100">
                <a:solidFill>
                  <a:schemeClr val="dk1"/>
                </a:solidFill>
              </a:rPr>
              <a:t>, respectivamente.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domingo tuvo actividad reducida, con </a:t>
            </a:r>
            <a:r>
              <a:rPr b="1" lang="es" sz="1100">
                <a:solidFill>
                  <a:schemeClr val="dk1"/>
                </a:solidFill>
              </a:rPr>
              <a:t>39 camiones</a:t>
            </a:r>
            <a:r>
              <a:rPr lang="es" sz="1100">
                <a:solidFill>
                  <a:schemeClr val="dk1"/>
                </a:solidFill>
              </a:rPr>
              <a:t>, pero no una interrupción total. Corresponde revisar la programación de arribos y las condiciones operativas de las jornadas con mayores esperas, sin atribuir todavía las demoras a una causa específica.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7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18/72</a:t>
            </a:r>
            <a:endParaRPr lang="es-AR"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9" name="Google Shape;73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s019.text.740"/>
          <p:cNvSpPr txBox="1"/>
          <p:nvPr/>
        </p:nvSpPr>
        <p:spPr>
          <a:xfrm>
            <a:off x="3329725" y="2763900"/>
            <a:ext cx="3214500" cy="19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Circuito R30/31/32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74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19/72</a:t>
            </a:r>
            <a:endParaRPr lang="es-AR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2"/>
          <p:cNvSpPr/>
          <p:nvPr/>
        </p:nvSpPr>
        <p:spPr>
          <a:xfrm>
            <a:off x="946875" y="3205925"/>
            <a:ext cx="2227500" cy="1522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326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50" lIns="104450" spcFirstLastPara="1" rIns="104450" wrap="square" tIns="104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6" name="Google Shape;746;p32"/>
          <p:cNvSpPr/>
          <p:nvPr/>
        </p:nvSpPr>
        <p:spPr>
          <a:xfrm>
            <a:off x="2184900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47" name="Google Shape;747;p32"/>
          <p:cNvSpPr/>
          <p:nvPr/>
        </p:nvSpPr>
        <p:spPr>
          <a:xfrm>
            <a:off x="946875" y="2465488"/>
            <a:ext cx="1020600" cy="4617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0B1F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pic>
        <p:nvPicPr>
          <p:cNvPr id="748" name="Google Shape;748;p32" title="Diseño sin título (1).png"/>
          <p:cNvPicPr preferRelativeResize="0"/>
          <p:nvPr/>
        </p:nvPicPr>
        <p:blipFill rotWithShape="1">
          <a:blip r:embed="rId3">
            <a:alphaModFix/>
          </a:blip>
          <a:srcRect b="51705" l="20359" r="19953" t="41314"/>
          <a:stretch/>
        </p:blipFill>
        <p:spPr>
          <a:xfrm>
            <a:off x="3018625" y="654800"/>
            <a:ext cx="3146549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49" name="s020.text.749"/>
          <p:cNvSpPr txBox="1"/>
          <p:nvPr/>
        </p:nvSpPr>
        <p:spPr>
          <a:xfrm>
            <a:off x="263100" y="24407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Operativo de Pellet de 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750" name="Google Shape;750;p3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1" name="Google Shape;751;p3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32"/>
          <p:cNvSpPr/>
          <p:nvPr/>
        </p:nvSpPr>
        <p:spPr>
          <a:xfrm>
            <a:off x="1321025" y="997350"/>
            <a:ext cx="1621500" cy="1108500"/>
          </a:xfrm>
          <a:prstGeom prst="roundRect">
            <a:avLst>
              <a:gd fmla="val 16667" name="adj"/>
            </a:avLst>
          </a:prstGeom>
          <a:solidFill>
            <a:srgbClr val="FDFDFD"/>
          </a:solidFill>
          <a:ln cap="flat" cmpd="sng" w="2377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050" lIns="76050" spcFirstLastPara="1" rIns="76050" wrap="square" tIns="76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4"/>
          </a:p>
        </p:txBody>
      </p:sp>
      <p:sp>
        <p:nvSpPr>
          <p:cNvPr id="753" name="s020.text.753"/>
          <p:cNvSpPr txBox="1"/>
          <p:nvPr/>
        </p:nvSpPr>
        <p:spPr>
          <a:xfrm>
            <a:off x="1404868" y="1613033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Toneladas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4" name="s020.text.754"/>
          <p:cNvSpPr txBox="1"/>
          <p:nvPr/>
        </p:nvSpPr>
        <p:spPr>
          <a:xfrm>
            <a:off x="1482575" y="1129525"/>
            <a:ext cx="1376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  5.550</a:t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s020.text.755"/>
          <p:cNvSpPr txBox="1"/>
          <p:nvPr/>
        </p:nvSpPr>
        <p:spPr>
          <a:xfrm>
            <a:off x="2215949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6" name="s020.text.756"/>
          <p:cNvSpPr txBox="1"/>
          <p:nvPr/>
        </p:nvSpPr>
        <p:spPr>
          <a:xfrm>
            <a:off x="1358562" y="3685612"/>
            <a:ext cx="17790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74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Total volumen</a:t>
            </a:r>
            <a: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5284">
                <a:solidFill>
                  <a:srgbClr val="4285F4"/>
                </a:solidFill>
                <a:latin typeface="Inter"/>
                <a:ea typeface="Inter"/>
                <a:cs typeface="Inter"/>
                <a:sym typeface="Inter"/>
              </a:rPr>
              <a:t>188</a:t>
            </a:r>
            <a:br>
              <a:rPr b="1" lang="es" sz="2335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1511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camiones</a:t>
            </a:r>
            <a:endParaRPr b="1" sz="1511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7" name="s020.text.757"/>
          <p:cNvSpPr txBox="1"/>
          <p:nvPr/>
        </p:nvSpPr>
        <p:spPr>
          <a:xfrm>
            <a:off x="990024" y="2542863"/>
            <a:ext cx="958500" cy="3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r>
              <a:rPr b="1" lang="es" sz="1800">
                <a:solidFill>
                  <a:srgbClr val="092454"/>
                </a:solidFill>
                <a:latin typeface="Inter"/>
                <a:ea typeface="Inter"/>
                <a:cs typeface="Inter"/>
                <a:sym typeface="Inter"/>
              </a:rPr>
              <a:t>/09</a:t>
            </a:r>
            <a:endParaRPr b="1" sz="1800">
              <a:solidFill>
                <a:srgbClr val="0924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s020.text.758"/>
          <p:cNvSpPr txBox="1"/>
          <p:nvPr/>
        </p:nvSpPr>
        <p:spPr>
          <a:xfrm>
            <a:off x="742368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Inicio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59" name="s020.text.759"/>
          <p:cNvSpPr txBox="1"/>
          <p:nvPr/>
        </p:nvSpPr>
        <p:spPr>
          <a:xfrm>
            <a:off x="1968293" y="2161870"/>
            <a:ext cx="1453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6650" lIns="66650" spcFirstLastPara="1" rIns="66650" wrap="square" tIns="66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13">
                <a:solidFill>
                  <a:srgbClr val="073763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              Fin</a:t>
            </a:r>
            <a:endParaRPr sz="2128">
              <a:solidFill>
                <a:schemeClr val="accent1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760" name="Google Shape;760;p32" title="Puntuación lograda"/>
          <p:cNvPicPr preferRelativeResize="0"/>
          <p:nvPr/>
        </p:nvPicPr>
        <p:blipFill rotWithShape="1">
          <a:blip r:embed="rId6">
            <a:alphaModFix/>
          </a:blip>
          <a:srcRect b="0" l="0" r="0" t="11606"/>
          <a:stretch/>
        </p:blipFill>
        <p:spPr>
          <a:xfrm>
            <a:off x="3591150" y="1341900"/>
            <a:ext cx="5428950" cy="2967401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7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20/72</a:t>
            </a:r>
            <a:endParaRPr lang="es-AR"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33" title="A2_3D_20260820_164225.png"/>
          <p:cNvPicPr preferRelativeResize="0"/>
          <p:nvPr/>
        </p:nvPicPr>
        <p:blipFill rotWithShape="1">
          <a:blip r:embed="rId3">
            <a:alphaModFix/>
          </a:blip>
          <a:srcRect b="0" l="0" r="17471" t="35044"/>
          <a:stretch/>
        </p:blipFill>
        <p:spPr>
          <a:xfrm>
            <a:off x="802350" y="2751075"/>
            <a:ext cx="4002028" cy="189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33"/>
          <p:cNvSpPr/>
          <p:nvPr/>
        </p:nvSpPr>
        <p:spPr>
          <a:xfrm>
            <a:off x="4696392" y="39372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pic>
        <p:nvPicPr>
          <p:cNvPr id="767" name="Google Shape;767;p33"/>
          <p:cNvPicPr preferRelativeResize="0"/>
          <p:nvPr/>
        </p:nvPicPr>
        <p:blipFill rotWithShape="1">
          <a:blip r:embed="rId4">
            <a:alphaModFix/>
          </a:blip>
          <a:srcRect b="2086" l="2257" r="11913" t="0"/>
          <a:stretch/>
        </p:blipFill>
        <p:spPr>
          <a:xfrm>
            <a:off x="4870050" y="2905450"/>
            <a:ext cx="3702826" cy="152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6998" y="4429776"/>
            <a:ext cx="678528" cy="62329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33"/>
          <p:cNvSpPr/>
          <p:nvPr/>
        </p:nvSpPr>
        <p:spPr>
          <a:xfrm>
            <a:off x="3861049" y="3153628"/>
            <a:ext cx="1131437" cy="1325984"/>
          </a:xfrm>
          <a:custGeom>
            <a:rect b="b" l="l" r="r" t="t"/>
            <a:pathLst>
              <a:path extrusionOk="0" h="64034" w="54639">
                <a:moveTo>
                  <a:pt x="0" y="59069"/>
                </a:moveTo>
                <a:cubicBezTo>
                  <a:pt x="3200" y="59857"/>
                  <a:pt x="11273" y="65173"/>
                  <a:pt x="19198" y="63795"/>
                </a:cubicBezTo>
                <a:cubicBezTo>
                  <a:pt x="27123" y="62417"/>
                  <a:pt x="41644" y="61433"/>
                  <a:pt x="47551" y="50800"/>
                </a:cubicBezTo>
                <a:cubicBezTo>
                  <a:pt x="53458" y="40168"/>
                  <a:pt x="53458" y="8467"/>
                  <a:pt x="54639" y="0"/>
                </a:cubicBezTo>
              </a:path>
            </a:pathLst>
          </a:custGeom>
          <a:noFill/>
          <a:ln cap="flat" cmpd="sng" w="23675">
            <a:solidFill>
              <a:srgbClr val="F4CCCC"/>
            </a:solidFill>
            <a:prstDash val="dash"/>
            <a:round/>
            <a:headEnd len="med" w="med" type="none"/>
            <a:tailEnd len="med" w="med" type="none"/>
          </a:ln>
        </p:spPr>
      </p:sp>
      <p:sp>
        <p:nvSpPr>
          <p:cNvPr id="770" name="Google Shape;770;p33"/>
          <p:cNvSpPr/>
          <p:nvPr/>
        </p:nvSpPr>
        <p:spPr>
          <a:xfrm>
            <a:off x="5857540" y="3341411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771" name="Google Shape;771;p33"/>
          <p:cNvSpPr/>
          <p:nvPr/>
        </p:nvSpPr>
        <p:spPr>
          <a:xfrm>
            <a:off x="7390476" y="3081894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2" name="Google Shape;772;p33"/>
          <p:cNvSpPr/>
          <p:nvPr/>
        </p:nvSpPr>
        <p:spPr>
          <a:xfrm>
            <a:off x="7438892" y="4194137"/>
            <a:ext cx="165900" cy="1578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0"/>
          </a:p>
        </p:txBody>
      </p:sp>
      <p:sp>
        <p:nvSpPr>
          <p:cNvPr id="773" name="s021.text.773"/>
          <p:cNvSpPr txBox="1"/>
          <p:nvPr/>
        </p:nvSpPr>
        <p:spPr>
          <a:xfrm>
            <a:off x="4670611" y="3888613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4" name="s021.text.774"/>
          <p:cNvSpPr txBox="1"/>
          <p:nvPr/>
        </p:nvSpPr>
        <p:spPr>
          <a:xfrm>
            <a:off x="5844659" y="32813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7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5" name="s021.text.775"/>
          <p:cNvSpPr txBox="1"/>
          <p:nvPr/>
        </p:nvSpPr>
        <p:spPr>
          <a:xfrm>
            <a:off x="7364876" y="3033325"/>
            <a:ext cx="2502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8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76" name="s021.text.776"/>
          <p:cNvSpPr txBox="1"/>
          <p:nvPr/>
        </p:nvSpPr>
        <p:spPr>
          <a:xfrm>
            <a:off x="7393600" y="4153625"/>
            <a:ext cx="2565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9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777" name="Google Shape;777;p33"/>
          <p:cNvCxnSpPr/>
          <p:nvPr/>
        </p:nvCxnSpPr>
        <p:spPr>
          <a:xfrm flipH="1" rot="10800000">
            <a:off x="6120931" y="3164282"/>
            <a:ext cx="141300" cy="161100"/>
          </a:xfrm>
          <a:prstGeom prst="straightConnector1">
            <a:avLst/>
          </a:prstGeom>
          <a:noFill/>
          <a:ln cap="flat" cmpd="sng" w="7900">
            <a:solidFill>
              <a:srgbClr val="274E13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8" name="Google Shape;778;p33"/>
          <p:cNvCxnSpPr/>
          <p:nvPr/>
        </p:nvCxnSpPr>
        <p:spPr>
          <a:xfrm rot="10800000">
            <a:off x="5481987" y="3282738"/>
            <a:ext cx="643500" cy="39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33"/>
          <p:cNvSpPr/>
          <p:nvPr/>
        </p:nvSpPr>
        <p:spPr>
          <a:xfrm>
            <a:off x="5225729" y="3281315"/>
            <a:ext cx="256380" cy="134619"/>
          </a:xfrm>
          <a:custGeom>
            <a:rect b="b" l="l" r="r" t="t"/>
            <a:pathLst>
              <a:path extrusionOk="0" h="6501" w="12381">
                <a:moveTo>
                  <a:pt x="12381" y="0"/>
                </a:moveTo>
                <a:cubicBezTo>
                  <a:pt x="12266" y="433"/>
                  <a:pt x="11996" y="1789"/>
                  <a:pt x="11691" y="2595"/>
                </a:cubicBezTo>
                <a:cubicBezTo>
                  <a:pt x="11386" y="3402"/>
                  <a:pt x="11083" y="4270"/>
                  <a:pt x="10551" y="4839"/>
                </a:cubicBezTo>
                <a:cubicBezTo>
                  <a:pt x="10019" y="5408"/>
                  <a:pt x="9477" y="5742"/>
                  <a:pt x="8500" y="6011"/>
                </a:cubicBezTo>
                <a:cubicBezTo>
                  <a:pt x="7523" y="6280"/>
                  <a:pt x="5924" y="6634"/>
                  <a:pt x="4690" y="6451"/>
                </a:cubicBezTo>
                <a:cubicBezTo>
                  <a:pt x="3457" y="6268"/>
                  <a:pt x="1881" y="5828"/>
                  <a:pt x="1099" y="4912"/>
                </a:cubicBezTo>
                <a:cubicBezTo>
                  <a:pt x="317" y="3996"/>
                  <a:pt x="183" y="1615"/>
                  <a:pt x="0" y="956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0" name="Google Shape;780;p33"/>
          <p:cNvCxnSpPr/>
          <p:nvPr/>
        </p:nvCxnSpPr>
        <p:spPr>
          <a:xfrm>
            <a:off x="6599998" y="3175454"/>
            <a:ext cx="1220400" cy="87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1" name="Google Shape;781;p33"/>
          <p:cNvSpPr/>
          <p:nvPr/>
        </p:nvSpPr>
        <p:spPr>
          <a:xfrm>
            <a:off x="7820382" y="3262926"/>
            <a:ext cx="279574" cy="437165"/>
          </a:xfrm>
          <a:custGeom>
            <a:rect b="b" l="l" r="r" t="t"/>
            <a:pathLst>
              <a:path extrusionOk="0" h="21114" w="13052">
                <a:moveTo>
                  <a:pt x="0" y="0"/>
                </a:moveTo>
                <a:cubicBezTo>
                  <a:pt x="1184" y="576"/>
                  <a:pt x="5279" y="1872"/>
                  <a:pt x="7102" y="3455"/>
                </a:cubicBezTo>
                <a:cubicBezTo>
                  <a:pt x="8926" y="5039"/>
                  <a:pt x="10461" y="7422"/>
                  <a:pt x="10941" y="9501"/>
                </a:cubicBezTo>
                <a:cubicBezTo>
                  <a:pt x="11421" y="11580"/>
                  <a:pt x="9629" y="13996"/>
                  <a:pt x="9981" y="15931"/>
                </a:cubicBezTo>
                <a:cubicBezTo>
                  <a:pt x="10333" y="17867"/>
                  <a:pt x="12540" y="20250"/>
                  <a:pt x="13052" y="2111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2" name="Google Shape;782;p33"/>
          <p:cNvCxnSpPr/>
          <p:nvPr/>
        </p:nvCxnSpPr>
        <p:spPr>
          <a:xfrm rot="10800000">
            <a:off x="8141077" y="4266754"/>
            <a:ext cx="200700" cy="156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3" name="Google Shape;783;p33"/>
          <p:cNvSpPr/>
          <p:nvPr/>
        </p:nvSpPr>
        <p:spPr>
          <a:xfrm>
            <a:off x="8100525" y="3698877"/>
            <a:ext cx="311503" cy="587327"/>
          </a:xfrm>
          <a:custGeom>
            <a:rect b="b" l="l" r="r" t="t"/>
            <a:pathLst>
              <a:path extrusionOk="0" h="28363" w="15043">
                <a:moveTo>
                  <a:pt x="11619" y="28136"/>
                </a:moveTo>
                <a:cubicBezTo>
                  <a:pt x="12182" y="28074"/>
                  <a:pt x="14716" y="28879"/>
                  <a:pt x="14997" y="27764"/>
                </a:cubicBezTo>
                <a:cubicBezTo>
                  <a:pt x="15279" y="26649"/>
                  <a:pt x="14017" y="23233"/>
                  <a:pt x="13308" y="21448"/>
                </a:cubicBezTo>
                <a:cubicBezTo>
                  <a:pt x="12599" y="19664"/>
                  <a:pt x="12959" y="20632"/>
                  <a:pt x="10741" y="17057"/>
                </a:cubicBezTo>
                <a:cubicBezTo>
                  <a:pt x="8523" y="13482"/>
                  <a:pt x="1790" y="2843"/>
                  <a:pt x="0" y="0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784" name="Google Shape;784;p33"/>
          <p:cNvSpPr/>
          <p:nvPr/>
        </p:nvSpPr>
        <p:spPr>
          <a:xfrm>
            <a:off x="7330315" y="4126425"/>
            <a:ext cx="659617" cy="97263"/>
          </a:xfrm>
          <a:custGeom>
            <a:rect b="b" l="l" r="r" t="t"/>
            <a:pathLst>
              <a:path extrusionOk="0" h="4697" w="31854">
                <a:moveTo>
                  <a:pt x="31854" y="4698"/>
                </a:moveTo>
                <a:cubicBezTo>
                  <a:pt x="30397" y="4416"/>
                  <a:pt x="25030" y="3625"/>
                  <a:pt x="23109" y="3003"/>
                </a:cubicBezTo>
                <a:cubicBezTo>
                  <a:pt x="21188" y="2382"/>
                  <a:pt x="21696" y="1466"/>
                  <a:pt x="20329" y="969"/>
                </a:cubicBezTo>
                <a:cubicBezTo>
                  <a:pt x="18962" y="472"/>
                  <a:pt x="18070" y="-59"/>
                  <a:pt x="14906" y="20"/>
                </a:cubicBezTo>
                <a:cubicBezTo>
                  <a:pt x="11742" y="99"/>
                  <a:pt x="3731" y="1207"/>
                  <a:pt x="1347" y="1444"/>
                </a:cubicBezTo>
                <a:cubicBezTo>
                  <a:pt x="-1037" y="1681"/>
                  <a:pt x="726" y="1444"/>
                  <a:pt x="602" y="1444"/>
                </a:cubicBezTo>
              </a:path>
            </a:pathLst>
          </a:cu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33"/>
          <p:cNvCxnSpPr/>
          <p:nvPr/>
        </p:nvCxnSpPr>
        <p:spPr>
          <a:xfrm flipH="1">
            <a:off x="7183426" y="4156592"/>
            <a:ext cx="161700" cy="15000"/>
          </a:xfrm>
          <a:prstGeom prst="straightConnector1">
            <a:avLst/>
          </a:prstGeom>
          <a:noFill/>
          <a:ln cap="flat" cmpd="sng" w="790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786" name="Google Shape;786;p33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7" name="s021.text.787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R30/31/32/ | Producto:Pellets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788" name="Google Shape;788;p33" title="nv_argentina_logo.jfif"/>
          <p:cNvPicPr preferRelativeResize="0"/>
          <p:nvPr/>
        </p:nvPicPr>
        <p:blipFill rotWithShape="1">
          <a:blip r:embed="rId7">
            <a:alphaModFix/>
          </a:blip>
          <a:srcRect b="18961" l="0" r="0" t="13585"/>
          <a:stretch/>
        </p:blipFill>
        <p:spPr>
          <a:xfrm>
            <a:off x="373801" y="1307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9" name="Google Shape;789;p33" title="Logo sin texto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26232" y="1586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33"/>
          <p:cNvSpPr txBox="1"/>
          <p:nvPr/>
        </p:nvSpPr>
        <p:spPr>
          <a:xfrm>
            <a:off x="3197296" y="1072512"/>
            <a:ext cx="487200" cy="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00" lIns="74200" spcFirstLastPara="1" rIns="74200" wrap="square" tIns="74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614187" y="88595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2" name="Google Shape;792;p33"/>
          <p:cNvSpPr/>
          <p:nvPr/>
        </p:nvSpPr>
        <p:spPr>
          <a:xfrm>
            <a:off x="538050" y="88595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3" name="s021.text.793"/>
          <p:cNvSpPr txBox="1"/>
          <p:nvPr/>
        </p:nvSpPr>
        <p:spPr>
          <a:xfrm>
            <a:off x="538050" y="939911"/>
            <a:ext cx="2413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4" name="s021.text.794"/>
          <p:cNvSpPr txBox="1"/>
          <p:nvPr/>
        </p:nvSpPr>
        <p:spPr>
          <a:xfrm>
            <a:off x="557396" y="1142080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1911885" y="883661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6" name="Google Shape;796;p33"/>
          <p:cNvSpPr/>
          <p:nvPr/>
        </p:nvSpPr>
        <p:spPr>
          <a:xfrm>
            <a:off x="1835748" y="883661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797" name="s021.text.797"/>
          <p:cNvSpPr txBox="1"/>
          <p:nvPr/>
        </p:nvSpPr>
        <p:spPr>
          <a:xfrm>
            <a:off x="1835752" y="921363"/>
            <a:ext cx="9360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 Playa 1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8" name="s021.text.798"/>
          <p:cNvSpPr txBox="1"/>
          <p:nvPr/>
        </p:nvSpPr>
        <p:spPr>
          <a:xfrm>
            <a:off x="1855090" y="1123531"/>
            <a:ext cx="8586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159433" y="883672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0" name="Google Shape;800;p33"/>
          <p:cNvSpPr/>
          <p:nvPr/>
        </p:nvSpPr>
        <p:spPr>
          <a:xfrm>
            <a:off x="3083295" y="883672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1" name="s021.text.801"/>
          <p:cNvSpPr txBox="1"/>
          <p:nvPr/>
        </p:nvSpPr>
        <p:spPr>
          <a:xfrm>
            <a:off x="3083293" y="921360"/>
            <a:ext cx="9912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P.Tara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2" name="s021.text.802"/>
          <p:cNvSpPr txBox="1"/>
          <p:nvPr/>
        </p:nvSpPr>
        <p:spPr>
          <a:xfrm>
            <a:off x="3102641" y="1123528"/>
            <a:ext cx="9756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5583617" y="874475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4" name="Google Shape;804;p33"/>
          <p:cNvSpPr/>
          <p:nvPr/>
        </p:nvSpPr>
        <p:spPr>
          <a:xfrm>
            <a:off x="5507480" y="874475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5" name="s021.text.805"/>
          <p:cNvSpPr txBox="1"/>
          <p:nvPr/>
        </p:nvSpPr>
        <p:spPr>
          <a:xfrm>
            <a:off x="5503628" y="921370"/>
            <a:ext cx="13116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85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 : Carga</a:t>
            </a:r>
            <a:endParaRPr b="1" sz="685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6" name="s021.text.806"/>
          <p:cNvSpPr txBox="1"/>
          <p:nvPr/>
        </p:nvSpPr>
        <p:spPr>
          <a:xfrm>
            <a:off x="5535867" y="1116627"/>
            <a:ext cx="24135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 → Balanza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4380754" y="894238"/>
            <a:ext cx="918900" cy="594300"/>
          </a:xfrm>
          <a:prstGeom prst="round1Rect">
            <a:avLst>
              <a:gd fmla="val 16667" name="adj"/>
            </a:avLst>
          </a:prstGeom>
          <a:solidFill>
            <a:srgbClr val="4285F4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8" name="Google Shape;808;p33"/>
          <p:cNvSpPr/>
          <p:nvPr/>
        </p:nvSpPr>
        <p:spPr>
          <a:xfrm>
            <a:off x="4304617" y="894238"/>
            <a:ext cx="918900" cy="5418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3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475" lIns="89475" spcFirstLastPara="1" rIns="89475" wrap="square" tIns="8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70"/>
          </a:p>
        </p:txBody>
      </p:sp>
      <p:sp>
        <p:nvSpPr>
          <p:cNvPr id="809" name="s021.text.809"/>
          <p:cNvSpPr txBox="1"/>
          <p:nvPr/>
        </p:nvSpPr>
        <p:spPr>
          <a:xfrm>
            <a:off x="4304618" y="931935"/>
            <a:ext cx="9189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4: Playa 3</a:t>
            </a:r>
            <a:endParaRPr b="1"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0" name="s021.text.810"/>
          <p:cNvSpPr txBox="1"/>
          <p:nvPr/>
        </p:nvSpPr>
        <p:spPr>
          <a:xfrm>
            <a:off x="4323960" y="1134105"/>
            <a:ext cx="936000" cy="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89475" lIns="89475" spcFirstLastPara="1" rIns="89475" wrap="square" tIns="894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87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587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1" name="s021.text.811"/>
          <p:cNvSpPr txBox="1"/>
          <p:nvPr/>
        </p:nvSpPr>
        <p:spPr>
          <a:xfrm>
            <a:off x="1514487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2" name="s021.text.812"/>
          <p:cNvSpPr txBox="1"/>
          <p:nvPr/>
        </p:nvSpPr>
        <p:spPr>
          <a:xfrm>
            <a:off x="273956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3" name="s021.text.813"/>
          <p:cNvSpPr txBox="1"/>
          <p:nvPr/>
        </p:nvSpPr>
        <p:spPr>
          <a:xfrm>
            <a:off x="3989784" y="972554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4" name="s021.text.814"/>
          <p:cNvSpPr txBox="1"/>
          <p:nvPr/>
        </p:nvSpPr>
        <p:spPr>
          <a:xfrm>
            <a:off x="5214796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5" name="s021.text.815"/>
          <p:cNvSpPr txBox="1"/>
          <p:nvPr/>
        </p:nvSpPr>
        <p:spPr>
          <a:xfrm>
            <a:off x="6411282" y="972565"/>
            <a:ext cx="339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425" lIns="81425" spcFirstLastPara="1" rIns="81425" wrap="square" tIns="8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81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81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816" name="Google Shape;816;p33"/>
          <p:cNvCxnSpPr/>
          <p:nvPr/>
        </p:nvCxnSpPr>
        <p:spPr>
          <a:xfrm rot="10800000">
            <a:off x="2170412" y="3952717"/>
            <a:ext cx="929400" cy="555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7" name="Google Shape;817;p33"/>
          <p:cNvCxnSpPr/>
          <p:nvPr/>
        </p:nvCxnSpPr>
        <p:spPr>
          <a:xfrm>
            <a:off x="2262567" y="3888619"/>
            <a:ext cx="341400" cy="2010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18" name="Google Shape;818;p33"/>
          <p:cNvCxnSpPr/>
          <p:nvPr/>
        </p:nvCxnSpPr>
        <p:spPr>
          <a:xfrm>
            <a:off x="2764318" y="4171713"/>
            <a:ext cx="495900" cy="2793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33"/>
          <p:cNvCxnSpPr/>
          <p:nvPr/>
        </p:nvCxnSpPr>
        <p:spPr>
          <a:xfrm flipH="1" rot="10800000">
            <a:off x="3259002" y="4228426"/>
            <a:ext cx="378000" cy="2196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33"/>
          <p:cNvCxnSpPr/>
          <p:nvPr/>
        </p:nvCxnSpPr>
        <p:spPr>
          <a:xfrm rot="10800000">
            <a:off x="3535450" y="4149012"/>
            <a:ext cx="104700" cy="79500"/>
          </a:xfrm>
          <a:prstGeom prst="straightConnector1">
            <a:avLst/>
          </a:prstGeom>
          <a:noFill/>
          <a:ln cap="flat" cmpd="sng" w="10925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21" name="Google Shape;821;p33"/>
          <p:cNvSpPr/>
          <p:nvPr/>
        </p:nvSpPr>
        <p:spPr>
          <a:xfrm>
            <a:off x="2621265" y="3294932"/>
            <a:ext cx="1018900" cy="994893"/>
          </a:xfrm>
          <a:custGeom>
            <a:rect b="b" l="l" r="r" t="t"/>
            <a:pathLst>
              <a:path extrusionOk="0" h="45585" w="46685">
                <a:moveTo>
                  <a:pt x="39080" y="38381"/>
                </a:moveTo>
                <a:cubicBezTo>
                  <a:pt x="37589" y="39082"/>
                  <a:pt x="32504" y="41420"/>
                  <a:pt x="30135" y="42588"/>
                </a:cubicBezTo>
                <a:cubicBezTo>
                  <a:pt x="27766" y="43757"/>
                  <a:pt x="26805" y="45158"/>
                  <a:pt x="24865" y="45392"/>
                </a:cubicBezTo>
                <a:cubicBezTo>
                  <a:pt x="22925" y="45626"/>
                  <a:pt x="22404" y="46013"/>
                  <a:pt x="18497" y="43994"/>
                </a:cubicBezTo>
                <a:cubicBezTo>
                  <a:pt x="14590" y="41975"/>
                  <a:pt x="4261" y="36632"/>
                  <a:pt x="1425" y="33276"/>
                </a:cubicBezTo>
                <a:cubicBezTo>
                  <a:pt x="-1411" y="29921"/>
                  <a:pt x="736" y="25960"/>
                  <a:pt x="1483" y="23861"/>
                </a:cubicBezTo>
                <a:cubicBezTo>
                  <a:pt x="2230" y="21762"/>
                  <a:pt x="1889" y="23085"/>
                  <a:pt x="5906" y="20684"/>
                </a:cubicBezTo>
                <a:cubicBezTo>
                  <a:pt x="9923" y="18283"/>
                  <a:pt x="19689" y="12800"/>
                  <a:pt x="25587" y="9454"/>
                </a:cubicBezTo>
                <a:cubicBezTo>
                  <a:pt x="31486" y="6108"/>
                  <a:pt x="37781" y="2053"/>
                  <a:pt x="41297" y="607"/>
                </a:cubicBezTo>
                <a:cubicBezTo>
                  <a:pt x="44813" y="-839"/>
                  <a:pt x="45787" y="749"/>
                  <a:pt x="46685" y="777"/>
                </a:cubicBezTo>
              </a:path>
            </a:pathLst>
          </a:custGeom>
          <a:noFill/>
          <a:ln cap="flat" cmpd="sng" w="117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822" name="Google Shape;822;p33"/>
          <p:cNvCxnSpPr/>
          <p:nvPr/>
        </p:nvCxnSpPr>
        <p:spPr>
          <a:xfrm>
            <a:off x="3655777" y="3311434"/>
            <a:ext cx="590700" cy="3324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3" name="Google Shape;823;p33"/>
          <p:cNvCxnSpPr/>
          <p:nvPr/>
        </p:nvCxnSpPr>
        <p:spPr>
          <a:xfrm flipH="1">
            <a:off x="4141268" y="3638653"/>
            <a:ext cx="102600" cy="57600"/>
          </a:xfrm>
          <a:prstGeom prst="straightConnector1">
            <a:avLst/>
          </a:prstGeom>
          <a:noFill/>
          <a:ln cap="flat" cmpd="sng" w="8325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33"/>
          <p:cNvCxnSpPr/>
          <p:nvPr/>
        </p:nvCxnSpPr>
        <p:spPr>
          <a:xfrm flipH="1">
            <a:off x="3519837" y="3716306"/>
            <a:ext cx="598800" cy="3633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33"/>
          <p:cNvCxnSpPr/>
          <p:nvPr/>
        </p:nvCxnSpPr>
        <p:spPr>
          <a:xfrm>
            <a:off x="3561494" y="4125826"/>
            <a:ext cx="141000" cy="89100"/>
          </a:xfrm>
          <a:prstGeom prst="straightConnector1">
            <a:avLst/>
          </a:prstGeom>
          <a:noFill/>
          <a:ln cap="flat" cmpd="sng" w="832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6" name="Google Shape;826;p33"/>
          <p:cNvSpPr/>
          <p:nvPr/>
        </p:nvSpPr>
        <p:spPr>
          <a:xfrm>
            <a:off x="3378261" y="169188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7" name="Google Shape;827;p33"/>
          <p:cNvSpPr/>
          <p:nvPr/>
        </p:nvSpPr>
        <p:spPr>
          <a:xfrm>
            <a:off x="3304575" y="169188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28" name="s021.text.828"/>
          <p:cNvSpPr txBox="1"/>
          <p:nvPr/>
        </p:nvSpPr>
        <p:spPr>
          <a:xfrm>
            <a:off x="3229850" y="1728362"/>
            <a:ext cx="1269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7 : Playa OSL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9" name="s021.text.829"/>
          <p:cNvSpPr txBox="1"/>
          <p:nvPr/>
        </p:nvSpPr>
        <p:spPr>
          <a:xfrm>
            <a:off x="3332048" y="1926242"/>
            <a:ext cx="23355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Balanza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214132" y="1711010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674EA7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1" name="Google Shape;831;p33"/>
          <p:cNvSpPr/>
          <p:nvPr/>
        </p:nvSpPr>
        <p:spPr>
          <a:xfrm>
            <a:off x="2140446" y="1711010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2" name="s021.text.832"/>
          <p:cNvSpPr txBox="1"/>
          <p:nvPr/>
        </p:nvSpPr>
        <p:spPr>
          <a:xfrm>
            <a:off x="2140451" y="1747496"/>
            <a:ext cx="1164300" cy="2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 : Interplanta </a:t>
            </a:r>
            <a:endParaRPr b="1"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3" name="s021.text.833"/>
          <p:cNvSpPr txBox="1"/>
          <p:nvPr/>
        </p:nvSpPr>
        <p:spPr>
          <a:xfrm>
            <a:off x="2159167" y="1943157"/>
            <a:ext cx="905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Ricardone → San Lorenzo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4" name="Google Shape;834;p33"/>
          <p:cNvSpPr/>
          <p:nvPr/>
        </p:nvSpPr>
        <p:spPr>
          <a:xfrm>
            <a:off x="4548538" y="1702993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5" name="Google Shape;835;p33"/>
          <p:cNvSpPr/>
          <p:nvPr/>
        </p:nvSpPr>
        <p:spPr>
          <a:xfrm>
            <a:off x="4474852" y="1702993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36" name="s021.text.836"/>
          <p:cNvSpPr txBox="1"/>
          <p:nvPr/>
        </p:nvSpPr>
        <p:spPr>
          <a:xfrm>
            <a:off x="4406751" y="1739471"/>
            <a:ext cx="240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8:  Descarga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7" name="s021.text.837"/>
          <p:cNvSpPr txBox="1"/>
          <p:nvPr/>
        </p:nvSpPr>
        <p:spPr>
          <a:xfrm>
            <a:off x="4493576" y="1935133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Osl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8" name="s021.text.838"/>
          <p:cNvSpPr txBox="1"/>
          <p:nvPr/>
        </p:nvSpPr>
        <p:spPr>
          <a:xfrm>
            <a:off x="1835752" y="1786805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9" name="s021.text.839"/>
          <p:cNvSpPr txBox="1"/>
          <p:nvPr/>
        </p:nvSpPr>
        <p:spPr>
          <a:xfrm>
            <a:off x="3021316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0" name="s021.text.840"/>
          <p:cNvSpPr txBox="1"/>
          <p:nvPr/>
        </p:nvSpPr>
        <p:spPr>
          <a:xfrm>
            <a:off x="4179274" y="1786816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5706514" y="1709791"/>
            <a:ext cx="889200" cy="575100"/>
          </a:xfrm>
          <a:prstGeom prst="round1Rect">
            <a:avLst>
              <a:gd fmla="val 16667" name="adj"/>
            </a:avLst>
          </a:prstGeom>
          <a:solidFill>
            <a:srgbClr val="E58602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2" name="Google Shape;842;p33"/>
          <p:cNvSpPr/>
          <p:nvPr/>
        </p:nvSpPr>
        <p:spPr>
          <a:xfrm>
            <a:off x="5632828" y="1709791"/>
            <a:ext cx="889200" cy="524100"/>
          </a:xfrm>
          <a:prstGeom prst="round1Rect">
            <a:avLst>
              <a:gd fmla="val 16667" name="adj"/>
            </a:avLst>
          </a:prstGeom>
          <a:solidFill>
            <a:srgbClr val="FFFFFF"/>
          </a:solidFill>
          <a:ln cap="flat" cmpd="sng" w="900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575" lIns="86575" spcFirstLastPara="1" rIns="86575" wrap="square" tIns="86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26"/>
          </a:p>
        </p:txBody>
      </p:sp>
      <p:sp>
        <p:nvSpPr>
          <p:cNvPr id="843" name="s021.text.843"/>
          <p:cNvSpPr txBox="1"/>
          <p:nvPr/>
        </p:nvSpPr>
        <p:spPr>
          <a:xfrm>
            <a:off x="5632828" y="1746268"/>
            <a:ext cx="2335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63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9 : Salida</a:t>
            </a:r>
            <a:endParaRPr b="1" sz="663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4" name="s021.text.844"/>
          <p:cNvSpPr txBox="1"/>
          <p:nvPr/>
        </p:nvSpPr>
        <p:spPr>
          <a:xfrm>
            <a:off x="5651551" y="1941931"/>
            <a:ext cx="23355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6575" lIns="86575" spcFirstLastPara="1" rIns="86575" wrap="square" tIns="8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</a:t>
            </a:r>
            <a:b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" sz="568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Portería</a:t>
            </a:r>
            <a:endParaRPr sz="568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5" name="s021.text.845"/>
          <p:cNvSpPr txBox="1"/>
          <p:nvPr/>
        </p:nvSpPr>
        <p:spPr>
          <a:xfrm>
            <a:off x="5337249" y="1793614"/>
            <a:ext cx="3285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78800" lIns="78800" spcFirstLastPara="1" rIns="78800" wrap="square" tIns="78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24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1724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6" name="Google Shape;846;p33"/>
          <p:cNvSpPr/>
          <p:nvPr/>
        </p:nvSpPr>
        <p:spPr>
          <a:xfrm>
            <a:off x="3978998" y="3698877"/>
            <a:ext cx="126300" cy="1221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7" name="Google Shape;847;p33"/>
          <p:cNvSpPr/>
          <p:nvPr/>
        </p:nvSpPr>
        <p:spPr>
          <a:xfrm>
            <a:off x="2993525" y="3501450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8" name="Google Shape;848;p33"/>
          <p:cNvSpPr/>
          <p:nvPr/>
        </p:nvSpPr>
        <p:spPr>
          <a:xfrm>
            <a:off x="2333722" y="4036754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49" name="Google Shape;849;p33"/>
          <p:cNvSpPr/>
          <p:nvPr/>
        </p:nvSpPr>
        <p:spPr>
          <a:xfrm>
            <a:off x="2337676" y="3898400"/>
            <a:ext cx="102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0" name="s021.text.850"/>
          <p:cNvSpPr txBox="1"/>
          <p:nvPr/>
        </p:nvSpPr>
        <p:spPr>
          <a:xfrm>
            <a:off x="2297409" y="39578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1" name="s021.text.851"/>
          <p:cNvSpPr txBox="1"/>
          <p:nvPr/>
        </p:nvSpPr>
        <p:spPr>
          <a:xfrm>
            <a:off x="2954984" y="3422554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2" name="s021.text.852"/>
          <p:cNvSpPr txBox="1"/>
          <p:nvPr/>
        </p:nvSpPr>
        <p:spPr>
          <a:xfrm>
            <a:off x="3946309" y="36336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3" name="s021.text.853"/>
          <p:cNvSpPr txBox="1"/>
          <p:nvPr/>
        </p:nvSpPr>
        <p:spPr>
          <a:xfrm>
            <a:off x="2291534" y="382097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54" name="Google Shape;854;p33"/>
          <p:cNvSpPr/>
          <p:nvPr/>
        </p:nvSpPr>
        <p:spPr>
          <a:xfrm>
            <a:off x="3258997" y="4311429"/>
            <a:ext cx="114600" cy="97200"/>
          </a:xfrm>
          <a:prstGeom prst="ellipse">
            <a:avLst/>
          </a:prstGeom>
          <a:solidFill>
            <a:srgbClr val="F4CCCC"/>
          </a:solidFill>
          <a:ln cap="flat" cmpd="sng" w="79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725" lIns="75725" spcFirstLastPara="1" rIns="75725" wrap="square" tIns="7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855" name="s021.text.855"/>
          <p:cNvSpPr txBox="1"/>
          <p:nvPr/>
        </p:nvSpPr>
        <p:spPr>
          <a:xfrm>
            <a:off x="3220459" y="4232529"/>
            <a:ext cx="1917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75725" lIns="75725" spcFirstLastPara="1" rIns="75725" wrap="square" tIns="7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63"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663">
              <a:solidFill>
                <a:srgbClr val="000000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8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21/72</a:t>
            </a:r>
            <a:endParaRPr lang="es-AR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3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3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34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3" name="s022.text.86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Producto:Pellet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864" name="s022.text.864"/>
          <p:cNvSpPr txBox="1"/>
          <p:nvPr/>
        </p:nvSpPr>
        <p:spPr>
          <a:xfrm>
            <a:off x="762700" y="2868363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772925" y="3224550"/>
            <a:ext cx="3081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34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7" name="Google Shape;867;p34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68" name="Google Shape;868;p34"/>
          <p:cNvSpPr/>
          <p:nvPr/>
        </p:nvSpPr>
        <p:spPr>
          <a:xfrm>
            <a:off x="289000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4"/>
          <p:cNvSpPr/>
          <p:nvPr/>
        </p:nvSpPr>
        <p:spPr>
          <a:xfrm>
            <a:off x="955127" y="1380925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0" name="Google Shape;870;p34"/>
          <p:cNvCxnSpPr>
            <a:stCxn id="868" idx="6"/>
            <a:endCxn id="869" idx="2"/>
          </p:cNvCxnSpPr>
          <p:nvPr/>
        </p:nvCxnSpPr>
        <p:spPr>
          <a:xfrm>
            <a:off x="438700" y="1438675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34"/>
          <p:cNvCxnSpPr/>
          <p:nvPr/>
        </p:nvCxnSpPr>
        <p:spPr>
          <a:xfrm>
            <a:off x="1107042" y="1436749"/>
            <a:ext cx="948000" cy="21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34"/>
          <p:cNvSpPr/>
          <p:nvPr/>
        </p:nvSpPr>
        <p:spPr>
          <a:xfrm>
            <a:off x="2068946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s022.text.873"/>
          <p:cNvSpPr txBox="1"/>
          <p:nvPr/>
        </p:nvSpPr>
        <p:spPr>
          <a:xfrm>
            <a:off x="294300" y="10269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4" name="s022.text.874"/>
          <p:cNvSpPr txBox="1"/>
          <p:nvPr/>
        </p:nvSpPr>
        <p:spPr>
          <a:xfrm>
            <a:off x="1150513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5" name="s022.text.875"/>
          <p:cNvSpPr txBox="1"/>
          <p:nvPr/>
        </p:nvSpPr>
        <p:spPr>
          <a:xfrm>
            <a:off x="4374200" y="2138610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263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6" name="s022.text.876"/>
          <p:cNvSpPr txBox="1"/>
          <p:nvPr/>
        </p:nvSpPr>
        <p:spPr>
          <a:xfrm>
            <a:off x="410400" y="2859400"/>
            <a:ext cx="50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7" name="s022.text.877"/>
          <p:cNvSpPr txBox="1"/>
          <p:nvPr/>
        </p:nvSpPr>
        <p:spPr>
          <a:xfrm>
            <a:off x="4475875" y="1977800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878" name="Google Shape;878;p34"/>
          <p:cNvSpPr/>
          <p:nvPr/>
        </p:nvSpPr>
        <p:spPr>
          <a:xfrm>
            <a:off x="2766102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34"/>
          <p:cNvCxnSpPr>
            <a:endCxn id="878" idx="2"/>
          </p:cNvCxnSpPr>
          <p:nvPr/>
        </p:nvCxnSpPr>
        <p:spPr>
          <a:xfrm>
            <a:off x="2223402" y="1438302"/>
            <a:ext cx="542700" cy="21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34"/>
          <p:cNvSpPr/>
          <p:nvPr/>
        </p:nvSpPr>
        <p:spPr>
          <a:xfrm>
            <a:off x="3432271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34"/>
          <p:cNvCxnSpPr>
            <a:endCxn id="880" idx="2"/>
          </p:cNvCxnSpPr>
          <p:nvPr/>
        </p:nvCxnSpPr>
        <p:spPr>
          <a:xfrm>
            <a:off x="2915971" y="1440402"/>
            <a:ext cx="5163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34"/>
          <p:cNvSpPr/>
          <p:nvPr/>
        </p:nvSpPr>
        <p:spPr>
          <a:xfrm>
            <a:off x="4462555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3" name="Google Shape;883;p34"/>
          <p:cNvCxnSpPr>
            <a:stCxn id="880" idx="6"/>
            <a:endCxn id="882" idx="2"/>
          </p:cNvCxnSpPr>
          <p:nvPr/>
        </p:nvCxnSpPr>
        <p:spPr>
          <a:xfrm>
            <a:off x="3581971" y="144040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4"/>
          <p:cNvSpPr/>
          <p:nvPr/>
        </p:nvSpPr>
        <p:spPr>
          <a:xfrm>
            <a:off x="5430694" y="138265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5" name="Google Shape;885;p34"/>
          <p:cNvCxnSpPr>
            <a:stCxn id="882" idx="6"/>
            <a:endCxn id="884" idx="2"/>
          </p:cNvCxnSpPr>
          <p:nvPr/>
        </p:nvCxnSpPr>
        <p:spPr>
          <a:xfrm>
            <a:off x="4612255" y="144040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s022.text.886"/>
          <p:cNvSpPr txBox="1"/>
          <p:nvPr/>
        </p:nvSpPr>
        <p:spPr>
          <a:xfrm>
            <a:off x="2157100" y="102692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</a:t>
            </a:r>
            <a:r>
              <a:rPr b="1" lang="es" sz="1100">
                <a:latin typeface="Inter"/>
                <a:ea typeface="Inter"/>
                <a:cs typeface="Inter"/>
                <a:sym typeface="Inter"/>
              </a:rPr>
              <a:t>Tara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7" name="s022.text.887"/>
          <p:cNvSpPr txBox="1"/>
          <p:nvPr/>
        </p:nvSpPr>
        <p:spPr>
          <a:xfrm>
            <a:off x="3652900" y="104033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8" name="s022.text.888"/>
          <p:cNvSpPr txBox="1"/>
          <p:nvPr/>
        </p:nvSpPr>
        <p:spPr>
          <a:xfrm>
            <a:off x="2766088" y="10248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Acceso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9" name="s022.text.889"/>
          <p:cNvSpPr txBox="1"/>
          <p:nvPr/>
        </p:nvSpPr>
        <p:spPr>
          <a:xfrm>
            <a:off x="4540938" y="851563"/>
            <a:ext cx="96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 Interplanta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0" name="s022.text.890"/>
          <p:cNvSpPr txBox="1"/>
          <p:nvPr/>
        </p:nvSpPr>
        <p:spPr>
          <a:xfrm>
            <a:off x="1060263" y="2852013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1" name="s022.text.891"/>
          <p:cNvSpPr txBox="1"/>
          <p:nvPr/>
        </p:nvSpPr>
        <p:spPr>
          <a:xfrm>
            <a:off x="1281480" y="285202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2" name="s022.text.892"/>
          <p:cNvSpPr txBox="1"/>
          <p:nvPr/>
        </p:nvSpPr>
        <p:spPr>
          <a:xfrm>
            <a:off x="2824338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128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3" name="s022.text.893"/>
          <p:cNvSpPr txBox="1"/>
          <p:nvPr/>
        </p:nvSpPr>
        <p:spPr>
          <a:xfrm>
            <a:off x="4888412" y="285165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4" name="Google Shape;894;p34"/>
          <p:cNvSpPr/>
          <p:nvPr/>
        </p:nvSpPr>
        <p:spPr>
          <a:xfrm>
            <a:off x="1663700" y="3224550"/>
            <a:ext cx="30681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34"/>
          <p:cNvSpPr/>
          <p:nvPr/>
        </p:nvSpPr>
        <p:spPr>
          <a:xfrm>
            <a:off x="4731800" y="3236025"/>
            <a:ext cx="8781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4"/>
          <p:cNvSpPr/>
          <p:nvPr/>
        </p:nvSpPr>
        <p:spPr>
          <a:xfrm>
            <a:off x="1399376" y="3230125"/>
            <a:ext cx="2820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4"/>
          <p:cNvSpPr/>
          <p:nvPr/>
        </p:nvSpPr>
        <p:spPr>
          <a:xfrm>
            <a:off x="1077513" y="3224550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4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899" name="Google Shape;899;p34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00" name="s022.text.900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01" name="s022.text.901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185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02" name="Google Shape;902;p34"/>
          <p:cNvCxnSpPr/>
          <p:nvPr/>
        </p:nvCxnSpPr>
        <p:spPr>
          <a:xfrm>
            <a:off x="5580347" y="1443315"/>
            <a:ext cx="1213200" cy="12900"/>
          </a:xfrm>
          <a:prstGeom prst="straightConnector1">
            <a:avLst/>
          </a:prstGeom>
          <a:noFill/>
          <a:ln cap="flat" cmpd="sng" w="28575">
            <a:solidFill>
              <a:srgbClr val="00154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34"/>
          <p:cNvSpPr/>
          <p:nvPr/>
        </p:nvSpPr>
        <p:spPr>
          <a:xfrm>
            <a:off x="6789327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4"/>
          <p:cNvSpPr/>
          <p:nvPr/>
        </p:nvSpPr>
        <p:spPr>
          <a:xfrm>
            <a:off x="7819611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5" name="Google Shape;905;p34"/>
          <p:cNvCxnSpPr>
            <a:stCxn id="903" idx="6"/>
            <a:endCxn id="904" idx="2"/>
          </p:cNvCxnSpPr>
          <p:nvPr/>
        </p:nvCxnSpPr>
        <p:spPr>
          <a:xfrm>
            <a:off x="6939027" y="1445242"/>
            <a:ext cx="880500" cy="0"/>
          </a:xfrm>
          <a:prstGeom prst="straightConnector1">
            <a:avLst/>
          </a:prstGeom>
          <a:noFill/>
          <a:ln cap="flat" cmpd="sng" w="28575">
            <a:solidFill>
              <a:srgbClr val="C27BA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34"/>
          <p:cNvSpPr/>
          <p:nvPr/>
        </p:nvSpPr>
        <p:spPr>
          <a:xfrm>
            <a:off x="8787750" y="1387492"/>
            <a:ext cx="149700" cy="1155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07" name="Google Shape;907;p34"/>
          <p:cNvCxnSpPr>
            <a:stCxn id="904" idx="6"/>
            <a:endCxn id="906" idx="2"/>
          </p:cNvCxnSpPr>
          <p:nvPr/>
        </p:nvCxnSpPr>
        <p:spPr>
          <a:xfrm>
            <a:off x="7969311" y="1445242"/>
            <a:ext cx="818400" cy="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8" name="s022.text.908"/>
          <p:cNvSpPr txBox="1"/>
          <p:nvPr/>
        </p:nvSpPr>
        <p:spPr>
          <a:xfrm>
            <a:off x="562702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  Playa OSL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9" name="s022.text.909"/>
          <p:cNvSpPr txBox="1"/>
          <p:nvPr/>
        </p:nvSpPr>
        <p:spPr>
          <a:xfrm>
            <a:off x="6856150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0" name="s022.text.910"/>
          <p:cNvSpPr txBox="1"/>
          <p:nvPr/>
        </p:nvSpPr>
        <p:spPr>
          <a:xfrm>
            <a:off x="7969975" y="10269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Salida SLZ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5578841" y="3236025"/>
            <a:ext cx="7254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4"/>
          <p:cNvSpPr/>
          <p:nvPr/>
        </p:nvSpPr>
        <p:spPr>
          <a:xfrm>
            <a:off x="6309260" y="3236025"/>
            <a:ext cx="16482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34"/>
          <p:cNvSpPr/>
          <p:nvPr/>
        </p:nvSpPr>
        <p:spPr>
          <a:xfrm>
            <a:off x="7957380" y="3236025"/>
            <a:ext cx="6150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s022.text.914"/>
          <p:cNvSpPr txBox="1"/>
          <p:nvPr/>
        </p:nvSpPr>
        <p:spPr>
          <a:xfrm>
            <a:off x="5702599" y="28516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5" name="s022.text.915"/>
          <p:cNvSpPr txBox="1"/>
          <p:nvPr/>
        </p:nvSpPr>
        <p:spPr>
          <a:xfrm>
            <a:off x="7064274" y="28828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6" name="s022.text.916"/>
          <p:cNvSpPr txBox="1"/>
          <p:nvPr/>
        </p:nvSpPr>
        <p:spPr>
          <a:xfrm>
            <a:off x="8029950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7" name="s022.text.917"/>
          <p:cNvSpPr txBox="1"/>
          <p:nvPr/>
        </p:nvSpPr>
        <p:spPr>
          <a:xfrm>
            <a:off x="6804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8" name="s022.text.918"/>
          <p:cNvSpPr txBox="1"/>
          <p:nvPr/>
        </p:nvSpPr>
        <p:spPr>
          <a:xfrm>
            <a:off x="14350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9" name="s022.text.919"/>
          <p:cNvSpPr txBox="1"/>
          <p:nvPr/>
        </p:nvSpPr>
        <p:spPr>
          <a:xfrm>
            <a:off x="2625875" y="153930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0" name="s022.text.920"/>
          <p:cNvSpPr txBox="1"/>
          <p:nvPr/>
        </p:nvSpPr>
        <p:spPr>
          <a:xfrm>
            <a:off x="1794300" y="15904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1" name="s022.text.921"/>
          <p:cNvSpPr txBox="1"/>
          <p:nvPr/>
        </p:nvSpPr>
        <p:spPr>
          <a:xfrm>
            <a:off x="5270900" y="1559888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 SLZ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2" name="s022.text.922"/>
          <p:cNvSpPr txBox="1"/>
          <p:nvPr/>
        </p:nvSpPr>
        <p:spPr>
          <a:xfrm>
            <a:off x="4298950" y="1552350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3" name="s022.text.923"/>
          <p:cNvSpPr txBox="1"/>
          <p:nvPr/>
        </p:nvSpPr>
        <p:spPr>
          <a:xfrm>
            <a:off x="7657625" y="15796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4" name="s022.text.924"/>
          <p:cNvSpPr txBox="1"/>
          <p:nvPr/>
        </p:nvSpPr>
        <p:spPr>
          <a:xfrm>
            <a:off x="6665875" y="15599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5" name="s022.text.925"/>
          <p:cNvSpPr txBox="1"/>
          <p:nvPr/>
        </p:nvSpPr>
        <p:spPr>
          <a:xfrm>
            <a:off x="3246625" y="1584250"/>
            <a:ext cx="593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6" name="s022.text.926"/>
          <p:cNvSpPr txBox="1"/>
          <p:nvPr/>
        </p:nvSpPr>
        <p:spPr>
          <a:xfrm>
            <a:off x="8649375" y="15675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Salida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7" name="s022.text.927"/>
          <p:cNvSpPr/>
          <p:nvPr/>
        </p:nvSpPr>
        <p:spPr>
          <a:xfrm>
            <a:off x="458000" y="3762775"/>
            <a:ext cx="42366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28" name="s022.text.928"/>
          <p:cNvSpPr/>
          <p:nvPr/>
        </p:nvSpPr>
        <p:spPr>
          <a:xfrm>
            <a:off x="5603000" y="3762775"/>
            <a:ext cx="29694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29" name="s022.text.929"/>
          <p:cNvSpPr txBox="1"/>
          <p:nvPr/>
        </p:nvSpPr>
        <p:spPr>
          <a:xfrm>
            <a:off x="1539050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162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0" name="s022.text.930"/>
          <p:cNvSpPr txBox="1"/>
          <p:nvPr/>
        </p:nvSpPr>
        <p:spPr>
          <a:xfrm>
            <a:off x="6406675" y="395972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77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1" name="s022.text.931"/>
          <p:cNvSpPr txBox="1"/>
          <p:nvPr/>
        </p:nvSpPr>
        <p:spPr>
          <a:xfrm>
            <a:off x="4438050" y="2512350"/>
            <a:ext cx="122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23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2" name="s022.text.932"/>
          <p:cNvSpPr txBox="1"/>
          <p:nvPr/>
        </p:nvSpPr>
        <p:spPr>
          <a:xfrm>
            <a:off x="1539050" y="4443850"/>
            <a:ext cx="1086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42 min)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33" name="s022.text.933"/>
          <p:cNvSpPr txBox="1"/>
          <p:nvPr/>
        </p:nvSpPr>
        <p:spPr>
          <a:xfrm>
            <a:off x="6271700" y="44347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17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93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22/72</a:t>
            </a:r>
            <a:endParaRPr lang="es-AR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3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3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35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1" name="s023.text.94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R30/31/32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942" name="s023.text.942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3" name="Google Shape;943;p35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35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5" name="Google Shape;945;p35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46" name="s023.text.946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210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7" name="s023.text.947"/>
          <p:cNvSpPr txBox="1"/>
          <p:nvPr/>
        </p:nvSpPr>
        <p:spPr>
          <a:xfrm>
            <a:off x="370800" y="2859400"/>
            <a:ext cx="54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8" name="s023.text.948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49" name="s023.text.949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0" name="s023.text.950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1" name="s023.text.951"/>
          <p:cNvSpPr txBox="1"/>
          <p:nvPr/>
        </p:nvSpPr>
        <p:spPr>
          <a:xfrm>
            <a:off x="3421675" y="28530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2" name="s023.text.952"/>
          <p:cNvSpPr txBox="1"/>
          <p:nvPr/>
        </p:nvSpPr>
        <p:spPr>
          <a:xfrm>
            <a:off x="4867624" y="28587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3" name="Google Shape;953;p35"/>
          <p:cNvSpPr/>
          <p:nvPr/>
        </p:nvSpPr>
        <p:spPr>
          <a:xfrm>
            <a:off x="2267400" y="3236000"/>
            <a:ext cx="26304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35"/>
          <p:cNvSpPr/>
          <p:nvPr/>
        </p:nvSpPr>
        <p:spPr>
          <a:xfrm>
            <a:off x="4897804" y="3236025"/>
            <a:ext cx="542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5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5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35"/>
          <p:cNvSpPr/>
          <p:nvPr/>
        </p:nvSpPr>
        <p:spPr>
          <a:xfrm>
            <a:off x="5439120" y="3236028"/>
            <a:ext cx="1321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35"/>
          <p:cNvSpPr/>
          <p:nvPr/>
        </p:nvSpPr>
        <p:spPr>
          <a:xfrm>
            <a:off x="6725200" y="3236025"/>
            <a:ext cx="10740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5"/>
          <p:cNvSpPr/>
          <p:nvPr/>
        </p:nvSpPr>
        <p:spPr>
          <a:xfrm>
            <a:off x="7769575" y="3236025"/>
            <a:ext cx="8028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s023.text.960"/>
          <p:cNvSpPr txBox="1"/>
          <p:nvPr/>
        </p:nvSpPr>
        <p:spPr>
          <a:xfrm>
            <a:off x="5595637" y="28552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1" name="s023.text.961"/>
          <p:cNvSpPr txBox="1"/>
          <p:nvPr/>
        </p:nvSpPr>
        <p:spPr>
          <a:xfrm>
            <a:off x="6690933" y="2859400"/>
            <a:ext cx="94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2" name="s023.text.962"/>
          <p:cNvSpPr txBox="1"/>
          <p:nvPr/>
        </p:nvSpPr>
        <p:spPr>
          <a:xfrm>
            <a:off x="7846187" y="2853063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3" name="Google Shape;963;p35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4" name="Google Shape;964;p35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5" name="Google Shape;965;p35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6" name="Google Shape;966;p35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7" name="Google Shape;967;p35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8" name="Google Shape;968;p35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69" name="Google Shape;969;p35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0" name="Google Shape;970;p35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971" name="s023.text.971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2" name="s023.text.972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3" name="s023.text.973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4" name="s023.text.974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975" name="s023.text.975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6" name="s023.text.976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7" name="s023.text.977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8" name="s023.text.978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9" name="Google Shape;979;p35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0" name="s023.text.980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1" name="s023.text.981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</a:t>
            </a: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2" name="s023.text.982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36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3" name="s023.text.983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102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84" name="Google Shape;984;p35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5" name="Google Shape;985;p35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986" name="s023.text.986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987" name="s023.text.987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8" name="s023.text.988"/>
          <p:cNvSpPr/>
          <p:nvPr/>
        </p:nvSpPr>
        <p:spPr>
          <a:xfrm>
            <a:off x="458000" y="3762775"/>
            <a:ext cx="44679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989" name="s023.text.989"/>
          <p:cNvSpPr/>
          <p:nvPr/>
        </p:nvSpPr>
        <p:spPr>
          <a:xfrm>
            <a:off x="5440500" y="3762775"/>
            <a:ext cx="31095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990" name="s023.text.990"/>
          <p:cNvSpPr txBox="1"/>
          <p:nvPr/>
        </p:nvSpPr>
        <p:spPr>
          <a:xfrm>
            <a:off x="121157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103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1" name="s023.text.991"/>
          <p:cNvSpPr txBox="1"/>
          <p:nvPr/>
        </p:nvSpPr>
        <p:spPr>
          <a:xfrm>
            <a:off x="6835225" y="3931375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71</a:t>
            </a: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2" name="s023.text.992"/>
          <p:cNvSpPr txBox="1"/>
          <p:nvPr/>
        </p:nvSpPr>
        <p:spPr>
          <a:xfrm>
            <a:off x="1674375" y="4025350"/>
            <a:ext cx="107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43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3" name="s023.text.993"/>
          <p:cNvSpPr txBox="1"/>
          <p:nvPr/>
        </p:nvSpPr>
        <p:spPr>
          <a:xfrm>
            <a:off x="7349500" y="399860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11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94" name="s023.text.994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(3 hs 30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99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23/72</a:t>
            </a:r>
            <a:endParaRPr lang="es-AR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3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3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3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2" name="s024.text.100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 30/31/32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03" name="s024.text.1003"/>
          <p:cNvSpPr txBox="1"/>
          <p:nvPr/>
        </p:nvSpPr>
        <p:spPr>
          <a:xfrm>
            <a:off x="878525" y="2874688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9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4" name="Google Shape;1004;p36"/>
          <p:cNvSpPr/>
          <p:nvPr/>
        </p:nvSpPr>
        <p:spPr>
          <a:xfrm>
            <a:off x="772925" y="3224550"/>
            <a:ext cx="6990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6"/>
          <p:cNvSpPr/>
          <p:nvPr/>
        </p:nvSpPr>
        <p:spPr>
          <a:xfrm>
            <a:off x="482100" y="3224563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06" name="Google Shape;1006;p36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07" name="s024.text.1007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</a:t>
            </a: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8" name="s024.text.1008"/>
          <p:cNvSpPr txBox="1"/>
          <p:nvPr/>
        </p:nvSpPr>
        <p:spPr>
          <a:xfrm>
            <a:off x="428625" y="2859400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9" name="s024.text.1009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10" name="s024.text.1010"/>
          <p:cNvSpPr txBox="1"/>
          <p:nvPr/>
        </p:nvSpPr>
        <p:spPr>
          <a:xfrm>
            <a:off x="1472750" y="285940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1" name="s024.text.1011"/>
          <p:cNvSpPr txBox="1"/>
          <p:nvPr/>
        </p:nvSpPr>
        <p:spPr>
          <a:xfrm>
            <a:off x="1721230" y="2852013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2" name="s024.text.1012"/>
          <p:cNvSpPr txBox="1"/>
          <p:nvPr/>
        </p:nvSpPr>
        <p:spPr>
          <a:xfrm>
            <a:off x="3217513" y="285202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130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3" name="s024.text.1013"/>
          <p:cNvSpPr txBox="1"/>
          <p:nvPr/>
        </p:nvSpPr>
        <p:spPr>
          <a:xfrm>
            <a:off x="4897938" y="282028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2267400" y="3236000"/>
            <a:ext cx="25740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6"/>
          <p:cNvSpPr/>
          <p:nvPr/>
        </p:nvSpPr>
        <p:spPr>
          <a:xfrm>
            <a:off x="4825250" y="3240125"/>
            <a:ext cx="824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36"/>
          <p:cNvSpPr/>
          <p:nvPr/>
        </p:nvSpPr>
        <p:spPr>
          <a:xfrm>
            <a:off x="1804202" y="3217488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6"/>
          <p:cNvSpPr/>
          <p:nvPr/>
        </p:nvSpPr>
        <p:spPr>
          <a:xfrm>
            <a:off x="1458100" y="3219325"/>
            <a:ext cx="3564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6"/>
          <p:cNvSpPr/>
          <p:nvPr/>
        </p:nvSpPr>
        <p:spPr>
          <a:xfrm>
            <a:off x="5612066" y="3240125"/>
            <a:ext cx="922200" cy="111000"/>
          </a:xfrm>
          <a:prstGeom prst="rect">
            <a:avLst/>
          </a:prstGeom>
          <a:solidFill>
            <a:srgbClr val="00154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6"/>
          <p:cNvSpPr/>
          <p:nvPr/>
        </p:nvSpPr>
        <p:spPr>
          <a:xfrm>
            <a:off x="6507780" y="3240125"/>
            <a:ext cx="1169100" cy="111000"/>
          </a:xfrm>
          <a:prstGeom prst="rect">
            <a:avLst/>
          </a:prstGeom>
          <a:solidFill>
            <a:srgbClr val="C27BA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6"/>
          <p:cNvSpPr/>
          <p:nvPr/>
        </p:nvSpPr>
        <p:spPr>
          <a:xfrm>
            <a:off x="7650152" y="3236025"/>
            <a:ext cx="922200" cy="111000"/>
          </a:xfrm>
          <a:prstGeom prst="rect">
            <a:avLst/>
          </a:prstGeom>
          <a:solidFill>
            <a:srgbClr val="38761D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s024.text.1021"/>
          <p:cNvSpPr txBox="1"/>
          <p:nvPr/>
        </p:nvSpPr>
        <p:spPr>
          <a:xfrm>
            <a:off x="5702862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2" name="s024.text.1022"/>
          <p:cNvSpPr txBox="1"/>
          <p:nvPr/>
        </p:nvSpPr>
        <p:spPr>
          <a:xfrm>
            <a:off x="6732149" y="2820275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3" name="s024.text.1023"/>
          <p:cNvSpPr txBox="1"/>
          <p:nvPr/>
        </p:nvSpPr>
        <p:spPr>
          <a:xfrm>
            <a:off x="7992287" y="285938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4" name="Google Shape;1024;p36"/>
          <p:cNvSpPr/>
          <p:nvPr/>
        </p:nvSpPr>
        <p:spPr>
          <a:xfrm>
            <a:off x="755374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5" name="Google Shape;1025;p36"/>
          <p:cNvSpPr/>
          <p:nvPr/>
        </p:nvSpPr>
        <p:spPr>
          <a:xfrm>
            <a:off x="755374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6" name="Google Shape;1026;p36"/>
          <p:cNvSpPr/>
          <p:nvPr/>
        </p:nvSpPr>
        <p:spPr>
          <a:xfrm>
            <a:off x="2761865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E58602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7" name="Google Shape;1027;p36"/>
          <p:cNvSpPr/>
          <p:nvPr/>
        </p:nvSpPr>
        <p:spPr>
          <a:xfrm>
            <a:off x="2761865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8" name="Google Shape;1028;p36"/>
          <p:cNvSpPr/>
          <p:nvPr/>
        </p:nvSpPr>
        <p:spPr>
          <a:xfrm>
            <a:off x="4718709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29" name="Google Shape;1029;p36"/>
          <p:cNvSpPr/>
          <p:nvPr/>
        </p:nvSpPr>
        <p:spPr>
          <a:xfrm>
            <a:off x="4718709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0" name="Google Shape;1030;p36"/>
          <p:cNvSpPr/>
          <p:nvPr/>
        </p:nvSpPr>
        <p:spPr>
          <a:xfrm>
            <a:off x="6725201" y="1022125"/>
            <a:ext cx="1703400" cy="706200"/>
          </a:xfrm>
          <a:prstGeom prst="snip1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1" name="Google Shape;1031;p36"/>
          <p:cNvSpPr/>
          <p:nvPr/>
        </p:nvSpPr>
        <p:spPr>
          <a:xfrm>
            <a:off x="6725201" y="1070682"/>
            <a:ext cx="1653900" cy="6576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6"/>
          </a:p>
        </p:txBody>
      </p:sp>
      <p:sp>
        <p:nvSpPr>
          <p:cNvPr id="1032" name="s024.text.1032"/>
          <p:cNvSpPr/>
          <p:nvPr/>
        </p:nvSpPr>
        <p:spPr>
          <a:xfrm>
            <a:off x="861853" y="1123955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D30D0C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Q1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3" name="s024.text.1033"/>
          <p:cNvSpPr/>
          <p:nvPr/>
        </p:nvSpPr>
        <p:spPr>
          <a:xfrm>
            <a:off x="2874172" y="1120997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FA7004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Q2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4" name="s024.text.1034"/>
          <p:cNvSpPr/>
          <p:nvPr/>
        </p:nvSpPr>
        <p:spPr>
          <a:xfrm>
            <a:off x="4841293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741B47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Q3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5" name="s024.text.1035"/>
          <p:cNvSpPr/>
          <p:nvPr/>
        </p:nvSpPr>
        <p:spPr>
          <a:xfrm>
            <a:off x="6877057" y="1102869"/>
            <a:ext cx="367800" cy="234000"/>
          </a:xfrm>
          <a:prstGeom prst="roundRect">
            <a:avLst>
              <a:gd fmla="val 16667" name="adj"/>
            </a:avLst>
          </a:prstGeom>
          <a:solidFill>
            <a:srgbClr val="036A03"/>
          </a:solidFill>
          <a:ln cap="flat" cmpd="sng" w="847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50" lIns="81350" spcFirstLastPara="1" rIns="81350" wrap="square" tIns="81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68">
                <a:solidFill>
                  <a:srgbClr val="FFFFFF"/>
                </a:solidFill>
              </a:rPr>
              <a:t>Q4</a:t>
            </a:r>
            <a:endParaRPr b="1" sz="1068">
              <a:solidFill>
                <a:srgbClr val="FFFFFF"/>
              </a:solidFill>
            </a:endParaRPr>
          </a:p>
        </p:txBody>
      </p:sp>
      <p:sp>
        <p:nvSpPr>
          <p:cNvPr id="1036" name="s024.text.1036"/>
          <p:cNvSpPr txBox="1"/>
          <p:nvPr/>
        </p:nvSpPr>
        <p:spPr>
          <a:xfrm>
            <a:off x="1275670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22 :00 -04:00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7" name="s024.text.1037"/>
          <p:cNvSpPr txBox="1"/>
          <p:nvPr/>
        </p:nvSpPr>
        <p:spPr>
          <a:xfrm>
            <a:off x="3177951" y="1101123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04:00  -  10:00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8" name="s024.text.1038"/>
          <p:cNvSpPr txBox="1"/>
          <p:nvPr/>
        </p:nvSpPr>
        <p:spPr>
          <a:xfrm>
            <a:off x="5186244" y="1082972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 10:00 - 16:00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9" name="s024.text.1039"/>
          <p:cNvSpPr txBox="1"/>
          <p:nvPr/>
        </p:nvSpPr>
        <p:spPr>
          <a:xfrm>
            <a:off x="7244874" y="1102858"/>
            <a:ext cx="1313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50" lIns="81350" spcFirstLastPara="1" rIns="81350" wrap="square" tIns="813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12">
                <a:solidFill>
                  <a:srgbClr val="00154A"/>
                </a:solidFill>
                <a:highlight>
                  <a:srgbClr val="F7FBF8"/>
                </a:highlight>
                <a:latin typeface="Inter"/>
                <a:ea typeface="Inter"/>
                <a:cs typeface="Inter"/>
                <a:sym typeface="Inter"/>
              </a:rPr>
              <a:t>     16:00 - 22:00</a:t>
            </a:r>
            <a:endParaRPr b="1" sz="712">
              <a:solidFill>
                <a:srgbClr val="00154A"/>
              </a:solidFill>
              <a:highlight>
                <a:srgbClr val="F7FBF8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837898" y="1376730"/>
            <a:ext cx="990300" cy="3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78525" lIns="78525" spcFirstLastPara="1" rIns="78525" wrap="square" tIns="78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6">
              <a:solidFill>
                <a:srgbClr val="073763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1" name="s024.text.1041"/>
          <p:cNvSpPr txBox="1"/>
          <p:nvPr/>
        </p:nvSpPr>
        <p:spPr>
          <a:xfrm>
            <a:off x="1649204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27 </a:t>
            </a:r>
            <a:r>
              <a:rPr lang="es" sz="659">
                <a:solidFill>
                  <a:srgbClr val="D30D0C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D30D0C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2" name="s024.text.1042"/>
          <p:cNvSpPr txBox="1"/>
          <p:nvPr/>
        </p:nvSpPr>
        <p:spPr>
          <a:xfrm>
            <a:off x="3589610" y="147026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23 </a:t>
            </a:r>
            <a:r>
              <a:rPr lang="es" sz="659">
                <a:solidFill>
                  <a:srgbClr val="FDBB3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FDBB3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3" name="s024.text.1043"/>
          <p:cNvSpPr txBox="1"/>
          <p:nvPr/>
        </p:nvSpPr>
        <p:spPr>
          <a:xfrm>
            <a:off x="5563059" y="1458063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A80235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A80235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4" name="s024.text.1044"/>
          <p:cNvSpPr txBox="1"/>
          <p:nvPr/>
        </p:nvSpPr>
        <p:spPr>
          <a:xfrm>
            <a:off x="7619721" y="1445874"/>
            <a:ext cx="9903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71300" lIns="71300" spcFirstLastPara="1" rIns="71300" wrap="square" tIns="71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26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0 </a:t>
            </a:r>
            <a:r>
              <a:rPr lang="es" sz="659">
                <a:solidFill>
                  <a:srgbClr val="00722A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camiones</a:t>
            </a:r>
            <a:endParaRPr sz="659">
              <a:solidFill>
                <a:srgbClr val="00722A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926275" y="4198413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6" name="Google Shape;1046;p36"/>
          <p:cNvSpPr/>
          <p:nvPr/>
        </p:nvSpPr>
        <p:spPr>
          <a:xfrm>
            <a:off x="4030686" y="425036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047" name="s024.text.1047"/>
          <p:cNvSpPr txBox="1"/>
          <p:nvPr/>
        </p:nvSpPr>
        <p:spPr>
          <a:xfrm>
            <a:off x="3995829" y="4250360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048" name="s024.text.1048"/>
          <p:cNvSpPr txBox="1"/>
          <p:nvPr/>
        </p:nvSpPr>
        <p:spPr>
          <a:xfrm>
            <a:off x="4135099" y="4450975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9" name="s024.text.1049"/>
          <p:cNvSpPr/>
          <p:nvPr/>
        </p:nvSpPr>
        <p:spPr>
          <a:xfrm>
            <a:off x="458000" y="3762775"/>
            <a:ext cx="4367100" cy="168600"/>
          </a:xfrm>
          <a:prstGeom prst="rect">
            <a:avLst/>
          </a:prstGeom>
          <a:solidFill>
            <a:srgbClr val="83AB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Ricardone</a:t>
            </a:r>
            <a:endParaRPr/>
          </a:p>
        </p:txBody>
      </p:sp>
      <p:sp>
        <p:nvSpPr>
          <p:cNvPr id="1050" name="s024.text.1050"/>
          <p:cNvSpPr/>
          <p:nvPr/>
        </p:nvSpPr>
        <p:spPr>
          <a:xfrm>
            <a:off x="5633775" y="3762775"/>
            <a:ext cx="2916300" cy="168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San Lorenzo</a:t>
            </a:r>
            <a:endParaRPr/>
          </a:p>
        </p:txBody>
      </p:sp>
      <p:sp>
        <p:nvSpPr>
          <p:cNvPr id="1051" name="s024.text.1051"/>
          <p:cNvSpPr txBox="1"/>
          <p:nvPr/>
        </p:nvSpPr>
        <p:spPr>
          <a:xfrm>
            <a:off x="1931175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168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s024.text.1052"/>
          <p:cNvSpPr txBox="1"/>
          <p:nvPr/>
        </p:nvSpPr>
        <p:spPr>
          <a:xfrm>
            <a:off x="6643250" y="3891350"/>
            <a:ext cx="65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76 </a:t>
            </a:r>
            <a:r>
              <a:rPr b="1" lang="es" sz="1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0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s024.text.1053"/>
          <p:cNvSpPr txBox="1"/>
          <p:nvPr/>
        </p:nvSpPr>
        <p:spPr>
          <a:xfrm>
            <a:off x="2495725" y="40094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(2 hs 48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4" name="s024.text.1054"/>
          <p:cNvSpPr txBox="1"/>
          <p:nvPr/>
        </p:nvSpPr>
        <p:spPr>
          <a:xfrm>
            <a:off x="6457250" y="4443850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(1 hs 16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055" name="s024.text.1055"/>
          <p:cNvSpPr txBox="1"/>
          <p:nvPr/>
        </p:nvSpPr>
        <p:spPr>
          <a:xfrm>
            <a:off x="4057200" y="2506775"/>
            <a:ext cx="102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041">
                <a:solidFill>
                  <a:srgbClr val="38761D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(4 hs 28 m)</a:t>
            </a:r>
            <a:endParaRPr sz="1041">
              <a:solidFill>
                <a:srgbClr val="38761D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 xmlns:p="http://schemas.openxmlformats.org/presentationml/2006/main" xmlns:a="http://schemas.openxmlformats.org/drawingml/2006/main">
        <p:nvSpPr>
          <p:cNvPr id="105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24/72</a:t>
            </a:r>
            <a:endParaRPr lang="es-AR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3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3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37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3" name="s025.text.106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Comparativo semanal e histórico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064" name="Google Shape;1064;p3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25150" y="7431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06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25/72</a:t>
            </a:r>
            <a:endParaRPr lang="es-AR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38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70" name="Google Shape;1070;p38" title="Diseño sin título (1).png"/>
          <p:cNvPicPr preferRelativeResize="0"/>
          <p:nvPr/>
        </p:nvPicPr>
        <p:blipFill rotWithShape="1">
          <a:blip r:embed="rId3">
            <a:alphaModFix/>
          </a:blip>
          <a:srcRect b="51705" l="20359" r="19953" t="41314"/>
          <a:stretch/>
        </p:blipFill>
        <p:spPr>
          <a:xfrm>
            <a:off x="3812512" y="703475"/>
            <a:ext cx="1712275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71" name="s026.text.1071"/>
          <p:cNvSpPr txBox="1"/>
          <p:nvPr/>
        </p:nvSpPr>
        <p:spPr>
          <a:xfrm>
            <a:off x="345788" y="274500"/>
            <a:ext cx="861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2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072" name="Google Shape;1072;p3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3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s026.text.1074"/>
          <p:cNvSpPr txBox="1"/>
          <p:nvPr/>
        </p:nvSpPr>
        <p:spPr>
          <a:xfrm>
            <a:off x="1967575" y="1037750"/>
            <a:ext cx="5939400" cy="46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operativo de pellet de girasol se desarrolló entre el </a:t>
            </a:r>
            <a:r>
              <a:rPr b="1" lang="es" sz="1100">
                <a:solidFill>
                  <a:schemeClr val="dk1"/>
                </a:solidFill>
              </a:rPr>
              <a:t>14 y el 15 de septiembre</a:t>
            </a:r>
            <a:r>
              <a:rPr lang="es" sz="1100">
                <a:solidFill>
                  <a:schemeClr val="dk1"/>
                </a:solidFill>
              </a:rPr>
              <a:t>, con un </a:t>
            </a:r>
            <a:r>
              <a:rPr b="1" lang="es" sz="1100">
                <a:solidFill>
                  <a:schemeClr val="dk1"/>
                </a:solidFill>
              </a:rPr>
              <a:t>flujo bajo de camiones</a:t>
            </a:r>
            <a:r>
              <a:rPr lang="es" sz="1100">
                <a:solidFill>
                  <a:schemeClr val="dk1"/>
                </a:solidFill>
              </a:rPr>
              <a:t>. El tiempo medio informado fue de </a:t>
            </a:r>
            <a:r>
              <a:rPr b="1" lang="es" sz="1100">
                <a:solidFill>
                  <a:schemeClr val="dk1"/>
                </a:solidFill>
              </a:rPr>
              <a:t>263 minutos</a:t>
            </a:r>
            <a:r>
              <a:rPr lang="es" sz="1100">
                <a:solidFill>
                  <a:schemeClr val="dk1"/>
                </a:solidFill>
              </a:rPr>
              <a:t>, frente a los </a:t>
            </a:r>
            <a:r>
              <a:rPr b="1" lang="es" sz="1100">
                <a:solidFill>
                  <a:schemeClr val="dk1"/>
                </a:solidFill>
              </a:rPr>
              <a:t>392 minutos de la semana anterior</a:t>
            </a:r>
            <a:r>
              <a:rPr lang="es" sz="1100">
                <a:solidFill>
                  <a:schemeClr val="dk1"/>
                </a:solidFill>
              </a:rPr>
              <a:t>, una reducción de </a:t>
            </a:r>
            <a:r>
              <a:rPr b="1" lang="es" sz="1100">
                <a:solidFill>
                  <a:schemeClr val="dk1"/>
                </a:solidFill>
              </a:rPr>
              <a:t>129 minutos, equivalente al 33%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principal mejora se registró en la </a:t>
            </a:r>
            <a:r>
              <a:rPr b="1" lang="es" sz="1100">
                <a:solidFill>
                  <a:schemeClr val="dk1"/>
                </a:solidFill>
              </a:rPr>
              <a:t>espera en San Lorenzo</a:t>
            </a:r>
            <a:r>
              <a:rPr lang="es" sz="1100">
                <a:solidFill>
                  <a:schemeClr val="dk1"/>
                </a:solidFill>
              </a:rPr>
              <a:t>, que disminuyó de </a:t>
            </a:r>
            <a:r>
              <a:rPr b="1" lang="es" sz="1100">
                <a:solidFill>
                  <a:schemeClr val="dk1"/>
                </a:solidFill>
              </a:rPr>
              <a:t>126 a 20 minutos</a:t>
            </a:r>
            <a:r>
              <a:rPr lang="es" sz="1100">
                <a:solidFill>
                  <a:schemeClr val="dk1"/>
                </a:solidFill>
              </a:rPr>
              <a:t>. Esta reducción de </a:t>
            </a:r>
            <a:r>
              <a:rPr b="1" lang="es" sz="1100">
                <a:solidFill>
                  <a:schemeClr val="dk1"/>
                </a:solidFill>
              </a:rPr>
              <a:t>106 minutos</a:t>
            </a:r>
            <a:r>
              <a:rPr lang="es" sz="1100">
                <a:solidFill>
                  <a:schemeClr val="dk1"/>
                </a:solidFill>
              </a:rPr>
              <a:t> explica la mayor parte de la mejora del tiempo total del operativo.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resultado muestra una menor permanencia en el circuito, especialmente en San Lorenzo. Sin embargo, el </a:t>
            </a:r>
            <a:r>
              <a:rPr b="1" lang="es" sz="1100">
                <a:solidFill>
                  <a:schemeClr val="dk1"/>
                </a:solidFill>
              </a:rPr>
              <a:t>bajo flujo de esta semana</a:t>
            </a:r>
            <a:r>
              <a:rPr lang="es" sz="1100">
                <a:solidFill>
                  <a:schemeClr val="dk1"/>
                </a:solidFill>
              </a:rPr>
              <a:t> debe considerarse al comparar el desempeño y evaluar si estos tiempos se sostienen con una mayor actividad.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07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26/72</a:t>
            </a:r>
            <a:endParaRPr lang="es-AR" sz="10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9" name="Google Shape;107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50" y="0"/>
            <a:ext cx="910765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s027.text.1080"/>
          <p:cNvSpPr txBox="1"/>
          <p:nvPr/>
        </p:nvSpPr>
        <p:spPr>
          <a:xfrm>
            <a:off x="3253875" y="2848175"/>
            <a:ext cx="32145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   </a:t>
            </a:r>
            <a:endParaRPr sz="13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general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Patentes registradas y volcables utilizadas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Descripción de los circuitos R5+ R6 y R3 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Tiempos medios por tramo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Evolución diaria del operativo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Medium"/>
              <a:buChar char="●"/>
            </a:pPr>
            <a:r>
              <a:rPr lang="es" sz="1100">
                <a:solidFill>
                  <a:schemeClr val="dk1"/>
                </a:solidFill>
                <a:highlight>
                  <a:schemeClr val="lt1"/>
                </a:highlight>
                <a:latin typeface="Inter Medium"/>
                <a:ea typeface="Inter Medium"/>
                <a:cs typeface="Inter Medium"/>
                <a:sym typeface="Inter Medium"/>
              </a:rPr>
              <a:t>Conclusiones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0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27/72</a:t>
            </a:r>
            <a:endParaRPr lang="es-AR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40" title="Gráfico"/>
          <p:cNvPicPr preferRelativeResize="0"/>
          <p:nvPr/>
        </p:nvPicPr>
        <p:blipFill rotWithShape="1">
          <a:blip r:embed="rId3">
            <a:alphaModFix/>
          </a:blip>
          <a:srcRect b="0" l="0" r="0" t="11285"/>
          <a:stretch/>
        </p:blipFill>
        <p:spPr>
          <a:xfrm>
            <a:off x="3805154" y="1172153"/>
            <a:ext cx="4118034" cy="2258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40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40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40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89" name="s028.text.108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Circuitos 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090" name="s028.text.1090"/>
          <p:cNvSpPr txBox="1"/>
          <p:nvPr/>
        </p:nvSpPr>
        <p:spPr>
          <a:xfrm>
            <a:off x="3875136" y="3531851"/>
            <a:ext cx="703800" cy="439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659">
                <a:latin typeface="Inter"/>
                <a:ea typeface="Inter"/>
                <a:cs typeface="Inter"/>
                <a:sym typeface="Inter"/>
              </a:rPr>
              <a:t>Falla de Lectura más frecuente</a:t>
            </a:r>
            <a:endParaRPr b="1" sz="586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1" name="s028.text.1091"/>
          <p:cNvSpPr txBox="1"/>
          <p:nvPr/>
        </p:nvSpPr>
        <p:spPr>
          <a:xfrm>
            <a:off x="2729547" y="3601520"/>
            <a:ext cx="63108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66950" lIns="66950" spcFirstLastPara="1" rIns="66950" wrap="square" tIns="6695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318"/>
              </a:spcBef>
              <a:spcAft>
                <a:spcPts val="0"/>
              </a:spcAft>
              <a:buClr>
                <a:srgbClr val="000000"/>
              </a:buClr>
              <a:buSzPts val="1465"/>
              <a:buFont typeface="Arial"/>
              <a:buNone/>
            </a:pPr>
            <a:r>
              <a:rPr b="1" lang="es" sz="1318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Ingreso a Planta</a:t>
            </a:r>
            <a:endParaRPr b="0" i="0" sz="1758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092" name="Google Shape;1092;p40" title="Gráfico"/>
          <p:cNvPicPr preferRelativeResize="0"/>
          <p:nvPr/>
        </p:nvPicPr>
        <p:blipFill rotWithShape="1">
          <a:blip r:embed="rId7">
            <a:alphaModFix/>
          </a:blip>
          <a:srcRect b="0" l="0" r="0" t="12250"/>
          <a:stretch/>
        </p:blipFill>
        <p:spPr>
          <a:xfrm>
            <a:off x="416400" y="1572352"/>
            <a:ext cx="3310476" cy="1796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40"/>
          <p:cNvSpPr/>
          <p:nvPr/>
        </p:nvSpPr>
        <p:spPr>
          <a:xfrm>
            <a:off x="1357025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40"/>
          <p:cNvSpPr/>
          <p:nvPr/>
        </p:nvSpPr>
        <p:spPr>
          <a:xfrm>
            <a:off x="2656963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40"/>
          <p:cNvSpPr/>
          <p:nvPr/>
        </p:nvSpPr>
        <p:spPr>
          <a:xfrm>
            <a:off x="3857100" y="43080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6F3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0"/>
          <p:cNvSpPr/>
          <p:nvPr/>
        </p:nvSpPr>
        <p:spPr>
          <a:xfrm>
            <a:off x="1438125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40"/>
          <p:cNvSpPr/>
          <p:nvPr/>
        </p:nvSpPr>
        <p:spPr>
          <a:xfrm>
            <a:off x="2738063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40"/>
          <p:cNvSpPr/>
          <p:nvPr/>
        </p:nvSpPr>
        <p:spPr>
          <a:xfrm>
            <a:off x="3938200" y="43483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s028.text.1099"/>
          <p:cNvSpPr txBox="1"/>
          <p:nvPr/>
        </p:nvSpPr>
        <p:spPr>
          <a:xfrm>
            <a:off x="13719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Todas las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0" name="s028.text.1100"/>
          <p:cNvSpPr txBox="1"/>
          <p:nvPr/>
        </p:nvSpPr>
        <p:spPr>
          <a:xfrm>
            <a:off x="1470251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1" name="Google Shape;1101;p40"/>
          <p:cNvSpPr/>
          <p:nvPr/>
        </p:nvSpPr>
        <p:spPr>
          <a:xfrm>
            <a:off x="5138325" y="4295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40"/>
          <p:cNvSpPr/>
          <p:nvPr/>
        </p:nvSpPr>
        <p:spPr>
          <a:xfrm>
            <a:off x="5219425" y="43359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s028.text.1103"/>
          <p:cNvSpPr txBox="1"/>
          <p:nvPr/>
        </p:nvSpPr>
        <p:spPr>
          <a:xfrm>
            <a:off x="285252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6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4" name="s028.text.1104"/>
          <p:cNvSpPr txBox="1"/>
          <p:nvPr/>
        </p:nvSpPr>
        <p:spPr>
          <a:xfrm>
            <a:off x="280067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99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5" name="s028.text.1105"/>
          <p:cNvSpPr txBox="1"/>
          <p:nvPr/>
        </p:nvSpPr>
        <p:spPr>
          <a:xfrm>
            <a:off x="4026075" y="4308025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5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6" name="s028.text.1106"/>
          <p:cNvSpPr txBox="1"/>
          <p:nvPr/>
        </p:nvSpPr>
        <p:spPr>
          <a:xfrm>
            <a:off x="3974226" y="45075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47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7" name="s028.text.1107"/>
          <p:cNvSpPr txBox="1"/>
          <p:nvPr/>
        </p:nvSpPr>
        <p:spPr>
          <a:xfrm>
            <a:off x="5290000" y="4295550"/>
            <a:ext cx="115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2"/>
                </a:solidFill>
              </a:rPr>
              <a:t>≤  4 Cámaras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08" name="s028.text.1108"/>
          <p:cNvSpPr txBox="1"/>
          <p:nvPr/>
        </p:nvSpPr>
        <p:spPr>
          <a:xfrm>
            <a:off x="5238151" y="449510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0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28/72</a:t>
            </a:r>
            <a:endParaRPr lang="es-AR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3" name="Google Shape;1113;p41" title="A2_3D_20260609_142649.png"/>
          <p:cNvPicPr preferRelativeResize="0"/>
          <p:nvPr/>
        </p:nvPicPr>
        <p:blipFill rotWithShape="1">
          <a:blip r:embed="rId3">
            <a:alphaModFix/>
          </a:blip>
          <a:srcRect b="0" l="0" r="0" t="30011"/>
          <a:stretch/>
        </p:blipFill>
        <p:spPr>
          <a:xfrm>
            <a:off x="1073575" y="1744024"/>
            <a:ext cx="7498952" cy="3157302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41"/>
          <p:cNvSpPr/>
          <p:nvPr/>
        </p:nvSpPr>
        <p:spPr>
          <a:xfrm>
            <a:off x="3663182" y="423580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5" name="Google Shape;1115;p41"/>
          <p:cNvSpPr/>
          <p:nvPr/>
        </p:nvSpPr>
        <p:spPr>
          <a:xfrm>
            <a:off x="3289076" y="3507385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6" name="Google Shape;1116;p41"/>
          <p:cNvSpPr/>
          <p:nvPr/>
        </p:nvSpPr>
        <p:spPr>
          <a:xfrm>
            <a:off x="4708493" y="4388728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7" name="Google Shape;1117;p41"/>
          <p:cNvSpPr/>
          <p:nvPr/>
        </p:nvSpPr>
        <p:spPr>
          <a:xfrm>
            <a:off x="4587994" y="2938524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18" name="s029.text.1118"/>
          <p:cNvSpPr txBox="1"/>
          <p:nvPr/>
        </p:nvSpPr>
        <p:spPr>
          <a:xfrm>
            <a:off x="3648769" y="418113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1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19" name="s029.text.1119"/>
          <p:cNvSpPr txBox="1"/>
          <p:nvPr/>
        </p:nvSpPr>
        <p:spPr>
          <a:xfrm>
            <a:off x="3274663" y="3452631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2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0" name="s029.text.1120"/>
          <p:cNvSpPr txBox="1"/>
          <p:nvPr/>
        </p:nvSpPr>
        <p:spPr>
          <a:xfrm>
            <a:off x="4679675" y="4334049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3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21" name="s029.text.1121"/>
          <p:cNvSpPr txBox="1"/>
          <p:nvPr/>
        </p:nvSpPr>
        <p:spPr>
          <a:xfrm>
            <a:off x="4547052" y="2883770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cxnSp>
        <p:nvCxnSpPr>
          <p:cNvPr id="1122" name="Google Shape;1122;p41"/>
          <p:cNvCxnSpPr/>
          <p:nvPr/>
        </p:nvCxnSpPr>
        <p:spPr>
          <a:xfrm rot="10800000">
            <a:off x="3187284" y="3815275"/>
            <a:ext cx="1509300" cy="9012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3" name="Google Shape;1123;p41"/>
          <p:cNvCxnSpPr/>
          <p:nvPr/>
        </p:nvCxnSpPr>
        <p:spPr>
          <a:xfrm>
            <a:off x="3289067" y="3684987"/>
            <a:ext cx="554700" cy="3261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4" name="Google Shape;1124;p41"/>
          <p:cNvCxnSpPr>
            <a:endCxn id="1120" idx="2"/>
          </p:cNvCxnSpPr>
          <p:nvPr/>
        </p:nvCxnSpPr>
        <p:spPr>
          <a:xfrm>
            <a:off x="4097225" y="4164549"/>
            <a:ext cx="690300" cy="4566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5" name="Google Shape;1125;p41"/>
          <p:cNvCxnSpPr>
            <a:stCxn id="1120" idx="2"/>
          </p:cNvCxnSpPr>
          <p:nvPr/>
        </p:nvCxnSpPr>
        <p:spPr>
          <a:xfrm flipH="1" rot="10800000">
            <a:off x="4787525" y="4228149"/>
            <a:ext cx="665100" cy="393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6" name="Google Shape;1126;p41"/>
          <p:cNvCxnSpPr/>
          <p:nvPr/>
        </p:nvCxnSpPr>
        <p:spPr>
          <a:xfrm rot="10800000">
            <a:off x="5310023" y="4133925"/>
            <a:ext cx="143700" cy="1020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27" name="Google Shape;1127;p41"/>
          <p:cNvCxnSpPr/>
          <p:nvPr/>
        </p:nvCxnSpPr>
        <p:spPr>
          <a:xfrm>
            <a:off x="5225218" y="4046227"/>
            <a:ext cx="279600" cy="154500"/>
          </a:xfrm>
          <a:prstGeom prst="straightConnector1">
            <a:avLst/>
          </a:prstGeom>
          <a:noFill/>
          <a:ln cap="flat" cmpd="sng" w="17750">
            <a:solidFill>
              <a:srgbClr val="38761D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1128" name="Google Shape;1128;p41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p41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41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1" name="s029.text.113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 y R6 | Producto:Girasol</a:t>
            </a:r>
            <a:endParaRPr b="1" sz="180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2" name="Google Shape;1132;p41"/>
          <p:cNvSpPr/>
          <p:nvPr/>
        </p:nvSpPr>
        <p:spPr>
          <a:xfrm>
            <a:off x="3864046" y="2766525"/>
            <a:ext cx="1654075" cy="1597450"/>
          </a:xfrm>
          <a:custGeom>
            <a:rect b="b" l="l" r="r" t="t"/>
            <a:pathLst>
              <a:path extrusionOk="0" h="63898" w="66163">
                <a:moveTo>
                  <a:pt x="54187" y="51671"/>
                </a:moveTo>
                <a:cubicBezTo>
                  <a:pt x="51816" y="53038"/>
                  <a:pt x="43308" y="57968"/>
                  <a:pt x="39959" y="59870"/>
                </a:cubicBezTo>
                <a:cubicBezTo>
                  <a:pt x="36610" y="61772"/>
                  <a:pt x="36383" y="62670"/>
                  <a:pt x="34092" y="63085"/>
                </a:cubicBezTo>
                <a:cubicBezTo>
                  <a:pt x="31801" y="63500"/>
                  <a:pt x="31560" y="65014"/>
                  <a:pt x="26215" y="62361"/>
                </a:cubicBezTo>
                <a:cubicBezTo>
                  <a:pt x="20870" y="59709"/>
                  <a:pt x="6039" y="51926"/>
                  <a:pt x="2020" y="47170"/>
                </a:cubicBezTo>
                <a:cubicBezTo>
                  <a:pt x="-1999" y="42414"/>
                  <a:pt x="1043" y="36801"/>
                  <a:pt x="2101" y="33827"/>
                </a:cubicBezTo>
                <a:cubicBezTo>
                  <a:pt x="3159" y="30853"/>
                  <a:pt x="2677" y="32728"/>
                  <a:pt x="8370" y="29325"/>
                </a:cubicBezTo>
                <a:cubicBezTo>
                  <a:pt x="14064" y="25922"/>
                  <a:pt x="27903" y="18152"/>
                  <a:pt x="36262" y="13410"/>
                </a:cubicBezTo>
                <a:cubicBezTo>
                  <a:pt x="44622" y="8668"/>
                  <a:pt x="53544" y="2921"/>
                  <a:pt x="58527" y="871"/>
                </a:cubicBezTo>
                <a:cubicBezTo>
                  <a:pt x="63511" y="-1179"/>
                  <a:pt x="64890" y="1072"/>
                  <a:pt x="66163" y="1112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3" name="Google Shape;1133;p41"/>
          <p:cNvSpPr/>
          <p:nvPr/>
        </p:nvSpPr>
        <p:spPr>
          <a:xfrm>
            <a:off x="5548275" y="2918925"/>
            <a:ext cx="826075" cy="857825"/>
          </a:xfrm>
          <a:custGeom>
            <a:rect b="b" l="l" r="r" t="t"/>
            <a:pathLst>
              <a:path extrusionOk="0" h="34313" w="33043">
                <a:moveTo>
                  <a:pt x="7475" y="0"/>
                </a:moveTo>
                <a:cubicBezTo>
                  <a:pt x="10128" y="1447"/>
                  <a:pt x="19518" y="6256"/>
                  <a:pt x="23390" y="8681"/>
                </a:cubicBezTo>
                <a:cubicBezTo>
                  <a:pt x="27262" y="11106"/>
                  <a:pt x="29178" y="12967"/>
                  <a:pt x="30705" y="14548"/>
                </a:cubicBezTo>
                <a:cubicBezTo>
                  <a:pt x="32232" y="16129"/>
                  <a:pt x="33880" y="16531"/>
                  <a:pt x="32554" y="18165"/>
                </a:cubicBezTo>
                <a:cubicBezTo>
                  <a:pt x="31228" y="19800"/>
                  <a:pt x="25842" y="22587"/>
                  <a:pt x="22747" y="24355"/>
                </a:cubicBezTo>
                <a:cubicBezTo>
                  <a:pt x="19652" y="26124"/>
                  <a:pt x="16759" y="27209"/>
                  <a:pt x="13986" y="28776"/>
                </a:cubicBezTo>
                <a:cubicBezTo>
                  <a:pt x="11213" y="30343"/>
                  <a:pt x="8440" y="32848"/>
                  <a:pt x="6109" y="33759"/>
                </a:cubicBezTo>
                <a:cubicBezTo>
                  <a:pt x="3778" y="34670"/>
                  <a:pt x="1018" y="34161"/>
                  <a:pt x="0" y="34241"/>
                </a:cubicBezTo>
              </a:path>
            </a:pathLst>
          </a:cu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1134" name="Google Shape;1134;p41"/>
          <p:cNvCxnSpPr/>
          <p:nvPr/>
        </p:nvCxnSpPr>
        <p:spPr>
          <a:xfrm flipH="1" rot="10800000">
            <a:off x="5240825" y="3853375"/>
            <a:ext cx="180900" cy="1989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5" name="Google Shape;1135;p41"/>
          <p:cNvCxnSpPr/>
          <p:nvPr/>
        </p:nvCxnSpPr>
        <p:spPr>
          <a:xfrm>
            <a:off x="5517125" y="2801350"/>
            <a:ext cx="215100" cy="122700"/>
          </a:xfrm>
          <a:prstGeom prst="straightConnector1">
            <a:avLst/>
          </a:prstGeom>
          <a:noFill/>
          <a:ln cap="flat" cmpd="sng" w="19050">
            <a:solidFill>
              <a:srgbClr val="036A0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6" name="Google Shape;1136;p41"/>
          <p:cNvSpPr/>
          <p:nvPr/>
        </p:nvSpPr>
        <p:spPr>
          <a:xfrm>
            <a:off x="5891819" y="28316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7" name="s029.text.1137"/>
          <p:cNvSpPr txBox="1"/>
          <p:nvPr/>
        </p:nvSpPr>
        <p:spPr>
          <a:xfrm>
            <a:off x="5853464" y="277694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5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38" name="Google Shape;1138;p41"/>
          <p:cNvSpPr/>
          <p:nvPr/>
        </p:nvSpPr>
        <p:spPr>
          <a:xfrm>
            <a:off x="5379719" y="3942399"/>
            <a:ext cx="186900" cy="177600"/>
          </a:xfrm>
          <a:prstGeom prst="ellipse">
            <a:avLst/>
          </a:prstGeom>
          <a:solidFill>
            <a:srgbClr val="F4CCCC"/>
          </a:solidFill>
          <a:ln cap="flat" cmpd="sng" w="8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225" lIns="85225" spcFirstLastPara="1" rIns="85225" wrap="square" tIns="85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5"/>
          </a:p>
        </p:txBody>
      </p:sp>
      <p:sp>
        <p:nvSpPr>
          <p:cNvPr id="1139" name="s029.text.1139"/>
          <p:cNvSpPr txBox="1"/>
          <p:nvPr/>
        </p:nvSpPr>
        <p:spPr>
          <a:xfrm>
            <a:off x="5350927" y="3888795"/>
            <a:ext cx="2157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85225" lIns="85225" spcFirstLastPara="1" rIns="85225" wrap="square" tIns="852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46">
                <a:solidFill>
                  <a:schemeClr val="dk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</a:t>
            </a:r>
            <a:endParaRPr sz="746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40" name="Google Shape;1140;p41"/>
          <p:cNvSpPr txBox="1"/>
          <p:nvPr/>
        </p:nvSpPr>
        <p:spPr>
          <a:xfrm>
            <a:off x="3505971" y="1132150"/>
            <a:ext cx="5472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3325" lIns="83325" spcFirstLastPara="1" rIns="83325" wrap="square" tIns="8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7">
              <a:solidFill>
                <a:srgbClr val="0B1F60"/>
              </a:solidFill>
              <a:highlight>
                <a:srgbClr val="FDFDFD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1" name="Google Shape;1141;p41"/>
          <p:cNvSpPr/>
          <p:nvPr/>
        </p:nvSpPr>
        <p:spPr>
          <a:xfrm>
            <a:off x="605905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2" name="Google Shape;1142;p41"/>
          <p:cNvSpPr/>
          <p:nvPr/>
        </p:nvSpPr>
        <p:spPr>
          <a:xfrm>
            <a:off x="520425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3" name="s029.text.1143"/>
          <p:cNvSpPr txBox="1"/>
          <p:nvPr/>
        </p:nvSpPr>
        <p:spPr>
          <a:xfrm>
            <a:off x="520425" y="983277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1 : Ingreso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4" name="s029.text.1144"/>
          <p:cNvSpPr txBox="1"/>
          <p:nvPr/>
        </p:nvSpPr>
        <p:spPr>
          <a:xfrm>
            <a:off x="542145" y="1210254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ingreso → Preingreso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5" name="Google Shape;1145;p41"/>
          <p:cNvSpPr/>
          <p:nvPr/>
        </p:nvSpPr>
        <p:spPr>
          <a:xfrm>
            <a:off x="2062835" y="920125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6" name="Google Shape;1146;p41"/>
          <p:cNvSpPr/>
          <p:nvPr/>
        </p:nvSpPr>
        <p:spPr>
          <a:xfrm>
            <a:off x="1977355" y="920125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47" name="s029.text.1147"/>
          <p:cNvSpPr txBox="1"/>
          <p:nvPr/>
        </p:nvSpPr>
        <p:spPr>
          <a:xfrm>
            <a:off x="1977355" y="962439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2 :Espera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8" name="s029.text.1148"/>
          <p:cNvSpPr txBox="1"/>
          <p:nvPr/>
        </p:nvSpPr>
        <p:spPr>
          <a:xfrm>
            <a:off x="1999075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Preingreso→ Calada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9" name="Google Shape;1149;p41"/>
          <p:cNvSpPr/>
          <p:nvPr/>
        </p:nvSpPr>
        <p:spPr>
          <a:xfrm>
            <a:off x="3463461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0" name="Google Shape;1150;p41"/>
          <p:cNvSpPr/>
          <p:nvPr/>
        </p:nvSpPr>
        <p:spPr>
          <a:xfrm>
            <a:off x="3377981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1" name="s029.text.1151"/>
          <p:cNvSpPr txBox="1"/>
          <p:nvPr/>
        </p:nvSpPr>
        <p:spPr>
          <a:xfrm>
            <a:off x="3377979" y="962450"/>
            <a:ext cx="11124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3 : P.Bruto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2" name="s029.text.1152"/>
          <p:cNvSpPr txBox="1"/>
          <p:nvPr/>
        </p:nvSpPr>
        <p:spPr>
          <a:xfrm>
            <a:off x="3399701" y="1189425"/>
            <a:ext cx="10953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Calada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3" name="Google Shape;1153;p41"/>
          <p:cNvSpPr/>
          <p:nvPr/>
        </p:nvSpPr>
        <p:spPr>
          <a:xfrm>
            <a:off x="4813627" y="920136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4" name="Google Shape;1154;p41"/>
          <p:cNvSpPr/>
          <p:nvPr/>
        </p:nvSpPr>
        <p:spPr>
          <a:xfrm>
            <a:off x="4728148" y="920136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5" name="s029.text.1155"/>
          <p:cNvSpPr txBox="1"/>
          <p:nvPr/>
        </p:nvSpPr>
        <p:spPr>
          <a:xfrm>
            <a:off x="4728150" y="962450"/>
            <a:ext cx="13857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4 : Playa 3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6" name="s029.text.1156"/>
          <p:cNvSpPr txBox="1"/>
          <p:nvPr/>
        </p:nvSpPr>
        <p:spPr>
          <a:xfrm>
            <a:off x="4749868" y="1189428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Balanza → Playa 3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7" name="Google Shape;1157;p41"/>
          <p:cNvSpPr/>
          <p:nvPr/>
        </p:nvSpPr>
        <p:spPr>
          <a:xfrm>
            <a:off x="61637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8" name="Google Shape;1158;p41"/>
          <p:cNvSpPr/>
          <p:nvPr/>
        </p:nvSpPr>
        <p:spPr>
          <a:xfrm>
            <a:off x="60783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59" name="s029.text.1159"/>
          <p:cNvSpPr txBox="1"/>
          <p:nvPr/>
        </p:nvSpPr>
        <p:spPr>
          <a:xfrm>
            <a:off x="60783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5: Descarga 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0" name="s029.text.1160"/>
          <p:cNvSpPr txBox="1"/>
          <p:nvPr/>
        </p:nvSpPr>
        <p:spPr>
          <a:xfrm>
            <a:off x="61000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Playa 3 → Volcable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1" name="Google Shape;1161;p41"/>
          <p:cNvSpPr/>
          <p:nvPr/>
        </p:nvSpPr>
        <p:spPr>
          <a:xfrm>
            <a:off x="7542694" y="922700"/>
            <a:ext cx="1031400" cy="667500"/>
          </a:xfrm>
          <a:prstGeom prst="round1Rect">
            <a:avLst>
              <a:gd fmla="val 16667" name="adj"/>
            </a:avLst>
          </a:prstGeom>
          <a:solidFill>
            <a:schemeClr val="accen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2" name="Google Shape;1162;p41"/>
          <p:cNvSpPr/>
          <p:nvPr/>
        </p:nvSpPr>
        <p:spPr>
          <a:xfrm>
            <a:off x="7457214" y="922700"/>
            <a:ext cx="1031400" cy="608100"/>
          </a:xfrm>
          <a:prstGeom prst="round1Rect">
            <a:avLst>
              <a:gd fmla="val 16667" name="adj"/>
            </a:avLst>
          </a:prstGeom>
          <a:solidFill>
            <a:schemeClr val="lt1"/>
          </a:solidFill>
          <a:ln cap="flat" cmpd="sng" w="10450">
            <a:solidFill>
              <a:srgbClr val="0924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425" lIns="100425" spcFirstLastPara="1" rIns="100425" wrap="square" tIns="100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38"/>
          </a:p>
        </p:txBody>
      </p:sp>
      <p:sp>
        <p:nvSpPr>
          <p:cNvPr id="1163" name="s029.text.1163"/>
          <p:cNvSpPr txBox="1"/>
          <p:nvPr/>
        </p:nvSpPr>
        <p:spPr>
          <a:xfrm>
            <a:off x="7457214" y="965014"/>
            <a:ext cx="2709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6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Tramo 6: P. Tara</a:t>
            </a:r>
            <a:endParaRPr b="1" sz="76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4" name="s029.text.1164"/>
          <p:cNvSpPr txBox="1"/>
          <p:nvPr/>
        </p:nvSpPr>
        <p:spPr>
          <a:xfrm>
            <a:off x="7478934" y="1191991"/>
            <a:ext cx="2709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425" lIns="100425" spcFirstLastPara="1" rIns="100425" wrap="square" tIns="100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59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Volcable → Balanza</a:t>
            </a:r>
            <a:endParaRPr sz="659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5" name="s029.text.1165"/>
          <p:cNvSpPr txBox="1"/>
          <p:nvPr/>
        </p:nvSpPr>
        <p:spPr>
          <a:xfrm>
            <a:off x="16166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6" name="s029.text.1166"/>
          <p:cNvSpPr txBox="1"/>
          <p:nvPr/>
        </p:nvSpPr>
        <p:spPr>
          <a:xfrm>
            <a:off x="299207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7" name="s029.text.1167"/>
          <p:cNvSpPr txBox="1"/>
          <p:nvPr/>
        </p:nvSpPr>
        <p:spPr>
          <a:xfrm>
            <a:off x="4395700" y="1019925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8" name="s029.text.1168"/>
          <p:cNvSpPr txBox="1"/>
          <p:nvPr/>
        </p:nvSpPr>
        <p:spPr>
          <a:xfrm>
            <a:off x="57710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9" name="s029.text.1169"/>
          <p:cNvSpPr txBox="1"/>
          <p:nvPr/>
        </p:nvSpPr>
        <p:spPr>
          <a:xfrm>
            <a:off x="7114325" y="1019938"/>
            <a:ext cx="3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B1F60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 b="1" sz="2000">
              <a:solidFill>
                <a:srgbClr val="0B1F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17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29/72</a:t>
            </a:r>
            <a:endParaRPr lang="es-AR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4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4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42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77" name="s030.text.1177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 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178" name="s030.text.1178"/>
          <p:cNvSpPr txBox="1"/>
          <p:nvPr/>
        </p:nvSpPr>
        <p:spPr>
          <a:xfrm>
            <a:off x="2172375" y="2778075"/>
            <a:ext cx="59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133</a:t>
            </a:r>
            <a:endParaRPr b="1" sz="1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9" name="Google Shape;1179;p42"/>
          <p:cNvSpPr/>
          <p:nvPr/>
        </p:nvSpPr>
        <p:spPr>
          <a:xfrm>
            <a:off x="1583725" y="3191575"/>
            <a:ext cx="2160300" cy="122100"/>
          </a:xfrm>
          <a:prstGeom prst="rect">
            <a:avLst/>
          </a:prstGeom>
          <a:solidFill>
            <a:srgbClr val="E0666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42"/>
          <p:cNvSpPr/>
          <p:nvPr/>
        </p:nvSpPr>
        <p:spPr>
          <a:xfrm>
            <a:off x="1292900" y="3191600"/>
            <a:ext cx="308100" cy="122100"/>
          </a:xfrm>
          <a:prstGeom prst="rect">
            <a:avLst/>
          </a:prstGeom>
          <a:solidFill>
            <a:srgbClr val="3C78D8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1" name="Google Shape;1181;p42"/>
          <p:cNvCxnSpPr/>
          <p:nvPr/>
        </p:nvCxnSpPr>
        <p:spPr>
          <a:xfrm>
            <a:off x="247800" y="3472325"/>
            <a:ext cx="8648400" cy="23400"/>
          </a:xfrm>
          <a:prstGeom prst="straightConnector1">
            <a:avLst/>
          </a:prstGeom>
          <a:noFill/>
          <a:ln cap="flat" cmpd="sng" w="28575">
            <a:solidFill>
              <a:srgbClr val="595959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42"/>
          <p:cNvSpPr/>
          <p:nvPr/>
        </p:nvSpPr>
        <p:spPr>
          <a:xfrm>
            <a:off x="142810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42"/>
          <p:cNvSpPr/>
          <p:nvPr/>
        </p:nvSpPr>
        <p:spPr>
          <a:xfrm>
            <a:off x="2215950" y="136960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84" name="Google Shape;1184;p42"/>
          <p:cNvCxnSpPr>
            <a:stCxn id="1182" idx="6"/>
            <a:endCxn id="1183" idx="2"/>
          </p:cNvCxnSpPr>
          <p:nvPr/>
        </p:nvCxnSpPr>
        <p:spPr>
          <a:xfrm>
            <a:off x="1605100" y="145825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5" name="Google Shape;1185;p42"/>
          <p:cNvCxnSpPr/>
          <p:nvPr/>
        </p:nvCxnSpPr>
        <p:spPr>
          <a:xfrm>
            <a:off x="2395625" y="1455250"/>
            <a:ext cx="1121400" cy="3000"/>
          </a:xfrm>
          <a:prstGeom prst="straightConnector1">
            <a:avLst/>
          </a:prstGeom>
          <a:noFill/>
          <a:ln cap="flat" cmpd="sng" w="28575">
            <a:solidFill>
              <a:srgbClr val="D30D0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86" name="Google Shape;1186;p42"/>
          <p:cNvSpPr/>
          <p:nvPr/>
        </p:nvSpPr>
        <p:spPr>
          <a:xfrm>
            <a:off x="3533300" y="1379675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s030.text.1187"/>
          <p:cNvSpPr txBox="1"/>
          <p:nvPr/>
        </p:nvSpPr>
        <p:spPr>
          <a:xfrm>
            <a:off x="1536375" y="111431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Ingreso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8" name="s030.text.1188"/>
          <p:cNvSpPr txBox="1"/>
          <p:nvPr/>
        </p:nvSpPr>
        <p:spPr>
          <a:xfrm>
            <a:off x="2026425" y="14974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Pre-ingr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9" name="s030.text.1189"/>
          <p:cNvSpPr txBox="1"/>
          <p:nvPr/>
        </p:nvSpPr>
        <p:spPr>
          <a:xfrm>
            <a:off x="1242525" y="1485300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ingreso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0" name="s030.text.1190"/>
          <p:cNvSpPr txBox="1"/>
          <p:nvPr/>
        </p:nvSpPr>
        <p:spPr>
          <a:xfrm>
            <a:off x="3084800" y="15203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Calada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1" name="s030.text.1191"/>
          <p:cNvSpPr txBox="1"/>
          <p:nvPr/>
        </p:nvSpPr>
        <p:spPr>
          <a:xfrm>
            <a:off x="2615250" y="111432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Playa 1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2" name="s030.text.1192"/>
          <p:cNvSpPr txBox="1"/>
          <p:nvPr/>
        </p:nvSpPr>
        <p:spPr>
          <a:xfrm>
            <a:off x="4068300" y="2141435"/>
            <a:ext cx="12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4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382 </a:t>
            </a:r>
            <a:r>
              <a:rPr b="1" lang="es" sz="13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1" sz="13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3" name="s030.text.1193"/>
          <p:cNvSpPr txBox="1"/>
          <p:nvPr/>
        </p:nvSpPr>
        <p:spPr>
          <a:xfrm>
            <a:off x="1292900" y="2826438"/>
            <a:ext cx="43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4" name="s030.text.1194"/>
          <p:cNvSpPr txBox="1"/>
          <p:nvPr/>
        </p:nvSpPr>
        <p:spPr>
          <a:xfrm>
            <a:off x="4169975" y="19806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092454"/>
                </a:solidFill>
                <a:highlight>
                  <a:srgbClr val="FEFEFE"/>
                </a:highlight>
                <a:latin typeface="Inter ExtraBold"/>
                <a:ea typeface="Inter ExtraBold"/>
                <a:cs typeface="Inter ExtraBold"/>
                <a:sym typeface="Inter ExtraBold"/>
              </a:rPr>
              <a:t>Tiempo Total</a:t>
            </a:r>
            <a:endParaRPr sz="841">
              <a:solidFill>
                <a:srgbClr val="092454"/>
              </a:solidFill>
              <a:highlight>
                <a:srgbClr val="FEFEFE"/>
              </a:highlight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195" name="Google Shape;1195;p42"/>
          <p:cNvSpPr/>
          <p:nvPr/>
        </p:nvSpPr>
        <p:spPr>
          <a:xfrm>
            <a:off x="43578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6" name="Google Shape;1196;p42"/>
          <p:cNvCxnSpPr>
            <a:endCxn id="1195" idx="2"/>
          </p:cNvCxnSpPr>
          <p:nvPr/>
        </p:nvCxnSpPr>
        <p:spPr>
          <a:xfrm>
            <a:off x="3715850" y="1457900"/>
            <a:ext cx="642000" cy="3000"/>
          </a:xfrm>
          <a:prstGeom prst="straightConnector1">
            <a:avLst/>
          </a:prstGeom>
          <a:noFill/>
          <a:ln cap="flat" cmpd="sng" w="28575">
            <a:solidFill>
              <a:srgbClr val="97CB9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7" name="Google Shape;1197;p42"/>
          <p:cNvSpPr/>
          <p:nvPr/>
        </p:nvSpPr>
        <p:spPr>
          <a:xfrm>
            <a:off x="51457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8" name="Google Shape;1198;p42"/>
          <p:cNvCxnSpPr>
            <a:endCxn id="1197" idx="2"/>
          </p:cNvCxnSpPr>
          <p:nvPr/>
        </p:nvCxnSpPr>
        <p:spPr>
          <a:xfrm>
            <a:off x="4534950" y="1460900"/>
            <a:ext cx="610800" cy="0"/>
          </a:xfrm>
          <a:prstGeom prst="straightConnector1">
            <a:avLst/>
          </a:prstGeom>
          <a:noFill/>
          <a:ln cap="flat" cmpd="sng" w="28575">
            <a:solidFill>
              <a:srgbClr val="BE91E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9" name="Google Shape;1199;p42"/>
          <p:cNvSpPr/>
          <p:nvPr/>
        </p:nvSpPr>
        <p:spPr>
          <a:xfrm>
            <a:off x="636430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0" name="Google Shape;1200;p42"/>
          <p:cNvCxnSpPr>
            <a:stCxn id="1197" idx="6"/>
            <a:endCxn id="1199" idx="2"/>
          </p:cNvCxnSpPr>
          <p:nvPr/>
        </p:nvCxnSpPr>
        <p:spPr>
          <a:xfrm>
            <a:off x="5322750" y="1460900"/>
            <a:ext cx="1041600" cy="0"/>
          </a:xfrm>
          <a:prstGeom prst="straightConnector1">
            <a:avLst/>
          </a:prstGeom>
          <a:noFill/>
          <a:ln cap="flat" cmpd="sng" w="28575">
            <a:solidFill>
              <a:srgbClr val="FDBB3A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42"/>
          <p:cNvSpPr/>
          <p:nvPr/>
        </p:nvSpPr>
        <p:spPr>
          <a:xfrm>
            <a:off x="7509350" y="1372250"/>
            <a:ext cx="177000" cy="1773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2" name="Google Shape;1202;p42"/>
          <p:cNvCxnSpPr>
            <a:stCxn id="1199" idx="6"/>
            <a:endCxn id="1201" idx="2"/>
          </p:cNvCxnSpPr>
          <p:nvPr/>
        </p:nvCxnSpPr>
        <p:spPr>
          <a:xfrm>
            <a:off x="6541300" y="1460900"/>
            <a:ext cx="968100" cy="0"/>
          </a:xfrm>
          <a:prstGeom prst="straightConnector1">
            <a:avLst/>
          </a:prstGeom>
          <a:noFill/>
          <a:ln cap="flat" cmpd="sng" w="28575">
            <a:solidFill>
              <a:srgbClr val="6BC5C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s030.text.1203"/>
          <p:cNvSpPr txBox="1"/>
          <p:nvPr/>
        </p:nvSpPr>
        <p:spPr>
          <a:xfrm>
            <a:off x="4140275" y="150822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  Balanza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4" name="s030.text.1204"/>
          <p:cNvSpPr txBox="1"/>
          <p:nvPr/>
        </p:nvSpPr>
        <p:spPr>
          <a:xfrm>
            <a:off x="4977450" y="1508225"/>
            <a:ext cx="8865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Playa 3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5" name="s030.text.1205"/>
          <p:cNvSpPr txBox="1"/>
          <p:nvPr/>
        </p:nvSpPr>
        <p:spPr>
          <a:xfrm>
            <a:off x="6212875" y="1508225"/>
            <a:ext cx="699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Volcable</a:t>
            </a: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6" name="s030.text.1206"/>
          <p:cNvSpPr txBox="1"/>
          <p:nvPr/>
        </p:nvSpPr>
        <p:spPr>
          <a:xfrm>
            <a:off x="7348575" y="1530375"/>
            <a:ext cx="6990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0125" lIns="80125" spcFirstLastPara="1" rIns="80125" wrap="square" tIns="80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  <a:t>Balanza </a:t>
            </a:r>
            <a:br>
              <a:rPr lang="es" sz="841">
                <a:solidFill>
                  <a:srgbClr val="3A4271"/>
                </a:solidFill>
                <a:highlight>
                  <a:srgbClr val="FEFEFE"/>
                </a:highlight>
                <a:latin typeface="Inter"/>
                <a:ea typeface="Inter"/>
                <a:cs typeface="Inter"/>
                <a:sym typeface="Inter"/>
              </a:rPr>
            </a:br>
            <a:endParaRPr sz="841">
              <a:solidFill>
                <a:srgbClr val="3A4271"/>
              </a:solidFill>
              <a:highlight>
                <a:srgbClr val="FEFEFE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7" name="s030.text.1207"/>
          <p:cNvSpPr txBox="1"/>
          <p:nvPr/>
        </p:nvSpPr>
        <p:spPr>
          <a:xfrm>
            <a:off x="3694125" y="1106899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P.Bruto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8" name="s030.text.1208"/>
          <p:cNvSpPr txBox="1"/>
          <p:nvPr/>
        </p:nvSpPr>
        <p:spPr>
          <a:xfrm>
            <a:off x="6544900" y="1090487"/>
            <a:ext cx="96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endParaRPr b="1" sz="8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9" name="s030.text.1209"/>
          <p:cNvSpPr txBox="1"/>
          <p:nvPr/>
        </p:nvSpPr>
        <p:spPr>
          <a:xfrm>
            <a:off x="5363075" y="1059563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Playa 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0" name="s030.text.1210"/>
          <p:cNvSpPr txBox="1"/>
          <p:nvPr/>
        </p:nvSpPr>
        <p:spPr>
          <a:xfrm>
            <a:off x="3819613" y="2797638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1" name="s030.text.1211"/>
          <p:cNvSpPr txBox="1"/>
          <p:nvPr/>
        </p:nvSpPr>
        <p:spPr>
          <a:xfrm>
            <a:off x="4454005" y="2797650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2" name="s030.text.1212"/>
          <p:cNvSpPr txBox="1"/>
          <p:nvPr/>
        </p:nvSpPr>
        <p:spPr>
          <a:xfrm>
            <a:off x="5947325" y="2826438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191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3" name="s030.text.1213"/>
          <p:cNvSpPr txBox="1"/>
          <p:nvPr/>
        </p:nvSpPr>
        <p:spPr>
          <a:xfrm>
            <a:off x="7414912" y="2852000"/>
            <a:ext cx="65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b="1" sz="18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963950" y="3197125"/>
            <a:ext cx="2446800" cy="111000"/>
          </a:xfrm>
          <a:prstGeom prst="rect">
            <a:avLst/>
          </a:prstGeom>
          <a:solidFill>
            <a:srgbClr val="FDBB3A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42"/>
          <p:cNvSpPr/>
          <p:nvPr/>
        </p:nvSpPr>
        <p:spPr>
          <a:xfrm>
            <a:off x="7399250" y="3197125"/>
            <a:ext cx="407700" cy="111000"/>
          </a:xfrm>
          <a:prstGeom prst="rect">
            <a:avLst/>
          </a:prstGeom>
          <a:solidFill>
            <a:srgbClr val="6BC5C6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42"/>
          <p:cNvSpPr/>
          <p:nvPr/>
        </p:nvSpPr>
        <p:spPr>
          <a:xfrm>
            <a:off x="4533777" y="3197125"/>
            <a:ext cx="463200" cy="111000"/>
          </a:xfrm>
          <a:prstGeom prst="rect">
            <a:avLst/>
          </a:prstGeom>
          <a:solidFill>
            <a:srgbClr val="BE91E0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42"/>
          <p:cNvSpPr/>
          <p:nvPr/>
        </p:nvSpPr>
        <p:spPr>
          <a:xfrm>
            <a:off x="3731075" y="3191600"/>
            <a:ext cx="802800" cy="122100"/>
          </a:xfrm>
          <a:prstGeom prst="rect">
            <a:avLst/>
          </a:prstGeom>
          <a:solidFill>
            <a:srgbClr val="97CB93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42"/>
          <p:cNvSpPr/>
          <p:nvPr/>
        </p:nvSpPr>
        <p:spPr>
          <a:xfrm>
            <a:off x="5383850" y="4019850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19" name="Google Shape;1219;p42"/>
          <p:cNvSpPr/>
          <p:nvPr/>
        </p:nvSpPr>
        <p:spPr>
          <a:xfrm>
            <a:off x="5488261" y="4071798"/>
            <a:ext cx="1272900" cy="7005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122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700" lIns="117700" spcFirstLastPara="1" rIns="117700" wrap="square" tIns="117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2"/>
          </a:p>
        </p:txBody>
      </p:sp>
      <p:sp>
        <p:nvSpPr>
          <p:cNvPr id="1220" name="s030.text.1220"/>
          <p:cNvSpPr txBox="1"/>
          <p:nvPr/>
        </p:nvSpPr>
        <p:spPr>
          <a:xfrm>
            <a:off x="5453404" y="4071798"/>
            <a:ext cx="1443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9">
                <a:solidFill>
                  <a:schemeClr val="dk2"/>
                </a:solidFill>
              </a:rPr>
              <a:t>Total de camiones</a:t>
            </a:r>
            <a:endParaRPr sz="1159">
              <a:solidFill>
                <a:schemeClr val="dk2"/>
              </a:solidFill>
            </a:endParaRPr>
          </a:p>
        </p:txBody>
      </p:sp>
      <p:sp>
        <p:nvSpPr>
          <p:cNvPr id="1221" name="s030.text.1221"/>
          <p:cNvSpPr txBox="1"/>
          <p:nvPr/>
        </p:nvSpPr>
        <p:spPr>
          <a:xfrm>
            <a:off x="5592674" y="4272412"/>
            <a:ext cx="10296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700" lIns="117700" spcFirstLastPara="1" rIns="117700" wrap="square" tIns="117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31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29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2" name="s030.text.1222"/>
          <p:cNvSpPr txBox="1"/>
          <p:nvPr/>
        </p:nvSpPr>
        <p:spPr>
          <a:xfrm>
            <a:off x="4435350" y="1094174"/>
            <a:ext cx="96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latin typeface="Inter"/>
                <a:ea typeface="Inter"/>
                <a:cs typeface="Inter"/>
                <a:sym typeface="Inter"/>
              </a:rPr>
              <a:t>ingreso P3</a:t>
            </a:r>
            <a:endParaRPr b="1"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22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30/72</a:t>
            </a:r>
            <a:endParaRPr lang="es-AR" sz="1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7" name="Google Shape;1227;p4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8" name="Google Shape;1228;p4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s031.text.122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Circuito R5+R6| Producto:Girasol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30" name="Google Shape;1230;p4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1" name="Google Shape;1231;p43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9000" y="852825"/>
            <a:ext cx="4282599" cy="2494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2" name="Google Shape;1232;p43" title="Gráfico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9125" y="883324"/>
            <a:ext cx="4404201" cy="256544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23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31/72</a:t>
            </a:r>
            <a:endParaRPr lang="es-AR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44"/>
          <p:cNvSpPr txBox="1"/>
          <p:nvPr/>
        </p:nvSpPr>
        <p:spPr>
          <a:xfrm>
            <a:off x="939075" y="498925"/>
            <a:ext cx="7873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38" name="Google Shape;1238;p44" title="Diseño sin título (1).png"/>
          <p:cNvPicPr preferRelativeResize="0"/>
          <p:nvPr/>
        </p:nvPicPr>
        <p:blipFill rotWithShape="1">
          <a:blip r:embed="rId3">
            <a:alphaModFix/>
          </a:blip>
          <a:srcRect b="51705" l="20359" r="19953" t="41314"/>
          <a:stretch/>
        </p:blipFill>
        <p:spPr>
          <a:xfrm>
            <a:off x="3812512" y="703475"/>
            <a:ext cx="1712275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9" name="s032.text.1239"/>
          <p:cNvSpPr txBox="1"/>
          <p:nvPr/>
        </p:nvSpPr>
        <p:spPr>
          <a:xfrm>
            <a:off x="345788" y="274500"/>
            <a:ext cx="861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22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Conclusiones</a:t>
            </a:r>
            <a:endParaRPr b="0" i="0" sz="28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40" name="Google Shape;1240;p44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45801" y="425400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44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8232" y="453300"/>
            <a:ext cx="381261" cy="344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s032.text.1242"/>
          <p:cNvSpPr txBox="1"/>
          <p:nvPr/>
        </p:nvSpPr>
        <p:spPr>
          <a:xfrm>
            <a:off x="660200" y="1065550"/>
            <a:ext cx="8016900" cy="56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El circuito </a:t>
            </a:r>
            <a:r>
              <a:rPr b="1" lang="es" sz="1100">
                <a:solidFill>
                  <a:schemeClr val="dk1"/>
                </a:solidFill>
              </a:rPr>
              <a:t>R5+R6 informa un tiempo medio de 382 minutos (6 h 22 min)</a:t>
            </a:r>
            <a:r>
              <a:rPr lang="es" sz="1100">
                <a:solidFill>
                  <a:schemeClr val="dk1"/>
                </a:solidFill>
              </a:rPr>
              <a:t>, frente a 319 minutos en la semana anterior: un aumento de </a:t>
            </a:r>
            <a:r>
              <a:rPr b="1" lang="es" sz="1100">
                <a:solidFill>
                  <a:schemeClr val="dk1"/>
                </a:solidFill>
              </a:rPr>
              <a:t>63 minutos (+19,7%)</a:t>
            </a:r>
            <a:r>
              <a:rPr lang="es" sz="1100">
                <a:solidFill>
                  <a:schemeClr val="dk1"/>
                </a:solidFill>
              </a:rPr>
              <a:t>. R3 registra </a:t>
            </a:r>
            <a:r>
              <a:rPr b="1" lang="es" sz="1100">
                <a:solidFill>
                  <a:schemeClr val="dk1"/>
                </a:solidFill>
              </a:rPr>
              <a:t>403 minutos (6 h 43 min)</a:t>
            </a:r>
            <a:r>
              <a:rPr lang="es" sz="1100">
                <a:solidFill>
                  <a:schemeClr val="dk1"/>
                </a:solidFill>
              </a:rPr>
              <a:t>, con una diferencia actual de </a:t>
            </a:r>
            <a:r>
              <a:rPr b="1" lang="es" sz="1100">
                <a:solidFill>
                  <a:schemeClr val="dk1"/>
                </a:solidFill>
              </a:rPr>
              <a:t>21 minutos</a:t>
            </a:r>
            <a:r>
              <a:rPr lang="es" sz="1100">
                <a:solidFill>
                  <a:schemeClr val="dk1"/>
                </a:solidFill>
              </a:rPr>
              <a:t> respecto de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R5+R6, la espera previa a la calada alcanza </a:t>
            </a:r>
            <a:r>
              <a:rPr b="1" lang="es" sz="1100">
                <a:solidFill>
                  <a:schemeClr val="dk1"/>
                </a:solidFill>
              </a:rPr>
              <a:t>133 minutos</a:t>
            </a:r>
            <a:r>
              <a:rPr lang="es" sz="1100">
                <a:solidFill>
                  <a:schemeClr val="dk1"/>
                </a:solidFill>
              </a:rPr>
              <a:t> y el tramo de Playa 3 a Volcable, </a:t>
            </a:r>
            <a:r>
              <a:rPr b="1" lang="es" sz="1100">
                <a:solidFill>
                  <a:schemeClr val="dk1"/>
                </a:solidFill>
              </a:rPr>
              <a:t>191 minutos</a:t>
            </a:r>
            <a:r>
              <a:rPr lang="es" sz="1100">
                <a:solidFill>
                  <a:schemeClr val="dk1"/>
                </a:solidFill>
              </a:rPr>
              <a:t>. Ambos suman </a:t>
            </a:r>
            <a:r>
              <a:rPr b="1" lang="es" sz="1100">
                <a:solidFill>
                  <a:schemeClr val="dk1"/>
                </a:solidFill>
              </a:rPr>
              <a:t>324 minutos</a:t>
            </a:r>
            <a:r>
              <a:rPr lang="es" sz="1100">
                <a:solidFill>
                  <a:schemeClr val="dk1"/>
                </a:solidFill>
              </a:rPr>
              <a:t>, aproximadamente el </a:t>
            </a:r>
            <a:r>
              <a:rPr b="1" lang="es" sz="1100">
                <a:solidFill>
                  <a:schemeClr val="dk1"/>
                </a:solidFill>
              </a:rPr>
              <a:t>85% del ciclo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En R3, esos mismos tramos representan </a:t>
            </a:r>
            <a:r>
              <a:rPr b="1" lang="es" sz="1100">
                <a:solidFill>
                  <a:schemeClr val="dk1"/>
                </a:solidFill>
              </a:rPr>
              <a:t>166 y 180 minutos</a:t>
            </a:r>
            <a:r>
              <a:rPr lang="es" sz="1100">
                <a:solidFill>
                  <a:schemeClr val="dk1"/>
                </a:solidFill>
              </a:rPr>
              <a:t>, respectivamente, y concentran aproximadamente el </a:t>
            </a:r>
            <a:r>
              <a:rPr b="1" lang="es" sz="1100">
                <a:solidFill>
                  <a:schemeClr val="dk1"/>
                </a:solidFill>
              </a:rPr>
              <a:t>86% del tiempo total</a:t>
            </a:r>
            <a:r>
              <a:rPr lang="es" sz="1100">
                <a:solidFill>
                  <a:schemeClr val="dk1"/>
                </a:solidFill>
              </a:rPr>
              <a:t>. R3 presenta mayor espera previa a la calada, mientras que el tramo de Playa 3 a Volcable es menor que en R5+R6.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100">
                <a:solidFill>
                  <a:schemeClr val="dk1"/>
                </a:solidFill>
              </a:rPr>
              <a:t>La prioridad es revisar la espera previa a la calada y la permanencia entre Playa 3 y el volcable. Este último tramo incluye espera y descarga, por lo que sus tiempos no permiten atribuir toda la demora al vuelco físico. Los volúmenes por circuito requieren conciliación antes de incorporarlos a la conclusión definitiva.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</p:txBody>
      </p:sp>
      <p:sp xmlns:p="http://schemas.openxmlformats.org/presentationml/2006/main" xmlns:a="http://schemas.openxmlformats.org/drawingml/2006/main">
        <p:nvSpPr>
          <p:cNvPr id="124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32/72</a:t>
            </a:r>
            <a:endParaRPr lang="es-AR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653"/>
            <a:ext cx="9144000" cy="5157153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s033.text.1248"/>
          <p:cNvSpPr txBox="1"/>
          <p:nvPr/>
        </p:nvSpPr>
        <p:spPr>
          <a:xfrm>
            <a:off x="3664725" y="1881325"/>
            <a:ext cx="1695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>
                <a:solidFill>
                  <a:srgbClr val="036A03"/>
                </a:solidFill>
                <a:latin typeface="Inter Medium"/>
                <a:ea typeface="Inter Medium"/>
                <a:cs typeface="Inter Medium"/>
                <a:sym typeface="Inter Medium"/>
              </a:rPr>
              <a:t>CALADO</a:t>
            </a:r>
            <a:endParaRPr sz="2300">
              <a:solidFill>
                <a:srgbClr val="036A03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 xmlns:p="http://schemas.openxmlformats.org/presentationml/2006/main" xmlns:a="http://schemas.openxmlformats.org/drawingml/2006/main">
        <p:nvSpPr>
          <p:cNvPr id="12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33/72</a:t>
            </a:r>
            <a:endParaRPr lang="es-AR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4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4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4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6" name="s034.text.125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257" name="Google Shape;125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785274"/>
            <a:ext cx="8839199" cy="414565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25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34/72</a:t>
            </a:r>
            <a:endParaRPr lang="es-AR" sz="10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2" name="Google Shape;1262;p47" title="Gráfico"/>
          <p:cNvPicPr preferRelativeResize="0"/>
          <p:nvPr/>
        </p:nvPicPr>
        <p:blipFill rotWithShape="1">
          <a:blip r:embed="rId3">
            <a:alphaModFix/>
          </a:blip>
          <a:srcRect b="0" l="0" r="0" t="10410"/>
          <a:stretch/>
        </p:blipFill>
        <p:spPr>
          <a:xfrm>
            <a:off x="2145725" y="1388549"/>
            <a:ext cx="4625775" cy="2562529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4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4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4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4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4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4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4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s035.text.127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2" name="s035.text.127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3" name="s035.text.127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4" name="s035.text.127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75" name="s035.text.127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50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6" name="s035.text.127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7" name="s035.text.127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2908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78" name="s035.text.1278"/>
          <p:cNvSpPr txBox="1"/>
          <p:nvPr/>
        </p:nvSpPr>
        <p:spPr>
          <a:xfrm>
            <a:off x="5023988" y="4115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148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9" name="Google Shape;1279;p47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47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1" name="Google Shape;1281;p47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2" name="s035.text.128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35/72</a:t>
            </a:r>
            <a:endParaRPr lang="es-AR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48" title="Puntuación lograd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3050" y="960625"/>
            <a:ext cx="7309251" cy="3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48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9" name="Google Shape;1289;p48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0" name="Google Shape;1290;p48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1" name="s036.text.129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29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36/72</a:t>
            </a:r>
            <a:endParaRPr lang="es-AR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6" name="Google Shape;1296;p4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4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8" name="Google Shape;1298;p49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9" name="s037.text.129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00" name="Google Shape;1300;p4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4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4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4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4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4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4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4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s037.text.130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09" name="s037.text.130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0" name="s037.text.131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1" name="s037.text.131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12" name="s037.text.131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3" name="s037.text.131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4" name="s037.text.1314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5" name="s037.text.131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586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16" name="Google Shape;131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2188" y="785274"/>
            <a:ext cx="5861024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37/72</a:t>
            </a:r>
            <a:endParaRPr lang="es-AR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1" name="Google Shape;1321;p5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5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3" name="Google Shape;1323;p50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4" name="s038.text.1324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25" name="Google Shape;1325;p50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7852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2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38/72</a:t>
            </a:r>
            <a:endParaRPr lang="es-AR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0" name="Google Shape;1330;p5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5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51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3" name="s039.text.133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34" name="Google Shape;1334;p5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5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5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5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5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5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5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5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s039.text.134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3" name="s039.text.134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4" name="s039.text.134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5" name="s039.text.134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46" name="s039.text.134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7" name="s039.text.134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8" name="s039.text.134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9" name="s039.text.134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50" name="Google Shape;1350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1075" y="785274"/>
            <a:ext cx="5435088" cy="30283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39/72</a:t>
            </a:r>
            <a:endParaRPr lang="es-AR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5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6" name="Google Shape;1356;p5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7" name="Google Shape;1357;p52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58" name="s040.text.135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59" name="Google Shape;1359;p52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50" y="7554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6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40/72</a:t>
            </a:r>
            <a:endParaRPr lang="es-AR" sz="10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4" name="Google Shape;1364;p5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5" name="Google Shape;1365;p5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6" name="Google Shape;1366;p5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7" name="s041.text.1367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368" name="Google Shape;1368;p53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53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53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p53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53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53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3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s041.text.1376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7" name="s041.text.1377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8" name="s041.text.1378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79" name="s041.text.1379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380" name="s041.text.1380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1" name="s041.text.1381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08-09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2" name="s041.text.1382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3" name="s041.text.1383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84" name="Google Shape;1384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48500" y="749699"/>
            <a:ext cx="5830890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41/72</a:t>
            </a:r>
            <a:endParaRPr lang="es-AR" sz="1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9" name="Google Shape;1389;p5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5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1" name="Google Shape;1391;p54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2" name="s042.text.139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393" name="Google Shape;1393;p54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447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39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42/72</a:t>
            </a:r>
            <a:endParaRPr lang="es-AR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8" name="Google Shape;1398;p5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9" name="Google Shape;1399;p5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0" name="Google Shape;1400;p55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1" name="s043.text.140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402" name="Google Shape;1402;p55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55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55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55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5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55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p55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55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s043.text.1410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1" name="s043.text.1411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2" name="s043.text.1412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3" name="s043.text.1413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4" name="s043.text.1414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5" name="s043.text.1415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6" name="s043.text.1416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7" name="s043.text.1417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18" name="Google Shape;1418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15875" y="785274"/>
            <a:ext cx="5663951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43/72</a:t>
            </a:r>
            <a:endParaRPr lang="es-AR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5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5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5" name="Google Shape;1425;p5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26" name="s044.text.142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427" name="Google Shape;1427;p56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001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2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44/72</a:t>
            </a:r>
            <a:endParaRPr lang="es-AR" sz="1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2" name="Google Shape;1432;p5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3" name="Google Shape;1433;p5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4" name="Google Shape;1434;p57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5" name="s045.text.1435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436" name="Google Shape;1436;p57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57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57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7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57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57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57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57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s045.text.1444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5" name="s045.text.1445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6" name="s045.text.1446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7" name="s045.text.1447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48" name="s045.text.1448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37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49" name="s045.text.1449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17-18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0" name="s045.text.1450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51" name="s045.text.1451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2" name="Google Shape;1452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8475" y="749699"/>
            <a:ext cx="5758407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5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45/72</a:t>
            </a:r>
            <a:endParaRPr lang="es-AR"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7" name="Google Shape;1457;p5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5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58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0" name="s046.text.1460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461" name="Google Shape;1461;p58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6328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6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46/72</a:t>
            </a:r>
            <a:endParaRPr lang="es-AR" sz="10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5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5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59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9" name="s047.text.146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470" name="Google Shape;1470;p59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59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59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59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59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59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59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s047.text.1478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79" name="s047.text.1479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0" name="s047.text.1480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1" name="s047.text.1481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82" name="s047.text.1482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s047.text.1483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4" name="s047.text.1484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5" name="s047.text.1485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439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86" name="Google Shape;1486;p5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76350" y="749699"/>
            <a:ext cx="5884944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8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47/72</a:t>
            </a:r>
            <a:endParaRPr lang="es-AR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1" name="Google Shape;1491;p6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60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4" name="s048.text.1494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495" name="Google Shape;1495;p60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8299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49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48/72</a:t>
            </a:r>
            <a:endParaRPr lang="es-AR"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6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1" name="Google Shape;1501;p6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2" name="Google Shape;1502;p61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3" name="s049.text.150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Calada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61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1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61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61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61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61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61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s049.text.1512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3" name="s049.text.1513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4" name="s049.text.1514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5" name="s049.text.151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16" name="s049.text.151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s049.text.1517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s049.text.1518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s049.text.1519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450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20" name="Google Shape;1520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3063800" y="-2487492"/>
            <a:ext cx="17880076" cy="117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3413" y="785274"/>
            <a:ext cx="5968527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2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49/72</a:t>
            </a:r>
            <a:endParaRPr lang="es-AR" sz="10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Google Shape;1526;p62" title="Puntuación lograda"/>
          <p:cNvPicPr preferRelativeResize="0"/>
          <p:nvPr/>
        </p:nvPicPr>
        <p:blipFill rotWithShape="1">
          <a:blip r:embed="rId3">
            <a:alphaModFix/>
          </a:blip>
          <a:srcRect b="0" l="0" r="0" t="10666"/>
          <a:stretch/>
        </p:blipFill>
        <p:spPr>
          <a:xfrm>
            <a:off x="451325" y="1664024"/>
            <a:ext cx="3724275" cy="2057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7" name="Google Shape;1527;p62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8" name="Google Shape;1528;p62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9" name="Google Shape;1529;p62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0" name="s050.text.1530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Líquido Ricardone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531" name="Google Shape;1531;p62"/>
          <p:cNvSpPr/>
          <p:nvPr/>
        </p:nvSpPr>
        <p:spPr>
          <a:xfrm>
            <a:off x="22450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p62"/>
          <p:cNvSpPr/>
          <p:nvPr/>
        </p:nvSpPr>
        <p:spPr>
          <a:xfrm>
            <a:off x="3544975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62"/>
          <p:cNvSpPr/>
          <p:nvPr/>
        </p:nvSpPr>
        <p:spPr>
          <a:xfrm>
            <a:off x="4745113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62"/>
          <p:cNvSpPr/>
          <p:nvPr/>
        </p:nvSpPr>
        <p:spPr>
          <a:xfrm>
            <a:off x="5945238" y="4072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62"/>
          <p:cNvSpPr/>
          <p:nvPr/>
        </p:nvSpPr>
        <p:spPr>
          <a:xfrm>
            <a:off x="23261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62"/>
          <p:cNvSpPr/>
          <p:nvPr/>
        </p:nvSpPr>
        <p:spPr>
          <a:xfrm>
            <a:off x="3626075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62"/>
          <p:cNvSpPr/>
          <p:nvPr/>
        </p:nvSpPr>
        <p:spPr>
          <a:xfrm>
            <a:off x="4826213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62"/>
          <p:cNvSpPr/>
          <p:nvPr/>
        </p:nvSpPr>
        <p:spPr>
          <a:xfrm>
            <a:off x="6026338" y="4113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s050.text.1539"/>
          <p:cNvSpPr txBox="1"/>
          <p:nvPr/>
        </p:nvSpPr>
        <p:spPr>
          <a:xfrm>
            <a:off x="2259988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0" name="s050.text.1540"/>
          <p:cNvSpPr txBox="1"/>
          <p:nvPr/>
        </p:nvSpPr>
        <p:spPr>
          <a:xfrm>
            <a:off x="3574888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1" name="s050.text.1541"/>
          <p:cNvSpPr txBox="1"/>
          <p:nvPr/>
        </p:nvSpPr>
        <p:spPr>
          <a:xfrm>
            <a:off x="4800613" y="4133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2" name="s050.text.1542"/>
          <p:cNvSpPr txBox="1"/>
          <p:nvPr/>
        </p:nvSpPr>
        <p:spPr>
          <a:xfrm>
            <a:off x="5999263" y="4113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3" name="s050.text.1543"/>
          <p:cNvSpPr txBox="1"/>
          <p:nvPr/>
        </p:nvSpPr>
        <p:spPr>
          <a:xfrm>
            <a:off x="2294314" y="4289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4" name="s050.text.1544"/>
          <p:cNvSpPr txBox="1"/>
          <p:nvPr/>
        </p:nvSpPr>
        <p:spPr>
          <a:xfrm>
            <a:off x="3158249" y="4289775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14/9 20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s050.text.1545"/>
          <p:cNvSpPr txBox="1"/>
          <p:nvPr/>
        </p:nvSpPr>
        <p:spPr>
          <a:xfrm>
            <a:off x="6107439" y="4269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157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6" name="s050.text.1546"/>
          <p:cNvSpPr txBox="1"/>
          <p:nvPr/>
        </p:nvSpPr>
        <p:spPr>
          <a:xfrm>
            <a:off x="4807163" y="4234600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49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47" name="Google Shape;1547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71300" y="1253536"/>
            <a:ext cx="4663600" cy="2394822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4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50/72</a:t>
            </a:r>
            <a:endParaRPr lang="es-AR" sz="10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63"/>
          <p:cNvSpPr/>
          <p:nvPr/>
        </p:nvSpPr>
        <p:spPr>
          <a:xfrm>
            <a:off x="22420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3"/>
          <p:cNvSpPr/>
          <p:nvPr/>
        </p:nvSpPr>
        <p:spPr>
          <a:xfrm>
            <a:off x="3541963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63"/>
          <p:cNvSpPr/>
          <p:nvPr/>
        </p:nvSpPr>
        <p:spPr>
          <a:xfrm>
            <a:off x="4742100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63"/>
          <p:cNvSpPr/>
          <p:nvPr/>
        </p:nvSpPr>
        <p:spPr>
          <a:xfrm>
            <a:off x="5942225" y="43072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63"/>
          <p:cNvSpPr/>
          <p:nvPr/>
        </p:nvSpPr>
        <p:spPr>
          <a:xfrm>
            <a:off x="23231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3"/>
          <p:cNvSpPr/>
          <p:nvPr/>
        </p:nvSpPr>
        <p:spPr>
          <a:xfrm>
            <a:off x="3623063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63"/>
          <p:cNvSpPr/>
          <p:nvPr/>
        </p:nvSpPr>
        <p:spPr>
          <a:xfrm>
            <a:off x="4823200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63"/>
          <p:cNvSpPr/>
          <p:nvPr/>
        </p:nvSpPr>
        <p:spPr>
          <a:xfrm>
            <a:off x="6023325" y="43475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s051.text.1560"/>
          <p:cNvSpPr txBox="1"/>
          <p:nvPr/>
        </p:nvSpPr>
        <p:spPr>
          <a:xfrm>
            <a:off x="2256975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1" name="s051.text.1561"/>
          <p:cNvSpPr txBox="1"/>
          <p:nvPr/>
        </p:nvSpPr>
        <p:spPr>
          <a:xfrm>
            <a:off x="3571875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2" name="s051.text.1562"/>
          <p:cNvSpPr txBox="1"/>
          <p:nvPr/>
        </p:nvSpPr>
        <p:spPr>
          <a:xfrm>
            <a:off x="4797600" y="43683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3" name="s051.text.1563"/>
          <p:cNvSpPr txBox="1"/>
          <p:nvPr/>
        </p:nvSpPr>
        <p:spPr>
          <a:xfrm>
            <a:off x="5996250" y="43475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64" name="s051.text.1564"/>
          <p:cNvSpPr txBox="1"/>
          <p:nvPr/>
        </p:nvSpPr>
        <p:spPr>
          <a:xfrm>
            <a:off x="2291301" y="45241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5" name="s051.text.1565"/>
          <p:cNvSpPr txBox="1"/>
          <p:nvPr/>
        </p:nvSpPr>
        <p:spPr>
          <a:xfrm>
            <a:off x="3155237" y="4524150"/>
            <a:ext cx="187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15/9 08 hs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6" name="s051.text.1566"/>
          <p:cNvSpPr txBox="1"/>
          <p:nvPr/>
        </p:nvSpPr>
        <p:spPr>
          <a:xfrm>
            <a:off x="6104426" y="45033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242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67" name="s051.text.1567"/>
          <p:cNvSpPr txBox="1"/>
          <p:nvPr/>
        </p:nvSpPr>
        <p:spPr>
          <a:xfrm>
            <a:off x="4804150" y="4468975"/>
            <a:ext cx="1080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b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s" sz="6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sobre 85  horas totales</a:t>
            </a:r>
            <a:endParaRPr b="1" sz="6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68" name="Google Shape;1568;p6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9" name="Google Shape;1569;p6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0" name="Google Shape;1570;p6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71" name="s051.text.157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Resumen Semanal Calada San Lorenzo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572" name="Google Shape;1572;p63" title="Gráfico"/>
          <p:cNvPicPr preferRelativeResize="0"/>
          <p:nvPr/>
        </p:nvPicPr>
        <p:blipFill rotWithShape="1">
          <a:blip r:embed="rId6">
            <a:alphaModFix/>
          </a:blip>
          <a:srcRect b="0" l="0" r="0" t="10969"/>
          <a:stretch/>
        </p:blipFill>
        <p:spPr>
          <a:xfrm>
            <a:off x="304800" y="1714849"/>
            <a:ext cx="3583650" cy="1972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6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28950" y="1091524"/>
            <a:ext cx="4950750" cy="2551388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51/72</a:t>
            </a:r>
            <a:endParaRPr lang="es-AR" sz="10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DFD"/>
        </a:solidFill>
      </p:bgPr>
    </p:bg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8" name="Google Shape;1578;p64"/>
          <p:cNvPicPr preferRelativeResize="0"/>
          <p:nvPr/>
        </p:nvPicPr>
        <p:blipFill rotWithShape="1">
          <a:blip r:embed="rId3">
            <a:alphaModFix/>
          </a:blip>
          <a:srcRect b="2761" l="4325" r="31892" t="6700"/>
          <a:stretch/>
        </p:blipFill>
        <p:spPr>
          <a:xfrm>
            <a:off x="0" y="0"/>
            <a:ext cx="6177225" cy="51435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7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52/72</a:t>
            </a:r>
            <a:endParaRPr lang="es-AR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3" name="Google Shape;1583;p6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6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65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6" name="s053.text.158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587" name="Google Shape;1587;p65" title="Puntuación obtenida"/>
          <p:cNvPicPr preferRelativeResize="0"/>
          <p:nvPr/>
        </p:nvPicPr>
        <p:blipFill rotWithShape="1">
          <a:blip r:embed="rId6">
            <a:alphaModFix/>
          </a:blip>
          <a:srcRect b="0" l="0" r="0" t="10482"/>
          <a:stretch/>
        </p:blipFill>
        <p:spPr>
          <a:xfrm>
            <a:off x="3084725" y="3342750"/>
            <a:ext cx="2537325" cy="15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8" name="Google Shape;1588;p65" title="Puntuación obtenida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913" y="691450"/>
            <a:ext cx="6345525" cy="243435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58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53/72</a:t>
            </a:r>
            <a:endParaRPr lang="es-AR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6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6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5" name="Google Shape;1595;p6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6" name="s054.text.159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1/2 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597" name="Google Shape;1597;p6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6"/>
          <p:cNvSpPr/>
          <p:nvPr/>
        </p:nvSpPr>
        <p:spPr>
          <a:xfrm>
            <a:off x="4258600" y="396601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6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66"/>
          <p:cNvSpPr/>
          <p:nvPr/>
        </p:nvSpPr>
        <p:spPr>
          <a:xfrm>
            <a:off x="4339700" y="4006363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6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s054.text.160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4" name="s054.text.1604"/>
          <p:cNvSpPr txBox="1"/>
          <p:nvPr/>
        </p:nvSpPr>
        <p:spPr>
          <a:xfrm>
            <a:off x="4314100" y="4027138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5" name="s054.text.1605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06" name="s054.text.1606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7" name="s054.text.1607"/>
          <p:cNvSpPr txBox="1"/>
          <p:nvPr/>
        </p:nvSpPr>
        <p:spPr>
          <a:xfrm>
            <a:off x="4434201" y="4162188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8" name="s054.text.16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09" name="Google Shape;1609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91075" y="749699"/>
            <a:ext cx="5853199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6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54/72</a:t>
            </a:r>
            <a:endParaRPr lang="es-AR" sz="10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4" name="Google Shape;1614;p6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6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6" name="Google Shape;1616;p67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17" name="s055.text.1617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618" name="Google Shape;1618;p6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14125" y="944525"/>
            <a:ext cx="5025024" cy="3107149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61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55/72</a:t>
            </a:r>
            <a:endParaRPr lang="es-AR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68"/>
          <p:cNvSpPr/>
          <p:nvPr/>
        </p:nvSpPr>
        <p:spPr>
          <a:xfrm>
            <a:off x="24221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68"/>
          <p:cNvSpPr/>
          <p:nvPr/>
        </p:nvSpPr>
        <p:spPr>
          <a:xfrm>
            <a:off x="4218900" y="426083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68"/>
          <p:cNvSpPr/>
          <p:nvPr/>
        </p:nvSpPr>
        <p:spPr>
          <a:xfrm>
            <a:off x="6122350" y="426082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6" name="Google Shape;1626;p68"/>
          <p:cNvSpPr/>
          <p:nvPr/>
        </p:nvSpPr>
        <p:spPr>
          <a:xfrm>
            <a:off x="25032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68"/>
          <p:cNvSpPr/>
          <p:nvPr/>
        </p:nvSpPr>
        <p:spPr>
          <a:xfrm>
            <a:off x="4300000" y="4301188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8"/>
          <p:cNvSpPr/>
          <p:nvPr/>
        </p:nvSpPr>
        <p:spPr>
          <a:xfrm>
            <a:off x="6203450" y="4301175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s056.text.1629"/>
          <p:cNvSpPr txBox="1"/>
          <p:nvPr/>
        </p:nvSpPr>
        <p:spPr>
          <a:xfrm>
            <a:off x="2437100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0" name="s056.text.1630"/>
          <p:cNvSpPr txBox="1"/>
          <p:nvPr/>
        </p:nvSpPr>
        <p:spPr>
          <a:xfrm>
            <a:off x="4274400" y="4321963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1" name="s056.text.1631"/>
          <p:cNvSpPr txBox="1"/>
          <p:nvPr/>
        </p:nvSpPr>
        <p:spPr>
          <a:xfrm>
            <a:off x="6176375" y="430117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32" name="s056.text.1632"/>
          <p:cNvSpPr txBox="1"/>
          <p:nvPr/>
        </p:nvSpPr>
        <p:spPr>
          <a:xfrm>
            <a:off x="2471426" y="4477775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3" name="s056.text.1633"/>
          <p:cNvSpPr txBox="1"/>
          <p:nvPr/>
        </p:nvSpPr>
        <p:spPr>
          <a:xfrm>
            <a:off x="4394501" y="4457013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4" name="s056.text.1634"/>
          <p:cNvSpPr txBox="1"/>
          <p:nvPr/>
        </p:nvSpPr>
        <p:spPr>
          <a:xfrm>
            <a:off x="6284551" y="445700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35" name="Google Shape;1635;p6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6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68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8" name="s056.text.163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 Silos 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639" name="Google Shape;1639;p68"/>
          <p:cNvPicPr preferRelativeResize="0"/>
          <p:nvPr/>
        </p:nvPicPr>
        <p:blipFill rotWithShape="1">
          <a:blip r:embed="rId6">
            <a:alphaModFix/>
          </a:blip>
          <a:srcRect b="0" l="0" r="13472" t="17342"/>
          <a:stretch/>
        </p:blipFill>
        <p:spPr>
          <a:xfrm>
            <a:off x="1579513" y="1115325"/>
            <a:ext cx="6329875" cy="27242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6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56/72</a:t>
            </a:r>
            <a:endParaRPr lang="es-AR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4" name="Google Shape;1644;p69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8337" y="1754675"/>
            <a:ext cx="5038674" cy="311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69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6" name="Google Shape;1646;p69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7" name="Google Shape;1647;p69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48" name="s057.text.164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Puerto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649" name="Google Shape;1649;p69"/>
          <p:cNvSpPr/>
          <p:nvPr/>
        </p:nvSpPr>
        <p:spPr>
          <a:xfrm>
            <a:off x="21983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69"/>
          <p:cNvSpPr/>
          <p:nvPr/>
        </p:nvSpPr>
        <p:spPr>
          <a:xfrm>
            <a:off x="3981538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69"/>
          <p:cNvSpPr/>
          <p:nvPr/>
        </p:nvSpPr>
        <p:spPr>
          <a:xfrm>
            <a:off x="5898525" y="9056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69"/>
          <p:cNvSpPr/>
          <p:nvPr/>
        </p:nvSpPr>
        <p:spPr>
          <a:xfrm>
            <a:off x="22794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69"/>
          <p:cNvSpPr/>
          <p:nvPr/>
        </p:nvSpPr>
        <p:spPr>
          <a:xfrm>
            <a:off x="4062638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69"/>
          <p:cNvSpPr/>
          <p:nvPr/>
        </p:nvSpPr>
        <p:spPr>
          <a:xfrm>
            <a:off x="5979625" y="9459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s057.text.1655"/>
          <p:cNvSpPr txBox="1"/>
          <p:nvPr/>
        </p:nvSpPr>
        <p:spPr>
          <a:xfrm>
            <a:off x="2213275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diario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6" name="s057.text.1656"/>
          <p:cNvSpPr txBox="1"/>
          <p:nvPr/>
        </p:nvSpPr>
        <p:spPr>
          <a:xfrm>
            <a:off x="4022813" y="905600"/>
            <a:ext cx="112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>
                <a:solidFill>
                  <a:schemeClr val="dk2"/>
                </a:solidFill>
              </a:rPr>
              <a:t>Camiones x hora operativa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1657" name="s057.text.1657"/>
          <p:cNvSpPr txBox="1"/>
          <p:nvPr/>
        </p:nvSpPr>
        <p:spPr>
          <a:xfrm>
            <a:off x="5952550" y="9459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58" name="s057.text.1658"/>
          <p:cNvSpPr txBox="1"/>
          <p:nvPr/>
        </p:nvSpPr>
        <p:spPr>
          <a:xfrm>
            <a:off x="2247601" y="11225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   384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9" name="s057.text.1659"/>
          <p:cNvSpPr txBox="1"/>
          <p:nvPr/>
        </p:nvSpPr>
        <p:spPr>
          <a:xfrm>
            <a:off x="4157139" y="11017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16 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0" name="s057.text.1660"/>
          <p:cNvSpPr txBox="1"/>
          <p:nvPr/>
        </p:nvSpPr>
        <p:spPr>
          <a:xfrm>
            <a:off x="6060726" y="11017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2688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66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57/72</a:t>
            </a:r>
            <a:endParaRPr lang="es-AR" sz="10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5" name="Google Shape;1665;p7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6" name="Google Shape;1666;p7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7" name="Google Shape;1667;p70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68" name="s058.text.166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Semanal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669" name="Google Shape;1669;p70" title="Gráfico"/>
          <p:cNvPicPr preferRelativeResize="0"/>
          <p:nvPr/>
        </p:nvPicPr>
        <p:blipFill rotWithShape="1">
          <a:blip r:embed="rId6">
            <a:alphaModFix/>
          </a:blip>
          <a:srcRect b="0" l="0" r="0" t="11426"/>
          <a:stretch/>
        </p:blipFill>
        <p:spPr>
          <a:xfrm>
            <a:off x="1808375" y="809650"/>
            <a:ext cx="6101025" cy="334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0" name="Google Shape;1670;p70"/>
          <p:cNvSpPr/>
          <p:nvPr/>
        </p:nvSpPr>
        <p:spPr>
          <a:xfrm>
            <a:off x="1671325" y="4159075"/>
            <a:ext cx="6786600" cy="825000"/>
          </a:xfrm>
          <a:prstGeom prst="rect">
            <a:avLst/>
          </a:prstGeom>
          <a:solidFill>
            <a:srgbClr val="D5A6BD">
              <a:alpha val="26880"/>
            </a:srgbClr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s058.text.1671"/>
          <p:cNvSpPr txBox="1"/>
          <p:nvPr/>
        </p:nvSpPr>
        <p:spPr>
          <a:xfrm>
            <a:off x="1808375" y="4225225"/>
            <a:ext cx="6573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Las volcables </a:t>
            </a:r>
            <a:r>
              <a:rPr b="1" lang="es" sz="1100">
                <a:solidFill>
                  <a:schemeClr val="dk1"/>
                </a:solidFill>
              </a:rPr>
              <a:t>5, 3 y 2 concentraron el 73% de los camiones registrados</a:t>
            </a:r>
            <a:r>
              <a:rPr lang="es" sz="1100">
                <a:solidFill>
                  <a:schemeClr val="dk1"/>
                </a:solidFill>
              </a:rPr>
              <a:t>, con la volcable 5 como la de mayor actividad. La volcable </a:t>
            </a:r>
            <a:r>
              <a:rPr b="1" lang="es" sz="1100">
                <a:solidFill>
                  <a:schemeClr val="dk1"/>
                </a:solidFill>
              </a:rPr>
              <a:t>4 presentó el menor volumen, con 226 camiones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800">
              <a:latin typeface="Inter"/>
              <a:ea typeface="Inter"/>
              <a:cs typeface="Inter"/>
              <a:sym typeface="Inter"/>
            </a:endParaRPr>
          </a:p>
        </p:txBody>
      </p:sp>
      <p:sp xmlns:p="http://schemas.openxmlformats.org/presentationml/2006/main" xmlns:a="http://schemas.openxmlformats.org/drawingml/2006/main">
        <p:nvSpPr>
          <p:cNvPr id="167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58/72</a:t>
            </a:r>
            <a:endParaRPr lang="es-AR" sz="10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6" name="Google Shape;1676;p7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7" name="Google Shape;1677;p7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8" name="Google Shape;1678;p71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79" name="s059.text.167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680" name="Google Shape;1680;p71" title="Puntuación obtenida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1275" y="6853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68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59/72</a:t>
            </a:r>
            <a:endParaRPr lang="es-AR" sz="10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5" name="Google Shape;1685;p7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6" name="Google Shape;1686;p7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72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8" name="s060.text.168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Jueves 10/09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689" name="Google Shape;1689;p7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1" name="Google Shape;1691;p7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7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3" name="Google Shape;1693;p7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7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5" name="Google Shape;1695;p7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7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s060.text.169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8" name="s060.text.169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699" name="s060.text.169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0" name="s060.text.170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01" name="s060.text.170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33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s060.text.1702"/>
          <p:cNvSpPr txBox="1"/>
          <p:nvPr/>
        </p:nvSpPr>
        <p:spPr>
          <a:xfrm>
            <a:off x="3375062" y="4182950"/>
            <a:ext cx="187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21/22</a:t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3" name="s060.text.1703"/>
          <p:cNvSpPr txBox="1"/>
          <p:nvPr/>
        </p:nvSpPr>
        <p:spPr>
          <a:xfrm>
            <a:off x="5137526" y="4162175"/>
            <a:ext cx="7998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b="1" sz="15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s060.text.170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523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05" name="Google Shape;1705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23150" y="815836"/>
            <a:ext cx="5750760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0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60/72</a:t>
            </a:r>
            <a:endParaRPr lang="es-AR" sz="10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73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1" name="Google Shape;1711;p73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2" name="Google Shape;1712;p73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3" name="s061.text.1713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714" name="Google Shape;1714;p73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4675" y="805249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1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61/72</a:t>
            </a:r>
            <a:endParaRPr lang="es-AR" sz="10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9" name="Google Shape;1719;p7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0" name="Google Shape;1720;p7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1" name="Google Shape;1721;p74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22" name="s062.text.172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 | Viernes 11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723" name="Google Shape;1723;p7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7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7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7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7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7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7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7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s062.text.173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2" name="s062.text.173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3" name="s062.text.173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4" name="s062.text.173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35" name="s062.text.1735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6" name="s062.text.173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05-06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7" name="s062.text.173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8" name="s062.text.173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488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39" name="Google Shape;173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88125" y="749699"/>
            <a:ext cx="6000423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4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62/72</a:t>
            </a:r>
            <a:endParaRPr lang="es-AR" sz="10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4" name="Google Shape;1744;p75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5" name="Google Shape;1745;p75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6" name="Google Shape;1746;p75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47" name="s063.text.1747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748" name="Google Shape;1748;p75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95950" y="7759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49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63/72</a:t>
            </a:r>
            <a:endParaRPr lang="es-AR" sz="10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3" name="Google Shape;1753;p76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4" name="Google Shape;1754;p76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5" name="Google Shape;1755;p76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56" name="s064.text.1756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Sábado 12/09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757" name="Google Shape;1757;p76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76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76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76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76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76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76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76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s064.text.1765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6" name="s064.text.1766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7" name="s064.text.1767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8" name="s064.text.1768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769" name="s064.text.1769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0" name="s064.text.1770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01-02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1" name="s064.text.1771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15.5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2" name="s064.text.1772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444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773" name="Google Shape;1773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45850" y="785274"/>
            <a:ext cx="5717603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74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64/72</a:t>
            </a:r>
            <a:endParaRPr lang="es-AR" sz="10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8" name="Google Shape;1778;p77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9" name="Google Shape;1779;p77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0" name="Google Shape;1780;p77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1" name="s065.text.1781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782" name="Google Shape;1782;p77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78275" y="77372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783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65/72</a:t>
            </a:r>
            <a:endParaRPr lang="es-AR" sz="10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7" name="Google Shape;1787;p78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78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78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0" name="s066.text.1790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Domingo 13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791" name="Google Shape;1791;p78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78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78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78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78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78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78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78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s066.text.1799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0" name="s066.text.1800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1" name="s066.text.1801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2" name="s066.text.1802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03" name="s066.text.1803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4" name="s066.text.1804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00-01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5" name="s066.text.1805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6" name="s066.text.1806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54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07" name="Google Shape;1807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3900" y="749699"/>
            <a:ext cx="5853724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808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66/72</a:t>
            </a:r>
            <a:endParaRPr lang="es-AR" sz="10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2" name="Google Shape;1812;p79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79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79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15" name="s067.text.1815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816" name="Google Shape;1816;p79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6825" y="701774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817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67/72</a:t>
            </a:r>
            <a:endParaRPr lang="es-AR" sz="10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1" name="Google Shape;1821;p80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80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80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24" name="s068.text.1824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Lunes 14 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825" name="Google Shape;1825;p80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80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80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8" name="Google Shape;1828;p80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80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80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80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2" name="Google Shape;1832;p80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s068.text.1833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4" name="s068.text.1834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5" name="s068.text.1835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6" name="s068.text.1836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37" name="s068.text.1837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34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8" name="s068.text.1838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23-24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39" name="s068.text.1839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s068.text.1840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295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41" name="Google Shape;184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8600" y="785274"/>
            <a:ext cx="6590051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842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68/72</a:t>
            </a:r>
            <a:endParaRPr lang="es-AR" sz="10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6" name="Google Shape;1846;p81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81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81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9" name="s069.text.1849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pic>
        <p:nvPicPr>
          <p:cNvPr id="1850" name="Google Shape;1850;p81" title="Gráfico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063" y="715699"/>
            <a:ext cx="6801876" cy="42058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851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69/72</a:t>
            </a:r>
            <a:endParaRPr lang="es-AR" sz="10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5" name="Google Shape;1855;p82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" name="Google Shape;1856;p82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7" name="Google Shape;1857;p82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8" name="s070.text.1858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Martes 15/09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859" name="Google Shape;1859;p82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82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82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82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82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82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82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82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s070.text.1867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8" name="s070.text.1868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69" name="s070.text.1869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0" name="s070.text.1870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871" name="s070.text.1871"/>
          <p:cNvSpPr txBox="1"/>
          <p:nvPr/>
        </p:nvSpPr>
        <p:spPr>
          <a:xfrm>
            <a:off x="2511126" y="4182950"/>
            <a:ext cx="7998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31</a:t>
            </a:r>
            <a:br>
              <a:rPr b="1" lang="es" sz="20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</a:b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2" name="s070.text.1872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02-03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3" name="s070.text.1873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74" name="s070.text.1874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481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75" name="Google Shape;1875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9175" y="785274"/>
            <a:ext cx="6639693" cy="302832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876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70/72</a:t>
            </a:r>
            <a:endParaRPr lang="es-AR"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9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0" name="Google Shape;1880;p83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273" y="728925"/>
            <a:ext cx="6296400" cy="3893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1" name="Google Shape;1881;p83" title="nv_argentina_logo.jfif"/>
          <p:cNvPicPr preferRelativeResize="0"/>
          <p:nvPr/>
        </p:nvPicPr>
        <p:blipFill rotWithShape="1">
          <a:blip r:embed="rId4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2" name="Google Shape;1882;p83" title="Logo sin tex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83" title="Diseño sin título (1).png"/>
          <p:cNvPicPr preferRelativeResize="0"/>
          <p:nvPr/>
        </p:nvPicPr>
        <p:blipFill rotWithShape="1">
          <a:blip r:embed="rId6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4" name="s071.text.1884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 xmlns:p="http://schemas.openxmlformats.org/presentationml/2006/main" xmlns:a="http://schemas.openxmlformats.org/drawingml/2006/main">
        <p:nvSpPr>
          <p:cNvPr id="1885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71/72</a:t>
            </a:r>
            <a:endParaRPr lang="es-AR" sz="10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9" name="Google Shape;1889;p84" title="nv_argentina_logo.jfif"/>
          <p:cNvPicPr preferRelativeResize="0"/>
          <p:nvPr/>
        </p:nvPicPr>
        <p:blipFill rotWithShape="1">
          <a:blip r:embed="rId3">
            <a:alphaModFix/>
          </a:blip>
          <a:srcRect b="18961" l="0" r="0" t="13585"/>
          <a:stretch/>
        </p:blipFill>
        <p:spPr>
          <a:xfrm>
            <a:off x="374601" y="216175"/>
            <a:ext cx="593273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84" title="Logo sin tex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27032" y="244075"/>
            <a:ext cx="381261" cy="34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84" title="Diseño sin título (1).png"/>
          <p:cNvPicPr preferRelativeResize="0"/>
          <p:nvPr/>
        </p:nvPicPr>
        <p:blipFill rotWithShape="1">
          <a:blip r:embed="rId5">
            <a:alphaModFix/>
          </a:blip>
          <a:srcRect b="51705" l="20359" r="19953" t="41314"/>
          <a:stretch/>
        </p:blipFill>
        <p:spPr>
          <a:xfrm>
            <a:off x="3219275" y="510750"/>
            <a:ext cx="2996798" cy="122124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2" name="s072.text.1892"/>
          <p:cNvSpPr txBox="1"/>
          <p:nvPr/>
        </p:nvSpPr>
        <p:spPr>
          <a:xfrm>
            <a:off x="373788" y="100025"/>
            <a:ext cx="861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s" sz="180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Actividad Volcables | Miércoles 16/09</a:t>
            </a:r>
            <a:endParaRPr b="0" i="0" sz="2400" u="none" cap="none" strike="noStrike">
              <a:solidFill>
                <a:srgbClr val="434343"/>
              </a:solidFill>
              <a:latin typeface="Inter ExtraLight"/>
              <a:ea typeface="Inter ExtraLight"/>
              <a:cs typeface="Inter ExtraLight"/>
              <a:sym typeface="Inter ExtraLight"/>
            </a:endParaRPr>
          </a:p>
        </p:txBody>
      </p:sp>
      <p:sp>
        <p:nvSpPr>
          <p:cNvPr id="1893" name="Google Shape;1893;p84"/>
          <p:cNvSpPr/>
          <p:nvPr/>
        </p:nvSpPr>
        <p:spPr>
          <a:xfrm>
            <a:off x="24618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84"/>
          <p:cNvSpPr/>
          <p:nvPr/>
        </p:nvSpPr>
        <p:spPr>
          <a:xfrm>
            <a:off x="3761788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84"/>
          <p:cNvSpPr/>
          <p:nvPr/>
        </p:nvSpPr>
        <p:spPr>
          <a:xfrm>
            <a:off x="4961925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84"/>
          <p:cNvSpPr/>
          <p:nvPr/>
        </p:nvSpPr>
        <p:spPr>
          <a:xfrm>
            <a:off x="6162050" y="396600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84"/>
          <p:cNvSpPr/>
          <p:nvPr/>
        </p:nvSpPr>
        <p:spPr>
          <a:xfrm>
            <a:off x="25429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84"/>
          <p:cNvSpPr/>
          <p:nvPr/>
        </p:nvSpPr>
        <p:spPr>
          <a:xfrm>
            <a:off x="3842888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9" name="Google Shape;1899;p84"/>
          <p:cNvSpPr/>
          <p:nvPr/>
        </p:nvSpPr>
        <p:spPr>
          <a:xfrm>
            <a:off x="5043025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84"/>
          <p:cNvSpPr/>
          <p:nvPr/>
        </p:nvSpPr>
        <p:spPr>
          <a:xfrm>
            <a:off x="6243150" y="4006350"/>
            <a:ext cx="988800" cy="5442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s072.text.1901"/>
          <p:cNvSpPr txBox="1"/>
          <p:nvPr/>
        </p:nvSpPr>
        <p:spPr>
          <a:xfrm>
            <a:off x="2476800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Pico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2" name="s072.text.1902"/>
          <p:cNvSpPr txBox="1"/>
          <p:nvPr/>
        </p:nvSpPr>
        <p:spPr>
          <a:xfrm>
            <a:off x="3791700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Ventana máximo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3" name="s072.text.1903"/>
          <p:cNvSpPr txBox="1"/>
          <p:nvPr/>
        </p:nvSpPr>
        <p:spPr>
          <a:xfrm>
            <a:off x="5017425" y="4027125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Promedio x hora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4" name="s072.text.1904"/>
          <p:cNvSpPr txBox="1"/>
          <p:nvPr/>
        </p:nvSpPr>
        <p:spPr>
          <a:xfrm>
            <a:off x="6216075" y="4006350"/>
            <a:ext cx="112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2"/>
                </a:solidFill>
              </a:rPr>
              <a:t>Total de camiones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905" name="s072.text.1905"/>
          <p:cNvSpPr txBox="1"/>
          <p:nvPr/>
        </p:nvSpPr>
        <p:spPr>
          <a:xfrm>
            <a:off x="2511126" y="4182950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6" name="s072.text.1906"/>
          <p:cNvSpPr txBox="1"/>
          <p:nvPr/>
        </p:nvSpPr>
        <p:spPr>
          <a:xfrm>
            <a:off x="3375062" y="4182950"/>
            <a:ext cx="187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10-11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s072.text.1907"/>
          <p:cNvSpPr txBox="1"/>
          <p:nvPr/>
        </p:nvSpPr>
        <p:spPr>
          <a:xfrm>
            <a:off x="5137526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8" name="s072.text.1908"/>
          <p:cNvSpPr txBox="1"/>
          <p:nvPr/>
        </p:nvSpPr>
        <p:spPr>
          <a:xfrm>
            <a:off x="6324251" y="4162175"/>
            <a:ext cx="79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6245F"/>
                </a:solidFill>
                <a:latin typeface="Inter"/>
                <a:ea typeface="Inter"/>
                <a:cs typeface="Inter"/>
                <a:sym typeface="Inter"/>
              </a:rPr>
              <a:t>409</a:t>
            </a:r>
            <a:endParaRPr b="1" sz="100">
              <a:solidFill>
                <a:srgbClr val="06245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09" name="Google Shape;1909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89175" y="785274"/>
            <a:ext cx="6587038" cy="3028327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910" name="template_status"/>
          <p:cNvSpPr txBox="1"/>
          <p:nvPr/>
        </p:nvSpPr>
        <p:spPr>
          <a:xfrm>
            <a:off x="0" y="5143500"/>
            <a:ext cx="9144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50000" rIns="50000" tIns="25000" bIns="10000" anchor="ctr"/>
          <a:lstStyle/>
          <a:p>
            <a:pPr/>
            <a:r>
              <a:rPr lang="es-AR" sz="1000">
                <a:solidFill>
                  <a:srgbClr val="06245F"/>
                </a:solidFill>
                <a:latin typeface="Inter"/>
              </a:rPr>
              <a:t>PLANTILLA v1 · Referencia reportada 10–16/09/2026 · Sin recálculo · 72/72</a:t>
            </a:r>
            <a:endParaRPr lang="es-AR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