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harts/chart1000.xml" ContentType="application/vnd.openxmlformats-officedocument.drawingml.chart+xml"/>
  <Override PartName="/ppt/charts/chart1001.xml" ContentType="application/vnd.openxmlformats-officedocument.drawingml.chart+xml"/>
  <Override PartName="/ppt/charts/chart1005.xml" ContentType="application/vnd.openxmlformats-officedocument.drawingml.chart+xml"/>
  <Override PartName="/ppt/charts/chart1006.xml" ContentType="application/vnd.openxmlformats-officedocument.drawingml.chart+xml"/>
  <Override PartName="/ppt/charts/chart1009.xml" ContentType="application/vnd.openxmlformats-officedocument.drawingml.chart+xml"/>
  <Override PartName="/ppt/charts/chart1010.xml" ContentType="application/vnd.openxmlformats-officedocument.drawingml.chart+xml"/>
  <Override PartName="/ppt/charts/chart1011.xml" ContentType="application/vnd.openxmlformats-officedocument.drawingml.chart+xml"/>
  <Override PartName="/ppt/charts/chart1012.xml" ContentType="application/vnd.openxmlformats-officedocument.drawingml.chart+xml"/>
  <Override PartName="/ppt/charts/chart1013.xml" ContentType="application/vnd.openxmlformats-officedocument.drawingml.chart+xml"/>
  <Override PartName="/ppt/charts/chart1021.xml" ContentType="application/vnd.openxmlformats-officedocument.drawingml.chart+xml"/>
  <Override PartName="/ppt/charts/chart1022.xml" ContentType="application/vnd.openxmlformats-officedocument.drawingml.chart+xml"/>
  <Override PartName="/ppt/charts/chart1023.xml" ContentType="application/vnd.openxmlformats-officedocument.drawingml.chart+xml"/>
  <Override PartName="/ppt/charts/chart1024.xml" ContentType="application/vnd.openxmlformats-officedocument.drawingml.chart+xml"/>
  <Override PartName="/ppt/charts/chart1025.xml" ContentType="application/vnd.openxmlformats-officedocument.drawingml.chart+xml"/>
  <Override PartName="/ppt/charts/chart1026.xml" ContentType="application/vnd.openxmlformats-officedocument.drawingml.chart+xml"/>
  <Override PartName="/ppt/charts/chart1027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font" Target="fonts/Inter-regular.fntdata"/><Relationship Id="rId79" Type="http://schemas.openxmlformats.org/officeDocument/2006/relationships/font" Target="fonts/Inter-bold.fntdata"/><Relationship Id="rId80" Type="http://schemas.openxmlformats.org/officeDocument/2006/relationships/font" Target="fonts/Inter-italic.fntdata"/><Relationship Id="rId81" Type="http://schemas.openxmlformats.org/officeDocument/2006/relationships/font" Target="fonts/Inter-boldItalic.fntdata"/><Relationship Id="rId82" Type="http://schemas.openxmlformats.org/officeDocument/2006/relationships/font" Target="fonts/InterExtraBold-bold.fntdata"/><Relationship Id="rId83" Type="http://schemas.openxmlformats.org/officeDocument/2006/relationships/font" Target="fonts/InterExtraBold-boldItalic.fntdata"/><Relationship Id="rId84" Type="http://schemas.openxmlformats.org/officeDocument/2006/relationships/font" Target="fonts/InterMedium-regular.fntdata"/><Relationship Id="rId85" Type="http://schemas.openxmlformats.org/officeDocument/2006/relationships/font" Target="fonts/InterMedium-bold.fntdata"/><Relationship Id="rId86" Type="http://schemas.openxmlformats.org/officeDocument/2006/relationships/font" Target="fonts/InterMedium-italic.fntdata"/><Relationship Id="rId87" Type="http://schemas.openxmlformats.org/officeDocument/2006/relationships/font" Target="fonts/InterMedium-boldItalic.fntdata"/><Relationship Id="rId88" Type="http://schemas.openxmlformats.org/officeDocument/2006/relationships/font" Target="fonts/InterExtraLight-regular.fntdata"/><Relationship Id="rId89" Type="http://schemas.openxmlformats.org/officeDocument/2006/relationships/font" Target="fonts/InterExtraLight-bold.fntdata"/><Relationship Id="rId90" Type="http://schemas.openxmlformats.org/officeDocument/2006/relationships/font" Target="fonts/InterExtraLight-italic.fntdata"/><Relationship Id="rId91" Type="http://schemas.openxmlformats.org/officeDocument/2006/relationships/font" Target="fonts/InterExtraLight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376</c:v>
                </c:pt>
                <c:pt idx="1">
                  <c:v>338</c:v>
                </c:pt>
                <c:pt idx="2">
                  <c:v>316</c:v>
                </c:pt>
                <c:pt idx="3">
                  <c:v>383</c:v>
                </c:pt>
                <c:pt idx="4">
                  <c:v>304</c:v>
                </c:pt>
                <c:pt idx="5">
                  <c:v>445</c:v>
                </c:pt>
                <c:pt idx="6">
                  <c:v>389</c:v>
                </c:pt>
                <c:pt idx="7">
                  <c:v>421</c:v>
                </c:pt>
                <c:pt idx="8">
                  <c:v>346</c:v>
                </c:pt>
                <c:pt idx="9">
                  <c:v>368</c:v>
                </c:pt>
                <c:pt idx="10">
                  <c:v>296</c:v>
                </c:pt>
                <c:pt idx="11">
                  <c:v>379</c:v>
                </c:pt>
                <c:pt idx="12">
                  <c:v>276</c:v>
                </c:pt>
                <c:pt idx="13">
                  <c:v>334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121</c:v>
                </c:pt>
                <c:pt idx="1">
                  <c:v>94</c:v>
                </c:pt>
                <c:pt idx="2">
                  <c:v>113</c:v>
                </c:pt>
                <c:pt idx="3">
                  <c:v>145</c:v>
                </c:pt>
                <c:pt idx="4">
                  <c:v>114</c:v>
                </c:pt>
                <c:pt idx="5">
                  <c:v>171</c:v>
                </c:pt>
                <c:pt idx="6">
                  <c:v>181</c:v>
                </c:pt>
                <c:pt idx="7">
                  <c:v>120</c:v>
                </c:pt>
                <c:pt idx="8">
                  <c:v>101</c:v>
                </c:pt>
                <c:pt idx="9">
                  <c:v>130</c:v>
                </c:pt>
                <c:pt idx="10">
                  <c:v>112</c:v>
                </c:pt>
                <c:pt idx="11">
                  <c:v>140</c:v>
                </c:pt>
                <c:pt idx="12">
                  <c:v>97</c:v>
                </c:pt>
                <c:pt idx="13">
                  <c:v>126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Playa OSL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135</c:v>
                </c:pt>
                <c:pt idx="1">
                  <c:v>104</c:v>
                </c:pt>
                <c:pt idx="2">
                  <c:v>86</c:v>
                </c:pt>
                <c:pt idx="3">
                  <c:v>105</c:v>
                </c:pt>
                <c:pt idx="4">
                  <c:v>65</c:v>
                </c:pt>
                <c:pt idx="5">
                  <c:v>140</c:v>
                </c:pt>
                <c:pt idx="6">
                  <c:v>85</c:v>
                </c:pt>
                <c:pt idx="7">
                  <c:v>145</c:v>
                </c:pt>
                <c:pt idx="8">
                  <c:v>113</c:v>
                </c:pt>
                <c:pt idx="9">
                  <c:v>127</c:v>
                </c:pt>
                <c:pt idx="10">
                  <c:v>89</c:v>
                </c:pt>
                <c:pt idx="11">
                  <c:v>137</c:v>
                </c:pt>
                <c:pt idx="12">
                  <c:v>87</c:v>
                </c:pt>
                <c:pt idx="13">
                  <c:v>119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5E86A0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79</c:v>
                </c:pt>
                <c:pt idx="1">
                  <c:v>92</c:v>
                </c:pt>
                <c:pt idx="2">
                  <c:v>64</c:v>
                </c:pt>
                <c:pt idx="3">
                  <c:v>70</c:v>
                </c:pt>
                <c:pt idx="4">
                  <c:v>60</c:v>
                </c:pt>
                <c:pt idx="5">
                  <c:v>59</c:v>
                </c:pt>
                <c:pt idx="6">
                  <c:v>58</c:v>
                </c:pt>
                <c:pt idx="7">
                  <c:v>68</c:v>
                </c:pt>
                <c:pt idx="8">
                  <c:v>63</c:v>
                </c:pt>
                <c:pt idx="9">
                  <c:v>71</c:v>
                </c:pt>
                <c:pt idx="10">
                  <c:v>64</c:v>
                </c:pt>
                <c:pt idx="11">
                  <c:v>62</c:v>
                </c:pt>
                <c:pt idx="12">
                  <c:v>63</c:v>
                </c:pt>
                <c:pt idx="13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Total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Medio</c:v>
                </c:pt>
              </c:strCache>
            </c:strRef>
          </c:tx>
          <c:spPr>
            <a:ln w="28575">
              <a:solidFill>
                <a:srgbClr val="2E7D5B"/>
              </a:solidFill>
            </a:ln>
          </c:spP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326</c:v>
                </c:pt>
                <c:pt idx="1">
                  <c:v>315</c:v>
                </c:pt>
                <c:pt idx="2">
                  <c:v>287</c:v>
                </c:pt>
                <c:pt idx="3">
                  <c:v>317</c:v>
                </c:pt>
                <c:pt idx="4">
                  <c:v>306</c:v>
                </c:pt>
                <c:pt idx="5">
                  <c:v>351</c:v>
                </c:pt>
                <c:pt idx="6">
                  <c:v>361</c:v>
                </c:pt>
                <c:pt idx="7">
                  <c:v>347</c:v>
                </c:pt>
                <c:pt idx="8">
                  <c:v>241</c:v>
                </c:pt>
                <c:pt idx="9">
                  <c:v>289</c:v>
                </c:pt>
                <c:pt idx="10">
                  <c:v>353</c:v>
                </c:pt>
                <c:pt idx="11">
                  <c:v>430</c:v>
                </c:pt>
                <c:pt idx="12">
                  <c:v>319</c:v>
                </c:pt>
                <c:pt idx="13">
                  <c:v>382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800">
                  <a:solidFill>
                    <a:srgbClr val="434343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7F8C8D"/>
                </a:solidFill>
                <a:latin typeface="Inter"/>
              </a:rPr>
              <a:t>Tiempos Medios Histórico · Tramos Girasol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Playa 1</c:v>
                </c:pt>
              </c:strCache>
            </c:strRef>
          </c:tx>
          <c:spPr>
            <a:ln w="28575">
              <a:solidFill>
                <a:srgbClr val="C0392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120</c:v>
                </c:pt>
                <c:pt idx="1">
                  <c:v>107</c:v>
                </c:pt>
                <c:pt idx="2">
                  <c:v>105</c:v>
                </c:pt>
                <c:pt idx="3">
                  <c:v>122</c:v>
                </c:pt>
                <c:pt idx="4">
                  <c:v>117</c:v>
                </c:pt>
                <c:pt idx="5">
                  <c:v>140</c:v>
                </c:pt>
                <c:pt idx="6">
                  <c:v>137</c:v>
                </c:pt>
                <c:pt idx="7">
                  <c:v>138</c:v>
                </c:pt>
                <c:pt idx="8">
                  <c:v>80</c:v>
                </c:pt>
                <c:pt idx="9">
                  <c:v>99</c:v>
                </c:pt>
                <c:pt idx="10">
                  <c:v>163</c:v>
                </c:pt>
                <c:pt idx="11">
                  <c:v>190</c:v>
                </c:pt>
                <c:pt idx="12">
                  <c:v>116</c:v>
                </c:pt>
                <c:pt idx="13">
                  <c:v>133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Descarga</c:v>
                </c:pt>
              </c:strCache>
            </c:strRef>
          </c:tx>
          <c:spPr>
            <a:ln w="28575">
              <a:solidFill>
                <a:srgbClr val="E8B84B"/>
              </a:solidFill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10/6</c:v>
                </c:pt>
                <c:pt idx="1">
                  <c:v>17/6</c:v>
                </c:pt>
                <c:pt idx="2">
                  <c:v>24/6</c:v>
                </c:pt>
                <c:pt idx="3">
                  <c:v>8/7</c:v>
                </c:pt>
                <c:pt idx="4">
                  <c:v>15/7</c:v>
                </c:pt>
                <c:pt idx="5">
                  <c:v>24/7</c:v>
                </c:pt>
                <c:pt idx="6">
                  <c:v>30/7</c:v>
                </c:pt>
                <c:pt idx="7">
                  <c:v>7/8</c:v>
                </c:pt>
                <c:pt idx="8">
                  <c:v>13/8</c:v>
                </c:pt>
                <c:pt idx="9">
                  <c:v>21/8</c:v>
                </c:pt>
                <c:pt idx="10">
                  <c:v>28/8</c:v>
                </c:pt>
                <c:pt idx="11">
                  <c:v>04/09</c:v>
                </c:pt>
                <c:pt idx="12">
                  <c:v>11/09</c:v>
                </c:pt>
                <c:pt idx="13">
                  <c:v>18/09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184</c:v>
                </c:pt>
                <c:pt idx="1">
                  <c:v>180</c:v>
                </c:pt>
                <c:pt idx="2">
                  <c:v>159</c:v>
                </c:pt>
                <c:pt idx="3">
                  <c:v>170</c:v>
                </c:pt>
                <c:pt idx="4">
                  <c:v>166</c:v>
                </c:pt>
                <c:pt idx="5">
                  <c:v>188</c:v>
                </c:pt>
                <c:pt idx="6">
                  <c:v>208</c:v>
                </c:pt>
                <c:pt idx="7">
                  <c:v>186</c:v>
                </c:pt>
                <c:pt idx="8">
                  <c:v>110</c:v>
                </c:pt>
                <c:pt idx="9">
                  <c:v>146</c:v>
                </c:pt>
                <c:pt idx="10">
                  <c:v>152</c:v>
                </c:pt>
                <c:pt idx="11">
                  <c:v>215</c:v>
                </c:pt>
                <c:pt idx="12">
                  <c:v>155</c:v>
                </c:pt>
                <c:pt idx="13">
                  <c:v>208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Inter"/>
        </a:defRPr>
      </a:pPr>
      <a:endParaRPr lang="en-US"/>
    </a:p>
  </c:txPr>
  <c:externalData r:id="rId1">
    <c:autoUpdate val="0"/>
  </c:externalData>
</c:chartSpace>
</file>

<file path=ppt/charts/chart10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dPt>
            <c:idx val="4"/>
            <c:spPr>
              <a:solidFill>
                <a:srgbClr val="6E7D91"/>
              </a:solidFill>
            </c:spPr>
          </c:dPt>
          <c:cat>
            <c:strLit>
              <c:ptCount val="5"/>
              <c:pt idx="0">
                <c:v>8 lecturas</c:v>
              </c:pt>
              <c:pt idx="1">
                <c:v>7 lecturas</c:v>
              </c:pt>
              <c:pt idx="2">
                <c:v>6 lecturas</c:v>
              </c:pt>
              <c:pt idx="3">
                <c:v>5 lecturas</c:v>
              </c:pt>
              <c:pt idx="4">
                <c:v>≤4 lecturas</c:v>
              </c:pt>
            </c:strLit>
          </c:cat>
          <c:val>
            <c:numLit>
              <c:formatCode>0.##</c:formatCode>
              <c:ptCount val="5"/>
              <c:pt idx="0">
                <c:v>33</c:v>
              </c:pt>
              <c:pt idx="1">
                <c:v>28.2</c:v>
              </c:pt>
              <c:pt idx="2">
                <c:v>18.1</c:v>
              </c:pt>
              <c:pt idx="3">
                <c:v>12</c:v>
              </c:pt>
              <c:pt idx="4">
                <c:v>8.6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1"/>
              <c:pt idx="0">
                <c:v>R7 Terminal de embarque</c:v>
              </c:pt>
            </c:strLit>
          </c:cat>
          <c:val>
            <c:numLit>
              <c:formatCode>0.##</c:formatCode>
              <c:ptCount val="1"/>
              <c:pt idx="0">
                <c:v>2557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121</c:v>
              </c:pt>
              <c:pt idx="1">
                <c:v>94</c:v>
              </c:pt>
              <c:pt idx="2">
                <c:v>113</c:v>
              </c:pt>
              <c:pt idx="3">
                <c:v>145</c:v>
              </c:pt>
              <c:pt idx="4">
                <c:v>114</c:v>
              </c:pt>
              <c:pt idx="5">
                <c:v>171</c:v>
              </c:pt>
              <c:pt idx="6">
                <c:v>181</c:v>
              </c:pt>
              <c:pt idx="7">
                <c:v>120</c:v>
              </c:pt>
              <c:pt idx="8">
                <c:v>101</c:v>
              </c:pt>
              <c:pt idx="9">
                <c:v>130</c:v>
              </c:pt>
              <c:pt idx="10">
                <c:v>112</c:v>
              </c:pt>
              <c:pt idx="11">
                <c:v>140</c:v>
              </c:pt>
              <c:pt idx="12">
                <c:v>97</c:v>
              </c:pt>
              <c:pt idx="13">
                <c:v>126</c:v>
              </c:pt>
            </c:numLit>
          </c:val>
          <c:smooth val="0"/>
        </c:ser>
        <c:ser>
          <c:idx val="1"/>
          <c:order val="1"/>
          <c:tx>
            <c:v>Playa OSL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135</c:v>
              </c:pt>
              <c:pt idx="1">
                <c:v>104</c:v>
              </c:pt>
              <c:pt idx="2">
                <c:v>86</c:v>
              </c:pt>
              <c:pt idx="3">
                <c:v>105</c:v>
              </c:pt>
              <c:pt idx="4">
                <c:v>65</c:v>
              </c:pt>
              <c:pt idx="5">
                <c:v>140</c:v>
              </c:pt>
              <c:pt idx="6">
                <c:v>85</c:v>
              </c:pt>
              <c:pt idx="7">
                <c:v>145</c:v>
              </c:pt>
              <c:pt idx="8">
                <c:v>113</c:v>
              </c:pt>
              <c:pt idx="9">
                <c:v>127</c:v>
              </c:pt>
              <c:pt idx="10">
                <c:v>89</c:v>
              </c:pt>
              <c:pt idx="11">
                <c:v>137</c:v>
              </c:pt>
              <c:pt idx="12">
                <c:v>87</c:v>
              </c:pt>
              <c:pt idx="13">
                <c:v>119</c:v>
              </c:pt>
            </c:numLit>
          </c:val>
          <c:smooth val="0"/>
        </c:ser>
        <c:ser>
          <c:idx val="2"/>
          <c:order val="2"/>
          <c:tx>
            <c:v>Descarga</c:v>
          </c:tx>
          <c:spPr>
            <a:solidFill>
              <a:srgbClr val="C49A32"/>
            </a:solidFill>
            <a:ln w="19050">
              <a:solidFill>
                <a:srgbClr val="C49A32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79</c:v>
              </c:pt>
              <c:pt idx="1">
                <c:v>92</c:v>
              </c:pt>
              <c:pt idx="2">
                <c:v>64</c:v>
              </c:pt>
              <c:pt idx="3">
                <c:v>70</c:v>
              </c:pt>
              <c:pt idx="4">
                <c:v>60</c:v>
              </c:pt>
              <c:pt idx="5">
                <c:v>59</c:v>
              </c:pt>
              <c:pt idx="6">
                <c:v>58</c:v>
              </c:pt>
              <c:pt idx="7">
                <c:v>68</c:v>
              </c:pt>
              <c:pt idx="8">
                <c:v>63</c:v>
              </c:pt>
              <c:pt idx="9">
                <c:v>71</c:v>
              </c:pt>
              <c:pt idx="10">
                <c:v>64</c:v>
              </c:pt>
              <c:pt idx="11">
                <c:v>62</c:v>
              </c:pt>
              <c:pt idx="12">
                <c:v>63</c:v>
              </c:pt>
              <c:pt idx="13">
                <c:v>61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Tiempo medio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376</c:v>
              </c:pt>
              <c:pt idx="1">
                <c:v>338</c:v>
              </c:pt>
              <c:pt idx="2">
                <c:v>316</c:v>
              </c:pt>
              <c:pt idx="3">
                <c:v>383</c:v>
              </c:pt>
              <c:pt idx="4">
                <c:v>304</c:v>
              </c:pt>
              <c:pt idx="5">
                <c:v>445</c:v>
              </c:pt>
              <c:pt idx="6">
                <c:v>389</c:v>
              </c:pt>
              <c:pt idx="7">
                <c:v>421</c:v>
              </c:pt>
              <c:pt idx="8">
                <c:v>346</c:v>
              </c:pt>
              <c:pt idx="9">
                <c:v>368</c:v>
              </c:pt>
              <c:pt idx="10">
                <c:v>296</c:v>
              </c:pt>
              <c:pt idx="11">
                <c:v>379</c:v>
              </c:pt>
              <c:pt idx="12">
                <c:v>276</c:v>
              </c:pt>
              <c:pt idx="13">
                <c:v>334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Cobertura de lecturas</a:t>
            </a:r>
          </a:p>
        </c:rich>
      </c:tx>
      <c:layout/>
      <c:overlay val="0"/>
    </c:title>
    <c:plotArea>
      <c:layout/>
      <c:pieChart>
        <c:varyColors val="1"/>
        <c:ser>
          <c:idx val="0"/>
          <c:order val="0"/>
          <c:tx>
            <c:v>Porcentaje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dPt>
            <c:idx val="0"/>
            <c:spPr>
              <a:solidFill>
                <a:srgbClr val="0B5A43"/>
              </a:solidFill>
            </c:spPr>
          </c:dPt>
          <c:dPt>
            <c:idx val="1"/>
            <c:spPr>
              <a:solidFill>
                <a:srgbClr val="4472C4"/>
              </a:solidFill>
            </c:spPr>
          </c:dPt>
          <c:dPt>
            <c:idx val="2"/>
            <c:spPr>
              <a:solidFill>
                <a:srgbClr val="C49A32"/>
              </a:solidFill>
            </c:spPr>
          </c:dPt>
          <c:dPt>
            <c:idx val="3"/>
            <c:spPr>
              <a:solidFill>
                <a:srgbClr val="A95C3F"/>
              </a:solidFill>
            </c:spPr>
          </c:dPt>
          <c:cat>
            <c:strLit>
              <c:ptCount val="4"/>
              <c:pt idx="0">
                <c:v>7 lecturas</c:v>
              </c:pt>
              <c:pt idx="1">
                <c:v>6 lecturas</c:v>
              </c:pt>
              <c:pt idx="2">
                <c:v>5 lecturas</c:v>
              </c:pt>
              <c:pt idx="3">
                <c:v>≤4 lecturas</c:v>
              </c:pt>
            </c:strLit>
          </c:cat>
          <c:val>
            <c:numLit>
              <c:formatCode>0.##</c:formatCode>
              <c:ptCount val="4"/>
              <c:pt idx="0">
                <c:v>60</c:v>
              </c:pt>
              <c:pt idx="1">
                <c:v>20</c:v>
              </c:pt>
              <c:pt idx="2">
                <c:v>9.1</c:v>
              </c:pt>
              <c:pt idx="3">
                <c:v>10.9</c:v>
              </c:pt>
            </c:numLit>
          </c:val>
        </c:ser>
        <c:dLbls>
          <c:numFmt formatCode="0.0&quot;%&quot;" sourceLinked="0"/>
          <c:dLblPos val="bestFit"/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Distribución por circuito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3"/>
              <c:pt idx="0">
                <c:v>R5 Volcable 1</c:v>
              </c:pt>
              <c:pt idx="1">
                <c:v>R6 Volcable 2</c:v>
              </c:pt>
              <c:pt idx="2">
                <c:v>R4 Silos Kepler</c:v>
              </c:pt>
            </c:strLit>
          </c:cat>
          <c:val>
            <c:numLit>
              <c:formatCode>0.##</c:formatCode>
              <c:ptCount val="3"/>
              <c:pt idx="0">
                <c:v>361</c:v>
              </c:pt>
              <c:pt idx="1">
                <c:v>92</c:v>
              </c:pt>
              <c:pt idx="2">
                <c:v>40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por tramo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Playa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120</c:v>
              </c:pt>
              <c:pt idx="1">
                <c:v>107</c:v>
              </c:pt>
              <c:pt idx="2">
                <c:v>105</c:v>
              </c:pt>
              <c:pt idx="3">
                <c:v>122</c:v>
              </c:pt>
              <c:pt idx="4">
                <c:v>117</c:v>
              </c:pt>
              <c:pt idx="5">
                <c:v>140</c:v>
              </c:pt>
              <c:pt idx="6">
                <c:v>137</c:v>
              </c:pt>
              <c:pt idx="7">
                <c:v>138</c:v>
              </c:pt>
              <c:pt idx="8">
                <c:v>80</c:v>
              </c:pt>
              <c:pt idx="9">
                <c:v>99</c:v>
              </c:pt>
              <c:pt idx="10">
                <c:v>163</c:v>
              </c:pt>
              <c:pt idx="11">
                <c:v>190</c:v>
              </c:pt>
              <c:pt idx="12">
                <c:v>116</c:v>
              </c:pt>
              <c:pt idx="13">
                <c:v>133</c:v>
              </c:pt>
            </c:numLit>
          </c:val>
          <c:smooth val="0"/>
        </c:ser>
        <c:ser>
          <c:idx val="1"/>
          <c:order val="1"/>
          <c:tx>
            <c:v>Descarga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184</c:v>
              </c:pt>
              <c:pt idx="1">
                <c:v>180</c:v>
              </c:pt>
              <c:pt idx="2">
                <c:v>159</c:v>
              </c:pt>
              <c:pt idx="3">
                <c:v>170</c:v>
              </c:pt>
              <c:pt idx="4">
                <c:v>166</c:v>
              </c:pt>
              <c:pt idx="5">
                <c:v>188</c:v>
              </c:pt>
              <c:pt idx="6">
                <c:v>208</c:v>
              </c:pt>
              <c:pt idx="7">
                <c:v>186</c:v>
              </c:pt>
              <c:pt idx="8">
                <c:v>110</c:v>
              </c:pt>
              <c:pt idx="9">
                <c:v>146</c:v>
              </c:pt>
              <c:pt idx="10">
                <c:v>152</c:v>
              </c:pt>
              <c:pt idx="11">
                <c:v>215</c:v>
              </c:pt>
              <c:pt idx="12">
                <c:v>155</c:v>
              </c:pt>
              <c:pt idx="13">
                <c:v>208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Histórico total</a:t>
            </a:r>
          </a:p>
        </c:rich>
      </c:tx>
      <c:layout/>
      <c:overlay val="0"/>
    </c:title>
    <c:plotArea>
      <c:layout/>
      <c:lineChart>
        <c:grouping val="standard"/>
        <c:varyColors val="0"/>
        <c:ser>
          <c:idx val="0"/>
          <c:order val="0"/>
          <c:tx>
            <c:v>Girasol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marker>
            <c:symbol val="circle"/>
            <c:size val="4"/>
          </c:marker>
          <c:cat>
            <c:strLit>
              <c:ptCount val="14"/>
              <c:pt idx="0">
                <c:v>10/6</c:v>
              </c:pt>
              <c:pt idx="1">
                <c:v>17/6</c:v>
              </c:pt>
              <c:pt idx="2">
                <c:v>24/6</c:v>
              </c:pt>
              <c:pt idx="3">
                <c:v>8/7</c:v>
              </c:pt>
              <c:pt idx="4">
                <c:v>15/7</c:v>
              </c:pt>
              <c:pt idx="5">
                <c:v>24/7</c:v>
              </c:pt>
              <c:pt idx="6">
                <c:v>30/7</c:v>
              </c:pt>
              <c:pt idx="7">
                <c:v>7/8</c:v>
              </c:pt>
              <c:pt idx="8">
                <c:v>13/8</c:v>
              </c:pt>
              <c:pt idx="9">
                <c:v>21/8</c:v>
              </c:pt>
              <c:pt idx="10">
                <c:v>28/8</c:v>
              </c:pt>
              <c:pt idx="11">
                <c:v>04/09</c:v>
              </c:pt>
              <c:pt idx="12">
                <c:v>11/09</c:v>
              </c:pt>
              <c:pt idx="13">
                <c:v>18/09</c:v>
              </c:pt>
            </c:strLit>
          </c:cat>
          <c:val>
            <c:numLit>
              <c:formatCode>0.##</c:formatCode>
              <c:ptCount val="14"/>
              <c:pt idx="0">
                <c:v>326</c:v>
              </c:pt>
              <c:pt idx="1">
                <c:v>315</c:v>
              </c:pt>
              <c:pt idx="2">
                <c:v>287</c:v>
              </c:pt>
              <c:pt idx="3">
                <c:v>317</c:v>
              </c:pt>
              <c:pt idx="4">
                <c:v>306</c:v>
              </c:pt>
              <c:pt idx="5">
                <c:v>351</c:v>
              </c:pt>
              <c:pt idx="6">
                <c:v>361</c:v>
              </c:pt>
              <c:pt idx="7">
                <c:v>347</c:v>
              </c:pt>
              <c:pt idx="8">
                <c:v>241</c:v>
              </c:pt>
              <c:pt idx="9">
                <c:v>289</c:v>
              </c:pt>
              <c:pt idx="10">
                <c:v>353</c:v>
              </c:pt>
              <c:pt idx="11">
                <c:v>430</c:v>
              </c:pt>
              <c:pt idx="12">
                <c:v>319</c:v>
              </c:pt>
              <c:pt idx="13">
                <c:v>382</c:v>
              </c:pt>
            </c:numLit>
          </c:val>
          <c:smooth val="0"/>
        </c:ser>
        <c:axId val="100"/>
        <c:axId val="200"/>
      </c:line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semanal por calle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6"/>
              <c:pt idx="0">
                <c:v>Calle 1</c:v>
              </c:pt>
              <c:pt idx="1">
                <c:v>Calle 2</c:v>
              </c:pt>
              <c:pt idx="2">
                <c:v>Calle 3</c:v>
              </c:pt>
              <c:pt idx="3">
                <c:v>Calle 4</c:v>
              </c:pt>
              <c:pt idx="4">
                <c:v>Calle 5</c:v>
              </c:pt>
              <c:pt idx="5">
                <c:v>Calle 6</c:v>
              </c:pt>
            </c:strLit>
          </c:cat>
          <c:val>
            <c:numLit>
              <c:formatCode>0.##</c:formatCode>
              <c:ptCount val="6"/>
              <c:pt idx="0">
                <c:v>831</c:v>
              </c:pt>
              <c:pt idx="1">
                <c:v>837</c:v>
              </c:pt>
              <c:pt idx="2">
                <c:v>626</c:v>
              </c:pt>
              <c:pt idx="3">
                <c:v>625</c:v>
              </c:pt>
              <c:pt idx="4">
                <c:v>3</c:v>
              </c:pt>
              <c:pt idx="5">
                <c:v>38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líquidos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1</c:v>
              </c:pt>
              <c:pt idx="1">
                <c:v>4</c:v>
              </c:pt>
              <c:pt idx="2">
                <c:v>2</c:v>
              </c:pt>
              <c:pt idx="3">
                <c:v>0</c:v>
              </c:pt>
              <c:pt idx="4">
                <c:v>91</c:v>
              </c:pt>
              <c:pt idx="5">
                <c:v>27</c:v>
              </c:pt>
              <c:pt idx="6">
                <c:v>30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Calada San Lorenzo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55</c:v>
              </c:pt>
              <c:pt idx="1">
                <c:v>47</c:v>
              </c:pt>
              <c:pt idx="2">
                <c:v>7</c:v>
              </c:pt>
              <c:pt idx="3">
                <c:v>2</c:v>
              </c:pt>
              <c:pt idx="4">
                <c:v>40</c:v>
              </c:pt>
              <c:pt idx="5">
                <c:v>51</c:v>
              </c:pt>
              <c:pt idx="6">
                <c:v>40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semanales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2"/>
              <c:pt idx="0">
                <c:v>Volcable 1</c:v>
              </c:pt>
              <c:pt idx="1">
                <c:v>Volcable 2</c:v>
              </c:pt>
            </c:strLit>
          </c:cat>
          <c:val>
            <c:numLit>
              <c:formatCode>0.##</c:formatCode>
              <c:ptCount val="2"/>
              <c:pt idx="0">
                <c:v>361</c:v>
              </c:pt>
              <c:pt idx="1">
                <c:v>92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Descargas diarias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Volcable 1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55</c:v>
              </c:pt>
              <c:pt idx="1">
                <c:v>70</c:v>
              </c:pt>
              <c:pt idx="2">
                <c:v>70</c:v>
              </c:pt>
              <c:pt idx="3">
                <c:v>10</c:v>
              </c:pt>
              <c:pt idx="4">
                <c:v>36</c:v>
              </c:pt>
              <c:pt idx="5">
                <c:v>63</c:v>
              </c:pt>
              <c:pt idx="6">
                <c:v>74</c:v>
              </c:pt>
            </c:numLit>
          </c:val>
        </c:ser>
        <c:ser>
          <c:idx val="1"/>
          <c:order val="1"/>
          <c:tx>
            <c:v>Volcable 2</c:v>
          </c:tx>
          <c:spPr>
            <a:solidFill>
              <a:srgbClr val="4472C4"/>
            </a:solidFill>
            <a:ln w="19050">
              <a:solidFill>
                <a:srgbClr val="4472C4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21</c:v>
              </c:pt>
              <c:pt idx="1">
                <c:v>16</c:v>
              </c:pt>
              <c:pt idx="2">
                <c:v>17</c:v>
              </c:pt>
              <c:pt idx="3">
                <c:v>6</c:v>
              </c:pt>
              <c:pt idx="4">
                <c:v>15</c:v>
              </c:pt>
              <c:pt idx="5">
                <c:v>12</c:v>
              </c:pt>
              <c:pt idx="6">
                <c:v>9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Silos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0</c:v>
              </c:pt>
              <c:pt idx="1">
                <c:v>30</c:v>
              </c:pt>
              <c:pt idx="2">
                <c:v>10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por día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7"/>
              <c:pt idx="0">
                <c:v>Jueves</c:v>
              </c:pt>
              <c:pt idx="1">
                <c:v>Viernes</c:v>
              </c:pt>
              <c:pt idx="2">
                <c:v>Sábado</c:v>
              </c:pt>
              <c:pt idx="3">
                <c:v>Domingo</c:v>
              </c:pt>
              <c:pt idx="4">
                <c:v>Lunes</c:v>
              </c:pt>
              <c:pt idx="5">
                <c:v>Martes</c:v>
              </c:pt>
              <c:pt idx="6">
                <c:v>Miércoles</c:v>
              </c:pt>
            </c:strLit>
          </c:cat>
          <c:val>
            <c:numLit>
              <c:formatCode>0.##</c:formatCode>
              <c:ptCount val="7"/>
              <c:pt idx="0">
                <c:v>523</c:v>
              </c:pt>
              <c:pt idx="1">
                <c:v>488</c:v>
              </c:pt>
              <c:pt idx="2">
                <c:v>444</c:v>
              </c:pt>
              <c:pt idx="3">
                <c:v>54</c:v>
              </c:pt>
              <c:pt idx="4">
                <c:v>291</c:v>
              </c:pt>
              <c:pt idx="5">
                <c:v>479</c:v>
              </c:pt>
              <c:pt idx="6">
                <c:v>409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charts/chart10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AR"/>
  <c:chart>
    <c:title>
      <c:tx>
        <c:rich>
          <a:bodyPr/>
          <a:lstStyle/>
          <a:p>
            <a:r>
              <a:rPr sz="1050" lang="es-AR">
                <a:latin typeface="Arial"/>
              </a:rPr>
              <a:t>Puerto semanal por equipo</a:t>
            </a:r>
          </a:p>
        </c:rich>
      </c:tx>
      <c:layout/>
      <c:overlay val="0"/>
    </c:title>
    <c:plotArea>
      <c:layout/>
      <c:barChart>
        <c:barDir val="col"/>
        <c:grouping val="clustered"/>
        <c:ser>
          <c:idx val="0"/>
          <c:order val="0"/>
          <c:tx>
            <c:v>Cantidad</c:v>
          </c:tx>
          <c:spPr>
            <a:solidFill>
              <a:srgbClr val="0B5A43"/>
            </a:solidFill>
            <a:ln w="19050">
              <a:solidFill>
                <a:srgbClr val="0B5A43"/>
              </a:solidFill>
            </a:ln>
          </c:spPr>
          <c:cat>
            <c:strLit>
              <c:ptCount val="5"/>
              <c:pt idx="0">
                <c:v>Volcable 1</c:v>
              </c:pt>
              <c:pt idx="1">
                <c:v>Volcable 2</c:v>
              </c:pt>
              <c:pt idx="2">
                <c:v>Volcable 3</c:v>
              </c:pt>
              <c:pt idx="3">
                <c:v>Volcable 4</c:v>
              </c:pt>
              <c:pt idx="4">
                <c:v>Volcable 5</c:v>
              </c:pt>
            </c:strLit>
          </c:cat>
          <c:val>
            <c:numLit>
              <c:formatCode>0.##</c:formatCode>
              <c:ptCount val="5"/>
              <c:pt idx="0">
                <c:v>502</c:v>
              </c:pt>
              <c:pt idx="1">
                <c:v>627</c:v>
              </c:pt>
              <c:pt idx="2">
                <c:v>641</c:v>
              </c:pt>
              <c:pt idx="3">
                <c:v>226</c:v>
              </c:pt>
              <c:pt idx="4">
                <c:v>692</c:v>
              </c:pt>
            </c:numLit>
          </c:val>
        </c:ser>
        <c:dLbls>
          <c:numFmt formatCode="0.##" sourceLinked="0"/>
          <c:dLblPos val="outEnd"/>
          <c:showLegendKey val="0"/>
          <c:showVal val="1"/>
          <c:showCatName val="0"/>
          <c:showSerName val="0"/>
          <c:showPercent val="0"/>
        </c:dLbls>
        <c:gapWidth val="70"/>
        <c:axId val="100"/>
        <c:axId val="200"/>
      </c:barChart>
      <c:catAx>
        <c:axId val="100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200"/>
        <c:crosses val="autoZero"/>
        <c:auto val="1"/>
        <c:lblAlgn val="ctr"/>
        <c:lblOffset val="100"/>
      </c:catAx>
      <c:valAx>
        <c:axId val="200"/>
        <c:scaling>
          <c:orientation val="minMax"/>
        </c:scaling>
        <c:delete val="0"/>
        <c:axPos val="l"/>
        <c:majorGridlines/>
        <c:numFmt formatCode="0.##" sourceLinked="0"/>
        <c:majorTickMark val="none"/>
        <c:minorTickMark val="none"/>
        <c:tickLblPos val="nextTo"/>
        <c:txPr>
          <a:bodyPr/>
          <a:lstStyle/>
          <a:p>
            <a:r>
              <a:rPr sz="850" lang="es-AR">
                <a:latin typeface="Arial"/>
              </a:rPr>
              <a:t/>
            </a:r>
          </a:p>
        </c:txPr>
        <c:crossAx val="100"/>
        <c:crosses val="autoZero"/>
        <c:crossBetween val="between"/>
      </c:valAx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r>
        <a:rPr sz="900" lang="es-AR">
          <a:latin typeface="Arial"/>
        </a:rPr>
        <a:t/>
      </a:r>
    </a:p>
  </c:tx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daily_comparison. Fuente prevista: timing.</a:t>
            </a:r>
          </a:p>
          <a:p>
            <a:r>
              <a:t>Campos previstos: days[].total_minutes, period.total_minutes, days[].quarters.Q1, days[].quarters.Q2, days[].quarters.Q3, days[].quarters.Q4.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plant_comparison. Fuente prevista: timing.</a:t>
            </a:r>
          </a:p>
          <a:p>
            <a:r>
              <a:t>Campos previstos: days[].label, days[].ricardone_minutes, days[].san_lorenzo_minutes.</a:t>
            </a:r>
          </a:p>
          <a:p>
            <a:r>
              <a:t>Inclusión futura: always.</a:t>
            </a:r>
          </a:p>
          <a:p>
            <a:r>
              <a:t>Comparación de días del período; no confundir con serie histórica de operativos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activity_overview.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activity_bars_kpis.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activity_bars.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activity_line_kpis.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activity_combined.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totals.medianTrucksPerHour,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activity_bars_kpis.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activity_bars_narrative.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activity_bars.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activity_line_kpis.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distribution_pct, totals.medianTrucksPerHour.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Relationship Id="rIdManual1000" Type="http://schemas.openxmlformats.org/officeDocument/2006/relationships/chart" Target="../charts/chart1000.xml"/><Relationship Id="rIdManual1001" Type="http://schemas.openxmlformats.org/officeDocument/2006/relationships/chart" Target="../charts/chart100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Relationship Id="rId8" Type="http://schemas.openxmlformats.org/officeDocument/2006/relationships/chart" Target="../charts/chart1.xml"/><Relationship Id="rId9" Type="http://schemas.openxmlformats.org/officeDocument/2006/relationships/chart" Target="../charts/chart2.xml"/><Relationship Id="rIdManual1005" Type="http://schemas.openxmlformats.org/officeDocument/2006/relationships/chart" Target="../charts/chart1005.xml"/><Relationship Id="rIdManual1006" Type="http://schemas.openxmlformats.org/officeDocument/2006/relationships/chart" Target="../charts/chart100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Relationship Id="rIdManual1009" Type="http://schemas.openxmlformats.org/officeDocument/2006/relationships/chart" Target="../charts/chart1009.xml"/><Relationship Id="rIdManual1010" Type="http://schemas.openxmlformats.org/officeDocument/2006/relationships/chart" Target="../charts/chart10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Relationship Id="rId8" Type="http://schemas.openxmlformats.org/officeDocument/2006/relationships/chart" Target="../charts/chart3.xml"/><Relationship Id="rId9" Type="http://schemas.openxmlformats.org/officeDocument/2006/relationships/chart" Target="../charts/chart4.xml"/><Relationship Id="rIdManual1011" Type="http://schemas.openxmlformats.org/officeDocument/2006/relationships/chart" Target="../charts/chart1011.xml"/><Relationship Id="rIdManual1012" Type="http://schemas.openxmlformats.org/officeDocument/2006/relationships/chart" Target="../charts/chart10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13" Type="http://schemas.openxmlformats.org/officeDocument/2006/relationships/chart" Target="../charts/chart10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Relationship Id="rIdManual1021" Type="http://schemas.openxmlformats.org/officeDocument/2006/relationships/chart" Target="../charts/chart102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Relationship Id="rIdManual1022" Type="http://schemas.openxmlformats.org/officeDocument/2006/relationships/chart" Target="../charts/chart102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Relationship Id="rIdManual1023" Type="http://schemas.openxmlformats.org/officeDocument/2006/relationships/chart" Target="../charts/chart1023.xml"/><Relationship Id="rIdManual1024" Type="http://schemas.openxmlformats.org/officeDocument/2006/relationships/chart" Target="../charts/chart102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Relationship Id="rIdManual1025" Type="http://schemas.openxmlformats.org/officeDocument/2006/relationships/chart" Target="../charts/chart102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Manual1026" Type="http://schemas.openxmlformats.org/officeDocument/2006/relationships/chart" Target="../charts/chart102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Relationship Id="rIdManual1027" Type="http://schemas.openxmlformats.org/officeDocument/2006/relationships/chart" Target="../charts/chart10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1/72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s002.text.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label"/>
          <p:cNvSpPr txBox="1"/>
          <p:nvPr/>
        </p:nvSpPr>
        <p:spPr>
          <a:xfrm>
            <a:off x="1095375" y="781050"/>
            <a:ext cx="69532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Período analizado: 10/09 al 16/09/2026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index.0.number"/>
          <p:cNvSpPr txBox="1"/>
          <p:nvPr/>
        </p:nvSpPr>
        <p:spPr>
          <a:xfrm>
            <a:off x="1095375" y="1285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1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3" name="index.0.title"/>
          <p:cNvSpPr txBox="1"/>
          <p:nvPr/>
        </p:nvSpPr>
        <p:spPr>
          <a:xfrm>
            <a:off x="1695450" y="1285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Tamaño de la muestra y período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4" name="index.0.pages"/>
          <p:cNvSpPr txBox="1"/>
          <p:nvPr/>
        </p:nvSpPr>
        <p:spPr>
          <a:xfrm>
            <a:off x="7029450" y="1285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index.1.number"/>
          <p:cNvSpPr txBox="1"/>
          <p:nvPr/>
        </p:nvSpPr>
        <p:spPr>
          <a:xfrm>
            <a:off x="1095375" y="1857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6" name="index.1.title"/>
          <p:cNvSpPr txBox="1"/>
          <p:nvPr/>
        </p:nvSpPr>
        <p:spPr>
          <a:xfrm>
            <a:off x="1695450" y="1857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soja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7" name="index.1.pages"/>
          <p:cNvSpPr txBox="1"/>
          <p:nvPr/>
        </p:nvSpPr>
        <p:spPr>
          <a:xfrm>
            <a:off x="7029450" y="1857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4–18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8" name="index.2.number"/>
          <p:cNvSpPr txBox="1"/>
          <p:nvPr/>
        </p:nvSpPr>
        <p:spPr>
          <a:xfrm>
            <a:off x="1095375" y="2428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index.2.title"/>
          <p:cNvSpPr txBox="1"/>
          <p:nvPr/>
        </p:nvSpPr>
        <p:spPr>
          <a:xfrm>
            <a:off x="1695450" y="2428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Operativo de pellet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0" name="index.2.pages"/>
          <p:cNvSpPr txBox="1"/>
          <p:nvPr/>
        </p:nvSpPr>
        <p:spPr>
          <a:xfrm>
            <a:off x="7029450" y="2428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19–26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index.3.number"/>
          <p:cNvSpPr txBox="1"/>
          <p:nvPr/>
        </p:nvSpPr>
        <p:spPr>
          <a:xfrm>
            <a:off x="1095375" y="3000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4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index.3.title"/>
          <p:cNvSpPr txBox="1"/>
          <p:nvPr/>
        </p:nvSpPr>
        <p:spPr>
          <a:xfrm>
            <a:off x="1695450" y="3000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Operación de semilla de girasol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3" name="index.3.pages"/>
          <p:cNvSpPr txBox="1"/>
          <p:nvPr/>
        </p:nvSpPr>
        <p:spPr>
          <a:xfrm>
            <a:off x="7029450" y="3000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27–32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4" name="index.4.number"/>
          <p:cNvSpPr txBox="1"/>
          <p:nvPr/>
        </p:nvSpPr>
        <p:spPr>
          <a:xfrm>
            <a:off x="1095375" y="35718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5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index.4.title"/>
          <p:cNvSpPr txBox="1"/>
          <p:nvPr/>
        </p:nvSpPr>
        <p:spPr>
          <a:xfrm>
            <a:off x="1695450" y="35718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6" name="index.4.pages"/>
          <p:cNvSpPr txBox="1"/>
          <p:nvPr/>
        </p:nvSpPr>
        <p:spPr>
          <a:xfrm>
            <a:off x="7029450" y="35718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33–51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7" name="index.5.number"/>
          <p:cNvSpPr txBox="1"/>
          <p:nvPr/>
        </p:nvSpPr>
        <p:spPr>
          <a:xfrm>
            <a:off x="1095375" y="4143375"/>
            <a:ext cx="457200" cy="43815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650" b="1">
                <a:solidFill>
                  <a:srgbClr val="FFFFFF"/>
                </a:solidFill>
                <a:latin typeface="Inter"/>
              </a:rPr>
              <a:t>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index.5.title"/>
          <p:cNvSpPr txBox="1"/>
          <p:nvPr/>
        </p:nvSpPr>
        <p:spPr>
          <a:xfrm>
            <a:off x="1695450" y="4143375"/>
            <a:ext cx="53340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1">
                <a:solidFill>
                  <a:srgbClr val="06245F"/>
                </a:solidFill>
                <a:latin typeface="Inter"/>
              </a:rPr>
              <a:t>Actividad de volcables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19" name="index.5.pages"/>
          <p:cNvSpPr txBox="1"/>
          <p:nvPr/>
        </p:nvSpPr>
        <p:spPr>
          <a:xfrm>
            <a:off x="7029450" y="4143375"/>
            <a:ext cx="1066800" cy="43815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r"/>
            <a:r>
              <a:rPr lang="es-AR" sz="1275" b="0">
                <a:solidFill>
                  <a:srgbClr val="06245F"/>
                </a:solidFill>
                <a:latin typeface="Inter"/>
              </a:rPr>
              <a:t>Pág. 52–72</a:t>
            </a:r>
            <a:endParaRPr sz="127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s003.text.9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period.heading"/>
          <p:cNvSpPr txBox="1"/>
          <p:nvPr/>
        </p:nvSpPr>
        <p:spPr>
          <a:xfrm>
            <a:off x="666750" y="10668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PERÍODO DE ANÁLISIS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2" name="period.start.label"/>
          <p:cNvSpPr txBox="1"/>
          <p:nvPr/>
        </p:nvSpPr>
        <p:spPr>
          <a:xfrm>
            <a:off x="6667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Inicio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3" name="period.start"/>
          <p:cNvSpPr txBox="1"/>
          <p:nvPr/>
        </p:nvSpPr>
        <p:spPr>
          <a:xfrm>
            <a:off x="6667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10/09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4" name="period.end.label"/>
          <p:cNvSpPr txBox="1"/>
          <p:nvPr/>
        </p:nvSpPr>
        <p:spPr>
          <a:xfrm>
            <a:off x="190500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Fin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5" name="period.end"/>
          <p:cNvSpPr txBox="1"/>
          <p:nvPr/>
        </p:nvSpPr>
        <p:spPr>
          <a:xfrm>
            <a:off x="190500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16/09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6" name="period.days.label"/>
          <p:cNvSpPr txBox="1"/>
          <p:nvPr/>
        </p:nvSpPr>
        <p:spPr>
          <a:xfrm>
            <a:off x="3143250" y="1457325"/>
            <a:ext cx="1143000" cy="2381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125" b="0">
                <a:solidFill>
                  <a:srgbClr val="06245F"/>
                </a:solidFill>
                <a:latin typeface="Inter"/>
              </a:rPr>
              <a:t>Días</a:t>
            </a:r>
            <a:endParaRPr sz="1125"/>
          </a:p>
        </p:txBody>
      </p:sp>
      <p:sp xmlns:p="http://schemas.openxmlformats.org/presentationml/2006/main" xmlns:a="http://schemas.openxmlformats.org/drawingml/2006/main">
        <p:nvSpPr>
          <p:cNvPr id="20007" name="period.days"/>
          <p:cNvSpPr txBox="1"/>
          <p:nvPr/>
        </p:nvSpPr>
        <p:spPr>
          <a:xfrm>
            <a:off x="3143250" y="1714500"/>
            <a:ext cx="1143000" cy="42862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2250" b="1">
                <a:solidFill>
                  <a:srgbClr val="06245F"/>
                </a:solidFill>
                <a:latin typeface="Inter"/>
              </a:rPr>
              <a:t>7</a:t>
            </a:r>
            <a:endParaRPr sz="2250"/>
          </a:p>
        </p:txBody>
      </p:sp>
      <p:sp xmlns:p="http://schemas.openxmlformats.org/presentationml/2006/main" xmlns:a="http://schemas.openxmlformats.org/drawingml/2006/main">
        <p:nvSpPr>
          <p:cNvPr id="20008" name="sample.total.label"/>
          <p:cNvSpPr txBox="1"/>
          <p:nvPr/>
        </p:nvSpPr>
        <p:spPr>
          <a:xfrm>
            <a:off x="5048250" y="106680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06245F"/>
                </a:solidFill>
                <a:latin typeface="Inter"/>
              </a:rPr>
              <a:t>VOLUMEN TOTAL REGISTRADO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9" name="sample.total"/>
          <p:cNvSpPr txBox="1"/>
          <p:nvPr/>
        </p:nvSpPr>
        <p:spPr>
          <a:xfrm>
            <a:off x="5048250" y="1466850"/>
            <a:ext cx="3333750" cy="57150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3150" b="1">
                <a:solidFill>
                  <a:srgbClr val="06245F"/>
                </a:solidFill>
                <a:latin typeface="Inter"/>
              </a:rPr>
              <a:t>3.423</a:t>
            </a:r>
            <a:endParaRPr sz="3150"/>
          </a:p>
        </p:txBody>
      </p:sp>
      <p:sp xmlns:p="http://schemas.openxmlformats.org/presentationml/2006/main" xmlns:a="http://schemas.openxmlformats.org/drawingml/2006/main">
        <p:nvSpPr>
          <p:cNvPr id="20010" name="sample.unit"/>
          <p:cNvSpPr txBox="1"/>
          <p:nvPr/>
        </p:nvSpPr>
        <p:spPr>
          <a:xfrm>
            <a:off x="5048250" y="2095500"/>
            <a:ext cx="3333750" cy="2857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0">
                <a:solidFill>
                  <a:srgbClr val="06245F"/>
                </a:solidFill>
                <a:latin typeface="Inter"/>
              </a:rPr>
              <a:t>camiones · valor reportado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11" name="products.soja.label"/>
          <p:cNvSpPr txBox="1"/>
          <p:nvPr/>
        </p:nvSpPr>
        <p:spPr>
          <a:xfrm>
            <a:off x="666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8761D"/>
                </a:solidFill>
                <a:latin typeface="Inter"/>
              </a:rPr>
              <a:t>SOJA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2" name="products.soja.count"/>
          <p:cNvSpPr txBox="1"/>
          <p:nvPr/>
        </p:nvSpPr>
        <p:spPr>
          <a:xfrm>
            <a:off x="666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8761D"/>
                </a:solidFill>
                <a:latin typeface="Inter"/>
              </a:rPr>
              <a:t>2.557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3" name="products.girasol.label"/>
          <p:cNvSpPr txBox="1"/>
          <p:nvPr/>
        </p:nvSpPr>
        <p:spPr>
          <a:xfrm>
            <a:off x="2762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A78619"/>
                </a:solidFill>
                <a:latin typeface="Inter"/>
              </a:rPr>
              <a:t>GIRASOL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4" name="products.girasol.count"/>
          <p:cNvSpPr txBox="1"/>
          <p:nvPr/>
        </p:nvSpPr>
        <p:spPr>
          <a:xfrm>
            <a:off x="2762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A78619"/>
                </a:solidFill>
                <a:latin typeface="Inter"/>
              </a:rPr>
              <a:t>523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5" name="products.liquidos.label"/>
          <p:cNvSpPr txBox="1"/>
          <p:nvPr/>
        </p:nvSpPr>
        <p:spPr>
          <a:xfrm>
            <a:off x="48577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B86415"/>
                </a:solidFill>
                <a:latin typeface="Inter"/>
              </a:rPr>
              <a:t>LÍQUIDOS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6" name="products.liquidos.count"/>
          <p:cNvSpPr txBox="1"/>
          <p:nvPr/>
        </p:nvSpPr>
        <p:spPr>
          <a:xfrm>
            <a:off x="48577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B86415"/>
                </a:solidFill>
                <a:latin typeface="Inter"/>
              </a:rPr>
              <a:t>155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7" name="products.pellet.label"/>
          <p:cNvSpPr txBox="1"/>
          <p:nvPr/>
        </p:nvSpPr>
        <p:spPr>
          <a:xfrm>
            <a:off x="6953250" y="2971800"/>
            <a:ext cx="1905000" cy="381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1425" b="1">
                <a:solidFill>
                  <a:srgbClr val="356CB3"/>
                </a:solidFill>
                <a:latin typeface="Inter"/>
              </a:rPr>
              <a:t>PELLET</a:t>
            </a:r>
            <a:endParaRPr sz="1425"/>
          </a:p>
        </p:txBody>
      </p:sp>
      <p:sp xmlns:p="http://schemas.openxmlformats.org/presentationml/2006/main" xmlns:a="http://schemas.openxmlformats.org/drawingml/2006/main">
        <p:nvSpPr>
          <p:cNvPr id="20018" name="products.pellet.count"/>
          <p:cNvSpPr txBox="1"/>
          <p:nvPr/>
        </p:nvSpPr>
        <p:spPr>
          <a:xfrm>
            <a:off x="6953250" y="3352800"/>
            <a:ext cx="1905000" cy="69532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ctr"/>
            <a:r>
              <a:rPr lang="es-AR" sz="2775" b="1">
                <a:solidFill>
                  <a:srgbClr val="356CB3"/>
                </a:solidFill>
                <a:latin typeface="Inter"/>
              </a:rPr>
              <a:t>188</a:t>
            </a:r>
            <a:endParaRPr sz="2775"/>
          </a:p>
        </p:txBody>
      </p:sp>
      <p:sp xmlns:p="http://schemas.openxmlformats.org/presentationml/2006/main" xmlns:a="http://schemas.openxmlformats.org/drawingml/2006/main">
        <p:nvSpPr>
          <p:cNvPr id="20019" name="sample.caption"/>
          <p:cNvSpPr txBox="1"/>
          <p:nvPr/>
        </p:nvSpPr>
        <p:spPr>
          <a:xfrm>
            <a:off x="666750" y="4324350"/>
            <a:ext cx="790575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Totales por producto del informe de referencia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4/72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s005.text.13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5/72</a:t>
            </a:r>
          </a:p>
        </p:txBody>
      </p:sp>
      <p:graphicFrame>
        <p:nvGraphicFramePr>
          <p:cNvPr id="130" name="D05_G1"/>
          <p:cNvGraphicFramePr/>
          <p:nvPr/>
        </p:nvGraphicFramePr>
        <p:xfrm>
          <a:off x="4691086" y="1370979"/>
          <a:ext cx="3532260" cy="1921320"/>
        </p:xfrm>
        <a:graphic>
          <a:graphicData uri="http://schemas.openxmlformats.org/drawingml/2006/chart">
            <c:chart r:id="rIdManual1000"/>
          </a:graphicData>
        </a:graphic>
      </p:graphicFrame>
      <p:graphicFrame>
        <p:nvGraphicFramePr>
          <p:cNvPr id="137" name="D05_G2"/>
          <p:cNvGraphicFramePr/>
          <p:nvPr/>
        </p:nvGraphicFramePr>
        <p:xfrm>
          <a:off x="542025" y="1284563"/>
          <a:ext cx="3583200" cy="1693812"/>
        </p:xfrm>
        <a:graphic>
          <a:graphicData uri="http://schemas.openxmlformats.org/drawingml/2006/chart">
            <c:chart r:id="rIdManual100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" name="s006.text.19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6/72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8" name="s007.text.2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7/72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22" name="s008.text.3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8/72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0" name="s009.text.4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9/72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6" name="s010.text.43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10/72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92" name="s011.text.4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11/72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31" name="s012.text.5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12/72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5" name="s013.text.60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13/72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61" name="s014.text.66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14/72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s015.text.70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15/72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1281763" y="741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704" name="Rectangle 703"/>
          <p:cNvSpPr/>
          <p:nvPr/>
        </p:nvSpPr>
        <p:spPr>
          <a:xfrm>
            <a:off x="2914213" y="107117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TextBox 704"/>
          <p:cNvSpPr txBox="1"/>
          <p:nvPr/>
        </p:nvSpPr>
        <p:spPr>
          <a:xfrm>
            <a:off x="3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706" name="Rectangle 705"/>
          <p:cNvSpPr/>
          <p:nvPr/>
        </p:nvSpPr>
        <p:spPr>
          <a:xfrm>
            <a:off x="4914213" y="107117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TextBox 706"/>
          <p:cNvSpPr txBox="1"/>
          <p:nvPr/>
        </p:nvSpPr>
        <p:spPr>
          <a:xfrm>
            <a:off x="5094213" y="105117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1281763" y="1311174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Jue 10/09</a:t>
            </a:r>
          </a:p>
        </p:txBody>
      </p:sp>
      <p:sp>
        <p:nvSpPr>
          <p:cNvPr id="709" name="Rectangle 708"/>
          <p:cNvSpPr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TextBox 709"/>
          <p:cNvSpPr txBox="1"/>
          <p:nvPr/>
        </p:nvSpPr>
        <p:spPr>
          <a:xfrm>
            <a:off x="2370063" y="1409861"/>
            <a:ext cx="250683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TextBox 711"/>
          <p:cNvSpPr txBox="1"/>
          <p:nvPr/>
        </p:nvSpPr>
        <p:spPr>
          <a:xfrm>
            <a:off x="4876894" y="1409861"/>
            <a:ext cx="231399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281763" y="1830577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Vie 11/09</a:t>
            </a:r>
          </a:p>
        </p:txBody>
      </p:sp>
      <p:sp>
        <p:nvSpPr>
          <p:cNvPr id="714" name="Rectangle 713"/>
          <p:cNvSpPr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2370063" y="1929264"/>
            <a:ext cx="252060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183</a:t>
            </a:r>
          </a:p>
        </p:txBody>
      </p:sp>
      <p:sp>
        <p:nvSpPr>
          <p:cNvPr id="716" name="Rectangle 715"/>
          <p:cNvSpPr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TextBox 716"/>
          <p:cNvSpPr txBox="1"/>
          <p:nvPr/>
        </p:nvSpPr>
        <p:spPr>
          <a:xfrm>
            <a:off x="4890668" y="1929264"/>
            <a:ext cx="206607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281763" y="2349980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Sáb 12/09</a:t>
            </a:r>
          </a:p>
        </p:txBody>
      </p:sp>
      <p:sp>
        <p:nvSpPr>
          <p:cNvPr id="719" name="Rectangle 718"/>
          <p:cNvSpPr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TextBox 719"/>
          <p:cNvSpPr txBox="1"/>
          <p:nvPr/>
        </p:nvSpPr>
        <p:spPr>
          <a:xfrm>
            <a:off x="2370063" y="2448667"/>
            <a:ext cx="2410415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175</a:t>
            </a:r>
          </a:p>
        </p:txBody>
      </p:sp>
      <p:sp>
        <p:nvSpPr>
          <p:cNvPr id="721" name="Rectangle 720"/>
          <p:cNvSpPr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4780478" y="2448667"/>
            <a:ext cx="279608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203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1281763" y="2869383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Dom 13/09</a:t>
            </a:r>
          </a:p>
        </p:txBody>
      </p:sp>
      <p:sp>
        <p:nvSpPr>
          <p:cNvPr id="724" name="Rectangle 723"/>
          <p:cNvSpPr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TextBox 724"/>
          <p:cNvSpPr txBox="1"/>
          <p:nvPr/>
        </p:nvSpPr>
        <p:spPr>
          <a:xfrm>
            <a:off x="2370063" y="2968070"/>
            <a:ext cx="257570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187</a:t>
            </a:r>
          </a:p>
        </p:txBody>
      </p:sp>
      <p:sp>
        <p:nvSpPr>
          <p:cNvPr id="726" name="Rectangle 725"/>
          <p:cNvSpPr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TextBox 726"/>
          <p:cNvSpPr txBox="1"/>
          <p:nvPr/>
        </p:nvSpPr>
        <p:spPr>
          <a:xfrm>
            <a:off x="4945763" y="2968070"/>
            <a:ext cx="1019261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281763" y="3388786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 14/09</a:t>
            </a:r>
          </a:p>
        </p:txBody>
      </p:sp>
      <p:sp>
        <p:nvSpPr>
          <p:cNvPr id="729" name="Rectangle 728"/>
          <p:cNvSpPr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TextBox 729"/>
          <p:cNvSpPr txBox="1"/>
          <p:nvPr/>
        </p:nvSpPr>
        <p:spPr>
          <a:xfrm>
            <a:off x="2370063" y="3487473"/>
            <a:ext cx="1074356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78</a:t>
            </a:r>
          </a:p>
        </p:txBody>
      </p:sp>
      <p:sp>
        <p:nvSpPr>
          <p:cNvPr id="731" name="Rectangle 730"/>
          <p:cNvSpPr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TextBox 731"/>
          <p:cNvSpPr txBox="1"/>
          <p:nvPr/>
        </p:nvSpPr>
        <p:spPr>
          <a:xfrm>
            <a:off x="3444419" y="3487473"/>
            <a:ext cx="1914558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1281763" y="3908189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 15/09</a:t>
            </a:r>
          </a:p>
        </p:txBody>
      </p:sp>
      <p:sp>
        <p:nvSpPr>
          <p:cNvPr id="734" name="Rectangle 733"/>
          <p:cNvSpPr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TextBox 734"/>
          <p:cNvSpPr txBox="1"/>
          <p:nvPr/>
        </p:nvSpPr>
        <p:spPr>
          <a:xfrm>
            <a:off x="2370063" y="4006876"/>
            <a:ext cx="1377380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736" name="Rectangle 735"/>
          <p:cNvSpPr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TextBox 736"/>
          <p:cNvSpPr txBox="1"/>
          <p:nvPr/>
        </p:nvSpPr>
        <p:spPr>
          <a:xfrm>
            <a:off x="3747443" y="4006876"/>
            <a:ext cx="39117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284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1281763" y="4427592"/>
            <a:ext cx="1058300" cy="51940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Mié 16/09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2370063" y="4526279"/>
            <a:ext cx="1859463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4229526" y="4526279"/>
            <a:ext cx="3333259" cy="3220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242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s016.text.71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16/72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s017.text.72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17/72</a:t>
            </a:r>
          </a:p>
        </p:txBody>
      </p:sp>
      <p:graphicFrame>
        <p:nvGraphicFramePr>
          <p:cNvPr id="717" name="D17_G1"/>
          <p:cNvGraphicFramePr/>
          <p:nvPr/>
        </p:nvGraphicFramePr>
        <p:xfrm>
          <a:off x="4721275" y="1346499"/>
          <a:ext cx="4225575" cy="2612816"/>
        </p:xfrm>
        <a:graphic>
          <a:graphicData uri="http://schemas.openxmlformats.org/drawingml/2006/chart">
            <c:chart r:id="rIdManual1005"/>
          </a:graphicData>
        </a:graphic>
      </p:graphicFrame>
      <p:graphicFrame>
        <p:nvGraphicFramePr>
          <p:cNvPr id="722" name="D17_G2"/>
          <p:cNvGraphicFramePr/>
          <p:nvPr/>
        </p:nvGraphicFramePr>
        <p:xfrm>
          <a:off x="304800" y="1289324"/>
          <a:ext cx="4416474" cy="2730853"/>
        </p:xfrm>
        <a:graphic>
          <a:graphicData uri="http://schemas.openxmlformats.org/drawingml/2006/chart">
            <c:chart r:id="rIdManual1006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729" name="s018.text.7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18/72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19/72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49" name="s020.text.7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20/72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3591150" y="1341900"/>
            <a:ext cx="542895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Puntuación lograda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3591150" y="16719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764" name="Rectangle 763"/>
          <p:cNvSpPr/>
          <p:nvPr/>
        </p:nvSpPr>
        <p:spPr>
          <a:xfrm>
            <a:off x="5002677" y="1935640"/>
            <a:ext cx="3469099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7691776" y="19356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135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3591150" y="2990600"/>
            <a:ext cx="1371527" cy="1318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5002677" y="3254340"/>
            <a:ext cx="1284851" cy="79122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5507528" y="3254340"/>
            <a:ext cx="740000" cy="791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87" name="s021.text.78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21/72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63" name="s022.text.8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22/72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1" name="s023.text.94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23/72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02" name="s024.text.100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24/72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s025.text.106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25/72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1625150" y="7431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Tiempo Ricardone vs San Lorenzo (min)</a:t>
            </a:r>
          </a:p>
        </p:txBody>
      </p:sp>
      <p:sp>
        <p:nvSpPr>
          <p:cNvPr id="1067" name="Rectangle 1066"/>
          <p:cNvSpPr/>
          <p:nvPr/>
        </p:nvSpPr>
        <p:spPr>
          <a:xfrm>
            <a:off x="3257600" y="1073124"/>
            <a:ext cx="150000" cy="150000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TextBox 1067"/>
          <p:cNvSpPr txBox="1"/>
          <p:nvPr/>
        </p:nvSpPr>
        <p:spPr>
          <a:xfrm>
            <a:off x="3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Ricardone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5257600" y="1073124"/>
            <a:ext cx="150000" cy="150000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TextBox 1069"/>
          <p:cNvSpPr txBox="1"/>
          <p:nvPr/>
        </p:nvSpPr>
        <p:spPr>
          <a:xfrm>
            <a:off x="5437600" y="1053124"/>
            <a:ext cx="15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San Lorenzo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1625150" y="1313124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Lunes 14/09</a:t>
            </a:r>
          </a:p>
        </p:txBody>
      </p:sp>
      <p:sp>
        <p:nvSpPr>
          <p:cNvPr id="1072" name="Rectangle 1071"/>
          <p:cNvSpPr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2713450" y="1658527"/>
            <a:ext cx="2269922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103</a:t>
            </a:r>
          </a:p>
        </p:txBody>
      </p:sp>
      <p:sp>
        <p:nvSpPr>
          <p:cNvPr id="1074" name="Rectangle 1073"/>
          <p:cNvSpPr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4983372" y="1658527"/>
            <a:ext cx="1564703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1625150" y="3131037"/>
            <a:ext cx="1058300" cy="181791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434343"/>
                </a:solidFill>
                <a:latin typeface="Inter"/>
              </a:rPr>
              <a:t>Martes 15/09</a:t>
            </a:r>
          </a:p>
        </p:txBody>
      </p:sp>
      <p:sp>
        <p:nvSpPr>
          <p:cNvPr id="1077" name="Rectangle 1076"/>
          <p:cNvSpPr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2713450" y="3476440"/>
            <a:ext cx="3702397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168</a:t>
            </a:r>
          </a:p>
        </p:txBody>
      </p:sp>
      <p:sp>
        <p:nvSpPr>
          <p:cNvPr id="1079" name="Rectangle 1078"/>
          <p:cNvSpPr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solidFill>
            <a:srgbClr val="D9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TextBox 1079"/>
          <p:cNvSpPr txBox="1"/>
          <p:nvPr/>
        </p:nvSpPr>
        <p:spPr>
          <a:xfrm>
            <a:off x="6415847" y="3476440"/>
            <a:ext cx="1674894" cy="112710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76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071" name="s026.text.10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26/72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27/72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9" name="s028.text.108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28/72</a:t>
            </a:r>
          </a:p>
        </p:txBody>
      </p:sp>
      <p:graphicFrame>
        <p:nvGraphicFramePr>
          <p:cNvPr id="1085" name="D28_G1"/>
          <p:cNvGraphicFramePr/>
          <p:nvPr/>
        </p:nvGraphicFramePr>
        <p:xfrm>
          <a:off x="3805154" y="1172153"/>
          <a:ext cx="4118034" cy="2258910"/>
        </p:xfrm>
        <a:graphic>
          <a:graphicData uri="http://schemas.openxmlformats.org/drawingml/2006/chart">
            <c:chart r:id="rIdManual1009"/>
          </a:graphicData>
        </a:graphic>
      </p:graphicFrame>
      <p:graphicFrame>
        <p:nvGraphicFramePr>
          <p:cNvPr id="1092" name="D28_G2"/>
          <p:cNvGraphicFramePr/>
          <p:nvPr/>
        </p:nvGraphicFramePr>
        <p:xfrm>
          <a:off x="416400" y="1572352"/>
          <a:ext cx="3310476" cy="1796187"/>
        </p:xfrm>
        <a:graphic>
          <a:graphicData uri="http://schemas.openxmlformats.org/drawingml/2006/chart">
            <c:chart r:id="rIdManual1010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1" name="s029.text.113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29/72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7" name="s030.text.117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30/72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31/72</a:t>
            </a:r>
          </a:p>
        </p:txBody>
      </p:sp>
      <p:graphicFrame>
        <p:nvGraphicFramePr>
          <p:cNvPr id="1231" name="D31_G1"/>
          <p:cNvGraphicFramePr/>
          <p:nvPr/>
        </p:nvGraphicFramePr>
        <p:xfrm>
          <a:off x="4709000" y="852825"/>
          <a:ext cx="4282599" cy="2494624"/>
        </p:xfrm>
        <a:graphic>
          <a:graphicData uri="http://schemas.openxmlformats.org/drawingml/2006/chart">
            <c:chart r:id="rIdManual1011"/>
          </a:graphicData>
        </a:graphic>
      </p:graphicFrame>
      <p:graphicFrame>
        <p:nvGraphicFramePr>
          <p:cNvPr id="1232" name="D31_G2"/>
          <p:cNvGraphicFramePr/>
          <p:nvPr/>
        </p:nvGraphicFramePr>
        <p:xfrm>
          <a:off x="269125" y="883324"/>
          <a:ext cx="4404201" cy="2565447"/>
        </p:xfrm>
        <a:graphic>
          <a:graphicData uri="http://schemas.openxmlformats.org/drawingml/2006/chart">
            <c:chart r:id="rIdManual101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>
        <p:nvSpPr>
          <p:cNvPr id="1239" name="s032.text.123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32/72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33/72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s034.text.12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34/72</a:t>
            </a:r>
          </a:p>
        </p:txBody>
      </p:sp>
      <p:sp xmlns:p="http://schemas.openxmlformats.org/presentationml/2006/main" xmlns:a="http://schemas.openxmlformats.org/drawingml/2006/main">
        <p:nvSpPr>
          <p:cNvPr id="20001" name="calada.subtitle"/>
          <p:cNvSpPr txBox="1"/>
          <p:nvPr/>
        </p:nvSpPr>
        <p:spPr>
          <a:xfrm>
            <a:off x="666750" y="1000125"/>
            <a:ext cx="7810500" cy="333375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500" b="0">
                <a:solidFill>
                  <a:srgbClr val="06245F"/>
                </a:solidFill>
                <a:latin typeface="Inter"/>
              </a:rPr>
              <a:t>Actividad semanal por sede y tipo de calada</a:t>
            </a:r>
            <a:endParaRPr sz="1500"/>
          </a:p>
        </p:txBody>
      </p:sp>
      <p:sp xmlns:p="http://schemas.openxmlformats.org/presentationml/2006/main" xmlns:a="http://schemas.openxmlformats.org/drawingml/2006/main">
        <p:nvSpPr>
          <p:cNvPr id="20002" name="calada.header.Sede"/>
          <p:cNvSpPr txBox="1"/>
          <p:nvPr/>
        </p:nvSpPr>
        <p:spPr>
          <a:xfrm>
            <a:off x="666750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Sede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3" name="calada.header.Tipo"/>
          <p:cNvSpPr txBox="1"/>
          <p:nvPr/>
        </p:nvSpPr>
        <p:spPr>
          <a:xfrm>
            <a:off x="2428875" y="1581150"/>
            <a:ext cx="1762125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Tipo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4" name="calada.header.Horas activas"/>
          <p:cNvSpPr txBox="1"/>
          <p:nvPr/>
        </p:nvSpPr>
        <p:spPr>
          <a:xfrm>
            <a:off x="41910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Horas activas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5" name="calada.header.Camiones/h"/>
          <p:cNvSpPr txBox="1"/>
          <p:nvPr/>
        </p:nvSpPr>
        <p:spPr>
          <a:xfrm>
            <a:off x="561975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Camiones/h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6" name="calada.header.Camiones"/>
          <p:cNvSpPr txBox="1"/>
          <p:nvPr/>
        </p:nvSpPr>
        <p:spPr>
          <a:xfrm>
            <a:off x="7048500" y="1581150"/>
            <a:ext cx="1428750" cy="457200"/>
          </a:xfrm>
          <a:prstGeom prst="rect">
            <a:avLst/>
          </a:prstGeom>
          <a:solidFill>
            <a:srgbClr val="0B5A43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75" b="1">
                <a:solidFill>
                  <a:srgbClr val="FFFFFF"/>
                </a:solidFill>
                <a:latin typeface="Inter"/>
              </a:rPr>
              <a:t>Camiones</a:t>
            </a:r>
            <a:endParaRPr sz="1275"/>
          </a:p>
        </p:txBody>
      </p:sp>
      <p:sp xmlns:p="http://schemas.openxmlformats.org/presentationml/2006/main" xmlns:a="http://schemas.openxmlformats.org/drawingml/2006/main">
        <p:nvSpPr>
          <p:cNvPr id="20007" name="calada.ric_solida.sede"/>
          <p:cNvSpPr txBox="1"/>
          <p:nvPr/>
        </p:nvSpPr>
        <p:spPr>
          <a:xfrm>
            <a:off x="666750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8" name="calada.ric_solida.tipo"/>
          <p:cNvSpPr txBox="1"/>
          <p:nvPr/>
        </p:nvSpPr>
        <p:spPr>
          <a:xfrm>
            <a:off x="2428875" y="203835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Sólida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09" name="calada.ric_solida.horas"/>
          <p:cNvSpPr txBox="1"/>
          <p:nvPr/>
        </p:nvSpPr>
        <p:spPr>
          <a:xfrm>
            <a:off x="41910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148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0" name="calada.ric_solida.camiones_h"/>
          <p:cNvSpPr txBox="1"/>
          <p:nvPr/>
        </p:nvSpPr>
        <p:spPr>
          <a:xfrm>
            <a:off x="561975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1" name="calada.ric_solida.camiones"/>
          <p:cNvSpPr txBox="1"/>
          <p:nvPr/>
        </p:nvSpPr>
        <p:spPr>
          <a:xfrm>
            <a:off x="7048500" y="203835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2.908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2" name="calada.ric_liquida.sede"/>
          <p:cNvSpPr txBox="1"/>
          <p:nvPr/>
        </p:nvSpPr>
        <p:spPr>
          <a:xfrm>
            <a:off x="666750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Ricardone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3" name="calada.ric_liquida.tipo"/>
          <p:cNvSpPr txBox="1"/>
          <p:nvPr/>
        </p:nvSpPr>
        <p:spPr>
          <a:xfrm>
            <a:off x="2428875" y="2790825"/>
            <a:ext cx="1762125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Líquida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4" name="calada.ric_liquida.horas"/>
          <p:cNvSpPr txBox="1"/>
          <p:nvPr/>
        </p:nvSpPr>
        <p:spPr>
          <a:xfrm>
            <a:off x="41910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49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5" name="calada.ric_liquida.camiones_h"/>
          <p:cNvSpPr txBox="1"/>
          <p:nvPr/>
        </p:nvSpPr>
        <p:spPr>
          <a:xfrm>
            <a:off x="561975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3,6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6" name="calada.ric_liquida.camiones"/>
          <p:cNvSpPr txBox="1"/>
          <p:nvPr/>
        </p:nvSpPr>
        <p:spPr>
          <a:xfrm>
            <a:off x="7048500" y="2790825"/>
            <a:ext cx="1428750" cy="7524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152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7" name="calada.sl.sede"/>
          <p:cNvSpPr txBox="1"/>
          <p:nvPr/>
        </p:nvSpPr>
        <p:spPr>
          <a:xfrm>
            <a:off x="666750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San Lorenzo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8" name="calada.sl.tipo"/>
          <p:cNvSpPr txBox="1"/>
          <p:nvPr/>
        </p:nvSpPr>
        <p:spPr>
          <a:xfrm>
            <a:off x="2428875" y="3543300"/>
            <a:ext cx="1762125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0">
                <a:solidFill>
                  <a:srgbClr val="06245F"/>
                </a:solidFill>
                <a:latin typeface="Inter"/>
              </a:rPr>
              <a:t>Calada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19" name="calada.sl.horas"/>
          <p:cNvSpPr txBox="1"/>
          <p:nvPr/>
        </p:nvSpPr>
        <p:spPr>
          <a:xfrm>
            <a:off x="41910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90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0" name="calada.sl.camiones_h"/>
          <p:cNvSpPr txBox="1"/>
          <p:nvPr/>
        </p:nvSpPr>
        <p:spPr>
          <a:xfrm>
            <a:off x="561975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3,3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1" name="calada.sl.camiones"/>
          <p:cNvSpPr txBox="1"/>
          <p:nvPr/>
        </p:nvSpPr>
        <p:spPr>
          <a:xfrm>
            <a:off x="7048500" y="3543300"/>
            <a:ext cx="1428750" cy="752475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650" b="1">
                <a:solidFill>
                  <a:srgbClr val="06245F"/>
                </a:solidFill>
                <a:latin typeface="Inter"/>
              </a:rPr>
              <a:t>237</a:t>
            </a:r>
            <a:endParaRPr sz="1650"/>
          </a:p>
        </p:txBody>
      </p:sp>
      <p:sp xmlns:p="http://schemas.openxmlformats.org/presentationml/2006/main" xmlns:a="http://schemas.openxmlformats.org/drawingml/2006/main">
        <p:nvSpPr>
          <p:cNvPr id="20022" name="calada.caption"/>
          <p:cNvSpPr txBox="1"/>
          <p:nvPr/>
        </p:nvSpPr>
        <p:spPr>
          <a:xfrm>
            <a:off x="666750" y="4514850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lIns="95250" rIns="95250" tIns="0" bIns="0" anchor="ctr"/>
          <a:lstStyle/>
          <a:p>
            <a:pPr algn="l"/>
            <a:r>
              <a:rPr lang="es-AR" sz="1200" b="0">
                <a:solidFill>
                  <a:srgbClr val="06245F"/>
                </a:solidFill>
                <a:latin typeface="Inter"/>
              </a:rPr>
              <a:t>Cada calada responde a una operación y una demanda diferentes.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s035.text.128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35/72</a:t>
            </a:r>
          </a:p>
        </p:txBody>
      </p:sp>
      <p:graphicFrame>
        <p:nvGraphicFramePr>
          <p:cNvPr id="1262" name="D35_G1"/>
          <p:cNvGraphicFramePr/>
          <p:nvPr/>
        </p:nvGraphicFramePr>
        <p:xfrm>
          <a:off x="2145725" y="1388549"/>
          <a:ext cx="4625775" cy="2562529"/>
        </p:xfrm>
        <a:graphic>
          <a:graphicData uri="http://schemas.openxmlformats.org/drawingml/2006/chart">
            <c:chart r:id="rIdManual1013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s036.text.129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36/72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1063050" y="960625"/>
            <a:ext cx="7309251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1063050" y="1290625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295" name="Rectangle 1294"/>
          <p:cNvSpPr/>
          <p:nvPr/>
        </p:nvSpPr>
        <p:spPr>
          <a:xfrm>
            <a:off x="2963455" y="1397672"/>
            <a:ext cx="2646680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4830135" y="1397672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297" name="TextBox 1296"/>
          <p:cNvSpPr txBox="1"/>
          <p:nvPr/>
        </p:nvSpPr>
        <p:spPr>
          <a:xfrm>
            <a:off x="1063050" y="1825862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298" name="Rectangle 1297"/>
          <p:cNvSpPr/>
          <p:nvPr/>
        </p:nvSpPr>
        <p:spPr>
          <a:xfrm>
            <a:off x="2963455" y="1932909"/>
            <a:ext cx="272452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4907978" y="1932909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105</a:t>
            </a:r>
          </a:p>
        </p:txBody>
      </p:sp>
      <p:sp>
        <p:nvSpPr>
          <p:cNvPr id="1300" name="TextBox 1299"/>
          <p:cNvSpPr txBox="1"/>
          <p:nvPr/>
        </p:nvSpPr>
        <p:spPr>
          <a:xfrm>
            <a:off x="1063050" y="2361099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01" name="Rectangle 1300"/>
          <p:cNvSpPr/>
          <p:nvPr/>
        </p:nvSpPr>
        <p:spPr>
          <a:xfrm>
            <a:off x="2963455" y="2468146"/>
            <a:ext cx="4878194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2" name="TextBox 1301"/>
          <p:cNvSpPr txBox="1"/>
          <p:nvPr/>
        </p:nvSpPr>
        <p:spPr>
          <a:xfrm>
            <a:off x="7061649" y="2468146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188</a:t>
            </a:r>
          </a:p>
        </p:txBody>
      </p:sp>
      <p:sp>
        <p:nvSpPr>
          <p:cNvPr id="1303" name="TextBox 1302"/>
          <p:cNvSpPr txBox="1"/>
          <p:nvPr/>
        </p:nvSpPr>
        <p:spPr>
          <a:xfrm>
            <a:off x="1063050" y="2896336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04" name="Rectangle 1303"/>
          <p:cNvSpPr/>
          <p:nvPr/>
        </p:nvSpPr>
        <p:spPr>
          <a:xfrm>
            <a:off x="2963455" y="3003383"/>
            <a:ext cx="4774403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5" name="TextBox 1304"/>
          <p:cNvSpPr txBox="1"/>
          <p:nvPr/>
        </p:nvSpPr>
        <p:spPr>
          <a:xfrm>
            <a:off x="6957858" y="3003383"/>
            <a:ext cx="74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06" name="TextBox 1305"/>
          <p:cNvSpPr txBox="1"/>
          <p:nvPr/>
        </p:nvSpPr>
        <p:spPr>
          <a:xfrm>
            <a:off x="1063050" y="3431573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2988455" y="3538620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1063050" y="3966810"/>
            <a:ext cx="1860405" cy="53523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09" name="Rectangle 1308"/>
          <p:cNvSpPr/>
          <p:nvPr/>
        </p:nvSpPr>
        <p:spPr>
          <a:xfrm>
            <a:off x="2963455" y="4073857"/>
            <a:ext cx="259478" cy="32114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0" name="TextBox 1309"/>
          <p:cNvSpPr txBox="1"/>
          <p:nvPr/>
        </p:nvSpPr>
        <p:spPr>
          <a:xfrm>
            <a:off x="3247933" y="4073857"/>
            <a:ext cx="780000" cy="32114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9" name="s037.text.129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37/72</a:t>
            </a:r>
          </a:p>
        </p:txBody>
      </p:sp>
      <p:sp>
        <p:nvSpPr>
          <p:cNvPr id="1316" name="Captura de actividad pendiente"/>
          <p:cNvSpPr/>
          <p:nvPr>
            <p:ph type="pic"/>
          </p:nvPr>
        </p:nvSpPr>
        <p:spPr>
          <a:xfrm>
            <a:off x="1752188" y="785274"/>
            <a:ext cx="58610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s038.text.13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38/72</a:t>
            </a:r>
          </a:p>
        </p:txBody>
      </p:sp>
      <p:sp>
        <p:nvSpPr>
          <p:cNvPr id="1327" name="TextBox 1326"/>
          <p:cNvSpPr txBox="1"/>
          <p:nvPr/>
        </p:nvSpPr>
        <p:spPr>
          <a:xfrm>
            <a:off x="1171063" y="7852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1171063" y="11152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2939550" y="1244468"/>
            <a:ext cx="246295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4622509" y="12444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102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1171063" y="17612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2939550" y="1890439"/>
            <a:ext cx="27044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4863976" y="18904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1171063" y="24072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2939550" y="2536410"/>
            <a:ext cx="44429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6602536" y="25364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184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1171063" y="30531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2939550" y="3182381"/>
            <a:ext cx="439469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6554243" y="31823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182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1171063" y="36991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2939550" y="382835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2988696" y="38283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1171063" y="43451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2939550" y="4474323"/>
            <a:ext cx="14487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3109429" y="44743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33" name="s039.text.133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39/72</a:t>
            </a:r>
          </a:p>
        </p:txBody>
      </p:sp>
      <p:sp>
        <p:nvSpPr>
          <p:cNvPr id="1350" name="Captura de actividad pendiente"/>
          <p:cNvSpPr/>
          <p:nvPr>
            <p:ph type="pic"/>
          </p:nvPr>
        </p:nvSpPr>
        <p:spPr>
          <a:xfrm>
            <a:off x="2191075" y="785274"/>
            <a:ext cx="543508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s040.text.13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40/72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1171050" y="7554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62" name="TextBox 1361"/>
          <p:cNvSpPr txBox="1"/>
          <p:nvPr/>
        </p:nvSpPr>
        <p:spPr>
          <a:xfrm>
            <a:off x="1171050" y="10854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939537" y="1214693"/>
            <a:ext cx="305857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5218114" y="1214693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95</a:t>
            </a:r>
          </a:p>
        </p:txBody>
      </p:sp>
      <p:sp>
        <p:nvSpPr>
          <p:cNvPr id="1365" name="TextBox 1364"/>
          <p:cNvSpPr txBox="1"/>
          <p:nvPr/>
        </p:nvSpPr>
        <p:spPr>
          <a:xfrm>
            <a:off x="1171050" y="17314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939537" y="1860664"/>
            <a:ext cx="29619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5121527" y="1860664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92</a:t>
            </a:r>
          </a:p>
        </p:txBody>
      </p:sp>
      <p:sp>
        <p:nvSpPr>
          <p:cNvPr id="1368" name="TextBox 1367"/>
          <p:cNvSpPr txBox="1"/>
          <p:nvPr/>
        </p:nvSpPr>
        <p:spPr>
          <a:xfrm>
            <a:off x="1171050" y="23774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369" name="Rectangle 1368"/>
          <p:cNvSpPr/>
          <p:nvPr/>
        </p:nvSpPr>
        <p:spPr>
          <a:xfrm>
            <a:off x="2939537" y="2506635"/>
            <a:ext cx="437859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6538132" y="25066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136</a:t>
            </a:r>
          </a:p>
        </p:txBody>
      </p:sp>
      <p:sp>
        <p:nvSpPr>
          <p:cNvPr id="1371" name="TextBox 1370"/>
          <p:cNvSpPr txBox="1"/>
          <p:nvPr/>
        </p:nvSpPr>
        <p:spPr>
          <a:xfrm>
            <a:off x="1171050" y="30234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372" name="Rectangle 1371"/>
          <p:cNvSpPr/>
          <p:nvPr/>
        </p:nvSpPr>
        <p:spPr>
          <a:xfrm>
            <a:off x="2939537" y="3152606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6634718" y="31526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374" name="TextBox 1373"/>
          <p:cNvSpPr txBox="1"/>
          <p:nvPr/>
        </p:nvSpPr>
        <p:spPr>
          <a:xfrm>
            <a:off x="1171050" y="36693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375" name="TextBox 1374"/>
          <p:cNvSpPr txBox="1"/>
          <p:nvPr/>
        </p:nvSpPr>
        <p:spPr>
          <a:xfrm>
            <a:off x="2964537" y="37985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1171050" y="43153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377" name="TextBox 1376"/>
          <p:cNvSpPr txBox="1"/>
          <p:nvPr/>
        </p:nvSpPr>
        <p:spPr>
          <a:xfrm>
            <a:off x="2964537" y="44445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7" name="s041.text.136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41/72</a:t>
            </a:r>
          </a:p>
        </p:txBody>
      </p:sp>
      <p:sp>
        <p:nvSpPr>
          <p:cNvPr id="1384" name="Captura de actividad pendiente"/>
          <p:cNvSpPr/>
          <p:nvPr>
            <p:ph type="pic"/>
          </p:nvPr>
        </p:nvSpPr>
        <p:spPr>
          <a:xfrm>
            <a:off x="1848500" y="749699"/>
            <a:ext cx="583089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s042.text.13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42/72</a:t>
            </a:r>
          </a:p>
        </p:txBody>
      </p:sp>
      <p:sp>
        <p:nvSpPr>
          <p:cNvPr id="1395" name="TextBox 1394"/>
          <p:cNvSpPr txBox="1"/>
          <p:nvPr/>
        </p:nvSpPr>
        <p:spPr>
          <a:xfrm>
            <a:off x="1171063" y="8447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396" name="TextBox 1395"/>
          <p:cNvSpPr txBox="1"/>
          <p:nvPr/>
        </p:nvSpPr>
        <p:spPr>
          <a:xfrm>
            <a:off x="1171063" y="117479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397" name="TextBox 1396"/>
          <p:cNvSpPr txBox="1"/>
          <p:nvPr/>
        </p:nvSpPr>
        <p:spPr>
          <a:xfrm>
            <a:off x="2964550" y="130399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398" name="TextBox 1397"/>
          <p:cNvSpPr txBox="1"/>
          <p:nvPr/>
        </p:nvSpPr>
        <p:spPr>
          <a:xfrm>
            <a:off x="1171063" y="1820770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399" name="TextBox 1398"/>
          <p:cNvSpPr txBox="1"/>
          <p:nvPr/>
        </p:nvSpPr>
        <p:spPr>
          <a:xfrm>
            <a:off x="2964550" y="1949964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0" name="TextBox 1399"/>
          <p:cNvSpPr txBox="1"/>
          <p:nvPr/>
        </p:nvSpPr>
        <p:spPr>
          <a:xfrm>
            <a:off x="1171063" y="2466741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01" name="Rectangle 1400"/>
          <p:cNvSpPr/>
          <p:nvPr/>
        </p:nvSpPr>
        <p:spPr>
          <a:xfrm>
            <a:off x="2939550" y="2595935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2" name="TextBox 1401"/>
          <p:cNvSpPr txBox="1"/>
          <p:nvPr/>
        </p:nvSpPr>
        <p:spPr>
          <a:xfrm>
            <a:off x="6505949" y="2595935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3" name="TextBox 1402"/>
          <p:cNvSpPr txBox="1"/>
          <p:nvPr/>
        </p:nvSpPr>
        <p:spPr>
          <a:xfrm>
            <a:off x="1171063" y="3112712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04" name="Rectangle 1403"/>
          <p:cNvSpPr/>
          <p:nvPr/>
        </p:nvSpPr>
        <p:spPr>
          <a:xfrm>
            <a:off x="2939550" y="3241906"/>
            <a:ext cx="434639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5" name="TextBox 1404"/>
          <p:cNvSpPr txBox="1"/>
          <p:nvPr/>
        </p:nvSpPr>
        <p:spPr>
          <a:xfrm>
            <a:off x="6505949" y="3241906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406" name="TextBox 1405"/>
          <p:cNvSpPr txBox="1"/>
          <p:nvPr/>
        </p:nvSpPr>
        <p:spPr>
          <a:xfrm>
            <a:off x="1171063" y="3758683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07" name="TextBox 1406"/>
          <p:cNvSpPr txBox="1"/>
          <p:nvPr/>
        </p:nvSpPr>
        <p:spPr>
          <a:xfrm>
            <a:off x="2964550" y="3887877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1171063" y="440465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09" name="TextBox 1408"/>
          <p:cNvSpPr txBox="1"/>
          <p:nvPr/>
        </p:nvSpPr>
        <p:spPr>
          <a:xfrm>
            <a:off x="2964550" y="4533848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1" name="s043.text.140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43/72</a:t>
            </a:r>
          </a:p>
        </p:txBody>
      </p:sp>
      <p:sp>
        <p:nvSpPr>
          <p:cNvPr id="1418" name="Captura de actividad pendiente"/>
          <p:cNvSpPr/>
          <p:nvPr>
            <p:ph type="pic"/>
          </p:nvPr>
        </p:nvSpPr>
        <p:spPr>
          <a:xfrm>
            <a:off x="2115875" y="785274"/>
            <a:ext cx="56639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s044.text.142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44/72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171063" y="8001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171063" y="11301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31" name="Rectangle 1430"/>
          <p:cNvSpPr/>
          <p:nvPr/>
        </p:nvSpPr>
        <p:spPr>
          <a:xfrm>
            <a:off x="2939550" y="1259368"/>
            <a:ext cx="453957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2" name="TextBox 1431"/>
          <p:cNvSpPr txBox="1"/>
          <p:nvPr/>
        </p:nvSpPr>
        <p:spPr>
          <a:xfrm>
            <a:off x="6699123" y="12593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171063" y="17761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34" name="Rectangle 1433"/>
          <p:cNvSpPr/>
          <p:nvPr/>
        </p:nvSpPr>
        <p:spPr>
          <a:xfrm>
            <a:off x="2939550" y="1905339"/>
            <a:ext cx="4475181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5" name="TextBox 1434"/>
          <p:cNvSpPr txBox="1"/>
          <p:nvPr/>
        </p:nvSpPr>
        <p:spPr>
          <a:xfrm>
            <a:off x="6634731" y="19053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139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1171063" y="24221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37" name="Rectangle 1436"/>
          <p:cNvSpPr/>
          <p:nvPr/>
        </p:nvSpPr>
        <p:spPr>
          <a:xfrm>
            <a:off x="2939550" y="2551310"/>
            <a:ext cx="119123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8" name="TextBox 1437"/>
          <p:cNvSpPr txBox="1"/>
          <p:nvPr/>
        </p:nvSpPr>
        <p:spPr>
          <a:xfrm>
            <a:off x="3350785" y="255131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37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1171063" y="30680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40" name="Rectangle 1439"/>
          <p:cNvSpPr/>
          <p:nvPr/>
        </p:nvSpPr>
        <p:spPr>
          <a:xfrm>
            <a:off x="2939550" y="3197281"/>
            <a:ext cx="12556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3415176" y="319728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39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1171063" y="37140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2964550" y="38432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444" name="TextBox 1443"/>
          <p:cNvSpPr txBox="1"/>
          <p:nvPr/>
        </p:nvSpPr>
        <p:spPr>
          <a:xfrm>
            <a:off x="1171063" y="43600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45" name="Rectangle 1444"/>
          <p:cNvSpPr/>
          <p:nvPr/>
        </p:nvSpPr>
        <p:spPr>
          <a:xfrm>
            <a:off x="2939550" y="4489223"/>
            <a:ext cx="321955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6" name="TextBox 1445"/>
          <p:cNvSpPr txBox="1"/>
          <p:nvPr/>
        </p:nvSpPr>
        <p:spPr>
          <a:xfrm>
            <a:off x="3286505" y="44892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5" name="s045.text.143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45/72</a:t>
            </a:r>
          </a:p>
        </p:txBody>
      </p:sp>
      <p:sp>
        <p:nvSpPr>
          <p:cNvPr id="1452" name="Captura de actividad pendiente"/>
          <p:cNvSpPr/>
          <p:nvPr>
            <p:ph type="pic"/>
          </p:nvPr>
        </p:nvSpPr>
        <p:spPr>
          <a:xfrm>
            <a:off x="1838475" y="749699"/>
            <a:ext cx="575840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s046.text.146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46/72</a:t>
            </a:r>
          </a:p>
        </p:txBody>
      </p:sp>
      <p:sp>
        <p:nvSpPr>
          <p:cNvPr id="1463" name="TextBox 1462"/>
          <p:cNvSpPr txBox="1"/>
          <p:nvPr/>
        </p:nvSpPr>
        <p:spPr>
          <a:xfrm>
            <a:off x="1171063" y="6328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64" name="TextBox 1463"/>
          <p:cNvSpPr txBox="1"/>
          <p:nvPr/>
        </p:nvSpPr>
        <p:spPr>
          <a:xfrm>
            <a:off x="1171063" y="96287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65" name="Rectangle 1464"/>
          <p:cNvSpPr/>
          <p:nvPr/>
        </p:nvSpPr>
        <p:spPr>
          <a:xfrm>
            <a:off x="2939550" y="1092068"/>
            <a:ext cx="415322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312776" y="109206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215</a:t>
            </a:r>
          </a:p>
        </p:txBody>
      </p:sp>
      <p:sp>
        <p:nvSpPr>
          <p:cNvPr id="1467" name="TextBox 1466"/>
          <p:cNvSpPr txBox="1"/>
          <p:nvPr/>
        </p:nvSpPr>
        <p:spPr>
          <a:xfrm>
            <a:off x="1171063" y="160884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2939550" y="1738039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6409363" y="173803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220</a:t>
            </a:r>
          </a:p>
        </p:txBody>
      </p:sp>
      <p:sp>
        <p:nvSpPr>
          <p:cNvPr id="1470" name="TextBox 1469"/>
          <p:cNvSpPr txBox="1"/>
          <p:nvPr/>
        </p:nvSpPr>
        <p:spPr>
          <a:xfrm>
            <a:off x="1171063" y="225481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471" name="TextBox 1470"/>
          <p:cNvSpPr txBox="1"/>
          <p:nvPr/>
        </p:nvSpPr>
        <p:spPr>
          <a:xfrm>
            <a:off x="2964550" y="2384010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2" name="TextBox 1471"/>
          <p:cNvSpPr txBox="1"/>
          <p:nvPr/>
        </p:nvSpPr>
        <p:spPr>
          <a:xfrm>
            <a:off x="1171063" y="290078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473" name="TextBox 1472"/>
          <p:cNvSpPr txBox="1"/>
          <p:nvPr/>
        </p:nvSpPr>
        <p:spPr>
          <a:xfrm>
            <a:off x="2964550" y="3029981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7F8C8D"/>
                </a:solidFill>
                <a:latin typeface="Inter"/>
              </a:rPr>
              <a:t>s/d</a:t>
            </a:r>
          </a:p>
        </p:txBody>
      </p:sp>
      <p:sp>
        <p:nvSpPr>
          <p:cNvPr id="1474" name="TextBox 1473"/>
          <p:cNvSpPr txBox="1"/>
          <p:nvPr/>
        </p:nvSpPr>
        <p:spPr>
          <a:xfrm>
            <a:off x="1171063" y="354675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475" name="Rectangle 1474"/>
          <p:cNvSpPr/>
          <p:nvPr/>
        </p:nvSpPr>
        <p:spPr>
          <a:xfrm>
            <a:off x="2939550" y="3675952"/>
            <a:ext cx="19317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6" name="TextBox 1475"/>
          <p:cNvSpPr txBox="1"/>
          <p:nvPr/>
        </p:nvSpPr>
        <p:spPr>
          <a:xfrm>
            <a:off x="2983867" y="367595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477" name="TextBox 1476"/>
          <p:cNvSpPr txBox="1"/>
          <p:nvPr/>
        </p:nvSpPr>
        <p:spPr>
          <a:xfrm>
            <a:off x="1171063" y="419272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939550" y="4321923"/>
            <a:ext cx="212490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3177040" y="432192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9" name="s047.text.146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47/72</a:t>
            </a:r>
          </a:p>
        </p:txBody>
      </p:sp>
      <p:sp>
        <p:nvSpPr>
          <p:cNvPr id="1486" name="Captura de actividad pendiente"/>
          <p:cNvSpPr/>
          <p:nvPr>
            <p:ph type="pic"/>
          </p:nvPr>
        </p:nvSpPr>
        <p:spPr>
          <a:xfrm>
            <a:off x="1876350" y="749699"/>
            <a:ext cx="588494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s048.text.149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48/72</a:t>
            </a:r>
          </a:p>
        </p:txBody>
      </p:sp>
      <p:sp>
        <p:nvSpPr>
          <p:cNvPr id="1497" name="TextBox 1496"/>
          <p:cNvSpPr txBox="1"/>
          <p:nvPr/>
        </p:nvSpPr>
        <p:spPr>
          <a:xfrm>
            <a:off x="1171063" y="8299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Calle</a:t>
            </a:r>
          </a:p>
        </p:txBody>
      </p:sp>
      <p:sp>
        <p:nvSpPr>
          <p:cNvPr id="1498" name="TextBox 1497"/>
          <p:cNvSpPr txBox="1"/>
          <p:nvPr/>
        </p:nvSpPr>
        <p:spPr>
          <a:xfrm>
            <a:off x="1171063" y="1159924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1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2939550" y="1289118"/>
            <a:ext cx="4249813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6409363" y="1289118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176</a:t>
            </a:r>
          </a:p>
        </p:txBody>
      </p:sp>
      <p:sp>
        <p:nvSpPr>
          <p:cNvPr id="1501" name="TextBox 1500"/>
          <p:cNvSpPr txBox="1"/>
          <p:nvPr/>
        </p:nvSpPr>
        <p:spPr>
          <a:xfrm>
            <a:off x="1171063" y="1805895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2</a:t>
            </a:r>
          </a:p>
        </p:txBody>
      </p:sp>
      <p:sp>
        <p:nvSpPr>
          <p:cNvPr id="1502" name="Rectangle 1501"/>
          <p:cNvSpPr/>
          <p:nvPr/>
        </p:nvSpPr>
        <p:spPr>
          <a:xfrm>
            <a:off x="2939550" y="1935089"/>
            <a:ext cx="408078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6240336" y="1935089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169</a:t>
            </a:r>
          </a:p>
        </p:txBody>
      </p:sp>
      <p:sp>
        <p:nvSpPr>
          <p:cNvPr id="1504" name="TextBox 1503"/>
          <p:cNvSpPr txBox="1"/>
          <p:nvPr/>
        </p:nvSpPr>
        <p:spPr>
          <a:xfrm>
            <a:off x="1171063" y="2451866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3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2939550" y="2581060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3463469" y="2581060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07" name="TextBox 1506"/>
          <p:cNvSpPr txBox="1"/>
          <p:nvPr/>
        </p:nvSpPr>
        <p:spPr>
          <a:xfrm>
            <a:off x="1171063" y="3097837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4</a:t>
            </a:r>
          </a:p>
        </p:txBody>
      </p:sp>
      <p:sp>
        <p:nvSpPr>
          <p:cNvPr id="1508" name="Rectangle 1507"/>
          <p:cNvSpPr/>
          <p:nvPr/>
        </p:nvSpPr>
        <p:spPr>
          <a:xfrm>
            <a:off x="2939550" y="3227031"/>
            <a:ext cx="1303919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3463469" y="3227031"/>
            <a:ext cx="74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1510" name="TextBox 1509"/>
          <p:cNvSpPr txBox="1"/>
          <p:nvPr/>
        </p:nvSpPr>
        <p:spPr>
          <a:xfrm>
            <a:off x="1171063" y="3743808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5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939550" y="3873002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2988696" y="3873002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  <p:sp>
        <p:nvSpPr>
          <p:cNvPr id="1513" name="TextBox 1512"/>
          <p:cNvSpPr txBox="1"/>
          <p:nvPr/>
        </p:nvSpPr>
        <p:spPr>
          <a:xfrm>
            <a:off x="1171063" y="4389779"/>
            <a:ext cx="1728487" cy="64597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Calle 6</a:t>
            </a:r>
          </a:p>
        </p:txBody>
      </p:sp>
      <p:sp>
        <p:nvSpPr>
          <p:cNvPr id="1514" name="Rectangle 1513"/>
          <p:cNvSpPr/>
          <p:nvPr/>
        </p:nvSpPr>
        <p:spPr>
          <a:xfrm>
            <a:off x="2939550" y="4518973"/>
            <a:ext cx="24146" cy="387582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2988696" y="4518973"/>
            <a:ext cx="780000" cy="3875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3" name="s049.text.150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49/72</a:t>
            </a:r>
          </a:p>
        </p:txBody>
      </p:sp>
      <p:sp>
        <p:nvSpPr>
          <p:cNvPr id="1520" name="Captura de actividad pendiente"/>
          <p:cNvSpPr/>
          <p:nvPr>
            <p:ph type="pic"/>
          </p:nvPr>
        </p:nvSpPr>
        <p:spPr>
          <a:xfrm>
            <a:off x="-3063800" y="-2487492"/>
            <a:ext cx="17880076" cy="11714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  <p:sp>
        <p:nvSpPr>
          <p:cNvPr id="1521" name="Captura de actividad pendiente"/>
          <p:cNvSpPr/>
          <p:nvPr>
            <p:ph type="pic"/>
          </p:nvPr>
        </p:nvSpPr>
        <p:spPr>
          <a:xfrm>
            <a:off x="1733413" y="785274"/>
            <a:ext cx="5968527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0" name="s050.text.153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50/72</a:t>
            </a:r>
          </a:p>
        </p:txBody>
      </p:sp>
      <p:graphicFrame>
        <p:nvGraphicFramePr>
          <p:cNvPr id="1526" name="D50_G1"/>
          <p:cNvGraphicFramePr/>
          <p:nvPr/>
        </p:nvGraphicFramePr>
        <p:xfrm>
          <a:off x="451325" y="1664024"/>
          <a:ext cx="3724275" cy="2057201"/>
        </p:xfrm>
        <a:graphic>
          <a:graphicData uri="http://schemas.openxmlformats.org/drawingml/2006/chart">
            <c:chart r:id="rIdManual1021"/>
          </a:graphicData>
        </a:graphic>
      </p:graphicFrame>
      <p:sp>
        <p:nvSpPr>
          <p:cNvPr id="1547" name="Captura de actividad pendiente"/>
          <p:cNvSpPr/>
          <p:nvPr>
            <p:ph type="pic"/>
          </p:nvPr>
        </p:nvSpPr>
        <p:spPr>
          <a:xfrm>
            <a:off x="4271300" y="1253536"/>
            <a:ext cx="4663600" cy="2394822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s051.text.157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51/72</a:t>
            </a:r>
          </a:p>
        </p:txBody>
      </p:sp>
      <p:graphicFrame>
        <p:nvGraphicFramePr>
          <p:cNvPr id="1572" name="D51_G1"/>
          <p:cNvGraphicFramePr/>
          <p:nvPr/>
        </p:nvGraphicFramePr>
        <p:xfrm>
          <a:off x="304800" y="1714849"/>
          <a:ext cx="3583650" cy="1972783"/>
        </p:xfrm>
        <a:graphic>
          <a:graphicData uri="http://schemas.openxmlformats.org/drawingml/2006/chart">
            <c:chart r:id="rIdManual1022"/>
          </a:graphicData>
        </a:graphic>
      </p:graphicFrame>
      <p:sp>
        <p:nvSpPr>
          <p:cNvPr id="1573" name="Captura de actividad pendiente"/>
          <p:cNvSpPr/>
          <p:nvPr>
            <p:ph type="pic"/>
          </p:nvPr>
        </p:nvSpPr>
        <p:spPr>
          <a:xfrm>
            <a:off x="4028950" y="1091524"/>
            <a:ext cx="4950750" cy="2551388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52/72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6" name="s053.text.158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53/72</a:t>
            </a:r>
          </a:p>
        </p:txBody>
      </p:sp>
      <p:graphicFrame>
        <p:nvGraphicFramePr>
          <p:cNvPr id="1587" name="D53_G1"/>
          <p:cNvGraphicFramePr/>
          <p:nvPr/>
        </p:nvGraphicFramePr>
        <p:xfrm>
          <a:off x="3084725" y="3342750"/>
          <a:ext cx="2537325" cy="1556200"/>
        </p:xfrm>
        <a:graphic>
          <a:graphicData uri="http://schemas.openxmlformats.org/drawingml/2006/chart">
            <c:chart r:id="rIdManual1023"/>
          </a:graphicData>
        </a:graphic>
      </p:graphicFrame>
      <p:graphicFrame>
        <p:nvGraphicFramePr>
          <p:cNvPr id="1588" name="D53_G2"/>
          <p:cNvGraphicFramePr/>
          <p:nvPr/>
        </p:nvGraphicFramePr>
        <p:xfrm>
          <a:off x="1544913" y="691450"/>
          <a:ext cx="6345525" cy="2434350"/>
        </p:xfrm>
        <a:graphic>
          <a:graphicData uri="http://schemas.openxmlformats.org/drawingml/2006/chart">
            <c:chart r:id="rIdManual1024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96" name="s054.text.159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54/72</a:t>
            </a:r>
          </a:p>
        </p:txBody>
      </p:sp>
      <p:sp>
        <p:nvSpPr>
          <p:cNvPr id="1609" name="Captura de actividad pendiente"/>
          <p:cNvSpPr/>
          <p:nvPr>
            <p:ph type="pic"/>
          </p:nvPr>
        </p:nvSpPr>
        <p:spPr>
          <a:xfrm>
            <a:off x="1791075" y="749699"/>
            <a:ext cx="5853199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7" name="s055.text.161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55/72</a:t>
            </a:r>
          </a:p>
        </p:txBody>
      </p:sp>
      <p:graphicFrame>
        <p:nvGraphicFramePr>
          <p:cNvPr id="1618" name="D55_G1"/>
          <p:cNvGraphicFramePr/>
          <p:nvPr/>
        </p:nvGraphicFramePr>
        <p:xfrm>
          <a:off x="2314125" y="944525"/>
          <a:ext cx="5025024" cy="3107149"/>
        </p:xfrm>
        <a:graphic>
          <a:graphicData uri="http://schemas.openxmlformats.org/drawingml/2006/chart">
            <c:chart r:id="rIdManual102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8" name="s056.text.163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56/72</a:t>
            </a:r>
          </a:p>
        </p:txBody>
      </p:sp>
      <p:sp>
        <p:nvSpPr>
          <p:cNvPr id="1639" name="Captura de actividad pendiente"/>
          <p:cNvSpPr/>
          <p:nvPr>
            <p:ph type="pic"/>
          </p:nvPr>
        </p:nvSpPr>
        <p:spPr>
          <a:xfrm>
            <a:off x="1579513" y="1115325"/>
            <a:ext cx="6329875" cy="2724200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8" name="s057.text.164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57/72</a:t>
            </a:r>
          </a:p>
        </p:txBody>
      </p:sp>
      <p:graphicFrame>
        <p:nvGraphicFramePr>
          <p:cNvPr id="1644" name="D57_G1"/>
          <p:cNvGraphicFramePr/>
          <p:nvPr/>
        </p:nvGraphicFramePr>
        <p:xfrm>
          <a:off x="2198337" y="1754675"/>
          <a:ext cx="5038674" cy="3115575"/>
        </p:xfrm>
        <a:graphic>
          <a:graphicData uri="http://schemas.openxmlformats.org/drawingml/2006/chart">
            <c:chart r:id="rIdManual1026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8" name="s058.text.166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58/72</a:t>
            </a:r>
          </a:p>
        </p:txBody>
      </p:sp>
      <p:graphicFrame>
        <p:nvGraphicFramePr>
          <p:cNvPr id="1669" name="D58_G1"/>
          <p:cNvGraphicFramePr/>
          <p:nvPr/>
        </p:nvGraphicFramePr>
        <p:xfrm>
          <a:off x="1808375" y="809650"/>
          <a:ext cx="6101025" cy="3341575"/>
        </p:xfrm>
        <a:graphic>
          <a:graphicData uri="http://schemas.openxmlformats.org/drawingml/2006/chart">
            <c:chart r:id="rIdManual1027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9" name="s059.text.167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59/72</a:t>
            </a:r>
          </a:p>
        </p:txBody>
      </p:sp>
      <p:sp>
        <p:nvSpPr>
          <p:cNvPr id="1682" name="TextBox 1681"/>
          <p:cNvSpPr txBox="1"/>
          <p:nvPr/>
        </p:nvSpPr>
        <p:spPr>
          <a:xfrm>
            <a:off x="1451275" y="6853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683" name="TextBox 1682"/>
          <p:cNvSpPr txBox="1"/>
          <p:nvPr/>
        </p:nvSpPr>
        <p:spPr>
          <a:xfrm>
            <a:off x="1451275" y="10153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684" name="Rectangle 1683"/>
          <p:cNvSpPr/>
          <p:nvPr/>
        </p:nvSpPr>
        <p:spPr>
          <a:xfrm>
            <a:off x="3219762" y="1170407"/>
            <a:ext cx="36219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5" name="TextBox 1684"/>
          <p:cNvSpPr txBox="1"/>
          <p:nvPr/>
        </p:nvSpPr>
        <p:spPr>
          <a:xfrm>
            <a:off x="6061761" y="11704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686" name="TextBox 1685"/>
          <p:cNvSpPr txBox="1"/>
          <p:nvPr/>
        </p:nvSpPr>
        <p:spPr>
          <a:xfrm>
            <a:off x="1451275" y="17905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3219762" y="1945572"/>
            <a:ext cx="403249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8" name="TextBox 1687"/>
          <p:cNvSpPr txBox="1"/>
          <p:nvPr/>
        </p:nvSpPr>
        <p:spPr>
          <a:xfrm>
            <a:off x="6472255" y="19455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167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1451275" y="25657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219762" y="2720737"/>
            <a:ext cx="333223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1" name="TextBox 1690"/>
          <p:cNvSpPr txBox="1"/>
          <p:nvPr/>
        </p:nvSpPr>
        <p:spPr>
          <a:xfrm>
            <a:off x="5772001" y="27207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138</a:t>
            </a:r>
          </a:p>
        </p:txBody>
      </p:sp>
      <p:sp>
        <p:nvSpPr>
          <p:cNvPr id="1692" name="TextBox 1691"/>
          <p:cNvSpPr txBox="1"/>
          <p:nvPr/>
        </p:nvSpPr>
        <p:spPr>
          <a:xfrm>
            <a:off x="1451275" y="33408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693" name="Rectangle 1692"/>
          <p:cNvSpPr/>
          <p:nvPr/>
        </p:nvSpPr>
        <p:spPr>
          <a:xfrm>
            <a:off x="3219762" y="3495902"/>
            <a:ext cx="6761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4" name="TextBox 1693"/>
          <p:cNvSpPr txBox="1"/>
          <p:nvPr/>
        </p:nvSpPr>
        <p:spPr>
          <a:xfrm>
            <a:off x="3920868" y="349590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28</a:t>
            </a:r>
          </a:p>
        </p:txBody>
      </p:sp>
      <p:sp>
        <p:nvSpPr>
          <p:cNvPr id="1695" name="TextBox 1694"/>
          <p:cNvSpPr txBox="1"/>
          <p:nvPr/>
        </p:nvSpPr>
        <p:spPr>
          <a:xfrm>
            <a:off x="1451275" y="41160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3219762" y="427106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7" name="TextBox 1696"/>
          <p:cNvSpPr txBox="1"/>
          <p:nvPr/>
        </p:nvSpPr>
        <p:spPr>
          <a:xfrm>
            <a:off x="3405628" y="42710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8" name="s060.text.168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60/72</a:t>
            </a:r>
          </a:p>
        </p:txBody>
      </p:sp>
      <p:sp>
        <p:nvSpPr>
          <p:cNvPr id="1705" name="Captura de actividad pendiente"/>
          <p:cNvSpPr/>
          <p:nvPr>
            <p:ph type="pic"/>
          </p:nvPr>
        </p:nvSpPr>
        <p:spPr>
          <a:xfrm>
            <a:off x="2023150" y="815836"/>
            <a:ext cx="5750760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s061.text.1713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61/72</a:t>
            </a:r>
          </a:p>
        </p:txBody>
      </p:sp>
      <p:sp>
        <p:nvSpPr>
          <p:cNvPr id="1716" name="TextBox 1715"/>
          <p:cNvSpPr txBox="1"/>
          <p:nvPr/>
        </p:nvSpPr>
        <p:spPr>
          <a:xfrm>
            <a:off x="1364675" y="80524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17" name="TextBox 1716"/>
          <p:cNvSpPr txBox="1"/>
          <p:nvPr/>
        </p:nvSpPr>
        <p:spPr>
          <a:xfrm>
            <a:off x="1364675" y="113524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3133162" y="1290282"/>
            <a:ext cx="4829333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9" name="TextBox 1718"/>
          <p:cNvSpPr txBox="1"/>
          <p:nvPr/>
        </p:nvSpPr>
        <p:spPr>
          <a:xfrm>
            <a:off x="7182495" y="129028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720" name="TextBox 1719"/>
          <p:cNvSpPr txBox="1"/>
          <p:nvPr/>
        </p:nvSpPr>
        <p:spPr>
          <a:xfrm>
            <a:off x="1364675" y="191041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21" name="Rectangle 1720"/>
          <p:cNvSpPr/>
          <p:nvPr/>
        </p:nvSpPr>
        <p:spPr>
          <a:xfrm>
            <a:off x="3133162" y="2065447"/>
            <a:ext cx="360590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2" name="TextBox 1721"/>
          <p:cNvSpPr txBox="1"/>
          <p:nvPr/>
        </p:nvSpPr>
        <p:spPr>
          <a:xfrm>
            <a:off x="5959063" y="206544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112</a:t>
            </a:r>
          </a:p>
        </p:txBody>
      </p:sp>
      <p:sp>
        <p:nvSpPr>
          <p:cNvPr id="1723" name="TextBox 1722"/>
          <p:cNvSpPr txBox="1"/>
          <p:nvPr/>
        </p:nvSpPr>
        <p:spPr>
          <a:xfrm>
            <a:off x="1364675" y="268557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3133162" y="2840612"/>
            <a:ext cx="344492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5" name="TextBox 1724"/>
          <p:cNvSpPr txBox="1"/>
          <p:nvPr/>
        </p:nvSpPr>
        <p:spPr>
          <a:xfrm>
            <a:off x="5798086" y="284061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107</a:t>
            </a:r>
          </a:p>
        </p:txBody>
      </p:sp>
      <p:sp>
        <p:nvSpPr>
          <p:cNvPr id="1726" name="TextBox 1725"/>
          <p:cNvSpPr txBox="1"/>
          <p:nvPr/>
        </p:nvSpPr>
        <p:spPr>
          <a:xfrm>
            <a:off x="1364675" y="346074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27" name="TextBox 1726"/>
          <p:cNvSpPr txBox="1"/>
          <p:nvPr/>
        </p:nvSpPr>
        <p:spPr>
          <a:xfrm>
            <a:off x="3158162" y="361577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28" name="TextBox 1727"/>
          <p:cNvSpPr txBox="1"/>
          <p:nvPr/>
        </p:nvSpPr>
        <p:spPr>
          <a:xfrm>
            <a:off x="1364675" y="423590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29" name="Rectangle 1728"/>
          <p:cNvSpPr/>
          <p:nvPr/>
        </p:nvSpPr>
        <p:spPr>
          <a:xfrm>
            <a:off x="3133162" y="4390942"/>
            <a:ext cx="383127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0" name="TextBox 1729"/>
          <p:cNvSpPr txBox="1"/>
          <p:nvPr/>
        </p:nvSpPr>
        <p:spPr>
          <a:xfrm>
            <a:off x="6184432" y="439094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s062.text.172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62/72</a:t>
            </a:r>
          </a:p>
        </p:txBody>
      </p:sp>
      <p:sp>
        <p:nvSpPr>
          <p:cNvPr id="1739" name="Captura de actividad pendiente"/>
          <p:cNvSpPr/>
          <p:nvPr>
            <p:ph type="pic"/>
          </p:nvPr>
        </p:nvSpPr>
        <p:spPr>
          <a:xfrm>
            <a:off x="1988125" y="749699"/>
            <a:ext cx="600042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s063.text.1747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63/72</a:t>
            </a:r>
          </a:p>
        </p:txBody>
      </p:sp>
      <p:sp>
        <p:nvSpPr>
          <p:cNvPr id="1750" name="TextBox 1749"/>
          <p:cNvSpPr txBox="1"/>
          <p:nvPr/>
        </p:nvSpPr>
        <p:spPr>
          <a:xfrm>
            <a:off x="1195950" y="7759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51" name="TextBox 1750"/>
          <p:cNvSpPr txBox="1"/>
          <p:nvPr/>
        </p:nvSpPr>
        <p:spPr>
          <a:xfrm>
            <a:off x="1195950" y="11059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52" name="Rectangle 1751"/>
          <p:cNvSpPr/>
          <p:nvPr/>
        </p:nvSpPr>
        <p:spPr>
          <a:xfrm>
            <a:off x="2964437" y="1261032"/>
            <a:ext cx="1416604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3601041" y="12610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44</a:t>
            </a:r>
          </a:p>
        </p:txBody>
      </p:sp>
      <p:sp>
        <p:nvSpPr>
          <p:cNvPr id="1754" name="TextBox 1753"/>
          <p:cNvSpPr txBox="1"/>
          <p:nvPr/>
        </p:nvSpPr>
        <p:spPr>
          <a:xfrm>
            <a:off x="1195950" y="18811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2964437" y="2036197"/>
            <a:ext cx="4121030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6305467" y="20361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128</a:t>
            </a:r>
          </a:p>
        </p:txBody>
      </p:sp>
      <p:sp>
        <p:nvSpPr>
          <p:cNvPr id="1757" name="TextBox 1756"/>
          <p:cNvSpPr txBox="1"/>
          <p:nvPr/>
        </p:nvSpPr>
        <p:spPr>
          <a:xfrm>
            <a:off x="1195950" y="26563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58" name="Rectangle 1757"/>
          <p:cNvSpPr/>
          <p:nvPr/>
        </p:nvSpPr>
        <p:spPr>
          <a:xfrm>
            <a:off x="2964437" y="2811362"/>
            <a:ext cx="457176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9" name="TextBox 1758"/>
          <p:cNvSpPr txBox="1"/>
          <p:nvPr/>
        </p:nvSpPr>
        <p:spPr>
          <a:xfrm>
            <a:off x="6756205" y="28113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142</a:t>
            </a:r>
          </a:p>
        </p:txBody>
      </p:sp>
      <p:sp>
        <p:nvSpPr>
          <p:cNvPr id="1760" name="TextBox 1759"/>
          <p:cNvSpPr txBox="1"/>
          <p:nvPr/>
        </p:nvSpPr>
        <p:spPr>
          <a:xfrm>
            <a:off x="1195950" y="34314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61" name="TextBox 1760"/>
          <p:cNvSpPr txBox="1"/>
          <p:nvPr/>
        </p:nvSpPr>
        <p:spPr>
          <a:xfrm>
            <a:off x="2989437" y="358652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62" name="TextBox 1761"/>
          <p:cNvSpPr txBox="1"/>
          <p:nvPr/>
        </p:nvSpPr>
        <p:spPr>
          <a:xfrm>
            <a:off x="1195950" y="42066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964437" y="436169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4" name="TextBox 1763"/>
          <p:cNvSpPr txBox="1"/>
          <p:nvPr/>
        </p:nvSpPr>
        <p:spPr>
          <a:xfrm>
            <a:off x="6369858" y="43616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56" name="s064.text.1756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64/72</a:t>
            </a:r>
          </a:p>
        </p:txBody>
      </p:sp>
      <p:sp>
        <p:nvSpPr>
          <p:cNvPr id="1773" name="Captura de actividad pendiente"/>
          <p:cNvSpPr/>
          <p:nvPr>
            <p:ph type="pic"/>
          </p:nvPr>
        </p:nvSpPr>
        <p:spPr>
          <a:xfrm>
            <a:off x="2045850" y="785274"/>
            <a:ext cx="571760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s065.text.1781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65/72</a:t>
            </a:r>
          </a:p>
        </p:txBody>
      </p:sp>
      <p:sp>
        <p:nvSpPr>
          <p:cNvPr id="1784" name="TextBox 1783"/>
          <p:cNvSpPr txBox="1"/>
          <p:nvPr/>
        </p:nvSpPr>
        <p:spPr>
          <a:xfrm>
            <a:off x="1578275" y="77372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785" name="TextBox 1784"/>
          <p:cNvSpPr txBox="1"/>
          <p:nvPr/>
        </p:nvSpPr>
        <p:spPr>
          <a:xfrm>
            <a:off x="1578275" y="110372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786" name="TextBox 1785"/>
          <p:cNvSpPr txBox="1"/>
          <p:nvPr/>
        </p:nvSpPr>
        <p:spPr>
          <a:xfrm>
            <a:off x="3371762" y="1258757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7" name="TextBox 1786"/>
          <p:cNvSpPr txBox="1"/>
          <p:nvPr/>
        </p:nvSpPr>
        <p:spPr>
          <a:xfrm>
            <a:off x="1578275" y="187888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788" name="TextBox 1787"/>
          <p:cNvSpPr txBox="1"/>
          <p:nvPr/>
        </p:nvSpPr>
        <p:spPr>
          <a:xfrm>
            <a:off x="3371762" y="203392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89" name="TextBox 1788"/>
          <p:cNvSpPr txBox="1"/>
          <p:nvPr/>
        </p:nvSpPr>
        <p:spPr>
          <a:xfrm>
            <a:off x="1578275" y="265405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790" name="Rectangle 1789"/>
          <p:cNvSpPr/>
          <p:nvPr/>
        </p:nvSpPr>
        <p:spPr>
          <a:xfrm>
            <a:off x="3346762" y="2809087"/>
            <a:ext cx="21731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4739961" y="280908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18</a:t>
            </a:r>
          </a:p>
        </p:txBody>
      </p:sp>
      <p:sp>
        <p:nvSpPr>
          <p:cNvPr id="1792" name="TextBox 1791"/>
          <p:cNvSpPr txBox="1"/>
          <p:nvPr/>
        </p:nvSpPr>
        <p:spPr>
          <a:xfrm>
            <a:off x="1578275" y="342921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793" name="TextBox 1792"/>
          <p:cNvSpPr txBox="1"/>
          <p:nvPr/>
        </p:nvSpPr>
        <p:spPr>
          <a:xfrm>
            <a:off x="3371762" y="3584252"/>
            <a:ext cx="78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794" name="TextBox 1793"/>
          <p:cNvSpPr txBox="1"/>
          <p:nvPr/>
        </p:nvSpPr>
        <p:spPr>
          <a:xfrm>
            <a:off x="1578275" y="420438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795" name="Rectangle 1794"/>
          <p:cNvSpPr/>
          <p:nvPr/>
        </p:nvSpPr>
        <p:spPr>
          <a:xfrm>
            <a:off x="3346762" y="4359417"/>
            <a:ext cx="434639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6" name="TextBox 1795"/>
          <p:cNvSpPr txBox="1"/>
          <p:nvPr/>
        </p:nvSpPr>
        <p:spPr>
          <a:xfrm>
            <a:off x="6913161" y="435941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0" name="s066.text.1790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66/72</a:t>
            </a:r>
          </a:p>
        </p:txBody>
      </p:sp>
      <p:sp>
        <p:nvSpPr>
          <p:cNvPr id="1807" name="Captura de actividad pendiente"/>
          <p:cNvSpPr/>
          <p:nvPr>
            <p:ph type="pic"/>
          </p:nvPr>
        </p:nvSpPr>
        <p:spPr>
          <a:xfrm>
            <a:off x="1993900" y="749699"/>
            <a:ext cx="5853724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5" name="s067.text.1815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67/72</a:t>
            </a:r>
          </a:p>
        </p:txBody>
      </p:sp>
      <p:sp>
        <p:nvSpPr>
          <p:cNvPr id="1818" name="TextBox 1817"/>
          <p:cNvSpPr txBox="1"/>
          <p:nvPr/>
        </p:nvSpPr>
        <p:spPr>
          <a:xfrm>
            <a:off x="1376825" y="701774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19" name="TextBox 1818"/>
          <p:cNvSpPr txBox="1"/>
          <p:nvPr/>
        </p:nvSpPr>
        <p:spPr>
          <a:xfrm>
            <a:off x="1376825" y="103177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20" name="Rectangle 1819"/>
          <p:cNvSpPr/>
          <p:nvPr/>
        </p:nvSpPr>
        <p:spPr>
          <a:xfrm>
            <a:off x="3145312" y="1186807"/>
            <a:ext cx="96586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1" name="TextBox 1820"/>
          <p:cNvSpPr txBox="1"/>
          <p:nvPr/>
        </p:nvSpPr>
        <p:spPr>
          <a:xfrm>
            <a:off x="3331178" y="118680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30</a:t>
            </a:r>
          </a:p>
        </p:txBody>
      </p:sp>
      <p:sp>
        <p:nvSpPr>
          <p:cNvPr id="1822" name="TextBox 1821"/>
          <p:cNvSpPr txBox="1"/>
          <p:nvPr/>
        </p:nvSpPr>
        <p:spPr>
          <a:xfrm>
            <a:off x="1376825" y="180693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23" name="Rectangle 1822"/>
          <p:cNvSpPr/>
          <p:nvPr/>
        </p:nvSpPr>
        <p:spPr>
          <a:xfrm>
            <a:off x="3145312" y="1961972"/>
            <a:ext cx="3219555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4" name="TextBox 1823"/>
          <p:cNvSpPr txBox="1"/>
          <p:nvPr/>
        </p:nvSpPr>
        <p:spPr>
          <a:xfrm>
            <a:off x="5584867" y="196197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100</a:t>
            </a:r>
          </a:p>
        </p:txBody>
      </p:sp>
      <p:sp>
        <p:nvSpPr>
          <p:cNvPr id="1825" name="TextBox 1824"/>
          <p:cNvSpPr txBox="1"/>
          <p:nvPr/>
        </p:nvSpPr>
        <p:spPr>
          <a:xfrm>
            <a:off x="1376825" y="258210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26" name="Rectangle 1825"/>
          <p:cNvSpPr/>
          <p:nvPr/>
        </p:nvSpPr>
        <p:spPr>
          <a:xfrm>
            <a:off x="3145312" y="2737137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7" name="TextBox 1826"/>
          <p:cNvSpPr txBox="1"/>
          <p:nvPr/>
        </p:nvSpPr>
        <p:spPr>
          <a:xfrm>
            <a:off x="3234591" y="273713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28" name="TextBox 1827"/>
          <p:cNvSpPr txBox="1"/>
          <p:nvPr/>
        </p:nvSpPr>
        <p:spPr>
          <a:xfrm>
            <a:off x="1376825" y="335726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29" name="Rectangle 1828"/>
          <p:cNvSpPr/>
          <p:nvPr/>
        </p:nvSpPr>
        <p:spPr>
          <a:xfrm>
            <a:off x="3145312" y="3512302"/>
            <a:ext cx="869279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0" name="TextBox 1829"/>
          <p:cNvSpPr txBox="1"/>
          <p:nvPr/>
        </p:nvSpPr>
        <p:spPr>
          <a:xfrm>
            <a:off x="3234591" y="351230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27</a:t>
            </a:r>
          </a:p>
        </p:txBody>
      </p:sp>
      <p:sp>
        <p:nvSpPr>
          <p:cNvPr id="1831" name="TextBox 1830"/>
          <p:cNvSpPr txBox="1"/>
          <p:nvPr/>
        </p:nvSpPr>
        <p:spPr>
          <a:xfrm>
            <a:off x="1376825" y="413243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32" name="Rectangle 1831"/>
          <p:cNvSpPr/>
          <p:nvPr/>
        </p:nvSpPr>
        <p:spPr>
          <a:xfrm>
            <a:off x="3145312" y="4287467"/>
            <a:ext cx="3573706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3" name="TextBox 1832"/>
          <p:cNvSpPr txBox="1"/>
          <p:nvPr/>
        </p:nvSpPr>
        <p:spPr>
          <a:xfrm>
            <a:off x="5939018" y="428746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111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4" name="s068.text.182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68/72</a:t>
            </a:r>
          </a:p>
        </p:txBody>
      </p:sp>
      <p:sp>
        <p:nvSpPr>
          <p:cNvPr id="1841" name="Captura de actividad pendiente"/>
          <p:cNvSpPr/>
          <p:nvPr>
            <p:ph type="pic"/>
          </p:nvPr>
        </p:nvSpPr>
        <p:spPr>
          <a:xfrm>
            <a:off x="1228600" y="785274"/>
            <a:ext cx="6590051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s069.text.1849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69/72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171063" y="715699"/>
            <a:ext cx="6801876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53" name="TextBox 1852"/>
          <p:cNvSpPr txBox="1"/>
          <p:nvPr/>
        </p:nvSpPr>
        <p:spPr>
          <a:xfrm>
            <a:off x="1171063" y="104569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54" name="Rectangle 1853"/>
          <p:cNvSpPr/>
          <p:nvPr/>
        </p:nvSpPr>
        <p:spPr>
          <a:xfrm>
            <a:off x="2939550" y="1200732"/>
            <a:ext cx="418542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5" name="TextBox 1854"/>
          <p:cNvSpPr txBox="1"/>
          <p:nvPr/>
        </p:nvSpPr>
        <p:spPr>
          <a:xfrm>
            <a:off x="6344971" y="120073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130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1171063" y="182086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57" name="Rectangle 1856"/>
          <p:cNvSpPr/>
          <p:nvPr/>
        </p:nvSpPr>
        <p:spPr>
          <a:xfrm>
            <a:off x="2939550" y="1975897"/>
            <a:ext cx="389566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8" name="TextBox 1857"/>
          <p:cNvSpPr txBox="1"/>
          <p:nvPr/>
        </p:nvSpPr>
        <p:spPr>
          <a:xfrm>
            <a:off x="6055211" y="197589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121</a:t>
            </a:r>
          </a:p>
        </p:txBody>
      </p:sp>
      <p:sp>
        <p:nvSpPr>
          <p:cNvPr id="1859" name="TextBox 1858"/>
          <p:cNvSpPr txBox="1"/>
          <p:nvPr/>
        </p:nvSpPr>
        <p:spPr>
          <a:xfrm>
            <a:off x="1171063" y="259602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60" name="Rectangle 1859"/>
          <p:cNvSpPr/>
          <p:nvPr/>
        </p:nvSpPr>
        <p:spPr>
          <a:xfrm>
            <a:off x="2939550" y="2751062"/>
            <a:ext cx="1899537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1" name="TextBox 1860"/>
          <p:cNvSpPr txBox="1"/>
          <p:nvPr/>
        </p:nvSpPr>
        <p:spPr>
          <a:xfrm>
            <a:off x="4059087" y="275106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59</a:t>
            </a:r>
          </a:p>
        </p:txBody>
      </p:sp>
      <p:sp>
        <p:nvSpPr>
          <p:cNvPr id="1862" name="TextBox 1861"/>
          <p:cNvSpPr txBox="1"/>
          <p:nvPr/>
        </p:nvSpPr>
        <p:spPr>
          <a:xfrm>
            <a:off x="1171063" y="3371194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63" name="Rectangle 1862"/>
          <p:cNvSpPr/>
          <p:nvPr/>
        </p:nvSpPr>
        <p:spPr>
          <a:xfrm>
            <a:off x="2939550" y="3526227"/>
            <a:ext cx="1513191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4" name="TextBox 1863"/>
          <p:cNvSpPr txBox="1"/>
          <p:nvPr/>
        </p:nvSpPr>
        <p:spPr>
          <a:xfrm>
            <a:off x="3672741" y="3526227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47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1171063" y="4146359"/>
            <a:ext cx="1728487" cy="77516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66" name="Rectangle 1865"/>
          <p:cNvSpPr/>
          <p:nvPr/>
        </p:nvSpPr>
        <p:spPr>
          <a:xfrm>
            <a:off x="2939550" y="4301392"/>
            <a:ext cx="3992248" cy="465099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7" name="TextBox 1866"/>
          <p:cNvSpPr txBox="1"/>
          <p:nvPr/>
        </p:nvSpPr>
        <p:spPr>
          <a:xfrm>
            <a:off x="6151798" y="4301392"/>
            <a:ext cx="740000" cy="4650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8" name="s070.text.1858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70/72</a:t>
            </a:r>
          </a:p>
        </p:txBody>
      </p:sp>
      <p:sp>
        <p:nvSpPr>
          <p:cNvPr id="1875" name="Captura de actividad pendiente"/>
          <p:cNvSpPr/>
          <p:nvPr>
            <p:ph type="pic"/>
          </p:nvPr>
        </p:nvSpPr>
        <p:spPr>
          <a:xfrm>
            <a:off x="1529175" y="785274"/>
            <a:ext cx="6639693" cy="3028326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4" name="s071.text.1884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71/72</a:t>
            </a:r>
          </a:p>
        </p:txBody>
      </p:sp>
      <p:sp>
        <p:nvSpPr>
          <p:cNvPr id="1886" name="TextBox 1885"/>
          <p:cNvSpPr txBox="1"/>
          <p:nvPr/>
        </p:nvSpPr>
        <p:spPr>
          <a:xfrm>
            <a:off x="1547273" y="728925"/>
            <a:ext cx="6296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F8C8D"/>
                </a:solidFill>
                <a:latin typeface="Inter"/>
              </a:rPr>
              <a:t>Actividad por Volcable</a:t>
            </a:r>
          </a:p>
        </p:txBody>
      </p:sp>
      <p:sp>
        <p:nvSpPr>
          <p:cNvPr id="1887" name="TextBox 1886"/>
          <p:cNvSpPr txBox="1"/>
          <p:nvPr/>
        </p:nvSpPr>
        <p:spPr>
          <a:xfrm>
            <a:off x="1547273" y="105892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1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3209337" y="1201456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89" name="TextBox 1888"/>
          <p:cNvSpPr txBox="1"/>
          <p:nvPr/>
        </p:nvSpPr>
        <p:spPr>
          <a:xfrm>
            <a:off x="1547273" y="177158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2</a:t>
            </a:r>
          </a:p>
        </p:txBody>
      </p:sp>
      <p:sp>
        <p:nvSpPr>
          <p:cNvPr id="1890" name="TextBox 1889"/>
          <p:cNvSpPr txBox="1"/>
          <p:nvPr/>
        </p:nvSpPr>
        <p:spPr>
          <a:xfrm>
            <a:off x="3209337" y="1914111"/>
            <a:ext cx="78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434343"/>
                </a:solidFill>
                <a:latin typeface="Inter"/>
              </a:rPr>
              <a:t>0</a:t>
            </a:r>
          </a:p>
        </p:txBody>
      </p:sp>
      <p:sp>
        <p:nvSpPr>
          <p:cNvPr id="1891" name="TextBox 1890"/>
          <p:cNvSpPr txBox="1"/>
          <p:nvPr/>
        </p:nvSpPr>
        <p:spPr>
          <a:xfrm>
            <a:off x="1547273" y="248423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3</a:t>
            </a:r>
          </a:p>
        </p:txBody>
      </p:sp>
      <p:sp>
        <p:nvSpPr>
          <p:cNvPr id="1892" name="Rectangle 1891"/>
          <p:cNvSpPr/>
          <p:nvPr/>
        </p:nvSpPr>
        <p:spPr>
          <a:xfrm>
            <a:off x="3184337" y="2626766"/>
            <a:ext cx="4470444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3" name="TextBox 1892"/>
          <p:cNvSpPr txBox="1"/>
          <p:nvPr/>
        </p:nvSpPr>
        <p:spPr>
          <a:xfrm>
            <a:off x="6874781" y="262676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150</a:t>
            </a:r>
          </a:p>
        </p:txBody>
      </p:sp>
      <p:sp>
        <p:nvSpPr>
          <p:cNvPr id="1894" name="TextBox 1893"/>
          <p:cNvSpPr txBox="1"/>
          <p:nvPr/>
        </p:nvSpPr>
        <p:spPr>
          <a:xfrm>
            <a:off x="1547273" y="3196890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4</a:t>
            </a:r>
          </a:p>
        </p:txBody>
      </p:sp>
      <p:sp>
        <p:nvSpPr>
          <p:cNvPr id="1895" name="Rectangle 1894"/>
          <p:cNvSpPr/>
          <p:nvPr/>
        </p:nvSpPr>
        <p:spPr>
          <a:xfrm>
            <a:off x="3184337" y="3339421"/>
            <a:ext cx="3725370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6" name="TextBox 1895"/>
          <p:cNvSpPr txBox="1"/>
          <p:nvPr/>
        </p:nvSpPr>
        <p:spPr>
          <a:xfrm>
            <a:off x="6129707" y="3339421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125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547273" y="3909545"/>
            <a:ext cx="1597064" cy="71265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434343"/>
                </a:solidFill>
                <a:latin typeface="Inter"/>
              </a:rPr>
              <a:t>Volcable 5</a:t>
            </a:r>
          </a:p>
        </p:txBody>
      </p:sp>
      <p:sp>
        <p:nvSpPr>
          <p:cNvPr id="1898" name="Rectangle 1897"/>
          <p:cNvSpPr/>
          <p:nvPr/>
        </p:nvSpPr>
        <p:spPr>
          <a:xfrm>
            <a:off x="3184337" y="4052076"/>
            <a:ext cx="3993596" cy="427593"/>
          </a:xfrm>
          <a:prstGeom prst="rect">
            <a:avLst/>
          </a:prstGeom>
          <a:solidFill>
            <a:srgbClr val="3E6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9" name="TextBox 1898"/>
          <p:cNvSpPr txBox="1"/>
          <p:nvPr/>
        </p:nvSpPr>
        <p:spPr>
          <a:xfrm>
            <a:off x="6397933" y="4052076"/>
            <a:ext cx="740000" cy="42759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1">
                <a:solidFill>
                  <a:srgbClr val="FFFFFF"/>
                </a:solidFill>
                <a:latin typeface="Inter"/>
              </a:rPr>
              <a:t>134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s072.text.1892"/>
          <p:cNvSpPr txBox="1"/>
          <p:nvPr/>
        </p:nvSpPr>
        <p:spPr>
          <a:xfrm>
            <a:off x="1050000" y="210000"/>
            <a:ext cx="7100000" cy="35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BORRADOR MANUAL · Datos de referencia y carga manual · 72/72</a:t>
            </a:r>
          </a:p>
        </p:txBody>
      </p:sp>
      <p:sp>
        <p:nvSpPr>
          <p:cNvPr id="1909" name="Captura de actividad pendiente"/>
          <p:cNvSpPr/>
          <p:nvPr>
            <p:ph type="pic"/>
          </p:nvPr>
        </p:nvSpPr>
        <p:spPr>
          <a:xfrm>
            <a:off x="1389175" y="785274"/>
            <a:ext cx="6587038" cy="3028327"/>
          </a:xfrm>
          <a:prstGeom prst="rect">
            <a:avLst/>
          </a:prstGeom>
          <a:noFill/>
          <a:ln w="9525">
            <a:solidFill>
              <a:srgbClr val="B8C7C0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