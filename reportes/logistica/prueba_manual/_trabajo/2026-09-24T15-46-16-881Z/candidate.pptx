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harts/chart1001.xml" ContentType="application/vnd.openxmlformats-officedocument.drawingml.chart+xml"/>
  <Override PartName="/ppt/charts/chart1002.xml" ContentType="application/vnd.openxmlformats-officedocument.drawingml.chart+xml"/>
  <Override PartName="/ppt/charts/chart1003.xml" ContentType="application/vnd.openxmlformats-officedocument.drawingml.chart+xml"/>
  <Override PartName="/ppt/charts/chart1004.xml" ContentType="application/vnd.openxmlformats-officedocument.drawingml.chart+xml"/>
  <Override PartName="/ppt/charts/chart1005.xml" ContentType="application/vnd.openxmlformats-officedocument.drawingml.chart+xml"/>
  <Override PartName="/ppt/charts/chart1006.xml" ContentType="application/vnd.openxmlformats-officedocument.drawingml.chart+xml"/>
  <Override PartName="/ppt/charts/chart1007.xml" ContentType="application/vnd.openxmlformats-officedocument.drawingml.chart+xml"/>
  <Override PartName="/ppt/charts/chart1008.xml" ContentType="application/vnd.openxmlformats-officedocument.drawingml.chart+xml"/>
  <Override PartName="/ppt/charts/chart1010.xml" ContentType="application/vnd.openxmlformats-officedocument.drawingml.chart+xml"/>
  <Override PartName="/ppt/charts/chart1011.xml" ContentType="application/vnd.openxmlformats-officedocument.drawingml.chart+xml"/>
  <Override PartName="/ppt/charts/chart1012.xml" ContentType="application/vnd.openxmlformats-officedocument.drawingml.chart+xml"/>
  <Override PartName="/ppt/charts/chart1013.xml" ContentType="application/vnd.openxmlformats-officedocument.drawingml.chart+xml"/>
  <Override PartName="/ppt/charts/chart1014.xml" ContentType="application/vnd.openxmlformats-officedocument.drawingml.chart+xml"/>
  <Override PartName="/ppt/charts/chart1015.xml" ContentType="application/vnd.openxmlformats-officedocument.drawingml.chart+xml"/>
  <Override PartName="/ppt/charts/chart1016.xml" ContentType="application/vnd.openxmlformats-officedocument.drawingml.chart+xml"/>
  <Override PartName="/ppt/charts/chart1017.xml" ContentType="application/vnd.openxmlformats-officedocument.drawingml.chart+xml"/>
  <Override PartName="/ppt/charts/chart1018.xml" ContentType="application/vnd.openxmlformats-officedocument.drawingml.chart+xml"/>
  <Override PartName="/ppt/charts/chart1019.xml" ContentType="application/vnd.openxmlformats-officedocument.drawingml.chart+xml"/>
  <Override PartName="/ppt/charts/chart1020.xml" ContentType="application/vnd.openxmlformats-officedocument.drawingml.chart+xml"/>
  <Override PartName="/ppt/charts/chart1021.xml" ContentType="application/vnd.openxmlformats-officedocument.drawingml.chart+xml"/>
  <Override PartName="/ppt/charts/chart1022.xml" ContentType="application/vnd.openxmlformats-officedocument.drawingml.chart+xml"/>
  <Override PartName="/ppt/charts/chart1023.xml" ContentType="application/vnd.openxmlformats-officedocument.drawingml.chart+xml"/>
  <Override PartName="/ppt/charts/chart1024.xml" ContentType="application/vnd.openxmlformats-officedocument.drawingml.chart+xml"/>
  <Override PartName="/ppt/charts/chart1025.xml" ContentType="application/vnd.openxmlformats-officedocument.drawingml.chart+xml"/>
  <Override PartName="/ppt/charts/chart1026.xml" ContentType="application/vnd.openxmlformats-officedocument.drawingml.chart+xml"/>
  <Override PartName="/ppt/charts/chart1027.xml" ContentType="application/vnd.openxmlformats-officedocument.drawingml.chart+xml"/>
  <Override PartName="/ppt/charts/chart1028.xml" ContentType="application/vnd.openxmlformats-officedocument.drawingml.chart+xml"/>
  <Override PartName="/ppt/charts/chart1029.xml" ContentType="application/vnd.openxmlformats-officedocument.drawingml.chart+xml"/>
  <Override PartName="/ppt/charts/chart1030.xml" ContentType="application/vnd.openxmlformats-officedocument.drawingml.chart+xml"/>
  <Override PartName="/ppt/charts/chart1031.xml" ContentType="application/vnd.openxmlformats-officedocument.drawingml.chart+xml"/>
  <Override PartName="/ppt/charts/chart1032.xml" ContentType="application/vnd.openxmlformats-officedocument.drawingml.chart+xml"/>
  <Override PartName="/ppt/charts/chart1033.xml" ContentType="application/vnd.openxmlformats-officedocument.drawingml.chart+xml"/>
  <Override PartName="/ppt/charts/chart1034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y="5448300" cx="9144000"/>
  <p:notesSz cx="6858000" cy="9144000"/>
  <p:embeddedFontLst>
    <p:embeddedFont>
      <p:font typeface="Inter"/>
      <p:regular r:id="rId78"/>
      <p:bold r:id="rId79"/>
      <p:italic r:id="rId80"/>
      <p:boldItalic r:id="rId81"/>
    </p:embeddedFont>
    <p:embeddedFont>
      <p:font typeface="Inter ExtraBold"/>
      <p:bold r:id="rId82"/>
      <p:boldItalic r:id="rId83"/>
    </p:embeddedFont>
    <p:embeddedFont>
      <p:font typeface="Inter Medium"/>
      <p:regular r:id="rId84"/>
      <p:bold r:id="rId85"/>
      <p:italic r:id="rId86"/>
      <p:boldItalic r:id="rId87"/>
    </p:embeddedFont>
    <p:embeddedFont>
      <p:font typeface="Inter ExtraLight"/>
      <p:regular r:id="rId88"/>
      <p:bold r:id="rId89"/>
      <p:italic r:id="rId90"/>
      <p:boldItalic r:id="rId9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font" Target="fonts/Inter-regular.fntdata"/><Relationship Id="rId79" Type="http://schemas.openxmlformats.org/officeDocument/2006/relationships/font" Target="fonts/Inter-bold.fntdata"/><Relationship Id="rId80" Type="http://schemas.openxmlformats.org/officeDocument/2006/relationships/font" Target="fonts/Inter-italic.fntdata"/><Relationship Id="rId81" Type="http://schemas.openxmlformats.org/officeDocument/2006/relationships/font" Target="fonts/Inter-boldItalic.fntdata"/><Relationship Id="rId82" Type="http://schemas.openxmlformats.org/officeDocument/2006/relationships/font" Target="fonts/InterExtraBold-bold.fntdata"/><Relationship Id="rId83" Type="http://schemas.openxmlformats.org/officeDocument/2006/relationships/font" Target="fonts/InterExtraBold-boldItalic.fntdata"/><Relationship Id="rId84" Type="http://schemas.openxmlformats.org/officeDocument/2006/relationships/font" Target="fonts/InterMedium-regular.fntdata"/><Relationship Id="rId85" Type="http://schemas.openxmlformats.org/officeDocument/2006/relationships/font" Target="fonts/InterMedium-bold.fntdata"/><Relationship Id="rId86" Type="http://schemas.openxmlformats.org/officeDocument/2006/relationships/font" Target="fonts/InterMedium-italic.fntdata"/><Relationship Id="rId87" Type="http://schemas.openxmlformats.org/officeDocument/2006/relationships/font" Target="fonts/InterMedium-boldItalic.fntdata"/><Relationship Id="rId88" Type="http://schemas.openxmlformats.org/officeDocument/2006/relationships/font" Target="fonts/InterExtraLight-regular.fntdata"/><Relationship Id="rId89" Type="http://schemas.openxmlformats.org/officeDocument/2006/relationships/font" Target="fonts/InterExtraLight-bold.fntdata"/><Relationship Id="rId90" Type="http://schemas.openxmlformats.org/officeDocument/2006/relationships/font" Target="fonts/InterExtraLight-italic.fntdata"/><Relationship Id="rId91" Type="http://schemas.openxmlformats.org/officeDocument/2006/relationships/font" Target="fonts/InterExtraLight-boldItalic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376</c:v>
                </c:pt>
                <c:pt idx="1">
                  <c:v>338</c:v>
                </c:pt>
                <c:pt idx="2">
                  <c:v>316</c:v>
                </c:pt>
                <c:pt idx="3">
                  <c:v>383</c:v>
                </c:pt>
                <c:pt idx="4">
                  <c:v>304</c:v>
                </c:pt>
                <c:pt idx="5">
                  <c:v>445</c:v>
                </c:pt>
                <c:pt idx="6">
                  <c:v>389</c:v>
                </c:pt>
                <c:pt idx="7">
                  <c:v>421</c:v>
                </c:pt>
                <c:pt idx="8">
                  <c:v>346</c:v>
                </c:pt>
                <c:pt idx="9">
                  <c:v>368</c:v>
                </c:pt>
                <c:pt idx="10">
                  <c:v>296</c:v>
                </c:pt>
                <c:pt idx="11">
                  <c:v>379</c:v>
                </c:pt>
                <c:pt idx="12">
                  <c:v>276</c:v>
                </c:pt>
                <c:pt idx="13">
                  <c:v>334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121</c:v>
                </c:pt>
                <c:pt idx="1">
                  <c:v>94</c:v>
                </c:pt>
                <c:pt idx="2">
                  <c:v>113</c:v>
                </c:pt>
                <c:pt idx="3">
                  <c:v>145</c:v>
                </c:pt>
                <c:pt idx="4">
                  <c:v>114</c:v>
                </c:pt>
                <c:pt idx="5">
                  <c:v>171</c:v>
                </c:pt>
                <c:pt idx="6">
                  <c:v>181</c:v>
                </c:pt>
                <c:pt idx="7">
                  <c:v>120</c:v>
                </c:pt>
                <c:pt idx="8">
                  <c:v>101</c:v>
                </c:pt>
                <c:pt idx="9">
                  <c:v>130</c:v>
                </c:pt>
                <c:pt idx="10">
                  <c:v>112</c:v>
                </c:pt>
                <c:pt idx="11">
                  <c:v>140</c:v>
                </c:pt>
                <c:pt idx="12">
                  <c:v>97</c:v>
                </c:pt>
                <c:pt idx="13">
                  <c:v>126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Playa OSL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135</c:v>
                </c:pt>
                <c:pt idx="1">
                  <c:v>104</c:v>
                </c:pt>
                <c:pt idx="2">
                  <c:v>86</c:v>
                </c:pt>
                <c:pt idx="3">
                  <c:v>105</c:v>
                </c:pt>
                <c:pt idx="4">
                  <c:v>65</c:v>
                </c:pt>
                <c:pt idx="5">
                  <c:v>140</c:v>
                </c:pt>
                <c:pt idx="6">
                  <c:v>85</c:v>
                </c:pt>
                <c:pt idx="7">
                  <c:v>145</c:v>
                </c:pt>
                <c:pt idx="8">
                  <c:v>113</c:v>
                </c:pt>
                <c:pt idx="9">
                  <c:v>127</c:v>
                </c:pt>
                <c:pt idx="10">
                  <c:v>89</c:v>
                </c:pt>
                <c:pt idx="11">
                  <c:v>137</c:v>
                </c:pt>
                <c:pt idx="12">
                  <c:v>87</c:v>
                </c:pt>
                <c:pt idx="13">
                  <c:v>119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5E86A0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79</c:v>
                </c:pt>
                <c:pt idx="1">
                  <c:v>92</c:v>
                </c:pt>
                <c:pt idx="2">
                  <c:v>64</c:v>
                </c:pt>
                <c:pt idx="3">
                  <c:v>70</c:v>
                </c:pt>
                <c:pt idx="4">
                  <c:v>60</c:v>
                </c:pt>
                <c:pt idx="5">
                  <c:v>59</c:v>
                </c:pt>
                <c:pt idx="6">
                  <c:v>58</c:v>
                </c:pt>
                <c:pt idx="7">
                  <c:v>68</c:v>
                </c:pt>
                <c:pt idx="8">
                  <c:v>63</c:v>
                </c:pt>
                <c:pt idx="9">
                  <c:v>71</c:v>
                </c:pt>
                <c:pt idx="10">
                  <c:v>64</c:v>
                </c:pt>
                <c:pt idx="11">
                  <c:v>62</c:v>
                </c:pt>
                <c:pt idx="12">
                  <c:v>63</c:v>
                </c:pt>
                <c:pt idx="13">
                  <c:v>61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326</c:v>
                </c:pt>
                <c:pt idx="1">
                  <c:v>315</c:v>
                </c:pt>
                <c:pt idx="2">
                  <c:v>287</c:v>
                </c:pt>
                <c:pt idx="3">
                  <c:v>317</c:v>
                </c:pt>
                <c:pt idx="4">
                  <c:v>306</c:v>
                </c:pt>
                <c:pt idx="5">
                  <c:v>351</c:v>
                </c:pt>
                <c:pt idx="6">
                  <c:v>361</c:v>
                </c:pt>
                <c:pt idx="7">
                  <c:v>347</c:v>
                </c:pt>
                <c:pt idx="8">
                  <c:v>241</c:v>
                </c:pt>
                <c:pt idx="9">
                  <c:v>289</c:v>
                </c:pt>
                <c:pt idx="10">
                  <c:v>353</c:v>
                </c:pt>
                <c:pt idx="11">
                  <c:v>430</c:v>
                </c:pt>
                <c:pt idx="12">
                  <c:v>319</c:v>
                </c:pt>
                <c:pt idx="13">
                  <c:v>382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120</c:v>
                </c:pt>
                <c:pt idx="1">
                  <c:v>107</c:v>
                </c:pt>
                <c:pt idx="2">
                  <c:v>105</c:v>
                </c:pt>
                <c:pt idx="3">
                  <c:v>122</c:v>
                </c:pt>
                <c:pt idx="4">
                  <c:v>117</c:v>
                </c:pt>
                <c:pt idx="5">
                  <c:v>140</c:v>
                </c:pt>
                <c:pt idx="6">
                  <c:v>137</c:v>
                </c:pt>
                <c:pt idx="7">
                  <c:v>138</c:v>
                </c:pt>
                <c:pt idx="8">
                  <c:v>80</c:v>
                </c:pt>
                <c:pt idx="9">
                  <c:v>99</c:v>
                </c:pt>
                <c:pt idx="10">
                  <c:v>163</c:v>
                </c:pt>
                <c:pt idx="11">
                  <c:v>190</c:v>
                </c:pt>
                <c:pt idx="12">
                  <c:v>116</c:v>
                </c:pt>
                <c:pt idx="13">
                  <c:v>133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184</c:v>
                </c:pt>
                <c:pt idx="1">
                  <c:v>180</c:v>
                </c:pt>
                <c:pt idx="2">
                  <c:v>159</c:v>
                </c:pt>
                <c:pt idx="3">
                  <c:v>170</c:v>
                </c:pt>
                <c:pt idx="4">
                  <c:v>166</c:v>
                </c:pt>
                <c:pt idx="5">
                  <c:v>188</c:v>
                </c:pt>
                <c:pt idx="6">
                  <c:v>208</c:v>
                </c:pt>
                <c:pt idx="7">
                  <c:v>186</c:v>
                </c:pt>
                <c:pt idx="8">
                  <c:v>110</c:v>
                </c:pt>
                <c:pt idx="9">
                  <c:v>146</c:v>
                </c:pt>
                <c:pt idx="10">
                  <c:v>152</c:v>
                </c:pt>
                <c:pt idx="11">
                  <c:v>215</c:v>
                </c:pt>
                <c:pt idx="12">
                  <c:v>155</c:v>
                </c:pt>
                <c:pt idx="13">
                  <c:v>208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10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Distribución por circuito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1"/>
              <c:pt idx="0">
                <c:v>R7 Terminal de embarque</c:v>
              </c:pt>
            </c:strLit>
          </c:cat>
          <c:val>
            <c:numLit>
              <c:formatCode>0</c:formatCode>
              <c:ptCount val="1"/>
              <c:pt idx="0">
                <c:v>2323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Tiempos por planta (min)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Ricardone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0.0</c:formatCode>
              <c:ptCount val="7"/>
              <c:pt idx="0">
                <c:v>182.1</c:v>
              </c:pt>
              <c:pt idx="1">
                <c:v>183.8</c:v>
              </c:pt>
              <c:pt idx="2">
                <c:v>173.9</c:v>
              </c:pt>
              <c:pt idx="3">
                <c:v>184.5</c:v>
              </c:pt>
              <c:pt idx="4">
                <c:v>78.5</c:v>
              </c:pt>
              <c:pt idx="5">
                <c:v>97.9</c:v>
              </c:pt>
              <c:pt idx="6">
                <c:v>132.6</c:v>
              </c:pt>
            </c:numLit>
          </c:val>
        </c:ser>
        <c:ser>
          <c:idx val="1"/>
          <c:order val="1"/>
          <c:tx>
            <c:v>San Lorenzo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0.0</c:formatCode>
              <c:ptCount val="7"/>
              <c:pt idx="0">
                <c:v>169.1</c:v>
              </c:pt>
              <c:pt idx="1">
                <c:v>150.9</c:v>
              </c:pt>
              <c:pt idx="2">
                <c:v>203.6</c:v>
              </c:pt>
              <c:pt idx="3">
                <c:v>61.7</c:v>
              </c:pt>
              <c:pt idx="4">
                <c:v>141.8</c:v>
              </c:pt>
              <c:pt idx="5">
                <c:v>289.8</c:v>
              </c:pt>
              <c:pt idx="6">
                <c:v>237.3</c:v>
              </c:pt>
            </c:numLit>
          </c:val>
        </c:ser>
        <c:dLbls>
          <c:numFmt formatCode="0.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Volumen por cuarto de turno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Q1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151</c:v>
              </c:pt>
              <c:pt idx="1">
                <c:v>178</c:v>
              </c:pt>
              <c:pt idx="2">
                <c:v>195</c:v>
              </c:pt>
              <c:pt idx="3">
                <c:v>6</c:v>
              </c:pt>
              <c:pt idx="4">
                <c:v>66</c:v>
              </c:pt>
              <c:pt idx="5">
                <c:v>108</c:v>
              </c:pt>
              <c:pt idx="6">
                <c:v>128</c:v>
              </c:pt>
            </c:numLit>
          </c:val>
        </c:ser>
        <c:ser>
          <c:idx val="1"/>
          <c:order val="1"/>
          <c:tx>
            <c:v>Q2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118</c:v>
              </c:pt>
              <c:pt idx="1">
                <c:v>78</c:v>
              </c:pt>
              <c:pt idx="2">
                <c:v>103</c:v>
              </c:pt>
              <c:pt idx="3">
                <c:v>5</c:v>
              </c:pt>
              <c:pt idx="4">
                <c:v>36</c:v>
              </c:pt>
              <c:pt idx="5">
                <c:v>83</c:v>
              </c:pt>
              <c:pt idx="6">
                <c:v>88</c:v>
              </c:pt>
            </c:numLit>
          </c:val>
        </c:ser>
        <c:ser>
          <c:idx val="2"/>
          <c:order val="2"/>
          <c:tx>
            <c:v>Q3</c:v>
          </c:tx>
          <c:spPr>
            <a:solidFill>
              <a:srgbClr val="C49A32"/>
            </a:solidFill>
            <a:ln w="19050">
              <a:solidFill>
                <a:srgbClr val="C49A32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104</c:v>
              </c:pt>
              <c:pt idx="1">
                <c:v>139</c:v>
              </c:pt>
              <c:pt idx="2">
                <c:v>81</c:v>
              </c:pt>
              <c:pt idx="3">
                <c:v>9</c:v>
              </c:pt>
              <c:pt idx="4">
                <c:v>92</c:v>
              </c:pt>
              <c:pt idx="5">
                <c:v>115</c:v>
              </c:pt>
              <c:pt idx="6">
                <c:v>93</c:v>
              </c:pt>
            </c:numLit>
          </c:val>
        </c:ser>
        <c:ser>
          <c:idx val="3"/>
          <c:order val="3"/>
          <c:tx>
            <c:v>Q4</c:v>
          </c:tx>
          <c:spPr>
            <a:solidFill>
              <a:srgbClr val="A95C3F"/>
            </a:solidFill>
            <a:ln w="19050">
              <a:solidFill>
                <a:srgbClr val="A95C3F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138</c:v>
              </c:pt>
              <c:pt idx="1">
                <c:v>87</c:v>
              </c:pt>
              <c:pt idx="2">
                <c:v>40</c:v>
              </c:pt>
              <c:pt idx="3">
                <c:v>19</c:v>
              </c:pt>
              <c:pt idx="4">
                <c:v>98</c:v>
              </c:pt>
              <c:pt idx="5">
                <c:v>87</c:v>
              </c:pt>
              <c:pt idx="6">
                <c:v>69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Tiempo medio diario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Tiempo medio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0.0</c:formatCode>
              <c:ptCount val="7"/>
              <c:pt idx="0">
                <c:v>416.1</c:v>
              </c:pt>
              <c:pt idx="1">
                <c:v>339.4</c:v>
              </c:pt>
              <c:pt idx="2">
                <c:v>400.3</c:v>
              </c:pt>
              <c:pt idx="3">
                <c:v>437.8</c:v>
              </c:pt>
              <c:pt idx="4">
                <c:v>286.4</c:v>
              </c:pt>
              <c:pt idx="5">
                <c:v>405.8</c:v>
              </c:pt>
              <c:pt idx="6">
                <c:v>436.6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121</c:v>
              </c:pt>
              <c:pt idx="1">
                <c:v>94</c:v>
              </c:pt>
              <c:pt idx="2">
                <c:v>113</c:v>
              </c:pt>
              <c:pt idx="3">
                <c:v>145</c:v>
              </c:pt>
              <c:pt idx="4">
                <c:v>114</c:v>
              </c:pt>
              <c:pt idx="5">
                <c:v>171</c:v>
              </c:pt>
              <c:pt idx="6">
                <c:v>181</c:v>
              </c:pt>
              <c:pt idx="7">
                <c:v>120</c:v>
              </c:pt>
              <c:pt idx="8">
                <c:v>101</c:v>
              </c:pt>
              <c:pt idx="9">
                <c:v>130</c:v>
              </c:pt>
              <c:pt idx="10">
                <c:v>112</c:v>
              </c:pt>
              <c:pt idx="11">
                <c:v>140</c:v>
              </c:pt>
              <c:pt idx="12">
                <c:v>97</c:v>
              </c:pt>
              <c:pt idx="13">
                <c:v>126</c:v>
              </c:pt>
            </c:numLit>
          </c:val>
          <c:smooth val="0"/>
        </c:ser>
        <c:ser>
          <c:idx val="1"/>
          <c:order val="1"/>
          <c:tx>
            <c:v>Playa OSL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135</c:v>
              </c:pt>
              <c:pt idx="1">
                <c:v>104</c:v>
              </c:pt>
              <c:pt idx="2">
                <c:v>86</c:v>
              </c:pt>
              <c:pt idx="3">
                <c:v>105</c:v>
              </c:pt>
              <c:pt idx="4">
                <c:v>65</c:v>
              </c:pt>
              <c:pt idx="5">
                <c:v>140</c:v>
              </c:pt>
              <c:pt idx="6">
                <c:v>85</c:v>
              </c:pt>
              <c:pt idx="7">
                <c:v>145</c:v>
              </c:pt>
              <c:pt idx="8">
                <c:v>113</c:v>
              </c:pt>
              <c:pt idx="9">
                <c:v>127</c:v>
              </c:pt>
              <c:pt idx="10">
                <c:v>89</c:v>
              </c:pt>
              <c:pt idx="11">
                <c:v>137</c:v>
              </c:pt>
              <c:pt idx="12">
                <c:v>87</c:v>
              </c:pt>
              <c:pt idx="13">
                <c:v>119</c:v>
              </c:pt>
            </c:numLit>
          </c:val>
          <c:smooth val="0"/>
        </c:ser>
        <c:ser>
          <c:idx val="2"/>
          <c:order val="2"/>
          <c:tx>
            <c:v>Descarga</c:v>
          </c:tx>
          <c:spPr>
            <a:solidFill>
              <a:srgbClr val="C49A32"/>
            </a:solidFill>
            <a:ln w="19050">
              <a:solidFill>
                <a:srgbClr val="C49A32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79</c:v>
              </c:pt>
              <c:pt idx="1">
                <c:v>92</c:v>
              </c:pt>
              <c:pt idx="2">
                <c:v>64</c:v>
              </c:pt>
              <c:pt idx="3">
                <c:v>70</c:v>
              </c:pt>
              <c:pt idx="4">
                <c:v>60</c:v>
              </c:pt>
              <c:pt idx="5">
                <c:v>59</c:v>
              </c:pt>
              <c:pt idx="6">
                <c:v>58</c:v>
              </c:pt>
              <c:pt idx="7">
                <c:v>68</c:v>
              </c:pt>
              <c:pt idx="8">
                <c:v>63</c:v>
              </c:pt>
              <c:pt idx="9">
                <c:v>71</c:v>
              </c:pt>
              <c:pt idx="10">
                <c:v>64</c:v>
              </c:pt>
              <c:pt idx="11">
                <c:v>62</c:v>
              </c:pt>
              <c:pt idx="12">
                <c:v>63</c:v>
              </c:pt>
              <c:pt idx="13">
                <c:v>61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Tiempo medio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376</c:v>
              </c:pt>
              <c:pt idx="1">
                <c:v>338</c:v>
              </c:pt>
              <c:pt idx="2">
                <c:v>316</c:v>
              </c:pt>
              <c:pt idx="3">
                <c:v>383</c:v>
              </c:pt>
              <c:pt idx="4">
                <c:v>304</c:v>
              </c:pt>
              <c:pt idx="5">
                <c:v>445</c:v>
              </c:pt>
              <c:pt idx="6">
                <c:v>389</c:v>
              </c:pt>
              <c:pt idx="7">
                <c:v>421</c:v>
              </c:pt>
              <c:pt idx="8">
                <c:v>346</c:v>
              </c:pt>
              <c:pt idx="9">
                <c:v>368</c:v>
              </c:pt>
              <c:pt idx="10">
                <c:v>296</c:v>
              </c:pt>
              <c:pt idx="11">
                <c:v>379</c:v>
              </c:pt>
              <c:pt idx="12">
                <c:v>276</c:v>
              </c:pt>
              <c:pt idx="13">
                <c:v>334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Camiones por día del operativo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2"/>
              <c:pt idx="0">
                <c:v>Lunes</c:v>
              </c:pt>
              <c:pt idx="1">
                <c:v>Martes</c:v>
              </c:pt>
            </c:strLit>
          </c:cat>
          <c:val>
            <c:numLit>
              <c:formatCode>0</c:formatCode>
              <c:ptCount val="2"/>
              <c:pt idx="0">
                <c:v>144</c:v>
              </c:pt>
              <c:pt idx="1">
                <c:v>63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Tiempos por planta (min)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Ricardone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2"/>
              <c:pt idx="0">
                <c:v>Lunes</c:v>
              </c:pt>
              <c:pt idx="1">
                <c:v>Martes</c:v>
              </c:pt>
            </c:strLit>
          </c:cat>
          <c:val>
            <c:numLit>
              <c:formatCode>0.0</c:formatCode>
              <c:ptCount val="2"/>
              <c:pt idx="0">
                <c:v>127</c:v>
              </c:pt>
              <c:pt idx="1">
                <c:v>147.3</c:v>
              </c:pt>
            </c:numLit>
          </c:val>
        </c:ser>
        <c:ser>
          <c:idx val="1"/>
          <c:order val="1"/>
          <c:tx>
            <c:v>San Lorenzo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Lit>
              <c:ptCount val="2"/>
              <c:pt idx="0">
                <c:v>Lunes</c:v>
              </c:pt>
              <c:pt idx="1">
                <c:v>Martes</c:v>
              </c:pt>
            </c:strLit>
          </c:cat>
          <c:val>
            <c:numLit>
              <c:formatCode>0.0</c:formatCode>
              <c:ptCount val="2"/>
              <c:pt idx="0">
                <c:v>83.2</c:v>
              </c:pt>
              <c:pt idx="1">
                <c:v>76.1</c:v>
              </c:pt>
            </c:numLit>
          </c:val>
        </c:ser>
        <c:dLbls>
          <c:numFmt formatCode="0.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Distribución por circuito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3"/>
              <c:pt idx="0">
                <c:v>R5 Volcable 1</c:v>
              </c:pt>
              <c:pt idx="1">
                <c:v>R6 Volcable 2</c:v>
              </c:pt>
              <c:pt idx="2">
                <c:v>R4 Silos Kepler</c:v>
              </c:pt>
            </c:strLit>
          </c:cat>
          <c:val>
            <c:numLit>
              <c:formatCode>0</c:formatCode>
              <c:ptCount val="3"/>
              <c:pt idx="0">
                <c:v>349</c:v>
              </c:pt>
              <c:pt idx="1">
                <c:v>77</c:v>
              </c:pt>
              <c:pt idx="2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120</c:v>
              </c:pt>
              <c:pt idx="1">
                <c:v>107</c:v>
              </c:pt>
              <c:pt idx="2">
                <c:v>105</c:v>
              </c:pt>
              <c:pt idx="3">
                <c:v>122</c:v>
              </c:pt>
              <c:pt idx="4">
                <c:v>117</c:v>
              </c:pt>
              <c:pt idx="5">
                <c:v>140</c:v>
              </c:pt>
              <c:pt idx="6">
                <c:v>137</c:v>
              </c:pt>
              <c:pt idx="7">
                <c:v>138</c:v>
              </c:pt>
              <c:pt idx="8">
                <c:v>80</c:v>
              </c:pt>
              <c:pt idx="9">
                <c:v>99</c:v>
              </c:pt>
              <c:pt idx="10">
                <c:v>163</c:v>
              </c:pt>
              <c:pt idx="11">
                <c:v>190</c:v>
              </c:pt>
              <c:pt idx="12">
                <c:v>116</c:v>
              </c:pt>
              <c:pt idx="13">
                <c:v>133</c:v>
              </c:pt>
            </c:numLit>
          </c:val>
          <c:smooth val="0"/>
        </c:ser>
        <c:ser>
          <c:idx val="1"/>
          <c:order val="1"/>
          <c:tx>
            <c:v>Descarga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184</c:v>
              </c:pt>
              <c:pt idx="1">
                <c:v>180</c:v>
              </c:pt>
              <c:pt idx="2">
                <c:v>159</c:v>
              </c:pt>
              <c:pt idx="3">
                <c:v>170</c:v>
              </c:pt>
              <c:pt idx="4">
                <c:v>166</c:v>
              </c:pt>
              <c:pt idx="5">
                <c:v>188</c:v>
              </c:pt>
              <c:pt idx="6">
                <c:v>208</c:v>
              </c:pt>
              <c:pt idx="7">
                <c:v>186</c:v>
              </c:pt>
              <c:pt idx="8">
                <c:v>110</c:v>
              </c:pt>
              <c:pt idx="9">
                <c:v>146</c:v>
              </c:pt>
              <c:pt idx="10">
                <c:v>152</c:v>
              </c:pt>
              <c:pt idx="11">
                <c:v>215</c:v>
              </c:pt>
              <c:pt idx="12">
                <c:v>155</c:v>
              </c:pt>
              <c:pt idx="13">
                <c:v>208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Girasol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326</c:v>
              </c:pt>
              <c:pt idx="1">
                <c:v>315</c:v>
              </c:pt>
              <c:pt idx="2">
                <c:v>287</c:v>
              </c:pt>
              <c:pt idx="3">
                <c:v>317</c:v>
              </c:pt>
              <c:pt idx="4">
                <c:v>306</c:v>
              </c:pt>
              <c:pt idx="5">
                <c:v>351</c:v>
              </c:pt>
              <c:pt idx="6">
                <c:v>361</c:v>
              </c:pt>
              <c:pt idx="7">
                <c:v>347</c:v>
              </c:pt>
              <c:pt idx="8">
                <c:v>241</c:v>
              </c:pt>
              <c:pt idx="9">
                <c:v>289</c:v>
              </c:pt>
              <c:pt idx="10">
                <c:v>353</c:v>
              </c:pt>
              <c:pt idx="11">
                <c:v>430</c:v>
              </c:pt>
              <c:pt idx="12">
                <c:v>319</c:v>
              </c:pt>
              <c:pt idx="13">
                <c:v>382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semanal por calle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834</c:v>
              </c:pt>
              <c:pt idx="1">
                <c:v>838</c:v>
              </c:pt>
              <c:pt idx="2">
                <c:v>638</c:v>
              </c:pt>
              <c:pt idx="3">
                <c:v>652</c:v>
              </c:pt>
              <c:pt idx="4">
                <c:v>3</c:v>
              </c:pt>
              <c:pt idx="5">
                <c:v>38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Jueves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102</c:v>
              </c:pt>
              <c:pt idx="1">
                <c:v>105</c:v>
              </c:pt>
              <c:pt idx="2">
                <c:v>188</c:v>
              </c:pt>
              <c:pt idx="3">
                <c:v>184</c:v>
              </c:pt>
              <c:pt idx="4">
                <c:v>0</c:v>
              </c:pt>
              <c:pt idx="5">
                <c:v>10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Viernes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102</c:v>
              </c:pt>
              <c:pt idx="1">
                <c:v>112</c:v>
              </c:pt>
              <c:pt idx="2">
                <c:v>182</c:v>
              </c:pt>
              <c:pt idx="3">
                <c:v>184</c:v>
              </c:pt>
              <c:pt idx="4">
                <c:v>1</c:v>
              </c:pt>
              <c:pt idx="5">
                <c:v>6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Sábado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95</c:v>
              </c:pt>
              <c:pt idx="1">
                <c:v>92</c:v>
              </c:pt>
              <c:pt idx="2">
                <c:v>136</c:v>
              </c:pt>
              <c:pt idx="3">
                <c:v>139</c:v>
              </c:pt>
              <c:pt idx="4">
                <c:v>0</c:v>
              </c:pt>
              <c:pt idx="5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Domingo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3</c:v>
              </c:pt>
              <c:pt idx="1">
                <c:v>2</c:v>
              </c:pt>
              <c:pt idx="2">
                <c:v>35</c:v>
              </c:pt>
              <c:pt idx="3">
                <c:v>39</c:v>
              </c:pt>
              <c:pt idx="4">
                <c:v>0</c:v>
              </c:pt>
              <c:pt idx="5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Lunes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141</c:v>
              </c:pt>
              <c:pt idx="1">
                <c:v>139</c:v>
              </c:pt>
              <c:pt idx="2">
                <c:v>43</c:v>
              </c:pt>
              <c:pt idx="3">
                <c:v>52</c:v>
              </c:pt>
              <c:pt idx="4">
                <c:v>0</c:v>
              </c:pt>
              <c:pt idx="5">
                <c:v>10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Martes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215</c:v>
              </c:pt>
              <c:pt idx="1">
                <c:v>220</c:v>
              </c:pt>
              <c:pt idx="2">
                <c:v>0</c:v>
              </c:pt>
              <c:pt idx="3">
                <c:v>0</c:v>
              </c:pt>
              <c:pt idx="4">
                <c:v>1</c:v>
              </c:pt>
              <c:pt idx="5">
                <c:v>11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Miércoles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176</c:v>
              </c:pt>
              <c:pt idx="1">
                <c:v>169</c:v>
              </c:pt>
              <c:pt idx="2">
                <c:v>54</c:v>
              </c:pt>
              <c:pt idx="3">
                <c:v>54</c:v>
              </c:pt>
              <c:pt idx="4">
                <c:v>1</c:v>
              </c:pt>
              <c:pt idx="5">
                <c:v>1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líquidos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1</c:v>
              </c:pt>
              <c:pt idx="1">
                <c:v>4</c:v>
              </c:pt>
              <c:pt idx="2">
                <c:v>2</c:v>
              </c:pt>
              <c:pt idx="3">
                <c:v>0</c:v>
              </c:pt>
              <c:pt idx="4">
                <c:v>77</c:v>
              </c:pt>
              <c:pt idx="5">
                <c:v>27</c:v>
              </c:pt>
              <c:pt idx="6">
                <c:v>31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San Lorenzo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55</c:v>
              </c:pt>
              <c:pt idx="1">
                <c:v>47</c:v>
              </c:pt>
              <c:pt idx="2">
                <c:v>7</c:v>
              </c:pt>
              <c:pt idx="3">
                <c:v>3</c:v>
              </c:pt>
              <c:pt idx="4">
                <c:v>41</c:v>
              </c:pt>
              <c:pt idx="5">
                <c:v>51</c:v>
              </c:pt>
              <c:pt idx="6">
                <c:v>40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Descargas semanales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2"/>
              <c:pt idx="0">
                <c:v>Volcable 1</c:v>
              </c:pt>
              <c:pt idx="1">
                <c:v>Volcable 2</c:v>
              </c:pt>
            </c:strLit>
          </c:cat>
          <c:val>
            <c:numLit>
              <c:formatCode>0</c:formatCode>
              <c:ptCount val="2"/>
              <c:pt idx="0">
                <c:v>371</c:v>
              </c:pt>
              <c:pt idx="1">
                <c:v>97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Descargas diarias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Volcable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55</c:v>
              </c:pt>
              <c:pt idx="1">
                <c:v>70</c:v>
              </c:pt>
              <c:pt idx="2">
                <c:v>70</c:v>
              </c:pt>
              <c:pt idx="3">
                <c:v>15</c:v>
              </c:pt>
              <c:pt idx="4">
                <c:v>41</c:v>
              </c:pt>
              <c:pt idx="5">
                <c:v>63</c:v>
              </c:pt>
              <c:pt idx="6">
                <c:v>74</c:v>
              </c:pt>
            </c:numLit>
          </c:val>
        </c:ser>
        <c:ser>
          <c:idx val="1"/>
          <c:order val="1"/>
          <c:tx>
            <c:v>Volcable 2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21</c:v>
              </c:pt>
              <c:pt idx="1">
                <c:v>16</c:v>
              </c:pt>
              <c:pt idx="2">
                <c:v>17</c:v>
              </c:pt>
              <c:pt idx="3">
                <c:v>10</c:v>
              </c:pt>
              <c:pt idx="4">
                <c:v>18</c:v>
              </c:pt>
              <c:pt idx="5">
                <c:v>12</c:v>
              </c:pt>
              <c:pt idx="6">
                <c:v>9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Silos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1</c:v>
              </c:pt>
              <c:pt idx="1">
                <c:v>31</c:v>
              </c:pt>
              <c:pt idx="2">
                <c:v>13</c:v>
              </c:pt>
              <c:pt idx="3">
                <c:v>6</c:v>
              </c:pt>
              <c:pt idx="4">
                <c:v>7</c:v>
              </c:pt>
              <c:pt idx="5">
                <c:v>1</c:v>
              </c:pt>
              <c:pt idx="6">
                <c:v>4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523</c:v>
              </c:pt>
              <c:pt idx="1">
                <c:v>488</c:v>
              </c:pt>
              <c:pt idx="2">
                <c:v>444</c:v>
              </c:pt>
              <c:pt idx="3">
                <c:v>54</c:v>
              </c:pt>
              <c:pt idx="4">
                <c:v>295</c:v>
              </c:pt>
              <c:pt idx="5">
                <c:v>479</c:v>
              </c:pt>
              <c:pt idx="6">
                <c:v>414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semanal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504</c:v>
              </c:pt>
              <c:pt idx="1">
                <c:v>628</c:v>
              </c:pt>
              <c:pt idx="2">
                <c:v>641</c:v>
              </c:pt>
              <c:pt idx="3">
                <c:v>228</c:v>
              </c:pt>
              <c:pt idx="4">
                <c:v>696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Jueves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150</c:v>
              </c:pt>
              <c:pt idx="1">
                <c:v>167</c:v>
              </c:pt>
              <c:pt idx="2">
                <c:v>138</c:v>
              </c:pt>
              <c:pt idx="3">
                <c:v>28</c:v>
              </c:pt>
              <c:pt idx="4">
                <c:v>40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Viernes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150</c:v>
              </c:pt>
              <c:pt idx="1">
                <c:v>112</c:v>
              </c:pt>
              <c:pt idx="2">
                <c:v>107</c:v>
              </c:pt>
              <c:pt idx="3">
                <c:v>0</c:v>
              </c:pt>
              <c:pt idx="4">
                <c:v>119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Sábado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44</c:v>
              </c:pt>
              <c:pt idx="1">
                <c:v>128</c:v>
              </c:pt>
              <c:pt idx="2">
                <c:v>142</c:v>
              </c:pt>
              <c:pt idx="3">
                <c:v>0</c:v>
              </c:pt>
              <c:pt idx="4">
                <c:v>130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Domingo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0</c:v>
              </c:pt>
              <c:pt idx="1">
                <c:v>0</c:v>
              </c:pt>
              <c:pt idx="2">
                <c:v>18</c:v>
              </c:pt>
              <c:pt idx="3">
                <c:v>0</c:v>
              </c:pt>
              <c:pt idx="4">
                <c:v>36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Lunes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30</c:v>
              </c:pt>
              <c:pt idx="1">
                <c:v>100</c:v>
              </c:pt>
              <c:pt idx="2">
                <c:v>28</c:v>
              </c:pt>
              <c:pt idx="3">
                <c:v>26</c:v>
              </c:pt>
              <c:pt idx="4">
                <c:v>111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Martes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130</c:v>
              </c:pt>
              <c:pt idx="1">
                <c:v>121</c:v>
              </c:pt>
              <c:pt idx="2">
                <c:v>57</c:v>
              </c:pt>
              <c:pt idx="3">
                <c:v>47</c:v>
              </c:pt>
              <c:pt idx="4">
                <c:v>124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Miércoles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0</c:v>
              </c:pt>
              <c:pt idx="1">
                <c:v>0</c:v>
              </c:pt>
              <c:pt idx="2">
                <c:v>151</c:v>
              </c:pt>
              <c:pt idx="3">
                <c:v>127</c:v>
              </c:pt>
              <c:pt idx="4">
                <c:v>136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1a73295ee3a200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1a73295ee3a200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1. Los valores son reportados, no recalculados.</a:t>
            </a:r>
          </a:p>
          <a:p>
            <a:r>
              <a:t>Familia: cover. Fuente prevista: static.</a:t>
            </a:r>
          </a:p>
          <a:p>
            <a:r>
              <a:t>Campos previstos: report.title, period.label, committee.date.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1a73295ee3a2006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1a73295ee3a2006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2. Los valores son reportados, no recalculados.</a:t>
            </a:r>
          </a:p>
          <a:p>
            <a:r>
              <a:t>Familia: index. Fuente prevista: static.</a:t>
            </a:r>
          </a:p>
          <a:p>
            <a:r>
              <a:t>Campos previstos: sections[].title, sections[].page_range,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1a73295ee3a2006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1a73295ee3a2006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3. Los valores son reportados, no recalculados.</a:t>
            </a:r>
          </a:p>
          <a:p>
            <a:r>
              <a:t>Familia: sample. Fuente prevista: executive.</a:t>
            </a:r>
          </a:p>
          <a:p>
            <a:r>
              <a:t>Campos previstos: sample.products[].count, sample.products[].unit, sample.total,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1a73295ee3a2006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1a73295ee3a2006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1a73295ee3a2006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1a73295ee3a2006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1a73295ee3a2006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h1a73295ee3a2006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1a73295ee3a20068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h1a73295ee3a20068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h1a73295ee3a20068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h1a73295ee3a20068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8.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h1a73295ee3a20068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h1a73295ee3a20068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9.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h1a73295ee3a20068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h1a73295ee3a20068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10.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h1a73295ee3a20068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h1a73295ee3a20068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11.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h1a73295ee3a20068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h1a73295ee3a20068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12.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h1a73295ee3a20068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h1a73295ee3a20068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h1a73295ee3a20068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h1a73295ee3a20068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h1a73295ee3a20068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h1a73295ee3a20068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h1a73295ee3a20068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h1a73295ee3a20068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16. Los valores son reportados, no recalculados.</a:t>
            </a:r>
          </a:p>
          <a:p>
            <a:r>
              <a:t>Familia: daily_comparison. Fuente prevista: timing.</a:t>
            </a:r>
          </a:p>
          <a:p>
            <a:r>
              <a:t>Campos previstos: days[].total_minutes, period.total_minutes, days[].quarters.Q1, days[].quarters.Q2, days[].quarters.Q3, days[].quarters.Q4.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h1a73295ee3a20068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h1a73295ee3a20068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17.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h1a73295ee3a20068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h1a73295ee3a20068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18.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h1a73295ee3a20068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h1a73295ee3a20068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19.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h1a73295ee3a20068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h1a73295ee3a20068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20. Los valores son reportados, no recalculados.</a:t>
            </a:r>
          </a:p>
          <a:p>
            <a:r>
              <a:t>Familia: operation. Fuente prevista: derived.</a:t>
            </a:r>
          </a:p>
          <a:p>
            <a:r>
              <a:t>Campos previstos: operation.start, operation.end, operation.status, truck_count, estimated_tonnes, tonnes_assumption.</a:t>
            </a:r>
          </a:p>
          <a:p>
            <a:r>
              <a:t>Inclusión futura: product_has_activity.</a:t>
            </a:r>
          </a:p>
          <a:p>
            <a:r>
              <a:t>Toneladas estimadas = camiones × 30; falta conciliar 185/188 de referencia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h1a73295ee3a20068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h1a73295ee3a20068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21.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h1a73295ee3a20068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h1a73295ee3a20068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22.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h1a73295ee3a20068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h1a73295ee3a20068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h1a73295ee3a20068_0_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h1a73295ee3a20068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h1a73295ee3a20068_0_1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h1a73295ee3a20068_0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h1a73295ee3a20068_0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h1a73295ee3a20068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26.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h1a73295ee3a20068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h1a73295ee3a20068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27.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h1a73295ee3a20068_0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h1a73295ee3a20068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28.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h1a73295ee3a20068_0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h1a73295ee3a20068_0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29.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h1a73295ee3a20068_0_1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h1a73295ee3a20068_0_1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30.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h1a73295ee3a20068_0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h1a73295ee3a20068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31.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h1a73295ee3a20068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h1a73295ee3a20068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32.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h1a73295ee3a20068_0_1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h1a73295ee3a20068_0_1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33.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h1a73295ee3a20068_0_1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h1a73295ee3a20068_0_1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34. Los valores son reportados, no recalculados.</a:t>
            </a:r>
          </a:p>
          <a:p>
            <a:r>
              <a:t>Familia: activity_overview.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h1a73295ee3a20068_0_1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h1a73295ee3a20068_0_1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35. Los valores son reportados, no recalculados.</a:t>
            </a:r>
          </a:p>
          <a:p>
            <a:r>
              <a:t>Familia: activity_bars_kpis.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h1a73295ee3a20068_0_1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h1a73295ee3a20068_0_1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h1a73295ee3a20068_0_1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h1a73295ee3a20068_0_1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h1a73295ee3a20068_0_1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h1a73295ee3a20068_0_1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h1a73295ee3a20068_0_1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h1a73295ee3a20068_0_1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h1a73295ee3a20068_0_1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h1a73295ee3a20068_0_1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40.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h1a73295ee3a20068_0_1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h1a73295ee3a20068_0_1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41.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h1a73295ee3a20068_0_1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h1a73295ee3a20068_0_1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42.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h1a73295ee3a20068_0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h1a73295ee3a20068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43.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h1a73295ee3a20068_0_1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h1a73295ee3a20068_0_1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44.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h1a73295ee3a20068_0_1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0" name="Google Shape;1430;h1a73295ee3a20068_0_1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45.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h1a73295ee3a20068_0_1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h1a73295ee3a20068_0_1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h1a73295ee3a20068_0_1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h1a73295ee3a20068_0_1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h1a73295ee3a20068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h1a73295ee3a20068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h1a73295ee3a20068_0_1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h1a73295ee3a20068_0_1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h1a73295ee3a20068_0_1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h1a73295ee3a20068_0_1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50.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h1a73295ee3a20068_0_1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h1a73295ee3a20068_0_1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51.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h1a73295ee3a20068_0_1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h1a73295ee3a20068_0_1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52.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h1a73295ee3a20068_0_1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h1a73295ee3a20068_0_1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h1a73295ee3a20068_0_1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h1a73295ee3a20068_0_1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h1a73295ee3a20068_0_1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h1a73295ee3a20068_0_1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h1a73295ee3a20068_0_1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h1a73295ee3a20068_0_1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h1a73295ee3a20068_0_1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h1a73295ee3a20068_0_1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57. Los valores son reportados, no recalculados.</a:t>
            </a:r>
          </a:p>
          <a:p>
            <a:r>
              <a:t>Familia: activity_bars_kpis.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h1a73295ee3a20068_0_1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h1a73295ee3a20068_0_1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58. Los valores son reportados, no recalculados.</a:t>
            </a:r>
          </a:p>
          <a:p>
            <a:r>
              <a:t>Familia: activity_bars_narrative.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h1a73295ee3a20068_0_1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h1a73295ee3a20068_0_1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h1a73295ee3a20068_0_1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3" name="Google Shape;1683;h1a73295ee3a20068_0_1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h1a73295ee3a20068_0_1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h1a73295ee3a20068_0_1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h1a73295ee3a20068_0_1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7" name="Google Shape;1717;h1a73295ee3a20068_0_1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h1a73295ee3a20068_0_1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2" name="Google Shape;1742;h1a73295ee3a20068_0_1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h1a73295ee3a20068_0_1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h1a73295ee3a20068_0_1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h1a73295ee3a20068_0_1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h1a73295ee3a20068_0_1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h1a73295ee3a20068_0_1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5" name="Google Shape;1785;h1a73295ee3a20068_0_1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h1a73295ee3a20068_0_1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0" name="Google Shape;1810;h1a73295ee3a20068_0_1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67.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h1a73295ee3a20068_0_1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h1a73295ee3a20068_0_1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68.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h1a73295ee3a20068_0_1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h1a73295ee3a20068_0_1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h1a73295ee3a20068_0_1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3" name="Google Shape;1853;h1a73295ee3a20068_0_1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h1a73295ee3a20068_0_1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8" name="Google Shape;1878;h1a73295ee3a20068_0_1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h1a73295ee3a20068_0_1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7" name="Google Shape;1887;h1a73295ee3a20068_0_1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2.jpg"/><Relationship Id="rId7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9.png"/><Relationship Id="rIdManual1001" Type="http://schemas.openxmlformats.org/officeDocument/2006/relationships/chart" Target="../charts/chart100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37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29.png"/><Relationship Id="rIdManual1002" Type="http://schemas.openxmlformats.org/officeDocument/2006/relationships/chart" Target="../charts/chart100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52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10.png"/><Relationship Id="rIdManual1003" Type="http://schemas.openxmlformats.org/officeDocument/2006/relationships/chart" Target="../charts/chart1003.xml"/><Relationship Id="rIdManual1004" Type="http://schemas.openxmlformats.org/officeDocument/2006/relationships/chart" Target="../charts/chart100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5.png"/><Relationship Id="rId8" Type="http://schemas.openxmlformats.org/officeDocument/2006/relationships/chart" Target="../charts/chart1.xml"/><Relationship Id="rId9" Type="http://schemas.openxmlformats.org/officeDocument/2006/relationships/chart" Target="../charts/chart2.xml"/><Relationship Id="rIdManual1005" Type="http://schemas.openxmlformats.org/officeDocument/2006/relationships/chart" Target="../charts/chart1005.xml"/><Relationship Id="rIdManual1006" Type="http://schemas.openxmlformats.org/officeDocument/2006/relationships/chart" Target="../charts/chart100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84.png"/><Relationship Id="rIdManual1007" Type="http://schemas.openxmlformats.org/officeDocument/2006/relationships/chart" Target="../charts/chart100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9.png"/><Relationship Id="rIdManual1008" Type="http://schemas.openxmlformats.org/officeDocument/2006/relationships/chart" Target="../charts/chart100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4.png"/><Relationship Id="rIdManual1010" Type="http://schemas.openxmlformats.org/officeDocument/2006/relationships/chart" Target="../charts/chart10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6.png"/><Relationship Id="rId7" Type="http://schemas.openxmlformats.org/officeDocument/2006/relationships/image" Target="../media/image90.png"/><Relationship Id="rId8" Type="http://schemas.openxmlformats.org/officeDocument/2006/relationships/chart" Target="../charts/chart3.xml"/><Relationship Id="rId9" Type="http://schemas.openxmlformats.org/officeDocument/2006/relationships/chart" Target="../charts/chart4.xml"/><Relationship Id="rIdManual1011" Type="http://schemas.openxmlformats.org/officeDocument/2006/relationships/chart" Target="../charts/chart1011.xml"/><Relationship Id="rIdManual1012" Type="http://schemas.openxmlformats.org/officeDocument/2006/relationships/chart" Target="../charts/chart101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13" Type="http://schemas.openxmlformats.org/officeDocument/2006/relationships/chart" Target="../charts/chart101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14" Type="http://schemas.openxmlformats.org/officeDocument/2006/relationships/chart" Target="../charts/chart10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4.png"/><Relationship Id="rIdManual1015" Type="http://schemas.openxmlformats.org/officeDocument/2006/relationships/chart" Target="../charts/chart101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8.png"/><Relationship Id="rIdManual1016" Type="http://schemas.openxmlformats.org/officeDocument/2006/relationships/chart" Target="../charts/chart101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1.png"/><Relationship Id="rIdManual1017" Type="http://schemas.openxmlformats.org/officeDocument/2006/relationships/chart" Target="../charts/chart101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6.png"/><Relationship Id="rIdManual1018" Type="http://schemas.openxmlformats.org/officeDocument/2006/relationships/chart" Target="../charts/chart101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5.png"/><Relationship Id="rIdManual1019" Type="http://schemas.openxmlformats.org/officeDocument/2006/relationships/chart" Target="../charts/chart101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0.png"/><Relationship Id="rIdManual1020" Type="http://schemas.openxmlformats.org/officeDocument/2006/relationships/chart" Target="../charts/chart102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3.png"/><Relationship Id="rId7" Type="http://schemas.openxmlformats.org/officeDocument/2006/relationships/image" Target="../media/image8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4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6.png"/><Relationship Id="rIdManual1021" Type="http://schemas.openxmlformats.org/officeDocument/2006/relationships/chart" Target="../charts/chart102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0.png"/><Relationship Id="rId7" Type="http://schemas.openxmlformats.org/officeDocument/2006/relationships/image" Target="../media/image67.png"/><Relationship Id="rIdManual1022" Type="http://schemas.openxmlformats.org/officeDocument/2006/relationships/chart" Target="../charts/chart102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1.png"/><Relationship Id="rId7" Type="http://schemas.openxmlformats.org/officeDocument/2006/relationships/image" Target="../media/image59.png"/><Relationship Id="rIdManual1023" Type="http://schemas.openxmlformats.org/officeDocument/2006/relationships/chart" Target="../charts/chart1023.xml"/><Relationship Id="rIdManual1024" Type="http://schemas.openxmlformats.org/officeDocument/2006/relationships/chart" Target="../charts/chart102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8.png"/><Relationship Id="rIdManual1025" Type="http://schemas.openxmlformats.org/officeDocument/2006/relationships/chart" Target="../charts/chart102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26" Type="http://schemas.openxmlformats.org/officeDocument/2006/relationships/chart" Target="../charts/chart102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9.png"/><Relationship Id="rIdManual1027" Type="http://schemas.openxmlformats.org/officeDocument/2006/relationships/chart" Target="../charts/chart102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5.png"/><Relationship Id="rIdManual1028" Type="http://schemas.openxmlformats.org/officeDocument/2006/relationships/chart" Target="../charts/chart102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9.png"/><Relationship Id="rIdManual1029" Type="http://schemas.openxmlformats.org/officeDocument/2006/relationships/chart" Target="../charts/chart102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7.png"/><Relationship Id="rIdManual1030" Type="http://schemas.openxmlformats.org/officeDocument/2006/relationships/chart" Target="../charts/chart103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3.png"/><Relationship Id="rIdManual1031" Type="http://schemas.openxmlformats.org/officeDocument/2006/relationships/chart" Target="../charts/chart103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2.png"/><Relationship Id="rIdManual1032" Type="http://schemas.openxmlformats.org/officeDocument/2006/relationships/chart" Target="../charts/chart103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9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0.png"/><Relationship Id="rIdManual1033" Type="http://schemas.openxmlformats.org/officeDocument/2006/relationships/chart" Target="../charts/chart103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4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8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34" Type="http://schemas.openxmlformats.org/officeDocument/2006/relationships/chart" Target="../charts/chart103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Ricardone_icono.png"/>
          <p:cNvPicPr preferRelativeResize="0"/>
          <p:nvPr/>
        </p:nvPicPr>
        <p:blipFill rotWithShape="1">
          <a:blip r:embed="rId3">
            <a:alphaModFix amt="52000"/>
          </a:blip>
          <a:srcRect b="0" l="0" r="0" t="18307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369125" y="300250"/>
            <a:ext cx="2551301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455900" y="358075"/>
            <a:ext cx="23796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s001.text.57"/>
          <p:cNvSpPr txBox="1"/>
          <p:nvPr/>
        </p:nvSpPr>
        <p:spPr>
          <a:xfrm>
            <a:off x="269150" y="363475"/>
            <a:ext cx="27258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147">
                <a:latin typeface="Inter Medium"/>
                <a:ea typeface="Inter Medium"/>
                <a:cs typeface="Inter Medium"/>
                <a:sym typeface="Inter Medium"/>
              </a:rPr>
              <a:t>Comite de Logistica</a:t>
            </a:r>
            <a:endParaRPr b="0" i="0" sz="11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8" name="s001.text.58"/>
          <p:cNvSpPr txBox="1"/>
          <p:nvPr/>
        </p:nvSpPr>
        <p:spPr>
          <a:xfrm>
            <a:off x="1362900" y="2063613"/>
            <a:ext cx="6418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Nueva Vicentin Argentina</a:t>
            </a:r>
            <a:endParaRPr b="1" i="0" sz="3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" name="Google Shape;59;p13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09175" y="2731175"/>
            <a:ext cx="2725651" cy="12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nv_argentina_logo.jfif"/>
          <p:cNvPicPr preferRelativeResize="0"/>
          <p:nvPr/>
        </p:nvPicPr>
        <p:blipFill rotWithShape="1">
          <a:blip r:embed="rId6">
            <a:alphaModFix/>
          </a:blip>
          <a:srcRect b="18961" l="0" r="0" t="13585"/>
          <a:stretch/>
        </p:blipFill>
        <p:spPr>
          <a:xfrm>
            <a:off x="7972129" y="4285249"/>
            <a:ext cx="730246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 title="Logo sin text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40014" y="331950"/>
            <a:ext cx="462351" cy="41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852300" y="4231700"/>
            <a:ext cx="1298424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/>
          <p:nvPr/>
        </p:nvSpPr>
        <p:spPr>
          <a:xfrm>
            <a:off x="898837" y="4289527"/>
            <a:ext cx="12063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s001.text.64"/>
          <p:cNvSpPr txBox="1"/>
          <p:nvPr/>
        </p:nvSpPr>
        <p:spPr>
          <a:xfrm>
            <a:off x="398750" y="4285250"/>
            <a:ext cx="21519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347">
                <a:latin typeface="Inter Medium"/>
                <a:ea typeface="Inter Medium"/>
                <a:cs typeface="Inter Medium"/>
                <a:sym typeface="Inter Medium"/>
              </a:rPr>
              <a:t>18-09-2026</a:t>
            </a:r>
            <a:endParaRPr b="0" i="0" sz="13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1/72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4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s002.text.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Análisis Logístico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label"/>
          <p:cNvSpPr txBox="1"/>
          <p:nvPr/>
        </p:nvSpPr>
        <p:spPr>
          <a:xfrm>
            <a:off x="1095375" y="781050"/>
            <a:ext cx="69532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Período analizado: 10/09 al 16/09/2026</a:t>
            </a:r>
          </a:p>
        </p:txBody>
      </p:sp>
      <p:sp xmlns:p="http://schemas.openxmlformats.org/presentationml/2006/main" xmlns:a="http://schemas.openxmlformats.org/drawingml/2006/main">
        <p:nvSpPr>
          <p:cNvPr id="20002" name="index.0.number"/>
          <p:cNvSpPr txBox="1"/>
          <p:nvPr/>
        </p:nvSpPr>
        <p:spPr>
          <a:xfrm>
            <a:off x="1095375" y="1285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1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3" name="index.0.title"/>
          <p:cNvSpPr txBox="1"/>
          <p:nvPr/>
        </p:nvSpPr>
        <p:spPr>
          <a:xfrm>
            <a:off x="1695450" y="1285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Tamaño de la muestra y período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4" name="index.0.pages"/>
          <p:cNvSpPr txBox="1"/>
          <p:nvPr/>
        </p:nvSpPr>
        <p:spPr>
          <a:xfrm>
            <a:off x="7029450" y="1285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3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5" name="index.1.number"/>
          <p:cNvSpPr txBox="1"/>
          <p:nvPr/>
        </p:nvSpPr>
        <p:spPr>
          <a:xfrm>
            <a:off x="1095375" y="1857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2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6" name="index.1.title"/>
          <p:cNvSpPr txBox="1"/>
          <p:nvPr/>
        </p:nvSpPr>
        <p:spPr>
          <a:xfrm>
            <a:off x="1695450" y="1857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Operación de soja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7" name="index.1.pages"/>
          <p:cNvSpPr txBox="1"/>
          <p:nvPr/>
        </p:nvSpPr>
        <p:spPr>
          <a:xfrm>
            <a:off x="7029450" y="1857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4–18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8" name="index.2.number"/>
          <p:cNvSpPr txBox="1"/>
          <p:nvPr/>
        </p:nvSpPr>
        <p:spPr>
          <a:xfrm>
            <a:off x="1095375" y="2428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3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9" name="index.2.title"/>
          <p:cNvSpPr txBox="1"/>
          <p:nvPr/>
        </p:nvSpPr>
        <p:spPr>
          <a:xfrm>
            <a:off x="1695450" y="2428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Operativo de pellet de girasol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0" name="index.2.pages"/>
          <p:cNvSpPr txBox="1"/>
          <p:nvPr/>
        </p:nvSpPr>
        <p:spPr>
          <a:xfrm>
            <a:off x="7029450" y="2428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19–26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1" name="index.3.number"/>
          <p:cNvSpPr txBox="1"/>
          <p:nvPr/>
        </p:nvSpPr>
        <p:spPr>
          <a:xfrm>
            <a:off x="1095375" y="3000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4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2" name="index.3.title"/>
          <p:cNvSpPr txBox="1"/>
          <p:nvPr/>
        </p:nvSpPr>
        <p:spPr>
          <a:xfrm>
            <a:off x="1695450" y="3000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Operación de semilla de girasol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3" name="index.3.pages"/>
          <p:cNvSpPr txBox="1"/>
          <p:nvPr/>
        </p:nvSpPr>
        <p:spPr>
          <a:xfrm>
            <a:off x="7029450" y="3000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27–32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4" name="index.4.number"/>
          <p:cNvSpPr txBox="1"/>
          <p:nvPr/>
        </p:nvSpPr>
        <p:spPr>
          <a:xfrm>
            <a:off x="1095375" y="3571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5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5" name="index.4.title"/>
          <p:cNvSpPr txBox="1"/>
          <p:nvPr/>
        </p:nvSpPr>
        <p:spPr>
          <a:xfrm>
            <a:off x="1695450" y="3571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Actividad de calada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6" name="index.4.pages"/>
          <p:cNvSpPr txBox="1"/>
          <p:nvPr/>
        </p:nvSpPr>
        <p:spPr>
          <a:xfrm>
            <a:off x="7029450" y="3571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33–51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7" name="index.5.number"/>
          <p:cNvSpPr txBox="1"/>
          <p:nvPr/>
        </p:nvSpPr>
        <p:spPr>
          <a:xfrm>
            <a:off x="1095375" y="4143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6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8" name="index.5.title"/>
          <p:cNvSpPr txBox="1"/>
          <p:nvPr/>
        </p:nvSpPr>
        <p:spPr>
          <a:xfrm>
            <a:off x="1695450" y="4143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Actividad de volcables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9" name="index.5.pages"/>
          <p:cNvSpPr txBox="1"/>
          <p:nvPr/>
        </p:nvSpPr>
        <p:spPr>
          <a:xfrm>
            <a:off x="7029450" y="4143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52–72</a:t>
            </a:r>
            <a:endParaRPr sz="127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s003.text.9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Tamaño de la Muestra y Periodo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heading"/>
          <p:cNvSpPr txBox="1"/>
          <p:nvPr/>
        </p:nvSpPr>
        <p:spPr>
          <a:xfrm>
            <a:off x="666750" y="1066800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PERÍODO DE ANÁLISIS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2" name="period.start.label"/>
          <p:cNvSpPr txBox="1"/>
          <p:nvPr/>
        </p:nvSpPr>
        <p:spPr>
          <a:xfrm>
            <a:off x="6667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Inicio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3" name="period.start"/>
          <p:cNvSpPr txBox="1"/>
          <p:nvPr/>
        </p:nvSpPr>
        <p:spPr>
          <a:xfrm>
            <a:off x="6667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10/09</a:t>
            </a:r>
          </a:p>
        </p:txBody>
      </p:sp>
      <p:sp xmlns:p="http://schemas.openxmlformats.org/presentationml/2006/main" xmlns:a="http://schemas.openxmlformats.org/drawingml/2006/main">
        <p:nvSpPr>
          <p:cNvPr id="20004" name="period.end.label"/>
          <p:cNvSpPr txBox="1"/>
          <p:nvPr/>
        </p:nvSpPr>
        <p:spPr>
          <a:xfrm>
            <a:off x="190500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Fin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5" name="period.end"/>
          <p:cNvSpPr txBox="1"/>
          <p:nvPr/>
        </p:nvSpPr>
        <p:spPr>
          <a:xfrm>
            <a:off x="190500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16/09</a:t>
            </a:r>
          </a:p>
        </p:txBody>
      </p:sp>
      <p:sp xmlns:p="http://schemas.openxmlformats.org/presentationml/2006/main" xmlns:a="http://schemas.openxmlformats.org/drawingml/2006/main">
        <p:nvSpPr>
          <p:cNvPr id="20006" name="period.days.label"/>
          <p:cNvSpPr txBox="1"/>
          <p:nvPr/>
        </p:nvSpPr>
        <p:spPr>
          <a:xfrm>
            <a:off x="31432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Días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7" name="period.days"/>
          <p:cNvSpPr txBox="1"/>
          <p:nvPr/>
        </p:nvSpPr>
        <p:spPr>
          <a:xfrm>
            <a:off x="31432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7</a:t>
            </a:r>
          </a:p>
        </p:txBody>
      </p:sp>
      <p:sp xmlns:p="http://schemas.openxmlformats.org/presentationml/2006/main" xmlns:a="http://schemas.openxmlformats.org/drawingml/2006/main">
        <p:nvSpPr>
          <p:cNvPr id="20008" name="sample.total.label"/>
          <p:cNvSpPr txBox="1"/>
          <p:nvPr/>
        </p:nvSpPr>
        <p:spPr>
          <a:xfrm>
            <a:off x="5048250" y="1066800"/>
            <a:ext cx="36195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VOLUMEN TOTAL REGISTRADO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9" name="sample.total"/>
          <p:cNvSpPr txBox="1"/>
          <p:nvPr/>
        </p:nvSpPr>
        <p:spPr>
          <a:xfrm>
            <a:off x="5048250" y="1466850"/>
            <a:ext cx="3333750" cy="57150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3150" b="1">
                <a:solidFill>
                  <a:srgbClr val="06245F"/>
                </a:solidFill>
                <a:latin typeface="Inter"/>
              </a:rPr>
              <a:t>3.144</a:t>
            </a:r>
          </a:p>
        </p:txBody>
      </p:sp>
      <p:sp xmlns:p="http://schemas.openxmlformats.org/presentationml/2006/main" xmlns:a="http://schemas.openxmlformats.org/drawingml/2006/main">
        <p:nvSpPr>
          <p:cNvPr id="20010" name="sample.unit"/>
          <p:cNvSpPr txBox="1"/>
          <p:nvPr/>
        </p:nvSpPr>
        <p:spPr>
          <a:xfrm>
            <a:off x="5048250" y="2095500"/>
            <a:ext cx="333375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camiones · recorridos de cámara clasificados</a:t>
            </a:r>
          </a:p>
        </p:txBody>
      </p:sp>
      <p:sp xmlns:p="http://schemas.openxmlformats.org/presentationml/2006/main" xmlns:a="http://schemas.openxmlformats.org/drawingml/2006/main">
        <p:nvSpPr>
          <p:cNvPr id="20011" name="products.soja.label"/>
          <p:cNvSpPr txBox="1"/>
          <p:nvPr/>
        </p:nvSpPr>
        <p:spPr>
          <a:xfrm>
            <a:off x="666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8761D"/>
                </a:solidFill>
                <a:latin typeface="Inter"/>
              </a:rPr>
              <a:t>SOJA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2" name="products.soja.count"/>
          <p:cNvSpPr txBox="1"/>
          <p:nvPr/>
        </p:nvSpPr>
        <p:spPr>
          <a:xfrm>
            <a:off x="666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8761D"/>
                </a:solidFill>
                <a:latin typeface="Inter"/>
              </a:rPr>
              <a:t>2.323</a:t>
            </a:r>
          </a:p>
        </p:txBody>
      </p:sp>
      <p:sp xmlns:p="http://schemas.openxmlformats.org/presentationml/2006/main" xmlns:a="http://schemas.openxmlformats.org/drawingml/2006/main">
        <p:nvSpPr>
          <p:cNvPr id="20013" name="products.girasol.label"/>
          <p:cNvSpPr txBox="1"/>
          <p:nvPr/>
        </p:nvSpPr>
        <p:spPr>
          <a:xfrm>
            <a:off x="2762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A78619"/>
                </a:solidFill>
                <a:latin typeface="Inter"/>
              </a:rPr>
              <a:t>GIRASOL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4" name="products.girasol.count"/>
          <p:cNvSpPr txBox="1"/>
          <p:nvPr/>
        </p:nvSpPr>
        <p:spPr>
          <a:xfrm>
            <a:off x="2762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A78619"/>
                </a:solidFill>
                <a:latin typeface="Inter"/>
              </a:rPr>
              <a:t>464</a:t>
            </a:r>
          </a:p>
        </p:txBody>
      </p:sp>
      <p:sp xmlns:p="http://schemas.openxmlformats.org/presentationml/2006/main" xmlns:a="http://schemas.openxmlformats.org/drawingml/2006/main">
        <p:nvSpPr>
          <p:cNvPr id="20015" name="products.liquidos.label"/>
          <p:cNvSpPr txBox="1"/>
          <p:nvPr/>
        </p:nvSpPr>
        <p:spPr>
          <a:xfrm>
            <a:off x="4857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B86415"/>
                </a:solidFill>
                <a:latin typeface="Inter"/>
              </a:rPr>
              <a:t>LÍQUIDOS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6" name="products.liquidos.count"/>
          <p:cNvSpPr txBox="1"/>
          <p:nvPr/>
        </p:nvSpPr>
        <p:spPr>
          <a:xfrm>
            <a:off x="4857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B86415"/>
                </a:solidFill>
                <a:latin typeface="Inter"/>
              </a:rPr>
              <a:t>146</a:t>
            </a:r>
          </a:p>
        </p:txBody>
      </p:sp>
      <p:sp xmlns:p="http://schemas.openxmlformats.org/presentationml/2006/main" xmlns:a="http://schemas.openxmlformats.org/drawingml/2006/main">
        <p:nvSpPr>
          <p:cNvPr id="20017" name="products.pellet.label"/>
          <p:cNvSpPr txBox="1"/>
          <p:nvPr/>
        </p:nvSpPr>
        <p:spPr>
          <a:xfrm>
            <a:off x="6953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56CB3"/>
                </a:solidFill>
                <a:latin typeface="Inter"/>
              </a:rPr>
              <a:t>PELLET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8" name="products.pellet.count"/>
          <p:cNvSpPr txBox="1"/>
          <p:nvPr/>
        </p:nvSpPr>
        <p:spPr>
          <a:xfrm>
            <a:off x="6953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56CB3"/>
                </a:solidFill>
                <a:latin typeface="Inter"/>
              </a:rPr>
              <a:t>211</a:t>
            </a:r>
          </a:p>
        </p:txBody>
      </p:sp>
      <p:sp xmlns:p="http://schemas.openxmlformats.org/presentationml/2006/main" xmlns:a="http://schemas.openxmlformats.org/drawingml/2006/main">
        <p:nvSpPr>
          <p:cNvPr id="20019" name="sample.caption"/>
          <p:cNvSpPr txBox="1"/>
          <p:nvPr/>
        </p:nvSpPr>
        <p:spPr>
          <a:xfrm>
            <a:off x="666750" y="4324350"/>
            <a:ext cx="79057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Totales por producto del informe de referencia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positiva que sirva como caratula para hablar de la seccion de soja del programa" id="123" name="Google Shape;123;p16"/>
          <p:cNvPicPr preferRelativeResize="0"/>
          <p:nvPr/>
        </p:nvPicPr>
        <p:blipFill rotWithShape="1">
          <a:blip r:embed="rId3">
            <a:alphaModFix/>
          </a:blip>
          <a:srcRect b="8044" l="0" r="0" t="14382"/>
          <a:stretch/>
        </p:blipFill>
        <p:spPr>
          <a:xfrm>
            <a:off x="15488" y="619850"/>
            <a:ext cx="9113025" cy="398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/>
          <p:nvPr/>
        </p:nvSpPr>
        <p:spPr>
          <a:xfrm>
            <a:off x="2404600" y="2271725"/>
            <a:ext cx="4362900" cy="1845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s004.text.125"/>
          <p:cNvSpPr txBox="1"/>
          <p:nvPr/>
        </p:nvSpPr>
        <p:spPr>
          <a:xfrm>
            <a:off x="2745400" y="1882775"/>
            <a:ext cx="4269000" cy="26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Contenido del análisis</a:t>
            </a:r>
            <a:endParaRPr sz="17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Calidad de lectura de cámaras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Descripción del circuito R7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Comparativo semanal e histórico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 xmlns:p="http://schemas.openxmlformats.org/presentationml/2006/main" xmlns:a="http://schemas.openxmlformats.org/drawingml/2006/main">
        <p:nvSpPr>
          <p:cNvPr id="1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4/72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s005.text.135"/>
          <p:cNvSpPr txBox="1"/>
          <p:nvPr/>
        </p:nvSpPr>
        <p:spPr>
          <a:xfrm>
            <a:off x="4701745" y="3372861"/>
            <a:ext cx="654300" cy="40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13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45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s005.text.136"/>
          <p:cNvSpPr txBox="1"/>
          <p:nvPr/>
        </p:nvSpPr>
        <p:spPr>
          <a:xfrm>
            <a:off x="3849771" y="3420110"/>
            <a:ext cx="5868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26"/>
              </a:spcBef>
              <a:spcAft>
                <a:spcPts val="0"/>
              </a:spcAft>
              <a:buClr>
                <a:srgbClr val="000000"/>
              </a:buClr>
              <a:buSzPts val="1362"/>
              <a:buFont typeface="Arial"/>
              <a:buNone/>
            </a:pPr>
            <a:r>
              <a:rPr b="1" lang="es" sz="1226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38" name="Google Shape;138;p17"/>
          <p:cNvSpPr/>
          <p:nvPr/>
        </p:nvSpPr>
        <p:spPr>
          <a:xfrm>
            <a:off x="21687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3468713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466885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8689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22498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3549813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474995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9500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s005.text.146"/>
          <p:cNvSpPr txBox="1"/>
          <p:nvPr/>
        </p:nvSpPr>
        <p:spPr>
          <a:xfrm>
            <a:off x="21837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47" name="s005.text.147"/>
          <p:cNvSpPr txBox="1"/>
          <p:nvPr/>
        </p:nvSpPr>
        <p:spPr>
          <a:xfrm>
            <a:off x="2282001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48" name="Google Shape;148;p17"/>
          <p:cNvSpPr/>
          <p:nvPr/>
        </p:nvSpPr>
        <p:spPr>
          <a:xfrm>
            <a:off x="715020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723130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s005.text.150"/>
          <p:cNvSpPr txBox="1"/>
          <p:nvPr/>
        </p:nvSpPr>
        <p:spPr>
          <a:xfrm>
            <a:off x="36642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7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1" name="s005.text.151"/>
          <p:cNvSpPr txBox="1"/>
          <p:nvPr/>
        </p:nvSpPr>
        <p:spPr>
          <a:xfrm>
            <a:off x="36124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52" name="s005.text.152"/>
          <p:cNvSpPr txBox="1"/>
          <p:nvPr/>
        </p:nvSpPr>
        <p:spPr>
          <a:xfrm>
            <a:off x="48378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3" name="s005.text.153"/>
          <p:cNvSpPr txBox="1"/>
          <p:nvPr/>
        </p:nvSpPr>
        <p:spPr>
          <a:xfrm>
            <a:off x="478597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54" name="s005.text.154"/>
          <p:cNvSpPr txBox="1"/>
          <p:nvPr/>
        </p:nvSpPr>
        <p:spPr>
          <a:xfrm>
            <a:off x="6001925" y="408907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5" name="s005.text.155"/>
          <p:cNvSpPr txBox="1"/>
          <p:nvPr/>
        </p:nvSpPr>
        <p:spPr>
          <a:xfrm>
            <a:off x="5950076" y="428862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56" name="s005.text.156"/>
          <p:cNvSpPr txBox="1"/>
          <p:nvPr/>
        </p:nvSpPr>
        <p:spPr>
          <a:xfrm>
            <a:off x="73018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7" name="s005.text.157"/>
          <p:cNvSpPr txBox="1"/>
          <p:nvPr/>
        </p:nvSpPr>
        <p:spPr>
          <a:xfrm>
            <a:off x="72500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32" name="s005.text.13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Calidad de lectura de Cámaras LPR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5/72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691086" y="1370979"/>
            <a:ext cx="353226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Distribución de calidad de lectura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691086" y="1700979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8 / Todas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750764" y="1767814"/>
            <a:ext cx="2009256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510020" y="1767814"/>
            <a:ext cx="121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849  (33%)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691086" y="2019243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7 Cámaras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5750764" y="2086078"/>
            <a:ext cx="1706329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207093" y="2086078"/>
            <a:ext cx="121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721  (28,2%)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691086" y="2337507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6 Cámaras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750764" y="2404342"/>
            <a:ext cx="1093376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869140" y="2404342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462  (18,1%)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691086" y="2655771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5 Cámaras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750764" y="2722606"/>
            <a:ext cx="724184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499948" y="2722606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306  (12%)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691086" y="2974035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≤ 4 Cámaras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750764" y="3040870"/>
            <a:ext cx="518288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294052" y="3040870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219  (8,6%)</a:t>
            </a:r>
          </a:p>
        </p:txBody>
      </p:sp>
      <p:graphicFrame>
        <p:nvGraphicFramePr>
          <p:cNvPr id="137" name="D05_G2"/>
          <p:cNvGraphicFramePr/>
          <p:nvPr/>
        </p:nvGraphicFramePr>
        <p:xfrm>
          <a:off x="542025" y="1284563"/>
          <a:ext cx="3583200" cy="1693812"/>
        </p:xfrm>
        <a:graphic>
          <a:graphicData uri="http://schemas.openxmlformats.org/drawingml/2006/chart">
            <c:chart r:id="rIdManual100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/>
          <p:cNvPicPr preferRelativeResize="0"/>
          <p:nvPr/>
        </p:nvPicPr>
        <p:blipFill rotWithShape="1">
          <a:blip r:embed="rId3">
            <a:alphaModFix/>
          </a:blip>
          <a:srcRect b="2086" l="0" r="11910" t="0"/>
          <a:stretch/>
        </p:blipFill>
        <p:spPr>
          <a:xfrm>
            <a:off x="4666248" y="2411587"/>
            <a:ext cx="435325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 rotWithShape="1">
          <a:blip r:embed="rId4">
            <a:alphaModFix/>
          </a:blip>
          <a:srcRect b="1786" l="2266" r="35471" t="27039"/>
          <a:stretch/>
        </p:blipFill>
        <p:spPr>
          <a:xfrm>
            <a:off x="378300" y="2411587"/>
            <a:ext cx="398052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7747" y="4157670"/>
            <a:ext cx="777244" cy="71398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/>
          <p:nvPr/>
        </p:nvSpPr>
        <p:spPr>
          <a:xfrm>
            <a:off x="3622187" y="2695860"/>
            <a:ext cx="1296037" cy="1518886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712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66" name="Google Shape;166;p18"/>
          <p:cNvSpPr/>
          <p:nvPr/>
        </p:nvSpPr>
        <p:spPr>
          <a:xfrm>
            <a:off x="2259976" y="34945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7" name="Google Shape;167;p18"/>
          <p:cNvSpPr/>
          <p:nvPr/>
        </p:nvSpPr>
        <p:spPr>
          <a:xfrm>
            <a:off x="2100997" y="293428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8" name="Google Shape;168;p18"/>
          <p:cNvSpPr/>
          <p:nvPr/>
        </p:nvSpPr>
        <p:spPr>
          <a:xfrm>
            <a:off x="3323845" y="3706994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9" name="Google Shape;169;p18"/>
          <p:cNvSpPr/>
          <p:nvPr/>
        </p:nvSpPr>
        <p:spPr>
          <a:xfrm>
            <a:off x="4529257" y="3774812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0" name="Google Shape;170;p18"/>
          <p:cNvSpPr/>
          <p:nvPr/>
        </p:nvSpPr>
        <p:spPr>
          <a:xfrm>
            <a:off x="5909138" y="2910963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1" name="Google Shape;171;p18"/>
          <p:cNvSpPr/>
          <p:nvPr/>
        </p:nvSpPr>
        <p:spPr>
          <a:xfrm>
            <a:off x="7665094" y="261369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2" name="Google Shape;172;p18"/>
          <p:cNvSpPr/>
          <p:nvPr/>
        </p:nvSpPr>
        <p:spPr>
          <a:xfrm>
            <a:off x="7720554" y="38877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3" name="s006.text.173"/>
          <p:cNvSpPr txBox="1"/>
          <p:nvPr/>
        </p:nvSpPr>
        <p:spPr>
          <a:xfrm>
            <a:off x="2245307" y="34388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4" name="s006.text.174"/>
          <p:cNvSpPr txBox="1"/>
          <p:nvPr/>
        </p:nvSpPr>
        <p:spPr>
          <a:xfrm>
            <a:off x="2086328" y="287863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5" name="s006.text.175"/>
          <p:cNvSpPr txBox="1"/>
          <p:nvPr/>
        </p:nvSpPr>
        <p:spPr>
          <a:xfrm>
            <a:off x="3294516" y="3651344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6" name="s006.text.176"/>
          <p:cNvSpPr txBox="1"/>
          <p:nvPr/>
        </p:nvSpPr>
        <p:spPr>
          <a:xfrm>
            <a:off x="4499928" y="371916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7" name="s006.text.177"/>
          <p:cNvSpPr txBox="1"/>
          <p:nvPr/>
        </p:nvSpPr>
        <p:spPr>
          <a:xfrm>
            <a:off x="5894469" y="285531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8" name="s006.text.178"/>
          <p:cNvSpPr txBox="1"/>
          <p:nvPr/>
        </p:nvSpPr>
        <p:spPr>
          <a:xfrm>
            <a:off x="7635765" y="255804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9" name="s006.text.179"/>
          <p:cNvSpPr txBox="1"/>
          <p:nvPr/>
        </p:nvSpPr>
        <p:spPr>
          <a:xfrm>
            <a:off x="7705884" y="38320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80" name="Google Shape;180;p18"/>
          <p:cNvCxnSpPr/>
          <p:nvPr/>
        </p:nvCxnSpPr>
        <p:spPr>
          <a:xfrm rot="10800000">
            <a:off x="2070762" y="3270611"/>
            <a:ext cx="1273200" cy="7560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181" name="Google Shape;181;p18"/>
          <p:cNvCxnSpPr>
            <a:stCxn id="174" idx="2"/>
          </p:cNvCxnSpPr>
          <p:nvPr/>
        </p:nvCxnSpPr>
        <p:spPr>
          <a:xfrm>
            <a:off x="2196128" y="3170831"/>
            <a:ext cx="448500" cy="2577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2" name="Google Shape;182;p18"/>
          <p:cNvCxnSpPr/>
          <p:nvPr/>
        </p:nvCxnSpPr>
        <p:spPr>
          <a:xfrm>
            <a:off x="2895337" y="3610805"/>
            <a:ext cx="571800" cy="3471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3" name="Google Shape;183;p18"/>
          <p:cNvCxnSpPr/>
          <p:nvPr/>
        </p:nvCxnSpPr>
        <p:spPr>
          <a:xfrm flipH="1" rot="10800000">
            <a:off x="6210848" y="2708103"/>
            <a:ext cx="161700" cy="1845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4" name="Google Shape;184;p18"/>
          <p:cNvCxnSpPr/>
          <p:nvPr/>
        </p:nvCxnSpPr>
        <p:spPr>
          <a:xfrm rot="10800000">
            <a:off x="5478967" y="2843816"/>
            <a:ext cx="737100" cy="453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18"/>
          <p:cNvSpPr/>
          <p:nvPr/>
        </p:nvSpPr>
        <p:spPr>
          <a:xfrm>
            <a:off x="5185408" y="2842124"/>
            <a:ext cx="293677" cy="154204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6" name="Google Shape;186;p18"/>
          <p:cNvCxnSpPr/>
          <p:nvPr/>
        </p:nvCxnSpPr>
        <p:spPr>
          <a:xfrm>
            <a:off x="6759613" y="2720862"/>
            <a:ext cx="1398000" cy="1002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8"/>
          <p:cNvSpPr/>
          <p:nvPr/>
        </p:nvSpPr>
        <p:spPr>
          <a:xfrm>
            <a:off x="8157545" y="2821060"/>
            <a:ext cx="320263" cy="500771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8" name="Google Shape;188;p18"/>
          <p:cNvCxnSpPr/>
          <p:nvPr/>
        </p:nvCxnSpPr>
        <p:spPr>
          <a:xfrm rot="10800000">
            <a:off x="8524996" y="3971100"/>
            <a:ext cx="229800" cy="177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9" name="Google Shape;189;p18"/>
          <p:cNvSpPr/>
          <p:nvPr/>
        </p:nvSpPr>
        <p:spPr>
          <a:xfrm>
            <a:off x="8478445" y="3320436"/>
            <a:ext cx="356820" cy="672770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0" name="Google Shape;190;p18"/>
          <p:cNvSpPr/>
          <p:nvPr/>
        </p:nvSpPr>
        <p:spPr>
          <a:xfrm>
            <a:off x="7596180" y="3810185"/>
            <a:ext cx="755577" cy="11141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91" name="Google Shape;191;p18"/>
          <p:cNvCxnSpPr/>
          <p:nvPr/>
        </p:nvCxnSpPr>
        <p:spPr>
          <a:xfrm flipH="1">
            <a:off x="7428046" y="3844742"/>
            <a:ext cx="185100" cy="171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94" name="Google Shape;194;p18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3236668" y="1174307"/>
            <a:ext cx="497700" cy="1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5800" lIns="75800" spcFirstLastPara="1" rIns="75800" wrap="square" tIns="75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8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598194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8" name="Google Shape;198;p18"/>
          <p:cNvSpPr/>
          <p:nvPr/>
        </p:nvSpPr>
        <p:spPr>
          <a:xfrm>
            <a:off x="520425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9" name="s006.text.199"/>
          <p:cNvSpPr txBox="1"/>
          <p:nvPr/>
        </p:nvSpPr>
        <p:spPr>
          <a:xfrm>
            <a:off x="520425" y="1038864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s006.text.200"/>
          <p:cNvSpPr txBox="1"/>
          <p:nvPr/>
        </p:nvSpPr>
        <p:spPr>
          <a:xfrm>
            <a:off x="540186" y="1245366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1923707" y="981408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2" name="Google Shape;202;p18"/>
          <p:cNvSpPr/>
          <p:nvPr/>
        </p:nvSpPr>
        <p:spPr>
          <a:xfrm>
            <a:off x="1845937" y="981408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3" name="s006.text.203"/>
          <p:cNvSpPr txBox="1"/>
          <p:nvPr/>
        </p:nvSpPr>
        <p:spPr>
          <a:xfrm>
            <a:off x="1845937" y="1019906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s006.text.204"/>
          <p:cNvSpPr txBox="1"/>
          <p:nvPr/>
        </p:nvSpPr>
        <p:spPr>
          <a:xfrm>
            <a:off x="1865698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3197993" y="981419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6" name="Google Shape;206;p18"/>
          <p:cNvSpPr/>
          <p:nvPr/>
        </p:nvSpPr>
        <p:spPr>
          <a:xfrm>
            <a:off x="3120224" y="981419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7" name="s006.text.207"/>
          <p:cNvSpPr txBox="1"/>
          <p:nvPr/>
        </p:nvSpPr>
        <p:spPr>
          <a:xfrm>
            <a:off x="3120221" y="1019915"/>
            <a:ext cx="10122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Egreso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" name="s006.text.208"/>
          <p:cNvSpPr txBox="1"/>
          <p:nvPr/>
        </p:nvSpPr>
        <p:spPr>
          <a:xfrm>
            <a:off x="3139984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Egreso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674137" y="972025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0" name="Google Shape;210;p18"/>
          <p:cNvSpPr/>
          <p:nvPr/>
        </p:nvSpPr>
        <p:spPr>
          <a:xfrm>
            <a:off x="5596367" y="972025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1" name="s006.text.211"/>
          <p:cNvSpPr txBox="1"/>
          <p:nvPr/>
        </p:nvSpPr>
        <p:spPr>
          <a:xfrm>
            <a:off x="5517500" y="1010525"/>
            <a:ext cx="13395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Playa OSL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s006.text.212"/>
          <p:cNvSpPr txBox="1"/>
          <p:nvPr/>
        </p:nvSpPr>
        <p:spPr>
          <a:xfrm>
            <a:off x="5625362" y="1219367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4445492" y="992212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4" name="Google Shape;214;p18"/>
          <p:cNvSpPr/>
          <p:nvPr/>
        </p:nvSpPr>
        <p:spPr>
          <a:xfrm>
            <a:off x="4367723" y="992212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5" name="s006.text.215"/>
          <p:cNvSpPr txBox="1"/>
          <p:nvPr/>
        </p:nvSpPr>
        <p:spPr>
          <a:xfrm>
            <a:off x="4367728" y="1030719"/>
            <a:ext cx="12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Interplanta </a:t>
            </a:r>
            <a:endParaRPr b="1"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s006.text.216"/>
          <p:cNvSpPr txBox="1"/>
          <p:nvPr/>
        </p:nvSpPr>
        <p:spPr>
          <a:xfrm>
            <a:off x="4387480" y="1237220"/>
            <a:ext cx="9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6909270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8" name="Google Shape;218;p18"/>
          <p:cNvSpPr/>
          <p:nvPr/>
        </p:nvSpPr>
        <p:spPr>
          <a:xfrm>
            <a:off x="6831501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9" name="s006.text.219"/>
          <p:cNvSpPr txBox="1"/>
          <p:nvPr/>
        </p:nvSpPr>
        <p:spPr>
          <a:xfrm>
            <a:off x="6759625" y="1022250"/>
            <a:ext cx="2537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Descarga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s006.text.220"/>
          <p:cNvSpPr txBox="1"/>
          <p:nvPr/>
        </p:nvSpPr>
        <p:spPr>
          <a:xfrm>
            <a:off x="6851262" y="1228751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s006.text.221"/>
          <p:cNvSpPr txBox="1"/>
          <p:nvPr/>
        </p:nvSpPr>
        <p:spPr>
          <a:xfrm>
            <a:off x="151779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2" name="s006.text.222"/>
          <p:cNvSpPr txBox="1"/>
          <p:nvPr/>
        </p:nvSpPr>
        <p:spPr>
          <a:xfrm>
            <a:off x="2769127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s006.text.223"/>
          <p:cNvSpPr txBox="1"/>
          <p:nvPr/>
        </p:nvSpPr>
        <p:spPr>
          <a:xfrm>
            <a:off x="4046142" y="1072206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s006.text.224"/>
          <p:cNvSpPr txBox="1"/>
          <p:nvPr/>
        </p:nvSpPr>
        <p:spPr>
          <a:xfrm>
            <a:off x="5297410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s006.text.225"/>
          <p:cNvSpPr txBox="1"/>
          <p:nvPr/>
        </p:nvSpPr>
        <p:spPr>
          <a:xfrm>
            <a:off x="651954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8131420" y="990926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7" name="Google Shape;227;p18"/>
          <p:cNvSpPr/>
          <p:nvPr/>
        </p:nvSpPr>
        <p:spPr>
          <a:xfrm>
            <a:off x="8053651" y="990926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8" name="s006.text.228"/>
          <p:cNvSpPr txBox="1"/>
          <p:nvPr/>
        </p:nvSpPr>
        <p:spPr>
          <a:xfrm>
            <a:off x="8053651" y="1029423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Salida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s006.text.229"/>
          <p:cNvSpPr txBox="1"/>
          <p:nvPr/>
        </p:nvSpPr>
        <p:spPr>
          <a:xfrm>
            <a:off x="8073412" y="1235926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 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s006.text.230"/>
          <p:cNvSpPr txBox="1"/>
          <p:nvPr/>
        </p:nvSpPr>
        <p:spPr>
          <a:xfrm>
            <a:off x="7741691" y="1079392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s006.text.19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Producto:Soja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3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6/72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s007.text.239"/>
          <p:cNvSpPr txBox="1"/>
          <p:nvPr/>
        </p:nvSpPr>
        <p:spPr>
          <a:xfrm>
            <a:off x="1590025" y="28536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126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s007.text.240"/>
          <p:cNvSpPr txBox="1"/>
          <p:nvPr/>
        </p:nvSpPr>
        <p:spPr>
          <a:xfrm>
            <a:off x="3107788" y="285366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" name="s007.text.241"/>
          <p:cNvSpPr txBox="1"/>
          <p:nvPr/>
        </p:nvSpPr>
        <p:spPr>
          <a:xfrm>
            <a:off x="3832064" y="2838375"/>
            <a:ext cx="4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s007.text.242"/>
          <p:cNvSpPr txBox="1"/>
          <p:nvPr/>
        </p:nvSpPr>
        <p:spPr>
          <a:xfrm>
            <a:off x="5231838" y="28536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s007.text.243"/>
          <p:cNvSpPr txBox="1"/>
          <p:nvPr/>
        </p:nvSpPr>
        <p:spPr>
          <a:xfrm>
            <a:off x="7100012" y="283031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" name="s007.text.244"/>
          <p:cNvSpPr txBox="1"/>
          <p:nvPr/>
        </p:nvSpPr>
        <p:spPr>
          <a:xfrm>
            <a:off x="8064625" y="2853675"/>
            <a:ext cx="74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4613452" y="3255825"/>
            <a:ext cx="22602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6873725" y="3244750"/>
            <a:ext cx="1103700" cy="1221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7983944" y="3250275"/>
            <a:ext cx="910800" cy="122100"/>
          </a:xfrm>
          <a:prstGeom prst="rect">
            <a:avLst/>
          </a:prstGeom>
          <a:solidFill>
            <a:srgbClr val="83ABEE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544375" y="3242625"/>
            <a:ext cx="22152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397050" y="3242650"/>
            <a:ext cx="1647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3501300" y="3255825"/>
            <a:ext cx="11214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2747975" y="3242625"/>
            <a:ext cx="7866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100617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179402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4" name="Google Shape;254;p19"/>
          <p:cNvCxnSpPr>
            <a:stCxn id="252" idx="6"/>
            <a:endCxn id="253" idx="2"/>
          </p:cNvCxnSpPr>
          <p:nvPr/>
        </p:nvCxnSpPr>
        <p:spPr>
          <a:xfrm>
            <a:off x="1183175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19"/>
          <p:cNvSpPr/>
          <p:nvPr/>
        </p:nvSpPr>
        <p:spPr>
          <a:xfrm>
            <a:off x="30951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6" name="Google Shape;256;p19"/>
          <p:cNvCxnSpPr>
            <a:endCxn id="255" idx="2"/>
          </p:cNvCxnSpPr>
          <p:nvPr/>
        </p:nvCxnSpPr>
        <p:spPr>
          <a:xfrm>
            <a:off x="1973700" y="1495025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19"/>
          <p:cNvSpPr/>
          <p:nvPr/>
        </p:nvSpPr>
        <p:spPr>
          <a:xfrm>
            <a:off x="38830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8" name="Google Shape;258;p19"/>
          <p:cNvCxnSpPr>
            <a:endCxn id="257" idx="2"/>
          </p:cNvCxnSpPr>
          <p:nvPr/>
        </p:nvCxnSpPr>
        <p:spPr>
          <a:xfrm>
            <a:off x="32722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19"/>
          <p:cNvSpPr/>
          <p:nvPr/>
        </p:nvSpPr>
        <p:spPr>
          <a:xfrm>
            <a:off x="46709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0" name="Google Shape;260;p19"/>
          <p:cNvCxnSpPr>
            <a:endCxn id="259" idx="2"/>
          </p:cNvCxnSpPr>
          <p:nvPr/>
        </p:nvCxnSpPr>
        <p:spPr>
          <a:xfrm>
            <a:off x="40601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s007.text.261"/>
          <p:cNvSpPr txBox="1"/>
          <p:nvPr/>
        </p:nvSpPr>
        <p:spPr>
          <a:xfrm>
            <a:off x="11144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588945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19"/>
          <p:cNvCxnSpPr>
            <a:stCxn id="259" idx="6"/>
            <a:endCxn id="262" idx="2"/>
          </p:cNvCxnSpPr>
          <p:nvPr/>
        </p:nvCxnSpPr>
        <p:spPr>
          <a:xfrm>
            <a:off x="4847900" y="1498025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19"/>
          <p:cNvSpPr/>
          <p:nvPr/>
        </p:nvSpPr>
        <p:spPr>
          <a:xfrm>
            <a:off x="70345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5" name="Google Shape;265;p19"/>
          <p:cNvCxnSpPr>
            <a:stCxn id="262" idx="6"/>
            <a:endCxn id="264" idx="2"/>
          </p:cNvCxnSpPr>
          <p:nvPr/>
        </p:nvCxnSpPr>
        <p:spPr>
          <a:xfrm>
            <a:off x="6066450" y="1498025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s007.text.266"/>
          <p:cNvSpPr txBox="1"/>
          <p:nvPr/>
        </p:nvSpPr>
        <p:spPr>
          <a:xfrm>
            <a:off x="1604500" y="15372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7" name="s007.text.267"/>
          <p:cNvSpPr txBox="1"/>
          <p:nvPr/>
        </p:nvSpPr>
        <p:spPr>
          <a:xfrm>
            <a:off x="820600" y="15250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" name="s007.text.268"/>
          <p:cNvSpPr txBox="1"/>
          <p:nvPr/>
        </p:nvSpPr>
        <p:spPr>
          <a:xfrm>
            <a:off x="3665425" y="154535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Ric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" name="s007.text.269"/>
          <p:cNvSpPr txBox="1"/>
          <p:nvPr/>
        </p:nvSpPr>
        <p:spPr>
          <a:xfrm>
            <a:off x="2881525" y="1533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0" name="s007.text.270"/>
          <p:cNvSpPr txBox="1"/>
          <p:nvPr/>
        </p:nvSpPr>
        <p:spPr>
          <a:xfrm>
            <a:off x="5742475" y="15392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OSL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1" name="s007.text.271"/>
          <p:cNvSpPr txBox="1"/>
          <p:nvPr/>
        </p:nvSpPr>
        <p:spPr>
          <a:xfrm>
            <a:off x="4506200" y="1533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s007.text.272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s007.text.273"/>
          <p:cNvSpPr txBox="1"/>
          <p:nvPr/>
        </p:nvSpPr>
        <p:spPr>
          <a:xfrm>
            <a:off x="687372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PTO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8109025" y="1390200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5" name="Google Shape;275;p19"/>
          <p:cNvCxnSpPr>
            <a:endCxn id="274" idx="2"/>
          </p:cNvCxnSpPr>
          <p:nvPr/>
        </p:nvCxnSpPr>
        <p:spPr>
          <a:xfrm flipH="1" rot="10800000">
            <a:off x="7211425" y="1478850"/>
            <a:ext cx="897600" cy="750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s007.text.276"/>
          <p:cNvSpPr txBox="1"/>
          <p:nvPr/>
        </p:nvSpPr>
        <p:spPr>
          <a:xfrm>
            <a:off x="1973700" y="1154100"/>
            <a:ext cx="137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     Playa 1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s007.text.277"/>
          <p:cNvSpPr txBox="1"/>
          <p:nvPr/>
        </p:nvSpPr>
        <p:spPr>
          <a:xfrm>
            <a:off x="3219275" y="11440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Salida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s007.text.278"/>
          <p:cNvSpPr txBox="1"/>
          <p:nvPr/>
        </p:nvSpPr>
        <p:spPr>
          <a:xfrm>
            <a:off x="4022300" y="1145212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Interplanta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s007.text.279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334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s007.text.280"/>
          <p:cNvSpPr txBox="1"/>
          <p:nvPr/>
        </p:nvSpPr>
        <p:spPr>
          <a:xfrm>
            <a:off x="4928550" y="11440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Playa OSL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s007.text.281"/>
          <p:cNvSpPr txBox="1"/>
          <p:nvPr/>
        </p:nvSpPr>
        <p:spPr>
          <a:xfrm>
            <a:off x="61042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s007.text.282"/>
          <p:cNvSpPr txBox="1"/>
          <p:nvPr/>
        </p:nvSpPr>
        <p:spPr>
          <a:xfrm>
            <a:off x="7249675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3" name="s007.text.283"/>
          <p:cNvSpPr txBox="1"/>
          <p:nvPr/>
        </p:nvSpPr>
        <p:spPr>
          <a:xfrm>
            <a:off x="289025" y="2853663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4" name="s007.text.28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85" name="s007.text.285"/>
          <p:cNvSpPr txBox="1"/>
          <p:nvPr/>
        </p:nvSpPr>
        <p:spPr>
          <a:xfrm>
            <a:off x="1473550" y="4316287"/>
            <a:ext cx="960900" cy="600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Comparativo </a:t>
            </a:r>
            <a:b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Semana anterior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6" name="s007.text.286"/>
          <p:cNvSpPr txBox="1"/>
          <p:nvPr/>
        </p:nvSpPr>
        <p:spPr>
          <a:xfrm>
            <a:off x="1996913" y="4339375"/>
            <a:ext cx="172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 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5425075" y="42510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8" name="Google Shape;288;p19"/>
          <p:cNvSpPr/>
          <p:nvPr/>
        </p:nvSpPr>
        <p:spPr>
          <a:xfrm>
            <a:off x="5529486" y="43029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9" name="s007.text.289"/>
          <p:cNvSpPr txBox="1"/>
          <p:nvPr/>
        </p:nvSpPr>
        <p:spPr>
          <a:xfrm>
            <a:off x="5494629" y="43029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290" name="s007.text.290"/>
          <p:cNvSpPr txBox="1"/>
          <p:nvPr/>
        </p:nvSpPr>
        <p:spPr>
          <a:xfrm>
            <a:off x="5633899" y="45036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2557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1" name="s007.text.291"/>
          <p:cNvSpPr txBox="1"/>
          <p:nvPr/>
        </p:nvSpPr>
        <p:spPr>
          <a:xfrm>
            <a:off x="2923300" y="4403025"/>
            <a:ext cx="118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D30D0C"/>
                </a:solidFill>
                <a:latin typeface="Inter"/>
                <a:ea typeface="Inter"/>
                <a:cs typeface="Inter"/>
                <a:sym typeface="Inter"/>
              </a:rPr>
              <a:t>+58</a:t>
            </a:r>
            <a:endParaRPr b="1" sz="2000">
              <a:solidFill>
                <a:srgbClr val="D30D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2" name="s007.text.292"/>
          <p:cNvSpPr/>
          <p:nvPr/>
        </p:nvSpPr>
        <p:spPr>
          <a:xfrm>
            <a:off x="417325" y="3405075"/>
            <a:ext cx="3084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293" name="s007.text.293"/>
          <p:cNvSpPr/>
          <p:nvPr/>
        </p:nvSpPr>
        <p:spPr>
          <a:xfrm>
            <a:off x="4613450" y="3433150"/>
            <a:ext cx="4281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294" name="s007.text.294"/>
          <p:cNvSpPr txBox="1"/>
          <p:nvPr/>
        </p:nvSpPr>
        <p:spPr>
          <a:xfrm>
            <a:off x="1698800" y="35647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142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5" name="s007.text.295"/>
          <p:cNvSpPr txBox="1"/>
          <p:nvPr/>
        </p:nvSpPr>
        <p:spPr>
          <a:xfrm>
            <a:off x="5965975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s007.text.296"/>
          <p:cNvSpPr txBox="1"/>
          <p:nvPr/>
        </p:nvSpPr>
        <p:spPr>
          <a:xfrm>
            <a:off x="2183425" y="36953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22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7" name="s007.text.297"/>
          <p:cNvSpPr txBox="1"/>
          <p:nvPr/>
        </p:nvSpPr>
        <p:spPr>
          <a:xfrm>
            <a:off x="6513875" y="37696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8" name="s007.text.298"/>
          <p:cNvSpPr txBox="1"/>
          <p:nvPr/>
        </p:nvSpPr>
        <p:spPr>
          <a:xfrm>
            <a:off x="5186475" y="2264488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34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38" name="s007.text.2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Tiempos medios por tramo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9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7/72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008.text.303"/>
          <p:cNvSpPr txBox="1"/>
          <p:nvPr/>
        </p:nvSpPr>
        <p:spPr>
          <a:xfrm>
            <a:off x="2723599" y="29047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164</a:t>
            </a:r>
            <a:endParaRPr b="1" sz="1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4" name="s008.text.304"/>
          <p:cNvSpPr txBox="1"/>
          <p:nvPr/>
        </p:nvSpPr>
        <p:spPr>
          <a:xfrm>
            <a:off x="3903144" y="28936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5" name="s008.text.305"/>
          <p:cNvSpPr txBox="1"/>
          <p:nvPr/>
        </p:nvSpPr>
        <p:spPr>
          <a:xfrm>
            <a:off x="4376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6" name="s008.text.306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122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7" name="s008.text.307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8" name="s008.text.308"/>
          <p:cNvSpPr txBox="1"/>
          <p:nvPr/>
        </p:nvSpPr>
        <p:spPr>
          <a:xfrm>
            <a:off x="7111744" y="289367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4744975" y="3177300"/>
            <a:ext cx="1228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0" name="Google Shape;310;p20"/>
          <p:cNvSpPr/>
          <p:nvPr/>
        </p:nvSpPr>
        <p:spPr>
          <a:xfrm>
            <a:off x="5973775" y="3177050"/>
            <a:ext cx="1144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1" name="Google Shape;311;p20"/>
          <p:cNvSpPr/>
          <p:nvPr/>
        </p:nvSpPr>
        <p:spPr>
          <a:xfrm>
            <a:off x="7123371" y="3182625"/>
            <a:ext cx="6576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2" name="Google Shape;312;p20"/>
          <p:cNvSpPr/>
          <p:nvPr/>
        </p:nvSpPr>
        <p:spPr>
          <a:xfrm>
            <a:off x="1697200" y="3177050"/>
            <a:ext cx="21984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3" name="Google Shape;313;p20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4" name="Google Shape;314;p20"/>
          <p:cNvSpPr/>
          <p:nvPr/>
        </p:nvSpPr>
        <p:spPr>
          <a:xfrm>
            <a:off x="4365523" y="3177310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5" name="Google Shape;315;p20"/>
          <p:cNvSpPr/>
          <p:nvPr/>
        </p:nvSpPr>
        <p:spPr>
          <a:xfrm>
            <a:off x="3881671" y="3173250"/>
            <a:ext cx="4791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6" name="s008.text.316"/>
          <p:cNvSpPr txBox="1"/>
          <p:nvPr/>
        </p:nvSpPr>
        <p:spPr>
          <a:xfrm>
            <a:off x="3843238" y="20330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7" name="s008.text.317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8" name="s008.text.318"/>
          <p:cNvSpPr txBox="1"/>
          <p:nvPr/>
        </p:nvSpPr>
        <p:spPr>
          <a:xfrm>
            <a:off x="3927888" y="18432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19" name="Google Shape;319;p2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0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4" name="Google Shape;324;p20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5" name="Google Shape;325;p20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6" name="Google Shape;326;p20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7" name="Google Shape;327;p20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8" name="Google Shape;328;p20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9" name="Google Shape;329;p20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0" name="Google Shape;330;p20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1" name="s008.text.33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2" name="s008.text.33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3" name="s008.text.33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4" name="s008.text.33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5" name="s008.text.33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6" name="s008.text.33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s008.text.33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s008.text.33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s008.text.339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151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0" name="s008.text.340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118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1" name="s008.text.341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104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2" name="s008.text.342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138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3" name="Google Shape;343;p20"/>
          <p:cNvSpPr txBox="1"/>
          <p:nvPr/>
        </p:nvSpPr>
        <p:spPr>
          <a:xfrm>
            <a:off x="3950925" y="4210450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3637750" y="404757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5" name="Google Shape;345;p20"/>
          <p:cNvSpPr/>
          <p:nvPr/>
        </p:nvSpPr>
        <p:spPr>
          <a:xfrm>
            <a:off x="3766715" y="411174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6" name="s008.text.346"/>
          <p:cNvSpPr txBox="1"/>
          <p:nvPr/>
        </p:nvSpPr>
        <p:spPr>
          <a:xfrm>
            <a:off x="3723660" y="4111740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347" name="s008.text.347"/>
          <p:cNvSpPr txBox="1"/>
          <p:nvPr/>
        </p:nvSpPr>
        <p:spPr>
          <a:xfrm>
            <a:off x="3895682" y="4359532"/>
            <a:ext cx="12717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511</a:t>
            </a:r>
            <a:endParaRPr b="1" sz="15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s008.text.348"/>
          <p:cNvSpPr txBox="1"/>
          <p:nvPr/>
        </p:nvSpPr>
        <p:spPr>
          <a:xfrm>
            <a:off x="285175" y="28713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s008.text.349"/>
          <p:cNvSpPr txBox="1"/>
          <p:nvPr/>
        </p:nvSpPr>
        <p:spPr>
          <a:xfrm>
            <a:off x="3856350" y="24698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0" name="s008.text.350"/>
          <p:cNvSpPr/>
          <p:nvPr/>
        </p:nvSpPr>
        <p:spPr>
          <a:xfrm>
            <a:off x="1589875" y="3425475"/>
            <a:ext cx="2826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351" name="s008.text.351"/>
          <p:cNvSpPr/>
          <p:nvPr/>
        </p:nvSpPr>
        <p:spPr>
          <a:xfrm>
            <a:off x="4784225" y="3425475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352" name="s008.text.352"/>
          <p:cNvSpPr txBox="1"/>
          <p:nvPr/>
        </p:nvSpPr>
        <p:spPr>
          <a:xfrm>
            <a:off x="2382750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3" name="s008.text.353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4" name="s008.text.354"/>
          <p:cNvSpPr txBox="1"/>
          <p:nvPr/>
        </p:nvSpPr>
        <p:spPr>
          <a:xfrm>
            <a:off x="2174850" y="404312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5" name="s008.text.355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22" name="s008.text.3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3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8/72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009.text.360"/>
          <p:cNvSpPr txBox="1"/>
          <p:nvPr/>
        </p:nvSpPr>
        <p:spPr>
          <a:xfrm>
            <a:off x="2786861" y="2862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168</a:t>
            </a:r>
            <a:endParaRPr b="1" sz="1166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" name="s009.text.361"/>
          <p:cNvSpPr txBox="1"/>
          <p:nvPr/>
        </p:nvSpPr>
        <p:spPr>
          <a:xfrm>
            <a:off x="3822269" y="2840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2" name="s009.text.362"/>
          <p:cNvSpPr txBox="1"/>
          <p:nvPr/>
        </p:nvSpPr>
        <p:spPr>
          <a:xfrm>
            <a:off x="4377471" y="2862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3" name="s009.text.363"/>
          <p:cNvSpPr txBox="1"/>
          <p:nvPr/>
        </p:nvSpPr>
        <p:spPr>
          <a:xfrm>
            <a:off x="5200520" y="2862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91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4" name="s009.text.364"/>
          <p:cNvSpPr txBox="1"/>
          <p:nvPr/>
        </p:nvSpPr>
        <p:spPr>
          <a:xfrm>
            <a:off x="6683246" y="2862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5" name="s009.text.365"/>
          <p:cNvSpPr txBox="1"/>
          <p:nvPr/>
        </p:nvSpPr>
        <p:spPr>
          <a:xfrm>
            <a:off x="7563627" y="2851575"/>
            <a:ext cx="863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4739539" y="3155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7" name="Google Shape;367;p21"/>
          <p:cNvSpPr/>
          <p:nvPr/>
        </p:nvSpPr>
        <p:spPr>
          <a:xfrm>
            <a:off x="6388551" y="3146050"/>
            <a:ext cx="944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8" name="Google Shape;368;p21"/>
          <p:cNvSpPr/>
          <p:nvPr/>
        </p:nvSpPr>
        <p:spPr>
          <a:xfrm>
            <a:off x="7332914" y="3151625"/>
            <a:ext cx="7758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9" name="Google Shape;369;p21"/>
          <p:cNvSpPr/>
          <p:nvPr/>
        </p:nvSpPr>
        <p:spPr>
          <a:xfrm>
            <a:off x="2025039" y="3146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0" name="Google Shape;370;p21"/>
          <p:cNvSpPr/>
          <p:nvPr/>
        </p:nvSpPr>
        <p:spPr>
          <a:xfrm>
            <a:off x="1917703" y="3146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1" name="Google Shape;371;p21"/>
          <p:cNvSpPr/>
          <p:nvPr/>
        </p:nvSpPr>
        <p:spPr>
          <a:xfrm>
            <a:off x="4364910" y="3150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2" name="Google Shape;372;p21"/>
          <p:cNvSpPr/>
          <p:nvPr/>
        </p:nvSpPr>
        <p:spPr>
          <a:xfrm>
            <a:off x="3630502" y="3146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3" name="s009.text.373"/>
          <p:cNvSpPr txBox="1"/>
          <p:nvPr/>
        </p:nvSpPr>
        <p:spPr>
          <a:xfrm>
            <a:off x="4196975" y="23475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347 </a:t>
            </a:r>
            <a:r>
              <a:rPr b="1" lang="es" sz="13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" name="s009.text.374"/>
          <p:cNvSpPr txBox="1"/>
          <p:nvPr/>
        </p:nvSpPr>
        <p:spPr>
          <a:xfrm>
            <a:off x="1839000" y="2862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5" name="s009.text.375"/>
          <p:cNvSpPr txBox="1"/>
          <p:nvPr/>
        </p:nvSpPr>
        <p:spPr>
          <a:xfrm>
            <a:off x="4281625" y="21577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76" name="s009.text.376"/>
          <p:cNvSpPr txBox="1"/>
          <p:nvPr/>
        </p:nvSpPr>
        <p:spPr>
          <a:xfrm>
            <a:off x="613025" y="28424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2686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2686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25238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25238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1"/>
          <p:cNvSpPr/>
          <p:nvPr/>
        </p:nvSpPr>
        <p:spPr>
          <a:xfrm>
            <a:off x="47231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47231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1"/>
          <p:cNvSpPr/>
          <p:nvPr/>
        </p:nvSpPr>
        <p:spPr>
          <a:xfrm>
            <a:off x="69783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1"/>
          <p:cNvSpPr/>
          <p:nvPr/>
        </p:nvSpPr>
        <p:spPr>
          <a:xfrm>
            <a:off x="69783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s009.text.385"/>
          <p:cNvSpPr/>
          <p:nvPr/>
        </p:nvSpPr>
        <p:spPr>
          <a:xfrm>
            <a:off x="388363" y="12053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6" name="s009.text.386"/>
          <p:cNvSpPr/>
          <p:nvPr/>
        </p:nvSpPr>
        <p:spPr>
          <a:xfrm>
            <a:off x="2650063" y="120205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7" name="s009.text.387"/>
          <p:cNvSpPr/>
          <p:nvPr/>
        </p:nvSpPr>
        <p:spPr>
          <a:xfrm>
            <a:off x="486096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8" name="s009.text.388"/>
          <p:cNvSpPr/>
          <p:nvPr/>
        </p:nvSpPr>
        <p:spPr>
          <a:xfrm>
            <a:off x="714901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9" name="s009.text.389"/>
          <p:cNvSpPr txBox="1"/>
          <p:nvPr/>
        </p:nvSpPr>
        <p:spPr>
          <a:xfrm>
            <a:off x="853463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s009.text.390"/>
          <p:cNvSpPr txBox="1"/>
          <p:nvPr/>
        </p:nvSpPr>
        <p:spPr>
          <a:xfrm>
            <a:off x="2991488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s009.text.391"/>
          <p:cNvSpPr txBox="1"/>
          <p:nvPr/>
        </p:nvSpPr>
        <p:spPr>
          <a:xfrm>
            <a:off x="5248663" y="11593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2" name="s009.text.392"/>
          <p:cNvSpPr txBox="1"/>
          <p:nvPr/>
        </p:nvSpPr>
        <p:spPr>
          <a:xfrm>
            <a:off x="7562413" y="118166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3" name="s009.text.393"/>
          <p:cNvSpPr txBox="1"/>
          <p:nvPr/>
        </p:nvSpPr>
        <p:spPr>
          <a:xfrm>
            <a:off x="1273288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178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4" name="s009.text.394"/>
          <p:cNvSpPr txBox="1"/>
          <p:nvPr/>
        </p:nvSpPr>
        <p:spPr>
          <a:xfrm>
            <a:off x="3454163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78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5" name="s009.text.395"/>
          <p:cNvSpPr txBox="1"/>
          <p:nvPr/>
        </p:nvSpPr>
        <p:spPr>
          <a:xfrm>
            <a:off x="5672175" y="15808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139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6" name="s009.text.396"/>
          <p:cNvSpPr txBox="1"/>
          <p:nvPr/>
        </p:nvSpPr>
        <p:spPr>
          <a:xfrm>
            <a:off x="7983713" y="15671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87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97" name="Google Shape;397;p2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1"/>
          <p:cNvSpPr/>
          <p:nvPr/>
        </p:nvSpPr>
        <p:spPr>
          <a:xfrm>
            <a:off x="3682988" y="4056100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2" name="Google Shape;402;p21"/>
          <p:cNvSpPr/>
          <p:nvPr/>
        </p:nvSpPr>
        <p:spPr>
          <a:xfrm>
            <a:off x="3817365" y="4122956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3" name="s009.text.403"/>
          <p:cNvSpPr txBox="1"/>
          <p:nvPr/>
        </p:nvSpPr>
        <p:spPr>
          <a:xfrm>
            <a:off x="3772503" y="4122956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04" name="s009.text.404"/>
          <p:cNvSpPr txBox="1"/>
          <p:nvPr/>
        </p:nvSpPr>
        <p:spPr>
          <a:xfrm>
            <a:off x="3951744" y="4381144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482</a:t>
            </a:r>
            <a:endParaRPr b="1" sz="24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5" name="s009.text.405"/>
          <p:cNvSpPr txBox="1"/>
          <p:nvPr/>
        </p:nvSpPr>
        <p:spPr>
          <a:xfrm>
            <a:off x="4276550" y="26799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47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06" name="s009.text.406"/>
          <p:cNvSpPr/>
          <p:nvPr/>
        </p:nvSpPr>
        <p:spPr>
          <a:xfrm>
            <a:off x="1917700" y="3425475"/>
            <a:ext cx="244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07" name="s009.text.407"/>
          <p:cNvSpPr/>
          <p:nvPr/>
        </p:nvSpPr>
        <p:spPr>
          <a:xfrm>
            <a:off x="4760325" y="3425475"/>
            <a:ext cx="3348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08" name="s009.text.408"/>
          <p:cNvSpPr txBox="1"/>
          <p:nvPr/>
        </p:nvSpPr>
        <p:spPr>
          <a:xfrm>
            <a:off x="2808000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183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9" name="s009.text.409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s009.text.410"/>
          <p:cNvSpPr txBox="1"/>
          <p:nvPr/>
        </p:nvSpPr>
        <p:spPr>
          <a:xfrm>
            <a:off x="2600100" y="4067650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 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11" name="s009.text.411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00" name="s009.text.4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41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9/72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010.text.416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157</a:t>
            </a:r>
            <a:endParaRPr b="1" sz="1166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7" name="s010.text.417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8" name="s010.text.418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s010.text.419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132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" name="s010.text.420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s010.text.421"/>
          <p:cNvSpPr txBox="1"/>
          <p:nvPr/>
        </p:nvSpPr>
        <p:spPr>
          <a:xfrm>
            <a:off x="7785499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3" name="Google Shape;423;p22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4" name="Google Shape;424;p22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5" name="Google Shape;425;p22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6" name="Google Shape;426;p22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7" name="Google Shape;427;p22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8" name="Google Shape;428;p22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9" name="s010.text.429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s010.text.430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s010.text.431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2" name="s010.text.432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33" name="Google Shape;433;p2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2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2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2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2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2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s010.text.445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6" name="s010.text.446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7" name="s010.text.447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8" name="s010.text.448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9" name="s010.text.449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0" name="s010.text.450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1" name="s010.text.451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2" name="s010.text.452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3" name="s010.text.453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195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4" name="s010.text.454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103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5" name="s010.text.455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81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6" name="s010.text.456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40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7" name="Google Shape;457;p22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8" name="Google Shape;458;p22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9" name="s010.text.459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60" name="s010.text.460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419</a:t>
            </a:r>
            <a:endParaRPr b="1" sz="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" name="s010.text.461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62" name="s010.text.462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63" name="s010.text.463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175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4" name="s010.text.464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203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5" name="s010.text.465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55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6" name="s010.text.466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23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7" name="s010.text.467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6" name="s010.text.43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46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10/72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011.text.472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169</a:t>
            </a:r>
            <a:endParaRPr b="1" sz="1166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3" name="s011.text.473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4" name="s011.text.474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5" name="s011.text.475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6" name="s011.text.476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7" name="s011.text.477"/>
          <p:cNvSpPr txBox="1"/>
          <p:nvPr/>
        </p:nvSpPr>
        <p:spPr>
          <a:xfrm>
            <a:off x="7785500" y="3063575"/>
            <a:ext cx="4323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8" name="Google Shape;478;p23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79" name="Google Shape;479;p23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0" name="Google Shape;480;p23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1" name="Google Shape;481;p23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2" name="Google Shape;482;p23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3" name="Google Shape;483;p23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4" name="Google Shape;484;p23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5" name="s011.text.485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272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6" name="s011.text.486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7" name="s011.text.487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88" name="s011.text.488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89" name="Google Shape;489;p2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3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3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3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3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3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3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3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3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s011.text.501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2" name="s011.text.502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3" name="s011.text.503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4" name="s011.text.504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5" name="s011.text.505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6" name="s011.text.506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s011.text.507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s011.text.508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9" name="s011.text.509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0" name="s011.text.510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5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1" name="s011.text.511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2" name="s011.text.512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19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3" name="Google Shape;513;p23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4" name="Google Shape;514;p23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5" name="s011.text.515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516" name="s011.text.516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b="1" sz="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7" name="s011.text.517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18" name="s011.text.518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19" name="s011.text.519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0" name="s011.text.520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74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1" name="s011.text.521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22" name="s011.text.522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14 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23" name="s011.text.523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32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92" name="s011.text.4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52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11/72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2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2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s012.text.532"/>
          <p:cNvSpPr txBox="1"/>
          <p:nvPr/>
        </p:nvSpPr>
        <p:spPr>
          <a:xfrm>
            <a:off x="2459024" y="2893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63</a:t>
            </a:r>
            <a:endParaRPr b="1" sz="1166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3" name="s012.text.533"/>
          <p:cNvSpPr txBox="1"/>
          <p:nvPr/>
        </p:nvSpPr>
        <p:spPr>
          <a:xfrm>
            <a:off x="3494431" y="2871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4" name="s012.text.534"/>
          <p:cNvSpPr txBox="1"/>
          <p:nvPr/>
        </p:nvSpPr>
        <p:spPr>
          <a:xfrm>
            <a:off x="4049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5" name="s012.text.535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81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6" name="s012.text.536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7" name="s012.text.537"/>
          <p:cNvSpPr txBox="1"/>
          <p:nvPr/>
        </p:nvSpPr>
        <p:spPr>
          <a:xfrm>
            <a:off x="7273611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8" name="Google Shape;538;p24"/>
          <p:cNvSpPr/>
          <p:nvPr/>
        </p:nvSpPr>
        <p:spPr>
          <a:xfrm>
            <a:off x="4411702" y="3186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39" name="Google Shape;539;p24"/>
          <p:cNvSpPr/>
          <p:nvPr/>
        </p:nvSpPr>
        <p:spPr>
          <a:xfrm>
            <a:off x="6060727" y="3177050"/>
            <a:ext cx="1069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0" name="Google Shape;540;p24"/>
          <p:cNvSpPr/>
          <p:nvPr/>
        </p:nvSpPr>
        <p:spPr>
          <a:xfrm>
            <a:off x="7129934" y="3182625"/>
            <a:ext cx="6510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1" name="Google Shape;541;p24"/>
          <p:cNvSpPr/>
          <p:nvPr/>
        </p:nvSpPr>
        <p:spPr>
          <a:xfrm>
            <a:off x="1697201" y="3177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2" name="Google Shape;542;p24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3" name="Google Shape;543;p24"/>
          <p:cNvSpPr/>
          <p:nvPr/>
        </p:nvSpPr>
        <p:spPr>
          <a:xfrm>
            <a:off x="4037073" y="3181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4" name="Google Shape;544;p24"/>
          <p:cNvSpPr/>
          <p:nvPr/>
        </p:nvSpPr>
        <p:spPr>
          <a:xfrm>
            <a:off x="3302664" y="3177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5" name="s012.text.545"/>
          <p:cNvSpPr txBox="1"/>
          <p:nvPr/>
        </p:nvSpPr>
        <p:spPr>
          <a:xfrm>
            <a:off x="3996688" y="21279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229 </a:t>
            </a:r>
            <a:r>
              <a:rPr b="1" lang="es" sz="13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6" name="s012.text.546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7" name="s012.text.547"/>
          <p:cNvSpPr txBox="1"/>
          <p:nvPr/>
        </p:nvSpPr>
        <p:spPr>
          <a:xfrm>
            <a:off x="4081338" y="19381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48" name="Google Shape;548;p24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49" name="Google Shape;549;p24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0" name="Google Shape;550;p24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1" name="Google Shape;551;p24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2" name="Google Shape;552;p24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3" name="Google Shape;553;p24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4" name="Google Shape;554;p24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5" name="Google Shape;555;p24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6" name="s012.text.556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7" name="s012.text.557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8" name="s012.text.558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9" name="s012.text.559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60" name="s012.text.560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1" name="s012.text.561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2" name="s012.text.562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3" name="s012.text.563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4" name="s012.text.564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66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5" name="s012.text.565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6" name="s012.text.566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92 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7" name="s012.text.567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98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8" name="Google Shape;568;p24"/>
          <p:cNvSpPr txBox="1"/>
          <p:nvPr/>
        </p:nvSpPr>
        <p:spPr>
          <a:xfrm>
            <a:off x="3953800" y="3582825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9" name="Google Shape;569;p24"/>
          <p:cNvSpPr/>
          <p:nvPr/>
        </p:nvSpPr>
        <p:spPr>
          <a:xfrm>
            <a:off x="3654075" y="380482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0" name="Google Shape;570;p24"/>
          <p:cNvSpPr/>
          <p:nvPr/>
        </p:nvSpPr>
        <p:spPr>
          <a:xfrm>
            <a:off x="3785840" y="385149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1" name="s012.text.571"/>
          <p:cNvSpPr txBox="1"/>
          <p:nvPr/>
        </p:nvSpPr>
        <p:spPr>
          <a:xfrm>
            <a:off x="3719810" y="3719715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572" name="s012.text.572"/>
          <p:cNvSpPr txBox="1"/>
          <p:nvPr/>
        </p:nvSpPr>
        <p:spPr>
          <a:xfrm>
            <a:off x="3869132" y="4058582"/>
            <a:ext cx="12717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292</a:t>
            </a:r>
            <a:endParaRPr b="1" sz="23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3" name="s012.text.573"/>
          <p:cNvSpPr txBox="1"/>
          <p:nvPr/>
        </p:nvSpPr>
        <p:spPr>
          <a:xfrm>
            <a:off x="361075" y="28349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14/09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4" name="s012.text.574"/>
          <p:cNvSpPr/>
          <p:nvPr/>
        </p:nvSpPr>
        <p:spPr>
          <a:xfrm>
            <a:off x="1589875" y="3401663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75" name="s012.text.575"/>
          <p:cNvSpPr/>
          <p:nvPr/>
        </p:nvSpPr>
        <p:spPr>
          <a:xfrm>
            <a:off x="4411775" y="33706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76" name="s012.text.576"/>
          <p:cNvSpPr txBox="1"/>
          <p:nvPr/>
        </p:nvSpPr>
        <p:spPr>
          <a:xfrm>
            <a:off x="2310425" y="35828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7" name="s012.text.577"/>
          <p:cNvSpPr txBox="1"/>
          <p:nvPr/>
        </p:nvSpPr>
        <p:spPr>
          <a:xfrm>
            <a:off x="5876625" y="357026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139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8" name="s012.text.578"/>
          <p:cNvSpPr txBox="1"/>
          <p:nvPr/>
        </p:nvSpPr>
        <p:spPr>
          <a:xfrm>
            <a:off x="2106450" y="4058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18m)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79" name="s012.text.579"/>
          <p:cNvSpPr txBox="1"/>
          <p:nvPr/>
        </p:nvSpPr>
        <p:spPr>
          <a:xfrm>
            <a:off x="5829600" y="4058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19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80" name="s012.text.580"/>
          <p:cNvSpPr txBox="1"/>
          <p:nvPr/>
        </p:nvSpPr>
        <p:spPr>
          <a:xfrm>
            <a:off x="4996075" y="23007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49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31" name="s012.text.5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5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12/72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013.text.585"/>
          <p:cNvSpPr txBox="1"/>
          <p:nvPr/>
        </p:nvSpPr>
        <p:spPr>
          <a:xfrm>
            <a:off x="3061086" y="26475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83</a:t>
            </a:r>
            <a:endParaRPr b="1" sz="1166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6" name="s013.text.586"/>
          <p:cNvSpPr txBox="1"/>
          <p:nvPr/>
        </p:nvSpPr>
        <p:spPr>
          <a:xfrm>
            <a:off x="4096494" y="2625221"/>
            <a:ext cx="3747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7" name="s013.text.587"/>
          <p:cNvSpPr txBox="1"/>
          <p:nvPr/>
        </p:nvSpPr>
        <p:spPr>
          <a:xfrm>
            <a:off x="4651696" y="264752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8" name="s013.text.588"/>
          <p:cNvSpPr txBox="1"/>
          <p:nvPr/>
        </p:nvSpPr>
        <p:spPr>
          <a:xfrm>
            <a:off x="5474745" y="26475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217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9" name="s013.text.589"/>
          <p:cNvSpPr txBox="1"/>
          <p:nvPr/>
        </p:nvSpPr>
        <p:spPr>
          <a:xfrm>
            <a:off x="6957471" y="26475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48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0" name="s013.text.590"/>
          <p:cNvSpPr txBox="1"/>
          <p:nvPr/>
        </p:nvSpPr>
        <p:spPr>
          <a:xfrm>
            <a:off x="7804624" y="2594590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1" name="Google Shape;591;p25"/>
          <p:cNvSpPr/>
          <p:nvPr/>
        </p:nvSpPr>
        <p:spPr>
          <a:xfrm>
            <a:off x="5013764" y="294050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2" name="Google Shape;592;p25"/>
          <p:cNvSpPr/>
          <p:nvPr/>
        </p:nvSpPr>
        <p:spPr>
          <a:xfrm>
            <a:off x="6662776" y="2930900"/>
            <a:ext cx="9459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3" name="Google Shape;593;p25"/>
          <p:cNvSpPr/>
          <p:nvPr/>
        </p:nvSpPr>
        <p:spPr>
          <a:xfrm>
            <a:off x="7608639" y="2936475"/>
            <a:ext cx="7743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4" name="Google Shape;594;p25"/>
          <p:cNvSpPr/>
          <p:nvPr/>
        </p:nvSpPr>
        <p:spPr>
          <a:xfrm>
            <a:off x="2299264" y="293089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5" name="Google Shape;595;p25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6" name="Google Shape;596;p25"/>
          <p:cNvSpPr/>
          <p:nvPr/>
        </p:nvSpPr>
        <p:spPr>
          <a:xfrm>
            <a:off x="4639135" y="293493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7" name="Google Shape;597;p25"/>
          <p:cNvSpPr/>
          <p:nvPr/>
        </p:nvSpPr>
        <p:spPr>
          <a:xfrm>
            <a:off x="3904727" y="293089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8" name="s013.text.598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396 </a:t>
            </a:r>
            <a:r>
              <a:rPr b="1" lang="es" sz="13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9" name="s013.text.599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0" name="s013.text.600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01" name="s013.text.601"/>
          <p:cNvSpPr txBox="1"/>
          <p:nvPr/>
        </p:nvSpPr>
        <p:spPr>
          <a:xfrm>
            <a:off x="730538" y="26475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02" name="Google Shape;602;p2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25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5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5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5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5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5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5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5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s013.text.614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5" name="s013.text.615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6" name="s013.text.616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7" name="s013.text.617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8" name="s013.text.618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9" name="s013.text.619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0" name="s013.text.620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1" name="s013.text.621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2" name="s013.text.622"/>
          <p:cNvSpPr txBox="1"/>
          <p:nvPr/>
        </p:nvSpPr>
        <p:spPr>
          <a:xfrm>
            <a:off x="1449713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110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3" name="s013.text.623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83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4" name="s013.text.624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115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5" name="s013.text.625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87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6" name="Google Shape;626;p25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7" name="Google Shape;627;p25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8" name="s013.text.628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29" name="s013.text.629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395</a:t>
            </a:r>
            <a:endParaRPr b="1" sz="197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0" name="s013.text.630"/>
          <p:cNvSpPr/>
          <p:nvPr/>
        </p:nvSpPr>
        <p:spPr>
          <a:xfrm>
            <a:off x="2191925" y="3104025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31" name="s013.text.631"/>
          <p:cNvSpPr/>
          <p:nvPr/>
        </p:nvSpPr>
        <p:spPr>
          <a:xfrm>
            <a:off x="5013775" y="315015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32" name="s013.text.632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3" name="s013.text.633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284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4" name="s013.text.634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35" name="s013.text.635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36" name="s013.text.636"/>
          <p:cNvSpPr txBox="1"/>
          <p:nvPr/>
        </p:nvSpPr>
        <p:spPr>
          <a:xfrm>
            <a:off x="4485150" y="24708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05" name="s013.text.60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63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13/72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s014.text.641"/>
          <p:cNvSpPr txBox="1"/>
          <p:nvPr/>
        </p:nvSpPr>
        <p:spPr>
          <a:xfrm>
            <a:off x="3004024" y="26662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166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2" name="s014.text.642"/>
          <p:cNvSpPr txBox="1"/>
          <p:nvPr/>
        </p:nvSpPr>
        <p:spPr>
          <a:xfrm>
            <a:off x="4357844" y="2680834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3" name="s014.text.643"/>
          <p:cNvSpPr txBox="1"/>
          <p:nvPr/>
        </p:nvSpPr>
        <p:spPr>
          <a:xfrm>
            <a:off x="4927659" y="2680836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4" name="s014.text.644"/>
          <p:cNvSpPr txBox="1"/>
          <p:nvPr/>
        </p:nvSpPr>
        <p:spPr>
          <a:xfrm>
            <a:off x="6303295" y="26808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179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5" name="s014.text.645"/>
          <p:cNvSpPr txBox="1"/>
          <p:nvPr/>
        </p:nvSpPr>
        <p:spPr>
          <a:xfrm>
            <a:off x="7480421" y="26662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44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6" name="s014.text.646"/>
          <p:cNvSpPr txBox="1"/>
          <p:nvPr/>
        </p:nvSpPr>
        <p:spPr>
          <a:xfrm>
            <a:off x="7964201" y="2655125"/>
            <a:ext cx="526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7" name="Google Shape;647;p26"/>
          <p:cNvSpPr/>
          <p:nvPr/>
        </p:nvSpPr>
        <p:spPr>
          <a:xfrm>
            <a:off x="5365051" y="2940500"/>
            <a:ext cx="2095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8" name="Google Shape;648;p26"/>
          <p:cNvSpPr/>
          <p:nvPr/>
        </p:nvSpPr>
        <p:spPr>
          <a:xfrm>
            <a:off x="7460925" y="2936450"/>
            <a:ext cx="5181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9" name="Google Shape;649;p26"/>
          <p:cNvSpPr/>
          <p:nvPr/>
        </p:nvSpPr>
        <p:spPr>
          <a:xfrm>
            <a:off x="7969699" y="2936475"/>
            <a:ext cx="4134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0" name="Google Shape;650;p26"/>
          <p:cNvSpPr/>
          <p:nvPr/>
        </p:nvSpPr>
        <p:spPr>
          <a:xfrm>
            <a:off x="2299277" y="2930900"/>
            <a:ext cx="18588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1" name="Google Shape;651;p26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2" name="Google Shape;652;p26"/>
          <p:cNvSpPr/>
          <p:nvPr/>
        </p:nvSpPr>
        <p:spPr>
          <a:xfrm>
            <a:off x="4873947" y="2936125"/>
            <a:ext cx="4911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3" name="Google Shape;653;p26"/>
          <p:cNvSpPr/>
          <p:nvPr/>
        </p:nvSpPr>
        <p:spPr>
          <a:xfrm>
            <a:off x="4150177" y="2928030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4" name="s014.text.654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387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5" name="s014.text.655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6" name="s014.text.656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57" name="s014.text.657"/>
          <p:cNvSpPr txBox="1"/>
          <p:nvPr/>
        </p:nvSpPr>
        <p:spPr>
          <a:xfrm>
            <a:off x="978188" y="26252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16 /09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58" name="Google Shape;658;p2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2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26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6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6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6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6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6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6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6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s014.text.670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1" name="s014.text.671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2" name="s014.text.672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3" name="s014.text.673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4" name="s014.text.674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5" name="s014.text.675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6" name="s014.text.676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7" name="s014.text.677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8" name="s014.text.678"/>
          <p:cNvSpPr txBox="1"/>
          <p:nvPr/>
        </p:nvSpPr>
        <p:spPr>
          <a:xfrm>
            <a:off x="1211238" y="133047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127 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79" name="s014.text.679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88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0" name="s014.text.680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98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1" name="s014.text.681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39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2" name="Google Shape;682;p26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3" name="Google Shape;683;p26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4" name="s014.text.684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85" name="s014.text.685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352</a:t>
            </a:r>
            <a:endParaRPr b="1" sz="197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6" name="s014.text.686"/>
          <p:cNvSpPr/>
          <p:nvPr/>
        </p:nvSpPr>
        <p:spPr>
          <a:xfrm>
            <a:off x="5386400" y="3150150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87" name="s014.text.687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8" name="s014.text.688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9" name="s014.text.689"/>
          <p:cNvSpPr/>
          <p:nvPr/>
        </p:nvSpPr>
        <p:spPr>
          <a:xfrm>
            <a:off x="2191925" y="3104025"/>
            <a:ext cx="27447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90" name="s014.text.690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135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1" name="s014.text.691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15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92" name="s014.text.692"/>
          <p:cNvSpPr txBox="1"/>
          <p:nvPr/>
        </p:nvSpPr>
        <p:spPr>
          <a:xfrm>
            <a:off x="5473625" y="22836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27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61" name="s014.text.66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Miércoles 16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69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14/72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2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2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s015.text.7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0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15/72</a:t>
            </a:r>
          </a:p>
        </p:txBody>
      </p:sp>
      <p:graphicFrame>
        <p:nvGraphicFramePr>
          <p:cNvPr id="701" name="D15_G1"/>
          <p:cNvGraphicFramePr/>
          <p:nvPr/>
        </p:nvGraphicFramePr>
        <p:xfrm>
          <a:off x="1281763" y="741174"/>
          <a:ext cx="6801876" cy="4205827"/>
        </p:xfrm>
        <a:graphic>
          <a:graphicData uri="http://schemas.openxmlformats.org/drawingml/2006/chart">
            <c:chart r:id="rIdManual100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28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28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s016.text.71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1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16/72</a:t>
            </a:r>
          </a:p>
        </p:txBody>
      </p:sp>
      <p:graphicFrame>
        <p:nvGraphicFramePr>
          <p:cNvPr id="707" name="D16_G1"/>
          <p:cNvGraphicFramePr/>
          <p:nvPr/>
        </p:nvGraphicFramePr>
        <p:xfrm>
          <a:off x="1881750" y="2955400"/>
          <a:ext cx="5448501" cy="2110300"/>
        </p:xfrm>
        <a:graphic>
          <a:graphicData uri="http://schemas.openxmlformats.org/drawingml/2006/chart">
            <c:chart r:id="rIdManual1003"/>
          </a:graphicData>
        </a:graphic>
      </p:graphicFrame>
      <p:graphicFrame>
        <p:nvGraphicFramePr>
          <p:cNvPr id="708" name="D16_G2"/>
          <p:cNvGraphicFramePr/>
          <p:nvPr/>
        </p:nvGraphicFramePr>
        <p:xfrm>
          <a:off x="2025814" y="597150"/>
          <a:ext cx="5152173" cy="2322835"/>
        </p:xfrm>
        <a:graphic>
          <a:graphicData uri="http://schemas.openxmlformats.org/drawingml/2006/chart">
            <c:chart r:id="rIdManual1004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2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2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s017.text.72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sz="2400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7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17/72</a:t>
            </a:r>
          </a:p>
        </p:txBody>
      </p:sp>
      <p:graphicFrame>
        <p:nvGraphicFramePr>
          <p:cNvPr id="717" name="D17_G1"/>
          <p:cNvGraphicFramePr/>
          <p:nvPr/>
        </p:nvGraphicFramePr>
        <p:xfrm>
          <a:off x="4721275" y="1346499"/>
          <a:ext cx="4225575" cy="2612816"/>
        </p:xfrm>
        <a:graphic>
          <a:graphicData uri="http://schemas.openxmlformats.org/drawingml/2006/chart">
            <c:chart r:id="rIdManual1005"/>
          </a:graphicData>
        </a:graphic>
      </p:graphicFrame>
      <p:graphicFrame>
        <p:nvGraphicFramePr>
          <p:cNvPr id="722" name="D17_G2"/>
          <p:cNvGraphicFramePr/>
          <p:nvPr/>
        </p:nvGraphicFramePr>
        <p:xfrm>
          <a:off x="304800" y="1289324"/>
          <a:ext cx="4416474" cy="2730853"/>
        </p:xfrm>
        <a:graphic>
          <a:graphicData uri="http://schemas.openxmlformats.org/drawingml/2006/chart">
            <c:chart r:id="rIdManual100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0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30" name="Google Shape;730;p3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3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s018.text.732"/>
          <p:cNvSpPr txBox="1"/>
          <p:nvPr/>
        </p:nvSpPr>
        <p:spPr>
          <a:xfrm>
            <a:off x="965025" y="895725"/>
            <a:ext cx="7613700" cy="4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resumen del circuito R7 informa un tiempo medio de </a:t>
            </a:r>
            <a:r>
              <a:rPr b="1" lang="es" sz="1100">
                <a:solidFill>
                  <a:schemeClr val="dk1"/>
                </a:solidFill>
              </a:rPr>
              <a:t>334 minutos (5 h 34 min)</a:t>
            </a:r>
            <a:r>
              <a:rPr lang="es" sz="1100">
                <a:solidFill>
                  <a:schemeClr val="dk1"/>
                </a:solidFill>
              </a:rPr>
              <a:t>, frente a 276 minutos en la semana anterior. Esto representa un incremento de </a:t>
            </a:r>
            <a:r>
              <a:rPr b="1" lang="es" sz="1100">
                <a:solidFill>
                  <a:schemeClr val="dk1"/>
                </a:solidFill>
              </a:rPr>
              <a:t>58 minutos (+21%)</a:t>
            </a:r>
            <a:r>
              <a:rPr lang="es" sz="1100">
                <a:solidFill>
                  <a:schemeClr val="dk1"/>
                </a:solidFill>
              </a:rPr>
              <a:t>, sujeto a la conciliación del promedio semanal con el detalle diario.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mayor parte del tiempo se concentra en </a:t>
            </a:r>
            <a:r>
              <a:rPr b="1" lang="es" sz="1100">
                <a:solidFill>
                  <a:schemeClr val="dk1"/>
                </a:solidFill>
              </a:rPr>
              <a:t>Playa 1 de Ricardone, con 126 minutos, y Playa OSL, con 119 minutos</a:t>
            </a:r>
            <a:r>
              <a:rPr lang="es" sz="1100">
                <a:solidFill>
                  <a:schemeClr val="dk1"/>
                </a:solidFill>
              </a:rPr>
              <a:t>. En conjunto representan aproximadamente el </a:t>
            </a:r>
            <a:r>
              <a:rPr b="1" lang="es" sz="1100">
                <a:solidFill>
                  <a:schemeClr val="dk1"/>
                </a:solidFill>
              </a:rPr>
              <a:t>73% del ciclo informado</a:t>
            </a:r>
            <a:r>
              <a:rPr lang="es" sz="1100">
                <a:solidFill>
                  <a:schemeClr val="dk1"/>
                </a:solidFill>
              </a:rPr>
              <a:t>, por lo que ambas esperas constituyen los principales focos de revisión.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lunes 14/09 presentó el menor tiempo, con </a:t>
            </a:r>
            <a:r>
              <a:rPr b="1" lang="es" sz="1100">
                <a:solidFill>
                  <a:schemeClr val="dk1"/>
                </a:solidFill>
              </a:rPr>
              <a:t>229 minutos</a:t>
            </a:r>
            <a:r>
              <a:rPr lang="es" sz="1100">
                <a:solidFill>
                  <a:schemeClr val="dk1"/>
                </a:solidFill>
              </a:rPr>
              <a:t>. El martes 15/09 registró el mayor, con </a:t>
            </a:r>
            <a:r>
              <a:rPr b="1" lang="es" sz="1100">
                <a:solidFill>
                  <a:schemeClr val="dk1"/>
                </a:solidFill>
              </a:rPr>
              <a:t>396 minutos</a:t>
            </a:r>
            <a:r>
              <a:rPr lang="es" sz="1100">
                <a:solidFill>
                  <a:schemeClr val="dk1"/>
                </a:solidFill>
              </a:rPr>
              <a:t>, seguido por el sábado, con 390, y el miércoles, con 387. El martes y el miércoles se destaca la permanencia en Playa OSL, de </a:t>
            </a:r>
            <a:r>
              <a:rPr b="1" lang="es" sz="1100">
                <a:solidFill>
                  <a:schemeClr val="dk1"/>
                </a:solidFill>
              </a:rPr>
              <a:t>217 y 179 minutos</a:t>
            </a:r>
            <a:r>
              <a:rPr lang="es" sz="1100">
                <a:solidFill>
                  <a:schemeClr val="dk1"/>
                </a:solidFill>
              </a:rPr>
              <a:t>, respectivamente.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domingo tuvo actividad reducida, con </a:t>
            </a:r>
            <a:r>
              <a:rPr b="1" lang="es" sz="1100">
                <a:solidFill>
                  <a:schemeClr val="dk1"/>
                </a:solidFill>
              </a:rPr>
              <a:t>39 camiones</a:t>
            </a:r>
            <a:r>
              <a:rPr lang="es" sz="1100">
                <a:solidFill>
                  <a:schemeClr val="dk1"/>
                </a:solidFill>
              </a:rPr>
              <a:t>, pero no una interrupción total. Corresponde revisar la programación de arribos y las condiciones operativas de las jornadas con mayores esperas, sin atribuir todavía las demoras a una causa específica.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729" name="s018.text.7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18/72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9" name="Google Shape;73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s019.text.740"/>
          <p:cNvSpPr txBox="1"/>
          <p:nvPr/>
        </p:nvSpPr>
        <p:spPr>
          <a:xfrm>
            <a:off x="3329725" y="2763900"/>
            <a:ext cx="3214500" cy="19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Circuito R30/31/32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74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19/72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2"/>
          <p:cNvSpPr/>
          <p:nvPr/>
        </p:nvSpPr>
        <p:spPr>
          <a:xfrm>
            <a:off x="946875" y="3205925"/>
            <a:ext cx="2227500" cy="1522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326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450" lIns="104450" spcFirstLastPara="1" rIns="104450" wrap="square" tIns="104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46" name="Google Shape;746;p32"/>
          <p:cNvSpPr/>
          <p:nvPr/>
        </p:nvSpPr>
        <p:spPr>
          <a:xfrm>
            <a:off x="2184900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47" name="Google Shape;747;p32"/>
          <p:cNvSpPr/>
          <p:nvPr/>
        </p:nvSpPr>
        <p:spPr>
          <a:xfrm>
            <a:off x="946875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pic>
        <p:nvPicPr>
          <p:cNvPr id="750" name="Google Shape;750;p3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3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32"/>
          <p:cNvSpPr/>
          <p:nvPr/>
        </p:nvSpPr>
        <p:spPr>
          <a:xfrm>
            <a:off x="1321025" y="997350"/>
            <a:ext cx="1621500" cy="1108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53" name="s020.text.753"/>
          <p:cNvSpPr txBox="1"/>
          <p:nvPr/>
        </p:nvSpPr>
        <p:spPr>
          <a:xfrm>
            <a:off x="1404868" y="1613033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Toneladas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4" name="s020.text.754"/>
          <p:cNvSpPr txBox="1"/>
          <p:nvPr/>
        </p:nvSpPr>
        <p:spPr>
          <a:xfrm>
            <a:off x="1482575" y="1129525"/>
            <a:ext cx="1376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 5.550</a:t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5" name="s020.text.755"/>
          <p:cNvSpPr txBox="1"/>
          <p:nvPr/>
        </p:nvSpPr>
        <p:spPr>
          <a:xfrm>
            <a:off x="2215949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6" name="s020.text.756"/>
          <p:cNvSpPr txBox="1"/>
          <p:nvPr/>
        </p:nvSpPr>
        <p:spPr>
          <a:xfrm>
            <a:off x="1358562" y="3685612"/>
            <a:ext cx="17790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74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Total volumen</a:t>
            </a:r>
            <a: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5284">
                <a:solidFill>
                  <a:srgbClr val="4285F4"/>
                </a:solidFill>
                <a:latin typeface="Inter"/>
                <a:ea typeface="Inter"/>
                <a:cs typeface="Inter"/>
                <a:sym typeface="Inter"/>
              </a:rPr>
              <a:t>188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5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camiones</a:t>
            </a:r>
            <a:endParaRPr b="1" sz="15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7" name="s020.text.757"/>
          <p:cNvSpPr txBox="1"/>
          <p:nvPr/>
        </p:nvSpPr>
        <p:spPr>
          <a:xfrm>
            <a:off x="990024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8" name="s020.text.758"/>
          <p:cNvSpPr txBox="1"/>
          <p:nvPr/>
        </p:nvSpPr>
        <p:spPr>
          <a:xfrm>
            <a:off x="742368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Inicio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9" name="s020.text.759"/>
          <p:cNvSpPr txBox="1"/>
          <p:nvPr/>
        </p:nvSpPr>
        <p:spPr>
          <a:xfrm>
            <a:off x="1968293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  Fin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49" name="s020.text.7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Operativo de Pellet de 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20/72</a:t>
            </a:r>
          </a:p>
        </p:txBody>
      </p:sp>
      <p:graphicFrame>
        <p:nvGraphicFramePr>
          <p:cNvPr id="760" name="D20_G1"/>
          <p:cNvGraphicFramePr/>
          <p:nvPr/>
        </p:nvGraphicFramePr>
        <p:xfrm>
          <a:off x="3591150" y="1341900"/>
          <a:ext cx="5428950" cy="2967401"/>
        </p:xfrm>
        <a:graphic>
          <a:graphicData uri="http://schemas.openxmlformats.org/drawingml/2006/chart">
            <c:chart r:id="rIdManual1007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33" title="A2_3D_20260820_164225.png"/>
          <p:cNvPicPr preferRelativeResize="0"/>
          <p:nvPr/>
        </p:nvPicPr>
        <p:blipFill rotWithShape="1">
          <a:blip r:embed="rId3">
            <a:alphaModFix/>
          </a:blip>
          <a:srcRect b="0" l="0" r="17471" t="35044"/>
          <a:stretch/>
        </p:blipFill>
        <p:spPr>
          <a:xfrm>
            <a:off x="802350" y="2751075"/>
            <a:ext cx="4002028" cy="1894776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33"/>
          <p:cNvSpPr/>
          <p:nvPr/>
        </p:nvSpPr>
        <p:spPr>
          <a:xfrm>
            <a:off x="4696392" y="39372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pic>
        <p:nvPicPr>
          <p:cNvPr id="767" name="Google Shape;767;p33"/>
          <p:cNvPicPr preferRelativeResize="0"/>
          <p:nvPr/>
        </p:nvPicPr>
        <p:blipFill rotWithShape="1">
          <a:blip r:embed="rId4">
            <a:alphaModFix/>
          </a:blip>
          <a:srcRect b="2086" l="2257" r="11913" t="0"/>
          <a:stretch/>
        </p:blipFill>
        <p:spPr>
          <a:xfrm>
            <a:off x="4870050" y="2905450"/>
            <a:ext cx="3702826" cy="152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6998" y="4429776"/>
            <a:ext cx="678528" cy="623299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33"/>
          <p:cNvSpPr/>
          <p:nvPr/>
        </p:nvSpPr>
        <p:spPr>
          <a:xfrm>
            <a:off x="3861049" y="3153628"/>
            <a:ext cx="1131437" cy="1325984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367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770" name="Google Shape;770;p33"/>
          <p:cNvSpPr/>
          <p:nvPr/>
        </p:nvSpPr>
        <p:spPr>
          <a:xfrm>
            <a:off x="5857540" y="3341411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771" name="Google Shape;771;p33"/>
          <p:cNvSpPr/>
          <p:nvPr/>
        </p:nvSpPr>
        <p:spPr>
          <a:xfrm>
            <a:off x="7390476" y="3081894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2" name="Google Shape;772;p33"/>
          <p:cNvSpPr/>
          <p:nvPr/>
        </p:nvSpPr>
        <p:spPr>
          <a:xfrm>
            <a:off x="7438892" y="41941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3" name="s021.text.773"/>
          <p:cNvSpPr txBox="1"/>
          <p:nvPr/>
        </p:nvSpPr>
        <p:spPr>
          <a:xfrm>
            <a:off x="4670611" y="3888613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4" name="s021.text.774"/>
          <p:cNvSpPr txBox="1"/>
          <p:nvPr/>
        </p:nvSpPr>
        <p:spPr>
          <a:xfrm>
            <a:off x="5844659" y="32813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5" name="s021.text.775"/>
          <p:cNvSpPr txBox="1"/>
          <p:nvPr/>
        </p:nvSpPr>
        <p:spPr>
          <a:xfrm>
            <a:off x="7364876" y="3033325"/>
            <a:ext cx="2502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8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6" name="s021.text.776"/>
          <p:cNvSpPr txBox="1"/>
          <p:nvPr/>
        </p:nvSpPr>
        <p:spPr>
          <a:xfrm>
            <a:off x="7393600" y="4153625"/>
            <a:ext cx="2565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9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777" name="Google Shape;777;p33"/>
          <p:cNvCxnSpPr/>
          <p:nvPr/>
        </p:nvCxnSpPr>
        <p:spPr>
          <a:xfrm flipH="1" rot="10800000">
            <a:off x="6120931" y="3164282"/>
            <a:ext cx="141300" cy="161100"/>
          </a:xfrm>
          <a:prstGeom prst="straightConnector1">
            <a:avLst/>
          </a:prstGeom>
          <a:noFill/>
          <a:ln cap="flat" cmpd="sng" w="790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8" name="Google Shape;778;p33"/>
          <p:cNvCxnSpPr/>
          <p:nvPr/>
        </p:nvCxnSpPr>
        <p:spPr>
          <a:xfrm rot="10800000">
            <a:off x="5481987" y="3282738"/>
            <a:ext cx="643500" cy="39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9" name="Google Shape;779;p33"/>
          <p:cNvSpPr/>
          <p:nvPr/>
        </p:nvSpPr>
        <p:spPr>
          <a:xfrm>
            <a:off x="5225729" y="3281315"/>
            <a:ext cx="256380" cy="134619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0" name="Google Shape;780;p33"/>
          <p:cNvCxnSpPr/>
          <p:nvPr/>
        </p:nvCxnSpPr>
        <p:spPr>
          <a:xfrm>
            <a:off x="6599998" y="3175454"/>
            <a:ext cx="1220400" cy="87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1" name="Google Shape;781;p33"/>
          <p:cNvSpPr/>
          <p:nvPr/>
        </p:nvSpPr>
        <p:spPr>
          <a:xfrm>
            <a:off x="7820382" y="3262926"/>
            <a:ext cx="279574" cy="437165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2" name="Google Shape;782;p33"/>
          <p:cNvCxnSpPr/>
          <p:nvPr/>
        </p:nvCxnSpPr>
        <p:spPr>
          <a:xfrm rot="10800000">
            <a:off x="8141077" y="4266754"/>
            <a:ext cx="200700" cy="15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3" name="Google Shape;783;p33"/>
          <p:cNvSpPr/>
          <p:nvPr/>
        </p:nvSpPr>
        <p:spPr>
          <a:xfrm>
            <a:off x="8100525" y="3698877"/>
            <a:ext cx="311503" cy="587327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84" name="Google Shape;784;p33"/>
          <p:cNvSpPr/>
          <p:nvPr/>
        </p:nvSpPr>
        <p:spPr>
          <a:xfrm>
            <a:off x="7330315" y="4126425"/>
            <a:ext cx="659617" cy="9726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5" name="Google Shape;785;p33"/>
          <p:cNvCxnSpPr/>
          <p:nvPr/>
        </p:nvCxnSpPr>
        <p:spPr>
          <a:xfrm flipH="1">
            <a:off x="7183426" y="4156592"/>
            <a:ext cx="161700" cy="150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788" name="Google Shape;788;p33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33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33"/>
          <p:cNvSpPr txBox="1"/>
          <p:nvPr/>
        </p:nvSpPr>
        <p:spPr>
          <a:xfrm>
            <a:off x="3197296" y="1072512"/>
            <a:ext cx="4872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00" lIns="74200" spcFirstLastPara="1" rIns="74200" wrap="square" tIns="7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1" name="Google Shape;791;p33"/>
          <p:cNvSpPr/>
          <p:nvPr/>
        </p:nvSpPr>
        <p:spPr>
          <a:xfrm>
            <a:off x="614187" y="88595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2" name="Google Shape;792;p33"/>
          <p:cNvSpPr/>
          <p:nvPr/>
        </p:nvSpPr>
        <p:spPr>
          <a:xfrm>
            <a:off x="538050" y="88595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3" name="s021.text.793"/>
          <p:cNvSpPr txBox="1"/>
          <p:nvPr/>
        </p:nvSpPr>
        <p:spPr>
          <a:xfrm>
            <a:off x="538050" y="939911"/>
            <a:ext cx="2413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4" name="s021.text.794"/>
          <p:cNvSpPr txBox="1"/>
          <p:nvPr/>
        </p:nvSpPr>
        <p:spPr>
          <a:xfrm>
            <a:off x="557396" y="1142080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5" name="Google Shape;795;p33"/>
          <p:cNvSpPr/>
          <p:nvPr/>
        </p:nvSpPr>
        <p:spPr>
          <a:xfrm>
            <a:off x="1911885" y="883661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6" name="Google Shape;796;p33"/>
          <p:cNvSpPr/>
          <p:nvPr/>
        </p:nvSpPr>
        <p:spPr>
          <a:xfrm>
            <a:off x="1835748" y="883661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7" name="s021.text.797"/>
          <p:cNvSpPr txBox="1"/>
          <p:nvPr/>
        </p:nvSpPr>
        <p:spPr>
          <a:xfrm>
            <a:off x="1835752" y="921363"/>
            <a:ext cx="9360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8" name="s021.text.798"/>
          <p:cNvSpPr txBox="1"/>
          <p:nvPr/>
        </p:nvSpPr>
        <p:spPr>
          <a:xfrm>
            <a:off x="1855090" y="1123531"/>
            <a:ext cx="8586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9" name="Google Shape;799;p33"/>
          <p:cNvSpPr/>
          <p:nvPr/>
        </p:nvSpPr>
        <p:spPr>
          <a:xfrm>
            <a:off x="3159433" y="883672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0" name="Google Shape;800;p33"/>
          <p:cNvSpPr/>
          <p:nvPr/>
        </p:nvSpPr>
        <p:spPr>
          <a:xfrm>
            <a:off x="3083295" y="883672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1" name="s021.text.801"/>
          <p:cNvSpPr txBox="1"/>
          <p:nvPr/>
        </p:nvSpPr>
        <p:spPr>
          <a:xfrm>
            <a:off x="3083293" y="921360"/>
            <a:ext cx="9912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P.Tara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2" name="s021.text.802"/>
          <p:cNvSpPr txBox="1"/>
          <p:nvPr/>
        </p:nvSpPr>
        <p:spPr>
          <a:xfrm>
            <a:off x="3102641" y="1123528"/>
            <a:ext cx="9756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3" name="Google Shape;803;p33"/>
          <p:cNvSpPr/>
          <p:nvPr/>
        </p:nvSpPr>
        <p:spPr>
          <a:xfrm>
            <a:off x="5583617" y="87447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4" name="Google Shape;804;p33"/>
          <p:cNvSpPr/>
          <p:nvPr/>
        </p:nvSpPr>
        <p:spPr>
          <a:xfrm>
            <a:off x="5507480" y="87447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5" name="s021.text.805"/>
          <p:cNvSpPr txBox="1"/>
          <p:nvPr/>
        </p:nvSpPr>
        <p:spPr>
          <a:xfrm>
            <a:off x="5503628" y="921370"/>
            <a:ext cx="13116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Carga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6" name="s021.text.806"/>
          <p:cNvSpPr txBox="1"/>
          <p:nvPr/>
        </p:nvSpPr>
        <p:spPr>
          <a:xfrm>
            <a:off x="5535867" y="1116627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7" name="Google Shape;807;p33"/>
          <p:cNvSpPr/>
          <p:nvPr/>
        </p:nvSpPr>
        <p:spPr>
          <a:xfrm>
            <a:off x="4380754" y="894238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8" name="Google Shape;808;p33"/>
          <p:cNvSpPr/>
          <p:nvPr/>
        </p:nvSpPr>
        <p:spPr>
          <a:xfrm>
            <a:off x="4304617" y="894238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9" name="s021.text.809"/>
          <p:cNvSpPr txBox="1"/>
          <p:nvPr/>
        </p:nvSpPr>
        <p:spPr>
          <a:xfrm>
            <a:off x="4304618" y="931935"/>
            <a:ext cx="9189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Playa 3</a:t>
            </a:r>
            <a:endParaRPr b="1"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0" name="s021.text.810"/>
          <p:cNvSpPr txBox="1"/>
          <p:nvPr/>
        </p:nvSpPr>
        <p:spPr>
          <a:xfrm>
            <a:off x="4323960" y="1134105"/>
            <a:ext cx="9360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1" name="s021.text.811"/>
          <p:cNvSpPr txBox="1"/>
          <p:nvPr/>
        </p:nvSpPr>
        <p:spPr>
          <a:xfrm>
            <a:off x="1514487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2" name="s021.text.812"/>
          <p:cNvSpPr txBox="1"/>
          <p:nvPr/>
        </p:nvSpPr>
        <p:spPr>
          <a:xfrm>
            <a:off x="273956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3" name="s021.text.813"/>
          <p:cNvSpPr txBox="1"/>
          <p:nvPr/>
        </p:nvSpPr>
        <p:spPr>
          <a:xfrm>
            <a:off x="3989784" y="972554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4" name="s021.text.814"/>
          <p:cNvSpPr txBox="1"/>
          <p:nvPr/>
        </p:nvSpPr>
        <p:spPr>
          <a:xfrm>
            <a:off x="521479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5" name="s021.text.815"/>
          <p:cNvSpPr txBox="1"/>
          <p:nvPr/>
        </p:nvSpPr>
        <p:spPr>
          <a:xfrm>
            <a:off x="6411282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16" name="Google Shape;816;p33"/>
          <p:cNvCxnSpPr/>
          <p:nvPr/>
        </p:nvCxnSpPr>
        <p:spPr>
          <a:xfrm rot="10800000">
            <a:off x="2170412" y="3952717"/>
            <a:ext cx="929400" cy="555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7" name="Google Shape;817;p33"/>
          <p:cNvCxnSpPr/>
          <p:nvPr/>
        </p:nvCxnSpPr>
        <p:spPr>
          <a:xfrm>
            <a:off x="2262567" y="3888619"/>
            <a:ext cx="341400" cy="201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8" name="Google Shape;818;p33"/>
          <p:cNvCxnSpPr/>
          <p:nvPr/>
        </p:nvCxnSpPr>
        <p:spPr>
          <a:xfrm>
            <a:off x="2764318" y="4171713"/>
            <a:ext cx="495900" cy="2793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33"/>
          <p:cNvCxnSpPr/>
          <p:nvPr/>
        </p:nvCxnSpPr>
        <p:spPr>
          <a:xfrm flipH="1" rot="10800000">
            <a:off x="3259002" y="4228426"/>
            <a:ext cx="378000" cy="2196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33"/>
          <p:cNvCxnSpPr/>
          <p:nvPr/>
        </p:nvCxnSpPr>
        <p:spPr>
          <a:xfrm rot="10800000">
            <a:off x="3535450" y="4149012"/>
            <a:ext cx="104700" cy="795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21" name="Google Shape;821;p33"/>
          <p:cNvSpPr/>
          <p:nvPr/>
        </p:nvSpPr>
        <p:spPr>
          <a:xfrm>
            <a:off x="2621265" y="3294932"/>
            <a:ext cx="1018900" cy="994893"/>
          </a:xfrm>
          <a:custGeom>
            <a:rect b="b" l="l" r="r" t="t"/>
            <a:pathLst>
              <a:path extrusionOk="0" h="45585" w="46685">
                <a:moveTo>
                  <a:pt x="39080" y="38381"/>
                </a:moveTo>
                <a:cubicBezTo>
                  <a:pt x="37589" y="39082"/>
                  <a:pt x="32504" y="41420"/>
                  <a:pt x="30135" y="42588"/>
                </a:cubicBezTo>
                <a:cubicBezTo>
                  <a:pt x="27766" y="43757"/>
                  <a:pt x="26805" y="45158"/>
                  <a:pt x="24865" y="45392"/>
                </a:cubicBezTo>
                <a:cubicBezTo>
                  <a:pt x="22925" y="45626"/>
                  <a:pt x="22404" y="46013"/>
                  <a:pt x="18497" y="43994"/>
                </a:cubicBezTo>
                <a:cubicBezTo>
                  <a:pt x="14590" y="41975"/>
                  <a:pt x="4261" y="36632"/>
                  <a:pt x="1425" y="33276"/>
                </a:cubicBezTo>
                <a:cubicBezTo>
                  <a:pt x="-1411" y="29921"/>
                  <a:pt x="736" y="25960"/>
                  <a:pt x="1483" y="23861"/>
                </a:cubicBezTo>
                <a:cubicBezTo>
                  <a:pt x="2230" y="21762"/>
                  <a:pt x="1889" y="23085"/>
                  <a:pt x="5906" y="20684"/>
                </a:cubicBezTo>
                <a:cubicBezTo>
                  <a:pt x="9923" y="18283"/>
                  <a:pt x="19689" y="12800"/>
                  <a:pt x="25587" y="9454"/>
                </a:cubicBezTo>
                <a:cubicBezTo>
                  <a:pt x="31486" y="6108"/>
                  <a:pt x="37781" y="2053"/>
                  <a:pt x="41297" y="607"/>
                </a:cubicBezTo>
                <a:cubicBezTo>
                  <a:pt x="44813" y="-839"/>
                  <a:pt x="45787" y="749"/>
                  <a:pt x="46685" y="777"/>
                </a:cubicBezTo>
              </a:path>
            </a:pathLst>
          </a:custGeom>
          <a:noFill/>
          <a:ln cap="flat" cmpd="sng" w="117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822" name="Google Shape;822;p33"/>
          <p:cNvCxnSpPr/>
          <p:nvPr/>
        </p:nvCxnSpPr>
        <p:spPr>
          <a:xfrm>
            <a:off x="3655777" y="3311434"/>
            <a:ext cx="590700" cy="3324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3" name="Google Shape;823;p33"/>
          <p:cNvCxnSpPr/>
          <p:nvPr/>
        </p:nvCxnSpPr>
        <p:spPr>
          <a:xfrm flipH="1">
            <a:off x="4141268" y="3638653"/>
            <a:ext cx="102600" cy="576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33"/>
          <p:cNvCxnSpPr/>
          <p:nvPr/>
        </p:nvCxnSpPr>
        <p:spPr>
          <a:xfrm flipH="1">
            <a:off x="3519837" y="3716306"/>
            <a:ext cx="598800" cy="3633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5" name="Google Shape;825;p33"/>
          <p:cNvCxnSpPr/>
          <p:nvPr/>
        </p:nvCxnSpPr>
        <p:spPr>
          <a:xfrm>
            <a:off x="3561494" y="4125826"/>
            <a:ext cx="141000" cy="891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6" name="Google Shape;826;p33"/>
          <p:cNvSpPr/>
          <p:nvPr/>
        </p:nvSpPr>
        <p:spPr>
          <a:xfrm>
            <a:off x="3378261" y="169188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7" name="Google Shape;827;p33"/>
          <p:cNvSpPr/>
          <p:nvPr/>
        </p:nvSpPr>
        <p:spPr>
          <a:xfrm>
            <a:off x="3304575" y="169188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8" name="s021.text.828"/>
          <p:cNvSpPr txBox="1"/>
          <p:nvPr/>
        </p:nvSpPr>
        <p:spPr>
          <a:xfrm>
            <a:off x="3229850" y="1728362"/>
            <a:ext cx="1269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7 : Playa OSL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9" name="s021.text.829"/>
          <p:cNvSpPr txBox="1"/>
          <p:nvPr/>
        </p:nvSpPr>
        <p:spPr>
          <a:xfrm>
            <a:off x="3332048" y="1926242"/>
            <a:ext cx="23355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0" name="Google Shape;830;p33"/>
          <p:cNvSpPr/>
          <p:nvPr/>
        </p:nvSpPr>
        <p:spPr>
          <a:xfrm>
            <a:off x="2214132" y="1711010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1" name="Google Shape;831;p33"/>
          <p:cNvSpPr/>
          <p:nvPr/>
        </p:nvSpPr>
        <p:spPr>
          <a:xfrm>
            <a:off x="2140446" y="1711010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2" name="s021.text.832"/>
          <p:cNvSpPr txBox="1"/>
          <p:nvPr/>
        </p:nvSpPr>
        <p:spPr>
          <a:xfrm>
            <a:off x="2140451" y="1747496"/>
            <a:ext cx="1164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 : Interplanta </a:t>
            </a:r>
            <a:endParaRPr b="1"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3" name="s021.text.833"/>
          <p:cNvSpPr txBox="1"/>
          <p:nvPr/>
        </p:nvSpPr>
        <p:spPr>
          <a:xfrm>
            <a:off x="2159167" y="1943157"/>
            <a:ext cx="905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4" name="Google Shape;834;p33"/>
          <p:cNvSpPr/>
          <p:nvPr/>
        </p:nvSpPr>
        <p:spPr>
          <a:xfrm>
            <a:off x="4548538" y="170299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5" name="Google Shape;835;p33"/>
          <p:cNvSpPr/>
          <p:nvPr/>
        </p:nvSpPr>
        <p:spPr>
          <a:xfrm>
            <a:off x="4474852" y="170299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6" name="s021.text.836"/>
          <p:cNvSpPr txBox="1"/>
          <p:nvPr/>
        </p:nvSpPr>
        <p:spPr>
          <a:xfrm>
            <a:off x="4406751" y="1739471"/>
            <a:ext cx="240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8:  Descarga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7" name="s021.text.837"/>
          <p:cNvSpPr txBox="1"/>
          <p:nvPr/>
        </p:nvSpPr>
        <p:spPr>
          <a:xfrm>
            <a:off x="4493576" y="1935133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8" name="s021.text.838"/>
          <p:cNvSpPr txBox="1"/>
          <p:nvPr/>
        </p:nvSpPr>
        <p:spPr>
          <a:xfrm>
            <a:off x="1835752" y="1786805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9" name="s021.text.839"/>
          <p:cNvSpPr txBox="1"/>
          <p:nvPr/>
        </p:nvSpPr>
        <p:spPr>
          <a:xfrm>
            <a:off x="3021316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0" name="s021.text.840"/>
          <p:cNvSpPr txBox="1"/>
          <p:nvPr/>
        </p:nvSpPr>
        <p:spPr>
          <a:xfrm>
            <a:off x="4179274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1" name="Google Shape;841;p33"/>
          <p:cNvSpPr/>
          <p:nvPr/>
        </p:nvSpPr>
        <p:spPr>
          <a:xfrm>
            <a:off x="5706514" y="1709791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2" name="Google Shape;842;p33"/>
          <p:cNvSpPr/>
          <p:nvPr/>
        </p:nvSpPr>
        <p:spPr>
          <a:xfrm>
            <a:off x="5632828" y="1709791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3" name="s021.text.843"/>
          <p:cNvSpPr txBox="1"/>
          <p:nvPr/>
        </p:nvSpPr>
        <p:spPr>
          <a:xfrm>
            <a:off x="5632828" y="1746268"/>
            <a:ext cx="2335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9 : Salida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4" name="s021.text.844"/>
          <p:cNvSpPr txBox="1"/>
          <p:nvPr/>
        </p:nvSpPr>
        <p:spPr>
          <a:xfrm>
            <a:off x="5651551" y="1941931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5" name="s021.text.845"/>
          <p:cNvSpPr txBox="1"/>
          <p:nvPr/>
        </p:nvSpPr>
        <p:spPr>
          <a:xfrm>
            <a:off x="5337249" y="1793614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6" name="Google Shape;846;p33"/>
          <p:cNvSpPr/>
          <p:nvPr/>
        </p:nvSpPr>
        <p:spPr>
          <a:xfrm>
            <a:off x="3978998" y="3698877"/>
            <a:ext cx="126300" cy="1221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7" name="Google Shape;847;p33"/>
          <p:cNvSpPr/>
          <p:nvPr/>
        </p:nvSpPr>
        <p:spPr>
          <a:xfrm>
            <a:off x="2993525" y="3501450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8" name="Google Shape;848;p33"/>
          <p:cNvSpPr/>
          <p:nvPr/>
        </p:nvSpPr>
        <p:spPr>
          <a:xfrm>
            <a:off x="2333722" y="4036754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9" name="Google Shape;849;p33"/>
          <p:cNvSpPr/>
          <p:nvPr/>
        </p:nvSpPr>
        <p:spPr>
          <a:xfrm>
            <a:off x="2337676" y="3898400"/>
            <a:ext cx="102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0" name="s021.text.850"/>
          <p:cNvSpPr txBox="1"/>
          <p:nvPr/>
        </p:nvSpPr>
        <p:spPr>
          <a:xfrm>
            <a:off x="2297409" y="39578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1" name="s021.text.851"/>
          <p:cNvSpPr txBox="1"/>
          <p:nvPr/>
        </p:nvSpPr>
        <p:spPr>
          <a:xfrm>
            <a:off x="2954984" y="34225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2" name="s021.text.852"/>
          <p:cNvSpPr txBox="1"/>
          <p:nvPr/>
        </p:nvSpPr>
        <p:spPr>
          <a:xfrm>
            <a:off x="3946309" y="36336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3" name="s021.text.853"/>
          <p:cNvSpPr txBox="1"/>
          <p:nvPr/>
        </p:nvSpPr>
        <p:spPr>
          <a:xfrm>
            <a:off x="2291534" y="382097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4" name="Google Shape;854;p33"/>
          <p:cNvSpPr/>
          <p:nvPr/>
        </p:nvSpPr>
        <p:spPr>
          <a:xfrm>
            <a:off x="3258997" y="4311429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5" name="s021.text.855"/>
          <p:cNvSpPr txBox="1"/>
          <p:nvPr/>
        </p:nvSpPr>
        <p:spPr>
          <a:xfrm>
            <a:off x="3220459" y="42325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87" name="s021.text.78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R30/31/32/ | Producto:Pellets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21/72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" name="Google Shape;860;p3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3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s022.text.864"/>
          <p:cNvSpPr txBox="1"/>
          <p:nvPr/>
        </p:nvSpPr>
        <p:spPr>
          <a:xfrm>
            <a:off x="762700" y="2868363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5" name="Google Shape;865;p34"/>
          <p:cNvSpPr/>
          <p:nvPr/>
        </p:nvSpPr>
        <p:spPr>
          <a:xfrm>
            <a:off x="772925" y="3224550"/>
            <a:ext cx="3081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4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7" name="Google Shape;867;p34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68" name="Google Shape;868;p34"/>
          <p:cNvSpPr/>
          <p:nvPr/>
        </p:nvSpPr>
        <p:spPr>
          <a:xfrm>
            <a:off x="289000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4"/>
          <p:cNvSpPr/>
          <p:nvPr/>
        </p:nvSpPr>
        <p:spPr>
          <a:xfrm>
            <a:off x="955127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0" name="Google Shape;870;p34"/>
          <p:cNvCxnSpPr>
            <a:stCxn id="868" idx="6"/>
            <a:endCxn id="869" idx="2"/>
          </p:cNvCxnSpPr>
          <p:nvPr/>
        </p:nvCxnSpPr>
        <p:spPr>
          <a:xfrm>
            <a:off x="438700" y="1438675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34"/>
          <p:cNvCxnSpPr/>
          <p:nvPr/>
        </p:nvCxnSpPr>
        <p:spPr>
          <a:xfrm>
            <a:off x="1107042" y="1436749"/>
            <a:ext cx="948000" cy="21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2" name="Google Shape;872;p34"/>
          <p:cNvSpPr/>
          <p:nvPr/>
        </p:nvSpPr>
        <p:spPr>
          <a:xfrm>
            <a:off x="2068946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s022.text.873"/>
          <p:cNvSpPr txBox="1"/>
          <p:nvPr/>
        </p:nvSpPr>
        <p:spPr>
          <a:xfrm>
            <a:off x="294300" y="10269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4" name="s022.text.874"/>
          <p:cNvSpPr txBox="1"/>
          <p:nvPr/>
        </p:nvSpPr>
        <p:spPr>
          <a:xfrm>
            <a:off x="1150513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5" name="s022.text.875"/>
          <p:cNvSpPr txBox="1"/>
          <p:nvPr/>
        </p:nvSpPr>
        <p:spPr>
          <a:xfrm>
            <a:off x="4374200" y="21386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6" name="s022.text.876"/>
          <p:cNvSpPr txBox="1"/>
          <p:nvPr/>
        </p:nvSpPr>
        <p:spPr>
          <a:xfrm>
            <a:off x="410400" y="2859400"/>
            <a:ext cx="50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7" name="s022.text.877"/>
          <p:cNvSpPr txBox="1"/>
          <p:nvPr/>
        </p:nvSpPr>
        <p:spPr>
          <a:xfrm>
            <a:off x="4475875" y="19778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78" name="Google Shape;878;p34"/>
          <p:cNvSpPr/>
          <p:nvPr/>
        </p:nvSpPr>
        <p:spPr>
          <a:xfrm>
            <a:off x="2766102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9" name="Google Shape;879;p34"/>
          <p:cNvCxnSpPr>
            <a:endCxn id="878" idx="2"/>
          </p:cNvCxnSpPr>
          <p:nvPr/>
        </p:nvCxnSpPr>
        <p:spPr>
          <a:xfrm>
            <a:off x="2223402" y="1438302"/>
            <a:ext cx="542700" cy="21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0" name="Google Shape;880;p34"/>
          <p:cNvSpPr/>
          <p:nvPr/>
        </p:nvSpPr>
        <p:spPr>
          <a:xfrm>
            <a:off x="3432271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1" name="Google Shape;881;p34"/>
          <p:cNvCxnSpPr>
            <a:endCxn id="880" idx="2"/>
          </p:cNvCxnSpPr>
          <p:nvPr/>
        </p:nvCxnSpPr>
        <p:spPr>
          <a:xfrm>
            <a:off x="2915971" y="1440402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2" name="Google Shape;882;p34"/>
          <p:cNvSpPr/>
          <p:nvPr/>
        </p:nvSpPr>
        <p:spPr>
          <a:xfrm>
            <a:off x="4462555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3" name="Google Shape;883;p34"/>
          <p:cNvCxnSpPr>
            <a:stCxn id="880" idx="6"/>
            <a:endCxn id="882" idx="2"/>
          </p:cNvCxnSpPr>
          <p:nvPr/>
        </p:nvCxnSpPr>
        <p:spPr>
          <a:xfrm>
            <a:off x="3581971" y="144040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4" name="Google Shape;884;p34"/>
          <p:cNvSpPr/>
          <p:nvPr/>
        </p:nvSpPr>
        <p:spPr>
          <a:xfrm>
            <a:off x="5430694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5" name="Google Shape;885;p34"/>
          <p:cNvCxnSpPr>
            <a:stCxn id="882" idx="6"/>
            <a:endCxn id="884" idx="2"/>
          </p:cNvCxnSpPr>
          <p:nvPr/>
        </p:nvCxnSpPr>
        <p:spPr>
          <a:xfrm>
            <a:off x="4612255" y="144040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6" name="s022.text.886"/>
          <p:cNvSpPr txBox="1"/>
          <p:nvPr/>
        </p:nvSpPr>
        <p:spPr>
          <a:xfrm>
            <a:off x="2157100" y="10269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Tara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7" name="s022.text.887"/>
          <p:cNvSpPr txBox="1"/>
          <p:nvPr/>
        </p:nvSpPr>
        <p:spPr>
          <a:xfrm>
            <a:off x="3652900" y="104033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8" name="s022.text.888"/>
          <p:cNvSpPr txBox="1"/>
          <p:nvPr/>
        </p:nvSpPr>
        <p:spPr>
          <a:xfrm>
            <a:off x="2766088" y="10248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Acceso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9" name="s022.text.889"/>
          <p:cNvSpPr txBox="1"/>
          <p:nvPr/>
        </p:nvSpPr>
        <p:spPr>
          <a:xfrm>
            <a:off x="4540938" y="851563"/>
            <a:ext cx="96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 Interplanta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0" name="s022.text.890"/>
          <p:cNvSpPr txBox="1"/>
          <p:nvPr/>
        </p:nvSpPr>
        <p:spPr>
          <a:xfrm>
            <a:off x="1060263" y="285201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1" name="s022.text.891"/>
          <p:cNvSpPr txBox="1"/>
          <p:nvPr/>
        </p:nvSpPr>
        <p:spPr>
          <a:xfrm>
            <a:off x="1281480" y="2852025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2" name="s022.text.892"/>
          <p:cNvSpPr txBox="1"/>
          <p:nvPr/>
        </p:nvSpPr>
        <p:spPr>
          <a:xfrm>
            <a:off x="2824338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3" name="s022.text.893"/>
          <p:cNvSpPr txBox="1"/>
          <p:nvPr/>
        </p:nvSpPr>
        <p:spPr>
          <a:xfrm>
            <a:off x="4888412" y="285165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4" name="Google Shape;894;p34"/>
          <p:cNvSpPr/>
          <p:nvPr/>
        </p:nvSpPr>
        <p:spPr>
          <a:xfrm>
            <a:off x="1663700" y="3224550"/>
            <a:ext cx="30681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4"/>
          <p:cNvSpPr/>
          <p:nvPr/>
        </p:nvSpPr>
        <p:spPr>
          <a:xfrm>
            <a:off x="4731800" y="3236025"/>
            <a:ext cx="8781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4"/>
          <p:cNvSpPr/>
          <p:nvPr/>
        </p:nvSpPr>
        <p:spPr>
          <a:xfrm>
            <a:off x="1399376" y="3230125"/>
            <a:ext cx="2820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4"/>
          <p:cNvSpPr/>
          <p:nvPr/>
        </p:nvSpPr>
        <p:spPr>
          <a:xfrm>
            <a:off x="1077513" y="3224550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4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899" name="Google Shape;899;p34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00" name="s022.text.900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01" name="s022.text.901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185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02" name="Google Shape;902;p34"/>
          <p:cNvCxnSpPr/>
          <p:nvPr/>
        </p:nvCxnSpPr>
        <p:spPr>
          <a:xfrm>
            <a:off x="5580347" y="1443315"/>
            <a:ext cx="1213200" cy="12900"/>
          </a:xfrm>
          <a:prstGeom prst="straightConnector1">
            <a:avLst/>
          </a:prstGeom>
          <a:noFill/>
          <a:ln cap="flat" cmpd="sng" w="28575">
            <a:solidFill>
              <a:srgbClr val="00154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3" name="Google Shape;903;p34"/>
          <p:cNvSpPr/>
          <p:nvPr/>
        </p:nvSpPr>
        <p:spPr>
          <a:xfrm>
            <a:off x="6789327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4"/>
          <p:cNvSpPr/>
          <p:nvPr/>
        </p:nvSpPr>
        <p:spPr>
          <a:xfrm>
            <a:off x="7819611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5" name="Google Shape;905;p34"/>
          <p:cNvCxnSpPr>
            <a:stCxn id="903" idx="6"/>
            <a:endCxn id="904" idx="2"/>
          </p:cNvCxnSpPr>
          <p:nvPr/>
        </p:nvCxnSpPr>
        <p:spPr>
          <a:xfrm>
            <a:off x="6939027" y="144524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6" name="Google Shape;906;p34"/>
          <p:cNvSpPr/>
          <p:nvPr/>
        </p:nvSpPr>
        <p:spPr>
          <a:xfrm>
            <a:off x="8787750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7" name="Google Shape;907;p34"/>
          <p:cNvCxnSpPr>
            <a:stCxn id="904" idx="6"/>
            <a:endCxn id="906" idx="2"/>
          </p:cNvCxnSpPr>
          <p:nvPr/>
        </p:nvCxnSpPr>
        <p:spPr>
          <a:xfrm>
            <a:off x="7969311" y="144524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8" name="s022.text.908"/>
          <p:cNvSpPr txBox="1"/>
          <p:nvPr/>
        </p:nvSpPr>
        <p:spPr>
          <a:xfrm>
            <a:off x="562702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Playa OSL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9" name="s022.text.909"/>
          <p:cNvSpPr txBox="1"/>
          <p:nvPr/>
        </p:nvSpPr>
        <p:spPr>
          <a:xfrm>
            <a:off x="6856150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0" name="s022.text.910"/>
          <p:cNvSpPr txBox="1"/>
          <p:nvPr/>
        </p:nvSpPr>
        <p:spPr>
          <a:xfrm>
            <a:off x="796997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Salida SLZ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1" name="Google Shape;911;p34"/>
          <p:cNvSpPr/>
          <p:nvPr/>
        </p:nvSpPr>
        <p:spPr>
          <a:xfrm>
            <a:off x="5578841" y="3236025"/>
            <a:ext cx="7254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4"/>
          <p:cNvSpPr/>
          <p:nvPr/>
        </p:nvSpPr>
        <p:spPr>
          <a:xfrm>
            <a:off x="6309260" y="3236025"/>
            <a:ext cx="16482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4"/>
          <p:cNvSpPr/>
          <p:nvPr/>
        </p:nvSpPr>
        <p:spPr>
          <a:xfrm>
            <a:off x="7957380" y="3236025"/>
            <a:ext cx="6150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s022.text.914"/>
          <p:cNvSpPr txBox="1"/>
          <p:nvPr/>
        </p:nvSpPr>
        <p:spPr>
          <a:xfrm>
            <a:off x="5702599" y="28516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5" name="s022.text.915"/>
          <p:cNvSpPr txBox="1"/>
          <p:nvPr/>
        </p:nvSpPr>
        <p:spPr>
          <a:xfrm>
            <a:off x="7064274" y="28828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6" name="s022.text.916"/>
          <p:cNvSpPr txBox="1"/>
          <p:nvPr/>
        </p:nvSpPr>
        <p:spPr>
          <a:xfrm>
            <a:off x="8029950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7" name="s022.text.917"/>
          <p:cNvSpPr txBox="1"/>
          <p:nvPr/>
        </p:nvSpPr>
        <p:spPr>
          <a:xfrm>
            <a:off x="6804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8" name="s022.text.918"/>
          <p:cNvSpPr txBox="1"/>
          <p:nvPr/>
        </p:nvSpPr>
        <p:spPr>
          <a:xfrm>
            <a:off x="14350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9" name="s022.text.919"/>
          <p:cNvSpPr txBox="1"/>
          <p:nvPr/>
        </p:nvSpPr>
        <p:spPr>
          <a:xfrm>
            <a:off x="2625875" y="153930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0" name="s022.text.920"/>
          <p:cNvSpPr txBox="1"/>
          <p:nvPr/>
        </p:nvSpPr>
        <p:spPr>
          <a:xfrm>
            <a:off x="1794300" y="15904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1" name="s022.text.921"/>
          <p:cNvSpPr txBox="1"/>
          <p:nvPr/>
        </p:nvSpPr>
        <p:spPr>
          <a:xfrm>
            <a:off x="5270900" y="15598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2" name="s022.text.922"/>
          <p:cNvSpPr txBox="1"/>
          <p:nvPr/>
        </p:nvSpPr>
        <p:spPr>
          <a:xfrm>
            <a:off x="4298950" y="1552350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3" name="s022.text.923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4" name="s022.text.924"/>
          <p:cNvSpPr txBox="1"/>
          <p:nvPr/>
        </p:nvSpPr>
        <p:spPr>
          <a:xfrm>
            <a:off x="6665875" y="15599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5" name="s022.text.925"/>
          <p:cNvSpPr txBox="1"/>
          <p:nvPr/>
        </p:nvSpPr>
        <p:spPr>
          <a:xfrm>
            <a:off x="3246625" y="158425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6" name="s022.text.926"/>
          <p:cNvSpPr txBox="1"/>
          <p:nvPr/>
        </p:nvSpPr>
        <p:spPr>
          <a:xfrm>
            <a:off x="86493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7" name="s022.text.927"/>
          <p:cNvSpPr/>
          <p:nvPr/>
        </p:nvSpPr>
        <p:spPr>
          <a:xfrm>
            <a:off x="458000" y="3762775"/>
            <a:ext cx="42366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28" name="s022.text.928"/>
          <p:cNvSpPr/>
          <p:nvPr/>
        </p:nvSpPr>
        <p:spPr>
          <a:xfrm>
            <a:off x="5603000" y="3762775"/>
            <a:ext cx="29694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29" name="s022.text.929"/>
          <p:cNvSpPr txBox="1"/>
          <p:nvPr/>
        </p:nvSpPr>
        <p:spPr>
          <a:xfrm>
            <a:off x="1539050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0" name="s022.text.930"/>
          <p:cNvSpPr txBox="1"/>
          <p:nvPr/>
        </p:nvSpPr>
        <p:spPr>
          <a:xfrm>
            <a:off x="6406675" y="395972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1" name="s022.text.931"/>
          <p:cNvSpPr txBox="1"/>
          <p:nvPr/>
        </p:nvSpPr>
        <p:spPr>
          <a:xfrm>
            <a:off x="4438050" y="2512350"/>
            <a:ext cx="1228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23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2" name="s022.text.932"/>
          <p:cNvSpPr txBox="1"/>
          <p:nvPr/>
        </p:nvSpPr>
        <p:spPr>
          <a:xfrm>
            <a:off x="1539050" y="4443850"/>
            <a:ext cx="1086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42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3" name="s022.text.933"/>
          <p:cNvSpPr txBox="1"/>
          <p:nvPr/>
        </p:nvSpPr>
        <p:spPr>
          <a:xfrm>
            <a:off x="6271700" y="44347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63" name="s022.text.8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Producto:Pellet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3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22/72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Google Shape;938;p3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3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s023.text.942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3" name="Google Shape;943;p35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5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5" name="Google Shape;945;p35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46" name="s023.text.946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7" name="s023.text.947"/>
          <p:cNvSpPr txBox="1"/>
          <p:nvPr/>
        </p:nvSpPr>
        <p:spPr>
          <a:xfrm>
            <a:off x="370800" y="2859400"/>
            <a:ext cx="54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8" name="s023.text.948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9" name="s023.text.949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0" name="s023.text.950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1" name="s023.text.951"/>
          <p:cNvSpPr txBox="1"/>
          <p:nvPr/>
        </p:nvSpPr>
        <p:spPr>
          <a:xfrm>
            <a:off x="3421675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2" name="s023.text.952"/>
          <p:cNvSpPr txBox="1"/>
          <p:nvPr/>
        </p:nvSpPr>
        <p:spPr>
          <a:xfrm>
            <a:off x="4867624" y="28587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3" name="Google Shape;953;p35"/>
          <p:cNvSpPr/>
          <p:nvPr/>
        </p:nvSpPr>
        <p:spPr>
          <a:xfrm>
            <a:off x="2267400" y="3236000"/>
            <a:ext cx="26304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35"/>
          <p:cNvSpPr/>
          <p:nvPr/>
        </p:nvSpPr>
        <p:spPr>
          <a:xfrm>
            <a:off x="4897804" y="3236025"/>
            <a:ext cx="542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5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5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35"/>
          <p:cNvSpPr/>
          <p:nvPr/>
        </p:nvSpPr>
        <p:spPr>
          <a:xfrm>
            <a:off x="5439120" y="3236028"/>
            <a:ext cx="1321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5"/>
          <p:cNvSpPr/>
          <p:nvPr/>
        </p:nvSpPr>
        <p:spPr>
          <a:xfrm>
            <a:off x="6725200" y="3236025"/>
            <a:ext cx="10740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5"/>
          <p:cNvSpPr/>
          <p:nvPr/>
        </p:nvSpPr>
        <p:spPr>
          <a:xfrm>
            <a:off x="7769575" y="3236025"/>
            <a:ext cx="8028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s023.text.960"/>
          <p:cNvSpPr txBox="1"/>
          <p:nvPr/>
        </p:nvSpPr>
        <p:spPr>
          <a:xfrm>
            <a:off x="5595637" y="28552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1" name="s023.text.961"/>
          <p:cNvSpPr txBox="1"/>
          <p:nvPr/>
        </p:nvSpPr>
        <p:spPr>
          <a:xfrm>
            <a:off x="6690933" y="2859400"/>
            <a:ext cx="9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2" name="s023.text.962"/>
          <p:cNvSpPr txBox="1"/>
          <p:nvPr/>
        </p:nvSpPr>
        <p:spPr>
          <a:xfrm>
            <a:off x="7846187" y="28530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3" name="Google Shape;963;p35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4" name="Google Shape;964;p35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5" name="Google Shape;965;p35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6" name="Google Shape;966;p35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7" name="Google Shape;967;p35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8" name="Google Shape;968;p35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9" name="Google Shape;969;p35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0" name="Google Shape;970;p35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1" name="s023.text.97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2" name="s023.text.97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3" name="s023.text.97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4" name="s023.text.97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5" name="s023.text.97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6" name="s023.text.97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7" name="s023.text.97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8" name="s023.text.97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9" name="Google Shape;979;p35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0" name="s023.text.980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1" name="s023.text.981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</a:t>
            </a: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2" name="s023.text.982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3" name="s023.text.983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102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4" name="Google Shape;984;p35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5" name="Google Shape;985;p35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6" name="s023.text.986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87" name="s023.text.987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8" name="s023.text.988"/>
          <p:cNvSpPr/>
          <p:nvPr/>
        </p:nvSpPr>
        <p:spPr>
          <a:xfrm>
            <a:off x="458000" y="3762775"/>
            <a:ext cx="44679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89" name="s023.text.989"/>
          <p:cNvSpPr/>
          <p:nvPr/>
        </p:nvSpPr>
        <p:spPr>
          <a:xfrm>
            <a:off x="5440500" y="3762775"/>
            <a:ext cx="31095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90" name="s023.text.990"/>
          <p:cNvSpPr txBox="1"/>
          <p:nvPr/>
        </p:nvSpPr>
        <p:spPr>
          <a:xfrm>
            <a:off x="121157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103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1" name="s023.text.991"/>
          <p:cNvSpPr txBox="1"/>
          <p:nvPr/>
        </p:nvSpPr>
        <p:spPr>
          <a:xfrm>
            <a:off x="683522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71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2" name="s023.text.992"/>
          <p:cNvSpPr txBox="1"/>
          <p:nvPr/>
        </p:nvSpPr>
        <p:spPr>
          <a:xfrm>
            <a:off x="1674375" y="4025350"/>
            <a:ext cx="1074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3" name="s023.text.993"/>
          <p:cNvSpPr txBox="1"/>
          <p:nvPr/>
        </p:nvSpPr>
        <p:spPr>
          <a:xfrm>
            <a:off x="7349500" y="39986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11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4" name="s023.text.994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1" name="s023.text.94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9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23/72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Google Shape;999;p3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3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s024.text.1003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9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4" name="Google Shape;1004;p36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6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6" name="Google Shape;1006;p36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07" name="s024.text.1007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268</a:t>
            </a: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8" name="s024.text.1008"/>
          <p:cNvSpPr txBox="1"/>
          <p:nvPr/>
        </p:nvSpPr>
        <p:spPr>
          <a:xfrm>
            <a:off x="428625" y="2859400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9" name="s024.text.1009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10" name="s024.text.1010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1" name="s024.text.1011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2" name="s024.text.1012"/>
          <p:cNvSpPr txBox="1"/>
          <p:nvPr/>
        </p:nvSpPr>
        <p:spPr>
          <a:xfrm>
            <a:off x="3217513" y="285202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3" name="s024.text.1013"/>
          <p:cNvSpPr txBox="1"/>
          <p:nvPr/>
        </p:nvSpPr>
        <p:spPr>
          <a:xfrm>
            <a:off x="4897938" y="282028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4" name="Google Shape;1014;p36"/>
          <p:cNvSpPr/>
          <p:nvPr/>
        </p:nvSpPr>
        <p:spPr>
          <a:xfrm>
            <a:off x="2267400" y="3236000"/>
            <a:ext cx="25740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6"/>
          <p:cNvSpPr/>
          <p:nvPr/>
        </p:nvSpPr>
        <p:spPr>
          <a:xfrm>
            <a:off x="4825250" y="3240125"/>
            <a:ext cx="824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6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6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6"/>
          <p:cNvSpPr/>
          <p:nvPr/>
        </p:nvSpPr>
        <p:spPr>
          <a:xfrm>
            <a:off x="5612066" y="3240125"/>
            <a:ext cx="922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6"/>
          <p:cNvSpPr/>
          <p:nvPr/>
        </p:nvSpPr>
        <p:spPr>
          <a:xfrm>
            <a:off x="6507780" y="3240125"/>
            <a:ext cx="11691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6"/>
          <p:cNvSpPr/>
          <p:nvPr/>
        </p:nvSpPr>
        <p:spPr>
          <a:xfrm>
            <a:off x="7650152" y="3236025"/>
            <a:ext cx="9222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s024.text.1021"/>
          <p:cNvSpPr txBox="1"/>
          <p:nvPr/>
        </p:nvSpPr>
        <p:spPr>
          <a:xfrm>
            <a:off x="5702862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2" name="s024.text.1022"/>
          <p:cNvSpPr txBox="1"/>
          <p:nvPr/>
        </p:nvSpPr>
        <p:spPr>
          <a:xfrm>
            <a:off x="6732149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3" name="s024.text.1023"/>
          <p:cNvSpPr txBox="1"/>
          <p:nvPr/>
        </p:nvSpPr>
        <p:spPr>
          <a:xfrm>
            <a:off x="7992287" y="28593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4" name="Google Shape;1024;p36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5" name="Google Shape;1025;p36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6" name="Google Shape;1026;p36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7" name="Google Shape;1027;p36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8" name="Google Shape;1028;p36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9" name="Google Shape;1029;p36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0" name="Google Shape;1030;p36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1" name="Google Shape;1031;p36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2" name="s024.text.1032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3" name="s024.text.1033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4" name="s024.text.1034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5" name="s024.text.1035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6" name="s024.text.1036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7" name="s024.text.1037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8" name="s024.text.1038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9" name="s024.text.1039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0" name="Google Shape;1040;p36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1" name="s024.text.1041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27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2" name="s024.text.1042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23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3" name="s024.text.1043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4" name="s024.text.1044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5" name="Google Shape;1045;p36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6" name="Google Shape;1046;p36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7" name="s024.text.1047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048" name="s024.text.1048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9" name="s024.text.1049"/>
          <p:cNvSpPr/>
          <p:nvPr/>
        </p:nvSpPr>
        <p:spPr>
          <a:xfrm>
            <a:off x="458000" y="3762775"/>
            <a:ext cx="436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1050" name="s024.text.1050"/>
          <p:cNvSpPr/>
          <p:nvPr/>
        </p:nvSpPr>
        <p:spPr>
          <a:xfrm>
            <a:off x="5633775" y="3762775"/>
            <a:ext cx="2916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1051" name="s024.text.1051"/>
          <p:cNvSpPr txBox="1"/>
          <p:nvPr/>
        </p:nvSpPr>
        <p:spPr>
          <a:xfrm>
            <a:off x="1931175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2" name="s024.text.1052"/>
          <p:cNvSpPr txBox="1"/>
          <p:nvPr/>
        </p:nvSpPr>
        <p:spPr>
          <a:xfrm>
            <a:off x="6643250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76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3" name="s024.text.1053"/>
          <p:cNvSpPr txBox="1"/>
          <p:nvPr/>
        </p:nvSpPr>
        <p:spPr>
          <a:xfrm>
            <a:off x="2495725" y="40094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4" name="s024.text.1054"/>
          <p:cNvSpPr txBox="1"/>
          <p:nvPr/>
        </p:nvSpPr>
        <p:spPr>
          <a:xfrm>
            <a:off x="6457250" y="44438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5" name="s024.text.1055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02" name="s024.text.100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 30/31/32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24/72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p3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3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s025.text.10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25/72</a:t>
            </a:r>
          </a:p>
        </p:txBody>
      </p:sp>
      <p:graphicFrame>
        <p:nvGraphicFramePr>
          <p:cNvPr id="1064" name="D25_G1"/>
          <p:cNvGraphicFramePr/>
          <p:nvPr/>
        </p:nvGraphicFramePr>
        <p:xfrm>
          <a:off x="1625150" y="743124"/>
          <a:ext cx="6801876" cy="4205827"/>
        </p:xfrm>
        <a:graphic>
          <a:graphicData uri="http://schemas.openxmlformats.org/drawingml/2006/chart">
            <c:chart r:id="rIdManual1008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38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72" name="Google Shape;1072;p3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3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s026.text.1074"/>
          <p:cNvSpPr txBox="1"/>
          <p:nvPr/>
        </p:nvSpPr>
        <p:spPr>
          <a:xfrm>
            <a:off x="1967575" y="1037750"/>
            <a:ext cx="5939400" cy="46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operativo de pellet de girasol se desarrolló entre el </a:t>
            </a:r>
            <a:r>
              <a:rPr b="1" lang="es" sz="1100">
                <a:solidFill>
                  <a:schemeClr val="dk1"/>
                </a:solidFill>
              </a:rPr>
              <a:t>14 y el 15 de septiembre</a:t>
            </a:r>
            <a:r>
              <a:rPr lang="es" sz="1100">
                <a:solidFill>
                  <a:schemeClr val="dk1"/>
                </a:solidFill>
              </a:rPr>
              <a:t>, con un </a:t>
            </a:r>
            <a:r>
              <a:rPr b="1" lang="es" sz="1100">
                <a:solidFill>
                  <a:schemeClr val="dk1"/>
                </a:solidFill>
              </a:rPr>
              <a:t>flujo bajo de camiones</a:t>
            </a:r>
            <a:r>
              <a:rPr lang="es" sz="1100">
                <a:solidFill>
                  <a:schemeClr val="dk1"/>
                </a:solidFill>
              </a:rPr>
              <a:t>. El tiempo medio informado fue de </a:t>
            </a:r>
            <a:r>
              <a:rPr b="1" lang="es" sz="1100">
                <a:solidFill>
                  <a:schemeClr val="dk1"/>
                </a:solidFill>
              </a:rPr>
              <a:t>263 minutos</a:t>
            </a:r>
            <a:r>
              <a:rPr lang="es" sz="1100">
                <a:solidFill>
                  <a:schemeClr val="dk1"/>
                </a:solidFill>
              </a:rPr>
              <a:t>, frente a los </a:t>
            </a:r>
            <a:r>
              <a:rPr b="1" lang="es" sz="1100">
                <a:solidFill>
                  <a:schemeClr val="dk1"/>
                </a:solidFill>
              </a:rPr>
              <a:t>392 minutos de la semana anterior</a:t>
            </a:r>
            <a:r>
              <a:rPr lang="es" sz="1100">
                <a:solidFill>
                  <a:schemeClr val="dk1"/>
                </a:solidFill>
              </a:rPr>
              <a:t>, una reducción de </a:t>
            </a:r>
            <a:r>
              <a:rPr b="1" lang="es" sz="1100">
                <a:solidFill>
                  <a:schemeClr val="dk1"/>
                </a:solidFill>
              </a:rPr>
              <a:t>129 minutos, equivalente al 33%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principal mejora se registró en la </a:t>
            </a:r>
            <a:r>
              <a:rPr b="1" lang="es" sz="1100">
                <a:solidFill>
                  <a:schemeClr val="dk1"/>
                </a:solidFill>
              </a:rPr>
              <a:t>espera en San Lorenzo</a:t>
            </a:r>
            <a:r>
              <a:rPr lang="es" sz="1100">
                <a:solidFill>
                  <a:schemeClr val="dk1"/>
                </a:solidFill>
              </a:rPr>
              <a:t>, que disminuyó de </a:t>
            </a:r>
            <a:r>
              <a:rPr b="1" lang="es" sz="1100">
                <a:solidFill>
                  <a:schemeClr val="dk1"/>
                </a:solidFill>
              </a:rPr>
              <a:t>126 a 20 minutos</a:t>
            </a:r>
            <a:r>
              <a:rPr lang="es" sz="1100">
                <a:solidFill>
                  <a:schemeClr val="dk1"/>
                </a:solidFill>
              </a:rPr>
              <a:t>. Esta reducción de </a:t>
            </a:r>
            <a:r>
              <a:rPr b="1" lang="es" sz="1100">
                <a:solidFill>
                  <a:schemeClr val="dk1"/>
                </a:solidFill>
              </a:rPr>
              <a:t>106 minutos</a:t>
            </a:r>
            <a:r>
              <a:rPr lang="es" sz="1100">
                <a:solidFill>
                  <a:schemeClr val="dk1"/>
                </a:solidFill>
              </a:rPr>
              <a:t> explica la mayor parte de la mejora del tiempo total del operativo.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resultado muestra una menor permanencia en el circuito, especialmente en San Lorenzo. Sin embargo, el </a:t>
            </a:r>
            <a:r>
              <a:rPr b="1" lang="es" sz="1100">
                <a:solidFill>
                  <a:schemeClr val="dk1"/>
                </a:solidFill>
              </a:rPr>
              <a:t>bajo flujo de esta semana</a:t>
            </a:r>
            <a:r>
              <a:rPr lang="es" sz="1100">
                <a:solidFill>
                  <a:schemeClr val="dk1"/>
                </a:solidFill>
              </a:rPr>
              <a:t> debe considerarse al comparar el desempeño y evaluar si estos tiempos se sostienen con una mayor actividad.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071" name="s026.text.10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7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26/72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9" name="Google Shape;107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50" y="0"/>
            <a:ext cx="910765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s027.text.1080"/>
          <p:cNvSpPr txBox="1"/>
          <p:nvPr/>
        </p:nvSpPr>
        <p:spPr>
          <a:xfrm>
            <a:off x="3253875" y="2848175"/>
            <a:ext cx="32145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de los circuitos R5+ R6 y R3 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0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27/72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6" name="Google Shape;1086;p4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4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s028.text.1090"/>
          <p:cNvSpPr txBox="1"/>
          <p:nvPr/>
        </p:nvSpPr>
        <p:spPr>
          <a:xfrm>
            <a:off x="3875136" y="3531851"/>
            <a:ext cx="703800" cy="43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59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86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1" name="s028.text.1091"/>
          <p:cNvSpPr txBox="1"/>
          <p:nvPr/>
        </p:nvSpPr>
        <p:spPr>
          <a:xfrm>
            <a:off x="2729547" y="3601520"/>
            <a:ext cx="63108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318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rPr b="1" lang="es" sz="1318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093" name="Google Shape;1093;p40"/>
          <p:cNvSpPr/>
          <p:nvPr/>
        </p:nvSpPr>
        <p:spPr>
          <a:xfrm>
            <a:off x="1357025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40"/>
          <p:cNvSpPr/>
          <p:nvPr/>
        </p:nvSpPr>
        <p:spPr>
          <a:xfrm>
            <a:off x="2656963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40"/>
          <p:cNvSpPr/>
          <p:nvPr/>
        </p:nvSpPr>
        <p:spPr>
          <a:xfrm>
            <a:off x="3857100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40"/>
          <p:cNvSpPr/>
          <p:nvPr/>
        </p:nvSpPr>
        <p:spPr>
          <a:xfrm>
            <a:off x="1438125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40"/>
          <p:cNvSpPr/>
          <p:nvPr/>
        </p:nvSpPr>
        <p:spPr>
          <a:xfrm>
            <a:off x="2738063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40"/>
          <p:cNvSpPr/>
          <p:nvPr/>
        </p:nvSpPr>
        <p:spPr>
          <a:xfrm>
            <a:off x="3938200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s028.text.1099"/>
          <p:cNvSpPr txBox="1"/>
          <p:nvPr/>
        </p:nvSpPr>
        <p:spPr>
          <a:xfrm>
            <a:off x="13719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0" name="s028.text.1100"/>
          <p:cNvSpPr txBox="1"/>
          <p:nvPr/>
        </p:nvSpPr>
        <p:spPr>
          <a:xfrm>
            <a:off x="1470251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101" name="Google Shape;1101;p40"/>
          <p:cNvSpPr/>
          <p:nvPr/>
        </p:nvSpPr>
        <p:spPr>
          <a:xfrm>
            <a:off x="5138325" y="4295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40"/>
          <p:cNvSpPr/>
          <p:nvPr/>
        </p:nvSpPr>
        <p:spPr>
          <a:xfrm>
            <a:off x="5219425" y="4335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s028.text.1103"/>
          <p:cNvSpPr txBox="1"/>
          <p:nvPr/>
        </p:nvSpPr>
        <p:spPr>
          <a:xfrm>
            <a:off x="285252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4" name="s028.text.1104"/>
          <p:cNvSpPr txBox="1"/>
          <p:nvPr/>
        </p:nvSpPr>
        <p:spPr>
          <a:xfrm>
            <a:off x="280067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105" name="s028.text.1105"/>
          <p:cNvSpPr txBox="1"/>
          <p:nvPr/>
        </p:nvSpPr>
        <p:spPr>
          <a:xfrm>
            <a:off x="40260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6" name="s028.text.1106"/>
          <p:cNvSpPr txBox="1"/>
          <p:nvPr/>
        </p:nvSpPr>
        <p:spPr>
          <a:xfrm>
            <a:off x="397422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107" name="s028.text.1107"/>
          <p:cNvSpPr txBox="1"/>
          <p:nvPr/>
        </p:nvSpPr>
        <p:spPr>
          <a:xfrm>
            <a:off x="5290000" y="4295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8" name="s028.text.1108"/>
          <p:cNvSpPr txBox="1"/>
          <p:nvPr/>
        </p:nvSpPr>
        <p:spPr>
          <a:xfrm>
            <a:off x="5238151" y="4495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089" name="s028.text.108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Circuitos 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0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28/72</a:t>
            </a:r>
          </a:p>
        </p:txBody>
      </p:sp>
      <p:sp>
        <p:nvSpPr>
          <p:cNvPr id="1110" name="TextBox 1109"/>
          <p:cNvSpPr txBox="1"/>
          <p:nvPr/>
        </p:nvSpPr>
        <p:spPr>
          <a:xfrm>
            <a:off x="3805154" y="1172153"/>
            <a:ext cx="4118034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Distribución de calidad de lectura</a:t>
            </a:r>
          </a:p>
        </p:txBody>
      </p:sp>
      <p:sp>
        <p:nvSpPr>
          <p:cNvPr id="1111" name="TextBox 1110"/>
          <p:cNvSpPr txBox="1"/>
          <p:nvPr/>
        </p:nvSpPr>
        <p:spPr>
          <a:xfrm>
            <a:off x="3805154" y="1502153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Todas</a:t>
            </a:r>
          </a:p>
        </p:txBody>
      </p:sp>
      <p:sp>
        <p:nvSpPr>
          <p:cNvPr id="1112" name="Rectangle 1111"/>
          <p:cNvSpPr/>
          <p:nvPr/>
        </p:nvSpPr>
        <p:spPr>
          <a:xfrm>
            <a:off x="5040564" y="1603421"/>
            <a:ext cx="2722295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TextBox 1112"/>
          <p:cNvSpPr txBox="1"/>
          <p:nvPr/>
        </p:nvSpPr>
        <p:spPr>
          <a:xfrm>
            <a:off x="6512859" y="1603421"/>
            <a:ext cx="121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296  (60%)</a:t>
            </a:r>
          </a:p>
        </p:txBody>
      </p:sp>
      <p:sp>
        <p:nvSpPr>
          <p:cNvPr id="1114" name="TextBox 1113"/>
          <p:cNvSpPr txBox="1"/>
          <p:nvPr/>
        </p:nvSpPr>
        <p:spPr>
          <a:xfrm>
            <a:off x="3805154" y="1984380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6 Cámaras</a:t>
            </a:r>
          </a:p>
        </p:txBody>
      </p:sp>
      <p:sp>
        <p:nvSpPr>
          <p:cNvPr id="1115" name="Rectangle 1114"/>
          <p:cNvSpPr/>
          <p:nvPr/>
        </p:nvSpPr>
        <p:spPr>
          <a:xfrm>
            <a:off x="5040564" y="2085648"/>
            <a:ext cx="910497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TextBox 1115"/>
          <p:cNvSpPr txBox="1"/>
          <p:nvPr/>
        </p:nvSpPr>
        <p:spPr>
          <a:xfrm>
            <a:off x="5976061" y="2085648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99  (20%)</a:t>
            </a:r>
          </a:p>
        </p:txBody>
      </p:sp>
      <p:sp>
        <p:nvSpPr>
          <p:cNvPr id="1117" name="TextBox 1116"/>
          <p:cNvSpPr txBox="1"/>
          <p:nvPr/>
        </p:nvSpPr>
        <p:spPr>
          <a:xfrm>
            <a:off x="3805154" y="2466607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5 Cámaras</a:t>
            </a:r>
          </a:p>
        </p:txBody>
      </p:sp>
      <p:sp>
        <p:nvSpPr>
          <p:cNvPr id="1118" name="Rectangle 1117"/>
          <p:cNvSpPr/>
          <p:nvPr/>
        </p:nvSpPr>
        <p:spPr>
          <a:xfrm>
            <a:off x="5040564" y="2567875"/>
            <a:ext cx="432256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TextBox 1118"/>
          <p:cNvSpPr txBox="1"/>
          <p:nvPr/>
        </p:nvSpPr>
        <p:spPr>
          <a:xfrm>
            <a:off x="5497820" y="2567875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47  (9,1%)</a:t>
            </a:r>
          </a:p>
        </p:txBody>
      </p:sp>
      <p:sp>
        <p:nvSpPr>
          <p:cNvPr id="1120" name="TextBox 1119"/>
          <p:cNvSpPr txBox="1"/>
          <p:nvPr/>
        </p:nvSpPr>
        <p:spPr>
          <a:xfrm>
            <a:off x="3805154" y="2948834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≤ 4 Cámaras</a:t>
            </a:r>
          </a:p>
        </p:txBody>
      </p:sp>
      <p:sp>
        <p:nvSpPr>
          <p:cNvPr id="1121" name="Rectangle 1120"/>
          <p:cNvSpPr/>
          <p:nvPr/>
        </p:nvSpPr>
        <p:spPr>
          <a:xfrm>
            <a:off x="5040564" y="3050102"/>
            <a:ext cx="469044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TextBox 1121"/>
          <p:cNvSpPr txBox="1"/>
          <p:nvPr/>
        </p:nvSpPr>
        <p:spPr>
          <a:xfrm>
            <a:off x="5534608" y="3050102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51  (10,9%)</a:t>
            </a:r>
          </a:p>
        </p:txBody>
      </p:sp>
      <p:graphicFrame>
        <p:nvGraphicFramePr>
          <p:cNvPr id="1092" name="D28_G2"/>
          <p:cNvGraphicFramePr/>
          <p:nvPr/>
        </p:nvGraphicFramePr>
        <p:xfrm>
          <a:off x="416400" y="1572352"/>
          <a:ext cx="3310476" cy="1796187"/>
        </p:xfrm>
        <a:graphic>
          <a:graphicData uri="http://schemas.openxmlformats.org/drawingml/2006/chart">
            <c:chart r:id="rIdManual1010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3" name="Google Shape;1113;p41" title="A2_3D_20260609_142649.png"/>
          <p:cNvPicPr preferRelativeResize="0"/>
          <p:nvPr/>
        </p:nvPicPr>
        <p:blipFill rotWithShape="1">
          <a:blip r:embed="rId3">
            <a:alphaModFix/>
          </a:blip>
          <a:srcRect b="0" l="0" r="0" t="30011"/>
          <a:stretch/>
        </p:blipFill>
        <p:spPr>
          <a:xfrm>
            <a:off x="1073575" y="1744024"/>
            <a:ext cx="7498952" cy="3157302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41"/>
          <p:cNvSpPr/>
          <p:nvPr/>
        </p:nvSpPr>
        <p:spPr>
          <a:xfrm>
            <a:off x="3663182" y="423580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5" name="Google Shape;1115;p41"/>
          <p:cNvSpPr/>
          <p:nvPr/>
        </p:nvSpPr>
        <p:spPr>
          <a:xfrm>
            <a:off x="3289076" y="3507385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6" name="Google Shape;1116;p41"/>
          <p:cNvSpPr/>
          <p:nvPr/>
        </p:nvSpPr>
        <p:spPr>
          <a:xfrm>
            <a:off x="4708493" y="4388728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7" name="Google Shape;1117;p41"/>
          <p:cNvSpPr/>
          <p:nvPr/>
        </p:nvSpPr>
        <p:spPr>
          <a:xfrm>
            <a:off x="4587994" y="2938524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8" name="s029.text.1118"/>
          <p:cNvSpPr txBox="1"/>
          <p:nvPr/>
        </p:nvSpPr>
        <p:spPr>
          <a:xfrm>
            <a:off x="3648769" y="418113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19" name="s029.text.1119"/>
          <p:cNvSpPr txBox="1"/>
          <p:nvPr/>
        </p:nvSpPr>
        <p:spPr>
          <a:xfrm>
            <a:off x="3274663" y="3452631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0" name="s029.text.1120"/>
          <p:cNvSpPr txBox="1"/>
          <p:nvPr/>
        </p:nvSpPr>
        <p:spPr>
          <a:xfrm>
            <a:off x="4679675" y="4334049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1" name="s029.text.1121"/>
          <p:cNvSpPr txBox="1"/>
          <p:nvPr/>
        </p:nvSpPr>
        <p:spPr>
          <a:xfrm>
            <a:off x="4547052" y="288377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122" name="Google Shape;1122;p41"/>
          <p:cNvCxnSpPr/>
          <p:nvPr/>
        </p:nvCxnSpPr>
        <p:spPr>
          <a:xfrm rot="10800000">
            <a:off x="3187284" y="3815275"/>
            <a:ext cx="1509300" cy="9012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3" name="Google Shape;1123;p41"/>
          <p:cNvCxnSpPr/>
          <p:nvPr/>
        </p:nvCxnSpPr>
        <p:spPr>
          <a:xfrm>
            <a:off x="3289067" y="3684987"/>
            <a:ext cx="554700" cy="3261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4" name="Google Shape;1124;p41"/>
          <p:cNvCxnSpPr>
            <a:endCxn id="1120" idx="2"/>
          </p:cNvCxnSpPr>
          <p:nvPr/>
        </p:nvCxnSpPr>
        <p:spPr>
          <a:xfrm>
            <a:off x="4097225" y="4164549"/>
            <a:ext cx="690300" cy="4566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41"/>
          <p:cNvCxnSpPr>
            <a:stCxn id="1120" idx="2"/>
          </p:cNvCxnSpPr>
          <p:nvPr/>
        </p:nvCxnSpPr>
        <p:spPr>
          <a:xfrm flipH="1" rot="10800000">
            <a:off x="4787525" y="4228149"/>
            <a:ext cx="665100" cy="393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41"/>
          <p:cNvCxnSpPr/>
          <p:nvPr/>
        </p:nvCxnSpPr>
        <p:spPr>
          <a:xfrm rot="10800000">
            <a:off x="5310023" y="4133925"/>
            <a:ext cx="143700" cy="102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7" name="Google Shape;1127;p41"/>
          <p:cNvCxnSpPr/>
          <p:nvPr/>
        </p:nvCxnSpPr>
        <p:spPr>
          <a:xfrm>
            <a:off x="5225218" y="4046227"/>
            <a:ext cx="279600" cy="1545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128" name="Google Shape;1128;p41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p41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41"/>
          <p:cNvSpPr/>
          <p:nvPr/>
        </p:nvSpPr>
        <p:spPr>
          <a:xfrm>
            <a:off x="3864046" y="2766525"/>
            <a:ext cx="1654075" cy="1597450"/>
          </a:xfrm>
          <a:custGeom>
            <a:rect b="b" l="l" r="r" t="t"/>
            <a:pathLst>
              <a:path extrusionOk="0" h="63898" w="66163">
                <a:moveTo>
                  <a:pt x="54187" y="51671"/>
                </a:moveTo>
                <a:cubicBezTo>
                  <a:pt x="51816" y="53038"/>
                  <a:pt x="43308" y="57968"/>
                  <a:pt x="39959" y="59870"/>
                </a:cubicBezTo>
                <a:cubicBezTo>
                  <a:pt x="36610" y="61772"/>
                  <a:pt x="36383" y="62670"/>
                  <a:pt x="34092" y="63085"/>
                </a:cubicBezTo>
                <a:cubicBezTo>
                  <a:pt x="31801" y="63500"/>
                  <a:pt x="31560" y="65014"/>
                  <a:pt x="26215" y="62361"/>
                </a:cubicBezTo>
                <a:cubicBezTo>
                  <a:pt x="20870" y="59709"/>
                  <a:pt x="6039" y="51926"/>
                  <a:pt x="2020" y="47170"/>
                </a:cubicBezTo>
                <a:cubicBezTo>
                  <a:pt x="-1999" y="42414"/>
                  <a:pt x="1043" y="36801"/>
                  <a:pt x="2101" y="33827"/>
                </a:cubicBezTo>
                <a:cubicBezTo>
                  <a:pt x="3159" y="30853"/>
                  <a:pt x="2677" y="32728"/>
                  <a:pt x="8370" y="29325"/>
                </a:cubicBezTo>
                <a:cubicBezTo>
                  <a:pt x="14064" y="25922"/>
                  <a:pt x="27903" y="18152"/>
                  <a:pt x="36262" y="13410"/>
                </a:cubicBezTo>
                <a:cubicBezTo>
                  <a:pt x="44622" y="8668"/>
                  <a:pt x="53544" y="2921"/>
                  <a:pt x="58527" y="871"/>
                </a:cubicBezTo>
                <a:cubicBezTo>
                  <a:pt x="63511" y="-1179"/>
                  <a:pt x="64890" y="1072"/>
                  <a:pt x="66163" y="1112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33" name="Google Shape;1133;p41"/>
          <p:cNvSpPr/>
          <p:nvPr/>
        </p:nvSpPr>
        <p:spPr>
          <a:xfrm>
            <a:off x="5548275" y="2918925"/>
            <a:ext cx="826075" cy="857825"/>
          </a:xfrm>
          <a:custGeom>
            <a:rect b="b" l="l" r="r" t="t"/>
            <a:pathLst>
              <a:path extrusionOk="0" h="34313" w="33043">
                <a:moveTo>
                  <a:pt x="7475" y="0"/>
                </a:moveTo>
                <a:cubicBezTo>
                  <a:pt x="10128" y="1447"/>
                  <a:pt x="19518" y="6256"/>
                  <a:pt x="23390" y="8681"/>
                </a:cubicBezTo>
                <a:cubicBezTo>
                  <a:pt x="27262" y="11106"/>
                  <a:pt x="29178" y="12967"/>
                  <a:pt x="30705" y="14548"/>
                </a:cubicBezTo>
                <a:cubicBezTo>
                  <a:pt x="32232" y="16129"/>
                  <a:pt x="33880" y="16531"/>
                  <a:pt x="32554" y="18165"/>
                </a:cubicBezTo>
                <a:cubicBezTo>
                  <a:pt x="31228" y="19800"/>
                  <a:pt x="25842" y="22587"/>
                  <a:pt x="22747" y="24355"/>
                </a:cubicBezTo>
                <a:cubicBezTo>
                  <a:pt x="19652" y="26124"/>
                  <a:pt x="16759" y="27209"/>
                  <a:pt x="13986" y="28776"/>
                </a:cubicBezTo>
                <a:cubicBezTo>
                  <a:pt x="11213" y="30343"/>
                  <a:pt x="8440" y="32848"/>
                  <a:pt x="6109" y="33759"/>
                </a:cubicBezTo>
                <a:cubicBezTo>
                  <a:pt x="3778" y="34670"/>
                  <a:pt x="1018" y="34161"/>
                  <a:pt x="0" y="34241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134" name="Google Shape;1134;p41"/>
          <p:cNvCxnSpPr/>
          <p:nvPr/>
        </p:nvCxnSpPr>
        <p:spPr>
          <a:xfrm flipH="1" rot="10800000">
            <a:off x="5240825" y="3853375"/>
            <a:ext cx="180900" cy="1989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5" name="Google Shape;1135;p41"/>
          <p:cNvCxnSpPr/>
          <p:nvPr/>
        </p:nvCxnSpPr>
        <p:spPr>
          <a:xfrm>
            <a:off x="5517125" y="2801350"/>
            <a:ext cx="215100" cy="1227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6" name="Google Shape;1136;p41"/>
          <p:cNvSpPr/>
          <p:nvPr/>
        </p:nvSpPr>
        <p:spPr>
          <a:xfrm>
            <a:off x="5891819" y="28316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7" name="s029.text.1137"/>
          <p:cNvSpPr txBox="1"/>
          <p:nvPr/>
        </p:nvSpPr>
        <p:spPr>
          <a:xfrm>
            <a:off x="5853464" y="277694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38" name="Google Shape;1138;p41"/>
          <p:cNvSpPr/>
          <p:nvPr/>
        </p:nvSpPr>
        <p:spPr>
          <a:xfrm>
            <a:off x="5379719" y="39423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9" name="s029.text.1139"/>
          <p:cNvSpPr txBox="1"/>
          <p:nvPr/>
        </p:nvSpPr>
        <p:spPr>
          <a:xfrm>
            <a:off x="5350927" y="388879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40" name="Google Shape;1140;p41"/>
          <p:cNvSpPr txBox="1"/>
          <p:nvPr/>
        </p:nvSpPr>
        <p:spPr>
          <a:xfrm>
            <a:off x="3505971" y="1132150"/>
            <a:ext cx="547200" cy="1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325" lIns="83325" spcFirstLastPara="1" rIns="83325" wrap="square" tIns="83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1" name="Google Shape;1141;p41"/>
          <p:cNvSpPr/>
          <p:nvPr/>
        </p:nvSpPr>
        <p:spPr>
          <a:xfrm>
            <a:off x="605905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2" name="Google Shape;1142;p41"/>
          <p:cNvSpPr/>
          <p:nvPr/>
        </p:nvSpPr>
        <p:spPr>
          <a:xfrm>
            <a:off x="520425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3" name="s029.text.1143"/>
          <p:cNvSpPr txBox="1"/>
          <p:nvPr/>
        </p:nvSpPr>
        <p:spPr>
          <a:xfrm>
            <a:off x="520425" y="983277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4" name="s029.text.1144"/>
          <p:cNvSpPr txBox="1"/>
          <p:nvPr/>
        </p:nvSpPr>
        <p:spPr>
          <a:xfrm>
            <a:off x="542145" y="1210254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5" name="Google Shape;1145;p41"/>
          <p:cNvSpPr/>
          <p:nvPr/>
        </p:nvSpPr>
        <p:spPr>
          <a:xfrm>
            <a:off x="2062835" y="920125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6" name="Google Shape;1146;p41"/>
          <p:cNvSpPr/>
          <p:nvPr/>
        </p:nvSpPr>
        <p:spPr>
          <a:xfrm>
            <a:off x="1977355" y="920125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7" name="s029.text.1147"/>
          <p:cNvSpPr txBox="1"/>
          <p:nvPr/>
        </p:nvSpPr>
        <p:spPr>
          <a:xfrm>
            <a:off x="1977355" y="962439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:Espera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8" name="s029.text.1148"/>
          <p:cNvSpPr txBox="1"/>
          <p:nvPr/>
        </p:nvSpPr>
        <p:spPr>
          <a:xfrm>
            <a:off x="1999075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9" name="Google Shape;1149;p41"/>
          <p:cNvSpPr/>
          <p:nvPr/>
        </p:nvSpPr>
        <p:spPr>
          <a:xfrm>
            <a:off x="3463461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0" name="Google Shape;1150;p41"/>
          <p:cNvSpPr/>
          <p:nvPr/>
        </p:nvSpPr>
        <p:spPr>
          <a:xfrm>
            <a:off x="3377981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1" name="s029.text.1151"/>
          <p:cNvSpPr txBox="1"/>
          <p:nvPr/>
        </p:nvSpPr>
        <p:spPr>
          <a:xfrm>
            <a:off x="3377979" y="962450"/>
            <a:ext cx="11124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P.Bruto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2" name="s029.text.1152"/>
          <p:cNvSpPr txBox="1"/>
          <p:nvPr/>
        </p:nvSpPr>
        <p:spPr>
          <a:xfrm>
            <a:off x="3399701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3" name="Google Shape;1153;p41"/>
          <p:cNvSpPr/>
          <p:nvPr/>
        </p:nvSpPr>
        <p:spPr>
          <a:xfrm>
            <a:off x="4813627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4" name="Google Shape;1154;p41"/>
          <p:cNvSpPr/>
          <p:nvPr/>
        </p:nvSpPr>
        <p:spPr>
          <a:xfrm>
            <a:off x="4728148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5" name="s029.text.1155"/>
          <p:cNvSpPr txBox="1"/>
          <p:nvPr/>
        </p:nvSpPr>
        <p:spPr>
          <a:xfrm>
            <a:off x="4728150" y="962450"/>
            <a:ext cx="13857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 : Playa 3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6" name="s029.text.1156"/>
          <p:cNvSpPr txBox="1"/>
          <p:nvPr/>
        </p:nvSpPr>
        <p:spPr>
          <a:xfrm>
            <a:off x="4749868" y="1189428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7" name="Google Shape;1157;p41"/>
          <p:cNvSpPr/>
          <p:nvPr/>
        </p:nvSpPr>
        <p:spPr>
          <a:xfrm>
            <a:off x="61637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8" name="Google Shape;1158;p41"/>
          <p:cNvSpPr/>
          <p:nvPr/>
        </p:nvSpPr>
        <p:spPr>
          <a:xfrm>
            <a:off x="60783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9" name="s029.text.1159"/>
          <p:cNvSpPr txBox="1"/>
          <p:nvPr/>
        </p:nvSpPr>
        <p:spPr>
          <a:xfrm>
            <a:off x="60783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5: Descarga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0" name="s029.text.1160"/>
          <p:cNvSpPr txBox="1"/>
          <p:nvPr/>
        </p:nvSpPr>
        <p:spPr>
          <a:xfrm>
            <a:off x="61000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→ Volcable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1" name="Google Shape;1161;p41"/>
          <p:cNvSpPr/>
          <p:nvPr/>
        </p:nvSpPr>
        <p:spPr>
          <a:xfrm>
            <a:off x="75426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2" name="Google Shape;1162;p41"/>
          <p:cNvSpPr/>
          <p:nvPr/>
        </p:nvSpPr>
        <p:spPr>
          <a:xfrm>
            <a:off x="74572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3" name="s029.text.1163"/>
          <p:cNvSpPr txBox="1"/>
          <p:nvPr/>
        </p:nvSpPr>
        <p:spPr>
          <a:xfrm>
            <a:off x="74572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P. Tara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4" name="s029.text.1164"/>
          <p:cNvSpPr txBox="1"/>
          <p:nvPr/>
        </p:nvSpPr>
        <p:spPr>
          <a:xfrm>
            <a:off x="74789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5" name="s029.text.1165"/>
          <p:cNvSpPr txBox="1"/>
          <p:nvPr/>
        </p:nvSpPr>
        <p:spPr>
          <a:xfrm>
            <a:off x="16166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6" name="s029.text.1166"/>
          <p:cNvSpPr txBox="1"/>
          <p:nvPr/>
        </p:nvSpPr>
        <p:spPr>
          <a:xfrm>
            <a:off x="29920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7" name="s029.text.1167"/>
          <p:cNvSpPr txBox="1"/>
          <p:nvPr/>
        </p:nvSpPr>
        <p:spPr>
          <a:xfrm>
            <a:off x="4395700" y="1019925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8" name="s029.text.1168"/>
          <p:cNvSpPr txBox="1"/>
          <p:nvPr/>
        </p:nvSpPr>
        <p:spPr>
          <a:xfrm>
            <a:off x="57710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9" name="s029.text.1169"/>
          <p:cNvSpPr txBox="1"/>
          <p:nvPr/>
        </p:nvSpPr>
        <p:spPr>
          <a:xfrm>
            <a:off x="71143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1" name="s029.text.11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 y R6 | Producto:Girasol</a:t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117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29/72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p4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4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s030.text.1178"/>
          <p:cNvSpPr txBox="1"/>
          <p:nvPr/>
        </p:nvSpPr>
        <p:spPr>
          <a:xfrm>
            <a:off x="2172375" y="27780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133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9" name="Google Shape;1179;p42"/>
          <p:cNvSpPr/>
          <p:nvPr/>
        </p:nvSpPr>
        <p:spPr>
          <a:xfrm>
            <a:off x="1583725" y="3191575"/>
            <a:ext cx="21603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42"/>
          <p:cNvSpPr/>
          <p:nvPr/>
        </p:nvSpPr>
        <p:spPr>
          <a:xfrm>
            <a:off x="1292900" y="3191600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1" name="Google Shape;1181;p42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82" name="Google Shape;1182;p42"/>
          <p:cNvSpPr/>
          <p:nvPr/>
        </p:nvSpPr>
        <p:spPr>
          <a:xfrm>
            <a:off x="142810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42"/>
          <p:cNvSpPr/>
          <p:nvPr/>
        </p:nvSpPr>
        <p:spPr>
          <a:xfrm>
            <a:off x="221595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4" name="Google Shape;1184;p42"/>
          <p:cNvCxnSpPr>
            <a:stCxn id="1182" idx="6"/>
            <a:endCxn id="1183" idx="2"/>
          </p:cNvCxnSpPr>
          <p:nvPr/>
        </p:nvCxnSpPr>
        <p:spPr>
          <a:xfrm>
            <a:off x="1605100" y="145825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5" name="Google Shape;1185;p42"/>
          <p:cNvCxnSpPr/>
          <p:nvPr/>
        </p:nvCxnSpPr>
        <p:spPr>
          <a:xfrm>
            <a:off x="2395625" y="1455250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6" name="Google Shape;1186;p42"/>
          <p:cNvSpPr/>
          <p:nvPr/>
        </p:nvSpPr>
        <p:spPr>
          <a:xfrm>
            <a:off x="3533300" y="1379675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s030.text.1187"/>
          <p:cNvSpPr txBox="1"/>
          <p:nvPr/>
        </p:nvSpPr>
        <p:spPr>
          <a:xfrm>
            <a:off x="1536375" y="11143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8" name="s030.text.1188"/>
          <p:cNvSpPr txBox="1"/>
          <p:nvPr/>
        </p:nvSpPr>
        <p:spPr>
          <a:xfrm>
            <a:off x="2026425" y="14974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9" name="s030.text.1189"/>
          <p:cNvSpPr txBox="1"/>
          <p:nvPr/>
        </p:nvSpPr>
        <p:spPr>
          <a:xfrm>
            <a:off x="1242525" y="14853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0" name="s030.text.1190"/>
          <p:cNvSpPr txBox="1"/>
          <p:nvPr/>
        </p:nvSpPr>
        <p:spPr>
          <a:xfrm>
            <a:off x="3084800" y="15203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1" name="s030.text.1191"/>
          <p:cNvSpPr txBox="1"/>
          <p:nvPr/>
        </p:nvSpPr>
        <p:spPr>
          <a:xfrm>
            <a:off x="2615250" y="11143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2" name="s030.text.1192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3" name="s030.text.1193"/>
          <p:cNvSpPr txBox="1"/>
          <p:nvPr/>
        </p:nvSpPr>
        <p:spPr>
          <a:xfrm>
            <a:off x="1292900" y="2826438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4" name="s030.text.119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95" name="Google Shape;1195;p42"/>
          <p:cNvSpPr/>
          <p:nvPr/>
        </p:nvSpPr>
        <p:spPr>
          <a:xfrm>
            <a:off x="43578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6" name="Google Shape;1196;p42"/>
          <p:cNvCxnSpPr>
            <a:endCxn id="1195" idx="2"/>
          </p:cNvCxnSpPr>
          <p:nvPr/>
        </p:nvCxnSpPr>
        <p:spPr>
          <a:xfrm>
            <a:off x="3715850" y="1457900"/>
            <a:ext cx="642000" cy="30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7" name="Google Shape;1197;p42"/>
          <p:cNvSpPr/>
          <p:nvPr/>
        </p:nvSpPr>
        <p:spPr>
          <a:xfrm>
            <a:off x="51457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8" name="Google Shape;1198;p42"/>
          <p:cNvCxnSpPr>
            <a:endCxn id="1197" idx="2"/>
          </p:cNvCxnSpPr>
          <p:nvPr/>
        </p:nvCxnSpPr>
        <p:spPr>
          <a:xfrm>
            <a:off x="4534950" y="146090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9" name="Google Shape;1199;p42"/>
          <p:cNvSpPr/>
          <p:nvPr/>
        </p:nvSpPr>
        <p:spPr>
          <a:xfrm>
            <a:off x="636430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0" name="Google Shape;1200;p42"/>
          <p:cNvCxnSpPr>
            <a:stCxn id="1197" idx="6"/>
            <a:endCxn id="1199" idx="2"/>
          </p:cNvCxnSpPr>
          <p:nvPr/>
        </p:nvCxnSpPr>
        <p:spPr>
          <a:xfrm>
            <a:off x="5322750" y="1460900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1" name="Google Shape;1201;p42"/>
          <p:cNvSpPr/>
          <p:nvPr/>
        </p:nvSpPr>
        <p:spPr>
          <a:xfrm>
            <a:off x="75093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2" name="Google Shape;1202;p42"/>
          <p:cNvCxnSpPr>
            <a:stCxn id="1199" idx="6"/>
            <a:endCxn id="1201" idx="2"/>
          </p:cNvCxnSpPr>
          <p:nvPr/>
        </p:nvCxnSpPr>
        <p:spPr>
          <a:xfrm>
            <a:off x="6541300" y="1460900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3" name="s030.text.1203"/>
          <p:cNvSpPr txBox="1"/>
          <p:nvPr/>
        </p:nvSpPr>
        <p:spPr>
          <a:xfrm>
            <a:off x="4140275" y="1508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Balanza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4" name="s030.text.1204"/>
          <p:cNvSpPr txBox="1"/>
          <p:nvPr/>
        </p:nvSpPr>
        <p:spPr>
          <a:xfrm>
            <a:off x="4977450" y="15082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5" name="s030.text.1205"/>
          <p:cNvSpPr txBox="1"/>
          <p:nvPr/>
        </p:nvSpPr>
        <p:spPr>
          <a:xfrm>
            <a:off x="6212875" y="1508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6" name="s030.text.1206"/>
          <p:cNvSpPr txBox="1"/>
          <p:nvPr/>
        </p:nvSpPr>
        <p:spPr>
          <a:xfrm>
            <a:off x="7348575" y="15303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7" name="s030.text.1207"/>
          <p:cNvSpPr txBox="1"/>
          <p:nvPr/>
        </p:nvSpPr>
        <p:spPr>
          <a:xfrm>
            <a:off x="3694125" y="1106899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P.Bruto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8" name="s030.text.1208"/>
          <p:cNvSpPr txBox="1"/>
          <p:nvPr/>
        </p:nvSpPr>
        <p:spPr>
          <a:xfrm>
            <a:off x="6544900" y="109048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9" name="s030.text.1209"/>
          <p:cNvSpPr txBox="1"/>
          <p:nvPr/>
        </p:nvSpPr>
        <p:spPr>
          <a:xfrm>
            <a:off x="5363075" y="10595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0" name="s030.text.1210"/>
          <p:cNvSpPr txBox="1"/>
          <p:nvPr/>
        </p:nvSpPr>
        <p:spPr>
          <a:xfrm>
            <a:off x="3819613" y="2797638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1" name="s030.text.1211"/>
          <p:cNvSpPr txBox="1"/>
          <p:nvPr/>
        </p:nvSpPr>
        <p:spPr>
          <a:xfrm>
            <a:off x="4454005" y="2797650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2" name="s030.text.1212"/>
          <p:cNvSpPr txBox="1"/>
          <p:nvPr/>
        </p:nvSpPr>
        <p:spPr>
          <a:xfrm>
            <a:off x="5947325" y="28264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3" name="s030.text.1213"/>
          <p:cNvSpPr txBox="1"/>
          <p:nvPr/>
        </p:nvSpPr>
        <p:spPr>
          <a:xfrm>
            <a:off x="7414912" y="285200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4" name="Google Shape;1214;p42"/>
          <p:cNvSpPr/>
          <p:nvPr/>
        </p:nvSpPr>
        <p:spPr>
          <a:xfrm>
            <a:off x="4963950" y="3197125"/>
            <a:ext cx="24468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42"/>
          <p:cNvSpPr/>
          <p:nvPr/>
        </p:nvSpPr>
        <p:spPr>
          <a:xfrm>
            <a:off x="7399250" y="3197125"/>
            <a:ext cx="407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42"/>
          <p:cNvSpPr/>
          <p:nvPr/>
        </p:nvSpPr>
        <p:spPr>
          <a:xfrm>
            <a:off x="4533777" y="3197125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42"/>
          <p:cNvSpPr/>
          <p:nvPr/>
        </p:nvSpPr>
        <p:spPr>
          <a:xfrm>
            <a:off x="3731075" y="3191600"/>
            <a:ext cx="8028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42"/>
          <p:cNvSpPr/>
          <p:nvPr/>
        </p:nvSpPr>
        <p:spPr>
          <a:xfrm>
            <a:off x="5383850" y="40198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19" name="Google Shape;1219;p42"/>
          <p:cNvSpPr/>
          <p:nvPr/>
        </p:nvSpPr>
        <p:spPr>
          <a:xfrm>
            <a:off x="5488261" y="40717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20" name="s030.text.1220"/>
          <p:cNvSpPr txBox="1"/>
          <p:nvPr/>
        </p:nvSpPr>
        <p:spPr>
          <a:xfrm>
            <a:off x="5453404" y="40717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221" name="s030.text.1221"/>
          <p:cNvSpPr txBox="1"/>
          <p:nvPr/>
        </p:nvSpPr>
        <p:spPr>
          <a:xfrm>
            <a:off x="5592674" y="42724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2" name="s030.text.1222"/>
          <p:cNvSpPr txBox="1"/>
          <p:nvPr/>
        </p:nvSpPr>
        <p:spPr>
          <a:xfrm>
            <a:off x="4435350" y="109417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ingreso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7" name="s030.text.117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30/72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7" name="Google Shape;1227;p4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4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s031.text.12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31/72</a:t>
            </a:r>
          </a:p>
        </p:txBody>
      </p:sp>
      <p:graphicFrame>
        <p:nvGraphicFramePr>
          <p:cNvPr id="1231" name="D31_G1"/>
          <p:cNvGraphicFramePr/>
          <p:nvPr/>
        </p:nvGraphicFramePr>
        <p:xfrm>
          <a:off x="4709000" y="852825"/>
          <a:ext cx="4282599" cy="2494624"/>
        </p:xfrm>
        <a:graphic>
          <a:graphicData uri="http://schemas.openxmlformats.org/drawingml/2006/chart">
            <c:chart r:id="rIdManual1011"/>
          </a:graphicData>
        </a:graphic>
      </p:graphicFrame>
      <p:graphicFrame>
        <p:nvGraphicFramePr>
          <p:cNvPr id="1232" name="D31_G2"/>
          <p:cNvGraphicFramePr/>
          <p:nvPr/>
        </p:nvGraphicFramePr>
        <p:xfrm>
          <a:off x="269125" y="883324"/>
          <a:ext cx="4404201" cy="2565447"/>
        </p:xfrm>
        <a:graphic>
          <a:graphicData uri="http://schemas.openxmlformats.org/drawingml/2006/chart">
            <c:chart r:id="rIdManual1012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44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40" name="Google Shape;1240;p44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44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s032.text.1242"/>
          <p:cNvSpPr txBox="1"/>
          <p:nvPr/>
        </p:nvSpPr>
        <p:spPr>
          <a:xfrm>
            <a:off x="660200" y="1065550"/>
            <a:ext cx="8016900" cy="56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circuito </a:t>
            </a:r>
            <a:r>
              <a:rPr b="1" lang="es" sz="1100">
                <a:solidFill>
                  <a:schemeClr val="dk1"/>
                </a:solidFill>
              </a:rPr>
              <a:t>R5+R6 informa un tiempo medio de 382 minutos (6 h 22 min)</a:t>
            </a:r>
            <a:r>
              <a:rPr lang="es" sz="1100">
                <a:solidFill>
                  <a:schemeClr val="dk1"/>
                </a:solidFill>
              </a:rPr>
              <a:t>, frente a 319 minutos en la semana anterior: un aumento de </a:t>
            </a:r>
            <a:r>
              <a:rPr b="1" lang="es" sz="1100">
                <a:solidFill>
                  <a:schemeClr val="dk1"/>
                </a:solidFill>
              </a:rPr>
              <a:t>63 minutos (+19,7%)</a:t>
            </a:r>
            <a:r>
              <a:rPr lang="es" sz="1100">
                <a:solidFill>
                  <a:schemeClr val="dk1"/>
                </a:solidFill>
              </a:rPr>
              <a:t>. R3 registra </a:t>
            </a:r>
            <a:r>
              <a:rPr b="1" lang="es" sz="1100">
                <a:solidFill>
                  <a:schemeClr val="dk1"/>
                </a:solidFill>
              </a:rPr>
              <a:t>403 minutos (6 h 43 min)</a:t>
            </a:r>
            <a:r>
              <a:rPr lang="es" sz="1100">
                <a:solidFill>
                  <a:schemeClr val="dk1"/>
                </a:solidFill>
              </a:rPr>
              <a:t>, con una diferencia actual de </a:t>
            </a:r>
            <a:r>
              <a:rPr b="1" lang="es" sz="1100">
                <a:solidFill>
                  <a:schemeClr val="dk1"/>
                </a:solidFill>
              </a:rPr>
              <a:t>21 minutos</a:t>
            </a:r>
            <a:r>
              <a:rPr lang="es" sz="1100">
                <a:solidFill>
                  <a:schemeClr val="dk1"/>
                </a:solidFill>
              </a:rPr>
              <a:t> respecto de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R5+R6, la espera previa a la calada alcanza </a:t>
            </a:r>
            <a:r>
              <a:rPr b="1" lang="es" sz="1100">
                <a:solidFill>
                  <a:schemeClr val="dk1"/>
                </a:solidFill>
              </a:rPr>
              <a:t>133 minutos</a:t>
            </a:r>
            <a:r>
              <a:rPr lang="es" sz="1100">
                <a:solidFill>
                  <a:schemeClr val="dk1"/>
                </a:solidFill>
              </a:rPr>
              <a:t> y el tramo de Playa 3 a Volcable, </a:t>
            </a:r>
            <a:r>
              <a:rPr b="1" lang="es" sz="1100">
                <a:solidFill>
                  <a:schemeClr val="dk1"/>
                </a:solidFill>
              </a:rPr>
              <a:t>191 minutos</a:t>
            </a:r>
            <a:r>
              <a:rPr lang="es" sz="1100">
                <a:solidFill>
                  <a:schemeClr val="dk1"/>
                </a:solidFill>
              </a:rPr>
              <a:t>. Ambos suman </a:t>
            </a:r>
            <a:r>
              <a:rPr b="1" lang="es" sz="1100">
                <a:solidFill>
                  <a:schemeClr val="dk1"/>
                </a:solidFill>
              </a:rPr>
              <a:t>324 minutos</a:t>
            </a:r>
            <a:r>
              <a:rPr lang="es" sz="1100">
                <a:solidFill>
                  <a:schemeClr val="dk1"/>
                </a:solidFill>
              </a:rPr>
              <a:t>, aproximadamente el </a:t>
            </a:r>
            <a:r>
              <a:rPr b="1" lang="es" sz="1100">
                <a:solidFill>
                  <a:schemeClr val="dk1"/>
                </a:solidFill>
              </a:rPr>
              <a:t>85% del ciclo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R3, esos mismos tramos representan </a:t>
            </a:r>
            <a:r>
              <a:rPr b="1" lang="es" sz="1100">
                <a:solidFill>
                  <a:schemeClr val="dk1"/>
                </a:solidFill>
              </a:rPr>
              <a:t>166 y 180 minutos</a:t>
            </a:r>
            <a:r>
              <a:rPr lang="es" sz="1100">
                <a:solidFill>
                  <a:schemeClr val="dk1"/>
                </a:solidFill>
              </a:rPr>
              <a:t>, respectivamente, y concentran aproximadamente el </a:t>
            </a:r>
            <a:r>
              <a:rPr b="1" lang="es" sz="1100">
                <a:solidFill>
                  <a:schemeClr val="dk1"/>
                </a:solidFill>
              </a:rPr>
              <a:t>86% del tiempo total</a:t>
            </a:r>
            <a:r>
              <a:rPr lang="es" sz="1100">
                <a:solidFill>
                  <a:schemeClr val="dk1"/>
                </a:solidFill>
              </a:rPr>
              <a:t>. R3 presenta mayor espera previa a la calada, mientras que el tramo de Playa 3 a Volcable es menor que en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prioridad es revisar la espera previa a la calada y la permanencia entre Playa 3 y el volcable. Este último tramo incluye espera y descarga, por lo que sus tiempos no permiten atribuir toda la demora al vuelco físico. Los volúmenes por circuito requieren conciliación antes de incorporarlos a la conclusión definitiva.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239" name="s032.text.123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4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32/72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7" name="Google Shape;124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653"/>
            <a:ext cx="9144000" cy="5157153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s033.text.1248"/>
          <p:cNvSpPr txBox="1"/>
          <p:nvPr/>
        </p:nvSpPr>
        <p:spPr>
          <a:xfrm>
            <a:off x="3664725" y="1881325"/>
            <a:ext cx="1695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036A03"/>
                </a:solidFill>
                <a:latin typeface="Inter Medium"/>
                <a:ea typeface="Inter Medium"/>
                <a:cs typeface="Inter Medium"/>
                <a:sym typeface="Inter Medium"/>
              </a:rPr>
              <a:t>CALADO</a:t>
            </a:r>
            <a:endParaRPr sz="2300">
              <a:solidFill>
                <a:srgbClr val="036A03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2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33/72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Google Shape;1253;p4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4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s034.text.12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34/72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calada.subtitle"/>
          <p:cNvSpPr txBox="1"/>
          <p:nvPr/>
        </p:nvSpPr>
        <p:spPr>
          <a:xfrm>
            <a:off x="666750" y="1000125"/>
            <a:ext cx="781050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0">
                <a:solidFill>
                  <a:srgbClr val="06245F"/>
                </a:solidFill>
                <a:latin typeface="Inter"/>
              </a:rPr>
              <a:t>Actividad semanal por sede y tipo de calada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2" name="calada.header.Sede"/>
          <p:cNvSpPr txBox="1"/>
          <p:nvPr/>
        </p:nvSpPr>
        <p:spPr>
          <a:xfrm>
            <a:off x="666750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Sede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3" name="calada.header.Tipo"/>
          <p:cNvSpPr txBox="1"/>
          <p:nvPr/>
        </p:nvSpPr>
        <p:spPr>
          <a:xfrm>
            <a:off x="2428875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Tipo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4" name="calada.header.Horas activas"/>
          <p:cNvSpPr txBox="1"/>
          <p:nvPr/>
        </p:nvSpPr>
        <p:spPr>
          <a:xfrm>
            <a:off x="41910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Horas activas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5" name="calada.header.Camiones/h"/>
          <p:cNvSpPr txBox="1"/>
          <p:nvPr/>
        </p:nvSpPr>
        <p:spPr>
          <a:xfrm>
            <a:off x="561975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Camiones/h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6" name="calada.header.Camiones"/>
          <p:cNvSpPr txBox="1"/>
          <p:nvPr/>
        </p:nvSpPr>
        <p:spPr>
          <a:xfrm>
            <a:off x="70485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Camiones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7" name="calada.ric_solida.sede"/>
          <p:cNvSpPr txBox="1"/>
          <p:nvPr/>
        </p:nvSpPr>
        <p:spPr>
          <a:xfrm>
            <a:off x="666750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Ricardone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8" name="calada.ric_solida.tipo"/>
          <p:cNvSpPr txBox="1"/>
          <p:nvPr/>
        </p:nvSpPr>
        <p:spPr>
          <a:xfrm>
            <a:off x="2428875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Sólida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9" name="calada.ric_solida.horas"/>
          <p:cNvSpPr txBox="1"/>
          <p:nvPr/>
        </p:nvSpPr>
        <p:spPr>
          <a:xfrm>
            <a:off x="41910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148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0" name="calada.ric_solida.camiones_h"/>
          <p:cNvSpPr txBox="1"/>
          <p:nvPr/>
        </p:nvSpPr>
        <p:spPr>
          <a:xfrm>
            <a:off x="561975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20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1" name="calada.ric_solida.camiones"/>
          <p:cNvSpPr txBox="1"/>
          <p:nvPr/>
        </p:nvSpPr>
        <p:spPr>
          <a:xfrm>
            <a:off x="70485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2.908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2" name="calada.ric_liquida.sede"/>
          <p:cNvSpPr txBox="1"/>
          <p:nvPr/>
        </p:nvSpPr>
        <p:spPr>
          <a:xfrm>
            <a:off x="666750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Ricardone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3" name="calada.ric_liquida.tipo"/>
          <p:cNvSpPr txBox="1"/>
          <p:nvPr/>
        </p:nvSpPr>
        <p:spPr>
          <a:xfrm>
            <a:off x="2428875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Líquida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4" name="calada.ric_liquida.horas"/>
          <p:cNvSpPr txBox="1"/>
          <p:nvPr/>
        </p:nvSpPr>
        <p:spPr>
          <a:xfrm>
            <a:off x="41910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49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5" name="calada.ric_liquida.camiones_h"/>
          <p:cNvSpPr txBox="1"/>
          <p:nvPr/>
        </p:nvSpPr>
        <p:spPr>
          <a:xfrm>
            <a:off x="561975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3,6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6" name="calada.ric_liquida.camiones"/>
          <p:cNvSpPr txBox="1"/>
          <p:nvPr/>
        </p:nvSpPr>
        <p:spPr>
          <a:xfrm>
            <a:off x="70485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152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7" name="calada.sl.sede"/>
          <p:cNvSpPr txBox="1"/>
          <p:nvPr/>
        </p:nvSpPr>
        <p:spPr>
          <a:xfrm>
            <a:off x="666750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San Lorenzo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8" name="calada.sl.tipo"/>
          <p:cNvSpPr txBox="1"/>
          <p:nvPr/>
        </p:nvSpPr>
        <p:spPr>
          <a:xfrm>
            <a:off x="2428875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Calada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9" name="calada.sl.horas"/>
          <p:cNvSpPr txBox="1"/>
          <p:nvPr/>
        </p:nvSpPr>
        <p:spPr>
          <a:xfrm>
            <a:off x="41910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90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0" name="calada.sl.camiones_h"/>
          <p:cNvSpPr txBox="1"/>
          <p:nvPr/>
        </p:nvSpPr>
        <p:spPr>
          <a:xfrm>
            <a:off x="561975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3,3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1" name="calada.sl.camiones"/>
          <p:cNvSpPr txBox="1"/>
          <p:nvPr/>
        </p:nvSpPr>
        <p:spPr>
          <a:xfrm>
            <a:off x="70485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237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2" name="calada.caption"/>
          <p:cNvSpPr txBox="1"/>
          <p:nvPr/>
        </p:nvSpPr>
        <p:spPr>
          <a:xfrm>
            <a:off x="666750" y="4514850"/>
            <a:ext cx="7810500" cy="3619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Cada calada responde a una operación y una demanda diferentes.</a:t>
            </a:r>
            <a:endParaRPr sz="1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4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4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4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4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4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4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4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4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s035.text.127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2" name="s035.text.127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3" name="s035.text.127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4" name="s035.text.127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5" name="s035.text.127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6" name="s035.text.127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10/9 08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7" name="s035.text.127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2908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8" name="s035.text.1278"/>
          <p:cNvSpPr txBox="1"/>
          <p:nvPr/>
        </p:nvSpPr>
        <p:spPr>
          <a:xfrm>
            <a:off x="5023988" y="4115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148 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79" name="Google Shape;1279;p47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47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s035.text.128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35/72</a:t>
            </a:r>
          </a:p>
        </p:txBody>
      </p:sp>
      <p:graphicFrame>
        <p:nvGraphicFramePr>
          <p:cNvPr id="1262" name="D35_G1"/>
          <p:cNvGraphicFramePr/>
          <p:nvPr/>
        </p:nvGraphicFramePr>
        <p:xfrm>
          <a:off x="2145725" y="1388549"/>
          <a:ext cx="4625775" cy="2562529"/>
        </p:xfrm>
        <a:graphic>
          <a:graphicData uri="http://schemas.openxmlformats.org/drawingml/2006/chart">
            <c:chart r:id="rIdManual1013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8" name="Google Shape;1288;p4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9" name="Google Shape;1289;p4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s036.text.129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9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36/72</a:t>
            </a:r>
          </a:p>
        </p:txBody>
      </p:sp>
      <p:graphicFrame>
        <p:nvGraphicFramePr>
          <p:cNvPr id="1287" name="D36_G1"/>
          <p:cNvGraphicFramePr/>
          <p:nvPr/>
        </p:nvGraphicFramePr>
        <p:xfrm>
          <a:off x="1063050" y="960625"/>
          <a:ext cx="7309251" cy="3541425"/>
        </p:xfrm>
        <a:graphic>
          <a:graphicData uri="http://schemas.openxmlformats.org/drawingml/2006/chart">
            <c:chart r:id="rIdManual1014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6" name="Google Shape;1296;p4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4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4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4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4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4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4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4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4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4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s037.text.130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09" name="s037.text.130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0" name="s037.text.131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1" name="s037.text.131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2" name="s037.text.131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3" name="s037.text.131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4" name="s037.text.1314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5" name="s037.text.131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9" name="s037.text.129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37/72</a:t>
            </a:r>
          </a:p>
        </p:txBody>
      </p:sp>
      <p:sp>
        <p:nvSpPr>
          <p:cNvPr id="1316" name="Captura de actividad pendiente"/>
          <p:cNvSpPr/>
          <p:nvPr>
            <p:ph type="pic"/>
          </p:nvPr>
        </p:nvSpPr>
        <p:spPr>
          <a:xfrm>
            <a:off x="1752188" y="785274"/>
            <a:ext cx="58610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1" name="Google Shape;1321;p5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2" name="Google Shape;1322;p5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s038.text.13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38/72</a:t>
            </a:r>
          </a:p>
        </p:txBody>
      </p:sp>
      <p:graphicFrame>
        <p:nvGraphicFramePr>
          <p:cNvPr id="1325" name="D38_G1"/>
          <p:cNvGraphicFramePr/>
          <p:nvPr/>
        </p:nvGraphicFramePr>
        <p:xfrm>
          <a:off x="1171063" y="785274"/>
          <a:ext cx="6801876" cy="4205827"/>
        </p:xfrm>
        <a:graphic>
          <a:graphicData uri="http://schemas.openxmlformats.org/drawingml/2006/chart">
            <c:chart r:id="rIdManual1015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0" name="Google Shape;1330;p5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1" name="Google Shape;1331;p5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p5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5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5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5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5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5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5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5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s039.text.134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3" name="s039.text.134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4" name="s039.text.134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5" name="s039.text.134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6" name="s039.text.134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7" name="s039.text.134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8" name="s039.text.134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9" name="s039.text.134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3" name="s039.text.133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39/72</a:t>
            </a:r>
          </a:p>
        </p:txBody>
      </p:sp>
      <p:sp>
        <p:nvSpPr>
          <p:cNvPr id="1350" name="Captura de actividad pendiente"/>
          <p:cNvSpPr/>
          <p:nvPr>
            <p:ph type="pic"/>
          </p:nvPr>
        </p:nvSpPr>
        <p:spPr>
          <a:xfrm>
            <a:off x="2191075" y="785274"/>
            <a:ext cx="543508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5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6" name="Google Shape;1356;p5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s040.text.13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6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40/72</a:t>
            </a:r>
          </a:p>
        </p:txBody>
      </p:sp>
      <p:graphicFrame>
        <p:nvGraphicFramePr>
          <p:cNvPr id="1359" name="D40_G1"/>
          <p:cNvGraphicFramePr/>
          <p:nvPr/>
        </p:nvGraphicFramePr>
        <p:xfrm>
          <a:off x="1171050" y="755499"/>
          <a:ext cx="6801876" cy="4205827"/>
        </p:xfrm>
        <a:graphic>
          <a:graphicData uri="http://schemas.openxmlformats.org/drawingml/2006/chart">
            <c:chart r:id="rIdManual1016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4" name="Google Shape;1364;p5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5" name="Google Shape;1365;p5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53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53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53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53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53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53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53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53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s041.text.1376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7" name="s041.text.1377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8" name="s041.text.1378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9" name="s041.text.1379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80" name="s041.text.1380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1" name="s041.text.1381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2" name="s041.text.1382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3" name="s041.text.1383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7" name="s041.text.136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41/72</a:t>
            </a:r>
          </a:p>
        </p:txBody>
      </p:sp>
      <p:sp>
        <p:nvSpPr>
          <p:cNvPr id="1384" name="Captura de actividad pendiente"/>
          <p:cNvSpPr/>
          <p:nvPr>
            <p:ph type="pic"/>
          </p:nvPr>
        </p:nvSpPr>
        <p:spPr>
          <a:xfrm>
            <a:off x="1848500" y="749699"/>
            <a:ext cx="583089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9" name="Google Shape;1389;p5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5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s042.text.13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9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42/72</a:t>
            </a:r>
          </a:p>
        </p:txBody>
      </p:sp>
      <p:graphicFrame>
        <p:nvGraphicFramePr>
          <p:cNvPr id="1393" name="D42_G1"/>
          <p:cNvGraphicFramePr/>
          <p:nvPr/>
        </p:nvGraphicFramePr>
        <p:xfrm>
          <a:off x="1171063" y="844799"/>
          <a:ext cx="6801876" cy="4205827"/>
        </p:xfrm>
        <a:graphic>
          <a:graphicData uri="http://schemas.openxmlformats.org/drawingml/2006/chart">
            <c:chart r:id="rIdManual1017"/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5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p5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55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55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55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55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55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55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55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55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s043.text.1410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1" name="s043.text.1411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2" name="s043.text.1412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3" name="s043.text.1413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4" name="s043.text.1414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5" name="s043.text.1415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6" name="s043.text.1416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7" name="s043.text.141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1" name="s043.text.140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43/72</a:t>
            </a:r>
          </a:p>
        </p:txBody>
      </p:sp>
      <p:sp>
        <p:nvSpPr>
          <p:cNvPr id="1418" name="Captura de actividad pendiente"/>
          <p:cNvSpPr/>
          <p:nvPr>
            <p:ph type="pic"/>
          </p:nvPr>
        </p:nvSpPr>
        <p:spPr>
          <a:xfrm>
            <a:off x="2115875" y="785274"/>
            <a:ext cx="56639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p5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Google Shape;1424;p5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s044.text.142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2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44/72</a:t>
            </a:r>
          </a:p>
        </p:txBody>
      </p:sp>
      <p:graphicFrame>
        <p:nvGraphicFramePr>
          <p:cNvPr id="1427" name="D44_G1"/>
          <p:cNvGraphicFramePr/>
          <p:nvPr/>
        </p:nvGraphicFramePr>
        <p:xfrm>
          <a:off x="1171063" y="800174"/>
          <a:ext cx="6801876" cy="4205827"/>
        </p:xfrm>
        <a:graphic>
          <a:graphicData uri="http://schemas.openxmlformats.org/drawingml/2006/chart">
            <c:chart r:id="rIdManual1018"/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2" name="Google Shape;1432;p5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3" name="Google Shape;1433;p5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5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5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5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5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5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5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5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5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s045.text.1444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5" name="s045.text.1445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6" name="s045.text.1446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7" name="s045.text.1447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8" name="s045.text.1448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37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9" name="s045.text.1449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17-18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0" name="s045.text.1450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1" name="s045.text.1451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5" name="s045.text.143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5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45/72</a:t>
            </a:r>
          </a:p>
        </p:txBody>
      </p:sp>
      <p:sp>
        <p:nvSpPr>
          <p:cNvPr id="1452" name="Captura de actividad pendiente"/>
          <p:cNvSpPr/>
          <p:nvPr>
            <p:ph type="pic"/>
          </p:nvPr>
        </p:nvSpPr>
        <p:spPr>
          <a:xfrm>
            <a:off x="1838475" y="749699"/>
            <a:ext cx="575840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7" name="Google Shape;1457;p5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8" name="Google Shape;1458;p5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s046.text.146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6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46/72</a:t>
            </a:r>
          </a:p>
        </p:txBody>
      </p:sp>
      <p:graphicFrame>
        <p:nvGraphicFramePr>
          <p:cNvPr id="1461" name="D46_G1"/>
          <p:cNvGraphicFramePr/>
          <p:nvPr/>
        </p:nvGraphicFramePr>
        <p:xfrm>
          <a:off x="1171063" y="632874"/>
          <a:ext cx="6801876" cy="4205827"/>
        </p:xfrm>
        <a:graphic>
          <a:graphicData uri="http://schemas.openxmlformats.org/drawingml/2006/chart">
            <c:chart r:id="rIdManual1019"/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6" name="Google Shape;1466;p5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p5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5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5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5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5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5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5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5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5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s047.text.147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79" name="s047.text.147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0" name="s047.text.148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1" name="s047.text.148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2" name="s047.text.148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3" name="s047.text.148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4" name="s047.text.1484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5" name="s047.text.148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439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9" name="s047.text.146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8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47/72</a:t>
            </a:r>
          </a:p>
        </p:txBody>
      </p:sp>
      <p:sp>
        <p:nvSpPr>
          <p:cNvPr id="1486" name="Captura de actividad pendiente"/>
          <p:cNvSpPr/>
          <p:nvPr>
            <p:ph type="pic"/>
          </p:nvPr>
        </p:nvSpPr>
        <p:spPr>
          <a:xfrm>
            <a:off x="1876350" y="749699"/>
            <a:ext cx="588494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1" name="Google Shape;1491;p6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2" name="Google Shape;1492;p6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s048.text.149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9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48/72</a:t>
            </a:r>
          </a:p>
        </p:txBody>
      </p:sp>
      <p:graphicFrame>
        <p:nvGraphicFramePr>
          <p:cNvPr id="1495" name="D48_G1"/>
          <p:cNvGraphicFramePr/>
          <p:nvPr/>
        </p:nvGraphicFramePr>
        <p:xfrm>
          <a:off x="1171063" y="829924"/>
          <a:ext cx="6801876" cy="4205827"/>
        </p:xfrm>
        <a:graphic>
          <a:graphicData uri="http://schemas.openxmlformats.org/drawingml/2006/chart">
            <c:chart r:id="rIdManual1020"/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0" name="Google Shape;1500;p6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1" name="Google Shape;1501;p6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4" name="Google Shape;1504;p6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6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6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6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6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6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6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6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s049.text.151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3" name="s049.text.151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4" name="s049.text.151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5" name="s049.text.151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6" name="s049.text.151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7" name="s049.text.151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8" name="s049.text.151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9" name="s049.text.151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450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3" name="s049.text.150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2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49/72</a:t>
            </a:r>
          </a:p>
        </p:txBody>
      </p:sp>
      <p:sp>
        <p:nvSpPr>
          <p:cNvPr id="1520" name="Captura de actividad pendiente"/>
          <p:cNvSpPr/>
          <p:nvPr>
            <p:ph type="pic"/>
          </p:nvPr>
        </p:nvSpPr>
        <p:spPr>
          <a:xfrm>
            <a:off x="-3063800" y="-2487492"/>
            <a:ext cx="17880076" cy="11714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  <p:sp>
        <p:nvSpPr>
          <p:cNvPr id="1521" name="Captura de actividad pendiente"/>
          <p:cNvSpPr/>
          <p:nvPr>
            <p:ph type="pic"/>
          </p:nvPr>
        </p:nvSpPr>
        <p:spPr>
          <a:xfrm>
            <a:off x="1733413" y="785274"/>
            <a:ext cx="596852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7" name="Google Shape;1527;p6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8" name="Google Shape;1528;p6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62"/>
          <p:cNvSpPr/>
          <p:nvPr/>
        </p:nvSpPr>
        <p:spPr>
          <a:xfrm>
            <a:off x="22450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62"/>
          <p:cNvSpPr/>
          <p:nvPr/>
        </p:nvSpPr>
        <p:spPr>
          <a:xfrm>
            <a:off x="3544975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62"/>
          <p:cNvSpPr/>
          <p:nvPr/>
        </p:nvSpPr>
        <p:spPr>
          <a:xfrm>
            <a:off x="4745113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62"/>
          <p:cNvSpPr/>
          <p:nvPr/>
        </p:nvSpPr>
        <p:spPr>
          <a:xfrm>
            <a:off x="59452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62"/>
          <p:cNvSpPr/>
          <p:nvPr/>
        </p:nvSpPr>
        <p:spPr>
          <a:xfrm>
            <a:off x="23261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62"/>
          <p:cNvSpPr/>
          <p:nvPr/>
        </p:nvSpPr>
        <p:spPr>
          <a:xfrm>
            <a:off x="3626075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62"/>
          <p:cNvSpPr/>
          <p:nvPr/>
        </p:nvSpPr>
        <p:spPr>
          <a:xfrm>
            <a:off x="4826213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62"/>
          <p:cNvSpPr/>
          <p:nvPr/>
        </p:nvSpPr>
        <p:spPr>
          <a:xfrm>
            <a:off x="60263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s050.text.1539"/>
          <p:cNvSpPr txBox="1"/>
          <p:nvPr/>
        </p:nvSpPr>
        <p:spPr>
          <a:xfrm>
            <a:off x="2259988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0" name="s050.text.1540"/>
          <p:cNvSpPr txBox="1"/>
          <p:nvPr/>
        </p:nvSpPr>
        <p:spPr>
          <a:xfrm>
            <a:off x="3574888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1" name="s050.text.1541"/>
          <p:cNvSpPr txBox="1"/>
          <p:nvPr/>
        </p:nvSpPr>
        <p:spPr>
          <a:xfrm>
            <a:off x="4800613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2" name="s050.text.1542"/>
          <p:cNvSpPr txBox="1"/>
          <p:nvPr/>
        </p:nvSpPr>
        <p:spPr>
          <a:xfrm>
            <a:off x="5999263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3" name="s050.text.1543"/>
          <p:cNvSpPr txBox="1"/>
          <p:nvPr/>
        </p:nvSpPr>
        <p:spPr>
          <a:xfrm>
            <a:off x="2294314" y="4289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4" name="s050.text.1544"/>
          <p:cNvSpPr txBox="1"/>
          <p:nvPr/>
        </p:nvSpPr>
        <p:spPr>
          <a:xfrm>
            <a:off x="3158249" y="4289775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14/9 20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5" name="s050.text.1545"/>
          <p:cNvSpPr txBox="1"/>
          <p:nvPr/>
        </p:nvSpPr>
        <p:spPr>
          <a:xfrm>
            <a:off x="6107439" y="4269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157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6" name="s050.text.1546"/>
          <p:cNvSpPr txBox="1"/>
          <p:nvPr/>
        </p:nvSpPr>
        <p:spPr>
          <a:xfrm>
            <a:off x="4807163" y="4234600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49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0" name="s050.text.153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Líquido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4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50/72</a:t>
            </a:r>
          </a:p>
        </p:txBody>
      </p:sp>
      <p:graphicFrame>
        <p:nvGraphicFramePr>
          <p:cNvPr id="1526" name="D50_G1"/>
          <p:cNvGraphicFramePr/>
          <p:nvPr/>
        </p:nvGraphicFramePr>
        <p:xfrm>
          <a:off x="451325" y="1664024"/>
          <a:ext cx="3724275" cy="2057201"/>
        </p:xfrm>
        <a:graphic>
          <a:graphicData uri="http://schemas.openxmlformats.org/drawingml/2006/chart">
            <c:chart r:id="rIdManual1021"/>
          </a:graphicData>
        </a:graphic>
      </p:graphicFrame>
      <p:sp>
        <p:nvSpPr>
          <p:cNvPr id="1547" name="Captura de actividad pendiente"/>
          <p:cNvSpPr/>
          <p:nvPr>
            <p:ph type="pic"/>
          </p:nvPr>
        </p:nvSpPr>
        <p:spPr>
          <a:xfrm>
            <a:off x="4271300" y="1253536"/>
            <a:ext cx="4663600" cy="2394822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63"/>
          <p:cNvSpPr/>
          <p:nvPr/>
        </p:nvSpPr>
        <p:spPr>
          <a:xfrm>
            <a:off x="22420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63"/>
          <p:cNvSpPr/>
          <p:nvPr/>
        </p:nvSpPr>
        <p:spPr>
          <a:xfrm>
            <a:off x="3541963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63"/>
          <p:cNvSpPr/>
          <p:nvPr/>
        </p:nvSpPr>
        <p:spPr>
          <a:xfrm>
            <a:off x="4742100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63"/>
          <p:cNvSpPr/>
          <p:nvPr/>
        </p:nvSpPr>
        <p:spPr>
          <a:xfrm>
            <a:off x="59422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63"/>
          <p:cNvSpPr/>
          <p:nvPr/>
        </p:nvSpPr>
        <p:spPr>
          <a:xfrm>
            <a:off x="23231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63"/>
          <p:cNvSpPr/>
          <p:nvPr/>
        </p:nvSpPr>
        <p:spPr>
          <a:xfrm>
            <a:off x="3623063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63"/>
          <p:cNvSpPr/>
          <p:nvPr/>
        </p:nvSpPr>
        <p:spPr>
          <a:xfrm>
            <a:off x="4823200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63"/>
          <p:cNvSpPr/>
          <p:nvPr/>
        </p:nvSpPr>
        <p:spPr>
          <a:xfrm>
            <a:off x="60233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s051.text.1560"/>
          <p:cNvSpPr txBox="1"/>
          <p:nvPr/>
        </p:nvSpPr>
        <p:spPr>
          <a:xfrm>
            <a:off x="2256975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1" name="s051.text.1561"/>
          <p:cNvSpPr txBox="1"/>
          <p:nvPr/>
        </p:nvSpPr>
        <p:spPr>
          <a:xfrm>
            <a:off x="3571875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2" name="s051.text.1562"/>
          <p:cNvSpPr txBox="1"/>
          <p:nvPr/>
        </p:nvSpPr>
        <p:spPr>
          <a:xfrm>
            <a:off x="4797600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3" name="s051.text.1563"/>
          <p:cNvSpPr txBox="1"/>
          <p:nvPr/>
        </p:nvSpPr>
        <p:spPr>
          <a:xfrm>
            <a:off x="5996250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4" name="s051.text.1564"/>
          <p:cNvSpPr txBox="1"/>
          <p:nvPr/>
        </p:nvSpPr>
        <p:spPr>
          <a:xfrm>
            <a:off x="2291301" y="45241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5" name="s051.text.1565"/>
          <p:cNvSpPr txBox="1"/>
          <p:nvPr/>
        </p:nvSpPr>
        <p:spPr>
          <a:xfrm>
            <a:off x="3155237" y="4524150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15/9 08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6" name="s051.text.1566"/>
          <p:cNvSpPr txBox="1"/>
          <p:nvPr/>
        </p:nvSpPr>
        <p:spPr>
          <a:xfrm>
            <a:off x="6104426" y="45033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7" name="s051.text.1567"/>
          <p:cNvSpPr txBox="1"/>
          <p:nvPr/>
        </p:nvSpPr>
        <p:spPr>
          <a:xfrm>
            <a:off x="4804150" y="4468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85 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68" name="Google Shape;1568;p6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p6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1" name="s051.text.15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San Lorenzo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51/72</a:t>
            </a:r>
          </a:p>
        </p:txBody>
      </p:sp>
      <p:graphicFrame>
        <p:nvGraphicFramePr>
          <p:cNvPr id="1572" name="D51_G1"/>
          <p:cNvGraphicFramePr/>
          <p:nvPr/>
        </p:nvGraphicFramePr>
        <p:xfrm>
          <a:off x="304800" y="1714849"/>
          <a:ext cx="3583650" cy="1972783"/>
        </p:xfrm>
        <a:graphic>
          <a:graphicData uri="http://schemas.openxmlformats.org/drawingml/2006/chart">
            <c:chart r:id="rIdManual1022"/>
          </a:graphicData>
        </a:graphic>
      </p:graphicFrame>
      <p:sp>
        <p:nvSpPr>
          <p:cNvPr id="1573" name="Captura de actividad pendiente"/>
          <p:cNvSpPr/>
          <p:nvPr>
            <p:ph type="pic"/>
          </p:nvPr>
        </p:nvSpPr>
        <p:spPr>
          <a:xfrm>
            <a:off x="4028950" y="1091524"/>
            <a:ext cx="4950750" cy="2551388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8" name="Google Shape;1578;p64"/>
          <p:cNvPicPr preferRelativeResize="0"/>
          <p:nvPr/>
        </p:nvPicPr>
        <p:blipFill rotWithShape="1">
          <a:blip r:embed="rId3">
            <a:alphaModFix/>
          </a:blip>
          <a:srcRect b="2761" l="4325" r="31892" t="6700"/>
          <a:stretch/>
        </p:blipFill>
        <p:spPr>
          <a:xfrm>
            <a:off x="0" y="0"/>
            <a:ext cx="6177225" cy="5143500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57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52/72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3" name="Google Shape;1583;p6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4" name="Google Shape;1584;p6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6" name="s053.text.158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53/72</a:t>
            </a:r>
          </a:p>
        </p:txBody>
      </p:sp>
      <p:graphicFrame>
        <p:nvGraphicFramePr>
          <p:cNvPr id="1587" name="D53_G1"/>
          <p:cNvGraphicFramePr/>
          <p:nvPr/>
        </p:nvGraphicFramePr>
        <p:xfrm>
          <a:off x="3084725" y="3342750"/>
          <a:ext cx="2537325" cy="1556200"/>
        </p:xfrm>
        <a:graphic>
          <a:graphicData uri="http://schemas.openxmlformats.org/drawingml/2006/chart">
            <c:chart r:id="rIdManual1023"/>
          </a:graphicData>
        </a:graphic>
      </p:graphicFrame>
      <p:graphicFrame>
        <p:nvGraphicFramePr>
          <p:cNvPr id="1588" name="D53_G2"/>
          <p:cNvGraphicFramePr/>
          <p:nvPr/>
        </p:nvGraphicFramePr>
        <p:xfrm>
          <a:off x="1544913" y="691450"/>
          <a:ext cx="6345525" cy="2434350"/>
        </p:xfrm>
        <a:graphic>
          <a:graphicData uri="http://schemas.openxmlformats.org/drawingml/2006/chart">
            <c:chart r:id="rIdManual1024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3" name="Google Shape;1593;p6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6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97" name="Google Shape;1597;p6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66"/>
          <p:cNvSpPr/>
          <p:nvPr/>
        </p:nvSpPr>
        <p:spPr>
          <a:xfrm>
            <a:off x="4258600" y="396601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6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6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66"/>
          <p:cNvSpPr/>
          <p:nvPr/>
        </p:nvSpPr>
        <p:spPr>
          <a:xfrm>
            <a:off x="4339700" y="400636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6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s054.text.160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4" name="s054.text.1604"/>
          <p:cNvSpPr txBox="1"/>
          <p:nvPr/>
        </p:nvSpPr>
        <p:spPr>
          <a:xfrm>
            <a:off x="4314100" y="4027138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5" name="s054.text.160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6" name="s054.text.160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7" name="s054.text.1607"/>
          <p:cNvSpPr txBox="1"/>
          <p:nvPr/>
        </p:nvSpPr>
        <p:spPr>
          <a:xfrm>
            <a:off x="4434201" y="4162188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8" name="s054.text.16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446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6" name="s054.text.159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54/72</a:t>
            </a:r>
          </a:p>
        </p:txBody>
      </p:sp>
      <p:sp>
        <p:nvSpPr>
          <p:cNvPr id="1609" name="Captura de actividad pendiente"/>
          <p:cNvSpPr/>
          <p:nvPr>
            <p:ph type="pic"/>
          </p:nvPr>
        </p:nvSpPr>
        <p:spPr>
          <a:xfrm>
            <a:off x="1791075" y="749699"/>
            <a:ext cx="5853199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4" name="Google Shape;1614;p6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5" name="Google Shape;1615;p6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7" name="s055.text.161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55/72</a:t>
            </a:r>
          </a:p>
        </p:txBody>
      </p:sp>
      <p:graphicFrame>
        <p:nvGraphicFramePr>
          <p:cNvPr id="1618" name="D55_G1"/>
          <p:cNvGraphicFramePr/>
          <p:nvPr/>
        </p:nvGraphicFramePr>
        <p:xfrm>
          <a:off x="2314125" y="944525"/>
          <a:ext cx="5025024" cy="3107149"/>
        </p:xfrm>
        <a:graphic>
          <a:graphicData uri="http://schemas.openxmlformats.org/drawingml/2006/chart">
            <c:chart r:id="rIdManual1025"/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68"/>
          <p:cNvSpPr/>
          <p:nvPr/>
        </p:nvSpPr>
        <p:spPr>
          <a:xfrm>
            <a:off x="24221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68"/>
          <p:cNvSpPr/>
          <p:nvPr/>
        </p:nvSpPr>
        <p:spPr>
          <a:xfrm>
            <a:off x="4218900" y="426083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68"/>
          <p:cNvSpPr/>
          <p:nvPr/>
        </p:nvSpPr>
        <p:spPr>
          <a:xfrm>
            <a:off x="61223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68"/>
          <p:cNvSpPr/>
          <p:nvPr/>
        </p:nvSpPr>
        <p:spPr>
          <a:xfrm>
            <a:off x="25032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68"/>
          <p:cNvSpPr/>
          <p:nvPr/>
        </p:nvSpPr>
        <p:spPr>
          <a:xfrm>
            <a:off x="4300000" y="430118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68"/>
          <p:cNvSpPr/>
          <p:nvPr/>
        </p:nvSpPr>
        <p:spPr>
          <a:xfrm>
            <a:off x="62034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s056.text.1629"/>
          <p:cNvSpPr txBox="1"/>
          <p:nvPr/>
        </p:nvSpPr>
        <p:spPr>
          <a:xfrm>
            <a:off x="2437100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0" name="s056.text.1630"/>
          <p:cNvSpPr txBox="1"/>
          <p:nvPr/>
        </p:nvSpPr>
        <p:spPr>
          <a:xfrm>
            <a:off x="4274400" y="4321963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1" name="s056.text.1631"/>
          <p:cNvSpPr txBox="1"/>
          <p:nvPr/>
        </p:nvSpPr>
        <p:spPr>
          <a:xfrm>
            <a:off x="6176375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2" name="s056.text.1632"/>
          <p:cNvSpPr txBox="1"/>
          <p:nvPr/>
        </p:nvSpPr>
        <p:spPr>
          <a:xfrm>
            <a:off x="2471426" y="4477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3" name="s056.text.1633"/>
          <p:cNvSpPr txBox="1"/>
          <p:nvPr/>
        </p:nvSpPr>
        <p:spPr>
          <a:xfrm>
            <a:off x="4394501" y="4457013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4" name="s056.text.1634"/>
          <p:cNvSpPr txBox="1"/>
          <p:nvPr/>
        </p:nvSpPr>
        <p:spPr>
          <a:xfrm>
            <a:off x="6284551" y="4457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35" name="Google Shape;1635;p6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Google Shape;1636;p6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8" name="s056.text.16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56/72</a:t>
            </a:r>
          </a:p>
        </p:txBody>
      </p:sp>
      <p:sp>
        <p:nvSpPr>
          <p:cNvPr id="1639" name="Captura de actividad pendiente"/>
          <p:cNvSpPr/>
          <p:nvPr>
            <p:ph type="pic"/>
          </p:nvPr>
        </p:nvSpPr>
        <p:spPr>
          <a:xfrm>
            <a:off x="1579513" y="1115325"/>
            <a:ext cx="6329875" cy="27242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5" name="Google Shape;1645;p6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6" name="Google Shape;1646;p6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9" name="Google Shape;1649;p69"/>
          <p:cNvSpPr/>
          <p:nvPr/>
        </p:nvSpPr>
        <p:spPr>
          <a:xfrm>
            <a:off x="21983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69"/>
          <p:cNvSpPr/>
          <p:nvPr/>
        </p:nvSpPr>
        <p:spPr>
          <a:xfrm>
            <a:off x="3981538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69"/>
          <p:cNvSpPr/>
          <p:nvPr/>
        </p:nvSpPr>
        <p:spPr>
          <a:xfrm>
            <a:off x="58985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69"/>
          <p:cNvSpPr/>
          <p:nvPr/>
        </p:nvSpPr>
        <p:spPr>
          <a:xfrm>
            <a:off x="22794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69"/>
          <p:cNvSpPr/>
          <p:nvPr/>
        </p:nvSpPr>
        <p:spPr>
          <a:xfrm>
            <a:off x="4062638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69"/>
          <p:cNvSpPr/>
          <p:nvPr/>
        </p:nvSpPr>
        <p:spPr>
          <a:xfrm>
            <a:off x="59796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s057.text.1655"/>
          <p:cNvSpPr txBox="1"/>
          <p:nvPr/>
        </p:nvSpPr>
        <p:spPr>
          <a:xfrm>
            <a:off x="2213275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diario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6" name="s057.text.1656"/>
          <p:cNvSpPr txBox="1"/>
          <p:nvPr/>
        </p:nvSpPr>
        <p:spPr>
          <a:xfrm>
            <a:off x="4022813" y="905600"/>
            <a:ext cx="1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2"/>
                </a:solidFill>
              </a:rPr>
              <a:t>Camiones x hora operativa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657" name="s057.text.1657"/>
          <p:cNvSpPr txBox="1"/>
          <p:nvPr/>
        </p:nvSpPr>
        <p:spPr>
          <a:xfrm>
            <a:off x="5952550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8" name="s057.text.1658"/>
          <p:cNvSpPr txBox="1"/>
          <p:nvPr/>
        </p:nvSpPr>
        <p:spPr>
          <a:xfrm>
            <a:off x="2247601" y="11225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 384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9" name="s057.text.1659"/>
          <p:cNvSpPr txBox="1"/>
          <p:nvPr/>
        </p:nvSpPr>
        <p:spPr>
          <a:xfrm>
            <a:off x="4157139" y="11017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 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0" name="s057.text.1660"/>
          <p:cNvSpPr txBox="1"/>
          <p:nvPr/>
        </p:nvSpPr>
        <p:spPr>
          <a:xfrm>
            <a:off x="6060726" y="11017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2688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8" name="s057.text.164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Puerto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57/72</a:t>
            </a:r>
          </a:p>
        </p:txBody>
      </p:sp>
      <p:graphicFrame>
        <p:nvGraphicFramePr>
          <p:cNvPr id="1644" name="D57_G1"/>
          <p:cNvGraphicFramePr/>
          <p:nvPr/>
        </p:nvGraphicFramePr>
        <p:xfrm>
          <a:off x="2198337" y="1754675"/>
          <a:ext cx="5038674" cy="3115575"/>
        </p:xfrm>
        <a:graphic>
          <a:graphicData uri="http://schemas.openxmlformats.org/drawingml/2006/chart">
            <c:chart r:id="rIdManual1026"/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5" name="Google Shape;1665;p7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6" name="Google Shape;1666;p7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70"/>
          <p:cNvSpPr/>
          <p:nvPr/>
        </p:nvSpPr>
        <p:spPr>
          <a:xfrm>
            <a:off x="1671325" y="4159075"/>
            <a:ext cx="6786600" cy="825000"/>
          </a:xfrm>
          <a:prstGeom prst="rect">
            <a:avLst/>
          </a:prstGeom>
          <a:solidFill>
            <a:srgbClr val="D5A6BD">
              <a:alpha val="26880"/>
            </a:srgbClr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s058.text.1671"/>
          <p:cNvSpPr txBox="1"/>
          <p:nvPr/>
        </p:nvSpPr>
        <p:spPr>
          <a:xfrm>
            <a:off x="1808375" y="4225225"/>
            <a:ext cx="657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Las volcables </a:t>
            </a:r>
            <a:r>
              <a:rPr b="1" lang="es" sz="1100">
                <a:solidFill>
                  <a:schemeClr val="dk1"/>
                </a:solidFill>
              </a:rPr>
              <a:t>5, 3 y 2 concentraron el 73% de los camiones registrados</a:t>
            </a:r>
            <a:r>
              <a:rPr lang="es" sz="1100">
                <a:solidFill>
                  <a:schemeClr val="dk1"/>
                </a:solidFill>
              </a:rPr>
              <a:t>, con la volcable 5 como la de mayor actividad. La volcable </a:t>
            </a:r>
            <a:r>
              <a:rPr b="1" lang="es" sz="1100">
                <a:solidFill>
                  <a:schemeClr val="dk1"/>
                </a:solidFill>
              </a:rPr>
              <a:t>4 presentó el menor volumen, con 226 camiones</a:t>
            </a:r>
            <a:r>
              <a:rPr lang="es" sz="1100">
                <a:solidFill>
                  <a:schemeClr val="dk1"/>
                </a:solidFill>
              </a:rPr>
              <a:t> 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8" name="s058.text.166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7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58/72</a:t>
            </a:r>
          </a:p>
        </p:txBody>
      </p:sp>
      <p:graphicFrame>
        <p:nvGraphicFramePr>
          <p:cNvPr id="1669" name="D58_G1"/>
          <p:cNvGraphicFramePr/>
          <p:nvPr/>
        </p:nvGraphicFramePr>
        <p:xfrm>
          <a:off x="1808375" y="809650"/>
          <a:ext cx="6101025" cy="3341575"/>
        </p:xfrm>
        <a:graphic>
          <a:graphicData uri="http://schemas.openxmlformats.org/drawingml/2006/chart">
            <c:chart r:id="rIdManual1027"/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6" name="Google Shape;1676;p7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7" name="Google Shape;1677;p7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9" name="s059.text.167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59/72</a:t>
            </a:r>
          </a:p>
        </p:txBody>
      </p:sp>
      <p:graphicFrame>
        <p:nvGraphicFramePr>
          <p:cNvPr id="1680" name="D59_G1"/>
          <p:cNvGraphicFramePr/>
          <p:nvPr/>
        </p:nvGraphicFramePr>
        <p:xfrm>
          <a:off x="1451275" y="685374"/>
          <a:ext cx="6801876" cy="4205827"/>
        </p:xfrm>
        <a:graphic>
          <a:graphicData uri="http://schemas.openxmlformats.org/drawingml/2006/chart">
            <c:chart r:id="rIdManual1028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5" name="Google Shape;1685;p7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6" name="Google Shape;1686;p7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89" name="Google Shape;1689;p7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7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7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7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7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7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7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7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s060.text.169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8" name="s060.text.169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9" name="s060.text.169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0" name="s060.text.170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1" name="s060.text.170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2" name="s060.text.1702"/>
          <p:cNvSpPr txBox="1"/>
          <p:nvPr/>
        </p:nvSpPr>
        <p:spPr>
          <a:xfrm>
            <a:off x="3375062" y="4182950"/>
            <a:ext cx="187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21/22</a:t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3" name="s060.text.1703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4" name="s060.text.170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523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8" name="s060.text.168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0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60/72</a:t>
            </a:r>
          </a:p>
        </p:txBody>
      </p:sp>
      <p:sp>
        <p:nvSpPr>
          <p:cNvPr id="1705" name="Captura de actividad pendiente"/>
          <p:cNvSpPr/>
          <p:nvPr>
            <p:ph type="pic"/>
          </p:nvPr>
        </p:nvSpPr>
        <p:spPr>
          <a:xfrm>
            <a:off x="2023150" y="815836"/>
            <a:ext cx="575076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" name="Google Shape;1710;p7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1" name="Google Shape;1711;p7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3" name="s061.text.171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1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61/72</a:t>
            </a:r>
          </a:p>
        </p:txBody>
      </p:sp>
      <p:graphicFrame>
        <p:nvGraphicFramePr>
          <p:cNvPr id="1714" name="D61_G1"/>
          <p:cNvGraphicFramePr/>
          <p:nvPr/>
        </p:nvGraphicFramePr>
        <p:xfrm>
          <a:off x="1364675" y="805249"/>
          <a:ext cx="6801876" cy="4205827"/>
        </p:xfrm>
        <a:graphic>
          <a:graphicData uri="http://schemas.openxmlformats.org/drawingml/2006/chart">
            <c:chart r:id="rIdManual1029"/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9" name="Google Shape;1719;p7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p7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3" name="Google Shape;1723;p7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7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7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7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7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7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7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7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s062.text.173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2" name="s062.text.173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3" name="s062.text.173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4" name="s062.text.173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5" name="s062.text.173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6" name="s062.text.173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05-06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7" name="s062.text.173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8" name="s062.text.173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2" name="s062.text.17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62/72</a:t>
            </a:r>
          </a:p>
        </p:txBody>
      </p:sp>
      <p:sp>
        <p:nvSpPr>
          <p:cNvPr id="1739" name="Captura de actividad pendiente"/>
          <p:cNvSpPr/>
          <p:nvPr>
            <p:ph type="pic"/>
          </p:nvPr>
        </p:nvSpPr>
        <p:spPr>
          <a:xfrm>
            <a:off x="1988125" y="749699"/>
            <a:ext cx="600042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4" name="Google Shape;1744;p7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5" name="Google Shape;1745;p7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7" name="s063.text.174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63/72</a:t>
            </a:r>
          </a:p>
        </p:txBody>
      </p:sp>
      <p:graphicFrame>
        <p:nvGraphicFramePr>
          <p:cNvPr id="1748" name="D63_G1"/>
          <p:cNvGraphicFramePr/>
          <p:nvPr/>
        </p:nvGraphicFramePr>
        <p:xfrm>
          <a:off x="1195950" y="775999"/>
          <a:ext cx="6801876" cy="4205827"/>
        </p:xfrm>
        <a:graphic>
          <a:graphicData uri="http://schemas.openxmlformats.org/drawingml/2006/chart">
            <c:chart r:id="rIdManual1030"/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3" name="Google Shape;1753;p7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4" name="Google Shape;1754;p7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57" name="Google Shape;1757;p7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76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76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7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7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76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76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7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s064.text.1765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6" name="s064.text.1766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7" name="s064.text.1767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8" name="s064.text.1768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9" name="s064.text.1769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0" name="s064.text.1770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1" name="s064.text.1771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2" name="s064.text.1772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444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6" name="s064.text.17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64/72</a:t>
            </a:r>
          </a:p>
        </p:txBody>
      </p:sp>
      <p:sp>
        <p:nvSpPr>
          <p:cNvPr id="1773" name="Captura de actividad pendiente"/>
          <p:cNvSpPr/>
          <p:nvPr>
            <p:ph type="pic"/>
          </p:nvPr>
        </p:nvSpPr>
        <p:spPr>
          <a:xfrm>
            <a:off x="2045850" y="785274"/>
            <a:ext cx="571760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8" name="Google Shape;1778;p7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p7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1" name="s065.text.178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65/72</a:t>
            </a:r>
          </a:p>
        </p:txBody>
      </p:sp>
      <p:graphicFrame>
        <p:nvGraphicFramePr>
          <p:cNvPr id="1782" name="D65_G1"/>
          <p:cNvGraphicFramePr/>
          <p:nvPr/>
        </p:nvGraphicFramePr>
        <p:xfrm>
          <a:off x="1578275" y="773724"/>
          <a:ext cx="6801876" cy="4205827"/>
        </p:xfrm>
        <a:graphic>
          <a:graphicData uri="http://schemas.openxmlformats.org/drawingml/2006/chart">
            <c:chart r:id="rIdManual1031"/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7" name="Google Shape;1787;p7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8" name="Google Shape;1788;p7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1" name="Google Shape;1791;p78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78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78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78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78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78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78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78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s066.text.1799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0" name="s066.text.1800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1" name="s066.text.1801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2" name="s066.text.1802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3" name="s066.text.1803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4" name="s066.text.1804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00-01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5" name="s066.text.1805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6" name="s066.text.1806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0" name="s066.text.179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0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66/72</a:t>
            </a:r>
          </a:p>
        </p:txBody>
      </p:sp>
      <p:sp>
        <p:nvSpPr>
          <p:cNvPr id="1807" name="Captura de actividad pendiente"/>
          <p:cNvSpPr/>
          <p:nvPr>
            <p:ph type="pic"/>
          </p:nvPr>
        </p:nvSpPr>
        <p:spPr>
          <a:xfrm>
            <a:off x="1993900" y="749699"/>
            <a:ext cx="58537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2" name="Google Shape;1812;p7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3" name="Google Shape;1813;p7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5" name="s067.text.181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67/72</a:t>
            </a:r>
          </a:p>
        </p:txBody>
      </p:sp>
      <p:graphicFrame>
        <p:nvGraphicFramePr>
          <p:cNvPr id="1816" name="D67_G1"/>
          <p:cNvGraphicFramePr/>
          <p:nvPr/>
        </p:nvGraphicFramePr>
        <p:xfrm>
          <a:off x="1376825" y="701774"/>
          <a:ext cx="6801876" cy="4205827"/>
        </p:xfrm>
        <a:graphic>
          <a:graphicData uri="http://schemas.openxmlformats.org/drawingml/2006/chart">
            <c:chart r:id="rIdManual1032"/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1" name="Google Shape;1821;p8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2" name="Google Shape;1822;p8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5" name="Google Shape;1825;p80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80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80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80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80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80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80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80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s068.text.183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4" name="s068.text.1834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5" name="s068.text.1835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6" name="s068.text.1836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7" name="s068.text.1837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8" name="s068.text.1838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9" name="s068.text.1839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0" name="s068.text.1840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24" name="s068.text.18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4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68/72</a:t>
            </a:r>
          </a:p>
        </p:txBody>
      </p:sp>
      <p:sp>
        <p:nvSpPr>
          <p:cNvPr id="1841" name="Captura de actividad pendiente"/>
          <p:cNvSpPr/>
          <p:nvPr>
            <p:ph type="pic"/>
          </p:nvPr>
        </p:nvSpPr>
        <p:spPr>
          <a:xfrm>
            <a:off x="1228600" y="785274"/>
            <a:ext cx="65900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6" name="Google Shape;1846;p8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7" name="Google Shape;1847;p8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9" name="s069.text.18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69/72</a:t>
            </a:r>
          </a:p>
        </p:txBody>
      </p:sp>
      <p:graphicFrame>
        <p:nvGraphicFramePr>
          <p:cNvPr id="1850" name="D69_G1"/>
          <p:cNvGraphicFramePr/>
          <p:nvPr/>
        </p:nvGraphicFramePr>
        <p:xfrm>
          <a:off x="1171063" y="715699"/>
          <a:ext cx="6801876" cy="4205827"/>
        </p:xfrm>
        <a:graphic>
          <a:graphicData uri="http://schemas.openxmlformats.org/drawingml/2006/chart">
            <c:chart r:id="rIdManual1033"/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5" name="Google Shape;1855;p8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6" name="Google Shape;1856;p8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9" name="Google Shape;1859;p8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8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8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8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8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8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8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8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s070.text.186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8" name="s070.text.186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9" name="s070.text.186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0" name="s070.text.187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1" name="s070.text.187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2" name="s070.text.1872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02-03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3" name="s070.text.1873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4" name="s070.text.187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8" name="s070.text.18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7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70/72</a:t>
            </a:r>
          </a:p>
        </p:txBody>
      </p:sp>
      <p:sp>
        <p:nvSpPr>
          <p:cNvPr id="1875" name="Captura de actividad pendiente"/>
          <p:cNvSpPr/>
          <p:nvPr>
            <p:ph type="pic"/>
          </p:nvPr>
        </p:nvSpPr>
        <p:spPr>
          <a:xfrm>
            <a:off x="1529175" y="785274"/>
            <a:ext cx="663969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1" name="Google Shape;1881;p83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2" name="Google Shape;1882;p83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4" name="s071.text.188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71/72</a:t>
            </a:r>
          </a:p>
        </p:txBody>
      </p:sp>
      <p:graphicFrame>
        <p:nvGraphicFramePr>
          <p:cNvPr id="1880" name="D71_G1"/>
          <p:cNvGraphicFramePr/>
          <p:nvPr/>
        </p:nvGraphicFramePr>
        <p:xfrm>
          <a:off x="1547273" y="728925"/>
          <a:ext cx="6296400" cy="3893276"/>
        </p:xfrm>
        <a:graphic>
          <a:graphicData uri="http://schemas.openxmlformats.org/drawingml/2006/chart">
            <c:chart r:id="rIdManual1034"/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9" name="Google Shape;1889;p8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0" name="Google Shape;1890;p8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93" name="Google Shape;1893;p8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8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8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8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8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8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8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8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s072.text.190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2" name="s072.text.190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3" name="s072.text.190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4" name="s072.text.190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5" name="s072.text.1905"/>
          <p:cNvSpPr txBox="1"/>
          <p:nvPr/>
        </p:nvSpPr>
        <p:spPr>
          <a:xfrm>
            <a:off x="2511126" y="418295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6" name="s072.text.190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10-11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7" name="s072.text.190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8" name="s072.text.19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2" name="s072.text.18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9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72/72</a:t>
            </a:r>
          </a:p>
        </p:txBody>
      </p:sp>
      <p:sp>
        <p:nvSpPr>
          <p:cNvPr id="1909" name="Captura de actividad pendiente"/>
          <p:cNvSpPr/>
          <p:nvPr>
            <p:ph type="pic"/>
          </p:nvPr>
        </p:nvSpPr>
        <p:spPr>
          <a:xfrm>
            <a:off x="1389175" y="785274"/>
            <a:ext cx="658703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