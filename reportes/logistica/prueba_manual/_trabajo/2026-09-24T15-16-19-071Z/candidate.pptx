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1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7.xml" ContentType="application/vnd.openxmlformats-officedocument.drawingml.chart+xml"/>
  <Override PartName="/ppt/charts/chart1010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14.xml" ContentType="application/vnd.openxmlformats-officedocument.drawingml.chart+xml"/>
  <Override PartName="/ppt/charts/chart1015.xml" ContentType="application/vnd.openxmlformats-officedocument.drawingml.chart+xml"/>
  <Override PartName="/ppt/charts/chart1016.xml" ContentType="application/vnd.openxmlformats-officedocument.drawingml.chart+xml"/>
  <Override PartName="/ppt/charts/chart1017.xml" ContentType="application/vnd.openxmlformats-officedocument.drawingml.chart+xml"/>
  <Override PartName="/ppt/charts/chart1018.xml" ContentType="application/vnd.openxmlformats-officedocument.drawingml.chart+xml"/>
  <Override PartName="/ppt/charts/chart1019.xml" ContentType="application/vnd.openxmlformats-officedocument.drawingml.chart+xml"/>
  <Override PartName="/ppt/charts/chart1023.xml" ContentType="application/vnd.openxmlformats-officedocument.drawingml.chart+xml"/>
  <Override PartName="/ppt/charts/chart1027.xml" ContentType="application/vnd.openxmlformats-officedocument.drawingml.chart+xml"/>
  <Override PartName="/ppt/charts/chart1028.xml" ContentType="application/vnd.openxmlformats-officedocument.drawingml.chart+xml"/>
  <Override PartName="/ppt/charts/chart1029.xml" ContentType="application/vnd.openxmlformats-officedocument.drawingml.chart+xml"/>
  <Override PartName="/ppt/charts/chart1030.xml" ContentType="application/vnd.openxmlformats-officedocument.drawingml.chart+xml"/>
  <Override PartName="/ppt/charts/chart1031.xml" ContentType="application/vnd.openxmlformats-officedocument.drawingml.chart+xml"/>
  <Override PartName="/ppt/charts/chart1032.xml" ContentType="application/vnd.openxmlformats-officedocument.drawingml.chart+xml"/>
  <Override PartName="/ppt/charts/chart1033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1"/>
              <c:pt idx="0">
                <c:v>R7 Terminal de embarque</c:v>
              </c:pt>
            </c:strLit>
          </c:cat>
          <c:val>
            <c:numLit>
              <c:formatCode>0</c:formatCode>
              <c:ptCount val="1"/>
              <c:pt idx="0">
                <c:v>1122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121</c:v>
              </c:pt>
              <c:pt idx="1">
                <c:v>94</c:v>
              </c:pt>
              <c:pt idx="2">
                <c:v>113</c:v>
              </c:pt>
              <c:pt idx="3">
                <c:v>145</c:v>
              </c:pt>
              <c:pt idx="4">
                <c:v>114</c:v>
              </c:pt>
              <c:pt idx="5">
                <c:v>171</c:v>
              </c:pt>
              <c:pt idx="6">
                <c:v>181</c:v>
              </c:pt>
              <c:pt idx="7">
                <c:v>120</c:v>
              </c:pt>
              <c:pt idx="8">
                <c:v>101</c:v>
              </c:pt>
              <c:pt idx="9">
                <c:v>130</c:v>
              </c:pt>
              <c:pt idx="10">
                <c:v>112</c:v>
              </c:pt>
              <c:pt idx="11">
                <c:v>140</c:v>
              </c:pt>
              <c:pt idx="12">
                <c:v>97</c:v>
              </c:pt>
              <c:pt idx="13">
                <c:v>126</c:v>
              </c:pt>
            </c:numLit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135</c:v>
              </c:pt>
              <c:pt idx="1">
                <c:v>104</c:v>
              </c:pt>
              <c:pt idx="2">
                <c:v>86</c:v>
              </c:pt>
              <c:pt idx="3">
                <c:v>105</c:v>
              </c:pt>
              <c:pt idx="4">
                <c:v>65</c:v>
              </c:pt>
              <c:pt idx="5">
                <c:v>140</c:v>
              </c:pt>
              <c:pt idx="6">
                <c:v>85</c:v>
              </c:pt>
              <c:pt idx="7">
                <c:v>145</c:v>
              </c:pt>
              <c:pt idx="8">
                <c:v>113</c:v>
              </c:pt>
              <c:pt idx="9">
                <c:v>127</c:v>
              </c:pt>
              <c:pt idx="10">
                <c:v>89</c:v>
              </c:pt>
              <c:pt idx="11">
                <c:v>137</c:v>
              </c:pt>
              <c:pt idx="12">
                <c:v>87</c:v>
              </c:pt>
              <c:pt idx="13">
                <c:v>119</c:v>
              </c:pt>
            </c:numLit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79</c:v>
              </c:pt>
              <c:pt idx="1">
                <c:v>92</c:v>
              </c:pt>
              <c:pt idx="2">
                <c:v>64</c:v>
              </c:pt>
              <c:pt idx="3">
                <c:v>70</c:v>
              </c:pt>
              <c:pt idx="4">
                <c:v>60</c:v>
              </c:pt>
              <c:pt idx="5">
                <c:v>59</c:v>
              </c:pt>
              <c:pt idx="6">
                <c:v>58</c:v>
              </c:pt>
              <c:pt idx="7">
                <c:v>68</c:v>
              </c:pt>
              <c:pt idx="8">
                <c:v>63</c:v>
              </c:pt>
              <c:pt idx="9">
                <c:v>71</c:v>
              </c:pt>
              <c:pt idx="10">
                <c:v>64</c:v>
              </c:pt>
              <c:pt idx="11">
                <c:v>62</c:v>
              </c:pt>
              <c:pt idx="12">
                <c:v>63</c:v>
              </c:pt>
              <c:pt idx="13">
                <c:v>61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376</c:v>
              </c:pt>
              <c:pt idx="1">
                <c:v>338</c:v>
              </c:pt>
              <c:pt idx="2">
                <c:v>316</c:v>
              </c:pt>
              <c:pt idx="3">
                <c:v>383</c:v>
              </c:pt>
              <c:pt idx="4">
                <c:v>304</c:v>
              </c:pt>
              <c:pt idx="5">
                <c:v>445</c:v>
              </c:pt>
              <c:pt idx="6">
                <c:v>389</c:v>
              </c:pt>
              <c:pt idx="7">
                <c:v>421</c:v>
              </c:pt>
              <c:pt idx="8">
                <c:v>346</c:v>
              </c:pt>
              <c:pt idx="9">
                <c:v>368</c:v>
              </c:pt>
              <c:pt idx="10">
                <c:v>296</c:v>
              </c:pt>
              <c:pt idx="11">
                <c:v>379</c:v>
              </c:pt>
              <c:pt idx="12">
                <c:v>276</c:v>
              </c:pt>
              <c:pt idx="13">
                <c:v>334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Camiones por día del operativo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Lunes</c:v>
              </c:pt>
              <c:pt idx="1">
                <c:v>Martes</c:v>
              </c:pt>
            </c:strLit>
          </c:cat>
          <c:val>
            <c:numLit>
              <c:formatCode>0</c:formatCode>
              <c:ptCount val="2"/>
              <c:pt idx="0">
                <c:v>16</c:v>
              </c:pt>
              <c:pt idx="1">
                <c:v>3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3"/>
              <c:pt idx="0">
                <c:v>R5 Volcable 1</c:v>
              </c:pt>
              <c:pt idx="1">
                <c:v>R6 Volcable 2</c:v>
              </c:pt>
              <c:pt idx="2">
                <c:v>R4 Silos Kepler</c:v>
              </c:pt>
            </c:strLit>
          </c:cat>
          <c:val>
            <c:numLit>
              <c:formatCode>0</c:formatCode>
              <c:ptCount val="3"/>
              <c:pt idx="0">
                <c:v>217</c:v>
              </c:pt>
              <c:pt idx="1">
                <c:v>16</c:v>
              </c:pt>
              <c:pt idx="2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120</c:v>
              </c:pt>
              <c:pt idx="1">
                <c:v>107</c:v>
              </c:pt>
              <c:pt idx="2">
                <c:v>105</c:v>
              </c:pt>
              <c:pt idx="3">
                <c:v>122</c:v>
              </c:pt>
              <c:pt idx="4">
                <c:v>117</c:v>
              </c:pt>
              <c:pt idx="5">
                <c:v>140</c:v>
              </c:pt>
              <c:pt idx="6">
                <c:v>137</c:v>
              </c:pt>
              <c:pt idx="7">
                <c:v>138</c:v>
              </c:pt>
              <c:pt idx="8">
                <c:v>80</c:v>
              </c:pt>
              <c:pt idx="9">
                <c:v>99</c:v>
              </c:pt>
              <c:pt idx="10">
                <c:v>163</c:v>
              </c:pt>
              <c:pt idx="11">
                <c:v>190</c:v>
              </c:pt>
              <c:pt idx="12">
                <c:v>116</c:v>
              </c:pt>
              <c:pt idx="13">
                <c:v>133</c:v>
              </c:pt>
            </c:numLit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184</c:v>
              </c:pt>
              <c:pt idx="1">
                <c:v>180</c:v>
              </c:pt>
              <c:pt idx="2">
                <c:v>159</c:v>
              </c:pt>
              <c:pt idx="3">
                <c:v>170</c:v>
              </c:pt>
              <c:pt idx="4">
                <c:v>166</c:v>
              </c:pt>
              <c:pt idx="5">
                <c:v>188</c:v>
              </c:pt>
              <c:pt idx="6">
                <c:v>208</c:v>
              </c:pt>
              <c:pt idx="7">
                <c:v>186</c:v>
              </c:pt>
              <c:pt idx="8">
                <c:v>110</c:v>
              </c:pt>
              <c:pt idx="9">
                <c:v>146</c:v>
              </c:pt>
              <c:pt idx="10">
                <c:v>152</c:v>
              </c:pt>
              <c:pt idx="11">
                <c:v>215</c:v>
              </c:pt>
              <c:pt idx="12">
                <c:v>155</c:v>
              </c:pt>
              <c:pt idx="13">
                <c:v>208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326</c:v>
              </c:pt>
              <c:pt idx="1">
                <c:v>315</c:v>
              </c:pt>
              <c:pt idx="2">
                <c:v>287</c:v>
              </c:pt>
              <c:pt idx="3">
                <c:v>317</c:v>
              </c:pt>
              <c:pt idx="4">
                <c:v>306</c:v>
              </c:pt>
              <c:pt idx="5">
                <c:v>351</c:v>
              </c:pt>
              <c:pt idx="6">
                <c:v>361</c:v>
              </c:pt>
              <c:pt idx="7">
                <c:v>347</c:v>
              </c:pt>
              <c:pt idx="8">
                <c:v>241</c:v>
              </c:pt>
              <c:pt idx="9">
                <c:v>289</c:v>
              </c:pt>
              <c:pt idx="10">
                <c:v>353</c:v>
              </c:pt>
              <c:pt idx="11">
                <c:v>430</c:v>
              </c:pt>
              <c:pt idx="12">
                <c:v>319</c:v>
              </c:pt>
              <c:pt idx="13">
                <c:v>382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255</c:v>
              </c:pt>
              <c:pt idx="1">
                <c:v>242</c:v>
              </c:pt>
              <c:pt idx="2">
                <c:v>537</c:v>
              </c:pt>
              <c:pt idx="3">
                <c:v>544</c:v>
              </c:pt>
              <c:pt idx="4">
                <c:v>23</c:v>
              </c:pt>
              <c:pt idx="5">
                <c:v>29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138</c:v>
              </c:pt>
              <c:pt idx="1">
                <c:v>146</c:v>
              </c:pt>
              <c:pt idx="2">
                <c:v>91</c:v>
              </c:pt>
              <c:pt idx="3">
                <c:v>91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32</c:v>
              </c:pt>
              <c:pt idx="1">
                <c:v>33</c:v>
              </c:pt>
              <c:pt idx="2">
                <c:v>161</c:v>
              </c:pt>
              <c:pt idx="3">
                <c:v>168</c:v>
              </c:pt>
              <c:pt idx="4">
                <c:v>1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39</c:v>
              </c:pt>
              <c:pt idx="1">
                <c:v>36</c:v>
              </c:pt>
              <c:pt idx="2">
                <c:v>52</c:v>
              </c:pt>
              <c:pt idx="3">
                <c:v>51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0</c:v>
              </c:pt>
              <c:pt idx="1">
                <c:v>0</c:v>
              </c:pt>
              <c:pt idx="2">
                <c:v>46</c:v>
              </c:pt>
              <c:pt idx="3">
                <c:v>53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46</c:v>
              </c:pt>
              <c:pt idx="1">
                <c:v>26</c:v>
              </c:pt>
              <c:pt idx="2">
                <c:v>77</c:v>
              </c:pt>
              <c:pt idx="3">
                <c:v>68</c:v>
              </c:pt>
              <c:pt idx="4">
                <c:v>22</c:v>
              </c:pt>
              <c:pt idx="5">
                <c:v>19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0</c:v>
              </c:pt>
              <c:pt idx="1">
                <c:v>1</c:v>
              </c:pt>
              <c:pt idx="2">
                <c:v>110</c:v>
              </c:pt>
              <c:pt idx="3">
                <c:v>115</c:v>
              </c:pt>
              <c:pt idx="4">
                <c:v>0</c:v>
              </c:pt>
              <c:pt idx="5">
                <c:v>10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Volcable 1</c:v>
              </c:pt>
              <c:pt idx="1">
                <c:v>Volcable 2</c:v>
              </c:pt>
            </c:strLit>
          </c:cat>
          <c:val>
            <c:numLit>
              <c:formatCode>0</c:formatCode>
              <c:ptCount val="2"/>
              <c:pt idx="0">
                <c:v>254</c:v>
              </c:pt>
              <c:pt idx="1">
                <c:v>53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31</c:v>
              </c:pt>
              <c:pt idx="1">
                <c:v>175</c:v>
              </c:pt>
              <c:pt idx="2">
                <c:v>233</c:v>
              </c:pt>
              <c:pt idx="3">
                <c:v>235</c:v>
              </c:pt>
              <c:pt idx="4">
                <c:v>568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138</c:v>
              </c:pt>
              <c:pt idx="3">
                <c:v>129</c:v>
              </c:pt>
              <c:pt idx="4">
                <c:v>133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30</c:v>
              </c:pt>
              <c:pt idx="1">
                <c:v>39</c:v>
              </c:pt>
              <c:pt idx="2">
                <c:v>78</c:v>
              </c:pt>
              <c:pt idx="3">
                <c:v>80</c:v>
              </c:pt>
              <c:pt idx="4">
                <c:v>98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1</c:v>
              </c:pt>
              <c:pt idx="1">
                <c:v>43</c:v>
              </c:pt>
              <c:pt idx="2">
                <c:v>0</c:v>
              </c:pt>
              <c:pt idx="3">
                <c:v>26</c:v>
              </c:pt>
              <c:pt idx="4">
                <c:v>115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15</c:v>
              </c:pt>
              <c:pt idx="3">
                <c:v>0</c:v>
              </c:pt>
              <c:pt idx="4">
                <c:v>82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44</c:v>
              </c:pt>
              <c:pt idx="2">
                <c:v>0</c:v>
              </c:pt>
              <c:pt idx="3">
                <c:v>0</c:v>
              </c:pt>
              <c:pt idx="4">
                <c:v>82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49</c:v>
              </c:pt>
              <c:pt idx="2">
                <c:v>2</c:v>
              </c:pt>
              <c:pt idx="3">
                <c:v>0</c:v>
              </c:pt>
              <c:pt idx="4">
                <c:v>58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Manual1001" Type="http://schemas.openxmlformats.org/officeDocument/2006/relationships/chart" Target="../charts/chart100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Relationship Id="rIdManual1007" Type="http://schemas.openxmlformats.org/officeDocument/2006/relationships/chart" Target="../charts/chart100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Manual1010" Type="http://schemas.openxmlformats.org/officeDocument/2006/relationships/chart" Target="../charts/chart10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4" Type="http://schemas.openxmlformats.org/officeDocument/2006/relationships/chart" Target="../charts/chart10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Relationship Id="rIdManual1015" Type="http://schemas.openxmlformats.org/officeDocument/2006/relationships/chart" Target="../charts/chart10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Relationship Id="rIdManual1016" Type="http://schemas.openxmlformats.org/officeDocument/2006/relationships/chart" Target="../charts/chart10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Relationship Id="rIdManual1017" Type="http://schemas.openxmlformats.org/officeDocument/2006/relationships/chart" Target="../charts/chart10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Relationship Id="rIdManual1018" Type="http://schemas.openxmlformats.org/officeDocument/2006/relationships/chart" Target="../charts/chart10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Relationship Id="rIdManual1019" Type="http://schemas.openxmlformats.org/officeDocument/2006/relationships/chart" Target="../charts/chart101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Relationship Id="rIdManual1028" Type="http://schemas.openxmlformats.org/officeDocument/2006/relationships/chart" Target="../charts/chart10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Relationship Id="rIdManual1029" Type="http://schemas.openxmlformats.org/officeDocument/2006/relationships/chart" Target="../charts/chart10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Relationship Id="rIdManual1030" Type="http://schemas.openxmlformats.org/officeDocument/2006/relationships/chart" Target="../charts/chart103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Relationship Id="rIdManual1031" Type="http://schemas.openxmlformats.org/officeDocument/2006/relationships/chart" Target="../charts/chart103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Relationship Id="rIdManual1032" Type="http://schemas.openxmlformats.org/officeDocument/2006/relationships/chart" Target="../charts/chart103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Relationship Id="rIdManual1033" Type="http://schemas.openxmlformats.org/officeDocument/2006/relationships/chart" Target="../charts/chart103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Período analizado: 17/09 al 22/09/2026</a:t>
            </a:r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Tamaño de la muestra y período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soja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4–18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Operativo de pellet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19–26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4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semilla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27–32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5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33–51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volcables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52–72</a:t>
            </a:r>
            <a:endParaRPr sz="12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PERÍODO DE ANÁLISIS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Inicio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17/09</a:t>
            </a:r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Fin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22/09</a:t>
            </a:r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Días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6</a:t>
            </a:r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VOLUMEN TOTAL REGISTRADO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1.721</a:t>
            </a:r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camiones · recorridos de cámara clasificados</a:t>
            </a:r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SOJA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1.304</a:t>
            </a:r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GIRASOL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234</a:t>
            </a:r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LÍQUIDOS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159</a:t>
            </a:r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PELLET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24</a:t>
            </a:r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Totales por producto del informe de referencia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5/72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91086" y="1370979"/>
            <a:ext cx="353226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691086" y="1700979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8 / Todas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750764" y="1767814"/>
            <a:ext cx="200925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510020" y="1767814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849  (33%)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91086" y="2019243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7 Cámaras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750764" y="2086078"/>
            <a:ext cx="1706329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07093" y="2086078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721  (28,2%)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691086" y="2337507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50764" y="2404342"/>
            <a:ext cx="109337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869140" y="2404342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462  (18,1%)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91086" y="2655771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750764" y="2722606"/>
            <a:ext cx="724184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499948" y="2722606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306  (12%)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691086" y="2974035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750764" y="3040870"/>
            <a:ext cx="518288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294052" y="3040870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219  (8,6%)</a:t>
            </a:r>
          </a:p>
        </p:txBody>
      </p:sp>
      <p:graphicFrame>
        <p:nvGraphicFramePr>
          <p:cNvPr id="137" name="D05_G2"/>
          <p:cNvGraphicFramePr/>
          <p:nvPr/>
        </p:nvGraphicFramePr>
        <p:xfrm>
          <a:off x="542025" y="1284563"/>
          <a:ext cx="3583200" cy="1693812"/>
        </p:xfrm>
        <a:graphic>
          <a:graphicData uri="http://schemas.openxmlformats.org/drawingml/2006/chart">
            <c:chart r:id="rIdManual100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164</a:t>
            </a:r>
            <a:endParaRPr b="1" sz="1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151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118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104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511</a:t>
            </a:r>
            <a:endParaRPr b="1" sz="15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168</a:t>
            </a:r>
            <a:endParaRPr b="1" sz="1166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91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347 </a:t>
            </a:r>
            <a:r>
              <a:rPr b="1" lang="es" sz="13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178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482</a:t>
            </a:r>
            <a:endParaRPr b="1" sz="24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47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183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195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81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40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419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175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203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55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272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5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74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14 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32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229 </a:t>
            </a:r>
            <a:r>
              <a:rPr b="1" lang="es" sz="13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66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292</a:t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14/09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18m)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1166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217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396 </a:t>
            </a:r>
            <a:r>
              <a:rPr b="1" lang="es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110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115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395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284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179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387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 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127 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352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135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27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Miércoles 16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15/72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1281763" y="7411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704" name="Rectangle 703"/>
          <p:cNvSpPr/>
          <p:nvPr/>
        </p:nvSpPr>
        <p:spPr>
          <a:xfrm>
            <a:off x="2914213" y="107117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TextBox 704"/>
          <p:cNvSpPr txBox="1"/>
          <p:nvPr/>
        </p:nvSpPr>
        <p:spPr>
          <a:xfrm>
            <a:off x="3094213" y="105117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706" name="Rectangle 705"/>
          <p:cNvSpPr/>
          <p:nvPr/>
        </p:nvSpPr>
        <p:spPr>
          <a:xfrm>
            <a:off x="4914213" y="107117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TextBox 706"/>
          <p:cNvSpPr txBox="1"/>
          <p:nvPr/>
        </p:nvSpPr>
        <p:spPr>
          <a:xfrm>
            <a:off x="5094213" y="105117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1281763" y="1311174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709" name="Rectangle 708"/>
          <p:cNvSpPr/>
          <p:nvPr/>
        </p:nvSpPr>
        <p:spPr>
          <a:xfrm>
            <a:off x="2370063" y="1409861"/>
            <a:ext cx="2506831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TextBox 709"/>
          <p:cNvSpPr txBox="1"/>
          <p:nvPr/>
        </p:nvSpPr>
        <p:spPr>
          <a:xfrm>
            <a:off x="2370063" y="1409861"/>
            <a:ext cx="250683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182</a:t>
            </a:r>
          </a:p>
        </p:txBody>
      </p:sp>
      <p:sp>
        <p:nvSpPr>
          <p:cNvPr id="711" name="Rectangle 710"/>
          <p:cNvSpPr/>
          <p:nvPr/>
        </p:nvSpPr>
        <p:spPr>
          <a:xfrm>
            <a:off x="4876894" y="1409861"/>
            <a:ext cx="2313998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4876894" y="1409861"/>
            <a:ext cx="2313998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1281763" y="1830577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714" name="Rectangle 713"/>
          <p:cNvSpPr/>
          <p:nvPr/>
        </p:nvSpPr>
        <p:spPr>
          <a:xfrm>
            <a:off x="2370063" y="1929264"/>
            <a:ext cx="2520605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2370063" y="1929264"/>
            <a:ext cx="2520605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183</a:t>
            </a:r>
          </a:p>
        </p:txBody>
      </p:sp>
      <p:sp>
        <p:nvSpPr>
          <p:cNvPr id="716" name="Rectangle 715"/>
          <p:cNvSpPr/>
          <p:nvPr/>
        </p:nvSpPr>
        <p:spPr>
          <a:xfrm>
            <a:off x="4890668" y="1929264"/>
            <a:ext cx="2066070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TextBox 716"/>
          <p:cNvSpPr txBox="1"/>
          <p:nvPr/>
        </p:nvSpPr>
        <p:spPr>
          <a:xfrm>
            <a:off x="4890668" y="1929264"/>
            <a:ext cx="206607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1281763" y="2349980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719" name="Rectangle 718"/>
          <p:cNvSpPr/>
          <p:nvPr/>
        </p:nvSpPr>
        <p:spPr>
          <a:xfrm>
            <a:off x="2370063" y="2448667"/>
            <a:ext cx="2410415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TextBox 719"/>
          <p:cNvSpPr txBox="1"/>
          <p:nvPr/>
        </p:nvSpPr>
        <p:spPr>
          <a:xfrm>
            <a:off x="2370063" y="2448667"/>
            <a:ext cx="2410415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175</a:t>
            </a:r>
          </a:p>
        </p:txBody>
      </p:sp>
      <p:sp>
        <p:nvSpPr>
          <p:cNvPr id="721" name="Rectangle 720"/>
          <p:cNvSpPr/>
          <p:nvPr/>
        </p:nvSpPr>
        <p:spPr>
          <a:xfrm>
            <a:off x="4780478" y="2448667"/>
            <a:ext cx="2796081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TextBox 721"/>
          <p:cNvSpPr txBox="1"/>
          <p:nvPr/>
        </p:nvSpPr>
        <p:spPr>
          <a:xfrm>
            <a:off x="4780478" y="2448667"/>
            <a:ext cx="279608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203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1281763" y="2869383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724" name="Rectangle 723"/>
          <p:cNvSpPr/>
          <p:nvPr/>
        </p:nvSpPr>
        <p:spPr>
          <a:xfrm>
            <a:off x="2370063" y="2968070"/>
            <a:ext cx="2575700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TextBox 724"/>
          <p:cNvSpPr txBox="1"/>
          <p:nvPr/>
        </p:nvSpPr>
        <p:spPr>
          <a:xfrm>
            <a:off x="2370063" y="2968070"/>
            <a:ext cx="257570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187</a:t>
            </a:r>
          </a:p>
        </p:txBody>
      </p:sp>
      <p:sp>
        <p:nvSpPr>
          <p:cNvPr id="726" name="Rectangle 725"/>
          <p:cNvSpPr/>
          <p:nvPr/>
        </p:nvSpPr>
        <p:spPr>
          <a:xfrm>
            <a:off x="4945763" y="2968070"/>
            <a:ext cx="1019261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TextBox 726"/>
          <p:cNvSpPr txBox="1"/>
          <p:nvPr/>
        </p:nvSpPr>
        <p:spPr>
          <a:xfrm>
            <a:off x="4945763" y="2968070"/>
            <a:ext cx="101926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74</a:t>
            </a:r>
          </a:p>
        </p:txBody>
      </p:sp>
      <p:sp>
        <p:nvSpPr>
          <p:cNvPr id="728" name="TextBox 727"/>
          <p:cNvSpPr txBox="1"/>
          <p:nvPr/>
        </p:nvSpPr>
        <p:spPr>
          <a:xfrm>
            <a:off x="1281763" y="3388786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2370063" y="3487473"/>
            <a:ext cx="1074356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2370063" y="3487473"/>
            <a:ext cx="1074356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78</a:t>
            </a:r>
          </a:p>
        </p:txBody>
      </p:sp>
      <p:sp>
        <p:nvSpPr>
          <p:cNvPr id="731" name="Rectangle 730"/>
          <p:cNvSpPr/>
          <p:nvPr/>
        </p:nvSpPr>
        <p:spPr>
          <a:xfrm>
            <a:off x="3444419" y="3487473"/>
            <a:ext cx="1914558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TextBox 731"/>
          <p:cNvSpPr txBox="1"/>
          <p:nvPr/>
        </p:nvSpPr>
        <p:spPr>
          <a:xfrm>
            <a:off x="3444419" y="3487473"/>
            <a:ext cx="1914558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733" name="TextBox 732"/>
          <p:cNvSpPr txBox="1"/>
          <p:nvPr/>
        </p:nvSpPr>
        <p:spPr>
          <a:xfrm>
            <a:off x="1281763" y="3908189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734" name="Rectangle 733"/>
          <p:cNvSpPr/>
          <p:nvPr/>
        </p:nvSpPr>
        <p:spPr>
          <a:xfrm>
            <a:off x="2370063" y="4006876"/>
            <a:ext cx="1377380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TextBox 734"/>
          <p:cNvSpPr txBox="1"/>
          <p:nvPr/>
        </p:nvSpPr>
        <p:spPr>
          <a:xfrm>
            <a:off x="2370063" y="4006876"/>
            <a:ext cx="137738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>
        <p:nvSpPr>
          <p:cNvPr id="736" name="Rectangle 735"/>
          <p:cNvSpPr/>
          <p:nvPr/>
        </p:nvSpPr>
        <p:spPr>
          <a:xfrm>
            <a:off x="3747443" y="4006876"/>
            <a:ext cx="3911759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TextBox 736"/>
          <p:cNvSpPr txBox="1"/>
          <p:nvPr/>
        </p:nvSpPr>
        <p:spPr>
          <a:xfrm>
            <a:off x="3747443" y="4006876"/>
            <a:ext cx="3911759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284</a:t>
            </a:r>
          </a:p>
        </p:txBody>
      </p:sp>
      <p:sp>
        <p:nvSpPr>
          <p:cNvPr id="738" name="TextBox 737"/>
          <p:cNvSpPr txBox="1"/>
          <p:nvPr/>
        </p:nvSpPr>
        <p:spPr>
          <a:xfrm>
            <a:off x="1281763" y="4427592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2370063" y="4526279"/>
            <a:ext cx="1859463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2370063" y="4526279"/>
            <a:ext cx="1859463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135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4229526" y="4526279"/>
            <a:ext cx="3333259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4229526" y="4526279"/>
            <a:ext cx="3333259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28" title="Puntuación lograda"/>
          <p:cNvPicPr preferRelativeResize="0"/>
          <p:nvPr/>
        </p:nvPicPr>
        <p:blipFill rotWithShape="1">
          <a:blip r:embed="rId3">
            <a:alphaModFix/>
          </a:blip>
          <a:srcRect b="1966" l="0" r="0" t="1639"/>
          <a:stretch/>
        </p:blipFill>
        <p:spPr>
          <a:xfrm>
            <a:off x="1881750" y="2955400"/>
            <a:ext cx="5448501" cy="21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28" title="Puntuación lograda"/>
          <p:cNvPicPr preferRelativeResize="0"/>
          <p:nvPr/>
        </p:nvPicPr>
        <p:blipFill rotWithShape="1">
          <a:blip r:embed="rId4">
            <a:alphaModFix/>
          </a:blip>
          <a:srcRect b="0" l="0" r="0" t="12219"/>
          <a:stretch/>
        </p:blipFill>
        <p:spPr>
          <a:xfrm>
            <a:off x="2025814" y="597150"/>
            <a:ext cx="5152173" cy="232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16/72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20/72</a:t>
            </a:r>
          </a:p>
        </p:txBody>
      </p:sp>
      <p:graphicFrame>
        <p:nvGraphicFramePr>
          <p:cNvPr id="760" name="D20_G1"/>
          <p:cNvGraphicFramePr/>
          <p:nvPr/>
        </p:nvGraphicFramePr>
        <p:xfrm>
          <a:off x="3591150" y="1341900"/>
          <a:ext cx="5428950" cy="2967401"/>
        </p:xfrm>
        <a:graphic>
          <a:graphicData uri="http://schemas.openxmlformats.org/drawingml/2006/chart">
            <c:chart r:id="rIdManual1007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25/72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1625150" y="7431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3257600" y="107312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TextBox 1067"/>
          <p:cNvSpPr txBox="1"/>
          <p:nvPr/>
        </p:nvSpPr>
        <p:spPr>
          <a:xfrm>
            <a:off x="3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5257600" y="107312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5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625150" y="1313124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1072" name="Rectangle 1071"/>
          <p:cNvSpPr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103</a:t>
            </a:r>
          </a:p>
        </p:txBody>
      </p:sp>
      <p:sp>
        <p:nvSpPr>
          <p:cNvPr id="1074" name="Rectangle 1073"/>
          <p:cNvSpPr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1625150" y="3131037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1077" name="Rectangle 1076"/>
          <p:cNvSpPr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1079" name="Rectangle 1078"/>
          <p:cNvSpPr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28/72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3805154" y="1172153"/>
            <a:ext cx="411803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111" name="TextBox 1110"/>
          <p:cNvSpPr txBox="1"/>
          <p:nvPr/>
        </p:nvSpPr>
        <p:spPr>
          <a:xfrm>
            <a:off x="3805154" y="1502153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Todas</a:t>
            </a:r>
          </a:p>
        </p:txBody>
      </p:sp>
      <p:sp>
        <p:nvSpPr>
          <p:cNvPr id="1112" name="Rectangle 1111"/>
          <p:cNvSpPr/>
          <p:nvPr/>
        </p:nvSpPr>
        <p:spPr>
          <a:xfrm>
            <a:off x="5040564" y="1603421"/>
            <a:ext cx="2722295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TextBox 1112"/>
          <p:cNvSpPr txBox="1"/>
          <p:nvPr/>
        </p:nvSpPr>
        <p:spPr>
          <a:xfrm>
            <a:off x="6512859" y="1603421"/>
            <a:ext cx="121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296  (60%)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3805154" y="1984380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115" name="Rectangle 1114"/>
          <p:cNvSpPr/>
          <p:nvPr/>
        </p:nvSpPr>
        <p:spPr>
          <a:xfrm>
            <a:off x="5040564" y="2085648"/>
            <a:ext cx="910497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5976061" y="2085648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99  (20%)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3805154" y="2466607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118" name="Rectangle 1117"/>
          <p:cNvSpPr/>
          <p:nvPr/>
        </p:nvSpPr>
        <p:spPr>
          <a:xfrm>
            <a:off x="5040564" y="2567875"/>
            <a:ext cx="432256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TextBox 1118"/>
          <p:cNvSpPr txBox="1"/>
          <p:nvPr/>
        </p:nvSpPr>
        <p:spPr>
          <a:xfrm>
            <a:off x="5497820" y="2567875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47  (9,1%)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3805154" y="2948834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121" name="Rectangle 1120"/>
          <p:cNvSpPr/>
          <p:nvPr/>
        </p:nvSpPr>
        <p:spPr>
          <a:xfrm>
            <a:off x="5040564" y="3050102"/>
            <a:ext cx="469044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5534608" y="3050102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51  (10,9%)</a:t>
            </a:r>
          </a:p>
        </p:txBody>
      </p:sp>
      <p:graphicFrame>
        <p:nvGraphicFramePr>
          <p:cNvPr id="1092" name="D28_G2"/>
          <p:cNvGraphicFramePr/>
          <p:nvPr/>
        </p:nvGraphicFramePr>
        <p:xfrm>
          <a:off x="416400" y="1572352"/>
          <a:ext cx="3310476" cy="1796187"/>
        </p:xfrm>
        <a:graphic>
          <a:graphicData uri="http://schemas.openxmlformats.org/drawingml/2006/chart">
            <c:chart r:id="rIdManual1010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Actividad semanal por sede y tipo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Sede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Tipo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Horas activas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Camiones/h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Sólida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148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2.908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Líquida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49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152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San Lorenzo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Calada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90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237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Cada calada responde a una operación y una demanda diferentes.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2908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148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36/72</a:t>
            </a:r>
          </a:p>
        </p:txBody>
      </p:sp>
      <p:graphicFrame>
        <p:nvGraphicFramePr>
          <p:cNvPr id="1287" name="D36_G1"/>
          <p:cNvGraphicFramePr/>
          <p:nvPr/>
        </p:nvGraphicFramePr>
        <p:xfrm>
          <a:off x="1063050" y="960625"/>
          <a:ext cx="7309251" cy="3541425"/>
        </p:xfrm>
        <a:graphic>
          <a:graphicData uri="http://schemas.openxmlformats.org/drawingml/2006/chart">
            <c:chart r:id="rIdManual1014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38/72</a:t>
            </a:r>
          </a:p>
        </p:txBody>
      </p:sp>
      <p:graphicFrame>
        <p:nvGraphicFramePr>
          <p:cNvPr id="1325" name="D38_G1"/>
          <p:cNvGraphicFramePr/>
          <p:nvPr/>
        </p:nvGraphicFramePr>
        <p:xfrm>
          <a:off x="1171063" y="785274"/>
          <a:ext cx="6801876" cy="4205827"/>
        </p:xfrm>
        <a:graphic>
          <a:graphicData uri="http://schemas.openxmlformats.org/drawingml/2006/chart">
            <c:chart r:id="rIdManual101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40/72</a:t>
            </a:r>
          </a:p>
        </p:txBody>
      </p:sp>
      <p:graphicFrame>
        <p:nvGraphicFramePr>
          <p:cNvPr id="1359" name="D40_G1"/>
          <p:cNvGraphicFramePr/>
          <p:nvPr/>
        </p:nvGraphicFramePr>
        <p:xfrm>
          <a:off x="1171050" y="755499"/>
          <a:ext cx="6801876" cy="4205827"/>
        </p:xfrm>
        <a:graphic>
          <a:graphicData uri="http://schemas.openxmlformats.org/drawingml/2006/chart">
            <c:chart r:id="rIdManual101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42/72</a:t>
            </a:r>
          </a:p>
        </p:txBody>
      </p:sp>
      <p:graphicFrame>
        <p:nvGraphicFramePr>
          <p:cNvPr id="1393" name="D42_G1"/>
          <p:cNvGraphicFramePr/>
          <p:nvPr/>
        </p:nvGraphicFramePr>
        <p:xfrm>
          <a:off x="1171063" y="844799"/>
          <a:ext cx="6801876" cy="4205827"/>
        </p:xfrm>
        <a:graphic>
          <a:graphicData uri="http://schemas.openxmlformats.org/drawingml/2006/chart">
            <c:chart r:id="rIdManual1017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44/72</a:t>
            </a:r>
          </a:p>
        </p:txBody>
      </p:sp>
      <p:graphicFrame>
        <p:nvGraphicFramePr>
          <p:cNvPr id="1427" name="D44_G1"/>
          <p:cNvGraphicFramePr/>
          <p:nvPr/>
        </p:nvGraphicFramePr>
        <p:xfrm>
          <a:off x="1171063" y="800174"/>
          <a:ext cx="6801876" cy="4205827"/>
        </p:xfrm>
        <a:graphic>
          <a:graphicData uri="http://schemas.openxmlformats.org/drawingml/2006/chart">
            <c:chart r:id="rIdManual1018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46/72</a:t>
            </a:r>
          </a:p>
        </p:txBody>
      </p:sp>
      <p:graphicFrame>
        <p:nvGraphicFramePr>
          <p:cNvPr id="1461" name="D46_G1"/>
          <p:cNvGraphicFramePr/>
          <p:nvPr/>
        </p:nvGraphicFramePr>
        <p:xfrm>
          <a:off x="1171063" y="632874"/>
          <a:ext cx="6801876" cy="4205827"/>
        </p:xfrm>
        <a:graphic>
          <a:graphicData uri="http://schemas.openxmlformats.org/drawingml/2006/chart">
            <c:chart r:id="rIdManual1019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48/72</a:t>
            </a:r>
          </a:p>
        </p:txBody>
      </p:sp>
      <p:sp>
        <p:nvSpPr>
          <p:cNvPr id="1497" name="TextBox 1496"/>
          <p:cNvSpPr txBox="1"/>
          <p:nvPr/>
        </p:nvSpPr>
        <p:spPr>
          <a:xfrm>
            <a:off x="1171063" y="8299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98" name="TextBox 1497"/>
          <p:cNvSpPr txBox="1"/>
          <p:nvPr/>
        </p:nvSpPr>
        <p:spPr>
          <a:xfrm>
            <a:off x="1171063" y="115992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99" name="Rectangle 1498"/>
          <p:cNvSpPr/>
          <p:nvPr/>
        </p:nvSpPr>
        <p:spPr>
          <a:xfrm>
            <a:off x="2939550" y="1289118"/>
            <a:ext cx="424981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TextBox 1499"/>
          <p:cNvSpPr txBox="1"/>
          <p:nvPr/>
        </p:nvSpPr>
        <p:spPr>
          <a:xfrm>
            <a:off x="6409363" y="128911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176</a:t>
            </a:r>
          </a:p>
        </p:txBody>
      </p:sp>
      <p:sp>
        <p:nvSpPr>
          <p:cNvPr id="1501" name="TextBox 1500"/>
          <p:cNvSpPr txBox="1"/>
          <p:nvPr/>
        </p:nvSpPr>
        <p:spPr>
          <a:xfrm>
            <a:off x="1171063" y="180589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502" name="Rectangle 1501"/>
          <p:cNvSpPr/>
          <p:nvPr/>
        </p:nvSpPr>
        <p:spPr>
          <a:xfrm>
            <a:off x="2939550" y="1935089"/>
            <a:ext cx="408078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6240336" y="193508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169</a:t>
            </a:r>
          </a:p>
        </p:txBody>
      </p:sp>
      <p:sp>
        <p:nvSpPr>
          <p:cNvPr id="1504" name="TextBox 1503"/>
          <p:cNvSpPr txBox="1"/>
          <p:nvPr/>
        </p:nvSpPr>
        <p:spPr>
          <a:xfrm>
            <a:off x="1171063" y="245186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505" name="Rectangle 1504"/>
          <p:cNvSpPr/>
          <p:nvPr/>
        </p:nvSpPr>
        <p:spPr>
          <a:xfrm>
            <a:off x="2939550" y="2581060"/>
            <a:ext cx="130391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TextBox 1505"/>
          <p:cNvSpPr txBox="1"/>
          <p:nvPr/>
        </p:nvSpPr>
        <p:spPr>
          <a:xfrm>
            <a:off x="3463469" y="258106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54</a:t>
            </a:r>
          </a:p>
        </p:txBody>
      </p:sp>
      <p:sp>
        <p:nvSpPr>
          <p:cNvPr id="1507" name="TextBox 1506"/>
          <p:cNvSpPr txBox="1"/>
          <p:nvPr/>
        </p:nvSpPr>
        <p:spPr>
          <a:xfrm>
            <a:off x="1171063" y="309783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508" name="Rectangle 1507"/>
          <p:cNvSpPr/>
          <p:nvPr/>
        </p:nvSpPr>
        <p:spPr>
          <a:xfrm>
            <a:off x="2939550" y="3227031"/>
            <a:ext cx="130391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TextBox 1508"/>
          <p:cNvSpPr txBox="1"/>
          <p:nvPr/>
        </p:nvSpPr>
        <p:spPr>
          <a:xfrm>
            <a:off x="3463469" y="322703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54</a:t>
            </a:r>
          </a:p>
        </p:txBody>
      </p:sp>
      <p:sp>
        <p:nvSpPr>
          <p:cNvPr id="1510" name="TextBox 1509"/>
          <p:cNvSpPr txBox="1"/>
          <p:nvPr/>
        </p:nvSpPr>
        <p:spPr>
          <a:xfrm>
            <a:off x="1171063" y="374380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511" name="Rectangle 1510"/>
          <p:cNvSpPr/>
          <p:nvPr/>
        </p:nvSpPr>
        <p:spPr>
          <a:xfrm>
            <a:off x="2939550" y="3873002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TextBox 1511"/>
          <p:cNvSpPr txBox="1"/>
          <p:nvPr/>
        </p:nvSpPr>
        <p:spPr>
          <a:xfrm>
            <a:off x="2988696" y="387300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513" name="TextBox 1512"/>
          <p:cNvSpPr txBox="1"/>
          <p:nvPr/>
        </p:nvSpPr>
        <p:spPr>
          <a:xfrm>
            <a:off x="1171063" y="438977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514" name="Rectangle 1513"/>
          <p:cNvSpPr/>
          <p:nvPr/>
        </p:nvSpPr>
        <p:spPr>
          <a:xfrm>
            <a:off x="2939550" y="4518973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TextBox 1514"/>
          <p:cNvSpPr txBox="1"/>
          <p:nvPr/>
        </p:nvSpPr>
        <p:spPr>
          <a:xfrm>
            <a:off x="2988696" y="451897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14/9 20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49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50/72</a:t>
            </a:r>
          </a:p>
        </p:txBody>
      </p:sp>
      <p:sp>
        <p:nvSpPr>
          <p:cNvPr id="1549" name="TextBox 1548"/>
          <p:cNvSpPr txBox="1"/>
          <p:nvPr/>
        </p:nvSpPr>
        <p:spPr>
          <a:xfrm>
            <a:off x="451325" y="1664024"/>
            <a:ext cx="3724275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Camiones por día</a:t>
            </a:r>
          </a:p>
        </p:txBody>
      </p:sp>
      <p:sp>
        <p:nvSpPr>
          <p:cNvPr id="1550" name="TextBox 1549"/>
          <p:cNvSpPr txBox="1"/>
          <p:nvPr/>
        </p:nvSpPr>
        <p:spPr>
          <a:xfrm>
            <a:off x="451325" y="1994024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1551" name="Rectangle 1550"/>
          <p:cNvSpPr/>
          <p:nvPr/>
        </p:nvSpPr>
        <p:spPr>
          <a:xfrm>
            <a:off x="1419636" y="2043373"/>
            <a:ext cx="26442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TextBox 1551"/>
          <p:cNvSpPr txBox="1"/>
          <p:nvPr/>
        </p:nvSpPr>
        <p:spPr>
          <a:xfrm>
            <a:off x="1471078" y="2043373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553" name="TextBox 1552"/>
          <p:cNvSpPr txBox="1"/>
          <p:nvPr/>
        </p:nvSpPr>
        <p:spPr>
          <a:xfrm>
            <a:off x="451325" y="2240767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1554" name="Rectangle 1553"/>
          <p:cNvSpPr/>
          <p:nvPr/>
        </p:nvSpPr>
        <p:spPr>
          <a:xfrm>
            <a:off x="1419636" y="2290116"/>
            <a:ext cx="105769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TextBox 1554"/>
          <p:cNvSpPr txBox="1"/>
          <p:nvPr/>
        </p:nvSpPr>
        <p:spPr>
          <a:xfrm>
            <a:off x="1550405" y="2290116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4</a:t>
            </a:r>
          </a:p>
        </p:txBody>
      </p:sp>
      <p:sp>
        <p:nvSpPr>
          <p:cNvPr id="1556" name="TextBox 1555"/>
          <p:cNvSpPr txBox="1"/>
          <p:nvPr/>
        </p:nvSpPr>
        <p:spPr>
          <a:xfrm>
            <a:off x="451325" y="2487510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1557" name="Rectangle 1556"/>
          <p:cNvSpPr/>
          <p:nvPr/>
        </p:nvSpPr>
        <p:spPr>
          <a:xfrm>
            <a:off x="1419636" y="2536859"/>
            <a:ext cx="52884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TextBox 1557"/>
          <p:cNvSpPr txBox="1"/>
          <p:nvPr/>
        </p:nvSpPr>
        <p:spPr>
          <a:xfrm>
            <a:off x="1497520" y="2536859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2</a:t>
            </a:r>
          </a:p>
        </p:txBody>
      </p:sp>
      <p:sp>
        <p:nvSpPr>
          <p:cNvPr id="1559" name="TextBox 1558"/>
          <p:cNvSpPr txBox="1"/>
          <p:nvPr/>
        </p:nvSpPr>
        <p:spPr>
          <a:xfrm>
            <a:off x="451325" y="2734253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1560" name="TextBox 1559"/>
          <p:cNvSpPr txBox="1"/>
          <p:nvPr/>
        </p:nvSpPr>
        <p:spPr>
          <a:xfrm>
            <a:off x="1444636" y="2783602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561" name="TextBox 1560"/>
          <p:cNvSpPr txBox="1"/>
          <p:nvPr/>
        </p:nvSpPr>
        <p:spPr>
          <a:xfrm>
            <a:off x="451325" y="2980996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1562" name="Rectangle 1561"/>
          <p:cNvSpPr/>
          <p:nvPr/>
        </p:nvSpPr>
        <p:spPr>
          <a:xfrm>
            <a:off x="1419636" y="3030345"/>
            <a:ext cx="2406254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TextBox 1562"/>
          <p:cNvSpPr txBox="1"/>
          <p:nvPr/>
        </p:nvSpPr>
        <p:spPr>
          <a:xfrm>
            <a:off x="3045890" y="3030345"/>
            <a:ext cx="74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91</a:t>
            </a:r>
          </a:p>
        </p:txBody>
      </p:sp>
      <p:sp>
        <p:nvSpPr>
          <p:cNvPr id="1564" name="TextBox 1563"/>
          <p:cNvSpPr txBox="1"/>
          <p:nvPr/>
        </p:nvSpPr>
        <p:spPr>
          <a:xfrm>
            <a:off x="451325" y="3227739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1565" name="Rectangle 1564"/>
          <p:cNvSpPr/>
          <p:nvPr/>
        </p:nvSpPr>
        <p:spPr>
          <a:xfrm>
            <a:off x="1419636" y="3277088"/>
            <a:ext cx="713943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TextBox 1565"/>
          <p:cNvSpPr txBox="1"/>
          <p:nvPr/>
        </p:nvSpPr>
        <p:spPr>
          <a:xfrm>
            <a:off x="2158579" y="3277088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27</a:t>
            </a:r>
          </a:p>
        </p:txBody>
      </p:sp>
      <p:sp>
        <p:nvSpPr>
          <p:cNvPr id="1567" name="TextBox 1566"/>
          <p:cNvSpPr txBox="1"/>
          <p:nvPr/>
        </p:nvSpPr>
        <p:spPr>
          <a:xfrm>
            <a:off x="451325" y="3474482"/>
            <a:ext cx="928311" cy="24674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1568" name="Rectangle 1567"/>
          <p:cNvSpPr/>
          <p:nvPr/>
        </p:nvSpPr>
        <p:spPr>
          <a:xfrm>
            <a:off x="1419636" y="3523831"/>
            <a:ext cx="793270" cy="148045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TextBox 1568"/>
          <p:cNvSpPr txBox="1"/>
          <p:nvPr/>
        </p:nvSpPr>
        <p:spPr>
          <a:xfrm>
            <a:off x="2237906" y="3523831"/>
            <a:ext cx="780000" cy="14804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30</a:t>
            </a:r>
          </a:p>
        </p:txBody>
      </p:sp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85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51/72</a:t>
            </a:r>
          </a:p>
        </p:txBody>
      </p:sp>
      <p:sp>
        <p:nvSpPr>
          <p:cNvPr id="1575" name="TextBox 1574"/>
          <p:cNvSpPr txBox="1"/>
          <p:nvPr/>
        </p:nvSpPr>
        <p:spPr>
          <a:xfrm>
            <a:off x="304800" y="1714849"/>
            <a:ext cx="358365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Camiones por día</a:t>
            </a:r>
          </a:p>
        </p:txBody>
      </p:sp>
      <p:sp>
        <p:nvSpPr>
          <p:cNvPr id="1576" name="TextBox 1575"/>
          <p:cNvSpPr txBox="1"/>
          <p:nvPr/>
        </p:nvSpPr>
        <p:spPr>
          <a:xfrm>
            <a:off x="304800" y="2044849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1577" name="Rectangle 1576"/>
          <p:cNvSpPr/>
          <p:nvPr/>
        </p:nvSpPr>
        <p:spPr>
          <a:xfrm>
            <a:off x="1236549" y="2091786"/>
            <a:ext cx="2332359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TextBox 1577"/>
          <p:cNvSpPr txBox="1"/>
          <p:nvPr/>
        </p:nvSpPr>
        <p:spPr>
          <a:xfrm>
            <a:off x="2788908" y="2091786"/>
            <a:ext cx="74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55</a:t>
            </a:r>
          </a:p>
        </p:txBody>
      </p:sp>
      <p:sp>
        <p:nvSpPr>
          <p:cNvPr id="1579" name="TextBox 1578"/>
          <p:cNvSpPr txBox="1"/>
          <p:nvPr/>
        </p:nvSpPr>
        <p:spPr>
          <a:xfrm>
            <a:off x="304800" y="2279532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1580" name="Rectangle 1579"/>
          <p:cNvSpPr/>
          <p:nvPr/>
        </p:nvSpPr>
        <p:spPr>
          <a:xfrm>
            <a:off x="1236549" y="2326469"/>
            <a:ext cx="1993107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TextBox 1580"/>
          <p:cNvSpPr txBox="1"/>
          <p:nvPr/>
        </p:nvSpPr>
        <p:spPr>
          <a:xfrm>
            <a:off x="2449656" y="2326469"/>
            <a:ext cx="74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47</a:t>
            </a:r>
          </a:p>
        </p:txBody>
      </p:sp>
      <p:sp>
        <p:nvSpPr>
          <p:cNvPr id="1582" name="TextBox 1581"/>
          <p:cNvSpPr txBox="1"/>
          <p:nvPr/>
        </p:nvSpPr>
        <p:spPr>
          <a:xfrm>
            <a:off x="304800" y="2514215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1583" name="Rectangle 1582"/>
          <p:cNvSpPr/>
          <p:nvPr/>
        </p:nvSpPr>
        <p:spPr>
          <a:xfrm>
            <a:off x="1236549" y="2561152"/>
            <a:ext cx="296845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TextBox 1583"/>
          <p:cNvSpPr txBox="1"/>
          <p:nvPr/>
        </p:nvSpPr>
        <p:spPr>
          <a:xfrm>
            <a:off x="1558394" y="2561152"/>
            <a:ext cx="78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7</a:t>
            </a:r>
          </a:p>
        </p:txBody>
      </p:sp>
      <p:sp>
        <p:nvSpPr>
          <p:cNvPr id="1585" name="TextBox 1584"/>
          <p:cNvSpPr txBox="1"/>
          <p:nvPr/>
        </p:nvSpPr>
        <p:spPr>
          <a:xfrm>
            <a:off x="304800" y="2748898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1586" name="Rectangle 1585"/>
          <p:cNvSpPr/>
          <p:nvPr/>
        </p:nvSpPr>
        <p:spPr>
          <a:xfrm>
            <a:off x="1236549" y="2795835"/>
            <a:ext cx="84813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TextBox 1586"/>
          <p:cNvSpPr txBox="1"/>
          <p:nvPr/>
        </p:nvSpPr>
        <p:spPr>
          <a:xfrm>
            <a:off x="1346362" y="2795835"/>
            <a:ext cx="78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2</a:t>
            </a:r>
          </a:p>
        </p:txBody>
      </p:sp>
      <p:sp>
        <p:nvSpPr>
          <p:cNvPr id="1588" name="TextBox 1587"/>
          <p:cNvSpPr txBox="1"/>
          <p:nvPr/>
        </p:nvSpPr>
        <p:spPr>
          <a:xfrm>
            <a:off x="304800" y="2983581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1589" name="Rectangle 1588"/>
          <p:cNvSpPr/>
          <p:nvPr/>
        </p:nvSpPr>
        <p:spPr>
          <a:xfrm>
            <a:off x="1236549" y="3030518"/>
            <a:ext cx="1696261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TextBox 1589"/>
          <p:cNvSpPr txBox="1"/>
          <p:nvPr/>
        </p:nvSpPr>
        <p:spPr>
          <a:xfrm>
            <a:off x="2152810" y="3030518"/>
            <a:ext cx="74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40</a:t>
            </a:r>
          </a:p>
        </p:txBody>
      </p:sp>
      <p:sp>
        <p:nvSpPr>
          <p:cNvPr id="1591" name="TextBox 1590"/>
          <p:cNvSpPr txBox="1"/>
          <p:nvPr/>
        </p:nvSpPr>
        <p:spPr>
          <a:xfrm>
            <a:off x="304800" y="3218264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1592" name="Rectangle 1591"/>
          <p:cNvSpPr/>
          <p:nvPr/>
        </p:nvSpPr>
        <p:spPr>
          <a:xfrm>
            <a:off x="1236549" y="3265201"/>
            <a:ext cx="2162733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TextBox 1592"/>
          <p:cNvSpPr txBox="1"/>
          <p:nvPr/>
        </p:nvSpPr>
        <p:spPr>
          <a:xfrm>
            <a:off x="2619282" y="3265201"/>
            <a:ext cx="74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51</a:t>
            </a:r>
          </a:p>
        </p:txBody>
      </p:sp>
      <p:sp>
        <p:nvSpPr>
          <p:cNvPr id="1594" name="TextBox 1593"/>
          <p:cNvSpPr txBox="1"/>
          <p:nvPr/>
        </p:nvSpPr>
        <p:spPr>
          <a:xfrm>
            <a:off x="304800" y="3452947"/>
            <a:ext cx="891749" cy="234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1595" name="Rectangle 1594"/>
          <p:cNvSpPr/>
          <p:nvPr/>
        </p:nvSpPr>
        <p:spPr>
          <a:xfrm>
            <a:off x="1236549" y="3499884"/>
            <a:ext cx="1696261" cy="140809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TextBox 1595"/>
          <p:cNvSpPr txBox="1"/>
          <p:nvPr/>
        </p:nvSpPr>
        <p:spPr>
          <a:xfrm>
            <a:off x="2152810" y="3499884"/>
            <a:ext cx="740000" cy="14080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40</a:t>
            </a:r>
          </a:p>
        </p:txBody>
      </p:sp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53/72</a:t>
            </a:r>
          </a:p>
        </p:txBody>
      </p:sp>
      <p:sp>
        <p:nvSpPr>
          <p:cNvPr id="1590" name="TextBox 1589"/>
          <p:cNvSpPr txBox="1"/>
          <p:nvPr/>
        </p:nvSpPr>
        <p:spPr>
          <a:xfrm>
            <a:off x="1544913" y="691450"/>
            <a:ext cx="6345525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Volcable 1/2 por día</a:t>
            </a:r>
          </a:p>
        </p:txBody>
      </p:sp>
      <p:sp>
        <p:nvSpPr>
          <p:cNvPr id="1591" name="Rectangle 1590"/>
          <p:cNvSpPr/>
          <p:nvPr/>
        </p:nvSpPr>
        <p:spPr>
          <a:xfrm>
            <a:off x="3321660" y="1021450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TextBox 1591"/>
          <p:cNvSpPr txBox="1"/>
          <p:nvPr/>
        </p:nvSpPr>
        <p:spPr>
          <a:xfrm>
            <a:off x="3501660" y="1001450"/>
            <a:ext cx="14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593" name="Rectangle 1592"/>
          <p:cNvSpPr/>
          <p:nvPr/>
        </p:nvSpPr>
        <p:spPr>
          <a:xfrm>
            <a:off x="5221660" y="1021450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TextBox 1593"/>
          <p:cNvSpPr txBox="1"/>
          <p:nvPr/>
        </p:nvSpPr>
        <p:spPr>
          <a:xfrm>
            <a:off x="5401660" y="1001450"/>
            <a:ext cx="14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595" name="TextBox 1594"/>
          <p:cNvSpPr txBox="1"/>
          <p:nvPr/>
        </p:nvSpPr>
        <p:spPr>
          <a:xfrm>
            <a:off x="1544913" y="1261450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1596" name="Rectangle 1595"/>
          <p:cNvSpPr/>
          <p:nvPr/>
        </p:nvSpPr>
        <p:spPr>
          <a:xfrm>
            <a:off x="2814018" y="1288083"/>
            <a:ext cx="3359162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TextBox 1596"/>
          <p:cNvSpPr txBox="1"/>
          <p:nvPr/>
        </p:nvSpPr>
        <p:spPr>
          <a:xfrm>
            <a:off x="5553180" y="1288083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55</a:t>
            </a:r>
          </a:p>
        </p:txBody>
      </p:sp>
      <p:sp>
        <p:nvSpPr>
          <p:cNvPr id="1598" name="Rectangle 1597"/>
          <p:cNvSpPr/>
          <p:nvPr/>
        </p:nvSpPr>
        <p:spPr>
          <a:xfrm>
            <a:off x="2814018" y="1394617"/>
            <a:ext cx="1282589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TextBox 1598"/>
          <p:cNvSpPr txBox="1"/>
          <p:nvPr/>
        </p:nvSpPr>
        <p:spPr>
          <a:xfrm>
            <a:off x="3476607" y="1394617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21</a:t>
            </a:r>
          </a:p>
        </p:txBody>
      </p:sp>
      <p:sp>
        <p:nvSpPr>
          <p:cNvPr id="1600" name="TextBox 1599"/>
          <p:cNvSpPr txBox="1"/>
          <p:nvPr/>
        </p:nvSpPr>
        <p:spPr>
          <a:xfrm>
            <a:off x="1544913" y="1527785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1601" name="Rectangle 1600"/>
          <p:cNvSpPr/>
          <p:nvPr/>
        </p:nvSpPr>
        <p:spPr>
          <a:xfrm>
            <a:off x="2814018" y="1554418"/>
            <a:ext cx="4275298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TextBox 1601"/>
          <p:cNvSpPr txBox="1"/>
          <p:nvPr/>
        </p:nvSpPr>
        <p:spPr>
          <a:xfrm>
            <a:off x="6469316" y="1554418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70</a:t>
            </a:r>
          </a:p>
        </p:txBody>
      </p:sp>
      <p:sp>
        <p:nvSpPr>
          <p:cNvPr id="1603" name="Rectangle 1602"/>
          <p:cNvSpPr/>
          <p:nvPr/>
        </p:nvSpPr>
        <p:spPr>
          <a:xfrm>
            <a:off x="2814018" y="1660952"/>
            <a:ext cx="977211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TextBox 1603"/>
          <p:cNvSpPr txBox="1"/>
          <p:nvPr/>
        </p:nvSpPr>
        <p:spPr>
          <a:xfrm>
            <a:off x="3171229" y="1660952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16</a:t>
            </a:r>
          </a:p>
        </p:txBody>
      </p:sp>
      <p:sp>
        <p:nvSpPr>
          <p:cNvPr id="1605" name="TextBox 1604"/>
          <p:cNvSpPr txBox="1"/>
          <p:nvPr/>
        </p:nvSpPr>
        <p:spPr>
          <a:xfrm>
            <a:off x="1544913" y="1794120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1606" name="Rectangle 1605"/>
          <p:cNvSpPr/>
          <p:nvPr/>
        </p:nvSpPr>
        <p:spPr>
          <a:xfrm>
            <a:off x="2814018" y="1820753"/>
            <a:ext cx="4275298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TextBox 1606"/>
          <p:cNvSpPr txBox="1"/>
          <p:nvPr/>
        </p:nvSpPr>
        <p:spPr>
          <a:xfrm>
            <a:off x="6469316" y="1820753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70</a:t>
            </a:r>
          </a:p>
        </p:txBody>
      </p:sp>
      <p:sp>
        <p:nvSpPr>
          <p:cNvPr id="1608" name="Rectangle 1607"/>
          <p:cNvSpPr/>
          <p:nvPr/>
        </p:nvSpPr>
        <p:spPr>
          <a:xfrm>
            <a:off x="2814018" y="1927287"/>
            <a:ext cx="1038286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TextBox 1608"/>
          <p:cNvSpPr txBox="1"/>
          <p:nvPr/>
        </p:nvSpPr>
        <p:spPr>
          <a:xfrm>
            <a:off x="3232304" y="1927287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17</a:t>
            </a:r>
          </a:p>
        </p:txBody>
      </p:sp>
      <p:sp>
        <p:nvSpPr>
          <p:cNvPr id="1610" name="TextBox 1609"/>
          <p:cNvSpPr txBox="1"/>
          <p:nvPr/>
        </p:nvSpPr>
        <p:spPr>
          <a:xfrm>
            <a:off x="1544913" y="2060455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1611" name="Rectangle 1610"/>
          <p:cNvSpPr/>
          <p:nvPr/>
        </p:nvSpPr>
        <p:spPr>
          <a:xfrm>
            <a:off x="2814018" y="2087088"/>
            <a:ext cx="610756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TextBox 1611"/>
          <p:cNvSpPr txBox="1"/>
          <p:nvPr/>
        </p:nvSpPr>
        <p:spPr>
          <a:xfrm>
            <a:off x="3444774" y="2087088"/>
            <a:ext cx="62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434343"/>
                </a:solidFill>
                <a:latin typeface="Inter"/>
              </a:rPr>
              <a:t>10</a:t>
            </a:r>
          </a:p>
        </p:txBody>
      </p:sp>
      <p:sp>
        <p:nvSpPr>
          <p:cNvPr id="1613" name="Rectangle 1612"/>
          <p:cNvSpPr/>
          <p:nvPr/>
        </p:nvSpPr>
        <p:spPr>
          <a:xfrm>
            <a:off x="2814018" y="2193622"/>
            <a:ext cx="366454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TextBox 1613"/>
          <p:cNvSpPr txBox="1"/>
          <p:nvPr/>
        </p:nvSpPr>
        <p:spPr>
          <a:xfrm>
            <a:off x="3200472" y="2193622"/>
            <a:ext cx="62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434343"/>
                </a:solidFill>
                <a:latin typeface="Inter"/>
              </a:rPr>
              <a:t>6</a:t>
            </a:r>
          </a:p>
        </p:txBody>
      </p:sp>
      <p:sp>
        <p:nvSpPr>
          <p:cNvPr id="1615" name="TextBox 1614"/>
          <p:cNvSpPr txBox="1"/>
          <p:nvPr/>
        </p:nvSpPr>
        <p:spPr>
          <a:xfrm>
            <a:off x="1544913" y="2326790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1616" name="Rectangle 1615"/>
          <p:cNvSpPr/>
          <p:nvPr/>
        </p:nvSpPr>
        <p:spPr>
          <a:xfrm>
            <a:off x="2814018" y="2353423"/>
            <a:ext cx="2198724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TextBox 1616"/>
          <p:cNvSpPr txBox="1"/>
          <p:nvPr/>
        </p:nvSpPr>
        <p:spPr>
          <a:xfrm>
            <a:off x="4392742" y="2353423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36</a:t>
            </a:r>
          </a:p>
        </p:txBody>
      </p:sp>
      <p:sp>
        <p:nvSpPr>
          <p:cNvPr id="1618" name="Rectangle 1617"/>
          <p:cNvSpPr/>
          <p:nvPr/>
        </p:nvSpPr>
        <p:spPr>
          <a:xfrm>
            <a:off x="2814018" y="2459957"/>
            <a:ext cx="916135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TextBox 1618"/>
          <p:cNvSpPr txBox="1"/>
          <p:nvPr/>
        </p:nvSpPr>
        <p:spPr>
          <a:xfrm>
            <a:off x="3110153" y="2459957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15</a:t>
            </a:r>
          </a:p>
        </p:txBody>
      </p:sp>
      <p:sp>
        <p:nvSpPr>
          <p:cNvPr id="1620" name="TextBox 1619"/>
          <p:cNvSpPr txBox="1"/>
          <p:nvPr/>
        </p:nvSpPr>
        <p:spPr>
          <a:xfrm>
            <a:off x="1544913" y="2593125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1621" name="Rectangle 1620"/>
          <p:cNvSpPr/>
          <p:nvPr/>
        </p:nvSpPr>
        <p:spPr>
          <a:xfrm>
            <a:off x="2814018" y="2619758"/>
            <a:ext cx="3847768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TextBox 1621"/>
          <p:cNvSpPr txBox="1"/>
          <p:nvPr/>
        </p:nvSpPr>
        <p:spPr>
          <a:xfrm>
            <a:off x="6041786" y="2619758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63</a:t>
            </a:r>
          </a:p>
        </p:txBody>
      </p:sp>
      <p:sp>
        <p:nvSpPr>
          <p:cNvPr id="1623" name="Rectangle 1622"/>
          <p:cNvSpPr/>
          <p:nvPr/>
        </p:nvSpPr>
        <p:spPr>
          <a:xfrm>
            <a:off x="2814018" y="2726292"/>
            <a:ext cx="732908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TextBox 1623"/>
          <p:cNvSpPr txBox="1"/>
          <p:nvPr/>
        </p:nvSpPr>
        <p:spPr>
          <a:xfrm>
            <a:off x="2926926" y="2726292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12</a:t>
            </a:r>
          </a:p>
        </p:txBody>
      </p:sp>
      <p:sp>
        <p:nvSpPr>
          <p:cNvPr id="1625" name="TextBox 1624"/>
          <p:cNvSpPr txBox="1"/>
          <p:nvPr/>
        </p:nvSpPr>
        <p:spPr>
          <a:xfrm>
            <a:off x="1544913" y="2859460"/>
            <a:ext cx="1229105" cy="2663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1626" name="Rectangle 1625"/>
          <p:cNvSpPr/>
          <p:nvPr/>
        </p:nvSpPr>
        <p:spPr>
          <a:xfrm>
            <a:off x="2814018" y="2886093"/>
            <a:ext cx="4519600" cy="9161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TextBox 1626"/>
          <p:cNvSpPr txBox="1"/>
          <p:nvPr/>
        </p:nvSpPr>
        <p:spPr>
          <a:xfrm>
            <a:off x="6713618" y="2886093"/>
            <a:ext cx="59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Inter"/>
              </a:rPr>
              <a:t>74</a:t>
            </a:r>
          </a:p>
        </p:txBody>
      </p:sp>
      <p:sp>
        <p:nvSpPr>
          <p:cNvPr id="1628" name="Rectangle 1627"/>
          <p:cNvSpPr/>
          <p:nvPr/>
        </p:nvSpPr>
        <p:spPr>
          <a:xfrm>
            <a:off x="2814018" y="2992627"/>
            <a:ext cx="549681" cy="9161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TextBox 1628"/>
          <p:cNvSpPr txBox="1"/>
          <p:nvPr/>
        </p:nvSpPr>
        <p:spPr>
          <a:xfrm>
            <a:off x="3383699" y="2992627"/>
            <a:ext cx="620000" cy="916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434343"/>
                </a:solidFill>
                <a:latin typeface="Inter"/>
              </a:rPr>
              <a:t>9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55/72</a:t>
            </a:r>
          </a:p>
        </p:txBody>
      </p:sp>
      <p:sp>
        <p:nvSpPr>
          <p:cNvPr id="1620" name="TextBox 1619"/>
          <p:cNvSpPr txBox="1"/>
          <p:nvPr/>
        </p:nvSpPr>
        <p:spPr>
          <a:xfrm>
            <a:off x="2314125" y="944525"/>
            <a:ext cx="502502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Camiones por día</a:t>
            </a:r>
          </a:p>
        </p:txBody>
      </p:sp>
      <p:sp>
        <p:nvSpPr>
          <p:cNvPr id="1621" name="TextBox 1620"/>
          <p:cNvSpPr txBox="1"/>
          <p:nvPr/>
        </p:nvSpPr>
        <p:spPr>
          <a:xfrm>
            <a:off x="2314125" y="1274525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1622" name="TextBox 1621"/>
          <p:cNvSpPr txBox="1"/>
          <p:nvPr/>
        </p:nvSpPr>
        <p:spPr>
          <a:xfrm>
            <a:off x="3645631" y="1353872"/>
            <a:ext cx="78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623" name="TextBox 1622"/>
          <p:cNvSpPr txBox="1"/>
          <p:nvPr/>
        </p:nvSpPr>
        <p:spPr>
          <a:xfrm>
            <a:off x="2314125" y="1671260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1624" name="Rectangle 1623"/>
          <p:cNvSpPr/>
          <p:nvPr/>
        </p:nvSpPr>
        <p:spPr>
          <a:xfrm>
            <a:off x="3620631" y="1750607"/>
            <a:ext cx="3567768" cy="238041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TextBox 1624"/>
          <p:cNvSpPr txBox="1"/>
          <p:nvPr/>
        </p:nvSpPr>
        <p:spPr>
          <a:xfrm>
            <a:off x="6408399" y="1750607"/>
            <a:ext cx="74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30</a:t>
            </a:r>
          </a:p>
        </p:txBody>
      </p:sp>
      <p:sp>
        <p:nvSpPr>
          <p:cNvPr id="1626" name="TextBox 1625"/>
          <p:cNvSpPr txBox="1"/>
          <p:nvPr/>
        </p:nvSpPr>
        <p:spPr>
          <a:xfrm>
            <a:off x="2314125" y="2067995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1627" name="Rectangle 1626"/>
          <p:cNvSpPr/>
          <p:nvPr/>
        </p:nvSpPr>
        <p:spPr>
          <a:xfrm>
            <a:off x="3620631" y="2147342"/>
            <a:ext cx="1189256" cy="238041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TextBox 1627"/>
          <p:cNvSpPr txBox="1"/>
          <p:nvPr/>
        </p:nvSpPr>
        <p:spPr>
          <a:xfrm>
            <a:off x="4029887" y="2147342"/>
            <a:ext cx="74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</a:t>
            </a:r>
          </a:p>
        </p:txBody>
      </p:sp>
      <p:sp>
        <p:nvSpPr>
          <p:cNvPr id="1629" name="TextBox 1628"/>
          <p:cNvSpPr txBox="1"/>
          <p:nvPr/>
        </p:nvSpPr>
        <p:spPr>
          <a:xfrm>
            <a:off x="2314125" y="2464730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1630" name="TextBox 1629"/>
          <p:cNvSpPr txBox="1"/>
          <p:nvPr/>
        </p:nvSpPr>
        <p:spPr>
          <a:xfrm>
            <a:off x="3645631" y="2544077"/>
            <a:ext cx="78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631" name="TextBox 1630"/>
          <p:cNvSpPr txBox="1"/>
          <p:nvPr/>
        </p:nvSpPr>
        <p:spPr>
          <a:xfrm>
            <a:off x="2314125" y="2861465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1632" name="TextBox 1631"/>
          <p:cNvSpPr txBox="1"/>
          <p:nvPr/>
        </p:nvSpPr>
        <p:spPr>
          <a:xfrm>
            <a:off x="3645631" y="2940812"/>
            <a:ext cx="78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633" name="TextBox 1632"/>
          <p:cNvSpPr txBox="1"/>
          <p:nvPr/>
        </p:nvSpPr>
        <p:spPr>
          <a:xfrm>
            <a:off x="2314125" y="3258200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1634" name="TextBox 1633"/>
          <p:cNvSpPr txBox="1"/>
          <p:nvPr/>
        </p:nvSpPr>
        <p:spPr>
          <a:xfrm>
            <a:off x="3645631" y="3337547"/>
            <a:ext cx="78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635" name="TextBox 1634"/>
          <p:cNvSpPr txBox="1"/>
          <p:nvPr/>
        </p:nvSpPr>
        <p:spPr>
          <a:xfrm>
            <a:off x="2314125" y="3654935"/>
            <a:ext cx="1266506" cy="39673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1636" name="TextBox 1635"/>
          <p:cNvSpPr txBox="1"/>
          <p:nvPr/>
        </p:nvSpPr>
        <p:spPr>
          <a:xfrm>
            <a:off x="3645631" y="3734282"/>
            <a:ext cx="780000" cy="23804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 384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 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57/72</a:t>
            </a:r>
          </a:p>
        </p:txBody>
      </p:sp>
      <p:sp>
        <p:nvSpPr>
          <p:cNvPr id="1662" name="TextBox 1661"/>
          <p:cNvSpPr txBox="1"/>
          <p:nvPr/>
        </p:nvSpPr>
        <p:spPr>
          <a:xfrm>
            <a:off x="2198337" y="1754675"/>
            <a:ext cx="503867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Camiones por día</a:t>
            </a:r>
          </a:p>
        </p:txBody>
      </p:sp>
      <p:sp>
        <p:nvSpPr>
          <p:cNvPr id="1663" name="TextBox 1662"/>
          <p:cNvSpPr txBox="1"/>
          <p:nvPr/>
        </p:nvSpPr>
        <p:spPr>
          <a:xfrm>
            <a:off x="2198337" y="2084675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1664" name="Rectangle 1663"/>
          <p:cNvSpPr/>
          <p:nvPr/>
        </p:nvSpPr>
        <p:spPr>
          <a:xfrm>
            <a:off x="3508392" y="2164263"/>
            <a:ext cx="3118351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TextBox 1664"/>
          <p:cNvSpPr txBox="1"/>
          <p:nvPr/>
        </p:nvSpPr>
        <p:spPr>
          <a:xfrm>
            <a:off x="5846743" y="2164263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523</a:t>
            </a:r>
          </a:p>
        </p:txBody>
      </p:sp>
      <p:sp>
        <p:nvSpPr>
          <p:cNvPr id="1666" name="TextBox 1665"/>
          <p:cNvSpPr txBox="1"/>
          <p:nvPr/>
        </p:nvSpPr>
        <p:spPr>
          <a:xfrm>
            <a:off x="2198337" y="2482614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1667" name="Rectangle 1666"/>
          <p:cNvSpPr/>
          <p:nvPr/>
        </p:nvSpPr>
        <p:spPr>
          <a:xfrm>
            <a:off x="3508392" y="2562202"/>
            <a:ext cx="2909666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TextBox 1667"/>
          <p:cNvSpPr txBox="1"/>
          <p:nvPr/>
        </p:nvSpPr>
        <p:spPr>
          <a:xfrm>
            <a:off x="5638058" y="2562202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488</a:t>
            </a:r>
          </a:p>
        </p:txBody>
      </p:sp>
      <p:sp>
        <p:nvSpPr>
          <p:cNvPr id="1669" name="TextBox 1668"/>
          <p:cNvSpPr txBox="1"/>
          <p:nvPr/>
        </p:nvSpPr>
        <p:spPr>
          <a:xfrm>
            <a:off x="2198337" y="2880553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1670" name="Rectangle 1669"/>
          <p:cNvSpPr/>
          <p:nvPr/>
        </p:nvSpPr>
        <p:spPr>
          <a:xfrm>
            <a:off x="3508392" y="2960141"/>
            <a:ext cx="2647319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TextBox 1670"/>
          <p:cNvSpPr txBox="1"/>
          <p:nvPr/>
        </p:nvSpPr>
        <p:spPr>
          <a:xfrm>
            <a:off x="5375711" y="2960141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444</a:t>
            </a:r>
          </a:p>
        </p:txBody>
      </p:sp>
      <p:sp>
        <p:nvSpPr>
          <p:cNvPr id="1672" name="TextBox 1671"/>
          <p:cNvSpPr txBox="1"/>
          <p:nvPr/>
        </p:nvSpPr>
        <p:spPr>
          <a:xfrm>
            <a:off x="2198337" y="3278492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1673" name="Rectangle 1672"/>
          <p:cNvSpPr/>
          <p:nvPr/>
        </p:nvSpPr>
        <p:spPr>
          <a:xfrm>
            <a:off x="3508392" y="3358080"/>
            <a:ext cx="321971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TextBox 1673"/>
          <p:cNvSpPr txBox="1"/>
          <p:nvPr/>
        </p:nvSpPr>
        <p:spPr>
          <a:xfrm>
            <a:off x="3855363" y="3358080"/>
            <a:ext cx="78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54</a:t>
            </a:r>
          </a:p>
        </p:txBody>
      </p:sp>
      <p:sp>
        <p:nvSpPr>
          <p:cNvPr id="1675" name="TextBox 1674"/>
          <p:cNvSpPr txBox="1"/>
          <p:nvPr/>
        </p:nvSpPr>
        <p:spPr>
          <a:xfrm>
            <a:off x="2198337" y="3676431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1676" name="Rectangle 1675"/>
          <p:cNvSpPr/>
          <p:nvPr/>
        </p:nvSpPr>
        <p:spPr>
          <a:xfrm>
            <a:off x="3508392" y="3756019"/>
            <a:ext cx="1735067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TextBox 1676"/>
          <p:cNvSpPr txBox="1"/>
          <p:nvPr/>
        </p:nvSpPr>
        <p:spPr>
          <a:xfrm>
            <a:off x="4463459" y="3756019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291</a:t>
            </a:r>
          </a:p>
        </p:txBody>
      </p:sp>
      <p:sp>
        <p:nvSpPr>
          <p:cNvPr id="1678" name="TextBox 1677"/>
          <p:cNvSpPr txBox="1"/>
          <p:nvPr/>
        </p:nvSpPr>
        <p:spPr>
          <a:xfrm>
            <a:off x="2198337" y="4074370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1679" name="Rectangle 1678"/>
          <p:cNvSpPr/>
          <p:nvPr/>
        </p:nvSpPr>
        <p:spPr>
          <a:xfrm>
            <a:off x="3508392" y="4153958"/>
            <a:ext cx="2856004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TextBox 1679"/>
          <p:cNvSpPr txBox="1"/>
          <p:nvPr/>
        </p:nvSpPr>
        <p:spPr>
          <a:xfrm>
            <a:off x="5584396" y="4153958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479</a:t>
            </a:r>
          </a:p>
        </p:txBody>
      </p:sp>
      <p:sp>
        <p:nvSpPr>
          <p:cNvPr id="1681" name="TextBox 1680"/>
          <p:cNvSpPr txBox="1"/>
          <p:nvPr/>
        </p:nvSpPr>
        <p:spPr>
          <a:xfrm>
            <a:off x="2198337" y="4472309"/>
            <a:ext cx="1270055" cy="3979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1682" name="Rectangle 1681"/>
          <p:cNvSpPr/>
          <p:nvPr/>
        </p:nvSpPr>
        <p:spPr>
          <a:xfrm>
            <a:off x="3508392" y="4551897"/>
            <a:ext cx="2438634" cy="23876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TextBox 1682"/>
          <p:cNvSpPr txBox="1"/>
          <p:nvPr/>
        </p:nvSpPr>
        <p:spPr>
          <a:xfrm>
            <a:off x="5167026" y="4551897"/>
            <a:ext cx="740000" cy="2387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409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59/72</a:t>
            </a:r>
          </a:p>
        </p:txBody>
      </p:sp>
      <p:graphicFrame>
        <p:nvGraphicFramePr>
          <p:cNvPr id="1680" name="D59_G1"/>
          <p:cNvGraphicFramePr/>
          <p:nvPr/>
        </p:nvGraphicFramePr>
        <p:xfrm>
          <a:off x="1451275" y="685374"/>
          <a:ext cx="6801876" cy="4205827"/>
        </p:xfrm>
        <a:graphic>
          <a:graphicData uri="http://schemas.openxmlformats.org/drawingml/2006/chart">
            <c:chart r:id="rIdManual1028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61/72</a:t>
            </a:r>
          </a:p>
        </p:txBody>
      </p:sp>
      <p:graphicFrame>
        <p:nvGraphicFramePr>
          <p:cNvPr id="1714" name="D61_G1"/>
          <p:cNvGraphicFramePr/>
          <p:nvPr/>
        </p:nvGraphicFramePr>
        <p:xfrm>
          <a:off x="1364675" y="805249"/>
          <a:ext cx="6801876" cy="4205827"/>
        </p:xfrm>
        <a:graphic>
          <a:graphicData uri="http://schemas.openxmlformats.org/drawingml/2006/chart">
            <c:chart r:id="rIdManual1029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63/72</a:t>
            </a:r>
          </a:p>
        </p:txBody>
      </p:sp>
      <p:graphicFrame>
        <p:nvGraphicFramePr>
          <p:cNvPr id="1748" name="D63_G1"/>
          <p:cNvGraphicFramePr/>
          <p:nvPr/>
        </p:nvGraphicFramePr>
        <p:xfrm>
          <a:off x="1195950" y="775999"/>
          <a:ext cx="6801876" cy="4205827"/>
        </p:xfrm>
        <a:graphic>
          <a:graphicData uri="http://schemas.openxmlformats.org/drawingml/2006/chart">
            <c:chart r:id="rIdManual1030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65/72</a:t>
            </a:r>
          </a:p>
        </p:txBody>
      </p:sp>
      <p:graphicFrame>
        <p:nvGraphicFramePr>
          <p:cNvPr id="1782" name="D65_G1"/>
          <p:cNvGraphicFramePr/>
          <p:nvPr/>
        </p:nvGraphicFramePr>
        <p:xfrm>
          <a:off x="1578275" y="773724"/>
          <a:ext cx="6801876" cy="4205827"/>
        </p:xfrm>
        <a:graphic>
          <a:graphicData uri="http://schemas.openxmlformats.org/drawingml/2006/chart">
            <c:chart r:id="rIdManual1031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67/72</a:t>
            </a:r>
          </a:p>
        </p:txBody>
      </p:sp>
      <p:graphicFrame>
        <p:nvGraphicFramePr>
          <p:cNvPr id="1816" name="D67_G1"/>
          <p:cNvGraphicFramePr/>
          <p:nvPr/>
        </p:nvGraphicFramePr>
        <p:xfrm>
          <a:off x="1376825" y="701774"/>
          <a:ext cx="6801876" cy="4205827"/>
        </p:xfrm>
        <a:graphic>
          <a:graphicData uri="http://schemas.openxmlformats.org/drawingml/2006/chart">
            <c:chart r:id="rIdManual1032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69/72</a:t>
            </a:r>
          </a:p>
        </p:txBody>
      </p:sp>
      <p:graphicFrame>
        <p:nvGraphicFramePr>
          <p:cNvPr id="1850" name="D69_G1"/>
          <p:cNvGraphicFramePr/>
          <p:nvPr/>
        </p:nvGraphicFramePr>
        <p:xfrm>
          <a:off x="1171063" y="715699"/>
          <a:ext cx="6801876" cy="4205827"/>
        </p:xfrm>
        <a:graphic>
          <a:graphicData uri="http://schemas.openxmlformats.org/drawingml/2006/chart">
            <c:chart r:id="rIdManual1033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71/72</a:t>
            </a:r>
          </a:p>
        </p:txBody>
      </p:sp>
      <p:sp>
        <p:nvSpPr>
          <p:cNvPr id="1886" name="TextBox 1885"/>
          <p:cNvSpPr txBox="1"/>
          <p:nvPr/>
        </p:nvSpPr>
        <p:spPr>
          <a:xfrm>
            <a:off x="1547273" y="728925"/>
            <a:ext cx="6296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87" name="TextBox 1886"/>
          <p:cNvSpPr txBox="1"/>
          <p:nvPr/>
        </p:nvSpPr>
        <p:spPr>
          <a:xfrm>
            <a:off x="1547273" y="105892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3209337" y="1201456"/>
            <a:ext cx="78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889" name="TextBox 1888"/>
          <p:cNvSpPr txBox="1"/>
          <p:nvPr/>
        </p:nvSpPr>
        <p:spPr>
          <a:xfrm>
            <a:off x="1547273" y="1771580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90" name="TextBox 1889"/>
          <p:cNvSpPr txBox="1"/>
          <p:nvPr/>
        </p:nvSpPr>
        <p:spPr>
          <a:xfrm>
            <a:off x="3209337" y="1914111"/>
            <a:ext cx="78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891" name="TextBox 1890"/>
          <p:cNvSpPr txBox="1"/>
          <p:nvPr/>
        </p:nvSpPr>
        <p:spPr>
          <a:xfrm>
            <a:off x="1547273" y="248423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92" name="Rectangle 1891"/>
          <p:cNvSpPr/>
          <p:nvPr/>
        </p:nvSpPr>
        <p:spPr>
          <a:xfrm>
            <a:off x="3184337" y="2626766"/>
            <a:ext cx="4470444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TextBox 1892"/>
          <p:cNvSpPr txBox="1"/>
          <p:nvPr/>
        </p:nvSpPr>
        <p:spPr>
          <a:xfrm>
            <a:off x="6874781" y="2626766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894" name="TextBox 1893"/>
          <p:cNvSpPr txBox="1"/>
          <p:nvPr/>
        </p:nvSpPr>
        <p:spPr>
          <a:xfrm>
            <a:off x="1547273" y="3196890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95" name="Rectangle 1894"/>
          <p:cNvSpPr/>
          <p:nvPr/>
        </p:nvSpPr>
        <p:spPr>
          <a:xfrm>
            <a:off x="3184337" y="3339421"/>
            <a:ext cx="3725370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TextBox 1895"/>
          <p:cNvSpPr txBox="1"/>
          <p:nvPr/>
        </p:nvSpPr>
        <p:spPr>
          <a:xfrm>
            <a:off x="6129707" y="3339421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125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1547273" y="390954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98" name="Rectangle 1897"/>
          <p:cNvSpPr/>
          <p:nvPr/>
        </p:nvSpPr>
        <p:spPr>
          <a:xfrm>
            <a:off x="3184337" y="4052076"/>
            <a:ext cx="3993596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TextBox 1898"/>
          <p:cNvSpPr txBox="1"/>
          <p:nvPr/>
        </p:nvSpPr>
        <p:spPr>
          <a:xfrm>
            <a:off x="6397933" y="4052076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