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harts/chart1000.xml" ContentType="application/vnd.openxmlformats-officedocument.drawingml.chart+xml"/>
  <Override PartName="/ppt/charts/chart1001.xml" ContentType="application/vnd.openxmlformats-officedocument.drawingml.chart+xml"/>
  <Override PartName="/ppt/charts/chart1005.xml" ContentType="application/vnd.openxmlformats-officedocument.drawingml.chart+xml"/>
  <Override PartName="/ppt/charts/chart1006.xml" ContentType="application/vnd.openxmlformats-officedocument.drawingml.chart+xml"/>
  <Override PartName="/ppt/charts/chart1009.xml" ContentType="application/vnd.openxmlformats-officedocument.drawingml.chart+xml"/>
  <Override PartName="/ppt/charts/chart1010.xml" ContentType="application/vnd.openxmlformats-officedocument.drawingml.chart+xml"/>
  <Override PartName="/ppt/charts/chart1011.xml" ContentType="application/vnd.openxmlformats-officedocument.drawingml.chart+xml"/>
  <Override PartName="/ppt/charts/chart1012.xml" ContentType="application/vnd.openxmlformats-officedocument.drawingml.chart+xml"/>
  <Override PartName="/ppt/charts/chart1013.xml" ContentType="application/vnd.openxmlformats-officedocument.drawingml.chart+xml"/>
  <Override PartName="/ppt/charts/chart1021.xml" ContentType="application/vnd.openxmlformats-officedocument.drawingml.chart+xml"/>
  <Override PartName="/ppt/charts/chart1022.xml" ContentType="application/vnd.openxmlformats-officedocument.drawingml.chart+xml"/>
  <Override PartName="/ppt/charts/chart1023.xml" ContentType="application/vnd.openxmlformats-officedocument.drawingml.chart+xml"/>
  <Override PartName="/ppt/charts/chart1024.xml" ContentType="application/vnd.openxmlformats-officedocument.drawingml.chart+xml"/>
  <Override PartName="/ppt/charts/chart1025.xml" ContentType="application/vnd.openxmlformats-officedocument.drawingml.chart+xml"/>
  <Override PartName="/ppt/charts/chart1026.xml" ContentType="application/vnd.openxmlformats-officedocument.drawingml.chart+xml"/>
  <Override PartName="/ppt/charts/chart1027.xml" ContentType="application/vnd.openxmlformats-officedocument.drawingml.char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</p:sldIdLst>
  <p:sldSz cy="5448300" cx="9144000"/>
  <p:notesSz cx="6858000" cy="9144000"/>
  <p:embeddedFontLst>
    <p:embeddedFont>
      <p:font typeface="Inter"/>
      <p:regular r:id="rId78"/>
      <p:bold r:id="rId79"/>
      <p:italic r:id="rId80"/>
      <p:boldItalic r:id="rId81"/>
    </p:embeddedFont>
    <p:embeddedFont>
      <p:font typeface="Inter ExtraBold"/>
      <p:bold r:id="rId82"/>
      <p:boldItalic r:id="rId83"/>
    </p:embeddedFont>
    <p:embeddedFont>
      <p:font typeface="Inter Medium"/>
      <p:regular r:id="rId84"/>
      <p:bold r:id="rId85"/>
      <p:italic r:id="rId86"/>
      <p:boldItalic r:id="rId87"/>
    </p:embeddedFont>
    <p:embeddedFont>
      <p:font typeface="Inter ExtraLight"/>
      <p:regular r:id="rId88"/>
      <p:bold r:id="rId89"/>
      <p:italic r:id="rId90"/>
      <p:boldItalic r:id="rId9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font" Target="fonts/Inter-regular.fntdata"/><Relationship Id="rId79" Type="http://schemas.openxmlformats.org/officeDocument/2006/relationships/font" Target="fonts/Inter-bold.fntdata"/><Relationship Id="rId80" Type="http://schemas.openxmlformats.org/officeDocument/2006/relationships/font" Target="fonts/Inter-italic.fntdata"/><Relationship Id="rId81" Type="http://schemas.openxmlformats.org/officeDocument/2006/relationships/font" Target="fonts/Inter-boldItalic.fntdata"/><Relationship Id="rId82" Type="http://schemas.openxmlformats.org/officeDocument/2006/relationships/font" Target="fonts/InterExtraBold-bold.fntdata"/><Relationship Id="rId83" Type="http://schemas.openxmlformats.org/officeDocument/2006/relationships/font" Target="fonts/InterExtraBold-boldItalic.fntdata"/><Relationship Id="rId84" Type="http://schemas.openxmlformats.org/officeDocument/2006/relationships/font" Target="fonts/InterMedium-regular.fntdata"/><Relationship Id="rId85" Type="http://schemas.openxmlformats.org/officeDocument/2006/relationships/font" Target="fonts/InterMedium-bold.fntdata"/><Relationship Id="rId86" Type="http://schemas.openxmlformats.org/officeDocument/2006/relationships/font" Target="fonts/InterMedium-italic.fntdata"/><Relationship Id="rId87" Type="http://schemas.openxmlformats.org/officeDocument/2006/relationships/font" Target="fonts/InterMedium-boldItalic.fntdata"/><Relationship Id="rId88" Type="http://schemas.openxmlformats.org/officeDocument/2006/relationships/font" Target="fonts/InterExtraLight-regular.fntdata"/><Relationship Id="rId89" Type="http://schemas.openxmlformats.org/officeDocument/2006/relationships/font" Target="fonts/InterExtraLight-bold.fntdata"/><Relationship Id="rId90" Type="http://schemas.openxmlformats.org/officeDocument/2006/relationships/font" Target="fonts/InterExtraLight-italic.fntdata"/><Relationship Id="rId91" Type="http://schemas.openxmlformats.org/officeDocument/2006/relationships/font" Target="fonts/InterExtraLight-boldItalic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Total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Medio</c:v>
                </c:pt>
              </c:strCache>
            </c:strRef>
          </c:tx>
          <c:spPr>
            <a:ln w="28575">
              <a:solidFill>
                <a:srgbClr val="2E7D5B"/>
              </a:solidFill>
            </a:ln>
          </c:spP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376</c:v>
                </c:pt>
                <c:pt idx="1">
                  <c:v>338</c:v>
                </c:pt>
                <c:pt idx="2">
                  <c:v>316</c:v>
                </c:pt>
                <c:pt idx="3">
                  <c:v>383</c:v>
                </c:pt>
                <c:pt idx="4">
                  <c:v>304</c:v>
                </c:pt>
                <c:pt idx="5">
                  <c:v>445</c:v>
                </c:pt>
                <c:pt idx="6">
                  <c:v>389</c:v>
                </c:pt>
                <c:pt idx="7">
                  <c:v>421</c:v>
                </c:pt>
                <c:pt idx="8">
                  <c:v>346</c:v>
                </c:pt>
                <c:pt idx="9">
                  <c:v>368</c:v>
                </c:pt>
                <c:pt idx="10">
                  <c:v>296</c:v>
                </c:pt>
                <c:pt idx="11">
                  <c:v>379</c:v>
                </c:pt>
                <c:pt idx="12">
                  <c:v>276</c:v>
                </c:pt>
                <c:pt idx="13">
                  <c:v>334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434343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Tramos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Playa 1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121</c:v>
                </c:pt>
                <c:pt idx="1">
                  <c:v>94</c:v>
                </c:pt>
                <c:pt idx="2">
                  <c:v>113</c:v>
                </c:pt>
                <c:pt idx="3">
                  <c:v>145</c:v>
                </c:pt>
                <c:pt idx="4">
                  <c:v>114</c:v>
                </c:pt>
                <c:pt idx="5">
                  <c:v>171</c:v>
                </c:pt>
                <c:pt idx="6">
                  <c:v>181</c:v>
                </c:pt>
                <c:pt idx="7">
                  <c:v>120</c:v>
                </c:pt>
                <c:pt idx="8">
                  <c:v>101</c:v>
                </c:pt>
                <c:pt idx="9">
                  <c:v>130</c:v>
                </c:pt>
                <c:pt idx="10">
                  <c:v>112</c:v>
                </c:pt>
                <c:pt idx="11">
                  <c:v>140</c:v>
                </c:pt>
                <c:pt idx="12">
                  <c:v>97</c:v>
                </c:pt>
                <c:pt idx="13">
                  <c:v>126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Playa OSL</c:v>
                </c:pt>
              </c:strCache>
            </c:strRef>
          </c:tx>
          <c:spPr>
            <a:ln w="28575">
              <a:solidFill>
                <a:srgbClr val="E8B84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135</c:v>
                </c:pt>
                <c:pt idx="1">
                  <c:v>104</c:v>
                </c:pt>
                <c:pt idx="2">
                  <c:v>86</c:v>
                </c:pt>
                <c:pt idx="3">
                  <c:v>105</c:v>
                </c:pt>
                <c:pt idx="4">
                  <c:v>65</c:v>
                </c:pt>
                <c:pt idx="5">
                  <c:v>140</c:v>
                </c:pt>
                <c:pt idx="6">
                  <c:v>85</c:v>
                </c:pt>
                <c:pt idx="7">
                  <c:v>145</c:v>
                </c:pt>
                <c:pt idx="8">
                  <c:v>113</c:v>
                </c:pt>
                <c:pt idx="9">
                  <c:v>127</c:v>
                </c:pt>
                <c:pt idx="10">
                  <c:v>89</c:v>
                </c:pt>
                <c:pt idx="11">
                  <c:v>137</c:v>
                </c:pt>
                <c:pt idx="12">
                  <c:v>87</c:v>
                </c:pt>
                <c:pt idx="13">
                  <c:v>119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Descarga</c:v>
                </c:pt>
              </c:strCache>
            </c:strRef>
          </c:tx>
          <c:spPr>
            <a:ln w="28575">
              <a:solidFill>
                <a:srgbClr val="5E86A0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79</c:v>
                </c:pt>
                <c:pt idx="1">
                  <c:v>92</c:v>
                </c:pt>
                <c:pt idx="2">
                  <c:v>64</c:v>
                </c:pt>
                <c:pt idx="3">
                  <c:v>70</c:v>
                </c:pt>
                <c:pt idx="4">
                  <c:v>60</c:v>
                </c:pt>
                <c:pt idx="5">
                  <c:v>59</c:v>
                </c:pt>
                <c:pt idx="6">
                  <c:v>58</c:v>
                </c:pt>
                <c:pt idx="7">
                  <c:v>68</c:v>
                </c:pt>
                <c:pt idx="8">
                  <c:v>63</c:v>
                </c:pt>
                <c:pt idx="9">
                  <c:v>71</c:v>
                </c:pt>
                <c:pt idx="10">
                  <c:v>64</c:v>
                </c:pt>
                <c:pt idx="11">
                  <c:v>62</c:v>
                </c:pt>
                <c:pt idx="12">
                  <c:v>63</c:v>
                </c:pt>
                <c:pt idx="13">
                  <c:v>61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Total Girasol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Medio</c:v>
                </c:pt>
              </c:strCache>
            </c:strRef>
          </c:tx>
          <c:spPr>
            <a:ln w="28575">
              <a:solidFill>
                <a:srgbClr val="2E7D5B"/>
              </a:solidFill>
            </a:ln>
          </c:spP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326</c:v>
                </c:pt>
                <c:pt idx="1">
                  <c:v>315</c:v>
                </c:pt>
                <c:pt idx="2">
                  <c:v>287</c:v>
                </c:pt>
                <c:pt idx="3">
                  <c:v>317</c:v>
                </c:pt>
                <c:pt idx="4">
                  <c:v>306</c:v>
                </c:pt>
                <c:pt idx="5">
                  <c:v>351</c:v>
                </c:pt>
                <c:pt idx="6">
                  <c:v>361</c:v>
                </c:pt>
                <c:pt idx="7">
                  <c:v>347</c:v>
                </c:pt>
                <c:pt idx="8">
                  <c:v>241</c:v>
                </c:pt>
                <c:pt idx="9">
                  <c:v>289</c:v>
                </c:pt>
                <c:pt idx="10">
                  <c:v>353</c:v>
                </c:pt>
                <c:pt idx="11">
                  <c:v>430</c:v>
                </c:pt>
                <c:pt idx="12">
                  <c:v>319</c:v>
                </c:pt>
                <c:pt idx="13">
                  <c:v>382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434343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Tramos Girasol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Playa 1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120</c:v>
                </c:pt>
                <c:pt idx="1">
                  <c:v>107</c:v>
                </c:pt>
                <c:pt idx="2">
                  <c:v>105</c:v>
                </c:pt>
                <c:pt idx="3">
                  <c:v>122</c:v>
                </c:pt>
                <c:pt idx="4">
                  <c:v>117</c:v>
                </c:pt>
                <c:pt idx="5">
                  <c:v>140</c:v>
                </c:pt>
                <c:pt idx="6">
                  <c:v>137</c:v>
                </c:pt>
                <c:pt idx="7">
                  <c:v>138</c:v>
                </c:pt>
                <c:pt idx="8">
                  <c:v>80</c:v>
                </c:pt>
                <c:pt idx="9">
                  <c:v>99</c:v>
                </c:pt>
                <c:pt idx="10">
                  <c:v>163</c:v>
                </c:pt>
                <c:pt idx="11">
                  <c:v>190</c:v>
                </c:pt>
                <c:pt idx="12">
                  <c:v>116</c:v>
                </c:pt>
                <c:pt idx="13">
                  <c:v>133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Descarga</c:v>
                </c:pt>
              </c:strCache>
            </c:strRef>
          </c:tx>
          <c:spPr>
            <a:ln w="28575">
              <a:solidFill>
                <a:srgbClr val="E8B84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184</c:v>
                </c:pt>
                <c:pt idx="1">
                  <c:v>180</c:v>
                </c:pt>
                <c:pt idx="2">
                  <c:v>159</c:v>
                </c:pt>
                <c:pt idx="3">
                  <c:v>170</c:v>
                </c:pt>
                <c:pt idx="4">
                  <c:v>166</c:v>
                </c:pt>
                <c:pt idx="5">
                  <c:v>188</c:v>
                </c:pt>
                <c:pt idx="6">
                  <c:v>208</c:v>
                </c:pt>
                <c:pt idx="7">
                  <c:v>186</c:v>
                </c:pt>
                <c:pt idx="8">
                  <c:v>110</c:v>
                </c:pt>
                <c:pt idx="9">
                  <c:v>146</c:v>
                </c:pt>
                <c:pt idx="10">
                  <c:v>152</c:v>
                </c:pt>
                <c:pt idx="11">
                  <c:v>215</c:v>
                </c:pt>
                <c:pt idx="12">
                  <c:v>155</c:v>
                </c:pt>
                <c:pt idx="13">
                  <c:v>208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100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Cobertura de lecturas (%)</a:t>
            </a:r>
          </a:p>
        </c:rich>
      </c:tx>
      <c:layout/>
      <c:overlay val="0"/>
    </c:title>
    <c:plotArea>
      <c:layout/>
      <c:pieChart>
        <c:varyColors val="1"/>
        <c:ser>
          <c:idx val="0"/>
          <c:order val="0"/>
          <c:tx>
            <c:v>Porcentaje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dPt>
            <c:idx val="0"/>
            <c:spPr>
              <a:solidFill>
                <a:srgbClr val="0B5A43"/>
              </a:solidFill>
            </c:spPr>
          </c:dPt>
          <c:dPt>
            <c:idx val="1"/>
            <c:spPr>
              <a:solidFill>
                <a:srgbClr val="4472C4"/>
              </a:solidFill>
            </c:spPr>
          </c:dPt>
          <c:dPt>
            <c:idx val="2"/>
            <c:spPr>
              <a:solidFill>
                <a:srgbClr val="C49A32"/>
              </a:solidFill>
            </c:spPr>
          </c:dPt>
          <c:dPt>
            <c:idx val="3"/>
            <c:spPr>
              <a:solidFill>
                <a:srgbClr val="A95C3F"/>
              </a:solidFill>
            </c:spPr>
          </c:dPt>
          <c:dPt>
            <c:idx val="4"/>
            <c:spPr>
              <a:solidFill>
                <a:srgbClr val="6E7D91"/>
              </a:solidFill>
            </c:spPr>
          </c:dPt>
          <c:cat>
            <c:strLit>
              <c:ptCount val="5"/>
              <c:pt idx="0">
                <c:v>8 lecturas</c:v>
              </c:pt>
              <c:pt idx="1">
                <c:v>7 lecturas</c:v>
              </c:pt>
              <c:pt idx="2">
                <c:v>6 lecturas</c:v>
              </c:pt>
              <c:pt idx="3">
                <c:v>5 lecturas</c:v>
              </c:pt>
              <c:pt idx="4">
                <c:v>≤4 lecturas</c:v>
              </c:pt>
            </c:strLit>
          </c:cat>
          <c:val>
            <c:numLit>
              <c:formatCode>0.0</c:formatCode>
              <c:ptCount val="5"/>
              <c:pt idx="0">
                <c:v>33</c:v>
              </c:pt>
              <c:pt idx="1">
                <c:v>28.2</c:v>
              </c:pt>
              <c:pt idx="2">
                <c:v>18.1</c:v>
              </c:pt>
              <c:pt idx="3">
                <c:v>12</c:v>
              </c:pt>
              <c:pt idx="4">
                <c:v>8.6</c:v>
              </c:pt>
            </c:numLit>
          </c:val>
        </c:ser>
        <c:dLbls>
          <c:numFmt formatCode="0.0&quot;%&quot;" sourceLinked="0"/>
          <c:dLblPos val="bestFit"/>
          <c:showLegendKey val="0"/>
          <c:showVal val="1"/>
          <c:showCatName val="0"/>
          <c:showSerName val="0"/>
          <c:showPercent val="0"/>
        </c:dLbls>
      </c:pieChart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Distribución por circuito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1"/>
              <c:pt idx="0">
                <c:v>R7 Terminal de embarque</c:v>
              </c:pt>
            </c:strLit>
          </c:cat>
          <c:val>
            <c:numLit>
              <c:formatCode>0</c:formatCode>
              <c:ptCount val="1"/>
              <c:pt idx="0">
                <c:v>2557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por tramo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Playa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121</c:v>
              </c:pt>
              <c:pt idx="1">
                <c:v>94</c:v>
              </c:pt>
              <c:pt idx="2">
                <c:v>113</c:v>
              </c:pt>
              <c:pt idx="3">
                <c:v>145</c:v>
              </c:pt>
              <c:pt idx="4">
                <c:v>114</c:v>
              </c:pt>
              <c:pt idx="5">
                <c:v>171</c:v>
              </c:pt>
              <c:pt idx="6">
                <c:v>181</c:v>
              </c:pt>
              <c:pt idx="7">
                <c:v>120</c:v>
              </c:pt>
              <c:pt idx="8">
                <c:v>101</c:v>
              </c:pt>
              <c:pt idx="9">
                <c:v>130</c:v>
              </c:pt>
              <c:pt idx="10">
                <c:v>112</c:v>
              </c:pt>
              <c:pt idx="11">
                <c:v>140</c:v>
              </c:pt>
              <c:pt idx="12">
                <c:v>97</c:v>
              </c:pt>
              <c:pt idx="13">
                <c:v>126</c:v>
              </c:pt>
            </c:numLit>
          </c:val>
          <c:smooth val="0"/>
        </c:ser>
        <c:ser>
          <c:idx val="1"/>
          <c:order val="1"/>
          <c:tx>
            <c:v>Playa OSL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135</c:v>
              </c:pt>
              <c:pt idx="1">
                <c:v>104</c:v>
              </c:pt>
              <c:pt idx="2">
                <c:v>86</c:v>
              </c:pt>
              <c:pt idx="3">
                <c:v>105</c:v>
              </c:pt>
              <c:pt idx="4">
                <c:v>65</c:v>
              </c:pt>
              <c:pt idx="5">
                <c:v>140</c:v>
              </c:pt>
              <c:pt idx="6">
                <c:v>85</c:v>
              </c:pt>
              <c:pt idx="7">
                <c:v>145</c:v>
              </c:pt>
              <c:pt idx="8">
                <c:v>113</c:v>
              </c:pt>
              <c:pt idx="9">
                <c:v>127</c:v>
              </c:pt>
              <c:pt idx="10">
                <c:v>89</c:v>
              </c:pt>
              <c:pt idx="11">
                <c:v>137</c:v>
              </c:pt>
              <c:pt idx="12">
                <c:v>87</c:v>
              </c:pt>
              <c:pt idx="13">
                <c:v>119</c:v>
              </c:pt>
            </c:numLit>
          </c:val>
          <c:smooth val="0"/>
        </c:ser>
        <c:ser>
          <c:idx val="2"/>
          <c:order val="2"/>
          <c:tx>
            <c:v>Descarga</c:v>
          </c:tx>
          <c:spPr>
            <a:solidFill>
              <a:srgbClr val="C49A32"/>
            </a:solidFill>
            <a:ln w="19050">
              <a:solidFill>
                <a:srgbClr val="C49A32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79</c:v>
              </c:pt>
              <c:pt idx="1">
                <c:v>92</c:v>
              </c:pt>
              <c:pt idx="2">
                <c:v>64</c:v>
              </c:pt>
              <c:pt idx="3">
                <c:v>70</c:v>
              </c:pt>
              <c:pt idx="4">
                <c:v>60</c:v>
              </c:pt>
              <c:pt idx="5">
                <c:v>59</c:v>
              </c:pt>
              <c:pt idx="6">
                <c:v>58</c:v>
              </c:pt>
              <c:pt idx="7">
                <c:v>68</c:v>
              </c:pt>
              <c:pt idx="8">
                <c:v>63</c:v>
              </c:pt>
              <c:pt idx="9">
                <c:v>71</c:v>
              </c:pt>
              <c:pt idx="10">
                <c:v>64</c:v>
              </c:pt>
              <c:pt idx="11">
                <c:v>62</c:v>
              </c:pt>
              <c:pt idx="12">
                <c:v>63</c:v>
              </c:pt>
              <c:pt idx="13">
                <c:v>61</c:v>
              </c:pt>
            </c:numLit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total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Tiempo medio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376</c:v>
              </c:pt>
              <c:pt idx="1">
                <c:v>338</c:v>
              </c:pt>
              <c:pt idx="2">
                <c:v>316</c:v>
              </c:pt>
              <c:pt idx="3">
                <c:v>383</c:v>
              </c:pt>
              <c:pt idx="4">
                <c:v>304</c:v>
              </c:pt>
              <c:pt idx="5">
                <c:v>445</c:v>
              </c:pt>
              <c:pt idx="6">
                <c:v>389</c:v>
              </c:pt>
              <c:pt idx="7">
                <c:v>421</c:v>
              </c:pt>
              <c:pt idx="8">
                <c:v>346</c:v>
              </c:pt>
              <c:pt idx="9">
                <c:v>368</c:v>
              </c:pt>
              <c:pt idx="10">
                <c:v>296</c:v>
              </c:pt>
              <c:pt idx="11">
                <c:v>379</c:v>
              </c:pt>
              <c:pt idx="12">
                <c:v>276</c:v>
              </c:pt>
              <c:pt idx="13">
                <c:v>334</c:v>
              </c:pt>
            </c:numLit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Cobertura de lecturas (%)</a:t>
            </a:r>
          </a:p>
        </c:rich>
      </c:tx>
      <c:layout/>
      <c:overlay val="0"/>
    </c:title>
    <c:plotArea>
      <c:layout/>
      <c:pieChart>
        <c:varyColors val="1"/>
        <c:ser>
          <c:idx val="0"/>
          <c:order val="0"/>
          <c:tx>
            <c:v>Porcentaje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dPt>
            <c:idx val="0"/>
            <c:spPr>
              <a:solidFill>
                <a:srgbClr val="0B5A43"/>
              </a:solidFill>
            </c:spPr>
          </c:dPt>
          <c:dPt>
            <c:idx val="1"/>
            <c:spPr>
              <a:solidFill>
                <a:srgbClr val="4472C4"/>
              </a:solidFill>
            </c:spPr>
          </c:dPt>
          <c:dPt>
            <c:idx val="2"/>
            <c:spPr>
              <a:solidFill>
                <a:srgbClr val="C49A32"/>
              </a:solidFill>
            </c:spPr>
          </c:dPt>
          <c:dPt>
            <c:idx val="3"/>
            <c:spPr>
              <a:solidFill>
                <a:srgbClr val="A95C3F"/>
              </a:solidFill>
            </c:spPr>
          </c:dPt>
          <c:cat>
            <c:strLit>
              <c:ptCount val="4"/>
              <c:pt idx="0">
                <c:v>7 lecturas</c:v>
              </c:pt>
              <c:pt idx="1">
                <c:v>6 lecturas</c:v>
              </c:pt>
              <c:pt idx="2">
                <c:v>5 lecturas</c:v>
              </c:pt>
              <c:pt idx="3">
                <c:v>≤4 lecturas</c:v>
              </c:pt>
            </c:strLit>
          </c:cat>
          <c:val>
            <c:numLit>
              <c:formatCode>0.0</c:formatCode>
              <c:ptCount val="4"/>
              <c:pt idx="0">
                <c:v>60</c:v>
              </c:pt>
              <c:pt idx="1">
                <c:v>20</c:v>
              </c:pt>
              <c:pt idx="2">
                <c:v>9.1</c:v>
              </c:pt>
              <c:pt idx="3">
                <c:v>10.9</c:v>
              </c:pt>
            </c:numLit>
          </c:val>
        </c:ser>
        <c:dLbls>
          <c:numFmt formatCode="0.0&quot;%&quot;" sourceLinked="0"/>
          <c:dLblPos val="bestFit"/>
          <c:showLegendKey val="0"/>
          <c:showVal val="1"/>
          <c:showCatName val="0"/>
          <c:showSerName val="0"/>
          <c:showPercent val="0"/>
        </c:dLbls>
      </c:pieChart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Distribución por circuito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3"/>
              <c:pt idx="0">
                <c:v>R5 Volcable 1</c:v>
              </c:pt>
              <c:pt idx="1">
                <c:v>R6 Volcable 2</c:v>
              </c:pt>
              <c:pt idx="2">
                <c:v>R4 Silos Kepler</c:v>
              </c:pt>
            </c:strLit>
          </c:cat>
          <c:val>
            <c:numLit>
              <c:formatCode>0</c:formatCode>
              <c:ptCount val="3"/>
              <c:pt idx="0">
                <c:v>361</c:v>
              </c:pt>
              <c:pt idx="1">
                <c:v>92</c:v>
              </c:pt>
              <c:pt idx="2">
                <c:v>40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por tramo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Playa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120</c:v>
              </c:pt>
              <c:pt idx="1">
                <c:v>107</c:v>
              </c:pt>
              <c:pt idx="2">
                <c:v>105</c:v>
              </c:pt>
              <c:pt idx="3">
                <c:v>122</c:v>
              </c:pt>
              <c:pt idx="4">
                <c:v>117</c:v>
              </c:pt>
              <c:pt idx="5">
                <c:v>140</c:v>
              </c:pt>
              <c:pt idx="6">
                <c:v>137</c:v>
              </c:pt>
              <c:pt idx="7">
                <c:v>138</c:v>
              </c:pt>
              <c:pt idx="8">
                <c:v>80</c:v>
              </c:pt>
              <c:pt idx="9">
                <c:v>99</c:v>
              </c:pt>
              <c:pt idx="10">
                <c:v>163</c:v>
              </c:pt>
              <c:pt idx="11">
                <c:v>190</c:v>
              </c:pt>
              <c:pt idx="12">
                <c:v>116</c:v>
              </c:pt>
              <c:pt idx="13">
                <c:v>133</c:v>
              </c:pt>
            </c:numLit>
          </c:val>
          <c:smooth val="0"/>
        </c:ser>
        <c:ser>
          <c:idx val="1"/>
          <c:order val="1"/>
          <c:tx>
            <c:v>Descarga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184</c:v>
              </c:pt>
              <c:pt idx="1">
                <c:v>180</c:v>
              </c:pt>
              <c:pt idx="2">
                <c:v>159</c:v>
              </c:pt>
              <c:pt idx="3">
                <c:v>170</c:v>
              </c:pt>
              <c:pt idx="4">
                <c:v>166</c:v>
              </c:pt>
              <c:pt idx="5">
                <c:v>188</c:v>
              </c:pt>
              <c:pt idx="6">
                <c:v>208</c:v>
              </c:pt>
              <c:pt idx="7">
                <c:v>186</c:v>
              </c:pt>
              <c:pt idx="8">
                <c:v>110</c:v>
              </c:pt>
              <c:pt idx="9">
                <c:v>146</c:v>
              </c:pt>
              <c:pt idx="10">
                <c:v>152</c:v>
              </c:pt>
              <c:pt idx="11">
                <c:v>215</c:v>
              </c:pt>
              <c:pt idx="12">
                <c:v>155</c:v>
              </c:pt>
              <c:pt idx="13">
                <c:v>208</c:v>
              </c:pt>
            </c:numLit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total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Girasol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326</c:v>
              </c:pt>
              <c:pt idx="1">
                <c:v>315</c:v>
              </c:pt>
              <c:pt idx="2">
                <c:v>287</c:v>
              </c:pt>
              <c:pt idx="3">
                <c:v>317</c:v>
              </c:pt>
              <c:pt idx="4">
                <c:v>306</c:v>
              </c:pt>
              <c:pt idx="5">
                <c:v>351</c:v>
              </c:pt>
              <c:pt idx="6">
                <c:v>361</c:v>
              </c:pt>
              <c:pt idx="7">
                <c:v>347</c:v>
              </c:pt>
              <c:pt idx="8">
                <c:v>241</c:v>
              </c:pt>
              <c:pt idx="9">
                <c:v>289</c:v>
              </c:pt>
              <c:pt idx="10">
                <c:v>353</c:v>
              </c:pt>
              <c:pt idx="11">
                <c:v>430</c:v>
              </c:pt>
              <c:pt idx="12">
                <c:v>319</c:v>
              </c:pt>
              <c:pt idx="13">
                <c:v>382</c:v>
              </c:pt>
            </c:numLit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semanal por calle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831</c:v>
              </c:pt>
              <c:pt idx="1">
                <c:v>837</c:v>
              </c:pt>
              <c:pt idx="2">
                <c:v>626</c:v>
              </c:pt>
              <c:pt idx="3">
                <c:v>625</c:v>
              </c:pt>
              <c:pt idx="4">
                <c:v>3</c:v>
              </c:pt>
              <c:pt idx="5">
                <c:v>38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líquidos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1</c:v>
              </c:pt>
              <c:pt idx="1">
                <c:v>4</c:v>
              </c:pt>
              <c:pt idx="2">
                <c:v>2</c:v>
              </c:pt>
              <c:pt idx="3">
                <c:v>0</c:v>
              </c:pt>
              <c:pt idx="4">
                <c:v>91</c:v>
              </c:pt>
              <c:pt idx="5">
                <c:v>27</c:v>
              </c:pt>
              <c:pt idx="6">
                <c:v>30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San Lorenzo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55</c:v>
              </c:pt>
              <c:pt idx="1">
                <c:v>47</c:v>
              </c:pt>
              <c:pt idx="2">
                <c:v>7</c:v>
              </c:pt>
              <c:pt idx="3">
                <c:v>2</c:v>
              </c:pt>
              <c:pt idx="4">
                <c:v>40</c:v>
              </c:pt>
              <c:pt idx="5">
                <c:v>51</c:v>
              </c:pt>
              <c:pt idx="6">
                <c:v>40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Descargas semanales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2"/>
              <c:pt idx="0">
                <c:v>Volcable 1</c:v>
              </c:pt>
              <c:pt idx="1">
                <c:v>Volcable 2</c:v>
              </c:pt>
            </c:strLit>
          </c:cat>
          <c:val>
            <c:numLit>
              <c:formatCode>0</c:formatCode>
              <c:ptCount val="2"/>
              <c:pt idx="0">
                <c:v>361</c:v>
              </c:pt>
              <c:pt idx="1">
                <c:v>92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Descargas diarias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Volcable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55</c:v>
              </c:pt>
              <c:pt idx="1">
                <c:v>70</c:v>
              </c:pt>
              <c:pt idx="2">
                <c:v>70</c:v>
              </c:pt>
              <c:pt idx="3">
                <c:v>10</c:v>
              </c:pt>
              <c:pt idx="4">
                <c:v>36</c:v>
              </c:pt>
              <c:pt idx="5">
                <c:v>63</c:v>
              </c:pt>
              <c:pt idx="6">
                <c:v>74</c:v>
              </c:pt>
            </c:numLit>
          </c:val>
        </c:ser>
        <c:ser>
          <c:idx val="1"/>
          <c:order val="1"/>
          <c:tx>
            <c:v>Volcable 2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21</c:v>
              </c:pt>
              <c:pt idx="1">
                <c:v>16</c:v>
              </c:pt>
              <c:pt idx="2">
                <c:v>17</c:v>
              </c:pt>
              <c:pt idx="3">
                <c:v>6</c:v>
              </c:pt>
              <c:pt idx="4">
                <c:v>15</c:v>
              </c:pt>
              <c:pt idx="5">
                <c:v>12</c:v>
              </c:pt>
              <c:pt idx="6">
                <c:v>9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Silos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0</c:v>
              </c:pt>
              <c:pt idx="1">
                <c:v>30</c:v>
              </c:pt>
              <c:pt idx="2">
                <c:v>10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523</c:v>
              </c:pt>
              <c:pt idx="1">
                <c:v>488</c:v>
              </c:pt>
              <c:pt idx="2">
                <c:v>444</c:v>
              </c:pt>
              <c:pt idx="3">
                <c:v>54</c:v>
              </c:pt>
              <c:pt idx="4">
                <c:v>291</c:v>
              </c:pt>
              <c:pt idx="5">
                <c:v>479</c:v>
              </c:pt>
              <c:pt idx="6">
                <c:v>409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semanal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502</c:v>
              </c:pt>
              <c:pt idx="1">
                <c:v>627</c:v>
              </c:pt>
              <c:pt idx="2">
                <c:v>641</c:v>
              </c:pt>
              <c:pt idx="3">
                <c:v>226</c:v>
              </c:pt>
              <c:pt idx="4">
                <c:v>692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1a73295ee3a200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1a73295ee3a200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1. Los valores son reportados, no recalculados.</a:t>
            </a:r>
          </a:p>
          <a:p>
            <a:r>
              <a:t>Familia: cover. Fuente prevista: static.</a:t>
            </a:r>
          </a:p>
          <a:p>
            <a:r>
              <a:t>Campos previstos: report.title, period.label, committee.date.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1a73295ee3a2006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h1a73295ee3a2006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2. Los valores son reportados, no recalculados.</a:t>
            </a:r>
          </a:p>
          <a:p>
            <a:r>
              <a:t>Familia: index. Fuente prevista: static.</a:t>
            </a:r>
          </a:p>
          <a:p>
            <a:r>
              <a:t>Campos previstos: sections[].title, sections[].page_range, period.label.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1a73295ee3a2006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1a73295ee3a2006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3. Los valores son reportados, no recalculados.</a:t>
            </a:r>
          </a:p>
          <a:p>
            <a:r>
              <a:t>Familia: sample. Fuente prevista: executive.</a:t>
            </a:r>
          </a:p>
          <a:p>
            <a:r>
              <a:t>Campos previstos: sample.products[].count, sample.products[].unit, sample.total, period.label.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1a73295ee3a2006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h1a73295ee3a2006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1a73295ee3a20068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h1a73295ee3a2006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5. Los valores son reportados, no recalculados.</a:t>
            </a:r>
          </a:p>
          <a:p>
            <a:r>
              <a:t>Familia: lpr. Fuente prevista: calibration.</a:t>
            </a:r>
          </a:p>
          <a:p>
            <a:r>
              <a:t>Campos previstos: recognitionDepthBuckets, top_missing_step, missing_count, sample_n.</a:t>
            </a:r>
          </a:p>
          <a:p>
            <a:r>
              <a:t>Inclusión futura: always.</a:t>
            </a:r>
          </a:p>
          <a:p>
            <a:r>
              <a:t>Conservar cobertura observada; no sumar baja cobertura a TODAS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h1a73295ee3a20068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h1a73295ee3a20068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h1a73295ee3a20068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h1a73295ee3a20068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h1a73295ee3a20068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h1a73295ee3a20068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8.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h1a73295ee3a20068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h1a73295ee3a20068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9.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h1a73295ee3a20068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h1a73295ee3a20068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10.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h1a73295ee3a20068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h1a73295ee3a20068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11.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h1a73295ee3a20068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h1a73295ee3a20068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12.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h1a73295ee3a20068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h1a73295ee3a20068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13.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h1a73295ee3a20068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h1a73295ee3a20068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14.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h1a73295ee3a20068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h1a73295ee3a20068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15. Los valores son reportados, no recalculados.</a:t>
            </a:r>
          </a:p>
          <a:p>
            <a:r>
              <a:t>Familia: plant_comparison. Fuente prevista: timing.</a:t>
            </a:r>
          </a:p>
          <a:p>
            <a:r>
              <a:t>Campos previstos: days[].label, days[].ricardone_minutes, days[].san_lorenzo_minutes.</a:t>
            </a:r>
          </a:p>
          <a:p>
            <a:r>
              <a:t>Inclusión futura: always.</a:t>
            </a:r>
          </a:p>
          <a:p>
            <a:r>
              <a:t>Comparación de días del período; no confundir con serie histórica de operativos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h1a73295ee3a20068_0_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h1a73295ee3a20068_0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16. Los valores son reportados, no recalculados.</a:t>
            </a:r>
          </a:p>
          <a:p>
            <a:r>
              <a:t>Familia: daily_comparison. Fuente prevista: timing.</a:t>
            </a:r>
          </a:p>
          <a:p>
            <a:r>
              <a:t>Campos previstos: days[].total_minutes, period.total_minutes, days[].quarters.Q1, days[].quarters.Q2, days[].quarters.Q3, days[].quarters.Q4.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h1a73295ee3a20068_0_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h1a73295ee3a20068_0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17. Los valores son reportados, no recalculados.</a:t>
            </a:r>
          </a:p>
          <a:p>
            <a:r>
              <a:t>Familia: history. Fuente prevista: history.</a:t>
            </a:r>
          </a:p>
          <a:p>
            <a:r>
              <a:t>Campos previstos: historical_series[].reported_values, historical_series[].periods, historical_series[].unit, previous_operation.period.</a:t>
            </a:r>
          </a:p>
          <a:p>
            <a:r>
              <a:t>Inclusión futura: always.</a:t>
            </a:r>
          </a:p>
          <a:p>
            <a:r>
              <a:t>No recalcular el histórico presentado; sustituir imagen solo con transcripción validada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h1a73295ee3a20068_0_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h1a73295ee3a20068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18.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h1a73295ee3a20068_0_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h1a73295ee3a20068_0_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19.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h1a73295ee3a20068_0_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h1a73295ee3a20068_0_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20. Los valores son reportados, no recalculados.</a:t>
            </a:r>
          </a:p>
          <a:p>
            <a:r>
              <a:t>Familia: operation. Fuente prevista: derived.</a:t>
            </a:r>
          </a:p>
          <a:p>
            <a:r>
              <a:t>Campos previstos: operation.start, operation.end, operation.status, truck_count, estimated_tonnes, tonnes_assumption.</a:t>
            </a:r>
          </a:p>
          <a:p>
            <a:r>
              <a:t>Inclusión futura: product_has_activity.</a:t>
            </a:r>
          </a:p>
          <a:p>
            <a:r>
              <a:t>Toneladas estimadas = camiones × 30; falta conciliar 185/188 de referencia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h1a73295ee3a20068_0_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h1a73295ee3a20068_0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21.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h1a73295ee3a20068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h1a73295ee3a20068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22.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h1a73295ee3a20068_0_8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h1a73295ee3a20068_0_8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23.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h1a73295ee3a20068_0_9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h1a73295ee3a20068_0_9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24.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h1a73295ee3a20068_0_10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h1a73295ee3a20068_0_10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25. Los valores son reportados, no recalculados.</a:t>
            </a:r>
          </a:p>
          <a:p>
            <a:r>
              <a:t>Familia: plant_comparison. Fuente prevista: timing.</a:t>
            </a:r>
          </a:p>
          <a:p>
            <a:r>
              <a:t>Campos previstos: days[].label, days[].ricardone_minutes, days[].san_lorenzo_minutes.</a:t>
            </a:r>
          </a:p>
          <a:p>
            <a:r>
              <a:t>Inclusión futura: always.</a:t>
            </a:r>
          </a:p>
          <a:p>
            <a:r>
              <a:t>Comparación de días del período; no confundir con serie histórica de operativos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h1a73295ee3a20068_0_10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h1a73295ee3a20068_0_1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26.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h1a73295ee3a20068_0_10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h1a73295ee3a20068_0_1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27.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h1a73295ee3a20068_0_10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h1a73295ee3a20068_0_1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28. Los valores son reportados, no recalculados.</a:t>
            </a:r>
          </a:p>
          <a:p>
            <a:r>
              <a:t>Familia: lpr. Fuente prevista: calibration.</a:t>
            </a:r>
          </a:p>
          <a:p>
            <a:r>
              <a:t>Campos previstos: recognitionDepthBuckets, top_missing_step, missing_count, sample_n.</a:t>
            </a:r>
          </a:p>
          <a:p>
            <a:r>
              <a:t>Inclusión futura: always.</a:t>
            </a:r>
          </a:p>
          <a:p>
            <a:r>
              <a:t>Conservar cobertura observada; no sumar baja cobertura a TODAS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h1a73295ee3a20068_0_1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1" name="Google Shape;1111;h1a73295ee3a20068_0_1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29.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h1a73295ee3a20068_0_1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h1a73295ee3a20068_0_1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30.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h1a73295ee3a20068_0_1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5" name="Google Shape;1225;h1a73295ee3a20068_0_1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31. Los valores son reportados, no recalculados.</a:t>
            </a:r>
          </a:p>
          <a:p>
            <a:r>
              <a:t>Familia: history. Fuente prevista: history.</a:t>
            </a:r>
          </a:p>
          <a:p>
            <a:r>
              <a:t>Campos previstos: historical_series[].reported_values, historical_series[].periods, historical_series[].unit, previous_operation.period.</a:t>
            </a:r>
          </a:p>
          <a:p>
            <a:r>
              <a:t>Inclusión futura: always.</a:t>
            </a:r>
          </a:p>
          <a:p>
            <a:r>
              <a:t>No recalcular el histórico presentado; sustituir imagen solo con transcripción validada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h1a73295ee3a20068_0_1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h1a73295ee3a20068_0_1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32.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h1a73295ee3a20068_0_1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h1a73295ee3a20068_0_1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33. Los valores son reportados, no recalculados.</a:t>
            </a:r>
          </a:p>
          <a:p>
            <a:r>
              <a:t>Familia: divider. Fuente prevista: static.</a:t>
            </a:r>
          </a:p>
          <a:p>
            <a:r>
              <a:t>Campos previstos: 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h1a73295ee3a20068_0_1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1" name="Google Shape;1251;h1a73295ee3a20068_0_1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34. Los valores son reportados, no recalculados.</a:t>
            </a:r>
          </a:p>
          <a:p>
            <a:r>
              <a:t>Familia: activity_overview.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h1a73295ee3a20068_0_1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h1a73295ee3a20068_0_1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35. Los valores son reportados, no recalculados.</a:t>
            </a:r>
          </a:p>
          <a:p>
            <a:r>
              <a:t>Familia: activity_bars_kpis.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h1a73295ee3a20068_0_1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h1a73295ee3a20068_0_1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36.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h1a73295ee3a20068_0_1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4" name="Google Shape;1294;h1a73295ee3a20068_0_1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37.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h1a73295ee3a20068_0_1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h1a73295ee3a20068_0_1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38.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h1a73295ee3a20068_0_1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8" name="Google Shape;1328;h1a73295ee3a20068_0_1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39.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h1a73295ee3a20068_0_1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h1a73295ee3a20068_0_1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40.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h1a73295ee3a20068_0_1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2" name="Google Shape;1362;h1a73295ee3a20068_0_1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41.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h1a73295ee3a20068_0_1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" name="Google Shape;1387;h1a73295ee3a20068_0_1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42.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h1a73295ee3a20068_0_1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6" name="Google Shape;1396;h1a73295ee3a20068_0_1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43.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h1a73295ee3a20068_0_1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1" name="Google Shape;1421;h1a73295ee3a20068_0_1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44.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h1a73295ee3a20068_0_1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0" name="Google Shape;1430;h1a73295ee3a20068_0_1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45.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h1a73295ee3a20068_0_1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h1a73295ee3a20068_0_1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46.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h1a73295ee3a20068_0_1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h1a73295ee3a20068_0_1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47.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h1a73295ee3a20068_0_1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9" name="Google Shape;1489;h1a73295ee3a20068_0_1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48.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h1a73295ee3a20068_0_1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8" name="Google Shape;1498;h1a73295ee3a20068_0_1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49.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h1a73295ee3a20068_0_1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h1a73295ee3a20068_0_1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50. Los valores son reportados, no recalculados.</a:t>
            </a:r>
          </a:p>
          <a:p>
            <a:r>
              <a:t>Familia: activity_combined.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h1a73295ee3a20068_0_1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0" name="Google Shape;1550;h1a73295ee3a20068_0_1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51. Los valores son reportados, no recalculados.</a:t>
            </a:r>
          </a:p>
          <a:p>
            <a:r>
              <a:t>Familia: activity_combined.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h1a73295ee3a20068_0_1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6" name="Google Shape;1576;h1a73295ee3a20068_0_1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52. Los valores son reportados, no recalculados.</a:t>
            </a:r>
          </a:p>
          <a:p>
            <a:r>
              <a:t>Familia: divider. Fuente prevista: static.</a:t>
            </a:r>
          </a:p>
          <a:p>
            <a:r>
              <a:t>Campos previstos: 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h1a73295ee3a20068_0_1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1" name="Google Shape;1581;h1a73295ee3a20068_0_1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53.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h1a73295ee3a20068_0_1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1" name="Google Shape;1591;h1a73295ee3a20068_0_1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54.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h1a73295ee3a20068_0_16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2" name="Google Shape;1612;h1a73295ee3a20068_0_1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55.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h1a73295ee3a20068_0_1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1" name="Google Shape;1621;h1a73295ee3a20068_0_1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56.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h1a73295ee3a20068_0_1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h1a73295ee3a20068_0_1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57. Los valores son reportados, no recalculados.</a:t>
            </a:r>
          </a:p>
          <a:p>
            <a:r>
              <a:t>Familia: activity_bars_kpis.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h1a73295ee3a20068_0_1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3" name="Google Shape;1663;h1a73295ee3a20068_0_1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58. Los valores son reportados, no recalculados.</a:t>
            </a:r>
          </a:p>
          <a:p>
            <a:r>
              <a:t>Familia: activity_bars_narrative.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h1a73295ee3a20068_0_1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4" name="Google Shape;1674;h1a73295ee3a20068_0_1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59.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h1a73295ee3a20068_0_1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3" name="Google Shape;1683;h1a73295ee3a20068_0_1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60.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h1a73295ee3a20068_0_1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8" name="Google Shape;1708;h1a73295ee3a20068_0_1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61.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h1a73295ee3a20068_0_1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7" name="Google Shape;1717;h1a73295ee3a20068_0_1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62.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h1a73295ee3a20068_0_1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2" name="Google Shape;1742;h1a73295ee3a20068_0_1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63.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h1a73295ee3a20068_0_1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1" name="Google Shape;1751;h1a73295ee3a20068_0_1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64.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h1a73295ee3a20068_0_1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6" name="Google Shape;1776;h1a73295ee3a20068_0_1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65.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3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h1a73295ee3a20068_0_1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5" name="Google Shape;1785;h1a73295ee3a20068_0_1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66.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8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Google Shape;1809;h1a73295ee3a20068_0_1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0" name="Google Shape;1810;h1a73295ee3a20068_0_1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67.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h1a73295ee3a20068_0_18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9" name="Google Shape;1819;h1a73295ee3a20068_0_1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68.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2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h1a73295ee3a20068_0_1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4" name="Google Shape;1844;h1a73295ee3a20068_0_1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69.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h1a73295ee3a20068_0_19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3" name="Google Shape;1853;h1a73295ee3a20068_0_19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70.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h1a73295ee3a20068_0_19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8" name="Google Shape;1878;h1a73295ee3a20068_0_19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71.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h1a73295ee3a20068_0_19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7" name="Google Shape;1887;h1a73295ee3a20068_0_1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72.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2.jpg"/><Relationship Id="rId7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Relationship Id="rId7" Type="http://schemas.openxmlformats.org/officeDocument/2006/relationships/image" Target="../media/image9.png"/><Relationship Id="rIdManual1000" Type="http://schemas.openxmlformats.org/officeDocument/2006/relationships/chart" Target="../charts/chart1000.xml"/><Relationship Id="rIdManual1001" Type="http://schemas.openxmlformats.org/officeDocument/2006/relationships/chart" Target="../charts/chart100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37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Relationship Id="rId7" Type="http://schemas.openxmlformats.org/officeDocument/2006/relationships/image" Target="../media/image2.jpg"/><Relationship Id="rId8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2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52.png"/><Relationship Id="rId5" Type="http://schemas.openxmlformats.org/officeDocument/2006/relationships/image" Target="../media/image2.jpg"/><Relationship Id="rId6" Type="http://schemas.openxmlformats.org/officeDocument/2006/relationships/image" Target="../media/image16.png"/><Relationship Id="rId7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5.png"/><Relationship Id="rId8" Type="http://schemas.openxmlformats.org/officeDocument/2006/relationships/chart" Target="../charts/chart1.xml"/><Relationship Id="rId9" Type="http://schemas.openxmlformats.org/officeDocument/2006/relationships/chart" Target="../charts/chart2.xml"/><Relationship Id="rIdManual1005" Type="http://schemas.openxmlformats.org/officeDocument/2006/relationships/chart" Target="../charts/chart1005.xml"/><Relationship Id="rIdManual1006" Type="http://schemas.openxmlformats.org/officeDocument/2006/relationships/chart" Target="../charts/chart100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8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0.png"/><Relationship Id="rId4" Type="http://schemas.openxmlformats.org/officeDocument/2006/relationships/image" Target="../media/image21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Relationship Id="rId7" Type="http://schemas.openxmlformats.org/officeDocument/2006/relationships/image" Target="../media/image2.jpg"/><Relationship Id="rId8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3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2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4.png"/><Relationship Id="rIdManual1009" Type="http://schemas.openxmlformats.org/officeDocument/2006/relationships/chart" Target="../charts/chart1009.xml"/><Relationship Id="rIdManual1010" Type="http://schemas.openxmlformats.org/officeDocument/2006/relationships/chart" Target="../charts/chart101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3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36.png"/><Relationship Id="rId7" Type="http://schemas.openxmlformats.org/officeDocument/2006/relationships/image" Target="../media/image90.png"/><Relationship Id="rId8" Type="http://schemas.openxmlformats.org/officeDocument/2006/relationships/chart" Target="../charts/chart3.xml"/><Relationship Id="rId9" Type="http://schemas.openxmlformats.org/officeDocument/2006/relationships/chart" Target="../charts/chart4.xml"/><Relationship Id="rIdManual1011" Type="http://schemas.openxmlformats.org/officeDocument/2006/relationships/chart" Target="../charts/chart1011.xml"/><Relationship Id="rIdManual1012" Type="http://schemas.openxmlformats.org/officeDocument/2006/relationships/chart" Target="../charts/chart101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5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13" Type="http://schemas.openxmlformats.org/officeDocument/2006/relationships/chart" Target="../charts/chart101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8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3.png"/><Relationship Id="rId7" Type="http://schemas.openxmlformats.org/officeDocument/2006/relationships/image" Target="../media/image8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4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6.png"/><Relationship Id="rIdManual1021" Type="http://schemas.openxmlformats.org/officeDocument/2006/relationships/chart" Target="../charts/chart102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0.png"/><Relationship Id="rId7" Type="http://schemas.openxmlformats.org/officeDocument/2006/relationships/image" Target="../media/image67.png"/><Relationship Id="rIdManual1022" Type="http://schemas.openxmlformats.org/officeDocument/2006/relationships/chart" Target="../charts/chart102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1.png"/><Relationship Id="rId7" Type="http://schemas.openxmlformats.org/officeDocument/2006/relationships/image" Target="../media/image59.png"/><Relationship Id="rIdManual1023" Type="http://schemas.openxmlformats.org/officeDocument/2006/relationships/chart" Target="../charts/chart1023.xml"/><Relationship Id="rIdManual1024" Type="http://schemas.openxmlformats.org/officeDocument/2006/relationships/chart" Target="../charts/chart102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8.png"/><Relationship Id="rIdManual1025" Type="http://schemas.openxmlformats.org/officeDocument/2006/relationships/chart" Target="../charts/chart102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26" Type="http://schemas.openxmlformats.org/officeDocument/2006/relationships/chart" Target="../charts/chart102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9.png"/><Relationship Id="rIdManual1027" Type="http://schemas.openxmlformats.org/officeDocument/2006/relationships/chart" Target="../charts/chart102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5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9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7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8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3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2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9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0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4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86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Ricardone_icono.png"/>
          <p:cNvPicPr preferRelativeResize="0"/>
          <p:nvPr/>
        </p:nvPicPr>
        <p:blipFill rotWithShape="1">
          <a:blip r:embed="rId3">
            <a:alphaModFix amt="52000"/>
          </a:blip>
          <a:srcRect b="0" l="0" r="0" t="18307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Diseño sin título (3).png"/>
          <p:cNvPicPr preferRelativeResize="0"/>
          <p:nvPr/>
        </p:nvPicPr>
        <p:blipFill rotWithShape="1">
          <a:blip r:embed="rId4">
            <a:alphaModFix/>
          </a:blip>
          <a:srcRect b="38440" l="19392" r="19398" t="33879"/>
          <a:stretch/>
        </p:blipFill>
        <p:spPr>
          <a:xfrm>
            <a:off x="369125" y="300250"/>
            <a:ext cx="2551301" cy="4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455900" y="358075"/>
            <a:ext cx="2379600" cy="365400"/>
          </a:xfrm>
          <a:prstGeom prst="roundRect">
            <a:avLst>
              <a:gd fmla="val 16667" name="adj"/>
            </a:avLst>
          </a:prstGeom>
          <a:solidFill>
            <a:srgbClr val="FFFFFF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s001.text.57"/>
          <p:cNvSpPr txBox="1"/>
          <p:nvPr/>
        </p:nvSpPr>
        <p:spPr>
          <a:xfrm>
            <a:off x="269150" y="363475"/>
            <a:ext cx="27258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7"/>
              <a:buFont typeface="Arial"/>
              <a:buNone/>
            </a:pPr>
            <a:r>
              <a:rPr lang="es" sz="1147">
                <a:latin typeface="Inter Medium"/>
                <a:ea typeface="Inter Medium"/>
                <a:cs typeface="Inter Medium"/>
                <a:sym typeface="Inter Medium"/>
              </a:rPr>
              <a:t>Comite de Logistica</a:t>
            </a:r>
            <a:endParaRPr b="0" i="0" sz="1147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8" name="s001.text.58"/>
          <p:cNvSpPr txBox="1"/>
          <p:nvPr/>
        </p:nvSpPr>
        <p:spPr>
          <a:xfrm>
            <a:off x="1362900" y="2063613"/>
            <a:ext cx="6418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s" sz="3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Nueva Vicentin Argentina</a:t>
            </a:r>
            <a:endParaRPr b="1" i="0" sz="3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9" name="Google Shape;59;p13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09175" y="2731175"/>
            <a:ext cx="2725651" cy="122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 title="nv_argentina_logo.jfif"/>
          <p:cNvPicPr preferRelativeResize="0"/>
          <p:nvPr/>
        </p:nvPicPr>
        <p:blipFill rotWithShape="1">
          <a:blip r:embed="rId6">
            <a:alphaModFix/>
          </a:blip>
          <a:srcRect b="18961" l="0" r="0" t="13585"/>
          <a:stretch/>
        </p:blipFill>
        <p:spPr>
          <a:xfrm>
            <a:off x="7972129" y="4285249"/>
            <a:ext cx="730246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 title="Logo sin text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40014" y="331950"/>
            <a:ext cx="462351" cy="41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 title="Diseño sin título (3).png"/>
          <p:cNvPicPr preferRelativeResize="0"/>
          <p:nvPr/>
        </p:nvPicPr>
        <p:blipFill rotWithShape="1">
          <a:blip r:embed="rId4">
            <a:alphaModFix/>
          </a:blip>
          <a:srcRect b="38440" l="19392" r="19398" t="33879"/>
          <a:stretch/>
        </p:blipFill>
        <p:spPr>
          <a:xfrm>
            <a:off x="852300" y="4231700"/>
            <a:ext cx="1298424" cy="4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/>
          <p:nvPr/>
        </p:nvSpPr>
        <p:spPr>
          <a:xfrm>
            <a:off x="898837" y="4289527"/>
            <a:ext cx="1206300" cy="365400"/>
          </a:xfrm>
          <a:prstGeom prst="roundRect">
            <a:avLst>
              <a:gd fmla="val 16667" name="adj"/>
            </a:avLst>
          </a:prstGeom>
          <a:solidFill>
            <a:srgbClr val="FFFFFF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s001.text.64"/>
          <p:cNvSpPr txBox="1"/>
          <p:nvPr/>
        </p:nvSpPr>
        <p:spPr>
          <a:xfrm>
            <a:off x="398750" y="4285250"/>
            <a:ext cx="21519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7"/>
              <a:buFont typeface="Arial"/>
              <a:buNone/>
            </a:pPr>
            <a:r>
              <a:rPr lang="es" sz="1347">
                <a:latin typeface="Inter Medium"/>
                <a:ea typeface="Inter Medium"/>
                <a:cs typeface="Inter Medium"/>
                <a:sym typeface="Inter Medium"/>
              </a:rPr>
              <a:t>18-09-2026</a:t>
            </a:r>
            <a:endParaRPr b="0" i="0" sz="1347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6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1/72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4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s002.text.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Análisis Logístico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8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period.label"/>
          <p:cNvSpPr txBox="1"/>
          <p:nvPr/>
        </p:nvSpPr>
        <p:spPr>
          <a:xfrm>
            <a:off x="1095375" y="781050"/>
            <a:ext cx="695325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0">
                <a:solidFill>
                  <a:srgbClr val="06245F"/>
                </a:solidFill>
                <a:latin typeface="Inter"/>
              </a:rPr>
              <a:t>Período analizado: 10/09 al 16/09/2026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2" name="index.0.number"/>
          <p:cNvSpPr txBox="1"/>
          <p:nvPr/>
        </p:nvSpPr>
        <p:spPr>
          <a:xfrm>
            <a:off x="1095375" y="1285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1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3" name="index.0.title"/>
          <p:cNvSpPr txBox="1"/>
          <p:nvPr/>
        </p:nvSpPr>
        <p:spPr>
          <a:xfrm>
            <a:off x="1695450" y="1285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Tamaño de la muestra y período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04" name="index.0.pages"/>
          <p:cNvSpPr txBox="1"/>
          <p:nvPr/>
        </p:nvSpPr>
        <p:spPr>
          <a:xfrm>
            <a:off x="7029450" y="1285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3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5" name="index.1.number"/>
          <p:cNvSpPr txBox="1"/>
          <p:nvPr/>
        </p:nvSpPr>
        <p:spPr>
          <a:xfrm>
            <a:off x="1095375" y="1857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2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6" name="index.1.title"/>
          <p:cNvSpPr txBox="1"/>
          <p:nvPr/>
        </p:nvSpPr>
        <p:spPr>
          <a:xfrm>
            <a:off x="1695450" y="1857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Operación de soja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07" name="index.1.pages"/>
          <p:cNvSpPr txBox="1"/>
          <p:nvPr/>
        </p:nvSpPr>
        <p:spPr>
          <a:xfrm>
            <a:off x="7029450" y="1857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4–18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8" name="index.2.number"/>
          <p:cNvSpPr txBox="1"/>
          <p:nvPr/>
        </p:nvSpPr>
        <p:spPr>
          <a:xfrm>
            <a:off x="1095375" y="2428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3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9" name="index.2.title"/>
          <p:cNvSpPr txBox="1"/>
          <p:nvPr/>
        </p:nvSpPr>
        <p:spPr>
          <a:xfrm>
            <a:off x="1695450" y="2428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Operativo de pellet de girasol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0" name="index.2.pages"/>
          <p:cNvSpPr txBox="1"/>
          <p:nvPr/>
        </p:nvSpPr>
        <p:spPr>
          <a:xfrm>
            <a:off x="7029450" y="2428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19–26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1" name="index.3.number"/>
          <p:cNvSpPr txBox="1"/>
          <p:nvPr/>
        </p:nvSpPr>
        <p:spPr>
          <a:xfrm>
            <a:off x="1095375" y="3000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4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2" name="index.3.title"/>
          <p:cNvSpPr txBox="1"/>
          <p:nvPr/>
        </p:nvSpPr>
        <p:spPr>
          <a:xfrm>
            <a:off x="1695450" y="3000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Operación de semilla de girasol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3" name="index.3.pages"/>
          <p:cNvSpPr txBox="1"/>
          <p:nvPr/>
        </p:nvSpPr>
        <p:spPr>
          <a:xfrm>
            <a:off x="7029450" y="3000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27–32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4" name="index.4.number"/>
          <p:cNvSpPr txBox="1"/>
          <p:nvPr/>
        </p:nvSpPr>
        <p:spPr>
          <a:xfrm>
            <a:off x="1095375" y="3571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5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5" name="index.4.title"/>
          <p:cNvSpPr txBox="1"/>
          <p:nvPr/>
        </p:nvSpPr>
        <p:spPr>
          <a:xfrm>
            <a:off x="1695450" y="3571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Actividad de calada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6" name="index.4.pages"/>
          <p:cNvSpPr txBox="1"/>
          <p:nvPr/>
        </p:nvSpPr>
        <p:spPr>
          <a:xfrm>
            <a:off x="7029450" y="3571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33–51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7" name="index.5.number"/>
          <p:cNvSpPr txBox="1"/>
          <p:nvPr/>
        </p:nvSpPr>
        <p:spPr>
          <a:xfrm>
            <a:off x="1095375" y="4143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6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8" name="index.5.title"/>
          <p:cNvSpPr txBox="1"/>
          <p:nvPr/>
        </p:nvSpPr>
        <p:spPr>
          <a:xfrm>
            <a:off x="1695450" y="4143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Actividad de volcables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9" name="index.5.pages"/>
          <p:cNvSpPr txBox="1"/>
          <p:nvPr/>
        </p:nvSpPr>
        <p:spPr>
          <a:xfrm>
            <a:off x="7029450" y="4143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52–72</a:t>
            </a:r>
            <a:endParaRPr sz="127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5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s003.text.9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Tamaño de la Muestra y Periodo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period.heading"/>
          <p:cNvSpPr txBox="1"/>
          <p:nvPr/>
        </p:nvSpPr>
        <p:spPr>
          <a:xfrm>
            <a:off x="666750" y="1066800"/>
            <a:ext cx="381000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06245F"/>
                </a:solidFill>
                <a:latin typeface="Inter"/>
              </a:rPr>
              <a:t>PERÍODO DE ANÁLISIS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2" name="period.start.label"/>
          <p:cNvSpPr txBox="1"/>
          <p:nvPr/>
        </p:nvSpPr>
        <p:spPr>
          <a:xfrm>
            <a:off x="66675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Inicio</a:t>
            </a:r>
            <a:endParaRPr sz="1125"/>
          </a:p>
        </p:txBody>
      </p:sp>
      <p:sp xmlns:p="http://schemas.openxmlformats.org/presentationml/2006/main" xmlns:a="http://schemas.openxmlformats.org/drawingml/2006/main">
        <p:nvSpPr>
          <p:cNvPr id="20003" name="period.start"/>
          <p:cNvSpPr txBox="1"/>
          <p:nvPr/>
        </p:nvSpPr>
        <p:spPr>
          <a:xfrm>
            <a:off x="66675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10/09</a:t>
            </a:r>
            <a:endParaRPr sz="2250"/>
          </a:p>
        </p:txBody>
      </p:sp>
      <p:sp xmlns:p="http://schemas.openxmlformats.org/presentationml/2006/main" xmlns:a="http://schemas.openxmlformats.org/drawingml/2006/main">
        <p:nvSpPr>
          <p:cNvPr id="20004" name="period.end.label"/>
          <p:cNvSpPr txBox="1"/>
          <p:nvPr/>
        </p:nvSpPr>
        <p:spPr>
          <a:xfrm>
            <a:off x="190500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Fin</a:t>
            </a:r>
            <a:endParaRPr sz="1125"/>
          </a:p>
        </p:txBody>
      </p:sp>
      <p:sp xmlns:p="http://schemas.openxmlformats.org/presentationml/2006/main" xmlns:a="http://schemas.openxmlformats.org/drawingml/2006/main">
        <p:nvSpPr>
          <p:cNvPr id="20005" name="period.end"/>
          <p:cNvSpPr txBox="1"/>
          <p:nvPr/>
        </p:nvSpPr>
        <p:spPr>
          <a:xfrm>
            <a:off x="190500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16/09</a:t>
            </a:r>
            <a:endParaRPr sz="2250"/>
          </a:p>
        </p:txBody>
      </p:sp>
      <p:sp xmlns:p="http://schemas.openxmlformats.org/presentationml/2006/main" xmlns:a="http://schemas.openxmlformats.org/drawingml/2006/main">
        <p:nvSpPr>
          <p:cNvPr id="20006" name="period.days.label"/>
          <p:cNvSpPr txBox="1"/>
          <p:nvPr/>
        </p:nvSpPr>
        <p:spPr>
          <a:xfrm>
            <a:off x="314325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Días</a:t>
            </a:r>
            <a:endParaRPr sz="1125"/>
          </a:p>
        </p:txBody>
      </p:sp>
      <p:sp xmlns:p="http://schemas.openxmlformats.org/presentationml/2006/main" xmlns:a="http://schemas.openxmlformats.org/drawingml/2006/main">
        <p:nvSpPr>
          <p:cNvPr id="20007" name="period.days"/>
          <p:cNvSpPr txBox="1"/>
          <p:nvPr/>
        </p:nvSpPr>
        <p:spPr>
          <a:xfrm>
            <a:off x="314325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7</a:t>
            </a:r>
            <a:endParaRPr sz="2250"/>
          </a:p>
        </p:txBody>
      </p:sp>
      <p:sp xmlns:p="http://schemas.openxmlformats.org/presentationml/2006/main" xmlns:a="http://schemas.openxmlformats.org/drawingml/2006/main">
        <p:nvSpPr>
          <p:cNvPr id="20008" name="sample.total.label"/>
          <p:cNvSpPr txBox="1"/>
          <p:nvPr/>
        </p:nvSpPr>
        <p:spPr>
          <a:xfrm>
            <a:off x="5048250" y="1066800"/>
            <a:ext cx="361950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06245F"/>
                </a:solidFill>
                <a:latin typeface="Inter"/>
              </a:rPr>
              <a:t>VOLUMEN TOTAL REGISTRADO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9" name="sample.total"/>
          <p:cNvSpPr txBox="1"/>
          <p:nvPr/>
        </p:nvSpPr>
        <p:spPr>
          <a:xfrm>
            <a:off x="5048250" y="1466850"/>
            <a:ext cx="3333750" cy="57150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3150" b="1">
                <a:solidFill>
                  <a:srgbClr val="06245F"/>
                </a:solidFill>
                <a:latin typeface="Inter"/>
              </a:rPr>
              <a:t>3.423</a:t>
            </a:r>
            <a:endParaRPr sz="3150"/>
          </a:p>
        </p:txBody>
      </p:sp>
      <p:sp xmlns:p="http://schemas.openxmlformats.org/presentationml/2006/main" xmlns:a="http://schemas.openxmlformats.org/drawingml/2006/main">
        <p:nvSpPr>
          <p:cNvPr id="20010" name="sample.unit"/>
          <p:cNvSpPr txBox="1"/>
          <p:nvPr/>
        </p:nvSpPr>
        <p:spPr>
          <a:xfrm>
            <a:off x="5048250" y="2095500"/>
            <a:ext cx="333375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0">
                <a:solidFill>
                  <a:srgbClr val="06245F"/>
                </a:solidFill>
                <a:latin typeface="Inter"/>
              </a:rPr>
              <a:t>camiones · valor reportado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1" name="products.soja.label"/>
          <p:cNvSpPr txBox="1"/>
          <p:nvPr/>
        </p:nvSpPr>
        <p:spPr>
          <a:xfrm>
            <a:off x="6667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38761D"/>
                </a:solidFill>
                <a:latin typeface="Inter"/>
              </a:rPr>
              <a:t>SOJA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2" name="products.soja.count"/>
          <p:cNvSpPr txBox="1"/>
          <p:nvPr/>
        </p:nvSpPr>
        <p:spPr>
          <a:xfrm>
            <a:off x="6667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38761D"/>
                </a:solidFill>
                <a:latin typeface="Inter"/>
              </a:rPr>
              <a:t>2.557</a:t>
            </a:r>
            <a:endParaRPr sz="2775"/>
          </a:p>
        </p:txBody>
      </p:sp>
      <p:sp xmlns:p="http://schemas.openxmlformats.org/presentationml/2006/main" xmlns:a="http://schemas.openxmlformats.org/drawingml/2006/main">
        <p:nvSpPr>
          <p:cNvPr id="20013" name="products.girasol.label"/>
          <p:cNvSpPr txBox="1"/>
          <p:nvPr/>
        </p:nvSpPr>
        <p:spPr>
          <a:xfrm>
            <a:off x="27622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A78619"/>
                </a:solidFill>
                <a:latin typeface="Inter"/>
              </a:rPr>
              <a:t>GIRASOL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4" name="products.girasol.count"/>
          <p:cNvSpPr txBox="1"/>
          <p:nvPr/>
        </p:nvSpPr>
        <p:spPr>
          <a:xfrm>
            <a:off x="27622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A78619"/>
                </a:solidFill>
                <a:latin typeface="Inter"/>
              </a:rPr>
              <a:t>523</a:t>
            </a:r>
            <a:endParaRPr sz="2775"/>
          </a:p>
        </p:txBody>
      </p:sp>
      <p:sp xmlns:p="http://schemas.openxmlformats.org/presentationml/2006/main" xmlns:a="http://schemas.openxmlformats.org/drawingml/2006/main">
        <p:nvSpPr>
          <p:cNvPr id="20015" name="products.liquidos.label"/>
          <p:cNvSpPr txBox="1"/>
          <p:nvPr/>
        </p:nvSpPr>
        <p:spPr>
          <a:xfrm>
            <a:off x="48577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B86415"/>
                </a:solidFill>
                <a:latin typeface="Inter"/>
              </a:rPr>
              <a:t>LÍQUIDOS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6" name="products.liquidos.count"/>
          <p:cNvSpPr txBox="1"/>
          <p:nvPr/>
        </p:nvSpPr>
        <p:spPr>
          <a:xfrm>
            <a:off x="48577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B86415"/>
                </a:solidFill>
                <a:latin typeface="Inter"/>
              </a:rPr>
              <a:t>155</a:t>
            </a:r>
            <a:endParaRPr sz="2775"/>
          </a:p>
        </p:txBody>
      </p:sp>
      <p:sp xmlns:p="http://schemas.openxmlformats.org/presentationml/2006/main" xmlns:a="http://schemas.openxmlformats.org/drawingml/2006/main">
        <p:nvSpPr>
          <p:cNvPr id="20017" name="products.pellet.label"/>
          <p:cNvSpPr txBox="1"/>
          <p:nvPr/>
        </p:nvSpPr>
        <p:spPr>
          <a:xfrm>
            <a:off x="69532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356CB3"/>
                </a:solidFill>
                <a:latin typeface="Inter"/>
              </a:rPr>
              <a:t>PELLET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8" name="products.pellet.count"/>
          <p:cNvSpPr txBox="1"/>
          <p:nvPr/>
        </p:nvSpPr>
        <p:spPr>
          <a:xfrm>
            <a:off x="69532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356CB3"/>
                </a:solidFill>
                <a:latin typeface="Inter"/>
              </a:rPr>
              <a:t>188</a:t>
            </a:r>
            <a:endParaRPr sz="2775"/>
          </a:p>
        </p:txBody>
      </p:sp>
      <p:sp xmlns:p="http://schemas.openxmlformats.org/presentationml/2006/main" xmlns:a="http://schemas.openxmlformats.org/drawingml/2006/main">
        <p:nvSpPr>
          <p:cNvPr id="20019" name="sample.caption"/>
          <p:cNvSpPr txBox="1"/>
          <p:nvPr/>
        </p:nvSpPr>
        <p:spPr>
          <a:xfrm>
            <a:off x="666750" y="4324350"/>
            <a:ext cx="790575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00" b="0">
                <a:solidFill>
                  <a:srgbClr val="06245F"/>
                </a:solidFill>
                <a:latin typeface="Inter"/>
              </a:rPr>
              <a:t>Totales por producto del informe de referencia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positiva que sirva como caratula para hablar de la seccion de soja del programa" id="123" name="Google Shape;123;p16"/>
          <p:cNvPicPr preferRelativeResize="0"/>
          <p:nvPr/>
        </p:nvPicPr>
        <p:blipFill rotWithShape="1">
          <a:blip r:embed="rId3">
            <a:alphaModFix/>
          </a:blip>
          <a:srcRect b="8044" l="0" r="0" t="14382"/>
          <a:stretch/>
        </p:blipFill>
        <p:spPr>
          <a:xfrm>
            <a:off x="15488" y="619850"/>
            <a:ext cx="9113025" cy="3989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/>
          <p:nvPr/>
        </p:nvSpPr>
        <p:spPr>
          <a:xfrm>
            <a:off x="2404600" y="2271725"/>
            <a:ext cx="4362900" cy="1845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s004.text.125"/>
          <p:cNvSpPr txBox="1"/>
          <p:nvPr/>
        </p:nvSpPr>
        <p:spPr>
          <a:xfrm>
            <a:off x="2745400" y="1882775"/>
            <a:ext cx="4269000" cy="26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Contenido del análisis</a:t>
            </a:r>
            <a:endParaRPr sz="17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Calidad de lectura de cámaras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Descripción del circuito R7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Comparativo semanal e histórico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 xmlns:p="http://schemas.openxmlformats.org/presentationml/2006/main" xmlns:a="http://schemas.openxmlformats.org/drawingml/2006/main">
        <p:nvSpPr>
          <p:cNvPr id="12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4/72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7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s005.text.135"/>
          <p:cNvSpPr txBox="1"/>
          <p:nvPr/>
        </p:nvSpPr>
        <p:spPr>
          <a:xfrm>
            <a:off x="4701745" y="3372861"/>
            <a:ext cx="654300" cy="408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13">
                <a:latin typeface="Inter"/>
                <a:ea typeface="Inter"/>
                <a:cs typeface="Inter"/>
                <a:sym typeface="Inter"/>
              </a:rPr>
              <a:t>Falla de Lectura más frecuente</a:t>
            </a:r>
            <a:endParaRPr b="1" sz="545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s005.text.136"/>
          <p:cNvSpPr txBox="1"/>
          <p:nvPr/>
        </p:nvSpPr>
        <p:spPr>
          <a:xfrm>
            <a:off x="3849771" y="3420110"/>
            <a:ext cx="5868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26"/>
              </a:spcBef>
              <a:spcAft>
                <a:spcPts val="0"/>
              </a:spcAft>
              <a:buClr>
                <a:srgbClr val="000000"/>
              </a:buClr>
              <a:buSzPts val="1362"/>
              <a:buFont typeface="Arial"/>
              <a:buNone/>
            </a:pPr>
            <a:r>
              <a:rPr b="1" lang="es" sz="1226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Balanza Egreso</a:t>
            </a:r>
            <a:r>
              <a:rPr b="1" lang="es" sz="1226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626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(1604  patentes no leídas)</a:t>
            </a:r>
            <a:endParaRPr b="0" i="0" sz="1034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2168775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3468713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4668850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6F3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868975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2249875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3549813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4749950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5950075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s005.text.146"/>
          <p:cNvSpPr txBox="1"/>
          <p:nvPr/>
        </p:nvSpPr>
        <p:spPr>
          <a:xfrm>
            <a:off x="218372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Todas las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47" name="s005.text.147"/>
          <p:cNvSpPr txBox="1"/>
          <p:nvPr/>
        </p:nvSpPr>
        <p:spPr>
          <a:xfrm>
            <a:off x="2282001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849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7150200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7231300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s005.text.150"/>
          <p:cNvSpPr txBox="1"/>
          <p:nvPr/>
        </p:nvSpPr>
        <p:spPr>
          <a:xfrm>
            <a:off x="366427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7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1" name="s005.text.151"/>
          <p:cNvSpPr txBox="1"/>
          <p:nvPr/>
        </p:nvSpPr>
        <p:spPr>
          <a:xfrm>
            <a:off x="361242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721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" name="s005.text.152"/>
          <p:cNvSpPr txBox="1"/>
          <p:nvPr/>
        </p:nvSpPr>
        <p:spPr>
          <a:xfrm>
            <a:off x="483782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6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3" name="s005.text.153"/>
          <p:cNvSpPr txBox="1"/>
          <p:nvPr/>
        </p:nvSpPr>
        <p:spPr>
          <a:xfrm>
            <a:off x="478597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462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" name="s005.text.154"/>
          <p:cNvSpPr txBox="1"/>
          <p:nvPr/>
        </p:nvSpPr>
        <p:spPr>
          <a:xfrm>
            <a:off x="6001925" y="408907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5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5" name="s005.text.155"/>
          <p:cNvSpPr txBox="1"/>
          <p:nvPr/>
        </p:nvSpPr>
        <p:spPr>
          <a:xfrm>
            <a:off x="5950076" y="428862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306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" name="s005.text.156"/>
          <p:cNvSpPr txBox="1"/>
          <p:nvPr/>
        </p:nvSpPr>
        <p:spPr>
          <a:xfrm>
            <a:off x="730187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≤  4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7" name="s005.text.157"/>
          <p:cNvSpPr txBox="1"/>
          <p:nvPr/>
        </p:nvSpPr>
        <p:spPr>
          <a:xfrm>
            <a:off x="725002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219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" name="s005.text.13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Calidad de lectura de Cámaras LPR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5/72</a:t>
            </a:r>
          </a:p>
        </p:txBody>
      </p:sp>
      <p:graphicFrame>
        <p:nvGraphicFramePr>
          <p:cNvPr id="130" name="D05_G1"/>
          <p:cNvGraphicFramePr/>
          <p:nvPr/>
        </p:nvGraphicFramePr>
        <p:xfrm>
          <a:off x="4691086" y="1370979"/>
          <a:ext cx="3532260" cy="1921320"/>
        </p:xfrm>
        <a:graphic>
          <a:graphicData uri="http://schemas.openxmlformats.org/drawingml/2006/chart">
            <c:chart r:id="rIdManual1000"/>
          </a:graphicData>
        </a:graphic>
      </p:graphicFrame>
      <p:graphicFrame>
        <p:nvGraphicFramePr>
          <p:cNvPr id="137" name="D05_G2"/>
          <p:cNvGraphicFramePr/>
          <p:nvPr/>
        </p:nvGraphicFramePr>
        <p:xfrm>
          <a:off x="542025" y="1284563"/>
          <a:ext cx="3583200" cy="1693812"/>
        </p:xfrm>
        <a:graphic>
          <a:graphicData uri="http://schemas.openxmlformats.org/drawingml/2006/chart">
            <c:chart r:id="rIdManual100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/>
          <p:cNvPicPr preferRelativeResize="0"/>
          <p:nvPr/>
        </p:nvPicPr>
        <p:blipFill rotWithShape="1">
          <a:blip r:embed="rId3">
            <a:alphaModFix/>
          </a:blip>
          <a:srcRect b="2086" l="0" r="11910" t="0"/>
          <a:stretch/>
        </p:blipFill>
        <p:spPr>
          <a:xfrm>
            <a:off x="4666248" y="2411587"/>
            <a:ext cx="4353253" cy="174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/>
          <p:cNvPicPr preferRelativeResize="0"/>
          <p:nvPr/>
        </p:nvPicPr>
        <p:blipFill rotWithShape="1">
          <a:blip r:embed="rId4">
            <a:alphaModFix/>
          </a:blip>
          <a:srcRect b="1786" l="2266" r="35471" t="27039"/>
          <a:stretch/>
        </p:blipFill>
        <p:spPr>
          <a:xfrm>
            <a:off x="378300" y="2411587"/>
            <a:ext cx="3980523" cy="174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27747" y="4157670"/>
            <a:ext cx="777244" cy="71398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/>
          <p:nvPr/>
        </p:nvSpPr>
        <p:spPr>
          <a:xfrm>
            <a:off x="3622187" y="2695860"/>
            <a:ext cx="1296037" cy="1518886"/>
          </a:xfrm>
          <a:custGeom>
            <a:rect b="b" l="l" r="r" t="t"/>
            <a:pathLst>
              <a:path extrusionOk="0" h="64034" w="54639">
                <a:moveTo>
                  <a:pt x="0" y="59069"/>
                </a:moveTo>
                <a:cubicBezTo>
                  <a:pt x="3200" y="59857"/>
                  <a:pt x="11273" y="65173"/>
                  <a:pt x="19198" y="63795"/>
                </a:cubicBezTo>
                <a:cubicBezTo>
                  <a:pt x="27123" y="62417"/>
                  <a:pt x="41644" y="61433"/>
                  <a:pt x="47551" y="50800"/>
                </a:cubicBezTo>
                <a:cubicBezTo>
                  <a:pt x="53458" y="40168"/>
                  <a:pt x="53458" y="8467"/>
                  <a:pt x="54639" y="0"/>
                </a:cubicBezTo>
              </a:path>
            </a:pathLst>
          </a:custGeom>
          <a:noFill/>
          <a:ln cap="flat" cmpd="sng" w="27125">
            <a:solidFill>
              <a:srgbClr val="F4CCCC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66" name="Google Shape;166;p18"/>
          <p:cNvSpPr/>
          <p:nvPr/>
        </p:nvSpPr>
        <p:spPr>
          <a:xfrm>
            <a:off x="2259976" y="3494548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7" name="Google Shape;167;p18"/>
          <p:cNvSpPr/>
          <p:nvPr/>
        </p:nvSpPr>
        <p:spPr>
          <a:xfrm>
            <a:off x="2100997" y="2934281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8" name="Google Shape;168;p18"/>
          <p:cNvSpPr/>
          <p:nvPr/>
        </p:nvSpPr>
        <p:spPr>
          <a:xfrm>
            <a:off x="3323845" y="3706994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9" name="Google Shape;169;p18"/>
          <p:cNvSpPr/>
          <p:nvPr/>
        </p:nvSpPr>
        <p:spPr>
          <a:xfrm>
            <a:off x="4529257" y="3774812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0" name="Google Shape;170;p18"/>
          <p:cNvSpPr/>
          <p:nvPr/>
        </p:nvSpPr>
        <p:spPr>
          <a:xfrm>
            <a:off x="5909138" y="2910963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1" name="Google Shape;171;p18"/>
          <p:cNvSpPr/>
          <p:nvPr/>
        </p:nvSpPr>
        <p:spPr>
          <a:xfrm>
            <a:off x="7665094" y="2613691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2" name="Google Shape;172;p18"/>
          <p:cNvSpPr/>
          <p:nvPr/>
        </p:nvSpPr>
        <p:spPr>
          <a:xfrm>
            <a:off x="7720554" y="3887748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3" name="s006.text.173"/>
          <p:cNvSpPr txBox="1"/>
          <p:nvPr/>
        </p:nvSpPr>
        <p:spPr>
          <a:xfrm>
            <a:off x="2245307" y="3438899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4" name="s006.text.174"/>
          <p:cNvSpPr txBox="1"/>
          <p:nvPr/>
        </p:nvSpPr>
        <p:spPr>
          <a:xfrm>
            <a:off x="2086328" y="2878631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5" name="s006.text.175"/>
          <p:cNvSpPr txBox="1"/>
          <p:nvPr/>
        </p:nvSpPr>
        <p:spPr>
          <a:xfrm>
            <a:off x="3294516" y="3651344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6" name="s006.text.176"/>
          <p:cNvSpPr txBox="1"/>
          <p:nvPr/>
        </p:nvSpPr>
        <p:spPr>
          <a:xfrm>
            <a:off x="4499928" y="3719163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7" name="s006.text.177"/>
          <p:cNvSpPr txBox="1"/>
          <p:nvPr/>
        </p:nvSpPr>
        <p:spPr>
          <a:xfrm>
            <a:off x="5894469" y="2855313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8" name="s006.text.178"/>
          <p:cNvSpPr txBox="1"/>
          <p:nvPr/>
        </p:nvSpPr>
        <p:spPr>
          <a:xfrm>
            <a:off x="7635765" y="2558041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9" name="s006.text.179"/>
          <p:cNvSpPr txBox="1"/>
          <p:nvPr/>
        </p:nvSpPr>
        <p:spPr>
          <a:xfrm>
            <a:off x="7705884" y="3832099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7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180" name="Google Shape;180;p18"/>
          <p:cNvCxnSpPr/>
          <p:nvPr/>
        </p:nvCxnSpPr>
        <p:spPr>
          <a:xfrm rot="10800000">
            <a:off x="2070762" y="3270611"/>
            <a:ext cx="1273200" cy="7560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oval"/>
            <a:tailEnd len="med" w="med" type="stealth"/>
          </a:ln>
        </p:spPr>
      </p:cxnSp>
      <p:cxnSp>
        <p:nvCxnSpPr>
          <p:cNvPr id="181" name="Google Shape;181;p18"/>
          <p:cNvCxnSpPr>
            <a:stCxn id="174" idx="2"/>
          </p:cNvCxnSpPr>
          <p:nvPr/>
        </p:nvCxnSpPr>
        <p:spPr>
          <a:xfrm>
            <a:off x="2196128" y="3170831"/>
            <a:ext cx="448500" cy="2577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2" name="Google Shape;182;p18"/>
          <p:cNvCxnSpPr/>
          <p:nvPr/>
        </p:nvCxnSpPr>
        <p:spPr>
          <a:xfrm>
            <a:off x="2895337" y="3610805"/>
            <a:ext cx="571800" cy="3471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3" name="Google Shape;183;p18"/>
          <p:cNvCxnSpPr/>
          <p:nvPr/>
        </p:nvCxnSpPr>
        <p:spPr>
          <a:xfrm flipH="1" rot="10800000">
            <a:off x="6210848" y="2708103"/>
            <a:ext cx="161700" cy="1845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4" name="Google Shape;184;p18"/>
          <p:cNvCxnSpPr/>
          <p:nvPr/>
        </p:nvCxnSpPr>
        <p:spPr>
          <a:xfrm rot="10800000">
            <a:off x="5478967" y="2843816"/>
            <a:ext cx="737100" cy="453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" name="Google Shape;185;p18"/>
          <p:cNvSpPr/>
          <p:nvPr/>
        </p:nvSpPr>
        <p:spPr>
          <a:xfrm>
            <a:off x="5185408" y="2842124"/>
            <a:ext cx="293677" cy="154204"/>
          </a:xfrm>
          <a:custGeom>
            <a:rect b="b" l="l" r="r" t="t"/>
            <a:pathLst>
              <a:path extrusionOk="0" h="6501" w="12381">
                <a:moveTo>
                  <a:pt x="12381" y="0"/>
                </a:moveTo>
                <a:cubicBezTo>
                  <a:pt x="12266" y="433"/>
                  <a:pt x="11996" y="1789"/>
                  <a:pt x="11691" y="2595"/>
                </a:cubicBezTo>
                <a:cubicBezTo>
                  <a:pt x="11386" y="3402"/>
                  <a:pt x="11083" y="4270"/>
                  <a:pt x="10551" y="4839"/>
                </a:cubicBezTo>
                <a:cubicBezTo>
                  <a:pt x="10019" y="5408"/>
                  <a:pt x="9477" y="5742"/>
                  <a:pt x="8500" y="6011"/>
                </a:cubicBezTo>
                <a:cubicBezTo>
                  <a:pt x="7523" y="6280"/>
                  <a:pt x="5924" y="6634"/>
                  <a:pt x="4690" y="6451"/>
                </a:cubicBezTo>
                <a:cubicBezTo>
                  <a:pt x="3457" y="6268"/>
                  <a:pt x="1881" y="5828"/>
                  <a:pt x="1099" y="4912"/>
                </a:cubicBezTo>
                <a:cubicBezTo>
                  <a:pt x="317" y="3996"/>
                  <a:pt x="183" y="1615"/>
                  <a:pt x="0" y="956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86" name="Google Shape;186;p18"/>
          <p:cNvCxnSpPr/>
          <p:nvPr/>
        </p:nvCxnSpPr>
        <p:spPr>
          <a:xfrm>
            <a:off x="6759613" y="2720862"/>
            <a:ext cx="1398000" cy="1002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18"/>
          <p:cNvSpPr/>
          <p:nvPr/>
        </p:nvSpPr>
        <p:spPr>
          <a:xfrm>
            <a:off x="8157545" y="2821060"/>
            <a:ext cx="320263" cy="500771"/>
          </a:xfrm>
          <a:custGeom>
            <a:rect b="b" l="l" r="r" t="t"/>
            <a:pathLst>
              <a:path extrusionOk="0" h="21114" w="13052">
                <a:moveTo>
                  <a:pt x="0" y="0"/>
                </a:moveTo>
                <a:cubicBezTo>
                  <a:pt x="1184" y="576"/>
                  <a:pt x="5279" y="1872"/>
                  <a:pt x="7102" y="3455"/>
                </a:cubicBezTo>
                <a:cubicBezTo>
                  <a:pt x="8926" y="5039"/>
                  <a:pt x="10461" y="7422"/>
                  <a:pt x="10941" y="9501"/>
                </a:cubicBezTo>
                <a:cubicBezTo>
                  <a:pt x="11421" y="11580"/>
                  <a:pt x="9629" y="13996"/>
                  <a:pt x="9981" y="15931"/>
                </a:cubicBezTo>
                <a:cubicBezTo>
                  <a:pt x="10333" y="17867"/>
                  <a:pt x="12540" y="20250"/>
                  <a:pt x="13052" y="21114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88" name="Google Shape;188;p18"/>
          <p:cNvCxnSpPr/>
          <p:nvPr/>
        </p:nvCxnSpPr>
        <p:spPr>
          <a:xfrm rot="10800000">
            <a:off x="8524996" y="3971100"/>
            <a:ext cx="229800" cy="177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9" name="Google Shape;189;p18"/>
          <p:cNvSpPr/>
          <p:nvPr/>
        </p:nvSpPr>
        <p:spPr>
          <a:xfrm>
            <a:off x="8478445" y="3320436"/>
            <a:ext cx="356820" cy="672770"/>
          </a:xfrm>
          <a:custGeom>
            <a:rect b="b" l="l" r="r" t="t"/>
            <a:pathLst>
              <a:path extrusionOk="0" h="28363" w="15043">
                <a:moveTo>
                  <a:pt x="11619" y="28136"/>
                </a:moveTo>
                <a:cubicBezTo>
                  <a:pt x="12182" y="28074"/>
                  <a:pt x="14716" y="28879"/>
                  <a:pt x="14997" y="27764"/>
                </a:cubicBezTo>
                <a:cubicBezTo>
                  <a:pt x="15279" y="26649"/>
                  <a:pt x="14017" y="23233"/>
                  <a:pt x="13308" y="21448"/>
                </a:cubicBezTo>
                <a:cubicBezTo>
                  <a:pt x="12599" y="19664"/>
                  <a:pt x="12959" y="20632"/>
                  <a:pt x="10741" y="17057"/>
                </a:cubicBezTo>
                <a:cubicBezTo>
                  <a:pt x="8523" y="13482"/>
                  <a:pt x="1790" y="2843"/>
                  <a:pt x="0" y="0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0" name="Google Shape;190;p18"/>
          <p:cNvSpPr/>
          <p:nvPr/>
        </p:nvSpPr>
        <p:spPr>
          <a:xfrm>
            <a:off x="7596180" y="3810185"/>
            <a:ext cx="755577" cy="111413"/>
          </a:xfrm>
          <a:custGeom>
            <a:rect b="b" l="l" r="r" t="t"/>
            <a:pathLst>
              <a:path extrusionOk="0" h="4697" w="31854">
                <a:moveTo>
                  <a:pt x="31854" y="4698"/>
                </a:moveTo>
                <a:cubicBezTo>
                  <a:pt x="30397" y="4416"/>
                  <a:pt x="25030" y="3625"/>
                  <a:pt x="23109" y="3003"/>
                </a:cubicBezTo>
                <a:cubicBezTo>
                  <a:pt x="21188" y="2382"/>
                  <a:pt x="21696" y="1466"/>
                  <a:pt x="20329" y="969"/>
                </a:cubicBezTo>
                <a:cubicBezTo>
                  <a:pt x="18962" y="472"/>
                  <a:pt x="18070" y="-59"/>
                  <a:pt x="14906" y="20"/>
                </a:cubicBezTo>
                <a:cubicBezTo>
                  <a:pt x="11742" y="99"/>
                  <a:pt x="3731" y="1207"/>
                  <a:pt x="1347" y="1444"/>
                </a:cubicBezTo>
                <a:cubicBezTo>
                  <a:pt x="-1037" y="1681"/>
                  <a:pt x="726" y="1444"/>
                  <a:pt x="602" y="1444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91" name="Google Shape;191;p18"/>
          <p:cNvCxnSpPr/>
          <p:nvPr/>
        </p:nvCxnSpPr>
        <p:spPr>
          <a:xfrm flipH="1">
            <a:off x="7428046" y="3844742"/>
            <a:ext cx="185100" cy="171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94" name="Google Shape;194;p18" title="nv_argentina_logo.jfif"/>
          <p:cNvPicPr preferRelativeResize="0"/>
          <p:nvPr/>
        </p:nvPicPr>
        <p:blipFill rotWithShape="1">
          <a:blip r:embed="rId7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 title="Logo sin text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3236668" y="1174307"/>
            <a:ext cx="497700" cy="1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75800" lIns="75800" spcFirstLastPara="1" rIns="75800" wrap="square" tIns="75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98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598194" y="983751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198" name="Google Shape;198;p18"/>
          <p:cNvSpPr/>
          <p:nvPr/>
        </p:nvSpPr>
        <p:spPr>
          <a:xfrm>
            <a:off x="520425" y="983751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199" name="s006.text.199"/>
          <p:cNvSpPr txBox="1"/>
          <p:nvPr/>
        </p:nvSpPr>
        <p:spPr>
          <a:xfrm>
            <a:off x="520425" y="1038864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0" name="s006.text.200"/>
          <p:cNvSpPr txBox="1"/>
          <p:nvPr/>
        </p:nvSpPr>
        <p:spPr>
          <a:xfrm>
            <a:off x="540186" y="1245366"/>
            <a:ext cx="246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1923707" y="981408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2" name="Google Shape;202;p18"/>
          <p:cNvSpPr/>
          <p:nvPr/>
        </p:nvSpPr>
        <p:spPr>
          <a:xfrm>
            <a:off x="1845937" y="981408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3" name="s006.text.203"/>
          <p:cNvSpPr txBox="1"/>
          <p:nvPr/>
        </p:nvSpPr>
        <p:spPr>
          <a:xfrm>
            <a:off x="1845937" y="1019906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 Playa 1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4" name="s006.text.204"/>
          <p:cNvSpPr txBox="1"/>
          <p:nvPr/>
        </p:nvSpPr>
        <p:spPr>
          <a:xfrm>
            <a:off x="1865698" y="1226416"/>
            <a:ext cx="99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3197993" y="981419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6" name="Google Shape;206;p18"/>
          <p:cNvSpPr/>
          <p:nvPr/>
        </p:nvSpPr>
        <p:spPr>
          <a:xfrm>
            <a:off x="3120224" y="981419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7" name="s006.text.207"/>
          <p:cNvSpPr txBox="1"/>
          <p:nvPr/>
        </p:nvSpPr>
        <p:spPr>
          <a:xfrm>
            <a:off x="3120221" y="1019915"/>
            <a:ext cx="10122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Egreso 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8" name="s006.text.208"/>
          <p:cNvSpPr txBox="1"/>
          <p:nvPr/>
        </p:nvSpPr>
        <p:spPr>
          <a:xfrm>
            <a:off x="3139984" y="1226416"/>
            <a:ext cx="99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Egreso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5674137" y="972025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0" name="Google Shape;210;p18"/>
          <p:cNvSpPr/>
          <p:nvPr/>
        </p:nvSpPr>
        <p:spPr>
          <a:xfrm>
            <a:off x="5596367" y="972025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1" name="s006.text.211"/>
          <p:cNvSpPr txBox="1"/>
          <p:nvPr/>
        </p:nvSpPr>
        <p:spPr>
          <a:xfrm>
            <a:off x="5517500" y="1010525"/>
            <a:ext cx="13395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 : Playa OSL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" name="s006.text.212"/>
          <p:cNvSpPr txBox="1"/>
          <p:nvPr/>
        </p:nvSpPr>
        <p:spPr>
          <a:xfrm>
            <a:off x="5625362" y="1219367"/>
            <a:ext cx="246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Balanza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4445492" y="992212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674EA7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4" name="Google Shape;214;p18"/>
          <p:cNvSpPr/>
          <p:nvPr/>
        </p:nvSpPr>
        <p:spPr>
          <a:xfrm>
            <a:off x="4367723" y="992212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5" name="s006.text.215"/>
          <p:cNvSpPr txBox="1"/>
          <p:nvPr/>
        </p:nvSpPr>
        <p:spPr>
          <a:xfrm>
            <a:off x="4367728" y="1030719"/>
            <a:ext cx="1228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4: Interplanta </a:t>
            </a:r>
            <a:endParaRPr b="1"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" name="s006.text.216"/>
          <p:cNvSpPr txBox="1"/>
          <p:nvPr/>
        </p:nvSpPr>
        <p:spPr>
          <a:xfrm>
            <a:off x="4387480" y="1237220"/>
            <a:ext cx="95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Ricardone → San Lorenzo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6909270" y="983751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8" name="Google Shape;218;p18"/>
          <p:cNvSpPr/>
          <p:nvPr/>
        </p:nvSpPr>
        <p:spPr>
          <a:xfrm>
            <a:off x="6831501" y="983751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9" name="s006.text.219"/>
          <p:cNvSpPr txBox="1"/>
          <p:nvPr/>
        </p:nvSpPr>
        <p:spPr>
          <a:xfrm>
            <a:off x="6759625" y="1022250"/>
            <a:ext cx="2537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Descarga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" name="s006.text.220"/>
          <p:cNvSpPr txBox="1"/>
          <p:nvPr/>
        </p:nvSpPr>
        <p:spPr>
          <a:xfrm>
            <a:off x="6851262" y="1228751"/>
            <a:ext cx="24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Osl → </a:t>
            </a:r>
            <a:b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Pto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" name="s006.text.221"/>
          <p:cNvSpPr txBox="1"/>
          <p:nvPr/>
        </p:nvSpPr>
        <p:spPr>
          <a:xfrm>
            <a:off x="1517791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2" name="s006.text.222"/>
          <p:cNvSpPr txBox="1"/>
          <p:nvPr/>
        </p:nvSpPr>
        <p:spPr>
          <a:xfrm>
            <a:off x="2769127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3" name="s006.text.223"/>
          <p:cNvSpPr txBox="1"/>
          <p:nvPr/>
        </p:nvSpPr>
        <p:spPr>
          <a:xfrm>
            <a:off x="4046142" y="1072206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4" name="s006.text.224"/>
          <p:cNvSpPr txBox="1"/>
          <p:nvPr/>
        </p:nvSpPr>
        <p:spPr>
          <a:xfrm>
            <a:off x="5297410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5" name="s006.text.225"/>
          <p:cNvSpPr txBox="1"/>
          <p:nvPr/>
        </p:nvSpPr>
        <p:spPr>
          <a:xfrm>
            <a:off x="6519541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6" name="Google Shape;226;p18"/>
          <p:cNvSpPr/>
          <p:nvPr/>
        </p:nvSpPr>
        <p:spPr>
          <a:xfrm>
            <a:off x="8131420" y="990926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27" name="Google Shape;227;p18"/>
          <p:cNvSpPr/>
          <p:nvPr/>
        </p:nvSpPr>
        <p:spPr>
          <a:xfrm>
            <a:off x="8053651" y="990926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28" name="s006.text.228"/>
          <p:cNvSpPr txBox="1"/>
          <p:nvPr/>
        </p:nvSpPr>
        <p:spPr>
          <a:xfrm>
            <a:off x="8053651" y="1029423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Salida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9" name="s006.text.229"/>
          <p:cNvSpPr txBox="1"/>
          <p:nvPr/>
        </p:nvSpPr>
        <p:spPr>
          <a:xfrm>
            <a:off x="8073412" y="1235926"/>
            <a:ext cx="24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Pto  → </a:t>
            </a:r>
            <a:b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Portería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0" name="s006.text.230"/>
          <p:cNvSpPr txBox="1"/>
          <p:nvPr/>
        </p:nvSpPr>
        <p:spPr>
          <a:xfrm>
            <a:off x="7741691" y="1079392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" name="s006.text.19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Producto:Soja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23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6/72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1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s007.text.239"/>
          <p:cNvSpPr txBox="1"/>
          <p:nvPr/>
        </p:nvSpPr>
        <p:spPr>
          <a:xfrm>
            <a:off x="1590025" y="2853675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126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s007.text.240"/>
          <p:cNvSpPr txBox="1"/>
          <p:nvPr/>
        </p:nvSpPr>
        <p:spPr>
          <a:xfrm>
            <a:off x="3107788" y="2853663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1" name="s007.text.241"/>
          <p:cNvSpPr txBox="1"/>
          <p:nvPr/>
        </p:nvSpPr>
        <p:spPr>
          <a:xfrm>
            <a:off x="3832064" y="2838375"/>
            <a:ext cx="48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2" name="s007.text.242"/>
          <p:cNvSpPr txBox="1"/>
          <p:nvPr/>
        </p:nvSpPr>
        <p:spPr>
          <a:xfrm>
            <a:off x="5231838" y="285366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3" name="s007.text.243"/>
          <p:cNvSpPr txBox="1"/>
          <p:nvPr/>
        </p:nvSpPr>
        <p:spPr>
          <a:xfrm>
            <a:off x="7100012" y="283031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4" name="s007.text.244"/>
          <p:cNvSpPr txBox="1"/>
          <p:nvPr/>
        </p:nvSpPr>
        <p:spPr>
          <a:xfrm>
            <a:off x="8064625" y="2853675"/>
            <a:ext cx="74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4613452" y="3255825"/>
            <a:ext cx="22602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9"/>
          <p:cNvSpPr/>
          <p:nvPr/>
        </p:nvSpPr>
        <p:spPr>
          <a:xfrm>
            <a:off x="6873725" y="3244750"/>
            <a:ext cx="1103700" cy="1221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9"/>
          <p:cNvSpPr/>
          <p:nvPr/>
        </p:nvSpPr>
        <p:spPr>
          <a:xfrm>
            <a:off x="7983944" y="3250275"/>
            <a:ext cx="910800" cy="122100"/>
          </a:xfrm>
          <a:prstGeom prst="rect">
            <a:avLst/>
          </a:prstGeom>
          <a:solidFill>
            <a:srgbClr val="83ABEE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9"/>
          <p:cNvSpPr/>
          <p:nvPr/>
        </p:nvSpPr>
        <p:spPr>
          <a:xfrm>
            <a:off x="544375" y="3242625"/>
            <a:ext cx="22152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397050" y="3242650"/>
            <a:ext cx="1647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9"/>
          <p:cNvSpPr/>
          <p:nvPr/>
        </p:nvSpPr>
        <p:spPr>
          <a:xfrm>
            <a:off x="3501300" y="3255825"/>
            <a:ext cx="11214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9"/>
          <p:cNvSpPr/>
          <p:nvPr/>
        </p:nvSpPr>
        <p:spPr>
          <a:xfrm>
            <a:off x="2747975" y="3242625"/>
            <a:ext cx="7866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9"/>
          <p:cNvSpPr/>
          <p:nvPr/>
        </p:nvSpPr>
        <p:spPr>
          <a:xfrm>
            <a:off x="1006175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9"/>
          <p:cNvSpPr/>
          <p:nvPr/>
        </p:nvSpPr>
        <p:spPr>
          <a:xfrm>
            <a:off x="1794025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4" name="Google Shape;254;p19"/>
          <p:cNvCxnSpPr>
            <a:stCxn id="252" idx="6"/>
            <a:endCxn id="253" idx="2"/>
          </p:cNvCxnSpPr>
          <p:nvPr/>
        </p:nvCxnSpPr>
        <p:spPr>
          <a:xfrm>
            <a:off x="1183175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" name="Google Shape;255;p19"/>
          <p:cNvSpPr/>
          <p:nvPr/>
        </p:nvSpPr>
        <p:spPr>
          <a:xfrm>
            <a:off x="30951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6" name="Google Shape;256;p19"/>
          <p:cNvCxnSpPr>
            <a:endCxn id="255" idx="2"/>
          </p:cNvCxnSpPr>
          <p:nvPr/>
        </p:nvCxnSpPr>
        <p:spPr>
          <a:xfrm>
            <a:off x="1973700" y="1495025"/>
            <a:ext cx="1121400" cy="30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19"/>
          <p:cNvSpPr/>
          <p:nvPr/>
        </p:nvSpPr>
        <p:spPr>
          <a:xfrm>
            <a:off x="38830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8" name="Google Shape;258;p19"/>
          <p:cNvCxnSpPr>
            <a:endCxn id="257" idx="2"/>
          </p:cNvCxnSpPr>
          <p:nvPr/>
        </p:nvCxnSpPr>
        <p:spPr>
          <a:xfrm>
            <a:off x="3272200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19"/>
          <p:cNvSpPr/>
          <p:nvPr/>
        </p:nvSpPr>
        <p:spPr>
          <a:xfrm>
            <a:off x="46709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0" name="Google Shape;260;p19"/>
          <p:cNvCxnSpPr>
            <a:endCxn id="259" idx="2"/>
          </p:cNvCxnSpPr>
          <p:nvPr/>
        </p:nvCxnSpPr>
        <p:spPr>
          <a:xfrm>
            <a:off x="4060100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" name="s007.text.261"/>
          <p:cNvSpPr txBox="1"/>
          <p:nvPr/>
        </p:nvSpPr>
        <p:spPr>
          <a:xfrm>
            <a:off x="1114450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588945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3" name="Google Shape;263;p19"/>
          <p:cNvCxnSpPr>
            <a:stCxn id="259" idx="6"/>
            <a:endCxn id="262" idx="2"/>
          </p:cNvCxnSpPr>
          <p:nvPr/>
        </p:nvCxnSpPr>
        <p:spPr>
          <a:xfrm>
            <a:off x="4847900" y="1498025"/>
            <a:ext cx="10416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" name="Google Shape;264;p19"/>
          <p:cNvSpPr/>
          <p:nvPr/>
        </p:nvSpPr>
        <p:spPr>
          <a:xfrm>
            <a:off x="70345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5" name="Google Shape;265;p19"/>
          <p:cNvCxnSpPr>
            <a:stCxn id="262" idx="6"/>
            <a:endCxn id="264" idx="2"/>
          </p:cNvCxnSpPr>
          <p:nvPr/>
        </p:nvCxnSpPr>
        <p:spPr>
          <a:xfrm>
            <a:off x="6066450" y="1498025"/>
            <a:ext cx="9681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" name="s007.text.266"/>
          <p:cNvSpPr txBox="1"/>
          <p:nvPr/>
        </p:nvSpPr>
        <p:spPr>
          <a:xfrm>
            <a:off x="1604500" y="15372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7" name="s007.text.267"/>
          <p:cNvSpPr txBox="1"/>
          <p:nvPr/>
        </p:nvSpPr>
        <p:spPr>
          <a:xfrm>
            <a:off x="820600" y="15250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8" name="s007.text.268"/>
          <p:cNvSpPr txBox="1"/>
          <p:nvPr/>
        </p:nvSpPr>
        <p:spPr>
          <a:xfrm>
            <a:off x="3665425" y="154535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 Ric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9" name="s007.text.269"/>
          <p:cNvSpPr txBox="1"/>
          <p:nvPr/>
        </p:nvSpPr>
        <p:spPr>
          <a:xfrm>
            <a:off x="2881525" y="15332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0" name="s007.text.270"/>
          <p:cNvSpPr txBox="1"/>
          <p:nvPr/>
        </p:nvSpPr>
        <p:spPr>
          <a:xfrm>
            <a:off x="5742475" y="1539288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OSL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1" name="s007.text.271"/>
          <p:cNvSpPr txBox="1"/>
          <p:nvPr/>
        </p:nvSpPr>
        <p:spPr>
          <a:xfrm>
            <a:off x="4506200" y="1533225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 SLZ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2" name="s007.text.272"/>
          <p:cNvSpPr txBox="1"/>
          <p:nvPr/>
        </p:nvSpPr>
        <p:spPr>
          <a:xfrm>
            <a:off x="7657625" y="15796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 SLZ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3" name="s007.text.273"/>
          <p:cNvSpPr txBox="1"/>
          <p:nvPr/>
        </p:nvSpPr>
        <p:spPr>
          <a:xfrm>
            <a:off x="687372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PTO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8109025" y="1390200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5" name="Google Shape;275;p19"/>
          <p:cNvCxnSpPr>
            <a:endCxn id="274" idx="2"/>
          </p:cNvCxnSpPr>
          <p:nvPr/>
        </p:nvCxnSpPr>
        <p:spPr>
          <a:xfrm flipH="1" rot="10800000">
            <a:off x="7211425" y="1478850"/>
            <a:ext cx="897600" cy="750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" name="s007.text.276"/>
          <p:cNvSpPr txBox="1"/>
          <p:nvPr/>
        </p:nvSpPr>
        <p:spPr>
          <a:xfrm>
            <a:off x="1973700" y="1154100"/>
            <a:ext cx="137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     Playa 1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7" name="s007.text.277"/>
          <p:cNvSpPr txBox="1"/>
          <p:nvPr/>
        </p:nvSpPr>
        <p:spPr>
          <a:xfrm>
            <a:off x="3219275" y="114402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Salida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8" name="s007.text.278"/>
          <p:cNvSpPr txBox="1"/>
          <p:nvPr/>
        </p:nvSpPr>
        <p:spPr>
          <a:xfrm>
            <a:off x="4022300" y="1145212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Interplanta</a:t>
            </a:r>
            <a:endParaRPr b="1"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9" name="s007.text.279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334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s007.text.280"/>
          <p:cNvSpPr txBox="1"/>
          <p:nvPr/>
        </p:nvSpPr>
        <p:spPr>
          <a:xfrm>
            <a:off x="4928550" y="11440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Playa OSL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1" name="s007.text.281"/>
          <p:cNvSpPr txBox="1"/>
          <p:nvPr/>
        </p:nvSpPr>
        <p:spPr>
          <a:xfrm>
            <a:off x="6104250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2" name="s007.text.282"/>
          <p:cNvSpPr txBox="1"/>
          <p:nvPr/>
        </p:nvSpPr>
        <p:spPr>
          <a:xfrm>
            <a:off x="7249675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Egreso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3" name="s007.text.283"/>
          <p:cNvSpPr txBox="1"/>
          <p:nvPr/>
        </p:nvSpPr>
        <p:spPr>
          <a:xfrm>
            <a:off x="289025" y="2853663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4" name="s007.text.284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85" name="s007.text.285"/>
          <p:cNvSpPr txBox="1"/>
          <p:nvPr/>
        </p:nvSpPr>
        <p:spPr>
          <a:xfrm>
            <a:off x="1473550" y="4316287"/>
            <a:ext cx="960900" cy="600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Comparativo </a:t>
            </a:r>
            <a:b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Semana anterior</a:t>
            </a:r>
            <a:endParaRPr b="1"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6" name="s007.text.286"/>
          <p:cNvSpPr txBox="1"/>
          <p:nvPr/>
        </p:nvSpPr>
        <p:spPr>
          <a:xfrm>
            <a:off x="1996913" y="4339375"/>
            <a:ext cx="172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 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7" name="Google Shape;287;p19"/>
          <p:cNvSpPr/>
          <p:nvPr/>
        </p:nvSpPr>
        <p:spPr>
          <a:xfrm>
            <a:off x="5425075" y="425105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288" name="Google Shape;288;p19"/>
          <p:cNvSpPr/>
          <p:nvPr/>
        </p:nvSpPr>
        <p:spPr>
          <a:xfrm>
            <a:off x="5529486" y="4302998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289" name="s007.text.289"/>
          <p:cNvSpPr txBox="1"/>
          <p:nvPr/>
        </p:nvSpPr>
        <p:spPr>
          <a:xfrm>
            <a:off x="5494629" y="4302998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290" name="s007.text.290"/>
          <p:cNvSpPr txBox="1"/>
          <p:nvPr/>
        </p:nvSpPr>
        <p:spPr>
          <a:xfrm>
            <a:off x="5633899" y="4503612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2557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1" name="s007.text.291"/>
          <p:cNvSpPr txBox="1"/>
          <p:nvPr/>
        </p:nvSpPr>
        <p:spPr>
          <a:xfrm>
            <a:off x="2923300" y="4403025"/>
            <a:ext cx="1185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D30D0C"/>
                </a:solidFill>
                <a:latin typeface="Inter"/>
                <a:ea typeface="Inter"/>
                <a:cs typeface="Inter"/>
                <a:sym typeface="Inter"/>
              </a:rPr>
              <a:t>+58</a:t>
            </a:r>
            <a:endParaRPr b="1" sz="2000">
              <a:solidFill>
                <a:srgbClr val="D30D0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2" name="s007.text.292"/>
          <p:cNvSpPr/>
          <p:nvPr/>
        </p:nvSpPr>
        <p:spPr>
          <a:xfrm>
            <a:off x="417325" y="3405075"/>
            <a:ext cx="30840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293" name="s007.text.293"/>
          <p:cNvSpPr/>
          <p:nvPr/>
        </p:nvSpPr>
        <p:spPr>
          <a:xfrm>
            <a:off x="4613450" y="3433150"/>
            <a:ext cx="4281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294" name="s007.text.294"/>
          <p:cNvSpPr txBox="1"/>
          <p:nvPr/>
        </p:nvSpPr>
        <p:spPr>
          <a:xfrm>
            <a:off x="1698800" y="35647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142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5" name="s007.text.295"/>
          <p:cNvSpPr txBox="1"/>
          <p:nvPr/>
        </p:nvSpPr>
        <p:spPr>
          <a:xfrm>
            <a:off x="5965975" y="361860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6" name="s007.text.296"/>
          <p:cNvSpPr txBox="1"/>
          <p:nvPr/>
        </p:nvSpPr>
        <p:spPr>
          <a:xfrm>
            <a:off x="2183425" y="36953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22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97" name="s007.text.297"/>
          <p:cNvSpPr txBox="1"/>
          <p:nvPr/>
        </p:nvSpPr>
        <p:spPr>
          <a:xfrm>
            <a:off x="6513875" y="37696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98" name="s007.text.298"/>
          <p:cNvSpPr txBox="1"/>
          <p:nvPr/>
        </p:nvSpPr>
        <p:spPr>
          <a:xfrm>
            <a:off x="5186475" y="2264488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(5 hs 34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38" name="s007.text.23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Tiempos medios por tramo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29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7/72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008.text.303"/>
          <p:cNvSpPr txBox="1"/>
          <p:nvPr/>
        </p:nvSpPr>
        <p:spPr>
          <a:xfrm>
            <a:off x="2723599" y="29047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164</a:t>
            </a:r>
            <a:endParaRPr b="1" sz="1166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4" name="s008.text.304"/>
          <p:cNvSpPr txBox="1"/>
          <p:nvPr/>
        </p:nvSpPr>
        <p:spPr>
          <a:xfrm>
            <a:off x="3903144" y="28936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5" name="s008.text.305"/>
          <p:cNvSpPr txBox="1"/>
          <p:nvPr/>
        </p:nvSpPr>
        <p:spPr>
          <a:xfrm>
            <a:off x="4376634" y="2893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6" name="s008.text.306"/>
          <p:cNvSpPr txBox="1"/>
          <p:nvPr/>
        </p:nvSpPr>
        <p:spPr>
          <a:xfrm>
            <a:off x="4872682" y="2893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122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7" name="s008.text.307"/>
          <p:cNvSpPr txBox="1"/>
          <p:nvPr/>
        </p:nvSpPr>
        <p:spPr>
          <a:xfrm>
            <a:off x="6355409" y="2893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8" name="s008.text.308"/>
          <p:cNvSpPr txBox="1"/>
          <p:nvPr/>
        </p:nvSpPr>
        <p:spPr>
          <a:xfrm>
            <a:off x="7111744" y="289367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9" name="Google Shape;309;p20"/>
          <p:cNvSpPr/>
          <p:nvPr/>
        </p:nvSpPr>
        <p:spPr>
          <a:xfrm>
            <a:off x="4744975" y="3177300"/>
            <a:ext cx="12288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0" name="Google Shape;310;p20"/>
          <p:cNvSpPr/>
          <p:nvPr/>
        </p:nvSpPr>
        <p:spPr>
          <a:xfrm>
            <a:off x="5973775" y="3177050"/>
            <a:ext cx="11442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1" name="Google Shape;311;p20"/>
          <p:cNvSpPr/>
          <p:nvPr/>
        </p:nvSpPr>
        <p:spPr>
          <a:xfrm>
            <a:off x="7123371" y="3182625"/>
            <a:ext cx="6576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2" name="Google Shape;312;p20"/>
          <p:cNvSpPr/>
          <p:nvPr/>
        </p:nvSpPr>
        <p:spPr>
          <a:xfrm>
            <a:off x="1697200" y="3177050"/>
            <a:ext cx="21984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3" name="Google Shape;313;p20"/>
          <p:cNvSpPr/>
          <p:nvPr/>
        </p:nvSpPr>
        <p:spPr>
          <a:xfrm>
            <a:off x="1589866" y="3177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4" name="Google Shape;314;p20"/>
          <p:cNvSpPr/>
          <p:nvPr/>
        </p:nvSpPr>
        <p:spPr>
          <a:xfrm>
            <a:off x="4365523" y="3177310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5" name="Google Shape;315;p20"/>
          <p:cNvSpPr/>
          <p:nvPr/>
        </p:nvSpPr>
        <p:spPr>
          <a:xfrm>
            <a:off x="3881671" y="3173250"/>
            <a:ext cx="4791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6" name="s008.text.316"/>
          <p:cNvSpPr txBox="1"/>
          <p:nvPr/>
        </p:nvSpPr>
        <p:spPr>
          <a:xfrm>
            <a:off x="3843238" y="20330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363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7" name="s008.text.317"/>
          <p:cNvSpPr txBox="1"/>
          <p:nvPr/>
        </p:nvSpPr>
        <p:spPr>
          <a:xfrm>
            <a:off x="1511163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8" name="s008.text.318"/>
          <p:cNvSpPr txBox="1"/>
          <p:nvPr/>
        </p:nvSpPr>
        <p:spPr>
          <a:xfrm>
            <a:off x="3927888" y="18432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319" name="Google Shape;319;p2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0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4" name="Google Shape;324;p20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5" name="Google Shape;325;p20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6" name="Google Shape;326;p20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7" name="Google Shape;327;p20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8" name="Google Shape;328;p20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9" name="Google Shape;329;p20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30" name="Google Shape;330;p20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31" name="s008.text.331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2" name="s008.text.332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3" name="s008.text.333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4" name="s008.text.334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5" name="s008.text.335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6" name="s008.text.336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7" name="s008.text.337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8" name="s008.text.338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9" name="s008.text.339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151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0" name="s008.text.340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118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1" name="s008.text.341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104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2" name="s008.text.342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138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3" name="Google Shape;343;p20"/>
          <p:cNvSpPr txBox="1"/>
          <p:nvPr/>
        </p:nvSpPr>
        <p:spPr>
          <a:xfrm>
            <a:off x="3950925" y="4210450"/>
            <a:ext cx="114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3637750" y="4047575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345" name="Google Shape;345;p20"/>
          <p:cNvSpPr/>
          <p:nvPr/>
        </p:nvSpPr>
        <p:spPr>
          <a:xfrm>
            <a:off x="3766715" y="4111740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346" name="s008.text.346"/>
          <p:cNvSpPr txBox="1"/>
          <p:nvPr/>
        </p:nvSpPr>
        <p:spPr>
          <a:xfrm>
            <a:off x="3723660" y="4111740"/>
            <a:ext cx="1782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31">
                <a:solidFill>
                  <a:schemeClr val="dk2"/>
                </a:solidFill>
              </a:rPr>
              <a:t>Total de camiones</a:t>
            </a:r>
            <a:endParaRPr sz="1431">
              <a:solidFill>
                <a:schemeClr val="dk2"/>
              </a:solidFill>
            </a:endParaRPr>
          </a:p>
        </p:txBody>
      </p:sp>
      <p:sp>
        <p:nvSpPr>
          <p:cNvPr id="347" name="s008.text.347"/>
          <p:cNvSpPr txBox="1"/>
          <p:nvPr/>
        </p:nvSpPr>
        <p:spPr>
          <a:xfrm>
            <a:off x="3895682" y="4359532"/>
            <a:ext cx="12717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511</a:t>
            </a:r>
            <a:endParaRPr b="1" sz="15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8" name="s008.text.348"/>
          <p:cNvSpPr txBox="1"/>
          <p:nvPr/>
        </p:nvSpPr>
        <p:spPr>
          <a:xfrm>
            <a:off x="285175" y="28713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9" name="s008.text.349"/>
          <p:cNvSpPr txBox="1"/>
          <p:nvPr/>
        </p:nvSpPr>
        <p:spPr>
          <a:xfrm>
            <a:off x="3856350" y="24698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50" name="s008.text.350"/>
          <p:cNvSpPr/>
          <p:nvPr/>
        </p:nvSpPr>
        <p:spPr>
          <a:xfrm>
            <a:off x="1589875" y="3425475"/>
            <a:ext cx="28260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351" name="s008.text.351"/>
          <p:cNvSpPr/>
          <p:nvPr/>
        </p:nvSpPr>
        <p:spPr>
          <a:xfrm>
            <a:off x="4784225" y="3425475"/>
            <a:ext cx="29967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352" name="s008.text.352"/>
          <p:cNvSpPr txBox="1"/>
          <p:nvPr/>
        </p:nvSpPr>
        <p:spPr>
          <a:xfrm>
            <a:off x="2382750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3" name="s008.text.353"/>
          <p:cNvSpPr txBox="1"/>
          <p:nvPr/>
        </p:nvSpPr>
        <p:spPr>
          <a:xfrm>
            <a:off x="5885625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4" name="s008.text.354"/>
          <p:cNvSpPr txBox="1"/>
          <p:nvPr/>
        </p:nvSpPr>
        <p:spPr>
          <a:xfrm>
            <a:off x="2174850" y="404312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55" name="s008.text.355"/>
          <p:cNvSpPr txBox="1"/>
          <p:nvPr/>
        </p:nvSpPr>
        <p:spPr>
          <a:xfrm>
            <a:off x="5807450" y="41065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22" name="s008.text.32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3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8/72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s009.text.360"/>
          <p:cNvSpPr txBox="1"/>
          <p:nvPr/>
        </p:nvSpPr>
        <p:spPr>
          <a:xfrm>
            <a:off x="2786861" y="28626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168</a:t>
            </a:r>
            <a:endParaRPr b="1" sz="1166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1" name="s009.text.361"/>
          <p:cNvSpPr txBox="1"/>
          <p:nvPr/>
        </p:nvSpPr>
        <p:spPr>
          <a:xfrm>
            <a:off x="3822269" y="28403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2" name="s009.text.362"/>
          <p:cNvSpPr txBox="1"/>
          <p:nvPr/>
        </p:nvSpPr>
        <p:spPr>
          <a:xfrm>
            <a:off x="4377471" y="2862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3" name="s009.text.363"/>
          <p:cNvSpPr txBox="1"/>
          <p:nvPr/>
        </p:nvSpPr>
        <p:spPr>
          <a:xfrm>
            <a:off x="5200520" y="2862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91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4" name="s009.text.364"/>
          <p:cNvSpPr txBox="1"/>
          <p:nvPr/>
        </p:nvSpPr>
        <p:spPr>
          <a:xfrm>
            <a:off x="6683246" y="2862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39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5" name="s009.text.365"/>
          <p:cNvSpPr txBox="1"/>
          <p:nvPr/>
        </p:nvSpPr>
        <p:spPr>
          <a:xfrm>
            <a:off x="7563627" y="2851575"/>
            <a:ext cx="863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6" name="Google Shape;366;p21"/>
          <p:cNvSpPr/>
          <p:nvPr/>
        </p:nvSpPr>
        <p:spPr>
          <a:xfrm>
            <a:off x="4739539" y="31556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7" name="Google Shape;367;p21"/>
          <p:cNvSpPr/>
          <p:nvPr/>
        </p:nvSpPr>
        <p:spPr>
          <a:xfrm>
            <a:off x="6388551" y="3146050"/>
            <a:ext cx="944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8" name="Google Shape;368;p21"/>
          <p:cNvSpPr/>
          <p:nvPr/>
        </p:nvSpPr>
        <p:spPr>
          <a:xfrm>
            <a:off x="7332914" y="3151625"/>
            <a:ext cx="7758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9" name="Google Shape;369;p21"/>
          <p:cNvSpPr/>
          <p:nvPr/>
        </p:nvSpPr>
        <p:spPr>
          <a:xfrm>
            <a:off x="2025039" y="31460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0" name="Google Shape;370;p21"/>
          <p:cNvSpPr/>
          <p:nvPr/>
        </p:nvSpPr>
        <p:spPr>
          <a:xfrm>
            <a:off x="1917703" y="3146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1" name="Google Shape;371;p21"/>
          <p:cNvSpPr/>
          <p:nvPr/>
        </p:nvSpPr>
        <p:spPr>
          <a:xfrm>
            <a:off x="4364910" y="31500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2" name="Google Shape;372;p21"/>
          <p:cNvSpPr/>
          <p:nvPr/>
        </p:nvSpPr>
        <p:spPr>
          <a:xfrm>
            <a:off x="3630502" y="31460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3" name="s009.text.373"/>
          <p:cNvSpPr txBox="1"/>
          <p:nvPr/>
        </p:nvSpPr>
        <p:spPr>
          <a:xfrm>
            <a:off x="4196975" y="234752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347 </a:t>
            </a:r>
            <a:r>
              <a:rPr b="1" lang="es" sz="1300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4" name="s009.text.374"/>
          <p:cNvSpPr txBox="1"/>
          <p:nvPr/>
        </p:nvSpPr>
        <p:spPr>
          <a:xfrm>
            <a:off x="1839000" y="2862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5" name="s009.text.375"/>
          <p:cNvSpPr txBox="1"/>
          <p:nvPr/>
        </p:nvSpPr>
        <p:spPr>
          <a:xfrm>
            <a:off x="4281625" y="21577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76" name="s009.text.376"/>
          <p:cNvSpPr txBox="1"/>
          <p:nvPr/>
        </p:nvSpPr>
        <p:spPr>
          <a:xfrm>
            <a:off x="613025" y="2842410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7" name="Google Shape;377;p21"/>
          <p:cNvSpPr/>
          <p:nvPr/>
        </p:nvSpPr>
        <p:spPr>
          <a:xfrm>
            <a:off x="26868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1"/>
          <p:cNvSpPr/>
          <p:nvPr/>
        </p:nvSpPr>
        <p:spPr>
          <a:xfrm>
            <a:off x="26868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1"/>
          <p:cNvSpPr/>
          <p:nvPr/>
        </p:nvSpPr>
        <p:spPr>
          <a:xfrm>
            <a:off x="252383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1"/>
          <p:cNvSpPr/>
          <p:nvPr/>
        </p:nvSpPr>
        <p:spPr>
          <a:xfrm>
            <a:off x="252383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1"/>
          <p:cNvSpPr/>
          <p:nvPr/>
        </p:nvSpPr>
        <p:spPr>
          <a:xfrm>
            <a:off x="472318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1"/>
          <p:cNvSpPr/>
          <p:nvPr/>
        </p:nvSpPr>
        <p:spPr>
          <a:xfrm>
            <a:off x="472318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1"/>
          <p:cNvSpPr/>
          <p:nvPr/>
        </p:nvSpPr>
        <p:spPr>
          <a:xfrm>
            <a:off x="697833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1"/>
          <p:cNvSpPr/>
          <p:nvPr/>
        </p:nvSpPr>
        <p:spPr>
          <a:xfrm>
            <a:off x="697833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s009.text.385"/>
          <p:cNvSpPr/>
          <p:nvPr/>
        </p:nvSpPr>
        <p:spPr>
          <a:xfrm>
            <a:off x="388363" y="12053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6" name="s009.text.386"/>
          <p:cNvSpPr/>
          <p:nvPr/>
        </p:nvSpPr>
        <p:spPr>
          <a:xfrm>
            <a:off x="2650063" y="120205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7" name="s009.text.387"/>
          <p:cNvSpPr/>
          <p:nvPr/>
        </p:nvSpPr>
        <p:spPr>
          <a:xfrm>
            <a:off x="4860963" y="11816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8" name="s009.text.388"/>
          <p:cNvSpPr/>
          <p:nvPr/>
        </p:nvSpPr>
        <p:spPr>
          <a:xfrm>
            <a:off x="7149013" y="11816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9" name="s009.text.389"/>
          <p:cNvSpPr txBox="1"/>
          <p:nvPr/>
        </p:nvSpPr>
        <p:spPr>
          <a:xfrm>
            <a:off x="853463" y="11797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0" name="s009.text.390"/>
          <p:cNvSpPr txBox="1"/>
          <p:nvPr/>
        </p:nvSpPr>
        <p:spPr>
          <a:xfrm>
            <a:off x="2991488" y="11797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1" name="s009.text.391"/>
          <p:cNvSpPr txBox="1"/>
          <p:nvPr/>
        </p:nvSpPr>
        <p:spPr>
          <a:xfrm>
            <a:off x="5248663" y="11593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2" name="s009.text.392"/>
          <p:cNvSpPr txBox="1"/>
          <p:nvPr/>
        </p:nvSpPr>
        <p:spPr>
          <a:xfrm>
            <a:off x="7562413" y="118166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3" name="s009.text.393"/>
          <p:cNvSpPr txBox="1"/>
          <p:nvPr/>
        </p:nvSpPr>
        <p:spPr>
          <a:xfrm>
            <a:off x="1273288" y="1594600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178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4" name="s009.text.394"/>
          <p:cNvSpPr txBox="1"/>
          <p:nvPr/>
        </p:nvSpPr>
        <p:spPr>
          <a:xfrm>
            <a:off x="3454163" y="1594600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78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5" name="s009.text.395"/>
          <p:cNvSpPr txBox="1"/>
          <p:nvPr/>
        </p:nvSpPr>
        <p:spPr>
          <a:xfrm>
            <a:off x="5672175" y="158088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139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6" name="s009.text.396"/>
          <p:cNvSpPr txBox="1"/>
          <p:nvPr/>
        </p:nvSpPr>
        <p:spPr>
          <a:xfrm>
            <a:off x="7983713" y="156718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87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397" name="Google Shape;397;p2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1"/>
          <p:cNvSpPr/>
          <p:nvPr/>
        </p:nvSpPr>
        <p:spPr>
          <a:xfrm>
            <a:off x="3682988" y="4056100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02" name="Google Shape;402;p21"/>
          <p:cNvSpPr/>
          <p:nvPr/>
        </p:nvSpPr>
        <p:spPr>
          <a:xfrm>
            <a:off x="3817365" y="4122956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03" name="s009.text.403"/>
          <p:cNvSpPr txBox="1"/>
          <p:nvPr/>
        </p:nvSpPr>
        <p:spPr>
          <a:xfrm>
            <a:off x="3772503" y="4122956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404" name="s009.text.404"/>
          <p:cNvSpPr txBox="1"/>
          <p:nvPr/>
        </p:nvSpPr>
        <p:spPr>
          <a:xfrm>
            <a:off x="3951744" y="4381144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482</a:t>
            </a:r>
            <a:endParaRPr b="1" sz="2485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5" name="s009.text.405"/>
          <p:cNvSpPr txBox="1"/>
          <p:nvPr/>
        </p:nvSpPr>
        <p:spPr>
          <a:xfrm>
            <a:off x="4276550" y="26799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(5 hs 47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06" name="s009.text.406"/>
          <p:cNvSpPr/>
          <p:nvPr/>
        </p:nvSpPr>
        <p:spPr>
          <a:xfrm>
            <a:off x="1917700" y="3425475"/>
            <a:ext cx="24471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407" name="s009.text.407"/>
          <p:cNvSpPr/>
          <p:nvPr/>
        </p:nvSpPr>
        <p:spPr>
          <a:xfrm>
            <a:off x="4760325" y="3425475"/>
            <a:ext cx="3348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408" name="s009.text.408"/>
          <p:cNvSpPr txBox="1"/>
          <p:nvPr/>
        </p:nvSpPr>
        <p:spPr>
          <a:xfrm>
            <a:off x="2808000" y="361860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183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9" name="s009.text.409"/>
          <p:cNvSpPr txBox="1"/>
          <p:nvPr/>
        </p:nvSpPr>
        <p:spPr>
          <a:xfrm>
            <a:off x="5885625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0" name="s009.text.410"/>
          <p:cNvSpPr txBox="1"/>
          <p:nvPr/>
        </p:nvSpPr>
        <p:spPr>
          <a:xfrm>
            <a:off x="2600100" y="4067650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 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11" name="s009.text.411"/>
          <p:cNvSpPr txBox="1"/>
          <p:nvPr/>
        </p:nvSpPr>
        <p:spPr>
          <a:xfrm>
            <a:off x="5807450" y="41065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00" name="s009.text.40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41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9/72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s010.text.416"/>
          <p:cNvSpPr txBox="1"/>
          <p:nvPr/>
        </p:nvSpPr>
        <p:spPr>
          <a:xfrm>
            <a:off x="3026536" y="30635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157</a:t>
            </a:r>
            <a:endParaRPr b="1" sz="1166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7" name="s010.text.417"/>
          <p:cNvSpPr txBox="1"/>
          <p:nvPr/>
        </p:nvSpPr>
        <p:spPr>
          <a:xfrm>
            <a:off x="4061944" y="30412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8" name="s010.text.418"/>
          <p:cNvSpPr txBox="1"/>
          <p:nvPr/>
        </p:nvSpPr>
        <p:spPr>
          <a:xfrm>
            <a:off x="4617146" y="30635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9" name="s010.text.419"/>
          <p:cNvSpPr txBox="1"/>
          <p:nvPr/>
        </p:nvSpPr>
        <p:spPr>
          <a:xfrm>
            <a:off x="5440195" y="30635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132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0" name="s010.text.420"/>
          <p:cNvSpPr txBox="1"/>
          <p:nvPr/>
        </p:nvSpPr>
        <p:spPr>
          <a:xfrm>
            <a:off x="6820146" y="30635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53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1" name="s010.text.421"/>
          <p:cNvSpPr txBox="1"/>
          <p:nvPr/>
        </p:nvSpPr>
        <p:spPr>
          <a:xfrm>
            <a:off x="7785499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2" name="Google Shape;422;p22"/>
          <p:cNvSpPr/>
          <p:nvPr/>
        </p:nvSpPr>
        <p:spPr>
          <a:xfrm>
            <a:off x="4979214" y="33565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3" name="Google Shape;423;p22"/>
          <p:cNvSpPr/>
          <p:nvPr/>
        </p:nvSpPr>
        <p:spPr>
          <a:xfrm>
            <a:off x="6628225" y="3346950"/>
            <a:ext cx="989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4" name="Google Shape;424;p22"/>
          <p:cNvSpPr/>
          <p:nvPr/>
        </p:nvSpPr>
        <p:spPr>
          <a:xfrm>
            <a:off x="7597340" y="3352525"/>
            <a:ext cx="7512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5" name="Google Shape;425;p22"/>
          <p:cNvSpPr/>
          <p:nvPr/>
        </p:nvSpPr>
        <p:spPr>
          <a:xfrm>
            <a:off x="2264714" y="33469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6" name="Google Shape;426;p22"/>
          <p:cNvSpPr/>
          <p:nvPr/>
        </p:nvSpPr>
        <p:spPr>
          <a:xfrm>
            <a:off x="2157378" y="33469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7" name="Google Shape;427;p22"/>
          <p:cNvSpPr/>
          <p:nvPr/>
        </p:nvSpPr>
        <p:spPr>
          <a:xfrm>
            <a:off x="4604585" y="33509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8" name="Google Shape;428;p22"/>
          <p:cNvSpPr/>
          <p:nvPr/>
        </p:nvSpPr>
        <p:spPr>
          <a:xfrm>
            <a:off x="3870177" y="33469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9" name="s010.text.429"/>
          <p:cNvSpPr txBox="1"/>
          <p:nvPr/>
        </p:nvSpPr>
        <p:spPr>
          <a:xfrm>
            <a:off x="4300375" y="20918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390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0" name="s010.text.430"/>
          <p:cNvSpPr txBox="1"/>
          <p:nvPr/>
        </p:nvSpPr>
        <p:spPr>
          <a:xfrm>
            <a:off x="2078675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1" name="s010.text.431"/>
          <p:cNvSpPr txBox="1"/>
          <p:nvPr/>
        </p:nvSpPr>
        <p:spPr>
          <a:xfrm>
            <a:off x="4385025" y="19021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32" name="s010.text.432"/>
          <p:cNvSpPr txBox="1"/>
          <p:nvPr/>
        </p:nvSpPr>
        <p:spPr>
          <a:xfrm>
            <a:off x="943638" y="30412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33" name="Google Shape;433;p2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2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22"/>
          <p:cNvSpPr/>
          <p:nvPr/>
        </p:nvSpPr>
        <p:spPr>
          <a:xfrm>
            <a:off x="3036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2"/>
          <p:cNvSpPr/>
          <p:nvPr/>
        </p:nvSpPr>
        <p:spPr>
          <a:xfrm>
            <a:off x="3036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2"/>
          <p:cNvSpPr/>
          <p:nvPr/>
        </p:nvSpPr>
        <p:spPr>
          <a:xfrm>
            <a:off x="25588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2"/>
          <p:cNvSpPr/>
          <p:nvPr/>
        </p:nvSpPr>
        <p:spPr>
          <a:xfrm>
            <a:off x="25588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2"/>
          <p:cNvSpPr/>
          <p:nvPr/>
        </p:nvSpPr>
        <p:spPr>
          <a:xfrm>
            <a:off x="47581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2"/>
          <p:cNvSpPr/>
          <p:nvPr/>
        </p:nvSpPr>
        <p:spPr>
          <a:xfrm>
            <a:off x="47581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2"/>
          <p:cNvSpPr/>
          <p:nvPr/>
        </p:nvSpPr>
        <p:spPr>
          <a:xfrm>
            <a:off x="70133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2"/>
          <p:cNvSpPr/>
          <p:nvPr/>
        </p:nvSpPr>
        <p:spPr>
          <a:xfrm>
            <a:off x="70133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s010.text.445"/>
          <p:cNvSpPr/>
          <p:nvPr/>
        </p:nvSpPr>
        <p:spPr>
          <a:xfrm>
            <a:off x="423325" y="9394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6" name="s010.text.446"/>
          <p:cNvSpPr/>
          <p:nvPr/>
        </p:nvSpPr>
        <p:spPr>
          <a:xfrm>
            <a:off x="2685025" y="9360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7" name="s010.text.447"/>
          <p:cNvSpPr/>
          <p:nvPr/>
        </p:nvSpPr>
        <p:spPr>
          <a:xfrm>
            <a:off x="489592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8" name="s010.text.448"/>
          <p:cNvSpPr/>
          <p:nvPr/>
        </p:nvSpPr>
        <p:spPr>
          <a:xfrm>
            <a:off x="718397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9" name="s010.text.449"/>
          <p:cNvSpPr txBox="1"/>
          <p:nvPr/>
        </p:nvSpPr>
        <p:spPr>
          <a:xfrm>
            <a:off x="888425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0" name="s010.text.450"/>
          <p:cNvSpPr txBox="1"/>
          <p:nvPr/>
        </p:nvSpPr>
        <p:spPr>
          <a:xfrm>
            <a:off x="3026450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1" name="s010.text.451"/>
          <p:cNvSpPr txBox="1"/>
          <p:nvPr/>
        </p:nvSpPr>
        <p:spPr>
          <a:xfrm>
            <a:off x="5283625" y="8933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2" name="s010.text.452"/>
          <p:cNvSpPr txBox="1"/>
          <p:nvPr/>
        </p:nvSpPr>
        <p:spPr>
          <a:xfrm>
            <a:off x="7597375" y="91568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3" name="s010.text.453"/>
          <p:cNvSpPr txBox="1"/>
          <p:nvPr/>
        </p:nvSpPr>
        <p:spPr>
          <a:xfrm>
            <a:off x="1308250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195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4" name="s010.text.454"/>
          <p:cNvSpPr txBox="1"/>
          <p:nvPr/>
        </p:nvSpPr>
        <p:spPr>
          <a:xfrm>
            <a:off x="3489125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103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5" name="s010.text.455"/>
          <p:cNvSpPr txBox="1"/>
          <p:nvPr/>
        </p:nvSpPr>
        <p:spPr>
          <a:xfrm>
            <a:off x="5707138" y="13149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81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6" name="s010.text.456"/>
          <p:cNvSpPr txBox="1"/>
          <p:nvPr/>
        </p:nvSpPr>
        <p:spPr>
          <a:xfrm>
            <a:off x="8018675" y="13012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40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7" name="Google Shape;457;p22"/>
          <p:cNvSpPr/>
          <p:nvPr/>
        </p:nvSpPr>
        <p:spPr>
          <a:xfrm>
            <a:off x="3914125" y="3909225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58" name="Google Shape;458;p22"/>
          <p:cNvSpPr/>
          <p:nvPr/>
        </p:nvSpPr>
        <p:spPr>
          <a:xfrm>
            <a:off x="4048502" y="3976081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59" name="s010.text.459"/>
          <p:cNvSpPr txBox="1"/>
          <p:nvPr/>
        </p:nvSpPr>
        <p:spPr>
          <a:xfrm>
            <a:off x="4003641" y="3976081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460" name="s010.text.460"/>
          <p:cNvSpPr txBox="1"/>
          <p:nvPr/>
        </p:nvSpPr>
        <p:spPr>
          <a:xfrm>
            <a:off x="4182882" y="4234269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419</a:t>
            </a:r>
            <a:endParaRPr b="1" sz="166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1" name="s010.text.461"/>
          <p:cNvSpPr/>
          <p:nvPr/>
        </p:nvSpPr>
        <p:spPr>
          <a:xfrm>
            <a:off x="2172450" y="3559100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462" name="s010.text.462"/>
          <p:cNvSpPr/>
          <p:nvPr/>
        </p:nvSpPr>
        <p:spPr>
          <a:xfrm>
            <a:off x="4979225" y="35591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463" name="s010.text.463"/>
          <p:cNvSpPr txBox="1"/>
          <p:nvPr/>
        </p:nvSpPr>
        <p:spPr>
          <a:xfrm>
            <a:off x="2812475" y="37522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175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4" name="s010.text.464"/>
          <p:cNvSpPr txBox="1"/>
          <p:nvPr/>
        </p:nvSpPr>
        <p:spPr>
          <a:xfrm>
            <a:off x="5890100" y="37276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203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5" name="s010.text.465"/>
          <p:cNvSpPr txBox="1"/>
          <p:nvPr/>
        </p:nvSpPr>
        <p:spPr>
          <a:xfrm>
            <a:off x="2604575" y="42012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55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66" name="s010.text.466"/>
          <p:cNvSpPr txBox="1"/>
          <p:nvPr/>
        </p:nvSpPr>
        <p:spPr>
          <a:xfrm>
            <a:off x="5890100" y="41980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23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67" name="s010.text.467"/>
          <p:cNvSpPr txBox="1"/>
          <p:nvPr/>
        </p:nvSpPr>
        <p:spPr>
          <a:xfrm>
            <a:off x="4330625" y="25045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36" name="s010.text.43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46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10/72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s011.text.472"/>
          <p:cNvSpPr txBox="1"/>
          <p:nvPr/>
        </p:nvSpPr>
        <p:spPr>
          <a:xfrm>
            <a:off x="3026536" y="30635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169</a:t>
            </a:r>
            <a:endParaRPr b="1" sz="1166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3" name="s011.text.473"/>
          <p:cNvSpPr txBox="1"/>
          <p:nvPr/>
        </p:nvSpPr>
        <p:spPr>
          <a:xfrm>
            <a:off x="4061944" y="30412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4" name="s011.text.474"/>
          <p:cNvSpPr txBox="1"/>
          <p:nvPr/>
        </p:nvSpPr>
        <p:spPr>
          <a:xfrm>
            <a:off x="4617146" y="30635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5" name="s011.text.475"/>
          <p:cNvSpPr txBox="1"/>
          <p:nvPr/>
        </p:nvSpPr>
        <p:spPr>
          <a:xfrm>
            <a:off x="5440195" y="30635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29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6" name="s011.text.476"/>
          <p:cNvSpPr txBox="1"/>
          <p:nvPr/>
        </p:nvSpPr>
        <p:spPr>
          <a:xfrm>
            <a:off x="6820146" y="30635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7" name="s011.text.477"/>
          <p:cNvSpPr txBox="1"/>
          <p:nvPr/>
        </p:nvSpPr>
        <p:spPr>
          <a:xfrm>
            <a:off x="7785500" y="3063575"/>
            <a:ext cx="4323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33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8" name="Google Shape;478;p23"/>
          <p:cNvSpPr/>
          <p:nvPr/>
        </p:nvSpPr>
        <p:spPr>
          <a:xfrm>
            <a:off x="4979214" y="33565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79" name="Google Shape;479;p23"/>
          <p:cNvSpPr/>
          <p:nvPr/>
        </p:nvSpPr>
        <p:spPr>
          <a:xfrm>
            <a:off x="6628225" y="3346950"/>
            <a:ext cx="989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0" name="Google Shape;480;p23"/>
          <p:cNvSpPr/>
          <p:nvPr/>
        </p:nvSpPr>
        <p:spPr>
          <a:xfrm>
            <a:off x="7597340" y="3352525"/>
            <a:ext cx="7512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1" name="Google Shape;481;p23"/>
          <p:cNvSpPr/>
          <p:nvPr/>
        </p:nvSpPr>
        <p:spPr>
          <a:xfrm>
            <a:off x="2264714" y="33469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2" name="Google Shape;482;p23"/>
          <p:cNvSpPr/>
          <p:nvPr/>
        </p:nvSpPr>
        <p:spPr>
          <a:xfrm>
            <a:off x="2157378" y="33469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3" name="Google Shape;483;p23"/>
          <p:cNvSpPr/>
          <p:nvPr/>
        </p:nvSpPr>
        <p:spPr>
          <a:xfrm>
            <a:off x="4604585" y="33509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4" name="Google Shape;484;p23"/>
          <p:cNvSpPr/>
          <p:nvPr/>
        </p:nvSpPr>
        <p:spPr>
          <a:xfrm>
            <a:off x="3870177" y="33469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5" name="s011.text.485"/>
          <p:cNvSpPr txBox="1"/>
          <p:nvPr/>
        </p:nvSpPr>
        <p:spPr>
          <a:xfrm>
            <a:off x="4300375" y="20918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272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6" name="s011.text.486"/>
          <p:cNvSpPr txBox="1"/>
          <p:nvPr/>
        </p:nvSpPr>
        <p:spPr>
          <a:xfrm>
            <a:off x="2078675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7" name="s011.text.487"/>
          <p:cNvSpPr txBox="1"/>
          <p:nvPr/>
        </p:nvSpPr>
        <p:spPr>
          <a:xfrm>
            <a:off x="4385025" y="19021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88" name="s011.text.488"/>
          <p:cNvSpPr txBox="1"/>
          <p:nvPr/>
        </p:nvSpPr>
        <p:spPr>
          <a:xfrm>
            <a:off x="943638" y="30412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89" name="Google Shape;489;p2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2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23"/>
          <p:cNvSpPr/>
          <p:nvPr/>
        </p:nvSpPr>
        <p:spPr>
          <a:xfrm>
            <a:off x="3036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3"/>
          <p:cNvSpPr/>
          <p:nvPr/>
        </p:nvSpPr>
        <p:spPr>
          <a:xfrm>
            <a:off x="3036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3"/>
          <p:cNvSpPr/>
          <p:nvPr/>
        </p:nvSpPr>
        <p:spPr>
          <a:xfrm>
            <a:off x="25588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3"/>
          <p:cNvSpPr/>
          <p:nvPr/>
        </p:nvSpPr>
        <p:spPr>
          <a:xfrm>
            <a:off x="25588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3"/>
          <p:cNvSpPr/>
          <p:nvPr/>
        </p:nvSpPr>
        <p:spPr>
          <a:xfrm>
            <a:off x="47581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3"/>
          <p:cNvSpPr/>
          <p:nvPr/>
        </p:nvSpPr>
        <p:spPr>
          <a:xfrm>
            <a:off x="47581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3"/>
          <p:cNvSpPr/>
          <p:nvPr/>
        </p:nvSpPr>
        <p:spPr>
          <a:xfrm>
            <a:off x="70133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3"/>
          <p:cNvSpPr/>
          <p:nvPr/>
        </p:nvSpPr>
        <p:spPr>
          <a:xfrm>
            <a:off x="70133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s011.text.501"/>
          <p:cNvSpPr/>
          <p:nvPr/>
        </p:nvSpPr>
        <p:spPr>
          <a:xfrm>
            <a:off x="423325" y="9394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2" name="s011.text.502"/>
          <p:cNvSpPr/>
          <p:nvPr/>
        </p:nvSpPr>
        <p:spPr>
          <a:xfrm>
            <a:off x="2685025" y="9360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3" name="s011.text.503"/>
          <p:cNvSpPr/>
          <p:nvPr/>
        </p:nvSpPr>
        <p:spPr>
          <a:xfrm>
            <a:off x="489592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4" name="s011.text.504"/>
          <p:cNvSpPr/>
          <p:nvPr/>
        </p:nvSpPr>
        <p:spPr>
          <a:xfrm>
            <a:off x="718397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5" name="s011.text.505"/>
          <p:cNvSpPr txBox="1"/>
          <p:nvPr/>
        </p:nvSpPr>
        <p:spPr>
          <a:xfrm>
            <a:off x="888425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6" name="s011.text.506"/>
          <p:cNvSpPr txBox="1"/>
          <p:nvPr/>
        </p:nvSpPr>
        <p:spPr>
          <a:xfrm>
            <a:off x="3026450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7" name="s011.text.507"/>
          <p:cNvSpPr txBox="1"/>
          <p:nvPr/>
        </p:nvSpPr>
        <p:spPr>
          <a:xfrm>
            <a:off x="5283625" y="8933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8" name="s011.text.508"/>
          <p:cNvSpPr txBox="1"/>
          <p:nvPr/>
        </p:nvSpPr>
        <p:spPr>
          <a:xfrm>
            <a:off x="7597375" y="91568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9" name="s011.text.509"/>
          <p:cNvSpPr txBox="1"/>
          <p:nvPr/>
        </p:nvSpPr>
        <p:spPr>
          <a:xfrm>
            <a:off x="1308250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6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0" name="s011.text.510"/>
          <p:cNvSpPr txBox="1"/>
          <p:nvPr/>
        </p:nvSpPr>
        <p:spPr>
          <a:xfrm>
            <a:off x="3489125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5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1" name="s011.text.511"/>
          <p:cNvSpPr txBox="1"/>
          <p:nvPr/>
        </p:nvSpPr>
        <p:spPr>
          <a:xfrm>
            <a:off x="5707138" y="13149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2" name="s011.text.512"/>
          <p:cNvSpPr txBox="1"/>
          <p:nvPr/>
        </p:nvSpPr>
        <p:spPr>
          <a:xfrm>
            <a:off x="8018675" y="13012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19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3" name="Google Shape;513;p23"/>
          <p:cNvSpPr/>
          <p:nvPr/>
        </p:nvSpPr>
        <p:spPr>
          <a:xfrm>
            <a:off x="3914125" y="3909225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514" name="Google Shape;514;p23"/>
          <p:cNvSpPr/>
          <p:nvPr/>
        </p:nvSpPr>
        <p:spPr>
          <a:xfrm>
            <a:off x="4048502" y="3976081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515" name="s011.text.515"/>
          <p:cNvSpPr txBox="1"/>
          <p:nvPr/>
        </p:nvSpPr>
        <p:spPr>
          <a:xfrm>
            <a:off x="4003641" y="3976081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516" name="s011.text.516"/>
          <p:cNvSpPr txBox="1"/>
          <p:nvPr/>
        </p:nvSpPr>
        <p:spPr>
          <a:xfrm>
            <a:off x="4182882" y="4234269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39</a:t>
            </a:r>
            <a:endParaRPr b="1" sz="166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7" name="s011.text.517"/>
          <p:cNvSpPr/>
          <p:nvPr/>
        </p:nvSpPr>
        <p:spPr>
          <a:xfrm>
            <a:off x="2172450" y="3559100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518" name="s011.text.518"/>
          <p:cNvSpPr/>
          <p:nvPr/>
        </p:nvSpPr>
        <p:spPr>
          <a:xfrm>
            <a:off x="4979225" y="35591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519" name="s011.text.519"/>
          <p:cNvSpPr txBox="1"/>
          <p:nvPr/>
        </p:nvSpPr>
        <p:spPr>
          <a:xfrm>
            <a:off x="2812475" y="37522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187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0" name="s011.text.520"/>
          <p:cNvSpPr txBox="1"/>
          <p:nvPr/>
        </p:nvSpPr>
        <p:spPr>
          <a:xfrm>
            <a:off x="5890100" y="37276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74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1" name="s011.text.521"/>
          <p:cNvSpPr txBox="1"/>
          <p:nvPr/>
        </p:nvSpPr>
        <p:spPr>
          <a:xfrm>
            <a:off x="2604575" y="42012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22" name="s011.text.522"/>
          <p:cNvSpPr txBox="1"/>
          <p:nvPr/>
        </p:nvSpPr>
        <p:spPr>
          <a:xfrm>
            <a:off x="5890100" y="41980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14 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23" name="s011.text.523"/>
          <p:cNvSpPr txBox="1"/>
          <p:nvPr/>
        </p:nvSpPr>
        <p:spPr>
          <a:xfrm>
            <a:off x="4330625" y="25045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32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92" name="s011.text.4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52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11/72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2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2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s012.text.532"/>
          <p:cNvSpPr txBox="1"/>
          <p:nvPr/>
        </p:nvSpPr>
        <p:spPr>
          <a:xfrm>
            <a:off x="2459024" y="28936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63</a:t>
            </a:r>
            <a:endParaRPr b="1" sz="1166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3" name="s012.text.533"/>
          <p:cNvSpPr txBox="1"/>
          <p:nvPr/>
        </p:nvSpPr>
        <p:spPr>
          <a:xfrm>
            <a:off x="3494431" y="28713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4" name="s012.text.534"/>
          <p:cNvSpPr txBox="1"/>
          <p:nvPr/>
        </p:nvSpPr>
        <p:spPr>
          <a:xfrm>
            <a:off x="4049634" y="2893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5" name="s012.text.535"/>
          <p:cNvSpPr txBox="1"/>
          <p:nvPr/>
        </p:nvSpPr>
        <p:spPr>
          <a:xfrm>
            <a:off x="4872682" y="2893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81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6" name="s012.text.536"/>
          <p:cNvSpPr txBox="1"/>
          <p:nvPr/>
        </p:nvSpPr>
        <p:spPr>
          <a:xfrm>
            <a:off x="6355409" y="2893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40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7" name="s012.text.537"/>
          <p:cNvSpPr txBox="1"/>
          <p:nvPr/>
        </p:nvSpPr>
        <p:spPr>
          <a:xfrm>
            <a:off x="7273611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8" name="Google Shape;538;p24"/>
          <p:cNvSpPr/>
          <p:nvPr/>
        </p:nvSpPr>
        <p:spPr>
          <a:xfrm>
            <a:off x="4411702" y="31866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39" name="Google Shape;539;p24"/>
          <p:cNvSpPr/>
          <p:nvPr/>
        </p:nvSpPr>
        <p:spPr>
          <a:xfrm>
            <a:off x="6060727" y="3177050"/>
            <a:ext cx="10692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0" name="Google Shape;540;p24"/>
          <p:cNvSpPr/>
          <p:nvPr/>
        </p:nvSpPr>
        <p:spPr>
          <a:xfrm>
            <a:off x="7129934" y="3182625"/>
            <a:ext cx="6510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1" name="Google Shape;541;p24"/>
          <p:cNvSpPr/>
          <p:nvPr/>
        </p:nvSpPr>
        <p:spPr>
          <a:xfrm>
            <a:off x="1697201" y="31770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2" name="Google Shape;542;p24"/>
          <p:cNvSpPr/>
          <p:nvPr/>
        </p:nvSpPr>
        <p:spPr>
          <a:xfrm>
            <a:off x="1589866" y="3177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3" name="Google Shape;543;p24"/>
          <p:cNvSpPr/>
          <p:nvPr/>
        </p:nvSpPr>
        <p:spPr>
          <a:xfrm>
            <a:off x="4037073" y="31810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4" name="Google Shape;544;p24"/>
          <p:cNvSpPr/>
          <p:nvPr/>
        </p:nvSpPr>
        <p:spPr>
          <a:xfrm>
            <a:off x="3302664" y="31770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5" name="s012.text.545"/>
          <p:cNvSpPr txBox="1"/>
          <p:nvPr/>
        </p:nvSpPr>
        <p:spPr>
          <a:xfrm>
            <a:off x="3996688" y="212792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229 </a:t>
            </a:r>
            <a:r>
              <a:rPr b="1" lang="es" sz="13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6" name="s012.text.546"/>
          <p:cNvSpPr txBox="1"/>
          <p:nvPr/>
        </p:nvSpPr>
        <p:spPr>
          <a:xfrm>
            <a:off x="1511163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7" name="s012.text.547"/>
          <p:cNvSpPr txBox="1"/>
          <p:nvPr/>
        </p:nvSpPr>
        <p:spPr>
          <a:xfrm>
            <a:off x="4081338" y="19381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48" name="Google Shape;548;p24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49" name="Google Shape;549;p24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0" name="Google Shape;550;p24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1" name="Google Shape;551;p24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2" name="Google Shape;552;p24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3" name="Google Shape;553;p24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4" name="Google Shape;554;p24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5" name="Google Shape;555;p24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6" name="s012.text.556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7" name="s012.text.557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8" name="s012.text.558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9" name="s012.text.559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60" name="s012.text.560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1" name="s012.text.561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2" name="s012.text.562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3" name="s012.text.563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4" name="s012.text.564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66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5" name="s012.text.565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36 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6" name="s012.text.566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92 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7" name="s012.text.567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98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8" name="Google Shape;568;p24"/>
          <p:cNvSpPr txBox="1"/>
          <p:nvPr/>
        </p:nvSpPr>
        <p:spPr>
          <a:xfrm>
            <a:off x="3953800" y="3582825"/>
            <a:ext cx="114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9" name="Google Shape;569;p24"/>
          <p:cNvSpPr/>
          <p:nvPr/>
        </p:nvSpPr>
        <p:spPr>
          <a:xfrm>
            <a:off x="3654075" y="3804825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570" name="Google Shape;570;p24"/>
          <p:cNvSpPr/>
          <p:nvPr/>
        </p:nvSpPr>
        <p:spPr>
          <a:xfrm>
            <a:off x="3785840" y="3851490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571" name="s012.text.571"/>
          <p:cNvSpPr txBox="1"/>
          <p:nvPr/>
        </p:nvSpPr>
        <p:spPr>
          <a:xfrm>
            <a:off x="3719810" y="3719715"/>
            <a:ext cx="1782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31">
                <a:solidFill>
                  <a:schemeClr val="dk2"/>
                </a:solidFill>
              </a:rPr>
              <a:t>Total de camiones</a:t>
            </a:r>
            <a:endParaRPr sz="1431">
              <a:solidFill>
                <a:schemeClr val="dk2"/>
              </a:solidFill>
            </a:endParaRPr>
          </a:p>
        </p:txBody>
      </p:sp>
      <p:sp>
        <p:nvSpPr>
          <p:cNvPr id="572" name="s012.text.572"/>
          <p:cNvSpPr txBox="1"/>
          <p:nvPr/>
        </p:nvSpPr>
        <p:spPr>
          <a:xfrm>
            <a:off x="3869132" y="4058582"/>
            <a:ext cx="1271700" cy="10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292</a:t>
            </a:r>
            <a:endParaRPr b="1" sz="2385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85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3" name="s012.text.573"/>
          <p:cNvSpPr txBox="1"/>
          <p:nvPr/>
        </p:nvSpPr>
        <p:spPr>
          <a:xfrm>
            <a:off x="361075" y="28349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14/09</a:t>
            </a:r>
            <a:endParaRPr b="1" sz="13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4" name="s012.text.574"/>
          <p:cNvSpPr/>
          <p:nvPr/>
        </p:nvSpPr>
        <p:spPr>
          <a:xfrm>
            <a:off x="1589875" y="3401663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575" name="s012.text.575"/>
          <p:cNvSpPr/>
          <p:nvPr/>
        </p:nvSpPr>
        <p:spPr>
          <a:xfrm>
            <a:off x="4411775" y="33706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576" name="s012.text.576"/>
          <p:cNvSpPr txBox="1"/>
          <p:nvPr/>
        </p:nvSpPr>
        <p:spPr>
          <a:xfrm>
            <a:off x="2310425" y="35828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7" name="s012.text.577"/>
          <p:cNvSpPr txBox="1"/>
          <p:nvPr/>
        </p:nvSpPr>
        <p:spPr>
          <a:xfrm>
            <a:off x="5876625" y="357026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139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8" name="s012.text.578"/>
          <p:cNvSpPr txBox="1"/>
          <p:nvPr/>
        </p:nvSpPr>
        <p:spPr>
          <a:xfrm>
            <a:off x="2106450" y="4058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18m)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79" name="s012.text.579"/>
          <p:cNvSpPr txBox="1"/>
          <p:nvPr/>
        </p:nvSpPr>
        <p:spPr>
          <a:xfrm>
            <a:off x="5829600" y="4058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19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80" name="s012.text.580"/>
          <p:cNvSpPr txBox="1"/>
          <p:nvPr/>
        </p:nvSpPr>
        <p:spPr>
          <a:xfrm>
            <a:off x="4996075" y="23007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49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31" name="s012.text.53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5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12/72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s013.text.585"/>
          <p:cNvSpPr txBox="1"/>
          <p:nvPr/>
        </p:nvSpPr>
        <p:spPr>
          <a:xfrm>
            <a:off x="3061086" y="264752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83</a:t>
            </a:r>
            <a:endParaRPr b="1" sz="1166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6" name="s013.text.586"/>
          <p:cNvSpPr txBox="1"/>
          <p:nvPr/>
        </p:nvSpPr>
        <p:spPr>
          <a:xfrm>
            <a:off x="4096494" y="2625221"/>
            <a:ext cx="3747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7" name="s013.text.587"/>
          <p:cNvSpPr txBox="1"/>
          <p:nvPr/>
        </p:nvSpPr>
        <p:spPr>
          <a:xfrm>
            <a:off x="4651696" y="264752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8" name="s013.text.588"/>
          <p:cNvSpPr txBox="1"/>
          <p:nvPr/>
        </p:nvSpPr>
        <p:spPr>
          <a:xfrm>
            <a:off x="5474745" y="264752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217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9" name="s013.text.589"/>
          <p:cNvSpPr txBox="1"/>
          <p:nvPr/>
        </p:nvSpPr>
        <p:spPr>
          <a:xfrm>
            <a:off x="6957471" y="264751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48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0" name="s013.text.590"/>
          <p:cNvSpPr txBox="1"/>
          <p:nvPr/>
        </p:nvSpPr>
        <p:spPr>
          <a:xfrm>
            <a:off x="7804624" y="2594590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1" name="Google Shape;591;p25"/>
          <p:cNvSpPr/>
          <p:nvPr/>
        </p:nvSpPr>
        <p:spPr>
          <a:xfrm>
            <a:off x="5013764" y="294050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2" name="Google Shape;592;p25"/>
          <p:cNvSpPr/>
          <p:nvPr/>
        </p:nvSpPr>
        <p:spPr>
          <a:xfrm>
            <a:off x="6662776" y="2930900"/>
            <a:ext cx="9459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3" name="Google Shape;593;p25"/>
          <p:cNvSpPr/>
          <p:nvPr/>
        </p:nvSpPr>
        <p:spPr>
          <a:xfrm>
            <a:off x="7608639" y="2936475"/>
            <a:ext cx="7743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4" name="Google Shape;594;p25"/>
          <p:cNvSpPr/>
          <p:nvPr/>
        </p:nvSpPr>
        <p:spPr>
          <a:xfrm>
            <a:off x="2299264" y="293089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5" name="Google Shape;595;p25"/>
          <p:cNvSpPr/>
          <p:nvPr/>
        </p:nvSpPr>
        <p:spPr>
          <a:xfrm>
            <a:off x="2191928" y="293091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6" name="Google Shape;596;p25"/>
          <p:cNvSpPr/>
          <p:nvPr/>
        </p:nvSpPr>
        <p:spPr>
          <a:xfrm>
            <a:off x="4639135" y="293493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7" name="Google Shape;597;p25"/>
          <p:cNvSpPr/>
          <p:nvPr/>
        </p:nvSpPr>
        <p:spPr>
          <a:xfrm>
            <a:off x="3904727" y="293089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8" name="s013.text.598"/>
          <p:cNvSpPr txBox="1"/>
          <p:nvPr/>
        </p:nvSpPr>
        <p:spPr>
          <a:xfrm>
            <a:off x="4471200" y="21323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396 </a:t>
            </a:r>
            <a:r>
              <a:rPr b="1" lang="es" sz="13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9" name="s013.text.599"/>
          <p:cNvSpPr txBox="1"/>
          <p:nvPr/>
        </p:nvSpPr>
        <p:spPr>
          <a:xfrm>
            <a:off x="2113225" y="264751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0" name="s013.text.600"/>
          <p:cNvSpPr txBox="1"/>
          <p:nvPr/>
        </p:nvSpPr>
        <p:spPr>
          <a:xfrm>
            <a:off x="4555850" y="19425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01" name="s013.text.601"/>
          <p:cNvSpPr txBox="1"/>
          <p:nvPr/>
        </p:nvSpPr>
        <p:spPr>
          <a:xfrm>
            <a:off x="730538" y="26475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02" name="Google Shape;602;p2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2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25"/>
          <p:cNvSpPr/>
          <p:nvPr/>
        </p:nvSpPr>
        <p:spPr>
          <a:xfrm>
            <a:off x="4451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5"/>
          <p:cNvSpPr/>
          <p:nvPr/>
        </p:nvSpPr>
        <p:spPr>
          <a:xfrm>
            <a:off x="4451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5"/>
          <p:cNvSpPr/>
          <p:nvPr/>
        </p:nvSpPr>
        <p:spPr>
          <a:xfrm>
            <a:off x="27002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5"/>
          <p:cNvSpPr/>
          <p:nvPr/>
        </p:nvSpPr>
        <p:spPr>
          <a:xfrm>
            <a:off x="27002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5"/>
          <p:cNvSpPr/>
          <p:nvPr/>
        </p:nvSpPr>
        <p:spPr>
          <a:xfrm>
            <a:off x="48996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5"/>
          <p:cNvSpPr/>
          <p:nvPr/>
        </p:nvSpPr>
        <p:spPr>
          <a:xfrm>
            <a:off x="48996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5"/>
          <p:cNvSpPr/>
          <p:nvPr/>
        </p:nvSpPr>
        <p:spPr>
          <a:xfrm>
            <a:off x="71547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5"/>
          <p:cNvSpPr/>
          <p:nvPr/>
        </p:nvSpPr>
        <p:spPr>
          <a:xfrm>
            <a:off x="71547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s013.text.614"/>
          <p:cNvSpPr/>
          <p:nvPr/>
        </p:nvSpPr>
        <p:spPr>
          <a:xfrm>
            <a:off x="564788" y="9424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5" name="s013.text.615"/>
          <p:cNvSpPr/>
          <p:nvPr/>
        </p:nvSpPr>
        <p:spPr>
          <a:xfrm>
            <a:off x="2826488" y="939088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6" name="s013.text.616"/>
          <p:cNvSpPr/>
          <p:nvPr/>
        </p:nvSpPr>
        <p:spPr>
          <a:xfrm>
            <a:off x="503738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7" name="s013.text.617"/>
          <p:cNvSpPr/>
          <p:nvPr/>
        </p:nvSpPr>
        <p:spPr>
          <a:xfrm>
            <a:off x="732543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8" name="s013.text.618"/>
          <p:cNvSpPr txBox="1"/>
          <p:nvPr/>
        </p:nvSpPr>
        <p:spPr>
          <a:xfrm>
            <a:off x="1029888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9" name="s013.text.619"/>
          <p:cNvSpPr txBox="1"/>
          <p:nvPr/>
        </p:nvSpPr>
        <p:spPr>
          <a:xfrm>
            <a:off x="3167913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0" name="s013.text.620"/>
          <p:cNvSpPr txBox="1"/>
          <p:nvPr/>
        </p:nvSpPr>
        <p:spPr>
          <a:xfrm>
            <a:off x="5425088" y="8963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1" name="s013.text.621"/>
          <p:cNvSpPr txBox="1"/>
          <p:nvPr/>
        </p:nvSpPr>
        <p:spPr>
          <a:xfrm>
            <a:off x="7738838" y="91870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2" name="s013.text.622"/>
          <p:cNvSpPr txBox="1"/>
          <p:nvPr/>
        </p:nvSpPr>
        <p:spPr>
          <a:xfrm>
            <a:off x="1449713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110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3" name="s013.text.623"/>
          <p:cNvSpPr txBox="1"/>
          <p:nvPr/>
        </p:nvSpPr>
        <p:spPr>
          <a:xfrm>
            <a:off x="3630588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83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4" name="s013.text.624"/>
          <p:cNvSpPr txBox="1"/>
          <p:nvPr/>
        </p:nvSpPr>
        <p:spPr>
          <a:xfrm>
            <a:off x="5848600" y="13179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115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5" name="s013.text.625"/>
          <p:cNvSpPr txBox="1"/>
          <p:nvPr/>
        </p:nvSpPr>
        <p:spPr>
          <a:xfrm>
            <a:off x="8160138" y="13042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87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6" name="Google Shape;626;p25"/>
          <p:cNvSpPr/>
          <p:nvPr/>
        </p:nvSpPr>
        <p:spPr>
          <a:xfrm>
            <a:off x="4025552" y="3485077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27" name="Google Shape;627;p25"/>
          <p:cNvSpPr/>
          <p:nvPr/>
        </p:nvSpPr>
        <p:spPr>
          <a:xfrm>
            <a:off x="4185400" y="3564606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28" name="s013.text.628"/>
          <p:cNvSpPr txBox="1"/>
          <p:nvPr/>
        </p:nvSpPr>
        <p:spPr>
          <a:xfrm>
            <a:off x="4132035" y="3564606"/>
            <a:ext cx="22098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74">
                <a:solidFill>
                  <a:schemeClr val="dk2"/>
                </a:solidFill>
              </a:rPr>
              <a:t>Total de camiones</a:t>
            </a:r>
            <a:endParaRPr sz="1774">
              <a:solidFill>
                <a:schemeClr val="dk2"/>
              </a:solidFill>
            </a:endParaRPr>
          </a:p>
        </p:txBody>
      </p:sp>
      <p:sp>
        <p:nvSpPr>
          <p:cNvPr id="629" name="s013.text.629"/>
          <p:cNvSpPr txBox="1"/>
          <p:nvPr/>
        </p:nvSpPr>
        <p:spPr>
          <a:xfrm>
            <a:off x="4345250" y="3871730"/>
            <a:ext cx="15762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95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395</a:t>
            </a:r>
            <a:endParaRPr b="1" sz="197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0" name="s013.text.630"/>
          <p:cNvSpPr/>
          <p:nvPr/>
        </p:nvSpPr>
        <p:spPr>
          <a:xfrm>
            <a:off x="2191925" y="3104025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631" name="s013.text.631"/>
          <p:cNvSpPr/>
          <p:nvPr/>
        </p:nvSpPr>
        <p:spPr>
          <a:xfrm>
            <a:off x="5013775" y="315015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632" name="s013.text.632"/>
          <p:cNvSpPr txBox="1"/>
          <p:nvPr/>
        </p:nvSpPr>
        <p:spPr>
          <a:xfrm>
            <a:off x="2891375" y="335663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3" name="s013.text.633"/>
          <p:cNvSpPr txBox="1"/>
          <p:nvPr/>
        </p:nvSpPr>
        <p:spPr>
          <a:xfrm>
            <a:off x="6637300" y="33641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284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4" name="s013.text.634"/>
          <p:cNvSpPr txBox="1"/>
          <p:nvPr/>
        </p:nvSpPr>
        <p:spPr>
          <a:xfrm>
            <a:off x="2754275" y="3864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40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35" name="s013.text.635"/>
          <p:cNvSpPr txBox="1"/>
          <p:nvPr/>
        </p:nvSpPr>
        <p:spPr>
          <a:xfrm>
            <a:off x="6620925" y="3864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36" name="s013.text.636"/>
          <p:cNvSpPr txBox="1"/>
          <p:nvPr/>
        </p:nvSpPr>
        <p:spPr>
          <a:xfrm>
            <a:off x="4485150" y="24708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36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05" name="s013.text.60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63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13/72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s014.text.641"/>
          <p:cNvSpPr txBox="1"/>
          <p:nvPr/>
        </p:nvSpPr>
        <p:spPr>
          <a:xfrm>
            <a:off x="3004024" y="266622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119</a:t>
            </a:r>
            <a:endParaRPr b="1" sz="1166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2" name="s014.text.642"/>
          <p:cNvSpPr txBox="1"/>
          <p:nvPr/>
        </p:nvSpPr>
        <p:spPr>
          <a:xfrm>
            <a:off x="4357844" y="2680834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3" name="s014.text.643"/>
          <p:cNvSpPr txBox="1"/>
          <p:nvPr/>
        </p:nvSpPr>
        <p:spPr>
          <a:xfrm>
            <a:off x="4927659" y="2680836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4" name="s014.text.644"/>
          <p:cNvSpPr txBox="1"/>
          <p:nvPr/>
        </p:nvSpPr>
        <p:spPr>
          <a:xfrm>
            <a:off x="6303295" y="268082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179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5" name="s014.text.645"/>
          <p:cNvSpPr txBox="1"/>
          <p:nvPr/>
        </p:nvSpPr>
        <p:spPr>
          <a:xfrm>
            <a:off x="7480421" y="266621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44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6" name="s014.text.646"/>
          <p:cNvSpPr txBox="1"/>
          <p:nvPr/>
        </p:nvSpPr>
        <p:spPr>
          <a:xfrm>
            <a:off x="7964201" y="2655125"/>
            <a:ext cx="526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7" name="Google Shape;647;p26"/>
          <p:cNvSpPr/>
          <p:nvPr/>
        </p:nvSpPr>
        <p:spPr>
          <a:xfrm>
            <a:off x="5365051" y="2940500"/>
            <a:ext cx="20958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48" name="Google Shape;648;p26"/>
          <p:cNvSpPr/>
          <p:nvPr/>
        </p:nvSpPr>
        <p:spPr>
          <a:xfrm>
            <a:off x="7460925" y="2936450"/>
            <a:ext cx="5181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49" name="Google Shape;649;p26"/>
          <p:cNvSpPr/>
          <p:nvPr/>
        </p:nvSpPr>
        <p:spPr>
          <a:xfrm>
            <a:off x="7969699" y="2936475"/>
            <a:ext cx="4134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0" name="Google Shape;650;p26"/>
          <p:cNvSpPr/>
          <p:nvPr/>
        </p:nvSpPr>
        <p:spPr>
          <a:xfrm>
            <a:off x="2299277" y="2930900"/>
            <a:ext cx="18588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1" name="Google Shape;651;p26"/>
          <p:cNvSpPr/>
          <p:nvPr/>
        </p:nvSpPr>
        <p:spPr>
          <a:xfrm>
            <a:off x="2191928" y="293091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2" name="Google Shape;652;p26"/>
          <p:cNvSpPr/>
          <p:nvPr/>
        </p:nvSpPr>
        <p:spPr>
          <a:xfrm>
            <a:off x="4873947" y="2936125"/>
            <a:ext cx="4911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3" name="Google Shape;653;p26"/>
          <p:cNvSpPr/>
          <p:nvPr/>
        </p:nvSpPr>
        <p:spPr>
          <a:xfrm>
            <a:off x="4150177" y="2928030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4" name="s014.text.654"/>
          <p:cNvSpPr txBox="1"/>
          <p:nvPr/>
        </p:nvSpPr>
        <p:spPr>
          <a:xfrm>
            <a:off x="4471200" y="21323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387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5" name="s014.text.655"/>
          <p:cNvSpPr txBox="1"/>
          <p:nvPr/>
        </p:nvSpPr>
        <p:spPr>
          <a:xfrm>
            <a:off x="2113225" y="264751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6" name="s014.text.656"/>
          <p:cNvSpPr txBox="1"/>
          <p:nvPr/>
        </p:nvSpPr>
        <p:spPr>
          <a:xfrm>
            <a:off x="4555850" y="19425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57" name="s014.text.657"/>
          <p:cNvSpPr txBox="1"/>
          <p:nvPr/>
        </p:nvSpPr>
        <p:spPr>
          <a:xfrm>
            <a:off x="978188" y="26252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16 /09</a:t>
            </a:r>
            <a:endParaRPr b="1" sz="13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58" name="Google Shape;658;p2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2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26"/>
          <p:cNvSpPr/>
          <p:nvPr/>
        </p:nvSpPr>
        <p:spPr>
          <a:xfrm>
            <a:off x="4451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6"/>
          <p:cNvSpPr/>
          <p:nvPr/>
        </p:nvSpPr>
        <p:spPr>
          <a:xfrm>
            <a:off x="4451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6"/>
          <p:cNvSpPr/>
          <p:nvPr/>
        </p:nvSpPr>
        <p:spPr>
          <a:xfrm>
            <a:off x="27002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6"/>
          <p:cNvSpPr/>
          <p:nvPr/>
        </p:nvSpPr>
        <p:spPr>
          <a:xfrm>
            <a:off x="27002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6"/>
          <p:cNvSpPr/>
          <p:nvPr/>
        </p:nvSpPr>
        <p:spPr>
          <a:xfrm>
            <a:off x="48996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6"/>
          <p:cNvSpPr/>
          <p:nvPr/>
        </p:nvSpPr>
        <p:spPr>
          <a:xfrm>
            <a:off x="48996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6"/>
          <p:cNvSpPr/>
          <p:nvPr/>
        </p:nvSpPr>
        <p:spPr>
          <a:xfrm>
            <a:off x="71547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6"/>
          <p:cNvSpPr/>
          <p:nvPr/>
        </p:nvSpPr>
        <p:spPr>
          <a:xfrm>
            <a:off x="71547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s014.text.670"/>
          <p:cNvSpPr/>
          <p:nvPr/>
        </p:nvSpPr>
        <p:spPr>
          <a:xfrm>
            <a:off x="564788" y="9424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1" name="s014.text.671"/>
          <p:cNvSpPr/>
          <p:nvPr/>
        </p:nvSpPr>
        <p:spPr>
          <a:xfrm>
            <a:off x="2826488" y="939088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2" name="s014.text.672"/>
          <p:cNvSpPr/>
          <p:nvPr/>
        </p:nvSpPr>
        <p:spPr>
          <a:xfrm>
            <a:off x="503738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3" name="s014.text.673"/>
          <p:cNvSpPr/>
          <p:nvPr/>
        </p:nvSpPr>
        <p:spPr>
          <a:xfrm>
            <a:off x="732543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4" name="s014.text.674"/>
          <p:cNvSpPr txBox="1"/>
          <p:nvPr/>
        </p:nvSpPr>
        <p:spPr>
          <a:xfrm>
            <a:off x="1029888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5" name="s014.text.675"/>
          <p:cNvSpPr txBox="1"/>
          <p:nvPr/>
        </p:nvSpPr>
        <p:spPr>
          <a:xfrm>
            <a:off x="3167913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6" name="s014.text.676"/>
          <p:cNvSpPr txBox="1"/>
          <p:nvPr/>
        </p:nvSpPr>
        <p:spPr>
          <a:xfrm>
            <a:off x="5425088" y="8963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7" name="s014.text.677"/>
          <p:cNvSpPr txBox="1"/>
          <p:nvPr/>
        </p:nvSpPr>
        <p:spPr>
          <a:xfrm>
            <a:off x="7738838" y="91870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8" name="s014.text.678"/>
          <p:cNvSpPr txBox="1"/>
          <p:nvPr/>
        </p:nvSpPr>
        <p:spPr>
          <a:xfrm>
            <a:off x="1211238" y="133047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127 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79" name="s014.text.679"/>
          <p:cNvSpPr txBox="1"/>
          <p:nvPr/>
        </p:nvSpPr>
        <p:spPr>
          <a:xfrm>
            <a:off x="3630588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88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0" name="s014.text.680"/>
          <p:cNvSpPr txBox="1"/>
          <p:nvPr/>
        </p:nvSpPr>
        <p:spPr>
          <a:xfrm>
            <a:off x="5848600" y="13179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98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1" name="s014.text.681"/>
          <p:cNvSpPr txBox="1"/>
          <p:nvPr/>
        </p:nvSpPr>
        <p:spPr>
          <a:xfrm>
            <a:off x="8160138" y="13042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39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2" name="Google Shape;682;p26"/>
          <p:cNvSpPr/>
          <p:nvPr/>
        </p:nvSpPr>
        <p:spPr>
          <a:xfrm>
            <a:off x="4025552" y="3485077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83" name="Google Shape;683;p26"/>
          <p:cNvSpPr/>
          <p:nvPr/>
        </p:nvSpPr>
        <p:spPr>
          <a:xfrm>
            <a:off x="4185400" y="3564606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84" name="s014.text.684"/>
          <p:cNvSpPr txBox="1"/>
          <p:nvPr/>
        </p:nvSpPr>
        <p:spPr>
          <a:xfrm>
            <a:off x="4132035" y="3564606"/>
            <a:ext cx="22098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74">
                <a:solidFill>
                  <a:schemeClr val="dk2"/>
                </a:solidFill>
              </a:rPr>
              <a:t>Total de camiones</a:t>
            </a:r>
            <a:endParaRPr sz="1774">
              <a:solidFill>
                <a:schemeClr val="dk2"/>
              </a:solidFill>
            </a:endParaRPr>
          </a:p>
        </p:txBody>
      </p:sp>
      <p:sp>
        <p:nvSpPr>
          <p:cNvPr id="685" name="s014.text.685"/>
          <p:cNvSpPr txBox="1"/>
          <p:nvPr/>
        </p:nvSpPr>
        <p:spPr>
          <a:xfrm>
            <a:off x="4345250" y="3871730"/>
            <a:ext cx="15762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95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352</a:t>
            </a:r>
            <a:endParaRPr b="1" sz="197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6" name="s014.text.686"/>
          <p:cNvSpPr/>
          <p:nvPr/>
        </p:nvSpPr>
        <p:spPr>
          <a:xfrm>
            <a:off x="5386400" y="3150150"/>
            <a:ext cx="29967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687" name="s014.text.687"/>
          <p:cNvSpPr txBox="1"/>
          <p:nvPr/>
        </p:nvSpPr>
        <p:spPr>
          <a:xfrm>
            <a:off x="6637300" y="33641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8" name="s014.text.688"/>
          <p:cNvSpPr txBox="1"/>
          <p:nvPr/>
        </p:nvSpPr>
        <p:spPr>
          <a:xfrm>
            <a:off x="6620925" y="3864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9" name="s014.text.689"/>
          <p:cNvSpPr/>
          <p:nvPr/>
        </p:nvSpPr>
        <p:spPr>
          <a:xfrm>
            <a:off x="2191925" y="3104025"/>
            <a:ext cx="27447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690" name="s014.text.690"/>
          <p:cNvSpPr txBox="1"/>
          <p:nvPr/>
        </p:nvSpPr>
        <p:spPr>
          <a:xfrm>
            <a:off x="2891375" y="335663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135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1" name="s014.text.691"/>
          <p:cNvSpPr txBox="1"/>
          <p:nvPr/>
        </p:nvSpPr>
        <p:spPr>
          <a:xfrm>
            <a:off x="2754275" y="3864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15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92" name="s014.text.692"/>
          <p:cNvSpPr txBox="1"/>
          <p:nvPr/>
        </p:nvSpPr>
        <p:spPr>
          <a:xfrm>
            <a:off x="5473625" y="22836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27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61" name="s014.text.66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Miércoles 16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69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14/72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2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2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s015.text.70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0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15/72</a:t>
            </a:r>
          </a:p>
        </p:txBody>
      </p:sp>
      <p:sp>
        <p:nvSpPr>
          <p:cNvPr id="703" name="TextBox 702"/>
          <p:cNvSpPr txBox="1"/>
          <p:nvPr/>
        </p:nvSpPr>
        <p:spPr>
          <a:xfrm>
            <a:off x="1281763" y="74117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Tiempo Ricardone vs San Lorenzo (min)</a:t>
            </a:r>
          </a:p>
        </p:txBody>
      </p:sp>
      <p:sp>
        <p:nvSpPr>
          <p:cNvPr id="704" name="Rectangle 703"/>
          <p:cNvSpPr/>
          <p:nvPr/>
        </p:nvSpPr>
        <p:spPr>
          <a:xfrm>
            <a:off x="2914213" y="1071174"/>
            <a:ext cx="150000" cy="150000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TextBox 704"/>
          <p:cNvSpPr txBox="1"/>
          <p:nvPr/>
        </p:nvSpPr>
        <p:spPr>
          <a:xfrm>
            <a:off x="3094213" y="1051174"/>
            <a:ext cx="15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Ricardone</a:t>
            </a:r>
          </a:p>
        </p:txBody>
      </p:sp>
      <p:sp>
        <p:nvSpPr>
          <p:cNvPr id="706" name="Rectangle 705"/>
          <p:cNvSpPr/>
          <p:nvPr/>
        </p:nvSpPr>
        <p:spPr>
          <a:xfrm>
            <a:off x="4914213" y="1071174"/>
            <a:ext cx="150000" cy="150000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TextBox 706"/>
          <p:cNvSpPr txBox="1"/>
          <p:nvPr/>
        </p:nvSpPr>
        <p:spPr>
          <a:xfrm>
            <a:off x="5094213" y="1051174"/>
            <a:ext cx="15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San Lorenzo</a:t>
            </a:r>
          </a:p>
        </p:txBody>
      </p:sp>
      <p:sp>
        <p:nvSpPr>
          <p:cNvPr id="708" name="TextBox 707"/>
          <p:cNvSpPr txBox="1"/>
          <p:nvPr/>
        </p:nvSpPr>
        <p:spPr>
          <a:xfrm>
            <a:off x="1281763" y="1311174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Jue 10/09</a:t>
            </a:r>
          </a:p>
        </p:txBody>
      </p:sp>
      <p:sp>
        <p:nvSpPr>
          <p:cNvPr id="709" name="Rectangle 708"/>
          <p:cNvSpPr/>
          <p:nvPr/>
        </p:nvSpPr>
        <p:spPr>
          <a:xfrm>
            <a:off x="2370063" y="1409861"/>
            <a:ext cx="2506831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TextBox 709"/>
          <p:cNvSpPr txBox="1"/>
          <p:nvPr/>
        </p:nvSpPr>
        <p:spPr>
          <a:xfrm>
            <a:off x="2370063" y="1409861"/>
            <a:ext cx="2506831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182</a:t>
            </a:r>
          </a:p>
        </p:txBody>
      </p:sp>
      <p:sp>
        <p:nvSpPr>
          <p:cNvPr id="711" name="Rectangle 710"/>
          <p:cNvSpPr/>
          <p:nvPr/>
        </p:nvSpPr>
        <p:spPr>
          <a:xfrm>
            <a:off x="4876894" y="1409861"/>
            <a:ext cx="2313998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TextBox 711"/>
          <p:cNvSpPr txBox="1"/>
          <p:nvPr/>
        </p:nvSpPr>
        <p:spPr>
          <a:xfrm>
            <a:off x="4876894" y="1409861"/>
            <a:ext cx="2313998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168</a:t>
            </a:r>
          </a:p>
        </p:txBody>
      </p:sp>
      <p:sp>
        <p:nvSpPr>
          <p:cNvPr id="713" name="TextBox 712"/>
          <p:cNvSpPr txBox="1"/>
          <p:nvPr/>
        </p:nvSpPr>
        <p:spPr>
          <a:xfrm>
            <a:off x="1281763" y="1830577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Vie 11/09</a:t>
            </a:r>
          </a:p>
        </p:txBody>
      </p:sp>
      <p:sp>
        <p:nvSpPr>
          <p:cNvPr id="714" name="Rectangle 713"/>
          <p:cNvSpPr/>
          <p:nvPr/>
        </p:nvSpPr>
        <p:spPr>
          <a:xfrm>
            <a:off x="2370063" y="1929264"/>
            <a:ext cx="2520605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TextBox 714"/>
          <p:cNvSpPr txBox="1"/>
          <p:nvPr/>
        </p:nvSpPr>
        <p:spPr>
          <a:xfrm>
            <a:off x="2370063" y="1929264"/>
            <a:ext cx="2520605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183</a:t>
            </a:r>
          </a:p>
        </p:txBody>
      </p:sp>
      <p:sp>
        <p:nvSpPr>
          <p:cNvPr id="716" name="Rectangle 715"/>
          <p:cNvSpPr/>
          <p:nvPr/>
        </p:nvSpPr>
        <p:spPr>
          <a:xfrm>
            <a:off x="4890668" y="1929264"/>
            <a:ext cx="2066070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TextBox 716"/>
          <p:cNvSpPr txBox="1"/>
          <p:nvPr/>
        </p:nvSpPr>
        <p:spPr>
          <a:xfrm>
            <a:off x="4890668" y="1929264"/>
            <a:ext cx="2066070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150</a:t>
            </a:r>
          </a:p>
        </p:txBody>
      </p:sp>
      <p:sp>
        <p:nvSpPr>
          <p:cNvPr id="718" name="TextBox 717"/>
          <p:cNvSpPr txBox="1"/>
          <p:nvPr/>
        </p:nvSpPr>
        <p:spPr>
          <a:xfrm>
            <a:off x="1281763" y="2349980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Sáb 12/09</a:t>
            </a:r>
          </a:p>
        </p:txBody>
      </p:sp>
      <p:sp>
        <p:nvSpPr>
          <p:cNvPr id="719" name="Rectangle 718"/>
          <p:cNvSpPr/>
          <p:nvPr/>
        </p:nvSpPr>
        <p:spPr>
          <a:xfrm>
            <a:off x="2370063" y="2448667"/>
            <a:ext cx="2410415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TextBox 719"/>
          <p:cNvSpPr txBox="1"/>
          <p:nvPr/>
        </p:nvSpPr>
        <p:spPr>
          <a:xfrm>
            <a:off x="2370063" y="2448667"/>
            <a:ext cx="2410415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175</a:t>
            </a:r>
          </a:p>
        </p:txBody>
      </p:sp>
      <p:sp>
        <p:nvSpPr>
          <p:cNvPr id="721" name="Rectangle 720"/>
          <p:cNvSpPr/>
          <p:nvPr/>
        </p:nvSpPr>
        <p:spPr>
          <a:xfrm>
            <a:off x="4780478" y="2448667"/>
            <a:ext cx="2796081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TextBox 721"/>
          <p:cNvSpPr txBox="1"/>
          <p:nvPr/>
        </p:nvSpPr>
        <p:spPr>
          <a:xfrm>
            <a:off x="4780478" y="2448667"/>
            <a:ext cx="2796081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203</a:t>
            </a:r>
          </a:p>
        </p:txBody>
      </p:sp>
      <p:sp>
        <p:nvSpPr>
          <p:cNvPr id="723" name="TextBox 722"/>
          <p:cNvSpPr txBox="1"/>
          <p:nvPr/>
        </p:nvSpPr>
        <p:spPr>
          <a:xfrm>
            <a:off x="1281763" y="2869383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Dom 13/09</a:t>
            </a:r>
          </a:p>
        </p:txBody>
      </p:sp>
      <p:sp>
        <p:nvSpPr>
          <p:cNvPr id="724" name="Rectangle 723"/>
          <p:cNvSpPr/>
          <p:nvPr/>
        </p:nvSpPr>
        <p:spPr>
          <a:xfrm>
            <a:off x="2370063" y="2968070"/>
            <a:ext cx="2575700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TextBox 724"/>
          <p:cNvSpPr txBox="1"/>
          <p:nvPr/>
        </p:nvSpPr>
        <p:spPr>
          <a:xfrm>
            <a:off x="2370063" y="2968070"/>
            <a:ext cx="2575700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187</a:t>
            </a:r>
          </a:p>
        </p:txBody>
      </p:sp>
      <p:sp>
        <p:nvSpPr>
          <p:cNvPr id="726" name="Rectangle 725"/>
          <p:cNvSpPr/>
          <p:nvPr/>
        </p:nvSpPr>
        <p:spPr>
          <a:xfrm>
            <a:off x="4945763" y="2968070"/>
            <a:ext cx="1019261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TextBox 726"/>
          <p:cNvSpPr txBox="1"/>
          <p:nvPr/>
        </p:nvSpPr>
        <p:spPr>
          <a:xfrm>
            <a:off x="4945763" y="2968070"/>
            <a:ext cx="1019261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74</a:t>
            </a:r>
          </a:p>
        </p:txBody>
      </p:sp>
      <p:sp>
        <p:nvSpPr>
          <p:cNvPr id="728" name="TextBox 727"/>
          <p:cNvSpPr txBox="1"/>
          <p:nvPr/>
        </p:nvSpPr>
        <p:spPr>
          <a:xfrm>
            <a:off x="1281763" y="3388786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Lun 14/09</a:t>
            </a:r>
          </a:p>
        </p:txBody>
      </p:sp>
      <p:sp>
        <p:nvSpPr>
          <p:cNvPr id="729" name="Rectangle 728"/>
          <p:cNvSpPr/>
          <p:nvPr/>
        </p:nvSpPr>
        <p:spPr>
          <a:xfrm>
            <a:off x="2370063" y="3487473"/>
            <a:ext cx="1074356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TextBox 729"/>
          <p:cNvSpPr txBox="1"/>
          <p:nvPr/>
        </p:nvSpPr>
        <p:spPr>
          <a:xfrm>
            <a:off x="2370063" y="3487473"/>
            <a:ext cx="1074356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78</a:t>
            </a:r>
          </a:p>
        </p:txBody>
      </p:sp>
      <p:sp>
        <p:nvSpPr>
          <p:cNvPr id="731" name="Rectangle 730"/>
          <p:cNvSpPr/>
          <p:nvPr/>
        </p:nvSpPr>
        <p:spPr>
          <a:xfrm>
            <a:off x="3444419" y="3487473"/>
            <a:ext cx="1914558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TextBox 731"/>
          <p:cNvSpPr txBox="1"/>
          <p:nvPr/>
        </p:nvSpPr>
        <p:spPr>
          <a:xfrm>
            <a:off x="3444419" y="3487473"/>
            <a:ext cx="1914558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139</a:t>
            </a:r>
          </a:p>
        </p:txBody>
      </p:sp>
      <p:sp>
        <p:nvSpPr>
          <p:cNvPr id="733" name="TextBox 732"/>
          <p:cNvSpPr txBox="1"/>
          <p:nvPr/>
        </p:nvSpPr>
        <p:spPr>
          <a:xfrm>
            <a:off x="1281763" y="3908189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Mar 15/09</a:t>
            </a:r>
          </a:p>
        </p:txBody>
      </p:sp>
      <p:sp>
        <p:nvSpPr>
          <p:cNvPr id="734" name="Rectangle 733"/>
          <p:cNvSpPr/>
          <p:nvPr/>
        </p:nvSpPr>
        <p:spPr>
          <a:xfrm>
            <a:off x="2370063" y="4006876"/>
            <a:ext cx="1377380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TextBox 734"/>
          <p:cNvSpPr txBox="1"/>
          <p:nvPr/>
        </p:nvSpPr>
        <p:spPr>
          <a:xfrm>
            <a:off x="2370063" y="4006876"/>
            <a:ext cx="1377380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100</a:t>
            </a:r>
          </a:p>
        </p:txBody>
      </p:sp>
      <p:sp>
        <p:nvSpPr>
          <p:cNvPr id="736" name="Rectangle 735"/>
          <p:cNvSpPr/>
          <p:nvPr/>
        </p:nvSpPr>
        <p:spPr>
          <a:xfrm>
            <a:off x="3747443" y="4006876"/>
            <a:ext cx="3911759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TextBox 736"/>
          <p:cNvSpPr txBox="1"/>
          <p:nvPr/>
        </p:nvSpPr>
        <p:spPr>
          <a:xfrm>
            <a:off x="3747443" y="4006876"/>
            <a:ext cx="3911759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284</a:t>
            </a:r>
          </a:p>
        </p:txBody>
      </p:sp>
      <p:sp>
        <p:nvSpPr>
          <p:cNvPr id="738" name="TextBox 737"/>
          <p:cNvSpPr txBox="1"/>
          <p:nvPr/>
        </p:nvSpPr>
        <p:spPr>
          <a:xfrm>
            <a:off x="1281763" y="4427592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Mié 16/09</a:t>
            </a:r>
          </a:p>
        </p:txBody>
      </p:sp>
      <p:sp>
        <p:nvSpPr>
          <p:cNvPr id="739" name="Rectangle 738"/>
          <p:cNvSpPr/>
          <p:nvPr/>
        </p:nvSpPr>
        <p:spPr>
          <a:xfrm>
            <a:off x="2370063" y="4526279"/>
            <a:ext cx="1859463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TextBox 739"/>
          <p:cNvSpPr txBox="1"/>
          <p:nvPr/>
        </p:nvSpPr>
        <p:spPr>
          <a:xfrm>
            <a:off x="2370063" y="4526279"/>
            <a:ext cx="1859463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135</a:t>
            </a:r>
          </a:p>
        </p:txBody>
      </p:sp>
      <p:sp>
        <p:nvSpPr>
          <p:cNvPr id="741" name="Rectangle 740"/>
          <p:cNvSpPr/>
          <p:nvPr/>
        </p:nvSpPr>
        <p:spPr>
          <a:xfrm>
            <a:off x="4229526" y="4526279"/>
            <a:ext cx="3333259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TextBox 741"/>
          <p:cNvSpPr txBox="1"/>
          <p:nvPr/>
        </p:nvSpPr>
        <p:spPr>
          <a:xfrm>
            <a:off x="4229526" y="4526279"/>
            <a:ext cx="3333259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242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7" name="Google Shape;707;p28" title="Puntuación lograda"/>
          <p:cNvPicPr preferRelativeResize="0"/>
          <p:nvPr/>
        </p:nvPicPr>
        <p:blipFill rotWithShape="1">
          <a:blip r:embed="rId3">
            <a:alphaModFix/>
          </a:blip>
          <a:srcRect b="1966" l="0" r="0" t="1639"/>
          <a:stretch/>
        </p:blipFill>
        <p:spPr>
          <a:xfrm>
            <a:off x="1881750" y="2955400"/>
            <a:ext cx="5448501" cy="211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" name="Google Shape;708;p28" title="Puntuación lograda"/>
          <p:cNvPicPr preferRelativeResize="0"/>
          <p:nvPr/>
        </p:nvPicPr>
        <p:blipFill rotWithShape="1">
          <a:blip r:embed="rId4">
            <a:alphaModFix/>
          </a:blip>
          <a:srcRect b="0" l="0" r="0" t="12219"/>
          <a:stretch/>
        </p:blipFill>
        <p:spPr>
          <a:xfrm>
            <a:off x="2025814" y="597150"/>
            <a:ext cx="5152173" cy="2322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9" name="Google Shape;709;p28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28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s016.text.71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1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16/72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29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29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s017.text.72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sz="2400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18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 xmlns:p="http://schemas.openxmlformats.org/presentationml/2006/main" xmlns:a="http://schemas.openxmlformats.org/drawingml/2006/main">
        <p:nvSpPr>
          <p:cNvPr id="72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17/72</a:t>
            </a:r>
          </a:p>
        </p:txBody>
      </p:sp>
      <p:graphicFrame>
        <p:nvGraphicFramePr>
          <p:cNvPr id="717" name="D17_G1"/>
          <p:cNvGraphicFramePr/>
          <p:nvPr/>
        </p:nvGraphicFramePr>
        <p:xfrm>
          <a:off x="4721275" y="1346499"/>
          <a:ext cx="4225575" cy="2612816"/>
        </p:xfrm>
        <a:graphic>
          <a:graphicData uri="http://schemas.openxmlformats.org/drawingml/2006/chart">
            <c:chart r:id="rIdManual1005"/>
          </a:graphicData>
        </a:graphic>
      </p:graphicFrame>
      <p:graphicFrame>
        <p:nvGraphicFramePr>
          <p:cNvPr id="722" name="D17_G2"/>
          <p:cNvGraphicFramePr/>
          <p:nvPr/>
        </p:nvGraphicFramePr>
        <p:xfrm>
          <a:off x="304800" y="1289324"/>
          <a:ext cx="4416474" cy="2730853"/>
        </p:xfrm>
        <a:graphic>
          <a:graphicData uri="http://schemas.openxmlformats.org/drawingml/2006/chart">
            <c:chart r:id="rIdManual1006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0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30" name="Google Shape;730;p30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30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s018.text.732"/>
          <p:cNvSpPr txBox="1"/>
          <p:nvPr/>
        </p:nvSpPr>
        <p:spPr>
          <a:xfrm>
            <a:off x="965025" y="895725"/>
            <a:ext cx="7613700" cy="4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resumen del circuito R7 informa un tiempo medio de </a:t>
            </a:r>
            <a:r>
              <a:rPr b="1" lang="es" sz="1100">
                <a:solidFill>
                  <a:schemeClr val="dk1"/>
                </a:solidFill>
              </a:rPr>
              <a:t>334 minutos (5 h 34 min)</a:t>
            </a:r>
            <a:r>
              <a:rPr lang="es" sz="1100">
                <a:solidFill>
                  <a:schemeClr val="dk1"/>
                </a:solidFill>
              </a:rPr>
              <a:t>, frente a 276 minutos en la semana anterior. Esto representa un incremento de </a:t>
            </a:r>
            <a:r>
              <a:rPr b="1" lang="es" sz="1100">
                <a:solidFill>
                  <a:schemeClr val="dk1"/>
                </a:solidFill>
              </a:rPr>
              <a:t>58 minutos (+21%)</a:t>
            </a:r>
            <a:r>
              <a:rPr lang="es" sz="1100">
                <a:solidFill>
                  <a:schemeClr val="dk1"/>
                </a:solidFill>
              </a:rPr>
              <a:t>, sujeto a la conciliación del promedio semanal con el detalle diario.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mayor parte del tiempo se concentra en </a:t>
            </a:r>
            <a:r>
              <a:rPr b="1" lang="es" sz="1100">
                <a:solidFill>
                  <a:schemeClr val="dk1"/>
                </a:solidFill>
              </a:rPr>
              <a:t>Playa 1 de Ricardone, con 126 minutos, y Playa OSL, con 119 minutos</a:t>
            </a:r>
            <a:r>
              <a:rPr lang="es" sz="1100">
                <a:solidFill>
                  <a:schemeClr val="dk1"/>
                </a:solidFill>
              </a:rPr>
              <a:t>. En conjunto representan aproximadamente el </a:t>
            </a:r>
            <a:r>
              <a:rPr b="1" lang="es" sz="1100">
                <a:solidFill>
                  <a:schemeClr val="dk1"/>
                </a:solidFill>
              </a:rPr>
              <a:t>73% del ciclo informado</a:t>
            </a:r>
            <a:r>
              <a:rPr lang="es" sz="1100">
                <a:solidFill>
                  <a:schemeClr val="dk1"/>
                </a:solidFill>
              </a:rPr>
              <a:t>, por lo que ambas esperas constituyen los principales focos de revisión.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lunes 14/09 presentó el menor tiempo, con </a:t>
            </a:r>
            <a:r>
              <a:rPr b="1" lang="es" sz="1100">
                <a:solidFill>
                  <a:schemeClr val="dk1"/>
                </a:solidFill>
              </a:rPr>
              <a:t>229 minutos</a:t>
            </a:r>
            <a:r>
              <a:rPr lang="es" sz="1100">
                <a:solidFill>
                  <a:schemeClr val="dk1"/>
                </a:solidFill>
              </a:rPr>
              <a:t>. El martes 15/09 registró el mayor, con </a:t>
            </a:r>
            <a:r>
              <a:rPr b="1" lang="es" sz="1100">
                <a:solidFill>
                  <a:schemeClr val="dk1"/>
                </a:solidFill>
              </a:rPr>
              <a:t>396 minutos</a:t>
            </a:r>
            <a:r>
              <a:rPr lang="es" sz="1100">
                <a:solidFill>
                  <a:schemeClr val="dk1"/>
                </a:solidFill>
              </a:rPr>
              <a:t>, seguido por el sábado, con 390, y el miércoles, con 387. El martes y el miércoles se destaca la permanencia en Playa OSL, de </a:t>
            </a:r>
            <a:r>
              <a:rPr b="1" lang="es" sz="1100">
                <a:solidFill>
                  <a:schemeClr val="dk1"/>
                </a:solidFill>
              </a:rPr>
              <a:t>217 y 179 minutos</a:t>
            </a:r>
            <a:r>
              <a:rPr lang="es" sz="1100">
                <a:solidFill>
                  <a:schemeClr val="dk1"/>
                </a:solidFill>
              </a:rPr>
              <a:t>, respectivamente.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domingo tuvo actividad reducida, con </a:t>
            </a:r>
            <a:r>
              <a:rPr b="1" lang="es" sz="1100">
                <a:solidFill>
                  <a:schemeClr val="dk1"/>
                </a:solidFill>
              </a:rPr>
              <a:t>39 camiones</a:t>
            </a:r>
            <a:r>
              <a:rPr lang="es" sz="1100">
                <a:solidFill>
                  <a:schemeClr val="dk1"/>
                </a:solidFill>
              </a:rPr>
              <a:t>, pero no una interrupción total. Corresponde revisar la programación de arribos y las condiciones operativas de las jornadas con mayores esperas, sin atribuir todavía las demoras a una causa específica.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729" name="s018.text.72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3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18/72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9" name="Google Shape;73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s019.text.740"/>
          <p:cNvSpPr txBox="1"/>
          <p:nvPr/>
        </p:nvSpPr>
        <p:spPr>
          <a:xfrm>
            <a:off x="3329725" y="2763900"/>
            <a:ext cx="3214500" cy="19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   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general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Patentes registradas y volcables utilizadas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Circuito R30/31/32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74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19/72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2"/>
          <p:cNvSpPr/>
          <p:nvPr/>
        </p:nvSpPr>
        <p:spPr>
          <a:xfrm>
            <a:off x="946875" y="3205925"/>
            <a:ext cx="2227500" cy="15225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326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450" lIns="104450" spcFirstLastPara="1" rIns="104450" wrap="square" tIns="104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46" name="Google Shape;746;p32"/>
          <p:cNvSpPr/>
          <p:nvPr/>
        </p:nvSpPr>
        <p:spPr>
          <a:xfrm>
            <a:off x="2184900" y="2465488"/>
            <a:ext cx="1020600" cy="4617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0B1F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sp>
        <p:nvSpPr>
          <p:cNvPr id="747" name="Google Shape;747;p32"/>
          <p:cNvSpPr/>
          <p:nvPr/>
        </p:nvSpPr>
        <p:spPr>
          <a:xfrm>
            <a:off x="946875" y="2465488"/>
            <a:ext cx="1020600" cy="4617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0B1F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pic>
        <p:nvPicPr>
          <p:cNvPr id="750" name="Google Shape;750;p32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32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32"/>
          <p:cNvSpPr/>
          <p:nvPr/>
        </p:nvSpPr>
        <p:spPr>
          <a:xfrm>
            <a:off x="1321025" y="997350"/>
            <a:ext cx="1621500" cy="11085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sp>
        <p:nvSpPr>
          <p:cNvPr id="753" name="s020.text.753"/>
          <p:cNvSpPr txBox="1"/>
          <p:nvPr/>
        </p:nvSpPr>
        <p:spPr>
          <a:xfrm>
            <a:off x="1404868" y="1613033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Toneladas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54" name="s020.text.754"/>
          <p:cNvSpPr txBox="1"/>
          <p:nvPr/>
        </p:nvSpPr>
        <p:spPr>
          <a:xfrm>
            <a:off x="1482575" y="1129525"/>
            <a:ext cx="1376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  5.550</a:t>
            </a:r>
            <a:endParaRPr b="1" sz="23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5" name="s020.text.755"/>
          <p:cNvSpPr txBox="1"/>
          <p:nvPr/>
        </p:nvSpPr>
        <p:spPr>
          <a:xfrm>
            <a:off x="2215949" y="2542863"/>
            <a:ext cx="958500" cy="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/09</a:t>
            </a:r>
            <a:endParaRPr b="1" sz="1800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6" name="s020.text.756"/>
          <p:cNvSpPr txBox="1"/>
          <p:nvPr/>
        </p:nvSpPr>
        <p:spPr>
          <a:xfrm>
            <a:off x="1358562" y="3685612"/>
            <a:ext cx="17790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125600" spcFirstLastPara="1" rIns="125600" wrap="square" tIns="125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74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Total volumen</a:t>
            </a:r>
            <a: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b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5284">
                <a:solidFill>
                  <a:srgbClr val="4285F4"/>
                </a:solidFill>
                <a:latin typeface="Inter"/>
                <a:ea typeface="Inter"/>
                <a:cs typeface="Inter"/>
                <a:sym typeface="Inter"/>
              </a:rPr>
              <a:t>188</a:t>
            </a:r>
            <a:b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5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camiones</a:t>
            </a:r>
            <a:endParaRPr b="1" sz="15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7" name="s020.text.757"/>
          <p:cNvSpPr txBox="1"/>
          <p:nvPr/>
        </p:nvSpPr>
        <p:spPr>
          <a:xfrm>
            <a:off x="990024" y="2542863"/>
            <a:ext cx="958500" cy="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/09</a:t>
            </a:r>
            <a:endParaRPr b="1" sz="1800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8" name="s020.text.758"/>
          <p:cNvSpPr txBox="1"/>
          <p:nvPr/>
        </p:nvSpPr>
        <p:spPr>
          <a:xfrm>
            <a:off x="742368" y="2161870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      Inicio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59" name="s020.text.759"/>
          <p:cNvSpPr txBox="1"/>
          <p:nvPr/>
        </p:nvSpPr>
        <p:spPr>
          <a:xfrm>
            <a:off x="1968293" y="2161870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        Fin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49" name="s020.text.74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Operativo de Pellet de 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6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20/72</a:t>
            </a:r>
          </a:p>
        </p:txBody>
      </p:sp>
      <p:sp>
        <p:nvSpPr>
          <p:cNvPr id="762" name="TextBox 761"/>
          <p:cNvSpPr txBox="1"/>
          <p:nvPr/>
        </p:nvSpPr>
        <p:spPr>
          <a:xfrm>
            <a:off x="3591150" y="1341900"/>
            <a:ext cx="542895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Puntuación lograda</a:t>
            </a:r>
          </a:p>
        </p:txBody>
      </p:sp>
      <p:sp>
        <p:nvSpPr>
          <p:cNvPr id="763" name="TextBox 762"/>
          <p:cNvSpPr txBox="1"/>
          <p:nvPr/>
        </p:nvSpPr>
        <p:spPr>
          <a:xfrm>
            <a:off x="3591150" y="1671900"/>
            <a:ext cx="1371527" cy="1318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Lunes 14/09</a:t>
            </a:r>
          </a:p>
        </p:txBody>
      </p:sp>
      <p:sp>
        <p:nvSpPr>
          <p:cNvPr id="764" name="Rectangle 763"/>
          <p:cNvSpPr/>
          <p:nvPr/>
        </p:nvSpPr>
        <p:spPr>
          <a:xfrm>
            <a:off x="5002677" y="1935640"/>
            <a:ext cx="3469099" cy="79122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TextBox 764"/>
          <p:cNvSpPr txBox="1"/>
          <p:nvPr/>
        </p:nvSpPr>
        <p:spPr>
          <a:xfrm>
            <a:off x="7691776" y="1935640"/>
            <a:ext cx="740000" cy="7912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135</a:t>
            </a:r>
          </a:p>
        </p:txBody>
      </p:sp>
      <p:sp>
        <p:nvSpPr>
          <p:cNvPr id="766" name="TextBox 765"/>
          <p:cNvSpPr txBox="1"/>
          <p:nvPr/>
        </p:nvSpPr>
        <p:spPr>
          <a:xfrm>
            <a:off x="3591150" y="2990600"/>
            <a:ext cx="1371527" cy="1318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Martes 15/09</a:t>
            </a:r>
          </a:p>
        </p:txBody>
      </p:sp>
      <p:sp>
        <p:nvSpPr>
          <p:cNvPr id="767" name="Rectangle 766"/>
          <p:cNvSpPr/>
          <p:nvPr/>
        </p:nvSpPr>
        <p:spPr>
          <a:xfrm>
            <a:off x="5002677" y="3254340"/>
            <a:ext cx="1284851" cy="79122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TextBox 767"/>
          <p:cNvSpPr txBox="1"/>
          <p:nvPr/>
        </p:nvSpPr>
        <p:spPr>
          <a:xfrm>
            <a:off x="5507528" y="3254340"/>
            <a:ext cx="740000" cy="7912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50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5" name="Google Shape;765;p33" title="A2_3D_20260820_164225.png"/>
          <p:cNvPicPr preferRelativeResize="0"/>
          <p:nvPr/>
        </p:nvPicPr>
        <p:blipFill rotWithShape="1">
          <a:blip r:embed="rId3">
            <a:alphaModFix/>
          </a:blip>
          <a:srcRect b="0" l="0" r="17471" t="35044"/>
          <a:stretch/>
        </p:blipFill>
        <p:spPr>
          <a:xfrm>
            <a:off x="802350" y="2751075"/>
            <a:ext cx="4002028" cy="1894776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33"/>
          <p:cNvSpPr/>
          <p:nvPr/>
        </p:nvSpPr>
        <p:spPr>
          <a:xfrm>
            <a:off x="4696392" y="3937237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pic>
        <p:nvPicPr>
          <p:cNvPr id="767" name="Google Shape;767;p33"/>
          <p:cNvPicPr preferRelativeResize="0"/>
          <p:nvPr/>
        </p:nvPicPr>
        <p:blipFill rotWithShape="1">
          <a:blip r:embed="rId4">
            <a:alphaModFix/>
          </a:blip>
          <a:srcRect b="2086" l="2257" r="11913" t="0"/>
          <a:stretch/>
        </p:blipFill>
        <p:spPr>
          <a:xfrm>
            <a:off x="4870050" y="2905450"/>
            <a:ext cx="3702826" cy="152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6998" y="4429776"/>
            <a:ext cx="678528" cy="623299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33"/>
          <p:cNvSpPr/>
          <p:nvPr/>
        </p:nvSpPr>
        <p:spPr>
          <a:xfrm>
            <a:off x="3861049" y="3153628"/>
            <a:ext cx="1131437" cy="1325984"/>
          </a:xfrm>
          <a:custGeom>
            <a:rect b="b" l="l" r="r" t="t"/>
            <a:pathLst>
              <a:path extrusionOk="0" h="64034" w="54639">
                <a:moveTo>
                  <a:pt x="0" y="59069"/>
                </a:moveTo>
                <a:cubicBezTo>
                  <a:pt x="3200" y="59857"/>
                  <a:pt x="11273" y="65173"/>
                  <a:pt x="19198" y="63795"/>
                </a:cubicBezTo>
                <a:cubicBezTo>
                  <a:pt x="27123" y="62417"/>
                  <a:pt x="41644" y="61433"/>
                  <a:pt x="47551" y="50800"/>
                </a:cubicBezTo>
                <a:cubicBezTo>
                  <a:pt x="53458" y="40168"/>
                  <a:pt x="53458" y="8467"/>
                  <a:pt x="54639" y="0"/>
                </a:cubicBezTo>
              </a:path>
            </a:pathLst>
          </a:custGeom>
          <a:noFill/>
          <a:ln cap="flat" cmpd="sng" w="23675">
            <a:solidFill>
              <a:srgbClr val="F4CCCC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770" name="Google Shape;770;p33"/>
          <p:cNvSpPr/>
          <p:nvPr/>
        </p:nvSpPr>
        <p:spPr>
          <a:xfrm>
            <a:off x="5857540" y="3341411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771" name="Google Shape;771;p33"/>
          <p:cNvSpPr/>
          <p:nvPr/>
        </p:nvSpPr>
        <p:spPr>
          <a:xfrm>
            <a:off x="7390476" y="3081894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sp>
        <p:nvSpPr>
          <p:cNvPr id="772" name="Google Shape;772;p33"/>
          <p:cNvSpPr/>
          <p:nvPr/>
        </p:nvSpPr>
        <p:spPr>
          <a:xfrm>
            <a:off x="7438892" y="4194137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sp>
        <p:nvSpPr>
          <p:cNvPr id="773" name="s021.text.773"/>
          <p:cNvSpPr txBox="1"/>
          <p:nvPr/>
        </p:nvSpPr>
        <p:spPr>
          <a:xfrm>
            <a:off x="4670611" y="3888613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4" name="s021.text.774"/>
          <p:cNvSpPr txBox="1"/>
          <p:nvPr/>
        </p:nvSpPr>
        <p:spPr>
          <a:xfrm>
            <a:off x="5844659" y="32813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7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5" name="s021.text.775"/>
          <p:cNvSpPr txBox="1"/>
          <p:nvPr/>
        </p:nvSpPr>
        <p:spPr>
          <a:xfrm>
            <a:off x="7364876" y="3033325"/>
            <a:ext cx="2502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8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6" name="s021.text.776"/>
          <p:cNvSpPr txBox="1"/>
          <p:nvPr/>
        </p:nvSpPr>
        <p:spPr>
          <a:xfrm>
            <a:off x="7393600" y="4153625"/>
            <a:ext cx="2565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9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777" name="Google Shape;777;p33"/>
          <p:cNvCxnSpPr/>
          <p:nvPr/>
        </p:nvCxnSpPr>
        <p:spPr>
          <a:xfrm flipH="1" rot="10800000">
            <a:off x="6120931" y="3164282"/>
            <a:ext cx="141300" cy="161100"/>
          </a:xfrm>
          <a:prstGeom prst="straightConnector1">
            <a:avLst/>
          </a:prstGeom>
          <a:noFill/>
          <a:ln cap="flat" cmpd="sng" w="790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78" name="Google Shape;778;p33"/>
          <p:cNvCxnSpPr/>
          <p:nvPr/>
        </p:nvCxnSpPr>
        <p:spPr>
          <a:xfrm rot="10800000">
            <a:off x="5481987" y="3282738"/>
            <a:ext cx="643500" cy="39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9" name="Google Shape;779;p33"/>
          <p:cNvSpPr/>
          <p:nvPr/>
        </p:nvSpPr>
        <p:spPr>
          <a:xfrm>
            <a:off x="5225729" y="3281315"/>
            <a:ext cx="256380" cy="134619"/>
          </a:xfrm>
          <a:custGeom>
            <a:rect b="b" l="l" r="r" t="t"/>
            <a:pathLst>
              <a:path extrusionOk="0" h="6501" w="12381">
                <a:moveTo>
                  <a:pt x="12381" y="0"/>
                </a:moveTo>
                <a:cubicBezTo>
                  <a:pt x="12266" y="433"/>
                  <a:pt x="11996" y="1789"/>
                  <a:pt x="11691" y="2595"/>
                </a:cubicBezTo>
                <a:cubicBezTo>
                  <a:pt x="11386" y="3402"/>
                  <a:pt x="11083" y="4270"/>
                  <a:pt x="10551" y="4839"/>
                </a:cubicBezTo>
                <a:cubicBezTo>
                  <a:pt x="10019" y="5408"/>
                  <a:pt x="9477" y="5742"/>
                  <a:pt x="8500" y="6011"/>
                </a:cubicBezTo>
                <a:cubicBezTo>
                  <a:pt x="7523" y="6280"/>
                  <a:pt x="5924" y="6634"/>
                  <a:pt x="4690" y="6451"/>
                </a:cubicBezTo>
                <a:cubicBezTo>
                  <a:pt x="3457" y="6268"/>
                  <a:pt x="1881" y="5828"/>
                  <a:pt x="1099" y="4912"/>
                </a:cubicBezTo>
                <a:cubicBezTo>
                  <a:pt x="317" y="3996"/>
                  <a:pt x="183" y="1615"/>
                  <a:pt x="0" y="956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0" name="Google Shape;780;p33"/>
          <p:cNvCxnSpPr/>
          <p:nvPr/>
        </p:nvCxnSpPr>
        <p:spPr>
          <a:xfrm>
            <a:off x="6599998" y="3175454"/>
            <a:ext cx="1220400" cy="87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1" name="Google Shape;781;p33"/>
          <p:cNvSpPr/>
          <p:nvPr/>
        </p:nvSpPr>
        <p:spPr>
          <a:xfrm>
            <a:off x="7820382" y="3262926"/>
            <a:ext cx="279574" cy="437165"/>
          </a:xfrm>
          <a:custGeom>
            <a:rect b="b" l="l" r="r" t="t"/>
            <a:pathLst>
              <a:path extrusionOk="0" h="21114" w="13052">
                <a:moveTo>
                  <a:pt x="0" y="0"/>
                </a:moveTo>
                <a:cubicBezTo>
                  <a:pt x="1184" y="576"/>
                  <a:pt x="5279" y="1872"/>
                  <a:pt x="7102" y="3455"/>
                </a:cubicBezTo>
                <a:cubicBezTo>
                  <a:pt x="8926" y="5039"/>
                  <a:pt x="10461" y="7422"/>
                  <a:pt x="10941" y="9501"/>
                </a:cubicBezTo>
                <a:cubicBezTo>
                  <a:pt x="11421" y="11580"/>
                  <a:pt x="9629" y="13996"/>
                  <a:pt x="9981" y="15931"/>
                </a:cubicBezTo>
                <a:cubicBezTo>
                  <a:pt x="10333" y="17867"/>
                  <a:pt x="12540" y="20250"/>
                  <a:pt x="13052" y="21114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2" name="Google Shape;782;p33"/>
          <p:cNvCxnSpPr/>
          <p:nvPr/>
        </p:nvCxnSpPr>
        <p:spPr>
          <a:xfrm rot="10800000">
            <a:off x="8141077" y="4266754"/>
            <a:ext cx="200700" cy="15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83" name="Google Shape;783;p33"/>
          <p:cNvSpPr/>
          <p:nvPr/>
        </p:nvSpPr>
        <p:spPr>
          <a:xfrm>
            <a:off x="8100525" y="3698877"/>
            <a:ext cx="311503" cy="587327"/>
          </a:xfrm>
          <a:custGeom>
            <a:rect b="b" l="l" r="r" t="t"/>
            <a:pathLst>
              <a:path extrusionOk="0" h="28363" w="15043">
                <a:moveTo>
                  <a:pt x="11619" y="28136"/>
                </a:moveTo>
                <a:cubicBezTo>
                  <a:pt x="12182" y="28074"/>
                  <a:pt x="14716" y="28879"/>
                  <a:pt x="14997" y="27764"/>
                </a:cubicBezTo>
                <a:cubicBezTo>
                  <a:pt x="15279" y="26649"/>
                  <a:pt x="14017" y="23233"/>
                  <a:pt x="13308" y="21448"/>
                </a:cubicBezTo>
                <a:cubicBezTo>
                  <a:pt x="12599" y="19664"/>
                  <a:pt x="12959" y="20632"/>
                  <a:pt x="10741" y="17057"/>
                </a:cubicBezTo>
                <a:cubicBezTo>
                  <a:pt x="8523" y="13482"/>
                  <a:pt x="1790" y="2843"/>
                  <a:pt x="0" y="0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84" name="Google Shape;784;p33"/>
          <p:cNvSpPr/>
          <p:nvPr/>
        </p:nvSpPr>
        <p:spPr>
          <a:xfrm>
            <a:off x="7330315" y="4126425"/>
            <a:ext cx="659617" cy="97263"/>
          </a:xfrm>
          <a:custGeom>
            <a:rect b="b" l="l" r="r" t="t"/>
            <a:pathLst>
              <a:path extrusionOk="0" h="4697" w="31854">
                <a:moveTo>
                  <a:pt x="31854" y="4698"/>
                </a:moveTo>
                <a:cubicBezTo>
                  <a:pt x="30397" y="4416"/>
                  <a:pt x="25030" y="3625"/>
                  <a:pt x="23109" y="3003"/>
                </a:cubicBezTo>
                <a:cubicBezTo>
                  <a:pt x="21188" y="2382"/>
                  <a:pt x="21696" y="1466"/>
                  <a:pt x="20329" y="969"/>
                </a:cubicBezTo>
                <a:cubicBezTo>
                  <a:pt x="18962" y="472"/>
                  <a:pt x="18070" y="-59"/>
                  <a:pt x="14906" y="20"/>
                </a:cubicBezTo>
                <a:cubicBezTo>
                  <a:pt x="11742" y="99"/>
                  <a:pt x="3731" y="1207"/>
                  <a:pt x="1347" y="1444"/>
                </a:cubicBezTo>
                <a:cubicBezTo>
                  <a:pt x="-1037" y="1681"/>
                  <a:pt x="726" y="1444"/>
                  <a:pt x="602" y="1444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5" name="Google Shape;785;p33"/>
          <p:cNvCxnSpPr/>
          <p:nvPr/>
        </p:nvCxnSpPr>
        <p:spPr>
          <a:xfrm flipH="1">
            <a:off x="7183426" y="4156592"/>
            <a:ext cx="161700" cy="150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788" name="Google Shape;788;p33" title="nv_argentina_logo.jfif"/>
          <p:cNvPicPr preferRelativeResize="0"/>
          <p:nvPr/>
        </p:nvPicPr>
        <p:blipFill rotWithShape="1">
          <a:blip r:embed="rId7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9" name="Google Shape;789;p33" title="Logo sin text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33"/>
          <p:cNvSpPr txBox="1"/>
          <p:nvPr/>
        </p:nvSpPr>
        <p:spPr>
          <a:xfrm>
            <a:off x="3197296" y="1072512"/>
            <a:ext cx="4872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00" lIns="74200" spcFirstLastPara="1" rIns="74200" wrap="square" tIns="74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7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1" name="Google Shape;791;p33"/>
          <p:cNvSpPr/>
          <p:nvPr/>
        </p:nvSpPr>
        <p:spPr>
          <a:xfrm>
            <a:off x="614187" y="885955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2" name="Google Shape;792;p33"/>
          <p:cNvSpPr/>
          <p:nvPr/>
        </p:nvSpPr>
        <p:spPr>
          <a:xfrm>
            <a:off x="538050" y="885955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3" name="s021.text.793"/>
          <p:cNvSpPr txBox="1"/>
          <p:nvPr/>
        </p:nvSpPr>
        <p:spPr>
          <a:xfrm>
            <a:off x="538050" y="939911"/>
            <a:ext cx="2413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4" name="s021.text.794"/>
          <p:cNvSpPr txBox="1"/>
          <p:nvPr/>
        </p:nvSpPr>
        <p:spPr>
          <a:xfrm>
            <a:off x="557396" y="1142080"/>
            <a:ext cx="24135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5" name="Google Shape;795;p33"/>
          <p:cNvSpPr/>
          <p:nvPr/>
        </p:nvSpPr>
        <p:spPr>
          <a:xfrm>
            <a:off x="1911885" y="883661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6" name="Google Shape;796;p33"/>
          <p:cNvSpPr/>
          <p:nvPr/>
        </p:nvSpPr>
        <p:spPr>
          <a:xfrm>
            <a:off x="1835748" y="883661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7" name="s021.text.797"/>
          <p:cNvSpPr txBox="1"/>
          <p:nvPr/>
        </p:nvSpPr>
        <p:spPr>
          <a:xfrm>
            <a:off x="1835752" y="921363"/>
            <a:ext cx="9360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 Playa 1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8" name="s021.text.798"/>
          <p:cNvSpPr txBox="1"/>
          <p:nvPr/>
        </p:nvSpPr>
        <p:spPr>
          <a:xfrm>
            <a:off x="1855090" y="1123531"/>
            <a:ext cx="8586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9" name="Google Shape;799;p33"/>
          <p:cNvSpPr/>
          <p:nvPr/>
        </p:nvSpPr>
        <p:spPr>
          <a:xfrm>
            <a:off x="3159433" y="883672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0" name="Google Shape;800;p33"/>
          <p:cNvSpPr/>
          <p:nvPr/>
        </p:nvSpPr>
        <p:spPr>
          <a:xfrm>
            <a:off x="3083295" y="883672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1" name="s021.text.801"/>
          <p:cNvSpPr txBox="1"/>
          <p:nvPr/>
        </p:nvSpPr>
        <p:spPr>
          <a:xfrm>
            <a:off x="3083293" y="921360"/>
            <a:ext cx="9912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P.Tara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2" name="s021.text.802"/>
          <p:cNvSpPr txBox="1"/>
          <p:nvPr/>
        </p:nvSpPr>
        <p:spPr>
          <a:xfrm>
            <a:off x="3102641" y="1123528"/>
            <a:ext cx="9756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Balanza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3" name="Google Shape;803;p33"/>
          <p:cNvSpPr/>
          <p:nvPr/>
        </p:nvSpPr>
        <p:spPr>
          <a:xfrm>
            <a:off x="5583617" y="874475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4" name="Google Shape;804;p33"/>
          <p:cNvSpPr/>
          <p:nvPr/>
        </p:nvSpPr>
        <p:spPr>
          <a:xfrm>
            <a:off x="5507480" y="874475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5" name="s021.text.805"/>
          <p:cNvSpPr txBox="1"/>
          <p:nvPr/>
        </p:nvSpPr>
        <p:spPr>
          <a:xfrm>
            <a:off x="5503628" y="921370"/>
            <a:ext cx="13116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 : Carga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6" name="s021.text.806"/>
          <p:cNvSpPr txBox="1"/>
          <p:nvPr/>
        </p:nvSpPr>
        <p:spPr>
          <a:xfrm>
            <a:off x="5535867" y="1116627"/>
            <a:ext cx="24135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Playa 3  → Balanza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7" name="Google Shape;807;p33"/>
          <p:cNvSpPr/>
          <p:nvPr/>
        </p:nvSpPr>
        <p:spPr>
          <a:xfrm>
            <a:off x="4380754" y="894238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8" name="Google Shape;808;p33"/>
          <p:cNvSpPr/>
          <p:nvPr/>
        </p:nvSpPr>
        <p:spPr>
          <a:xfrm>
            <a:off x="4304617" y="894238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9" name="s021.text.809"/>
          <p:cNvSpPr txBox="1"/>
          <p:nvPr/>
        </p:nvSpPr>
        <p:spPr>
          <a:xfrm>
            <a:off x="4304618" y="931935"/>
            <a:ext cx="9189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4: Playa 3</a:t>
            </a:r>
            <a:endParaRPr b="1"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0" name="s021.text.810"/>
          <p:cNvSpPr txBox="1"/>
          <p:nvPr/>
        </p:nvSpPr>
        <p:spPr>
          <a:xfrm>
            <a:off x="4323960" y="1134105"/>
            <a:ext cx="9360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→ Playa 3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1" name="s021.text.811"/>
          <p:cNvSpPr txBox="1"/>
          <p:nvPr/>
        </p:nvSpPr>
        <p:spPr>
          <a:xfrm>
            <a:off x="1514487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2" name="s021.text.812"/>
          <p:cNvSpPr txBox="1"/>
          <p:nvPr/>
        </p:nvSpPr>
        <p:spPr>
          <a:xfrm>
            <a:off x="2739566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3" name="s021.text.813"/>
          <p:cNvSpPr txBox="1"/>
          <p:nvPr/>
        </p:nvSpPr>
        <p:spPr>
          <a:xfrm>
            <a:off x="3989784" y="972554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4" name="s021.text.814"/>
          <p:cNvSpPr txBox="1"/>
          <p:nvPr/>
        </p:nvSpPr>
        <p:spPr>
          <a:xfrm>
            <a:off x="5214796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5" name="s021.text.815"/>
          <p:cNvSpPr txBox="1"/>
          <p:nvPr/>
        </p:nvSpPr>
        <p:spPr>
          <a:xfrm>
            <a:off x="6411282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816" name="Google Shape;816;p33"/>
          <p:cNvCxnSpPr/>
          <p:nvPr/>
        </p:nvCxnSpPr>
        <p:spPr>
          <a:xfrm rot="10800000">
            <a:off x="2170412" y="3952717"/>
            <a:ext cx="929400" cy="5550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7" name="Google Shape;817;p33"/>
          <p:cNvCxnSpPr/>
          <p:nvPr/>
        </p:nvCxnSpPr>
        <p:spPr>
          <a:xfrm>
            <a:off x="2262567" y="3888619"/>
            <a:ext cx="341400" cy="2010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18" name="Google Shape;818;p33"/>
          <p:cNvCxnSpPr/>
          <p:nvPr/>
        </p:nvCxnSpPr>
        <p:spPr>
          <a:xfrm>
            <a:off x="2764318" y="4171713"/>
            <a:ext cx="495900" cy="2793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9" name="Google Shape;819;p33"/>
          <p:cNvCxnSpPr/>
          <p:nvPr/>
        </p:nvCxnSpPr>
        <p:spPr>
          <a:xfrm flipH="1" rot="10800000">
            <a:off x="3259002" y="4228426"/>
            <a:ext cx="378000" cy="2196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0" name="Google Shape;820;p33"/>
          <p:cNvCxnSpPr/>
          <p:nvPr/>
        </p:nvCxnSpPr>
        <p:spPr>
          <a:xfrm rot="10800000">
            <a:off x="3535450" y="4149012"/>
            <a:ext cx="104700" cy="795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21" name="Google Shape;821;p33"/>
          <p:cNvSpPr/>
          <p:nvPr/>
        </p:nvSpPr>
        <p:spPr>
          <a:xfrm>
            <a:off x="2621265" y="3294932"/>
            <a:ext cx="1018900" cy="994893"/>
          </a:xfrm>
          <a:custGeom>
            <a:rect b="b" l="l" r="r" t="t"/>
            <a:pathLst>
              <a:path extrusionOk="0" h="45585" w="46685">
                <a:moveTo>
                  <a:pt x="39080" y="38381"/>
                </a:moveTo>
                <a:cubicBezTo>
                  <a:pt x="37589" y="39082"/>
                  <a:pt x="32504" y="41420"/>
                  <a:pt x="30135" y="42588"/>
                </a:cubicBezTo>
                <a:cubicBezTo>
                  <a:pt x="27766" y="43757"/>
                  <a:pt x="26805" y="45158"/>
                  <a:pt x="24865" y="45392"/>
                </a:cubicBezTo>
                <a:cubicBezTo>
                  <a:pt x="22925" y="45626"/>
                  <a:pt x="22404" y="46013"/>
                  <a:pt x="18497" y="43994"/>
                </a:cubicBezTo>
                <a:cubicBezTo>
                  <a:pt x="14590" y="41975"/>
                  <a:pt x="4261" y="36632"/>
                  <a:pt x="1425" y="33276"/>
                </a:cubicBezTo>
                <a:cubicBezTo>
                  <a:pt x="-1411" y="29921"/>
                  <a:pt x="736" y="25960"/>
                  <a:pt x="1483" y="23861"/>
                </a:cubicBezTo>
                <a:cubicBezTo>
                  <a:pt x="2230" y="21762"/>
                  <a:pt x="1889" y="23085"/>
                  <a:pt x="5906" y="20684"/>
                </a:cubicBezTo>
                <a:cubicBezTo>
                  <a:pt x="9923" y="18283"/>
                  <a:pt x="19689" y="12800"/>
                  <a:pt x="25587" y="9454"/>
                </a:cubicBezTo>
                <a:cubicBezTo>
                  <a:pt x="31486" y="6108"/>
                  <a:pt x="37781" y="2053"/>
                  <a:pt x="41297" y="607"/>
                </a:cubicBezTo>
                <a:cubicBezTo>
                  <a:pt x="44813" y="-839"/>
                  <a:pt x="45787" y="749"/>
                  <a:pt x="46685" y="777"/>
                </a:cubicBezTo>
              </a:path>
            </a:pathLst>
          </a:custGeom>
          <a:noFill/>
          <a:ln cap="flat" cmpd="sng" w="117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822" name="Google Shape;822;p33"/>
          <p:cNvCxnSpPr/>
          <p:nvPr/>
        </p:nvCxnSpPr>
        <p:spPr>
          <a:xfrm>
            <a:off x="3655777" y="3311434"/>
            <a:ext cx="590700" cy="332400"/>
          </a:xfrm>
          <a:prstGeom prst="straightConnector1">
            <a:avLst/>
          </a:prstGeom>
          <a:noFill/>
          <a:ln cap="flat" cmpd="sng" w="83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3" name="Google Shape;823;p33"/>
          <p:cNvCxnSpPr/>
          <p:nvPr/>
        </p:nvCxnSpPr>
        <p:spPr>
          <a:xfrm flipH="1">
            <a:off x="4141268" y="3638653"/>
            <a:ext cx="102600" cy="57600"/>
          </a:xfrm>
          <a:prstGeom prst="straightConnector1">
            <a:avLst/>
          </a:prstGeom>
          <a:noFill/>
          <a:ln cap="flat" cmpd="sng" w="83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4" name="Google Shape;824;p33"/>
          <p:cNvCxnSpPr/>
          <p:nvPr/>
        </p:nvCxnSpPr>
        <p:spPr>
          <a:xfrm flipH="1">
            <a:off x="3519837" y="3716306"/>
            <a:ext cx="598800" cy="363300"/>
          </a:xfrm>
          <a:prstGeom prst="straightConnector1">
            <a:avLst/>
          </a:prstGeom>
          <a:noFill/>
          <a:ln cap="flat" cmpd="sng" w="832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5" name="Google Shape;825;p33"/>
          <p:cNvCxnSpPr/>
          <p:nvPr/>
        </p:nvCxnSpPr>
        <p:spPr>
          <a:xfrm>
            <a:off x="3561494" y="4125826"/>
            <a:ext cx="141000" cy="89100"/>
          </a:xfrm>
          <a:prstGeom prst="straightConnector1">
            <a:avLst/>
          </a:prstGeom>
          <a:noFill/>
          <a:ln cap="flat" cmpd="sng" w="832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6" name="Google Shape;826;p33"/>
          <p:cNvSpPr/>
          <p:nvPr/>
        </p:nvSpPr>
        <p:spPr>
          <a:xfrm>
            <a:off x="3378261" y="1691883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27" name="Google Shape;827;p33"/>
          <p:cNvSpPr/>
          <p:nvPr/>
        </p:nvSpPr>
        <p:spPr>
          <a:xfrm>
            <a:off x="3304575" y="1691883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28" name="s021.text.828"/>
          <p:cNvSpPr txBox="1"/>
          <p:nvPr/>
        </p:nvSpPr>
        <p:spPr>
          <a:xfrm>
            <a:off x="3229850" y="1728362"/>
            <a:ext cx="1269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7 : Playa OSL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9" name="s021.text.829"/>
          <p:cNvSpPr txBox="1"/>
          <p:nvPr/>
        </p:nvSpPr>
        <p:spPr>
          <a:xfrm>
            <a:off x="3332048" y="1926242"/>
            <a:ext cx="23355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Balanza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0" name="Google Shape;830;p33"/>
          <p:cNvSpPr/>
          <p:nvPr/>
        </p:nvSpPr>
        <p:spPr>
          <a:xfrm>
            <a:off x="2214132" y="1711010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674EA7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1" name="Google Shape;831;p33"/>
          <p:cNvSpPr/>
          <p:nvPr/>
        </p:nvSpPr>
        <p:spPr>
          <a:xfrm>
            <a:off x="2140446" y="1711010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2" name="s021.text.832"/>
          <p:cNvSpPr txBox="1"/>
          <p:nvPr/>
        </p:nvSpPr>
        <p:spPr>
          <a:xfrm>
            <a:off x="2140451" y="1747496"/>
            <a:ext cx="11643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 : Interplanta </a:t>
            </a:r>
            <a:endParaRPr b="1"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3" name="s021.text.833"/>
          <p:cNvSpPr txBox="1"/>
          <p:nvPr/>
        </p:nvSpPr>
        <p:spPr>
          <a:xfrm>
            <a:off x="2159167" y="1943157"/>
            <a:ext cx="905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Ricardone → San Lorenzo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4" name="Google Shape;834;p33"/>
          <p:cNvSpPr/>
          <p:nvPr/>
        </p:nvSpPr>
        <p:spPr>
          <a:xfrm>
            <a:off x="4548538" y="1702993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5" name="Google Shape;835;p33"/>
          <p:cNvSpPr/>
          <p:nvPr/>
        </p:nvSpPr>
        <p:spPr>
          <a:xfrm>
            <a:off x="4474852" y="1702993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6" name="s021.text.836"/>
          <p:cNvSpPr txBox="1"/>
          <p:nvPr/>
        </p:nvSpPr>
        <p:spPr>
          <a:xfrm>
            <a:off x="4406751" y="1739471"/>
            <a:ext cx="2403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8:  Descarga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7" name="s021.text.837"/>
          <p:cNvSpPr txBox="1"/>
          <p:nvPr/>
        </p:nvSpPr>
        <p:spPr>
          <a:xfrm>
            <a:off x="4493576" y="1935133"/>
            <a:ext cx="2335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Osl → </a:t>
            </a:r>
            <a:b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8" name="s021.text.838"/>
          <p:cNvSpPr txBox="1"/>
          <p:nvPr/>
        </p:nvSpPr>
        <p:spPr>
          <a:xfrm>
            <a:off x="1835752" y="1786805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9" name="s021.text.839"/>
          <p:cNvSpPr txBox="1"/>
          <p:nvPr/>
        </p:nvSpPr>
        <p:spPr>
          <a:xfrm>
            <a:off x="3021316" y="1786816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0" name="s021.text.840"/>
          <p:cNvSpPr txBox="1"/>
          <p:nvPr/>
        </p:nvSpPr>
        <p:spPr>
          <a:xfrm>
            <a:off x="4179274" y="1786816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1" name="Google Shape;841;p33"/>
          <p:cNvSpPr/>
          <p:nvPr/>
        </p:nvSpPr>
        <p:spPr>
          <a:xfrm>
            <a:off x="5706514" y="1709791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42" name="Google Shape;842;p33"/>
          <p:cNvSpPr/>
          <p:nvPr/>
        </p:nvSpPr>
        <p:spPr>
          <a:xfrm>
            <a:off x="5632828" y="1709791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43" name="s021.text.843"/>
          <p:cNvSpPr txBox="1"/>
          <p:nvPr/>
        </p:nvSpPr>
        <p:spPr>
          <a:xfrm>
            <a:off x="5632828" y="1746268"/>
            <a:ext cx="2335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9 : Salida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4" name="s021.text.844"/>
          <p:cNvSpPr txBox="1"/>
          <p:nvPr/>
        </p:nvSpPr>
        <p:spPr>
          <a:xfrm>
            <a:off x="5651551" y="1941931"/>
            <a:ext cx="2335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 → </a:t>
            </a:r>
            <a:b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Portería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5" name="s021.text.845"/>
          <p:cNvSpPr txBox="1"/>
          <p:nvPr/>
        </p:nvSpPr>
        <p:spPr>
          <a:xfrm>
            <a:off x="5337249" y="1793614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6" name="Google Shape;846;p33"/>
          <p:cNvSpPr/>
          <p:nvPr/>
        </p:nvSpPr>
        <p:spPr>
          <a:xfrm>
            <a:off x="3978998" y="3698877"/>
            <a:ext cx="126300" cy="1221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7" name="Google Shape;847;p33"/>
          <p:cNvSpPr/>
          <p:nvPr/>
        </p:nvSpPr>
        <p:spPr>
          <a:xfrm>
            <a:off x="2993525" y="3501450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8" name="Google Shape;848;p33"/>
          <p:cNvSpPr/>
          <p:nvPr/>
        </p:nvSpPr>
        <p:spPr>
          <a:xfrm>
            <a:off x="2333722" y="4036754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9" name="Google Shape;849;p33"/>
          <p:cNvSpPr/>
          <p:nvPr/>
        </p:nvSpPr>
        <p:spPr>
          <a:xfrm>
            <a:off x="2337676" y="3898400"/>
            <a:ext cx="102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50" name="s021.text.850"/>
          <p:cNvSpPr txBox="1"/>
          <p:nvPr/>
        </p:nvSpPr>
        <p:spPr>
          <a:xfrm>
            <a:off x="2297409" y="3957854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1" name="s021.text.851"/>
          <p:cNvSpPr txBox="1"/>
          <p:nvPr/>
        </p:nvSpPr>
        <p:spPr>
          <a:xfrm>
            <a:off x="2954984" y="3422554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2" name="s021.text.852"/>
          <p:cNvSpPr txBox="1"/>
          <p:nvPr/>
        </p:nvSpPr>
        <p:spPr>
          <a:xfrm>
            <a:off x="3946309" y="36336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3" name="s021.text.853"/>
          <p:cNvSpPr txBox="1"/>
          <p:nvPr/>
        </p:nvSpPr>
        <p:spPr>
          <a:xfrm>
            <a:off x="2291534" y="382097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4" name="Google Shape;854;p33"/>
          <p:cNvSpPr/>
          <p:nvPr/>
        </p:nvSpPr>
        <p:spPr>
          <a:xfrm>
            <a:off x="3258997" y="4311429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55" name="s021.text.855"/>
          <p:cNvSpPr txBox="1"/>
          <p:nvPr/>
        </p:nvSpPr>
        <p:spPr>
          <a:xfrm>
            <a:off x="3220459" y="42325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87" name="s021.text.78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R30/31/32/ | Producto:Pellets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8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21/72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" name="Google Shape;860;p3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3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s022.text.864"/>
          <p:cNvSpPr txBox="1"/>
          <p:nvPr/>
        </p:nvSpPr>
        <p:spPr>
          <a:xfrm>
            <a:off x="762700" y="2868363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5" name="Google Shape;865;p34"/>
          <p:cNvSpPr/>
          <p:nvPr/>
        </p:nvSpPr>
        <p:spPr>
          <a:xfrm>
            <a:off x="772925" y="3224550"/>
            <a:ext cx="3081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34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67" name="Google Shape;867;p34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68" name="Google Shape;868;p34"/>
          <p:cNvSpPr/>
          <p:nvPr/>
        </p:nvSpPr>
        <p:spPr>
          <a:xfrm>
            <a:off x="289000" y="1380925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34"/>
          <p:cNvSpPr/>
          <p:nvPr/>
        </p:nvSpPr>
        <p:spPr>
          <a:xfrm>
            <a:off x="955127" y="1380925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0" name="Google Shape;870;p34"/>
          <p:cNvCxnSpPr>
            <a:stCxn id="868" idx="6"/>
            <a:endCxn id="869" idx="2"/>
          </p:cNvCxnSpPr>
          <p:nvPr/>
        </p:nvCxnSpPr>
        <p:spPr>
          <a:xfrm>
            <a:off x="438700" y="1438675"/>
            <a:ext cx="5163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1" name="Google Shape;871;p34"/>
          <p:cNvCxnSpPr/>
          <p:nvPr/>
        </p:nvCxnSpPr>
        <p:spPr>
          <a:xfrm>
            <a:off x="1107042" y="1436749"/>
            <a:ext cx="948000" cy="21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2" name="Google Shape;872;p34"/>
          <p:cNvSpPr/>
          <p:nvPr/>
        </p:nvSpPr>
        <p:spPr>
          <a:xfrm>
            <a:off x="2068946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s022.text.873"/>
          <p:cNvSpPr txBox="1"/>
          <p:nvPr/>
        </p:nvSpPr>
        <p:spPr>
          <a:xfrm>
            <a:off x="294300" y="10269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4" name="s022.text.874"/>
          <p:cNvSpPr txBox="1"/>
          <p:nvPr/>
        </p:nvSpPr>
        <p:spPr>
          <a:xfrm>
            <a:off x="1150513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Playa 1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5" name="s022.text.875"/>
          <p:cNvSpPr txBox="1"/>
          <p:nvPr/>
        </p:nvSpPr>
        <p:spPr>
          <a:xfrm>
            <a:off x="4374200" y="2138610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263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6" name="s022.text.876"/>
          <p:cNvSpPr txBox="1"/>
          <p:nvPr/>
        </p:nvSpPr>
        <p:spPr>
          <a:xfrm>
            <a:off x="410400" y="2859400"/>
            <a:ext cx="50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7" name="s022.text.877"/>
          <p:cNvSpPr txBox="1"/>
          <p:nvPr/>
        </p:nvSpPr>
        <p:spPr>
          <a:xfrm>
            <a:off x="4475875" y="19778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78" name="Google Shape;878;p34"/>
          <p:cNvSpPr/>
          <p:nvPr/>
        </p:nvSpPr>
        <p:spPr>
          <a:xfrm>
            <a:off x="2766102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9" name="Google Shape;879;p34"/>
          <p:cNvCxnSpPr>
            <a:endCxn id="878" idx="2"/>
          </p:cNvCxnSpPr>
          <p:nvPr/>
        </p:nvCxnSpPr>
        <p:spPr>
          <a:xfrm>
            <a:off x="2223402" y="1438302"/>
            <a:ext cx="542700" cy="210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0" name="Google Shape;880;p34"/>
          <p:cNvSpPr/>
          <p:nvPr/>
        </p:nvSpPr>
        <p:spPr>
          <a:xfrm>
            <a:off x="3432271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1" name="Google Shape;881;p34"/>
          <p:cNvCxnSpPr>
            <a:endCxn id="880" idx="2"/>
          </p:cNvCxnSpPr>
          <p:nvPr/>
        </p:nvCxnSpPr>
        <p:spPr>
          <a:xfrm>
            <a:off x="2915971" y="1440402"/>
            <a:ext cx="5163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2" name="Google Shape;882;p34"/>
          <p:cNvSpPr/>
          <p:nvPr/>
        </p:nvSpPr>
        <p:spPr>
          <a:xfrm>
            <a:off x="4462555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3" name="Google Shape;883;p34"/>
          <p:cNvCxnSpPr>
            <a:stCxn id="880" idx="6"/>
            <a:endCxn id="882" idx="2"/>
          </p:cNvCxnSpPr>
          <p:nvPr/>
        </p:nvCxnSpPr>
        <p:spPr>
          <a:xfrm>
            <a:off x="3581971" y="1440402"/>
            <a:ext cx="8805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4" name="Google Shape;884;p34"/>
          <p:cNvSpPr/>
          <p:nvPr/>
        </p:nvSpPr>
        <p:spPr>
          <a:xfrm>
            <a:off x="5430694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5" name="Google Shape;885;p34"/>
          <p:cNvCxnSpPr>
            <a:stCxn id="882" idx="6"/>
            <a:endCxn id="884" idx="2"/>
          </p:cNvCxnSpPr>
          <p:nvPr/>
        </p:nvCxnSpPr>
        <p:spPr>
          <a:xfrm>
            <a:off x="4612255" y="1440402"/>
            <a:ext cx="8184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6" name="s022.text.886"/>
          <p:cNvSpPr txBox="1"/>
          <p:nvPr/>
        </p:nvSpPr>
        <p:spPr>
          <a:xfrm>
            <a:off x="2157100" y="102692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P.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Tara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7" name="s022.text.887"/>
          <p:cNvSpPr txBox="1"/>
          <p:nvPr/>
        </p:nvSpPr>
        <p:spPr>
          <a:xfrm>
            <a:off x="3652900" y="1040337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latin typeface="Inter"/>
                <a:ea typeface="Inter"/>
                <a:cs typeface="Inter"/>
                <a:sym typeface="Inter"/>
              </a:rPr>
              <a:t>Playa 3</a:t>
            </a:r>
            <a:endParaRPr b="1" sz="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8" name="s022.text.888"/>
          <p:cNvSpPr txBox="1"/>
          <p:nvPr/>
        </p:nvSpPr>
        <p:spPr>
          <a:xfrm>
            <a:off x="2766088" y="102486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Acceso P3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9" name="s022.text.889"/>
          <p:cNvSpPr txBox="1"/>
          <p:nvPr/>
        </p:nvSpPr>
        <p:spPr>
          <a:xfrm>
            <a:off x="4540938" y="851563"/>
            <a:ext cx="96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  Interplanta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0" name="s022.text.890"/>
          <p:cNvSpPr txBox="1"/>
          <p:nvPr/>
        </p:nvSpPr>
        <p:spPr>
          <a:xfrm>
            <a:off x="1060263" y="2852013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1" name="s022.text.891"/>
          <p:cNvSpPr txBox="1"/>
          <p:nvPr/>
        </p:nvSpPr>
        <p:spPr>
          <a:xfrm>
            <a:off x="1281480" y="2852025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2" name="s022.text.892"/>
          <p:cNvSpPr txBox="1"/>
          <p:nvPr/>
        </p:nvSpPr>
        <p:spPr>
          <a:xfrm>
            <a:off x="2824338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3" name="s022.text.893"/>
          <p:cNvSpPr txBox="1"/>
          <p:nvPr/>
        </p:nvSpPr>
        <p:spPr>
          <a:xfrm>
            <a:off x="4888412" y="2851650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4" name="Google Shape;894;p34"/>
          <p:cNvSpPr/>
          <p:nvPr/>
        </p:nvSpPr>
        <p:spPr>
          <a:xfrm>
            <a:off x="1663700" y="3224550"/>
            <a:ext cx="30681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34"/>
          <p:cNvSpPr/>
          <p:nvPr/>
        </p:nvSpPr>
        <p:spPr>
          <a:xfrm>
            <a:off x="4731800" y="3236025"/>
            <a:ext cx="8781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34"/>
          <p:cNvSpPr/>
          <p:nvPr/>
        </p:nvSpPr>
        <p:spPr>
          <a:xfrm>
            <a:off x="1399376" y="3230125"/>
            <a:ext cx="2820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34"/>
          <p:cNvSpPr/>
          <p:nvPr/>
        </p:nvSpPr>
        <p:spPr>
          <a:xfrm>
            <a:off x="1077513" y="3224550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34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899" name="Google Shape;899;p34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00" name="s022.text.900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901" name="s022.text.901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185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02" name="Google Shape;902;p34"/>
          <p:cNvCxnSpPr/>
          <p:nvPr/>
        </p:nvCxnSpPr>
        <p:spPr>
          <a:xfrm>
            <a:off x="5580347" y="1443315"/>
            <a:ext cx="1213200" cy="12900"/>
          </a:xfrm>
          <a:prstGeom prst="straightConnector1">
            <a:avLst/>
          </a:prstGeom>
          <a:noFill/>
          <a:ln cap="flat" cmpd="sng" w="28575">
            <a:solidFill>
              <a:srgbClr val="00154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3" name="Google Shape;903;p34"/>
          <p:cNvSpPr/>
          <p:nvPr/>
        </p:nvSpPr>
        <p:spPr>
          <a:xfrm>
            <a:off x="6789327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34"/>
          <p:cNvSpPr/>
          <p:nvPr/>
        </p:nvSpPr>
        <p:spPr>
          <a:xfrm>
            <a:off x="7819611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5" name="Google Shape;905;p34"/>
          <p:cNvCxnSpPr>
            <a:stCxn id="903" idx="6"/>
            <a:endCxn id="904" idx="2"/>
          </p:cNvCxnSpPr>
          <p:nvPr/>
        </p:nvCxnSpPr>
        <p:spPr>
          <a:xfrm>
            <a:off x="6939027" y="1445242"/>
            <a:ext cx="880500" cy="0"/>
          </a:xfrm>
          <a:prstGeom prst="straightConnector1">
            <a:avLst/>
          </a:prstGeom>
          <a:noFill/>
          <a:ln cap="flat" cmpd="sng" w="28575">
            <a:solidFill>
              <a:srgbClr val="C27BA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6" name="Google Shape;906;p34"/>
          <p:cNvSpPr/>
          <p:nvPr/>
        </p:nvSpPr>
        <p:spPr>
          <a:xfrm>
            <a:off x="8787750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7" name="Google Shape;907;p34"/>
          <p:cNvCxnSpPr>
            <a:stCxn id="904" idx="6"/>
            <a:endCxn id="906" idx="2"/>
          </p:cNvCxnSpPr>
          <p:nvPr/>
        </p:nvCxnSpPr>
        <p:spPr>
          <a:xfrm>
            <a:off x="7969311" y="1445242"/>
            <a:ext cx="818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8" name="s022.text.908"/>
          <p:cNvSpPr txBox="1"/>
          <p:nvPr/>
        </p:nvSpPr>
        <p:spPr>
          <a:xfrm>
            <a:off x="5627025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 Playa OSL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9" name="s022.text.909"/>
          <p:cNvSpPr txBox="1"/>
          <p:nvPr/>
        </p:nvSpPr>
        <p:spPr>
          <a:xfrm>
            <a:off x="6856150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0" name="s022.text.910"/>
          <p:cNvSpPr txBox="1"/>
          <p:nvPr/>
        </p:nvSpPr>
        <p:spPr>
          <a:xfrm>
            <a:off x="7969975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Salida SLZ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1" name="Google Shape;911;p34"/>
          <p:cNvSpPr/>
          <p:nvPr/>
        </p:nvSpPr>
        <p:spPr>
          <a:xfrm>
            <a:off x="5578841" y="3236025"/>
            <a:ext cx="7254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34"/>
          <p:cNvSpPr/>
          <p:nvPr/>
        </p:nvSpPr>
        <p:spPr>
          <a:xfrm>
            <a:off x="6309260" y="3236025"/>
            <a:ext cx="16482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34"/>
          <p:cNvSpPr/>
          <p:nvPr/>
        </p:nvSpPr>
        <p:spPr>
          <a:xfrm>
            <a:off x="7957380" y="3236025"/>
            <a:ext cx="6150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s022.text.914"/>
          <p:cNvSpPr txBox="1"/>
          <p:nvPr/>
        </p:nvSpPr>
        <p:spPr>
          <a:xfrm>
            <a:off x="5702599" y="28516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5" name="s022.text.915"/>
          <p:cNvSpPr txBox="1"/>
          <p:nvPr/>
        </p:nvSpPr>
        <p:spPr>
          <a:xfrm>
            <a:off x="7064274" y="28828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6" name="s022.text.916"/>
          <p:cNvSpPr txBox="1"/>
          <p:nvPr/>
        </p:nvSpPr>
        <p:spPr>
          <a:xfrm>
            <a:off x="8029950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7" name="s022.text.917"/>
          <p:cNvSpPr txBox="1"/>
          <p:nvPr/>
        </p:nvSpPr>
        <p:spPr>
          <a:xfrm>
            <a:off x="68047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8" name="s022.text.918"/>
          <p:cNvSpPr txBox="1"/>
          <p:nvPr/>
        </p:nvSpPr>
        <p:spPr>
          <a:xfrm>
            <a:off x="14350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9" name="s022.text.919"/>
          <p:cNvSpPr txBox="1"/>
          <p:nvPr/>
        </p:nvSpPr>
        <p:spPr>
          <a:xfrm>
            <a:off x="2625875" y="1539300"/>
            <a:ext cx="593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Ing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0" name="s022.text.920"/>
          <p:cNvSpPr txBox="1"/>
          <p:nvPr/>
        </p:nvSpPr>
        <p:spPr>
          <a:xfrm>
            <a:off x="1794300" y="15904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1" name="s022.text.921"/>
          <p:cNvSpPr txBox="1"/>
          <p:nvPr/>
        </p:nvSpPr>
        <p:spPr>
          <a:xfrm>
            <a:off x="5270900" y="1559888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 SLZ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2" name="s022.text.922"/>
          <p:cNvSpPr txBox="1"/>
          <p:nvPr/>
        </p:nvSpPr>
        <p:spPr>
          <a:xfrm>
            <a:off x="4298950" y="1552350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3" name="s022.text.923"/>
          <p:cNvSpPr txBox="1"/>
          <p:nvPr/>
        </p:nvSpPr>
        <p:spPr>
          <a:xfrm>
            <a:off x="7657625" y="15796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4" name="s022.text.924"/>
          <p:cNvSpPr txBox="1"/>
          <p:nvPr/>
        </p:nvSpPr>
        <p:spPr>
          <a:xfrm>
            <a:off x="6665875" y="15599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5" name="s022.text.925"/>
          <p:cNvSpPr txBox="1"/>
          <p:nvPr/>
        </p:nvSpPr>
        <p:spPr>
          <a:xfrm>
            <a:off x="3246625" y="1584250"/>
            <a:ext cx="593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Playa 3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6" name="s022.text.926"/>
          <p:cNvSpPr txBox="1"/>
          <p:nvPr/>
        </p:nvSpPr>
        <p:spPr>
          <a:xfrm>
            <a:off x="864937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7" name="s022.text.927"/>
          <p:cNvSpPr/>
          <p:nvPr/>
        </p:nvSpPr>
        <p:spPr>
          <a:xfrm>
            <a:off x="458000" y="3762775"/>
            <a:ext cx="42366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928" name="s022.text.928"/>
          <p:cNvSpPr/>
          <p:nvPr/>
        </p:nvSpPr>
        <p:spPr>
          <a:xfrm>
            <a:off x="5603000" y="3762775"/>
            <a:ext cx="29694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929" name="s022.text.929"/>
          <p:cNvSpPr txBox="1"/>
          <p:nvPr/>
        </p:nvSpPr>
        <p:spPr>
          <a:xfrm>
            <a:off x="1539050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0" name="s022.text.930"/>
          <p:cNvSpPr txBox="1"/>
          <p:nvPr/>
        </p:nvSpPr>
        <p:spPr>
          <a:xfrm>
            <a:off x="6406675" y="395972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77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1" name="s022.text.931"/>
          <p:cNvSpPr txBox="1"/>
          <p:nvPr/>
        </p:nvSpPr>
        <p:spPr>
          <a:xfrm>
            <a:off x="4438050" y="2512350"/>
            <a:ext cx="1228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23 min)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32" name="s022.text.932"/>
          <p:cNvSpPr txBox="1"/>
          <p:nvPr/>
        </p:nvSpPr>
        <p:spPr>
          <a:xfrm>
            <a:off x="1539050" y="4443850"/>
            <a:ext cx="10869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42 min)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33" name="s022.text.933"/>
          <p:cNvSpPr txBox="1"/>
          <p:nvPr/>
        </p:nvSpPr>
        <p:spPr>
          <a:xfrm>
            <a:off x="6271700" y="44347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63" name="s022.text.86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 | Producto:Pellet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93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22/72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8" name="Google Shape;938;p3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3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s023.text.942"/>
          <p:cNvSpPr txBox="1"/>
          <p:nvPr/>
        </p:nvSpPr>
        <p:spPr>
          <a:xfrm>
            <a:off x="878525" y="2874688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3" name="Google Shape;943;p35"/>
          <p:cNvSpPr/>
          <p:nvPr/>
        </p:nvSpPr>
        <p:spPr>
          <a:xfrm>
            <a:off x="772925" y="3224550"/>
            <a:ext cx="6990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35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5" name="Google Shape;945;p35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946" name="s023.text.946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210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7" name="s023.text.947"/>
          <p:cNvSpPr txBox="1"/>
          <p:nvPr/>
        </p:nvSpPr>
        <p:spPr>
          <a:xfrm>
            <a:off x="370800" y="2859400"/>
            <a:ext cx="54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8" name="s023.text.948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49" name="s023.text.949"/>
          <p:cNvSpPr txBox="1"/>
          <p:nvPr/>
        </p:nvSpPr>
        <p:spPr>
          <a:xfrm>
            <a:off x="1472750" y="2859400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0" name="s023.text.950"/>
          <p:cNvSpPr txBox="1"/>
          <p:nvPr/>
        </p:nvSpPr>
        <p:spPr>
          <a:xfrm>
            <a:off x="1721230" y="2852013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1" name="s023.text.951"/>
          <p:cNvSpPr txBox="1"/>
          <p:nvPr/>
        </p:nvSpPr>
        <p:spPr>
          <a:xfrm>
            <a:off x="3421675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2" name="s023.text.952"/>
          <p:cNvSpPr txBox="1"/>
          <p:nvPr/>
        </p:nvSpPr>
        <p:spPr>
          <a:xfrm>
            <a:off x="4867624" y="285878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3" name="Google Shape;953;p35"/>
          <p:cNvSpPr/>
          <p:nvPr/>
        </p:nvSpPr>
        <p:spPr>
          <a:xfrm>
            <a:off x="2267400" y="3236000"/>
            <a:ext cx="26304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35"/>
          <p:cNvSpPr/>
          <p:nvPr/>
        </p:nvSpPr>
        <p:spPr>
          <a:xfrm>
            <a:off x="4897804" y="3236025"/>
            <a:ext cx="542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35"/>
          <p:cNvSpPr/>
          <p:nvPr/>
        </p:nvSpPr>
        <p:spPr>
          <a:xfrm>
            <a:off x="1804202" y="3217488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35"/>
          <p:cNvSpPr/>
          <p:nvPr/>
        </p:nvSpPr>
        <p:spPr>
          <a:xfrm>
            <a:off x="1458100" y="3219325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35"/>
          <p:cNvSpPr/>
          <p:nvPr/>
        </p:nvSpPr>
        <p:spPr>
          <a:xfrm>
            <a:off x="5439120" y="3236028"/>
            <a:ext cx="13212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35"/>
          <p:cNvSpPr/>
          <p:nvPr/>
        </p:nvSpPr>
        <p:spPr>
          <a:xfrm>
            <a:off x="6725200" y="3236025"/>
            <a:ext cx="10740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35"/>
          <p:cNvSpPr/>
          <p:nvPr/>
        </p:nvSpPr>
        <p:spPr>
          <a:xfrm>
            <a:off x="7769575" y="3236025"/>
            <a:ext cx="8028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s023.text.960"/>
          <p:cNvSpPr txBox="1"/>
          <p:nvPr/>
        </p:nvSpPr>
        <p:spPr>
          <a:xfrm>
            <a:off x="5595637" y="28552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1" name="s023.text.961"/>
          <p:cNvSpPr txBox="1"/>
          <p:nvPr/>
        </p:nvSpPr>
        <p:spPr>
          <a:xfrm>
            <a:off x="6690933" y="2859400"/>
            <a:ext cx="94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2" name="s023.text.962"/>
          <p:cNvSpPr txBox="1"/>
          <p:nvPr/>
        </p:nvSpPr>
        <p:spPr>
          <a:xfrm>
            <a:off x="7846187" y="285306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3" name="Google Shape;963;p35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4" name="Google Shape;964;p35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5" name="Google Shape;965;p35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6" name="Google Shape;966;p35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7" name="Google Shape;967;p35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8" name="Google Shape;968;p35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9" name="Google Shape;969;p35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70" name="Google Shape;970;p35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71" name="s023.text.971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2" name="s023.text.972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3" name="s023.text.973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4" name="s023.text.974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5" name="s023.text.975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6" name="s023.text.976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7" name="s023.text.977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8" name="s023.text.978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9" name="Google Shape;979;p35"/>
          <p:cNvSpPr txBox="1"/>
          <p:nvPr/>
        </p:nvSpPr>
        <p:spPr>
          <a:xfrm>
            <a:off x="837898" y="1376730"/>
            <a:ext cx="9903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78525" lIns="78525" spcFirstLastPara="1" rIns="78525" wrap="square" tIns="78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6">
              <a:solidFill>
                <a:srgbClr val="073763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0" name="s023.text.980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1" name="s023.text.981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</a:t>
            </a: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2" name="s023.text.982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36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3" name="s023.text.983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102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4" name="Google Shape;984;p35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85" name="Google Shape;985;p35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86" name="s023.text.986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987" name="s023.text.987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138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8" name="s023.text.988"/>
          <p:cNvSpPr/>
          <p:nvPr/>
        </p:nvSpPr>
        <p:spPr>
          <a:xfrm>
            <a:off x="458000" y="3762775"/>
            <a:ext cx="44679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989" name="s023.text.989"/>
          <p:cNvSpPr/>
          <p:nvPr/>
        </p:nvSpPr>
        <p:spPr>
          <a:xfrm>
            <a:off x="5440500" y="3762775"/>
            <a:ext cx="31095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990" name="s023.text.990"/>
          <p:cNvSpPr txBox="1"/>
          <p:nvPr/>
        </p:nvSpPr>
        <p:spPr>
          <a:xfrm>
            <a:off x="1211575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103</a:t>
            </a: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1" name="s023.text.991"/>
          <p:cNvSpPr txBox="1"/>
          <p:nvPr/>
        </p:nvSpPr>
        <p:spPr>
          <a:xfrm>
            <a:off x="6835225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71</a:t>
            </a: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2" name="s023.text.992"/>
          <p:cNvSpPr txBox="1"/>
          <p:nvPr/>
        </p:nvSpPr>
        <p:spPr>
          <a:xfrm>
            <a:off x="1674375" y="4025350"/>
            <a:ext cx="1074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43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93" name="s023.text.993"/>
          <p:cNvSpPr txBox="1"/>
          <p:nvPr/>
        </p:nvSpPr>
        <p:spPr>
          <a:xfrm>
            <a:off x="7349500" y="39986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11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94" name="s023.text.994"/>
          <p:cNvSpPr txBox="1"/>
          <p:nvPr/>
        </p:nvSpPr>
        <p:spPr>
          <a:xfrm>
            <a:off x="4057200" y="250677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41" name="s023.text.94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99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23/72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9" name="Google Shape;999;p3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3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s024.text.1003"/>
          <p:cNvSpPr txBox="1"/>
          <p:nvPr/>
        </p:nvSpPr>
        <p:spPr>
          <a:xfrm>
            <a:off x="878525" y="2874688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9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4" name="Google Shape;1004;p36"/>
          <p:cNvSpPr/>
          <p:nvPr/>
        </p:nvSpPr>
        <p:spPr>
          <a:xfrm>
            <a:off x="772925" y="3224550"/>
            <a:ext cx="6990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36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6" name="Google Shape;1006;p36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007" name="s024.text.1007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268</a:t>
            </a: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8" name="s024.text.1008"/>
          <p:cNvSpPr txBox="1"/>
          <p:nvPr/>
        </p:nvSpPr>
        <p:spPr>
          <a:xfrm>
            <a:off x="428625" y="2859400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9" name="s024.text.1009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10" name="s024.text.1010"/>
          <p:cNvSpPr txBox="1"/>
          <p:nvPr/>
        </p:nvSpPr>
        <p:spPr>
          <a:xfrm>
            <a:off x="1472750" y="2859400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1" name="s024.text.1011"/>
          <p:cNvSpPr txBox="1"/>
          <p:nvPr/>
        </p:nvSpPr>
        <p:spPr>
          <a:xfrm>
            <a:off x="1721230" y="2852013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2" name="s024.text.1012"/>
          <p:cNvSpPr txBox="1"/>
          <p:nvPr/>
        </p:nvSpPr>
        <p:spPr>
          <a:xfrm>
            <a:off x="3217513" y="285202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3" name="s024.text.1013"/>
          <p:cNvSpPr txBox="1"/>
          <p:nvPr/>
        </p:nvSpPr>
        <p:spPr>
          <a:xfrm>
            <a:off x="4897938" y="282028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4" name="Google Shape;1014;p36"/>
          <p:cNvSpPr/>
          <p:nvPr/>
        </p:nvSpPr>
        <p:spPr>
          <a:xfrm>
            <a:off x="2267400" y="3236000"/>
            <a:ext cx="25740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36"/>
          <p:cNvSpPr/>
          <p:nvPr/>
        </p:nvSpPr>
        <p:spPr>
          <a:xfrm>
            <a:off x="4825250" y="3240125"/>
            <a:ext cx="824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36"/>
          <p:cNvSpPr/>
          <p:nvPr/>
        </p:nvSpPr>
        <p:spPr>
          <a:xfrm>
            <a:off x="1804202" y="3217488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36"/>
          <p:cNvSpPr/>
          <p:nvPr/>
        </p:nvSpPr>
        <p:spPr>
          <a:xfrm>
            <a:off x="1458100" y="3219325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36"/>
          <p:cNvSpPr/>
          <p:nvPr/>
        </p:nvSpPr>
        <p:spPr>
          <a:xfrm>
            <a:off x="5612066" y="3240125"/>
            <a:ext cx="9222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36"/>
          <p:cNvSpPr/>
          <p:nvPr/>
        </p:nvSpPr>
        <p:spPr>
          <a:xfrm>
            <a:off x="6507780" y="3240125"/>
            <a:ext cx="11691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36"/>
          <p:cNvSpPr/>
          <p:nvPr/>
        </p:nvSpPr>
        <p:spPr>
          <a:xfrm>
            <a:off x="7650152" y="3236025"/>
            <a:ext cx="9222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s024.text.1021"/>
          <p:cNvSpPr txBox="1"/>
          <p:nvPr/>
        </p:nvSpPr>
        <p:spPr>
          <a:xfrm>
            <a:off x="5702862" y="28202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2" name="s024.text.1022"/>
          <p:cNvSpPr txBox="1"/>
          <p:nvPr/>
        </p:nvSpPr>
        <p:spPr>
          <a:xfrm>
            <a:off x="6732149" y="28202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3" name="s024.text.1023"/>
          <p:cNvSpPr txBox="1"/>
          <p:nvPr/>
        </p:nvSpPr>
        <p:spPr>
          <a:xfrm>
            <a:off x="7992287" y="285938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4" name="Google Shape;1024;p36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5" name="Google Shape;1025;p36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6" name="Google Shape;1026;p36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7" name="Google Shape;1027;p36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8" name="Google Shape;1028;p36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9" name="Google Shape;1029;p36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0" name="Google Shape;1030;p36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1" name="Google Shape;1031;p36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2" name="s024.text.1032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3" name="s024.text.1033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4" name="s024.text.1034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5" name="s024.text.1035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6" name="s024.text.1036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7" name="s024.text.1037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8" name="s024.text.1038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9" name="s024.text.1039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0" name="Google Shape;1040;p36"/>
          <p:cNvSpPr txBox="1"/>
          <p:nvPr/>
        </p:nvSpPr>
        <p:spPr>
          <a:xfrm>
            <a:off x="837898" y="1376730"/>
            <a:ext cx="9903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78525" lIns="78525" spcFirstLastPara="1" rIns="78525" wrap="square" tIns="78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6">
              <a:solidFill>
                <a:srgbClr val="073763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1" name="s024.text.1041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27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2" name="s024.text.1042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23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3" name="s024.text.1043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4" name="s024.text.1044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5" name="Google Shape;1045;p36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046" name="Google Shape;1046;p36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047" name="s024.text.1047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1048" name="s024.text.1048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50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9" name="s024.text.1049"/>
          <p:cNvSpPr/>
          <p:nvPr/>
        </p:nvSpPr>
        <p:spPr>
          <a:xfrm>
            <a:off x="458000" y="3762775"/>
            <a:ext cx="43671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1050" name="s024.text.1050"/>
          <p:cNvSpPr/>
          <p:nvPr/>
        </p:nvSpPr>
        <p:spPr>
          <a:xfrm>
            <a:off x="5633775" y="3762775"/>
            <a:ext cx="2916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1051" name="s024.text.1051"/>
          <p:cNvSpPr txBox="1"/>
          <p:nvPr/>
        </p:nvSpPr>
        <p:spPr>
          <a:xfrm>
            <a:off x="1931175" y="389135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2" name="s024.text.1052"/>
          <p:cNvSpPr txBox="1"/>
          <p:nvPr/>
        </p:nvSpPr>
        <p:spPr>
          <a:xfrm>
            <a:off x="6643250" y="389135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76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3" name="s024.text.1053"/>
          <p:cNvSpPr txBox="1"/>
          <p:nvPr/>
        </p:nvSpPr>
        <p:spPr>
          <a:xfrm>
            <a:off x="2495725" y="40094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54" name="s024.text.1054"/>
          <p:cNvSpPr txBox="1"/>
          <p:nvPr/>
        </p:nvSpPr>
        <p:spPr>
          <a:xfrm>
            <a:off x="6457250" y="44438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16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55" name="s024.text.1055"/>
          <p:cNvSpPr txBox="1"/>
          <p:nvPr/>
        </p:nvSpPr>
        <p:spPr>
          <a:xfrm>
            <a:off x="4057200" y="250677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02" name="s024.text.100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 30/31/32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24/72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0" name="Google Shape;1060;p3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1" name="Google Shape;1061;p3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s025.text.106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6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25/72</a:t>
            </a:r>
          </a:p>
        </p:txBody>
      </p:sp>
      <p:sp>
        <p:nvSpPr>
          <p:cNvPr id="1066" name="TextBox 1065"/>
          <p:cNvSpPr txBox="1"/>
          <p:nvPr/>
        </p:nvSpPr>
        <p:spPr>
          <a:xfrm>
            <a:off x="1625150" y="74312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Tiempo Ricardone vs San Lorenzo (min)</a:t>
            </a:r>
          </a:p>
        </p:txBody>
      </p:sp>
      <p:sp>
        <p:nvSpPr>
          <p:cNvPr id="1067" name="Rectangle 1066"/>
          <p:cNvSpPr/>
          <p:nvPr/>
        </p:nvSpPr>
        <p:spPr>
          <a:xfrm>
            <a:off x="3257600" y="1073124"/>
            <a:ext cx="150000" cy="150000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TextBox 1067"/>
          <p:cNvSpPr txBox="1"/>
          <p:nvPr/>
        </p:nvSpPr>
        <p:spPr>
          <a:xfrm>
            <a:off x="3437600" y="1053124"/>
            <a:ext cx="15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Ricardone</a:t>
            </a:r>
          </a:p>
        </p:txBody>
      </p:sp>
      <p:sp>
        <p:nvSpPr>
          <p:cNvPr id="1069" name="Rectangle 1068"/>
          <p:cNvSpPr/>
          <p:nvPr/>
        </p:nvSpPr>
        <p:spPr>
          <a:xfrm>
            <a:off x="5257600" y="1073124"/>
            <a:ext cx="150000" cy="150000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0" name="TextBox 1069"/>
          <p:cNvSpPr txBox="1"/>
          <p:nvPr/>
        </p:nvSpPr>
        <p:spPr>
          <a:xfrm>
            <a:off x="5437600" y="1053124"/>
            <a:ext cx="15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San Lorenzo</a:t>
            </a:r>
          </a:p>
        </p:txBody>
      </p:sp>
      <p:sp>
        <p:nvSpPr>
          <p:cNvPr id="1071" name="TextBox 1070"/>
          <p:cNvSpPr txBox="1"/>
          <p:nvPr/>
        </p:nvSpPr>
        <p:spPr>
          <a:xfrm>
            <a:off x="1625150" y="1313124"/>
            <a:ext cx="1058300" cy="181791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Lunes 14/09</a:t>
            </a:r>
          </a:p>
        </p:txBody>
      </p:sp>
      <p:sp>
        <p:nvSpPr>
          <p:cNvPr id="1072" name="Rectangle 1071"/>
          <p:cNvSpPr/>
          <p:nvPr/>
        </p:nvSpPr>
        <p:spPr>
          <a:xfrm>
            <a:off x="2713450" y="1658527"/>
            <a:ext cx="2269922" cy="1127106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TextBox 1072"/>
          <p:cNvSpPr txBox="1"/>
          <p:nvPr/>
        </p:nvSpPr>
        <p:spPr>
          <a:xfrm>
            <a:off x="2713450" y="1658527"/>
            <a:ext cx="2269922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103</a:t>
            </a:r>
          </a:p>
        </p:txBody>
      </p:sp>
      <p:sp>
        <p:nvSpPr>
          <p:cNvPr id="1074" name="Rectangle 1073"/>
          <p:cNvSpPr/>
          <p:nvPr/>
        </p:nvSpPr>
        <p:spPr>
          <a:xfrm>
            <a:off x="4983372" y="1658527"/>
            <a:ext cx="1564703" cy="1127106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TextBox 1074"/>
          <p:cNvSpPr txBox="1"/>
          <p:nvPr/>
        </p:nvSpPr>
        <p:spPr>
          <a:xfrm>
            <a:off x="4983372" y="1658527"/>
            <a:ext cx="1564703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71</a:t>
            </a:r>
          </a:p>
        </p:txBody>
      </p:sp>
      <p:sp>
        <p:nvSpPr>
          <p:cNvPr id="1076" name="TextBox 1075"/>
          <p:cNvSpPr txBox="1"/>
          <p:nvPr/>
        </p:nvSpPr>
        <p:spPr>
          <a:xfrm>
            <a:off x="1625150" y="3131037"/>
            <a:ext cx="1058300" cy="181791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Martes 15/09</a:t>
            </a:r>
          </a:p>
        </p:txBody>
      </p:sp>
      <p:sp>
        <p:nvSpPr>
          <p:cNvPr id="1077" name="Rectangle 1076"/>
          <p:cNvSpPr/>
          <p:nvPr/>
        </p:nvSpPr>
        <p:spPr>
          <a:xfrm>
            <a:off x="2713450" y="3476440"/>
            <a:ext cx="3702397" cy="1127106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TextBox 1077"/>
          <p:cNvSpPr txBox="1"/>
          <p:nvPr/>
        </p:nvSpPr>
        <p:spPr>
          <a:xfrm>
            <a:off x="2713450" y="3476440"/>
            <a:ext cx="3702397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168</a:t>
            </a:r>
          </a:p>
        </p:txBody>
      </p:sp>
      <p:sp>
        <p:nvSpPr>
          <p:cNvPr id="1079" name="Rectangle 1078"/>
          <p:cNvSpPr/>
          <p:nvPr/>
        </p:nvSpPr>
        <p:spPr>
          <a:xfrm>
            <a:off x="6415847" y="3476440"/>
            <a:ext cx="1674894" cy="1127106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0" name="TextBox 1079"/>
          <p:cNvSpPr txBox="1"/>
          <p:nvPr/>
        </p:nvSpPr>
        <p:spPr>
          <a:xfrm>
            <a:off x="6415847" y="3476440"/>
            <a:ext cx="1674894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76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38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72" name="Google Shape;1072;p38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38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s026.text.1074"/>
          <p:cNvSpPr txBox="1"/>
          <p:nvPr/>
        </p:nvSpPr>
        <p:spPr>
          <a:xfrm>
            <a:off x="1967575" y="1037750"/>
            <a:ext cx="5939400" cy="46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operativo de pellet de girasol se desarrolló entre el </a:t>
            </a:r>
            <a:r>
              <a:rPr b="1" lang="es" sz="1100">
                <a:solidFill>
                  <a:schemeClr val="dk1"/>
                </a:solidFill>
              </a:rPr>
              <a:t>14 y el 15 de septiembre</a:t>
            </a:r>
            <a:r>
              <a:rPr lang="es" sz="1100">
                <a:solidFill>
                  <a:schemeClr val="dk1"/>
                </a:solidFill>
              </a:rPr>
              <a:t>, con un </a:t>
            </a:r>
            <a:r>
              <a:rPr b="1" lang="es" sz="1100">
                <a:solidFill>
                  <a:schemeClr val="dk1"/>
                </a:solidFill>
              </a:rPr>
              <a:t>flujo bajo de camiones</a:t>
            </a:r>
            <a:r>
              <a:rPr lang="es" sz="1100">
                <a:solidFill>
                  <a:schemeClr val="dk1"/>
                </a:solidFill>
              </a:rPr>
              <a:t>. El tiempo medio informado fue de </a:t>
            </a:r>
            <a:r>
              <a:rPr b="1" lang="es" sz="1100">
                <a:solidFill>
                  <a:schemeClr val="dk1"/>
                </a:solidFill>
              </a:rPr>
              <a:t>263 minutos</a:t>
            </a:r>
            <a:r>
              <a:rPr lang="es" sz="1100">
                <a:solidFill>
                  <a:schemeClr val="dk1"/>
                </a:solidFill>
              </a:rPr>
              <a:t>, frente a los </a:t>
            </a:r>
            <a:r>
              <a:rPr b="1" lang="es" sz="1100">
                <a:solidFill>
                  <a:schemeClr val="dk1"/>
                </a:solidFill>
              </a:rPr>
              <a:t>392 minutos de la semana anterior</a:t>
            </a:r>
            <a:r>
              <a:rPr lang="es" sz="1100">
                <a:solidFill>
                  <a:schemeClr val="dk1"/>
                </a:solidFill>
              </a:rPr>
              <a:t>, una reducción de </a:t>
            </a:r>
            <a:r>
              <a:rPr b="1" lang="es" sz="1100">
                <a:solidFill>
                  <a:schemeClr val="dk1"/>
                </a:solidFill>
              </a:rPr>
              <a:t>129 minutos, equivalente al 33%</a:t>
            </a:r>
            <a:r>
              <a:rPr lang="e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principal mejora se registró en la </a:t>
            </a:r>
            <a:r>
              <a:rPr b="1" lang="es" sz="1100">
                <a:solidFill>
                  <a:schemeClr val="dk1"/>
                </a:solidFill>
              </a:rPr>
              <a:t>espera en San Lorenzo</a:t>
            </a:r>
            <a:r>
              <a:rPr lang="es" sz="1100">
                <a:solidFill>
                  <a:schemeClr val="dk1"/>
                </a:solidFill>
              </a:rPr>
              <a:t>, que disminuyó de </a:t>
            </a:r>
            <a:r>
              <a:rPr b="1" lang="es" sz="1100">
                <a:solidFill>
                  <a:schemeClr val="dk1"/>
                </a:solidFill>
              </a:rPr>
              <a:t>126 a 20 minutos</a:t>
            </a:r>
            <a:r>
              <a:rPr lang="es" sz="1100">
                <a:solidFill>
                  <a:schemeClr val="dk1"/>
                </a:solidFill>
              </a:rPr>
              <a:t>. Esta reducción de </a:t>
            </a:r>
            <a:r>
              <a:rPr b="1" lang="es" sz="1100">
                <a:solidFill>
                  <a:schemeClr val="dk1"/>
                </a:solidFill>
              </a:rPr>
              <a:t>106 minutos</a:t>
            </a:r>
            <a:r>
              <a:rPr lang="es" sz="1100">
                <a:solidFill>
                  <a:schemeClr val="dk1"/>
                </a:solidFill>
              </a:rPr>
              <a:t> explica la mayor parte de la mejora del tiempo total del operativo.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resultado muestra una menor permanencia en el circuito, especialmente en San Lorenzo. Sin embargo, el </a:t>
            </a:r>
            <a:r>
              <a:rPr b="1" lang="es" sz="1100">
                <a:solidFill>
                  <a:schemeClr val="dk1"/>
                </a:solidFill>
              </a:rPr>
              <a:t>bajo flujo de esta semana</a:t>
            </a:r>
            <a:r>
              <a:rPr lang="es" sz="1100">
                <a:solidFill>
                  <a:schemeClr val="dk1"/>
                </a:solidFill>
              </a:rPr>
              <a:t> debe considerarse al comparar el desempeño y evaluar si estos tiempos se sostienen con una mayor actividad.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1071" name="s026.text.10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7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26/72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9" name="Google Shape;107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50" y="0"/>
            <a:ext cx="910765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s027.text.1080"/>
          <p:cNvSpPr txBox="1"/>
          <p:nvPr/>
        </p:nvSpPr>
        <p:spPr>
          <a:xfrm>
            <a:off x="3253875" y="2848175"/>
            <a:ext cx="3214500" cy="21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   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general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Patentes registradas y volcables utilizadas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de los circuitos R5+ R6 y R3 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10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27/72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6" name="Google Shape;1086;p40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7" name="Google Shape;1087;p40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s028.text.1090"/>
          <p:cNvSpPr txBox="1"/>
          <p:nvPr/>
        </p:nvSpPr>
        <p:spPr>
          <a:xfrm>
            <a:off x="3875136" y="3531851"/>
            <a:ext cx="703800" cy="439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6950" lIns="66950" spcFirstLastPara="1" rIns="66950" wrap="square" tIns="66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59">
                <a:latin typeface="Inter"/>
                <a:ea typeface="Inter"/>
                <a:cs typeface="Inter"/>
                <a:sym typeface="Inter"/>
              </a:rPr>
              <a:t>Falla de Lectura más frecuente</a:t>
            </a:r>
            <a:endParaRPr b="1" sz="586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1" name="s028.text.1091"/>
          <p:cNvSpPr txBox="1"/>
          <p:nvPr/>
        </p:nvSpPr>
        <p:spPr>
          <a:xfrm>
            <a:off x="2729547" y="3601520"/>
            <a:ext cx="63108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950" lIns="66950" spcFirstLastPara="1" rIns="66950" wrap="square" tIns="6695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318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rPr b="1" lang="es" sz="1318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Ingreso a Planta</a:t>
            </a:r>
            <a:endParaRPr b="0" i="0" sz="1758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1093" name="Google Shape;1093;p40"/>
          <p:cNvSpPr/>
          <p:nvPr/>
        </p:nvSpPr>
        <p:spPr>
          <a:xfrm>
            <a:off x="1357025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40"/>
          <p:cNvSpPr/>
          <p:nvPr/>
        </p:nvSpPr>
        <p:spPr>
          <a:xfrm>
            <a:off x="2656963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40"/>
          <p:cNvSpPr/>
          <p:nvPr/>
        </p:nvSpPr>
        <p:spPr>
          <a:xfrm>
            <a:off x="3857100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6F3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40"/>
          <p:cNvSpPr/>
          <p:nvPr/>
        </p:nvSpPr>
        <p:spPr>
          <a:xfrm>
            <a:off x="1438125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40"/>
          <p:cNvSpPr/>
          <p:nvPr/>
        </p:nvSpPr>
        <p:spPr>
          <a:xfrm>
            <a:off x="2738063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40"/>
          <p:cNvSpPr/>
          <p:nvPr/>
        </p:nvSpPr>
        <p:spPr>
          <a:xfrm>
            <a:off x="3938200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s028.text.1099"/>
          <p:cNvSpPr txBox="1"/>
          <p:nvPr/>
        </p:nvSpPr>
        <p:spPr>
          <a:xfrm>
            <a:off x="137197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Todas las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0" name="s028.text.1100"/>
          <p:cNvSpPr txBox="1"/>
          <p:nvPr/>
        </p:nvSpPr>
        <p:spPr>
          <a:xfrm>
            <a:off x="1470251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296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1" name="Google Shape;1101;p40"/>
          <p:cNvSpPr/>
          <p:nvPr/>
        </p:nvSpPr>
        <p:spPr>
          <a:xfrm>
            <a:off x="5138325" y="4295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40"/>
          <p:cNvSpPr/>
          <p:nvPr/>
        </p:nvSpPr>
        <p:spPr>
          <a:xfrm>
            <a:off x="5219425" y="4335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s028.text.1103"/>
          <p:cNvSpPr txBox="1"/>
          <p:nvPr/>
        </p:nvSpPr>
        <p:spPr>
          <a:xfrm>
            <a:off x="285252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6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4" name="s028.text.1104"/>
          <p:cNvSpPr txBox="1"/>
          <p:nvPr/>
        </p:nvSpPr>
        <p:spPr>
          <a:xfrm>
            <a:off x="2800676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99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5" name="s028.text.1105"/>
          <p:cNvSpPr txBox="1"/>
          <p:nvPr/>
        </p:nvSpPr>
        <p:spPr>
          <a:xfrm>
            <a:off x="402607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5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6" name="s028.text.1106"/>
          <p:cNvSpPr txBox="1"/>
          <p:nvPr/>
        </p:nvSpPr>
        <p:spPr>
          <a:xfrm>
            <a:off x="3974226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47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7" name="s028.text.1107"/>
          <p:cNvSpPr txBox="1"/>
          <p:nvPr/>
        </p:nvSpPr>
        <p:spPr>
          <a:xfrm>
            <a:off x="5290000" y="4295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≤  4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8" name="s028.text.1108"/>
          <p:cNvSpPr txBox="1"/>
          <p:nvPr/>
        </p:nvSpPr>
        <p:spPr>
          <a:xfrm>
            <a:off x="5238151" y="4495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9" name="s028.text.108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Circuitos  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10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28/72</a:t>
            </a:r>
          </a:p>
        </p:txBody>
      </p:sp>
      <p:graphicFrame>
        <p:nvGraphicFramePr>
          <p:cNvPr id="1085" name="D28_G1"/>
          <p:cNvGraphicFramePr/>
          <p:nvPr/>
        </p:nvGraphicFramePr>
        <p:xfrm>
          <a:off x="3805154" y="1172153"/>
          <a:ext cx="4118034" cy="2258910"/>
        </p:xfrm>
        <a:graphic>
          <a:graphicData uri="http://schemas.openxmlformats.org/drawingml/2006/chart">
            <c:chart r:id="rIdManual1009"/>
          </a:graphicData>
        </a:graphic>
      </p:graphicFrame>
      <p:graphicFrame>
        <p:nvGraphicFramePr>
          <p:cNvPr id="1092" name="D28_G2"/>
          <p:cNvGraphicFramePr/>
          <p:nvPr/>
        </p:nvGraphicFramePr>
        <p:xfrm>
          <a:off x="416400" y="1572352"/>
          <a:ext cx="3310476" cy="1796187"/>
        </p:xfrm>
        <a:graphic>
          <a:graphicData uri="http://schemas.openxmlformats.org/drawingml/2006/chart">
            <c:chart r:id="rIdManual1010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3" name="Google Shape;1113;p41" title="A2_3D_20260609_142649.png"/>
          <p:cNvPicPr preferRelativeResize="0"/>
          <p:nvPr/>
        </p:nvPicPr>
        <p:blipFill rotWithShape="1">
          <a:blip r:embed="rId3">
            <a:alphaModFix/>
          </a:blip>
          <a:srcRect b="0" l="0" r="0" t="30011"/>
          <a:stretch/>
        </p:blipFill>
        <p:spPr>
          <a:xfrm>
            <a:off x="1073575" y="1744024"/>
            <a:ext cx="7498952" cy="3157302"/>
          </a:xfrm>
          <a:prstGeom prst="rect">
            <a:avLst/>
          </a:prstGeom>
          <a:noFill/>
          <a:ln>
            <a:noFill/>
          </a:ln>
        </p:spPr>
      </p:pic>
      <p:sp>
        <p:nvSpPr>
          <p:cNvPr id="1114" name="Google Shape;1114;p41"/>
          <p:cNvSpPr/>
          <p:nvPr/>
        </p:nvSpPr>
        <p:spPr>
          <a:xfrm>
            <a:off x="3663182" y="423580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5" name="Google Shape;1115;p41"/>
          <p:cNvSpPr/>
          <p:nvPr/>
        </p:nvSpPr>
        <p:spPr>
          <a:xfrm>
            <a:off x="3289076" y="3507385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6" name="Google Shape;1116;p41"/>
          <p:cNvSpPr/>
          <p:nvPr/>
        </p:nvSpPr>
        <p:spPr>
          <a:xfrm>
            <a:off x="4708493" y="4388728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7" name="Google Shape;1117;p41"/>
          <p:cNvSpPr/>
          <p:nvPr/>
        </p:nvSpPr>
        <p:spPr>
          <a:xfrm>
            <a:off x="4587994" y="2938524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8" name="s029.text.1118"/>
          <p:cNvSpPr txBox="1"/>
          <p:nvPr/>
        </p:nvSpPr>
        <p:spPr>
          <a:xfrm>
            <a:off x="3648769" y="4181130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19" name="s029.text.1119"/>
          <p:cNvSpPr txBox="1"/>
          <p:nvPr/>
        </p:nvSpPr>
        <p:spPr>
          <a:xfrm>
            <a:off x="3274663" y="3452631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20" name="s029.text.1120"/>
          <p:cNvSpPr txBox="1"/>
          <p:nvPr/>
        </p:nvSpPr>
        <p:spPr>
          <a:xfrm>
            <a:off x="4679675" y="4334049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21" name="s029.text.1121"/>
          <p:cNvSpPr txBox="1"/>
          <p:nvPr/>
        </p:nvSpPr>
        <p:spPr>
          <a:xfrm>
            <a:off x="4547052" y="2883770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1122" name="Google Shape;1122;p41"/>
          <p:cNvCxnSpPr/>
          <p:nvPr/>
        </p:nvCxnSpPr>
        <p:spPr>
          <a:xfrm rot="10800000">
            <a:off x="3187284" y="3815275"/>
            <a:ext cx="1509300" cy="9012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3" name="Google Shape;1123;p41"/>
          <p:cNvCxnSpPr/>
          <p:nvPr/>
        </p:nvCxnSpPr>
        <p:spPr>
          <a:xfrm>
            <a:off x="3289067" y="3684987"/>
            <a:ext cx="554700" cy="3261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4" name="Google Shape;1124;p41"/>
          <p:cNvCxnSpPr>
            <a:endCxn id="1120" idx="2"/>
          </p:cNvCxnSpPr>
          <p:nvPr/>
        </p:nvCxnSpPr>
        <p:spPr>
          <a:xfrm>
            <a:off x="4097225" y="4164549"/>
            <a:ext cx="690300" cy="4566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5" name="Google Shape;1125;p41"/>
          <p:cNvCxnSpPr>
            <a:stCxn id="1120" idx="2"/>
          </p:cNvCxnSpPr>
          <p:nvPr/>
        </p:nvCxnSpPr>
        <p:spPr>
          <a:xfrm flipH="1" rot="10800000">
            <a:off x="4787525" y="4228149"/>
            <a:ext cx="665100" cy="3930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6" name="Google Shape;1126;p41"/>
          <p:cNvCxnSpPr/>
          <p:nvPr/>
        </p:nvCxnSpPr>
        <p:spPr>
          <a:xfrm rot="10800000">
            <a:off x="5310023" y="4133925"/>
            <a:ext cx="143700" cy="1020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7" name="Google Shape;1127;p41"/>
          <p:cNvCxnSpPr/>
          <p:nvPr/>
        </p:nvCxnSpPr>
        <p:spPr>
          <a:xfrm>
            <a:off x="5225218" y="4046227"/>
            <a:ext cx="279600" cy="1545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128" name="Google Shape;1128;p41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9" name="Google Shape;1129;p41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2" name="Google Shape;1132;p41"/>
          <p:cNvSpPr/>
          <p:nvPr/>
        </p:nvSpPr>
        <p:spPr>
          <a:xfrm>
            <a:off x="3864046" y="2766525"/>
            <a:ext cx="1654075" cy="1597450"/>
          </a:xfrm>
          <a:custGeom>
            <a:rect b="b" l="l" r="r" t="t"/>
            <a:pathLst>
              <a:path extrusionOk="0" h="63898" w="66163">
                <a:moveTo>
                  <a:pt x="54187" y="51671"/>
                </a:moveTo>
                <a:cubicBezTo>
                  <a:pt x="51816" y="53038"/>
                  <a:pt x="43308" y="57968"/>
                  <a:pt x="39959" y="59870"/>
                </a:cubicBezTo>
                <a:cubicBezTo>
                  <a:pt x="36610" y="61772"/>
                  <a:pt x="36383" y="62670"/>
                  <a:pt x="34092" y="63085"/>
                </a:cubicBezTo>
                <a:cubicBezTo>
                  <a:pt x="31801" y="63500"/>
                  <a:pt x="31560" y="65014"/>
                  <a:pt x="26215" y="62361"/>
                </a:cubicBezTo>
                <a:cubicBezTo>
                  <a:pt x="20870" y="59709"/>
                  <a:pt x="6039" y="51926"/>
                  <a:pt x="2020" y="47170"/>
                </a:cubicBezTo>
                <a:cubicBezTo>
                  <a:pt x="-1999" y="42414"/>
                  <a:pt x="1043" y="36801"/>
                  <a:pt x="2101" y="33827"/>
                </a:cubicBezTo>
                <a:cubicBezTo>
                  <a:pt x="3159" y="30853"/>
                  <a:pt x="2677" y="32728"/>
                  <a:pt x="8370" y="29325"/>
                </a:cubicBezTo>
                <a:cubicBezTo>
                  <a:pt x="14064" y="25922"/>
                  <a:pt x="27903" y="18152"/>
                  <a:pt x="36262" y="13410"/>
                </a:cubicBezTo>
                <a:cubicBezTo>
                  <a:pt x="44622" y="8668"/>
                  <a:pt x="53544" y="2921"/>
                  <a:pt x="58527" y="871"/>
                </a:cubicBezTo>
                <a:cubicBezTo>
                  <a:pt x="63511" y="-1179"/>
                  <a:pt x="64890" y="1072"/>
                  <a:pt x="66163" y="1112"/>
                </a:cubicBezTo>
              </a:path>
            </a:pathLst>
          </a:cu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33" name="Google Shape;1133;p41"/>
          <p:cNvSpPr/>
          <p:nvPr/>
        </p:nvSpPr>
        <p:spPr>
          <a:xfrm>
            <a:off x="5548275" y="2918925"/>
            <a:ext cx="826075" cy="857825"/>
          </a:xfrm>
          <a:custGeom>
            <a:rect b="b" l="l" r="r" t="t"/>
            <a:pathLst>
              <a:path extrusionOk="0" h="34313" w="33043">
                <a:moveTo>
                  <a:pt x="7475" y="0"/>
                </a:moveTo>
                <a:cubicBezTo>
                  <a:pt x="10128" y="1447"/>
                  <a:pt x="19518" y="6256"/>
                  <a:pt x="23390" y="8681"/>
                </a:cubicBezTo>
                <a:cubicBezTo>
                  <a:pt x="27262" y="11106"/>
                  <a:pt x="29178" y="12967"/>
                  <a:pt x="30705" y="14548"/>
                </a:cubicBezTo>
                <a:cubicBezTo>
                  <a:pt x="32232" y="16129"/>
                  <a:pt x="33880" y="16531"/>
                  <a:pt x="32554" y="18165"/>
                </a:cubicBezTo>
                <a:cubicBezTo>
                  <a:pt x="31228" y="19800"/>
                  <a:pt x="25842" y="22587"/>
                  <a:pt x="22747" y="24355"/>
                </a:cubicBezTo>
                <a:cubicBezTo>
                  <a:pt x="19652" y="26124"/>
                  <a:pt x="16759" y="27209"/>
                  <a:pt x="13986" y="28776"/>
                </a:cubicBezTo>
                <a:cubicBezTo>
                  <a:pt x="11213" y="30343"/>
                  <a:pt x="8440" y="32848"/>
                  <a:pt x="6109" y="33759"/>
                </a:cubicBezTo>
                <a:cubicBezTo>
                  <a:pt x="3778" y="34670"/>
                  <a:pt x="1018" y="34161"/>
                  <a:pt x="0" y="34241"/>
                </a:cubicBezTo>
              </a:path>
            </a:pathLst>
          </a:cu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134" name="Google Shape;1134;p41"/>
          <p:cNvCxnSpPr/>
          <p:nvPr/>
        </p:nvCxnSpPr>
        <p:spPr>
          <a:xfrm flipH="1" rot="10800000">
            <a:off x="5240825" y="3853375"/>
            <a:ext cx="180900" cy="198900"/>
          </a:xfrm>
          <a:prstGeom prst="straightConnector1">
            <a:avLst/>
          </a:pr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5" name="Google Shape;1135;p41"/>
          <p:cNvCxnSpPr/>
          <p:nvPr/>
        </p:nvCxnSpPr>
        <p:spPr>
          <a:xfrm>
            <a:off x="5517125" y="2801350"/>
            <a:ext cx="215100" cy="122700"/>
          </a:xfrm>
          <a:prstGeom prst="straightConnector1">
            <a:avLst/>
          </a:pr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6" name="Google Shape;1136;p41"/>
          <p:cNvSpPr/>
          <p:nvPr/>
        </p:nvSpPr>
        <p:spPr>
          <a:xfrm>
            <a:off x="5891819" y="283169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37" name="s029.text.1137"/>
          <p:cNvSpPr txBox="1"/>
          <p:nvPr/>
        </p:nvSpPr>
        <p:spPr>
          <a:xfrm>
            <a:off x="5853464" y="2776945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38" name="Google Shape;1138;p41"/>
          <p:cNvSpPr/>
          <p:nvPr/>
        </p:nvSpPr>
        <p:spPr>
          <a:xfrm>
            <a:off x="5379719" y="394239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39" name="s029.text.1139"/>
          <p:cNvSpPr txBox="1"/>
          <p:nvPr/>
        </p:nvSpPr>
        <p:spPr>
          <a:xfrm>
            <a:off x="5350927" y="3888795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40" name="Google Shape;1140;p41"/>
          <p:cNvSpPr txBox="1"/>
          <p:nvPr/>
        </p:nvSpPr>
        <p:spPr>
          <a:xfrm>
            <a:off x="3505971" y="1132150"/>
            <a:ext cx="547200" cy="1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325" lIns="83325" spcFirstLastPara="1" rIns="83325" wrap="square" tIns="83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47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1" name="Google Shape;1141;p41"/>
          <p:cNvSpPr/>
          <p:nvPr/>
        </p:nvSpPr>
        <p:spPr>
          <a:xfrm>
            <a:off x="605905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2" name="Google Shape;1142;p41"/>
          <p:cNvSpPr/>
          <p:nvPr/>
        </p:nvSpPr>
        <p:spPr>
          <a:xfrm>
            <a:off x="520425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3" name="s029.text.1143"/>
          <p:cNvSpPr txBox="1"/>
          <p:nvPr/>
        </p:nvSpPr>
        <p:spPr>
          <a:xfrm>
            <a:off x="520425" y="983277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4" name="s029.text.1144"/>
          <p:cNvSpPr txBox="1"/>
          <p:nvPr/>
        </p:nvSpPr>
        <p:spPr>
          <a:xfrm>
            <a:off x="542145" y="1210254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5" name="Google Shape;1145;p41"/>
          <p:cNvSpPr/>
          <p:nvPr/>
        </p:nvSpPr>
        <p:spPr>
          <a:xfrm>
            <a:off x="2062835" y="920125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6" name="Google Shape;1146;p41"/>
          <p:cNvSpPr/>
          <p:nvPr/>
        </p:nvSpPr>
        <p:spPr>
          <a:xfrm>
            <a:off x="1977355" y="920125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7" name="s029.text.1147"/>
          <p:cNvSpPr txBox="1"/>
          <p:nvPr/>
        </p:nvSpPr>
        <p:spPr>
          <a:xfrm>
            <a:off x="1977355" y="962439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:Espera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8" name="s029.text.1148"/>
          <p:cNvSpPr txBox="1"/>
          <p:nvPr/>
        </p:nvSpPr>
        <p:spPr>
          <a:xfrm>
            <a:off x="1999075" y="1189425"/>
            <a:ext cx="1095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9" name="Google Shape;1149;p41"/>
          <p:cNvSpPr/>
          <p:nvPr/>
        </p:nvSpPr>
        <p:spPr>
          <a:xfrm>
            <a:off x="3463461" y="920136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0" name="Google Shape;1150;p41"/>
          <p:cNvSpPr/>
          <p:nvPr/>
        </p:nvSpPr>
        <p:spPr>
          <a:xfrm>
            <a:off x="3377981" y="920136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1" name="s029.text.1151"/>
          <p:cNvSpPr txBox="1"/>
          <p:nvPr/>
        </p:nvSpPr>
        <p:spPr>
          <a:xfrm>
            <a:off x="3377979" y="962450"/>
            <a:ext cx="11124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P.Bruto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2" name="s029.text.1152"/>
          <p:cNvSpPr txBox="1"/>
          <p:nvPr/>
        </p:nvSpPr>
        <p:spPr>
          <a:xfrm>
            <a:off x="3399701" y="1189425"/>
            <a:ext cx="1095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Balanza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3" name="Google Shape;1153;p41"/>
          <p:cNvSpPr/>
          <p:nvPr/>
        </p:nvSpPr>
        <p:spPr>
          <a:xfrm>
            <a:off x="4813627" y="920136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4" name="Google Shape;1154;p41"/>
          <p:cNvSpPr/>
          <p:nvPr/>
        </p:nvSpPr>
        <p:spPr>
          <a:xfrm>
            <a:off x="4728148" y="920136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5" name="s029.text.1155"/>
          <p:cNvSpPr txBox="1"/>
          <p:nvPr/>
        </p:nvSpPr>
        <p:spPr>
          <a:xfrm>
            <a:off x="4728150" y="962450"/>
            <a:ext cx="13857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 : Playa 3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6" name="s029.text.1156"/>
          <p:cNvSpPr txBox="1"/>
          <p:nvPr/>
        </p:nvSpPr>
        <p:spPr>
          <a:xfrm>
            <a:off x="4749868" y="1189428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→ Playa 3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7" name="Google Shape;1157;p41"/>
          <p:cNvSpPr/>
          <p:nvPr/>
        </p:nvSpPr>
        <p:spPr>
          <a:xfrm>
            <a:off x="6163794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8" name="Google Shape;1158;p41"/>
          <p:cNvSpPr/>
          <p:nvPr/>
        </p:nvSpPr>
        <p:spPr>
          <a:xfrm>
            <a:off x="6078314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9" name="s029.text.1159"/>
          <p:cNvSpPr txBox="1"/>
          <p:nvPr/>
        </p:nvSpPr>
        <p:spPr>
          <a:xfrm>
            <a:off x="6078314" y="965014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5: Descarga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0" name="s029.text.1160"/>
          <p:cNvSpPr txBox="1"/>
          <p:nvPr/>
        </p:nvSpPr>
        <p:spPr>
          <a:xfrm>
            <a:off x="6100034" y="1191991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Playa 3 → Volcable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1" name="Google Shape;1161;p41"/>
          <p:cNvSpPr/>
          <p:nvPr/>
        </p:nvSpPr>
        <p:spPr>
          <a:xfrm>
            <a:off x="7542694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62" name="Google Shape;1162;p41"/>
          <p:cNvSpPr/>
          <p:nvPr/>
        </p:nvSpPr>
        <p:spPr>
          <a:xfrm>
            <a:off x="7457214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63" name="s029.text.1163"/>
          <p:cNvSpPr txBox="1"/>
          <p:nvPr/>
        </p:nvSpPr>
        <p:spPr>
          <a:xfrm>
            <a:off x="7457214" y="965014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P. Tara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4" name="s029.text.1164"/>
          <p:cNvSpPr txBox="1"/>
          <p:nvPr/>
        </p:nvSpPr>
        <p:spPr>
          <a:xfrm>
            <a:off x="7478934" y="1191991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 → Balanza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5" name="s029.text.1165"/>
          <p:cNvSpPr txBox="1"/>
          <p:nvPr/>
        </p:nvSpPr>
        <p:spPr>
          <a:xfrm>
            <a:off x="161667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6" name="s029.text.1166"/>
          <p:cNvSpPr txBox="1"/>
          <p:nvPr/>
        </p:nvSpPr>
        <p:spPr>
          <a:xfrm>
            <a:off x="299207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7" name="s029.text.1167"/>
          <p:cNvSpPr txBox="1"/>
          <p:nvPr/>
        </p:nvSpPr>
        <p:spPr>
          <a:xfrm>
            <a:off x="4395700" y="1019925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8" name="s029.text.1168"/>
          <p:cNvSpPr txBox="1"/>
          <p:nvPr/>
        </p:nvSpPr>
        <p:spPr>
          <a:xfrm>
            <a:off x="577102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9" name="s029.text.1169"/>
          <p:cNvSpPr txBox="1"/>
          <p:nvPr/>
        </p:nvSpPr>
        <p:spPr>
          <a:xfrm>
            <a:off x="711432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1" name="s029.text.113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 y R6 | Producto:Girasol</a:t>
            </a:r>
            <a:endParaRPr b="1" sz="18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 xmlns:p="http://schemas.openxmlformats.org/presentationml/2006/main" xmlns:a="http://schemas.openxmlformats.org/drawingml/2006/main">
        <p:nvSpPr>
          <p:cNvPr id="117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29/72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4" name="Google Shape;1174;p4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5" name="Google Shape;1175;p4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8" name="s030.text.1178"/>
          <p:cNvSpPr txBox="1"/>
          <p:nvPr/>
        </p:nvSpPr>
        <p:spPr>
          <a:xfrm>
            <a:off x="2172375" y="2778075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133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9" name="Google Shape;1179;p42"/>
          <p:cNvSpPr/>
          <p:nvPr/>
        </p:nvSpPr>
        <p:spPr>
          <a:xfrm>
            <a:off x="1583725" y="3191575"/>
            <a:ext cx="21603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42"/>
          <p:cNvSpPr/>
          <p:nvPr/>
        </p:nvSpPr>
        <p:spPr>
          <a:xfrm>
            <a:off x="1292900" y="3191600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1" name="Google Shape;1181;p42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182" name="Google Shape;1182;p42"/>
          <p:cNvSpPr/>
          <p:nvPr/>
        </p:nvSpPr>
        <p:spPr>
          <a:xfrm>
            <a:off x="1428100" y="136960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42"/>
          <p:cNvSpPr/>
          <p:nvPr/>
        </p:nvSpPr>
        <p:spPr>
          <a:xfrm>
            <a:off x="2215950" y="136960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4" name="Google Shape;1184;p42"/>
          <p:cNvCxnSpPr>
            <a:stCxn id="1182" idx="6"/>
            <a:endCxn id="1183" idx="2"/>
          </p:cNvCxnSpPr>
          <p:nvPr/>
        </p:nvCxnSpPr>
        <p:spPr>
          <a:xfrm>
            <a:off x="1605100" y="1458250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5" name="Google Shape;1185;p42"/>
          <p:cNvCxnSpPr/>
          <p:nvPr/>
        </p:nvCxnSpPr>
        <p:spPr>
          <a:xfrm>
            <a:off x="2395625" y="1455250"/>
            <a:ext cx="1121400" cy="30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6" name="Google Shape;1186;p42"/>
          <p:cNvSpPr/>
          <p:nvPr/>
        </p:nvSpPr>
        <p:spPr>
          <a:xfrm>
            <a:off x="3533300" y="1379675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s030.text.1187"/>
          <p:cNvSpPr txBox="1"/>
          <p:nvPr/>
        </p:nvSpPr>
        <p:spPr>
          <a:xfrm>
            <a:off x="1536375" y="11143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8" name="s030.text.1188"/>
          <p:cNvSpPr txBox="1"/>
          <p:nvPr/>
        </p:nvSpPr>
        <p:spPr>
          <a:xfrm>
            <a:off x="2026425" y="14974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9" name="s030.text.1189"/>
          <p:cNvSpPr txBox="1"/>
          <p:nvPr/>
        </p:nvSpPr>
        <p:spPr>
          <a:xfrm>
            <a:off x="1242525" y="14853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0" name="s030.text.1190"/>
          <p:cNvSpPr txBox="1"/>
          <p:nvPr/>
        </p:nvSpPr>
        <p:spPr>
          <a:xfrm>
            <a:off x="3084800" y="15203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1" name="s030.text.1191"/>
          <p:cNvSpPr txBox="1"/>
          <p:nvPr/>
        </p:nvSpPr>
        <p:spPr>
          <a:xfrm>
            <a:off x="2615250" y="11143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Playa 1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2" name="s030.text.1192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382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3" name="s030.text.1193"/>
          <p:cNvSpPr txBox="1"/>
          <p:nvPr/>
        </p:nvSpPr>
        <p:spPr>
          <a:xfrm>
            <a:off x="1292900" y="2826438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4" name="s030.text.1194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95" name="Google Shape;1195;p42"/>
          <p:cNvSpPr/>
          <p:nvPr/>
        </p:nvSpPr>
        <p:spPr>
          <a:xfrm>
            <a:off x="43578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6" name="Google Shape;1196;p42"/>
          <p:cNvCxnSpPr>
            <a:endCxn id="1195" idx="2"/>
          </p:cNvCxnSpPr>
          <p:nvPr/>
        </p:nvCxnSpPr>
        <p:spPr>
          <a:xfrm>
            <a:off x="3715850" y="1457900"/>
            <a:ext cx="642000" cy="300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7" name="Google Shape;1197;p42"/>
          <p:cNvSpPr/>
          <p:nvPr/>
        </p:nvSpPr>
        <p:spPr>
          <a:xfrm>
            <a:off x="51457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8" name="Google Shape;1198;p42"/>
          <p:cNvCxnSpPr>
            <a:endCxn id="1197" idx="2"/>
          </p:cNvCxnSpPr>
          <p:nvPr/>
        </p:nvCxnSpPr>
        <p:spPr>
          <a:xfrm>
            <a:off x="4534950" y="1460900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9" name="Google Shape;1199;p42"/>
          <p:cNvSpPr/>
          <p:nvPr/>
        </p:nvSpPr>
        <p:spPr>
          <a:xfrm>
            <a:off x="636430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0" name="Google Shape;1200;p42"/>
          <p:cNvCxnSpPr>
            <a:stCxn id="1197" idx="6"/>
            <a:endCxn id="1199" idx="2"/>
          </p:cNvCxnSpPr>
          <p:nvPr/>
        </p:nvCxnSpPr>
        <p:spPr>
          <a:xfrm>
            <a:off x="5322750" y="1460900"/>
            <a:ext cx="10416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1" name="Google Shape;1201;p42"/>
          <p:cNvSpPr/>
          <p:nvPr/>
        </p:nvSpPr>
        <p:spPr>
          <a:xfrm>
            <a:off x="75093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2" name="Google Shape;1202;p42"/>
          <p:cNvCxnSpPr>
            <a:stCxn id="1199" idx="6"/>
            <a:endCxn id="1201" idx="2"/>
          </p:cNvCxnSpPr>
          <p:nvPr/>
        </p:nvCxnSpPr>
        <p:spPr>
          <a:xfrm>
            <a:off x="6541300" y="1460900"/>
            <a:ext cx="9681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3" name="s030.text.1203"/>
          <p:cNvSpPr txBox="1"/>
          <p:nvPr/>
        </p:nvSpPr>
        <p:spPr>
          <a:xfrm>
            <a:off x="4140275" y="15082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Balanza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4" name="s030.text.1204"/>
          <p:cNvSpPr txBox="1"/>
          <p:nvPr/>
        </p:nvSpPr>
        <p:spPr>
          <a:xfrm>
            <a:off x="4977450" y="15082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Playa 3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5" name="s030.text.1205"/>
          <p:cNvSpPr txBox="1"/>
          <p:nvPr/>
        </p:nvSpPr>
        <p:spPr>
          <a:xfrm>
            <a:off x="6212875" y="1508225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6" name="s030.text.1206"/>
          <p:cNvSpPr txBox="1"/>
          <p:nvPr/>
        </p:nvSpPr>
        <p:spPr>
          <a:xfrm>
            <a:off x="7348575" y="15303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7" name="s030.text.1207"/>
          <p:cNvSpPr txBox="1"/>
          <p:nvPr/>
        </p:nvSpPr>
        <p:spPr>
          <a:xfrm>
            <a:off x="3694125" y="1106899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P.Bruto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8" name="s030.text.1208"/>
          <p:cNvSpPr txBox="1"/>
          <p:nvPr/>
        </p:nvSpPr>
        <p:spPr>
          <a:xfrm>
            <a:off x="6544900" y="1090487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9" name="s030.text.1209"/>
          <p:cNvSpPr txBox="1"/>
          <p:nvPr/>
        </p:nvSpPr>
        <p:spPr>
          <a:xfrm>
            <a:off x="5363075" y="105956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Playa 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0" name="s030.text.1210"/>
          <p:cNvSpPr txBox="1"/>
          <p:nvPr/>
        </p:nvSpPr>
        <p:spPr>
          <a:xfrm>
            <a:off x="3819613" y="2797638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1" name="s030.text.1211"/>
          <p:cNvSpPr txBox="1"/>
          <p:nvPr/>
        </p:nvSpPr>
        <p:spPr>
          <a:xfrm>
            <a:off x="4454005" y="2797650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2" name="s030.text.1212"/>
          <p:cNvSpPr txBox="1"/>
          <p:nvPr/>
        </p:nvSpPr>
        <p:spPr>
          <a:xfrm>
            <a:off x="5947325" y="28264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191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3" name="s030.text.1213"/>
          <p:cNvSpPr txBox="1"/>
          <p:nvPr/>
        </p:nvSpPr>
        <p:spPr>
          <a:xfrm>
            <a:off x="7414912" y="2852000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4" name="Google Shape;1214;p42"/>
          <p:cNvSpPr/>
          <p:nvPr/>
        </p:nvSpPr>
        <p:spPr>
          <a:xfrm>
            <a:off x="4963950" y="3197125"/>
            <a:ext cx="24468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42"/>
          <p:cNvSpPr/>
          <p:nvPr/>
        </p:nvSpPr>
        <p:spPr>
          <a:xfrm>
            <a:off x="7399250" y="3197125"/>
            <a:ext cx="407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42"/>
          <p:cNvSpPr/>
          <p:nvPr/>
        </p:nvSpPr>
        <p:spPr>
          <a:xfrm>
            <a:off x="4533777" y="3197125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42"/>
          <p:cNvSpPr/>
          <p:nvPr/>
        </p:nvSpPr>
        <p:spPr>
          <a:xfrm>
            <a:off x="3731075" y="3191600"/>
            <a:ext cx="8028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42"/>
          <p:cNvSpPr/>
          <p:nvPr/>
        </p:nvSpPr>
        <p:spPr>
          <a:xfrm>
            <a:off x="5383850" y="401985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219" name="Google Shape;1219;p42"/>
          <p:cNvSpPr/>
          <p:nvPr/>
        </p:nvSpPr>
        <p:spPr>
          <a:xfrm>
            <a:off x="5488261" y="4071798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220" name="s030.text.1220"/>
          <p:cNvSpPr txBox="1"/>
          <p:nvPr/>
        </p:nvSpPr>
        <p:spPr>
          <a:xfrm>
            <a:off x="5453404" y="4071798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1221" name="s030.text.1221"/>
          <p:cNvSpPr txBox="1"/>
          <p:nvPr/>
        </p:nvSpPr>
        <p:spPr>
          <a:xfrm>
            <a:off x="5592674" y="4272412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488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2" name="s030.text.1222"/>
          <p:cNvSpPr txBox="1"/>
          <p:nvPr/>
        </p:nvSpPr>
        <p:spPr>
          <a:xfrm>
            <a:off x="4435350" y="109417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ingreso P3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7" name="s030.text.117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R5+R6 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2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30/72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7" name="Google Shape;1227;p4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8" name="Google Shape;1228;p4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s031.text.122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R5+R6|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3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31/72</a:t>
            </a:r>
          </a:p>
        </p:txBody>
      </p:sp>
      <p:graphicFrame>
        <p:nvGraphicFramePr>
          <p:cNvPr id="1231" name="D31_G1"/>
          <p:cNvGraphicFramePr/>
          <p:nvPr/>
        </p:nvGraphicFramePr>
        <p:xfrm>
          <a:off x="4709000" y="852825"/>
          <a:ext cx="4282599" cy="2494624"/>
        </p:xfrm>
        <a:graphic>
          <a:graphicData uri="http://schemas.openxmlformats.org/drawingml/2006/chart">
            <c:chart r:id="rIdManual1011"/>
          </a:graphicData>
        </a:graphic>
      </p:graphicFrame>
      <p:graphicFrame>
        <p:nvGraphicFramePr>
          <p:cNvPr id="1232" name="D31_G2"/>
          <p:cNvGraphicFramePr/>
          <p:nvPr/>
        </p:nvGraphicFramePr>
        <p:xfrm>
          <a:off x="269125" y="883324"/>
          <a:ext cx="4404201" cy="2565447"/>
        </p:xfrm>
        <a:graphic>
          <a:graphicData uri="http://schemas.openxmlformats.org/drawingml/2006/chart">
            <c:chart r:id="rIdManual1012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44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40" name="Google Shape;1240;p44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1" name="Google Shape;1241;p44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s032.text.1242"/>
          <p:cNvSpPr txBox="1"/>
          <p:nvPr/>
        </p:nvSpPr>
        <p:spPr>
          <a:xfrm>
            <a:off x="660200" y="1065550"/>
            <a:ext cx="8016900" cy="56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circuito </a:t>
            </a:r>
            <a:r>
              <a:rPr b="1" lang="es" sz="1100">
                <a:solidFill>
                  <a:schemeClr val="dk1"/>
                </a:solidFill>
              </a:rPr>
              <a:t>R5+R6 informa un tiempo medio de 382 minutos (6 h 22 min)</a:t>
            </a:r>
            <a:r>
              <a:rPr lang="es" sz="1100">
                <a:solidFill>
                  <a:schemeClr val="dk1"/>
                </a:solidFill>
              </a:rPr>
              <a:t>, frente a 319 minutos en la semana anterior: un aumento de </a:t>
            </a:r>
            <a:r>
              <a:rPr b="1" lang="es" sz="1100">
                <a:solidFill>
                  <a:schemeClr val="dk1"/>
                </a:solidFill>
              </a:rPr>
              <a:t>63 minutos (+19,7%)</a:t>
            </a:r>
            <a:r>
              <a:rPr lang="es" sz="1100">
                <a:solidFill>
                  <a:schemeClr val="dk1"/>
                </a:solidFill>
              </a:rPr>
              <a:t>. R3 registra </a:t>
            </a:r>
            <a:r>
              <a:rPr b="1" lang="es" sz="1100">
                <a:solidFill>
                  <a:schemeClr val="dk1"/>
                </a:solidFill>
              </a:rPr>
              <a:t>403 minutos (6 h 43 min)</a:t>
            </a:r>
            <a:r>
              <a:rPr lang="es" sz="1100">
                <a:solidFill>
                  <a:schemeClr val="dk1"/>
                </a:solidFill>
              </a:rPr>
              <a:t>, con una diferencia actual de </a:t>
            </a:r>
            <a:r>
              <a:rPr b="1" lang="es" sz="1100">
                <a:solidFill>
                  <a:schemeClr val="dk1"/>
                </a:solidFill>
              </a:rPr>
              <a:t>21 minutos</a:t>
            </a:r>
            <a:r>
              <a:rPr lang="es" sz="1100">
                <a:solidFill>
                  <a:schemeClr val="dk1"/>
                </a:solidFill>
              </a:rPr>
              <a:t> respecto de R5+R6.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En R5+R6, la espera previa a la calada alcanza </a:t>
            </a:r>
            <a:r>
              <a:rPr b="1" lang="es" sz="1100">
                <a:solidFill>
                  <a:schemeClr val="dk1"/>
                </a:solidFill>
              </a:rPr>
              <a:t>133 minutos</a:t>
            </a:r>
            <a:r>
              <a:rPr lang="es" sz="1100">
                <a:solidFill>
                  <a:schemeClr val="dk1"/>
                </a:solidFill>
              </a:rPr>
              <a:t> y el tramo de Playa 3 a Volcable, </a:t>
            </a:r>
            <a:r>
              <a:rPr b="1" lang="es" sz="1100">
                <a:solidFill>
                  <a:schemeClr val="dk1"/>
                </a:solidFill>
              </a:rPr>
              <a:t>191 minutos</a:t>
            </a:r>
            <a:r>
              <a:rPr lang="es" sz="1100">
                <a:solidFill>
                  <a:schemeClr val="dk1"/>
                </a:solidFill>
              </a:rPr>
              <a:t>. Ambos suman </a:t>
            </a:r>
            <a:r>
              <a:rPr b="1" lang="es" sz="1100">
                <a:solidFill>
                  <a:schemeClr val="dk1"/>
                </a:solidFill>
              </a:rPr>
              <a:t>324 minutos</a:t>
            </a:r>
            <a:r>
              <a:rPr lang="es" sz="1100">
                <a:solidFill>
                  <a:schemeClr val="dk1"/>
                </a:solidFill>
              </a:rPr>
              <a:t>, aproximadamente el </a:t>
            </a:r>
            <a:r>
              <a:rPr b="1" lang="es" sz="1100">
                <a:solidFill>
                  <a:schemeClr val="dk1"/>
                </a:solidFill>
              </a:rPr>
              <a:t>85% del ciclo</a:t>
            </a:r>
            <a:r>
              <a:rPr lang="e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En R3, esos mismos tramos representan </a:t>
            </a:r>
            <a:r>
              <a:rPr b="1" lang="es" sz="1100">
                <a:solidFill>
                  <a:schemeClr val="dk1"/>
                </a:solidFill>
              </a:rPr>
              <a:t>166 y 180 minutos</a:t>
            </a:r>
            <a:r>
              <a:rPr lang="es" sz="1100">
                <a:solidFill>
                  <a:schemeClr val="dk1"/>
                </a:solidFill>
              </a:rPr>
              <a:t>, respectivamente, y concentran aproximadamente el </a:t>
            </a:r>
            <a:r>
              <a:rPr b="1" lang="es" sz="1100">
                <a:solidFill>
                  <a:schemeClr val="dk1"/>
                </a:solidFill>
              </a:rPr>
              <a:t>86% del tiempo total</a:t>
            </a:r>
            <a:r>
              <a:rPr lang="es" sz="1100">
                <a:solidFill>
                  <a:schemeClr val="dk1"/>
                </a:solidFill>
              </a:rPr>
              <a:t>. R3 presenta mayor espera previa a la calada, mientras que el tramo de Playa 3 a Volcable es menor que en R5+R6.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prioridad es revisar la espera previa a la calada y la permanencia entre Playa 3 y el volcable. Este último tramo incluye espera y descarga, por lo que sus tiempos no permiten atribuir toda la demora al vuelco físico. Los volúmenes por circuito requieren conciliación antes de incorporarlos a la conclusión definitiva.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1239" name="s032.text.123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4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32/72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7" name="Google Shape;124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3653"/>
            <a:ext cx="9144000" cy="5157153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s033.text.1248"/>
          <p:cNvSpPr txBox="1"/>
          <p:nvPr/>
        </p:nvSpPr>
        <p:spPr>
          <a:xfrm>
            <a:off x="3664725" y="1881325"/>
            <a:ext cx="1695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>
                <a:solidFill>
                  <a:srgbClr val="036A03"/>
                </a:solidFill>
                <a:latin typeface="Inter Medium"/>
                <a:ea typeface="Inter Medium"/>
                <a:cs typeface="Inter Medium"/>
                <a:sym typeface="Inter Medium"/>
              </a:rPr>
              <a:t>CALADO</a:t>
            </a:r>
            <a:endParaRPr sz="2300">
              <a:solidFill>
                <a:srgbClr val="036A03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124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33/72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3" name="Google Shape;1253;p4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4" name="Google Shape;1254;p4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6" name="s034.text.125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5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34/72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calada.subtitle"/>
          <p:cNvSpPr txBox="1"/>
          <p:nvPr/>
        </p:nvSpPr>
        <p:spPr>
          <a:xfrm>
            <a:off x="666750" y="1000125"/>
            <a:ext cx="781050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0">
                <a:solidFill>
                  <a:srgbClr val="06245F"/>
                </a:solidFill>
                <a:latin typeface="Inter"/>
              </a:rPr>
              <a:t>Actividad semanal por sede y tipo de calada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02" name="calada.header.Sede"/>
          <p:cNvSpPr txBox="1"/>
          <p:nvPr/>
        </p:nvSpPr>
        <p:spPr>
          <a:xfrm>
            <a:off x="666750" y="1581150"/>
            <a:ext cx="1762125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Sede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3" name="calada.header.Tipo"/>
          <p:cNvSpPr txBox="1"/>
          <p:nvPr/>
        </p:nvSpPr>
        <p:spPr>
          <a:xfrm>
            <a:off x="2428875" y="1581150"/>
            <a:ext cx="1762125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Tipo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4" name="calada.header.Horas activas"/>
          <p:cNvSpPr txBox="1"/>
          <p:nvPr/>
        </p:nvSpPr>
        <p:spPr>
          <a:xfrm>
            <a:off x="419100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Horas activas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5" name="calada.header.Camiones/h"/>
          <p:cNvSpPr txBox="1"/>
          <p:nvPr/>
        </p:nvSpPr>
        <p:spPr>
          <a:xfrm>
            <a:off x="561975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Camiones/h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6" name="calada.header.Camiones"/>
          <p:cNvSpPr txBox="1"/>
          <p:nvPr/>
        </p:nvSpPr>
        <p:spPr>
          <a:xfrm>
            <a:off x="704850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Camiones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7" name="calada.ric_solida.sede"/>
          <p:cNvSpPr txBox="1"/>
          <p:nvPr/>
        </p:nvSpPr>
        <p:spPr>
          <a:xfrm>
            <a:off x="666750" y="203835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Ricardone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8" name="calada.ric_solida.tipo"/>
          <p:cNvSpPr txBox="1"/>
          <p:nvPr/>
        </p:nvSpPr>
        <p:spPr>
          <a:xfrm>
            <a:off x="2428875" y="203835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Sólida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9" name="calada.ric_solida.horas"/>
          <p:cNvSpPr txBox="1"/>
          <p:nvPr/>
        </p:nvSpPr>
        <p:spPr>
          <a:xfrm>
            <a:off x="419100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148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0" name="calada.ric_solida.camiones_h"/>
          <p:cNvSpPr txBox="1"/>
          <p:nvPr/>
        </p:nvSpPr>
        <p:spPr>
          <a:xfrm>
            <a:off x="561975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20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1" name="calada.ric_solida.camiones"/>
          <p:cNvSpPr txBox="1"/>
          <p:nvPr/>
        </p:nvSpPr>
        <p:spPr>
          <a:xfrm>
            <a:off x="704850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2.908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2" name="calada.ric_liquida.sede"/>
          <p:cNvSpPr txBox="1"/>
          <p:nvPr/>
        </p:nvSpPr>
        <p:spPr>
          <a:xfrm>
            <a:off x="666750" y="2790825"/>
            <a:ext cx="1762125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Ricardone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3" name="calada.ric_liquida.tipo"/>
          <p:cNvSpPr txBox="1"/>
          <p:nvPr/>
        </p:nvSpPr>
        <p:spPr>
          <a:xfrm>
            <a:off x="2428875" y="2790825"/>
            <a:ext cx="1762125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Líquida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4" name="calada.ric_liquida.horas"/>
          <p:cNvSpPr txBox="1"/>
          <p:nvPr/>
        </p:nvSpPr>
        <p:spPr>
          <a:xfrm>
            <a:off x="419100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49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5" name="calada.ric_liquida.camiones_h"/>
          <p:cNvSpPr txBox="1"/>
          <p:nvPr/>
        </p:nvSpPr>
        <p:spPr>
          <a:xfrm>
            <a:off x="561975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3,6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6" name="calada.ric_liquida.camiones"/>
          <p:cNvSpPr txBox="1"/>
          <p:nvPr/>
        </p:nvSpPr>
        <p:spPr>
          <a:xfrm>
            <a:off x="704850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152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7" name="calada.sl.sede"/>
          <p:cNvSpPr txBox="1"/>
          <p:nvPr/>
        </p:nvSpPr>
        <p:spPr>
          <a:xfrm>
            <a:off x="666750" y="354330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San Lorenzo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8" name="calada.sl.tipo"/>
          <p:cNvSpPr txBox="1"/>
          <p:nvPr/>
        </p:nvSpPr>
        <p:spPr>
          <a:xfrm>
            <a:off x="2428875" y="354330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Calada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9" name="calada.sl.horas"/>
          <p:cNvSpPr txBox="1"/>
          <p:nvPr/>
        </p:nvSpPr>
        <p:spPr>
          <a:xfrm>
            <a:off x="419100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90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20" name="calada.sl.camiones_h"/>
          <p:cNvSpPr txBox="1"/>
          <p:nvPr/>
        </p:nvSpPr>
        <p:spPr>
          <a:xfrm>
            <a:off x="561975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3,3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21" name="calada.sl.camiones"/>
          <p:cNvSpPr txBox="1"/>
          <p:nvPr/>
        </p:nvSpPr>
        <p:spPr>
          <a:xfrm>
            <a:off x="704850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237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22" name="calada.caption"/>
          <p:cNvSpPr txBox="1"/>
          <p:nvPr/>
        </p:nvSpPr>
        <p:spPr>
          <a:xfrm>
            <a:off x="666750" y="4514850"/>
            <a:ext cx="7810500" cy="3619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00" b="0">
                <a:solidFill>
                  <a:srgbClr val="06245F"/>
                </a:solidFill>
                <a:latin typeface="Inter"/>
              </a:rPr>
              <a:t>Cada calada responde a una operación y una demanda diferentes.</a:t>
            </a:r>
            <a:endParaRPr sz="12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47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47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47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47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47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47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47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47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s035.text.127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2" name="s035.text.127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3" name="s035.text.127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4" name="s035.text.127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5" name="s035.text.1275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50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6" name="s035.text.127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10/9 08 hs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7" name="s035.text.1277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2908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8" name="s035.text.1278"/>
          <p:cNvSpPr txBox="1"/>
          <p:nvPr/>
        </p:nvSpPr>
        <p:spPr>
          <a:xfrm>
            <a:off x="5023988" y="4115975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b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148  horas totales</a:t>
            </a:r>
            <a:endParaRPr b="1" sz="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79" name="Google Shape;1279;p47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0" name="Google Shape;1280;p47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82" name="s035.text.128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Ricardone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8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35/72</a:t>
            </a:r>
          </a:p>
        </p:txBody>
      </p:sp>
      <p:graphicFrame>
        <p:nvGraphicFramePr>
          <p:cNvPr id="1262" name="D35_G1"/>
          <p:cNvGraphicFramePr/>
          <p:nvPr/>
        </p:nvGraphicFramePr>
        <p:xfrm>
          <a:off x="2145725" y="1388549"/>
          <a:ext cx="4625775" cy="2562529"/>
        </p:xfrm>
        <a:graphic>
          <a:graphicData uri="http://schemas.openxmlformats.org/drawingml/2006/chart">
            <c:chart r:id="rIdManual1013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8" name="Google Shape;1288;p48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9" name="Google Shape;1289;p48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s036.text.129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9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36/72</a:t>
            </a:r>
          </a:p>
        </p:txBody>
      </p:sp>
      <p:sp>
        <p:nvSpPr>
          <p:cNvPr id="1293" name="TextBox 1292"/>
          <p:cNvSpPr txBox="1"/>
          <p:nvPr/>
        </p:nvSpPr>
        <p:spPr>
          <a:xfrm>
            <a:off x="1063050" y="960625"/>
            <a:ext cx="7309251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Calle</a:t>
            </a:r>
          </a:p>
        </p:txBody>
      </p:sp>
      <p:sp>
        <p:nvSpPr>
          <p:cNvPr id="1294" name="TextBox 1293"/>
          <p:cNvSpPr txBox="1"/>
          <p:nvPr/>
        </p:nvSpPr>
        <p:spPr>
          <a:xfrm>
            <a:off x="1063050" y="1290625"/>
            <a:ext cx="1860405" cy="53523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1</a:t>
            </a:r>
          </a:p>
        </p:txBody>
      </p:sp>
      <p:sp>
        <p:nvSpPr>
          <p:cNvPr id="1295" name="Rectangle 1294"/>
          <p:cNvSpPr/>
          <p:nvPr/>
        </p:nvSpPr>
        <p:spPr>
          <a:xfrm>
            <a:off x="2963455" y="1397672"/>
            <a:ext cx="2646680" cy="32114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6" name="TextBox 1295"/>
          <p:cNvSpPr txBox="1"/>
          <p:nvPr/>
        </p:nvSpPr>
        <p:spPr>
          <a:xfrm>
            <a:off x="4830135" y="1397672"/>
            <a:ext cx="740000" cy="32114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102</a:t>
            </a:r>
          </a:p>
        </p:txBody>
      </p:sp>
      <p:sp>
        <p:nvSpPr>
          <p:cNvPr id="1297" name="TextBox 1296"/>
          <p:cNvSpPr txBox="1"/>
          <p:nvPr/>
        </p:nvSpPr>
        <p:spPr>
          <a:xfrm>
            <a:off x="1063050" y="1825862"/>
            <a:ext cx="1860405" cy="53523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2</a:t>
            </a:r>
          </a:p>
        </p:txBody>
      </p:sp>
      <p:sp>
        <p:nvSpPr>
          <p:cNvPr id="1298" name="Rectangle 1297"/>
          <p:cNvSpPr/>
          <p:nvPr/>
        </p:nvSpPr>
        <p:spPr>
          <a:xfrm>
            <a:off x="2963455" y="1932909"/>
            <a:ext cx="2724523" cy="32114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9" name="TextBox 1298"/>
          <p:cNvSpPr txBox="1"/>
          <p:nvPr/>
        </p:nvSpPr>
        <p:spPr>
          <a:xfrm>
            <a:off x="4907978" y="1932909"/>
            <a:ext cx="740000" cy="32114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105</a:t>
            </a:r>
          </a:p>
        </p:txBody>
      </p:sp>
      <p:sp>
        <p:nvSpPr>
          <p:cNvPr id="1300" name="TextBox 1299"/>
          <p:cNvSpPr txBox="1"/>
          <p:nvPr/>
        </p:nvSpPr>
        <p:spPr>
          <a:xfrm>
            <a:off x="1063050" y="2361099"/>
            <a:ext cx="1860405" cy="53523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3</a:t>
            </a:r>
          </a:p>
        </p:txBody>
      </p:sp>
      <p:sp>
        <p:nvSpPr>
          <p:cNvPr id="1301" name="Rectangle 1300"/>
          <p:cNvSpPr/>
          <p:nvPr/>
        </p:nvSpPr>
        <p:spPr>
          <a:xfrm>
            <a:off x="2963455" y="2468146"/>
            <a:ext cx="4878194" cy="32114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2" name="TextBox 1301"/>
          <p:cNvSpPr txBox="1"/>
          <p:nvPr/>
        </p:nvSpPr>
        <p:spPr>
          <a:xfrm>
            <a:off x="7061649" y="2468146"/>
            <a:ext cx="740000" cy="32114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188</a:t>
            </a:r>
          </a:p>
        </p:txBody>
      </p:sp>
      <p:sp>
        <p:nvSpPr>
          <p:cNvPr id="1303" name="TextBox 1302"/>
          <p:cNvSpPr txBox="1"/>
          <p:nvPr/>
        </p:nvSpPr>
        <p:spPr>
          <a:xfrm>
            <a:off x="1063050" y="2896336"/>
            <a:ext cx="1860405" cy="53523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4</a:t>
            </a:r>
          </a:p>
        </p:txBody>
      </p:sp>
      <p:sp>
        <p:nvSpPr>
          <p:cNvPr id="1304" name="Rectangle 1303"/>
          <p:cNvSpPr/>
          <p:nvPr/>
        </p:nvSpPr>
        <p:spPr>
          <a:xfrm>
            <a:off x="2963455" y="3003383"/>
            <a:ext cx="4774403" cy="32114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5" name="TextBox 1304"/>
          <p:cNvSpPr txBox="1"/>
          <p:nvPr/>
        </p:nvSpPr>
        <p:spPr>
          <a:xfrm>
            <a:off x="6957858" y="3003383"/>
            <a:ext cx="740000" cy="32114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184</a:t>
            </a:r>
          </a:p>
        </p:txBody>
      </p:sp>
      <p:sp>
        <p:nvSpPr>
          <p:cNvPr id="1306" name="TextBox 1305"/>
          <p:cNvSpPr txBox="1"/>
          <p:nvPr/>
        </p:nvSpPr>
        <p:spPr>
          <a:xfrm>
            <a:off x="1063050" y="3431573"/>
            <a:ext cx="1860405" cy="53523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5</a:t>
            </a:r>
          </a:p>
        </p:txBody>
      </p:sp>
      <p:sp>
        <p:nvSpPr>
          <p:cNvPr id="1307" name="TextBox 1306"/>
          <p:cNvSpPr txBox="1"/>
          <p:nvPr/>
        </p:nvSpPr>
        <p:spPr>
          <a:xfrm>
            <a:off x="2988455" y="3538620"/>
            <a:ext cx="780000" cy="32114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308" name="TextBox 1307"/>
          <p:cNvSpPr txBox="1"/>
          <p:nvPr/>
        </p:nvSpPr>
        <p:spPr>
          <a:xfrm>
            <a:off x="1063050" y="3966810"/>
            <a:ext cx="1860405" cy="53523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6</a:t>
            </a:r>
          </a:p>
        </p:txBody>
      </p:sp>
      <p:sp>
        <p:nvSpPr>
          <p:cNvPr id="1309" name="Rectangle 1308"/>
          <p:cNvSpPr/>
          <p:nvPr/>
        </p:nvSpPr>
        <p:spPr>
          <a:xfrm>
            <a:off x="2963455" y="4073857"/>
            <a:ext cx="259478" cy="32114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0" name="TextBox 1309"/>
          <p:cNvSpPr txBox="1"/>
          <p:nvPr/>
        </p:nvSpPr>
        <p:spPr>
          <a:xfrm>
            <a:off x="3247933" y="4073857"/>
            <a:ext cx="780000" cy="32114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6" name="Google Shape;1296;p4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7" name="Google Shape;1297;p4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0" name="Google Shape;1300;p49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49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49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49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49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49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49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49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s037.text.1308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09" name="s037.text.1309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0" name="s037.text.1310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1" name="s037.text.1311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2" name="s037.text.1312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58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3" name="s037.text.1313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08-09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4" name="s037.text.1314"/>
          <p:cNvSpPr txBox="1"/>
          <p:nvPr/>
        </p:nvSpPr>
        <p:spPr>
          <a:xfrm>
            <a:off x="5137526" y="41621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5" name="s037.text.1315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586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9" name="s037.text.129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1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37/72</a:t>
            </a:r>
          </a:p>
        </p:txBody>
      </p:sp>
      <p:sp>
        <p:nvSpPr>
          <p:cNvPr id="1316" name="Captura de actividad pendiente"/>
          <p:cNvSpPr/>
          <p:nvPr>
            <p:ph type="pic"/>
          </p:nvPr>
        </p:nvSpPr>
        <p:spPr>
          <a:xfrm>
            <a:off x="1752188" y="785274"/>
            <a:ext cx="586102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1" name="Google Shape;1321;p5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2" name="Google Shape;1322;p5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24" name="s038.text.132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2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38/72</a:t>
            </a:r>
          </a:p>
        </p:txBody>
      </p:sp>
      <p:sp>
        <p:nvSpPr>
          <p:cNvPr id="1327" name="TextBox 1326"/>
          <p:cNvSpPr txBox="1"/>
          <p:nvPr/>
        </p:nvSpPr>
        <p:spPr>
          <a:xfrm>
            <a:off x="1171063" y="78527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Calle</a:t>
            </a:r>
          </a:p>
        </p:txBody>
      </p:sp>
      <p:sp>
        <p:nvSpPr>
          <p:cNvPr id="1328" name="TextBox 1327"/>
          <p:cNvSpPr txBox="1"/>
          <p:nvPr/>
        </p:nvSpPr>
        <p:spPr>
          <a:xfrm>
            <a:off x="1171063" y="1115274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1</a:t>
            </a:r>
          </a:p>
        </p:txBody>
      </p:sp>
      <p:sp>
        <p:nvSpPr>
          <p:cNvPr id="1329" name="Rectangle 1328"/>
          <p:cNvSpPr/>
          <p:nvPr/>
        </p:nvSpPr>
        <p:spPr>
          <a:xfrm>
            <a:off x="2939550" y="1244468"/>
            <a:ext cx="2462959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0" name="TextBox 1329"/>
          <p:cNvSpPr txBox="1"/>
          <p:nvPr/>
        </p:nvSpPr>
        <p:spPr>
          <a:xfrm>
            <a:off x="4622509" y="1244468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102</a:t>
            </a:r>
          </a:p>
        </p:txBody>
      </p:sp>
      <p:sp>
        <p:nvSpPr>
          <p:cNvPr id="1331" name="TextBox 1330"/>
          <p:cNvSpPr txBox="1"/>
          <p:nvPr/>
        </p:nvSpPr>
        <p:spPr>
          <a:xfrm>
            <a:off x="1171063" y="1761245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2</a:t>
            </a:r>
          </a:p>
        </p:txBody>
      </p:sp>
      <p:sp>
        <p:nvSpPr>
          <p:cNvPr id="1332" name="Rectangle 1331"/>
          <p:cNvSpPr/>
          <p:nvPr/>
        </p:nvSpPr>
        <p:spPr>
          <a:xfrm>
            <a:off x="2939550" y="1890439"/>
            <a:ext cx="2704426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3" name="TextBox 1332"/>
          <p:cNvSpPr txBox="1"/>
          <p:nvPr/>
        </p:nvSpPr>
        <p:spPr>
          <a:xfrm>
            <a:off x="4863976" y="1890439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112</a:t>
            </a:r>
          </a:p>
        </p:txBody>
      </p:sp>
      <p:sp>
        <p:nvSpPr>
          <p:cNvPr id="1334" name="TextBox 1333"/>
          <p:cNvSpPr txBox="1"/>
          <p:nvPr/>
        </p:nvSpPr>
        <p:spPr>
          <a:xfrm>
            <a:off x="1171063" y="2407216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3</a:t>
            </a:r>
          </a:p>
        </p:txBody>
      </p:sp>
      <p:sp>
        <p:nvSpPr>
          <p:cNvPr id="1335" name="Rectangle 1334"/>
          <p:cNvSpPr/>
          <p:nvPr/>
        </p:nvSpPr>
        <p:spPr>
          <a:xfrm>
            <a:off x="2939550" y="2536410"/>
            <a:ext cx="4442986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6" name="TextBox 1335"/>
          <p:cNvSpPr txBox="1"/>
          <p:nvPr/>
        </p:nvSpPr>
        <p:spPr>
          <a:xfrm>
            <a:off x="6602536" y="2536410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184</a:t>
            </a:r>
          </a:p>
        </p:txBody>
      </p:sp>
      <p:sp>
        <p:nvSpPr>
          <p:cNvPr id="1337" name="TextBox 1336"/>
          <p:cNvSpPr txBox="1"/>
          <p:nvPr/>
        </p:nvSpPr>
        <p:spPr>
          <a:xfrm>
            <a:off x="1171063" y="3053187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4</a:t>
            </a:r>
          </a:p>
        </p:txBody>
      </p:sp>
      <p:sp>
        <p:nvSpPr>
          <p:cNvPr id="1338" name="Rectangle 1337"/>
          <p:cNvSpPr/>
          <p:nvPr/>
        </p:nvSpPr>
        <p:spPr>
          <a:xfrm>
            <a:off x="2939550" y="3182381"/>
            <a:ext cx="4394693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9" name="TextBox 1338"/>
          <p:cNvSpPr txBox="1"/>
          <p:nvPr/>
        </p:nvSpPr>
        <p:spPr>
          <a:xfrm>
            <a:off x="6554243" y="3182381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182</a:t>
            </a:r>
          </a:p>
        </p:txBody>
      </p:sp>
      <p:sp>
        <p:nvSpPr>
          <p:cNvPr id="1340" name="TextBox 1339"/>
          <p:cNvSpPr txBox="1"/>
          <p:nvPr/>
        </p:nvSpPr>
        <p:spPr>
          <a:xfrm>
            <a:off x="1171063" y="3699158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5</a:t>
            </a:r>
          </a:p>
        </p:txBody>
      </p:sp>
      <p:sp>
        <p:nvSpPr>
          <p:cNvPr id="1341" name="Rectangle 1340"/>
          <p:cNvSpPr/>
          <p:nvPr/>
        </p:nvSpPr>
        <p:spPr>
          <a:xfrm>
            <a:off x="2939550" y="3828352"/>
            <a:ext cx="24146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2" name="TextBox 1341"/>
          <p:cNvSpPr txBox="1"/>
          <p:nvPr/>
        </p:nvSpPr>
        <p:spPr>
          <a:xfrm>
            <a:off x="2988696" y="3828352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1</a:t>
            </a:r>
          </a:p>
        </p:txBody>
      </p:sp>
      <p:sp>
        <p:nvSpPr>
          <p:cNvPr id="1343" name="TextBox 1342"/>
          <p:cNvSpPr txBox="1"/>
          <p:nvPr/>
        </p:nvSpPr>
        <p:spPr>
          <a:xfrm>
            <a:off x="1171063" y="4345129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6</a:t>
            </a:r>
          </a:p>
        </p:txBody>
      </p:sp>
      <p:sp>
        <p:nvSpPr>
          <p:cNvPr id="1344" name="Rectangle 1343"/>
          <p:cNvSpPr/>
          <p:nvPr/>
        </p:nvSpPr>
        <p:spPr>
          <a:xfrm>
            <a:off x="2939550" y="4474323"/>
            <a:ext cx="144879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5" name="TextBox 1344"/>
          <p:cNvSpPr txBox="1"/>
          <p:nvPr/>
        </p:nvSpPr>
        <p:spPr>
          <a:xfrm>
            <a:off x="3109429" y="4474323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0" name="Google Shape;1330;p5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1" name="Google Shape;1331;p5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34" name="Google Shape;1334;p51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51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51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51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51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51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51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51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s039.text.1342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3" name="s039.text.1343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4" name="s039.text.1344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5" name="s039.text.134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6" name="s039.text.134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7" name="s039.text.1347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8" name="s039.text.1348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9" name="s039.text.1349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579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33" name="s039.text.133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Viernes 11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5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39/72</a:t>
            </a:r>
          </a:p>
        </p:txBody>
      </p:sp>
      <p:sp>
        <p:nvSpPr>
          <p:cNvPr id="1350" name="Captura de actividad pendiente"/>
          <p:cNvSpPr/>
          <p:nvPr>
            <p:ph type="pic"/>
          </p:nvPr>
        </p:nvSpPr>
        <p:spPr>
          <a:xfrm>
            <a:off x="2191075" y="785274"/>
            <a:ext cx="5435088" cy="3028327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5" name="Google Shape;1355;p5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6" name="Google Shape;1356;p5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8" name="s040.text.135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6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40/72</a:t>
            </a:r>
          </a:p>
        </p:txBody>
      </p:sp>
      <p:sp>
        <p:nvSpPr>
          <p:cNvPr id="1361" name="TextBox 1360"/>
          <p:cNvSpPr txBox="1"/>
          <p:nvPr/>
        </p:nvSpPr>
        <p:spPr>
          <a:xfrm>
            <a:off x="1171050" y="755499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Calle</a:t>
            </a:r>
          </a:p>
        </p:txBody>
      </p:sp>
      <p:sp>
        <p:nvSpPr>
          <p:cNvPr id="1362" name="TextBox 1361"/>
          <p:cNvSpPr txBox="1"/>
          <p:nvPr/>
        </p:nvSpPr>
        <p:spPr>
          <a:xfrm>
            <a:off x="1171050" y="1085499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1</a:t>
            </a:r>
          </a:p>
        </p:txBody>
      </p:sp>
      <p:sp>
        <p:nvSpPr>
          <p:cNvPr id="1363" name="Rectangle 1362"/>
          <p:cNvSpPr/>
          <p:nvPr/>
        </p:nvSpPr>
        <p:spPr>
          <a:xfrm>
            <a:off x="2939537" y="1214693"/>
            <a:ext cx="3058577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4" name="TextBox 1363"/>
          <p:cNvSpPr txBox="1"/>
          <p:nvPr/>
        </p:nvSpPr>
        <p:spPr>
          <a:xfrm>
            <a:off x="5218114" y="1214693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95</a:t>
            </a:r>
          </a:p>
        </p:txBody>
      </p:sp>
      <p:sp>
        <p:nvSpPr>
          <p:cNvPr id="1365" name="TextBox 1364"/>
          <p:cNvSpPr txBox="1"/>
          <p:nvPr/>
        </p:nvSpPr>
        <p:spPr>
          <a:xfrm>
            <a:off x="1171050" y="1731470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2</a:t>
            </a:r>
          </a:p>
        </p:txBody>
      </p:sp>
      <p:sp>
        <p:nvSpPr>
          <p:cNvPr id="1366" name="Rectangle 1365"/>
          <p:cNvSpPr/>
          <p:nvPr/>
        </p:nvSpPr>
        <p:spPr>
          <a:xfrm>
            <a:off x="2939537" y="1860664"/>
            <a:ext cx="2961990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7" name="TextBox 1366"/>
          <p:cNvSpPr txBox="1"/>
          <p:nvPr/>
        </p:nvSpPr>
        <p:spPr>
          <a:xfrm>
            <a:off x="5121527" y="1860664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92</a:t>
            </a:r>
          </a:p>
        </p:txBody>
      </p:sp>
      <p:sp>
        <p:nvSpPr>
          <p:cNvPr id="1368" name="TextBox 1367"/>
          <p:cNvSpPr txBox="1"/>
          <p:nvPr/>
        </p:nvSpPr>
        <p:spPr>
          <a:xfrm>
            <a:off x="1171050" y="2377441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3</a:t>
            </a:r>
          </a:p>
        </p:txBody>
      </p:sp>
      <p:sp>
        <p:nvSpPr>
          <p:cNvPr id="1369" name="Rectangle 1368"/>
          <p:cNvSpPr/>
          <p:nvPr/>
        </p:nvSpPr>
        <p:spPr>
          <a:xfrm>
            <a:off x="2939537" y="2506635"/>
            <a:ext cx="4378595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0" name="TextBox 1369"/>
          <p:cNvSpPr txBox="1"/>
          <p:nvPr/>
        </p:nvSpPr>
        <p:spPr>
          <a:xfrm>
            <a:off x="6538132" y="2506635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136</a:t>
            </a:r>
          </a:p>
        </p:txBody>
      </p:sp>
      <p:sp>
        <p:nvSpPr>
          <p:cNvPr id="1371" name="TextBox 1370"/>
          <p:cNvSpPr txBox="1"/>
          <p:nvPr/>
        </p:nvSpPr>
        <p:spPr>
          <a:xfrm>
            <a:off x="1171050" y="3023412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4</a:t>
            </a:r>
          </a:p>
        </p:txBody>
      </p:sp>
      <p:sp>
        <p:nvSpPr>
          <p:cNvPr id="1372" name="Rectangle 1371"/>
          <p:cNvSpPr/>
          <p:nvPr/>
        </p:nvSpPr>
        <p:spPr>
          <a:xfrm>
            <a:off x="2939537" y="3152606"/>
            <a:ext cx="4475181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3" name="TextBox 1372"/>
          <p:cNvSpPr txBox="1"/>
          <p:nvPr/>
        </p:nvSpPr>
        <p:spPr>
          <a:xfrm>
            <a:off x="6634718" y="3152606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139</a:t>
            </a:r>
          </a:p>
        </p:txBody>
      </p:sp>
      <p:sp>
        <p:nvSpPr>
          <p:cNvPr id="1374" name="TextBox 1373"/>
          <p:cNvSpPr txBox="1"/>
          <p:nvPr/>
        </p:nvSpPr>
        <p:spPr>
          <a:xfrm>
            <a:off x="1171050" y="3669383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5</a:t>
            </a:r>
          </a:p>
        </p:txBody>
      </p:sp>
      <p:sp>
        <p:nvSpPr>
          <p:cNvPr id="1375" name="TextBox 1374"/>
          <p:cNvSpPr txBox="1"/>
          <p:nvPr/>
        </p:nvSpPr>
        <p:spPr>
          <a:xfrm>
            <a:off x="2964537" y="3798577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376" name="TextBox 1375"/>
          <p:cNvSpPr txBox="1"/>
          <p:nvPr/>
        </p:nvSpPr>
        <p:spPr>
          <a:xfrm>
            <a:off x="1171050" y="4315354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6</a:t>
            </a:r>
          </a:p>
        </p:txBody>
      </p:sp>
      <p:sp>
        <p:nvSpPr>
          <p:cNvPr id="1377" name="TextBox 1376"/>
          <p:cNvSpPr txBox="1"/>
          <p:nvPr/>
        </p:nvSpPr>
        <p:spPr>
          <a:xfrm>
            <a:off x="2964537" y="4444548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4" name="Google Shape;1364;p5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5" name="Google Shape;1365;p5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8" name="Google Shape;1368;p53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53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53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53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53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53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53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53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s041.text.1376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7" name="s041.text.1377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8" name="s041.text.1378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9" name="s041.text.1379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80" name="s041.text.1380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1" name="s041.text.1381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08-09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2" name="s041.text.1382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3" name="s041.text.1383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7" name="s041.text.136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8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41/72</a:t>
            </a:r>
          </a:p>
        </p:txBody>
      </p:sp>
      <p:sp>
        <p:nvSpPr>
          <p:cNvPr id="1384" name="Captura de actividad pendiente"/>
          <p:cNvSpPr/>
          <p:nvPr>
            <p:ph type="pic"/>
          </p:nvPr>
        </p:nvSpPr>
        <p:spPr>
          <a:xfrm>
            <a:off x="1848500" y="749699"/>
            <a:ext cx="5830890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9" name="Google Shape;1389;p5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0" name="Google Shape;1390;p5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s042.text.13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9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42/72</a:t>
            </a:r>
          </a:p>
        </p:txBody>
      </p:sp>
      <p:sp>
        <p:nvSpPr>
          <p:cNvPr id="1395" name="TextBox 1394"/>
          <p:cNvSpPr txBox="1"/>
          <p:nvPr/>
        </p:nvSpPr>
        <p:spPr>
          <a:xfrm>
            <a:off x="1171063" y="844799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Calle</a:t>
            </a:r>
          </a:p>
        </p:txBody>
      </p:sp>
      <p:sp>
        <p:nvSpPr>
          <p:cNvPr id="1396" name="TextBox 1395"/>
          <p:cNvSpPr txBox="1"/>
          <p:nvPr/>
        </p:nvSpPr>
        <p:spPr>
          <a:xfrm>
            <a:off x="1171063" y="1174799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1</a:t>
            </a:r>
          </a:p>
        </p:txBody>
      </p:sp>
      <p:sp>
        <p:nvSpPr>
          <p:cNvPr id="1397" name="TextBox 1396"/>
          <p:cNvSpPr txBox="1"/>
          <p:nvPr/>
        </p:nvSpPr>
        <p:spPr>
          <a:xfrm>
            <a:off x="2964550" y="1303993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398" name="TextBox 1397"/>
          <p:cNvSpPr txBox="1"/>
          <p:nvPr/>
        </p:nvSpPr>
        <p:spPr>
          <a:xfrm>
            <a:off x="1171063" y="1820770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2</a:t>
            </a:r>
          </a:p>
        </p:txBody>
      </p:sp>
      <p:sp>
        <p:nvSpPr>
          <p:cNvPr id="1399" name="TextBox 1398"/>
          <p:cNvSpPr txBox="1"/>
          <p:nvPr/>
        </p:nvSpPr>
        <p:spPr>
          <a:xfrm>
            <a:off x="2964550" y="1949964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400" name="TextBox 1399"/>
          <p:cNvSpPr txBox="1"/>
          <p:nvPr/>
        </p:nvSpPr>
        <p:spPr>
          <a:xfrm>
            <a:off x="1171063" y="2466741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3</a:t>
            </a:r>
          </a:p>
        </p:txBody>
      </p:sp>
      <p:sp>
        <p:nvSpPr>
          <p:cNvPr id="1401" name="Rectangle 1400"/>
          <p:cNvSpPr/>
          <p:nvPr/>
        </p:nvSpPr>
        <p:spPr>
          <a:xfrm>
            <a:off x="2939550" y="2595935"/>
            <a:ext cx="4346399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2" name="TextBox 1401"/>
          <p:cNvSpPr txBox="1"/>
          <p:nvPr/>
        </p:nvSpPr>
        <p:spPr>
          <a:xfrm>
            <a:off x="6505949" y="2595935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27</a:t>
            </a:r>
          </a:p>
        </p:txBody>
      </p:sp>
      <p:sp>
        <p:nvSpPr>
          <p:cNvPr id="1403" name="TextBox 1402"/>
          <p:cNvSpPr txBox="1"/>
          <p:nvPr/>
        </p:nvSpPr>
        <p:spPr>
          <a:xfrm>
            <a:off x="1171063" y="3112712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4</a:t>
            </a:r>
          </a:p>
        </p:txBody>
      </p:sp>
      <p:sp>
        <p:nvSpPr>
          <p:cNvPr id="1404" name="Rectangle 1403"/>
          <p:cNvSpPr/>
          <p:nvPr/>
        </p:nvSpPr>
        <p:spPr>
          <a:xfrm>
            <a:off x="2939550" y="3241906"/>
            <a:ext cx="4346399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5" name="TextBox 1404"/>
          <p:cNvSpPr txBox="1"/>
          <p:nvPr/>
        </p:nvSpPr>
        <p:spPr>
          <a:xfrm>
            <a:off x="6505949" y="3241906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27</a:t>
            </a:r>
          </a:p>
        </p:txBody>
      </p:sp>
      <p:sp>
        <p:nvSpPr>
          <p:cNvPr id="1406" name="TextBox 1405"/>
          <p:cNvSpPr txBox="1"/>
          <p:nvPr/>
        </p:nvSpPr>
        <p:spPr>
          <a:xfrm>
            <a:off x="1171063" y="3758683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5</a:t>
            </a:r>
          </a:p>
        </p:txBody>
      </p:sp>
      <p:sp>
        <p:nvSpPr>
          <p:cNvPr id="1407" name="TextBox 1406"/>
          <p:cNvSpPr txBox="1"/>
          <p:nvPr/>
        </p:nvSpPr>
        <p:spPr>
          <a:xfrm>
            <a:off x="2964550" y="3887877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408" name="TextBox 1407"/>
          <p:cNvSpPr txBox="1"/>
          <p:nvPr/>
        </p:nvSpPr>
        <p:spPr>
          <a:xfrm>
            <a:off x="1171063" y="4404654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6</a:t>
            </a:r>
          </a:p>
        </p:txBody>
      </p:sp>
      <p:sp>
        <p:nvSpPr>
          <p:cNvPr id="1409" name="TextBox 1408"/>
          <p:cNvSpPr txBox="1"/>
          <p:nvPr/>
        </p:nvSpPr>
        <p:spPr>
          <a:xfrm>
            <a:off x="2964550" y="4533848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8" name="Google Shape;1398;p5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9" name="Google Shape;1399;p5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2" name="Google Shape;1402;p55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55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55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55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55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55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55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55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s043.text.1410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1" name="s043.text.1411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2" name="s043.text.1412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3" name="s043.text.1413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4" name="s043.text.1414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5" name="s043.text.1415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6" name="s043.text.1416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7" name="s043.text.1417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57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1" name="s043.text.140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Domingo 13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43/72</a:t>
            </a:r>
          </a:p>
        </p:txBody>
      </p:sp>
      <p:sp>
        <p:nvSpPr>
          <p:cNvPr id="1418" name="Captura de actividad pendiente"/>
          <p:cNvSpPr/>
          <p:nvPr>
            <p:ph type="pic"/>
          </p:nvPr>
        </p:nvSpPr>
        <p:spPr>
          <a:xfrm>
            <a:off x="2115875" y="785274"/>
            <a:ext cx="5663951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" name="Google Shape;1423;p5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4" name="Google Shape;1424;p5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26" name="s044.text.142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2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44/72</a:t>
            </a:r>
          </a:p>
        </p:txBody>
      </p:sp>
      <p:sp>
        <p:nvSpPr>
          <p:cNvPr id="1429" name="TextBox 1428"/>
          <p:cNvSpPr txBox="1"/>
          <p:nvPr/>
        </p:nvSpPr>
        <p:spPr>
          <a:xfrm>
            <a:off x="1171063" y="80017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Calle</a:t>
            </a:r>
          </a:p>
        </p:txBody>
      </p:sp>
      <p:sp>
        <p:nvSpPr>
          <p:cNvPr id="1430" name="TextBox 1429"/>
          <p:cNvSpPr txBox="1"/>
          <p:nvPr/>
        </p:nvSpPr>
        <p:spPr>
          <a:xfrm>
            <a:off x="1171063" y="1130174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1</a:t>
            </a:r>
          </a:p>
        </p:txBody>
      </p:sp>
      <p:sp>
        <p:nvSpPr>
          <p:cNvPr id="1431" name="Rectangle 1430"/>
          <p:cNvSpPr/>
          <p:nvPr/>
        </p:nvSpPr>
        <p:spPr>
          <a:xfrm>
            <a:off x="2939550" y="1259368"/>
            <a:ext cx="4539573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2" name="TextBox 1431"/>
          <p:cNvSpPr txBox="1"/>
          <p:nvPr/>
        </p:nvSpPr>
        <p:spPr>
          <a:xfrm>
            <a:off x="6699123" y="1259368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141</a:t>
            </a:r>
          </a:p>
        </p:txBody>
      </p:sp>
      <p:sp>
        <p:nvSpPr>
          <p:cNvPr id="1433" name="TextBox 1432"/>
          <p:cNvSpPr txBox="1"/>
          <p:nvPr/>
        </p:nvSpPr>
        <p:spPr>
          <a:xfrm>
            <a:off x="1171063" y="1776145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2</a:t>
            </a:r>
          </a:p>
        </p:txBody>
      </p:sp>
      <p:sp>
        <p:nvSpPr>
          <p:cNvPr id="1434" name="Rectangle 1433"/>
          <p:cNvSpPr/>
          <p:nvPr/>
        </p:nvSpPr>
        <p:spPr>
          <a:xfrm>
            <a:off x="2939550" y="1905339"/>
            <a:ext cx="4475181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5" name="TextBox 1434"/>
          <p:cNvSpPr txBox="1"/>
          <p:nvPr/>
        </p:nvSpPr>
        <p:spPr>
          <a:xfrm>
            <a:off x="6634731" y="1905339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139</a:t>
            </a:r>
          </a:p>
        </p:txBody>
      </p:sp>
      <p:sp>
        <p:nvSpPr>
          <p:cNvPr id="1436" name="TextBox 1435"/>
          <p:cNvSpPr txBox="1"/>
          <p:nvPr/>
        </p:nvSpPr>
        <p:spPr>
          <a:xfrm>
            <a:off x="1171063" y="2422116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3</a:t>
            </a:r>
          </a:p>
        </p:txBody>
      </p:sp>
      <p:sp>
        <p:nvSpPr>
          <p:cNvPr id="1437" name="Rectangle 1436"/>
          <p:cNvSpPr/>
          <p:nvPr/>
        </p:nvSpPr>
        <p:spPr>
          <a:xfrm>
            <a:off x="2939550" y="2551310"/>
            <a:ext cx="1191235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8" name="TextBox 1437"/>
          <p:cNvSpPr txBox="1"/>
          <p:nvPr/>
        </p:nvSpPr>
        <p:spPr>
          <a:xfrm>
            <a:off x="3350785" y="2551310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37</a:t>
            </a:r>
          </a:p>
        </p:txBody>
      </p:sp>
      <p:sp>
        <p:nvSpPr>
          <p:cNvPr id="1439" name="TextBox 1438"/>
          <p:cNvSpPr txBox="1"/>
          <p:nvPr/>
        </p:nvSpPr>
        <p:spPr>
          <a:xfrm>
            <a:off x="1171063" y="3068087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4</a:t>
            </a:r>
          </a:p>
        </p:txBody>
      </p:sp>
      <p:sp>
        <p:nvSpPr>
          <p:cNvPr id="1440" name="Rectangle 1439"/>
          <p:cNvSpPr/>
          <p:nvPr/>
        </p:nvSpPr>
        <p:spPr>
          <a:xfrm>
            <a:off x="2939550" y="3197281"/>
            <a:ext cx="1255626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1" name="TextBox 1440"/>
          <p:cNvSpPr txBox="1"/>
          <p:nvPr/>
        </p:nvSpPr>
        <p:spPr>
          <a:xfrm>
            <a:off x="3415176" y="3197281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39</a:t>
            </a:r>
          </a:p>
        </p:txBody>
      </p:sp>
      <p:sp>
        <p:nvSpPr>
          <p:cNvPr id="1442" name="TextBox 1441"/>
          <p:cNvSpPr txBox="1"/>
          <p:nvPr/>
        </p:nvSpPr>
        <p:spPr>
          <a:xfrm>
            <a:off x="1171063" y="3714058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5</a:t>
            </a:r>
          </a:p>
        </p:txBody>
      </p:sp>
      <p:sp>
        <p:nvSpPr>
          <p:cNvPr id="1443" name="TextBox 1442"/>
          <p:cNvSpPr txBox="1"/>
          <p:nvPr/>
        </p:nvSpPr>
        <p:spPr>
          <a:xfrm>
            <a:off x="2964550" y="3843252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444" name="TextBox 1443"/>
          <p:cNvSpPr txBox="1"/>
          <p:nvPr/>
        </p:nvSpPr>
        <p:spPr>
          <a:xfrm>
            <a:off x="1171063" y="4360029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6</a:t>
            </a:r>
          </a:p>
        </p:txBody>
      </p:sp>
      <p:sp>
        <p:nvSpPr>
          <p:cNvPr id="1445" name="Rectangle 1444"/>
          <p:cNvSpPr/>
          <p:nvPr/>
        </p:nvSpPr>
        <p:spPr>
          <a:xfrm>
            <a:off x="2939550" y="4489223"/>
            <a:ext cx="321955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6" name="TextBox 1445"/>
          <p:cNvSpPr txBox="1"/>
          <p:nvPr/>
        </p:nvSpPr>
        <p:spPr>
          <a:xfrm>
            <a:off x="3286505" y="4489223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2" name="Google Shape;1432;p5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3" name="Google Shape;1433;p5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57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57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57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57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57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57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57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57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s045.text.1444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5" name="s045.text.1445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6" name="s045.text.1446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7" name="s045.text.1447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8" name="s045.text.1448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37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49" name="s045.text.1449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17-18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0" name="s045.text.1450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1" name="s045.text.1451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354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35" name="s045.text.143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5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45/72</a:t>
            </a:r>
          </a:p>
        </p:txBody>
      </p:sp>
      <p:sp>
        <p:nvSpPr>
          <p:cNvPr id="1452" name="Captura de actividad pendiente"/>
          <p:cNvSpPr/>
          <p:nvPr>
            <p:ph type="pic"/>
          </p:nvPr>
        </p:nvSpPr>
        <p:spPr>
          <a:xfrm>
            <a:off x="1838475" y="749699"/>
            <a:ext cx="5758407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7" name="Google Shape;1457;p5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8" name="Google Shape;1458;p5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60" name="s046.text.146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6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46/72</a:t>
            </a:r>
          </a:p>
        </p:txBody>
      </p:sp>
      <p:sp>
        <p:nvSpPr>
          <p:cNvPr id="1463" name="TextBox 1462"/>
          <p:cNvSpPr txBox="1"/>
          <p:nvPr/>
        </p:nvSpPr>
        <p:spPr>
          <a:xfrm>
            <a:off x="1171063" y="63287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Calle</a:t>
            </a:r>
          </a:p>
        </p:txBody>
      </p:sp>
      <p:sp>
        <p:nvSpPr>
          <p:cNvPr id="1464" name="TextBox 1463"/>
          <p:cNvSpPr txBox="1"/>
          <p:nvPr/>
        </p:nvSpPr>
        <p:spPr>
          <a:xfrm>
            <a:off x="1171063" y="962874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1</a:t>
            </a:r>
          </a:p>
        </p:txBody>
      </p:sp>
      <p:sp>
        <p:nvSpPr>
          <p:cNvPr id="1465" name="Rectangle 1464"/>
          <p:cNvSpPr/>
          <p:nvPr/>
        </p:nvSpPr>
        <p:spPr>
          <a:xfrm>
            <a:off x="2939550" y="1092068"/>
            <a:ext cx="4153226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6" name="TextBox 1465"/>
          <p:cNvSpPr txBox="1"/>
          <p:nvPr/>
        </p:nvSpPr>
        <p:spPr>
          <a:xfrm>
            <a:off x="6312776" y="1092068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215</a:t>
            </a:r>
          </a:p>
        </p:txBody>
      </p:sp>
      <p:sp>
        <p:nvSpPr>
          <p:cNvPr id="1467" name="TextBox 1466"/>
          <p:cNvSpPr txBox="1"/>
          <p:nvPr/>
        </p:nvSpPr>
        <p:spPr>
          <a:xfrm>
            <a:off x="1171063" y="1608845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2</a:t>
            </a:r>
          </a:p>
        </p:txBody>
      </p:sp>
      <p:sp>
        <p:nvSpPr>
          <p:cNvPr id="1468" name="Rectangle 1467"/>
          <p:cNvSpPr/>
          <p:nvPr/>
        </p:nvSpPr>
        <p:spPr>
          <a:xfrm>
            <a:off x="2939550" y="1738039"/>
            <a:ext cx="4249813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9" name="TextBox 1468"/>
          <p:cNvSpPr txBox="1"/>
          <p:nvPr/>
        </p:nvSpPr>
        <p:spPr>
          <a:xfrm>
            <a:off x="6409363" y="1738039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220</a:t>
            </a:r>
          </a:p>
        </p:txBody>
      </p:sp>
      <p:sp>
        <p:nvSpPr>
          <p:cNvPr id="1470" name="TextBox 1469"/>
          <p:cNvSpPr txBox="1"/>
          <p:nvPr/>
        </p:nvSpPr>
        <p:spPr>
          <a:xfrm>
            <a:off x="1171063" y="2254816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3</a:t>
            </a:r>
          </a:p>
        </p:txBody>
      </p:sp>
      <p:sp>
        <p:nvSpPr>
          <p:cNvPr id="1471" name="TextBox 1470"/>
          <p:cNvSpPr txBox="1"/>
          <p:nvPr/>
        </p:nvSpPr>
        <p:spPr>
          <a:xfrm>
            <a:off x="2964550" y="2384010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7F8C8D"/>
                </a:solidFill>
                <a:latin typeface="Inter"/>
              </a:rPr>
              <a:t>s/d</a:t>
            </a:r>
          </a:p>
        </p:txBody>
      </p:sp>
      <p:sp>
        <p:nvSpPr>
          <p:cNvPr id="1472" name="TextBox 1471"/>
          <p:cNvSpPr txBox="1"/>
          <p:nvPr/>
        </p:nvSpPr>
        <p:spPr>
          <a:xfrm>
            <a:off x="1171063" y="2900787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4</a:t>
            </a:r>
          </a:p>
        </p:txBody>
      </p:sp>
      <p:sp>
        <p:nvSpPr>
          <p:cNvPr id="1473" name="TextBox 1472"/>
          <p:cNvSpPr txBox="1"/>
          <p:nvPr/>
        </p:nvSpPr>
        <p:spPr>
          <a:xfrm>
            <a:off x="2964550" y="3029981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7F8C8D"/>
                </a:solidFill>
                <a:latin typeface="Inter"/>
              </a:rPr>
              <a:t>s/d</a:t>
            </a:r>
          </a:p>
        </p:txBody>
      </p:sp>
      <p:sp>
        <p:nvSpPr>
          <p:cNvPr id="1474" name="TextBox 1473"/>
          <p:cNvSpPr txBox="1"/>
          <p:nvPr/>
        </p:nvSpPr>
        <p:spPr>
          <a:xfrm>
            <a:off x="1171063" y="3546758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5</a:t>
            </a:r>
          </a:p>
        </p:txBody>
      </p:sp>
      <p:sp>
        <p:nvSpPr>
          <p:cNvPr id="1475" name="Rectangle 1474"/>
          <p:cNvSpPr/>
          <p:nvPr/>
        </p:nvSpPr>
        <p:spPr>
          <a:xfrm>
            <a:off x="2939550" y="3675952"/>
            <a:ext cx="19317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6" name="TextBox 1475"/>
          <p:cNvSpPr txBox="1"/>
          <p:nvPr/>
        </p:nvSpPr>
        <p:spPr>
          <a:xfrm>
            <a:off x="2983867" y="3675952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1</a:t>
            </a:r>
          </a:p>
        </p:txBody>
      </p:sp>
      <p:sp>
        <p:nvSpPr>
          <p:cNvPr id="1477" name="TextBox 1476"/>
          <p:cNvSpPr txBox="1"/>
          <p:nvPr/>
        </p:nvSpPr>
        <p:spPr>
          <a:xfrm>
            <a:off x="1171063" y="4192729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6</a:t>
            </a:r>
          </a:p>
        </p:txBody>
      </p:sp>
      <p:sp>
        <p:nvSpPr>
          <p:cNvPr id="1478" name="Rectangle 1477"/>
          <p:cNvSpPr/>
          <p:nvPr/>
        </p:nvSpPr>
        <p:spPr>
          <a:xfrm>
            <a:off x="2939550" y="4321923"/>
            <a:ext cx="212490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9" name="TextBox 1478"/>
          <p:cNvSpPr txBox="1"/>
          <p:nvPr/>
        </p:nvSpPr>
        <p:spPr>
          <a:xfrm>
            <a:off x="3177040" y="4321923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6" name="Google Shape;1466;p5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7" name="Google Shape;1467;p5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70" name="Google Shape;1470;p59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59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59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59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59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59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59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59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s047.text.1478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79" name="s047.text.1479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0" name="s047.text.1480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1" name="s047.text.1481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2" name="s047.text.1482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3" name="s047.text.1483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4" name="s047.text.1484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5" name="s047.text.1485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439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69" name="s047.text.146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8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47/72</a:t>
            </a:r>
          </a:p>
        </p:txBody>
      </p:sp>
      <p:sp>
        <p:nvSpPr>
          <p:cNvPr id="1486" name="Captura de actividad pendiente"/>
          <p:cNvSpPr/>
          <p:nvPr>
            <p:ph type="pic"/>
          </p:nvPr>
        </p:nvSpPr>
        <p:spPr>
          <a:xfrm>
            <a:off x="1876350" y="749699"/>
            <a:ext cx="588494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1" name="Google Shape;1491;p6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2" name="Google Shape;1492;p6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4" name="s048.text.149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9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48/72</a:t>
            </a:r>
          </a:p>
        </p:txBody>
      </p:sp>
      <p:sp>
        <p:nvSpPr>
          <p:cNvPr id="1497" name="TextBox 1496"/>
          <p:cNvSpPr txBox="1"/>
          <p:nvPr/>
        </p:nvSpPr>
        <p:spPr>
          <a:xfrm>
            <a:off x="1171063" y="82992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Calle</a:t>
            </a:r>
          </a:p>
        </p:txBody>
      </p:sp>
      <p:sp>
        <p:nvSpPr>
          <p:cNvPr id="1498" name="TextBox 1497"/>
          <p:cNvSpPr txBox="1"/>
          <p:nvPr/>
        </p:nvSpPr>
        <p:spPr>
          <a:xfrm>
            <a:off x="1171063" y="1159924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1</a:t>
            </a:r>
          </a:p>
        </p:txBody>
      </p:sp>
      <p:sp>
        <p:nvSpPr>
          <p:cNvPr id="1499" name="Rectangle 1498"/>
          <p:cNvSpPr/>
          <p:nvPr/>
        </p:nvSpPr>
        <p:spPr>
          <a:xfrm>
            <a:off x="2939550" y="1289118"/>
            <a:ext cx="4249813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0" name="TextBox 1499"/>
          <p:cNvSpPr txBox="1"/>
          <p:nvPr/>
        </p:nvSpPr>
        <p:spPr>
          <a:xfrm>
            <a:off x="6409363" y="1289118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176</a:t>
            </a:r>
          </a:p>
        </p:txBody>
      </p:sp>
      <p:sp>
        <p:nvSpPr>
          <p:cNvPr id="1501" name="TextBox 1500"/>
          <p:cNvSpPr txBox="1"/>
          <p:nvPr/>
        </p:nvSpPr>
        <p:spPr>
          <a:xfrm>
            <a:off x="1171063" y="1805895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2</a:t>
            </a:r>
          </a:p>
        </p:txBody>
      </p:sp>
      <p:sp>
        <p:nvSpPr>
          <p:cNvPr id="1502" name="Rectangle 1501"/>
          <p:cNvSpPr/>
          <p:nvPr/>
        </p:nvSpPr>
        <p:spPr>
          <a:xfrm>
            <a:off x="2939550" y="1935089"/>
            <a:ext cx="4080786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3" name="TextBox 1502"/>
          <p:cNvSpPr txBox="1"/>
          <p:nvPr/>
        </p:nvSpPr>
        <p:spPr>
          <a:xfrm>
            <a:off x="6240336" y="1935089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169</a:t>
            </a:r>
          </a:p>
        </p:txBody>
      </p:sp>
      <p:sp>
        <p:nvSpPr>
          <p:cNvPr id="1504" name="TextBox 1503"/>
          <p:cNvSpPr txBox="1"/>
          <p:nvPr/>
        </p:nvSpPr>
        <p:spPr>
          <a:xfrm>
            <a:off x="1171063" y="2451866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3</a:t>
            </a:r>
          </a:p>
        </p:txBody>
      </p:sp>
      <p:sp>
        <p:nvSpPr>
          <p:cNvPr id="1505" name="Rectangle 1504"/>
          <p:cNvSpPr/>
          <p:nvPr/>
        </p:nvSpPr>
        <p:spPr>
          <a:xfrm>
            <a:off x="2939550" y="2581060"/>
            <a:ext cx="1303919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6" name="TextBox 1505"/>
          <p:cNvSpPr txBox="1"/>
          <p:nvPr/>
        </p:nvSpPr>
        <p:spPr>
          <a:xfrm>
            <a:off x="3463469" y="2581060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54</a:t>
            </a:r>
          </a:p>
        </p:txBody>
      </p:sp>
      <p:sp>
        <p:nvSpPr>
          <p:cNvPr id="1507" name="TextBox 1506"/>
          <p:cNvSpPr txBox="1"/>
          <p:nvPr/>
        </p:nvSpPr>
        <p:spPr>
          <a:xfrm>
            <a:off x="1171063" y="3097837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4</a:t>
            </a:r>
          </a:p>
        </p:txBody>
      </p:sp>
      <p:sp>
        <p:nvSpPr>
          <p:cNvPr id="1508" name="Rectangle 1507"/>
          <p:cNvSpPr/>
          <p:nvPr/>
        </p:nvSpPr>
        <p:spPr>
          <a:xfrm>
            <a:off x="2939550" y="3227031"/>
            <a:ext cx="1303919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9" name="TextBox 1508"/>
          <p:cNvSpPr txBox="1"/>
          <p:nvPr/>
        </p:nvSpPr>
        <p:spPr>
          <a:xfrm>
            <a:off x="3463469" y="3227031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54</a:t>
            </a:r>
          </a:p>
        </p:txBody>
      </p:sp>
      <p:sp>
        <p:nvSpPr>
          <p:cNvPr id="1510" name="TextBox 1509"/>
          <p:cNvSpPr txBox="1"/>
          <p:nvPr/>
        </p:nvSpPr>
        <p:spPr>
          <a:xfrm>
            <a:off x="1171063" y="3743808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5</a:t>
            </a:r>
          </a:p>
        </p:txBody>
      </p:sp>
      <p:sp>
        <p:nvSpPr>
          <p:cNvPr id="1511" name="Rectangle 1510"/>
          <p:cNvSpPr/>
          <p:nvPr/>
        </p:nvSpPr>
        <p:spPr>
          <a:xfrm>
            <a:off x="2939550" y="3873002"/>
            <a:ext cx="24146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2" name="TextBox 1511"/>
          <p:cNvSpPr txBox="1"/>
          <p:nvPr/>
        </p:nvSpPr>
        <p:spPr>
          <a:xfrm>
            <a:off x="2988696" y="3873002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1</a:t>
            </a:r>
          </a:p>
        </p:txBody>
      </p:sp>
      <p:sp>
        <p:nvSpPr>
          <p:cNvPr id="1513" name="TextBox 1512"/>
          <p:cNvSpPr txBox="1"/>
          <p:nvPr/>
        </p:nvSpPr>
        <p:spPr>
          <a:xfrm>
            <a:off x="1171063" y="4389779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6</a:t>
            </a:r>
          </a:p>
        </p:txBody>
      </p:sp>
      <p:sp>
        <p:nvSpPr>
          <p:cNvPr id="1514" name="Rectangle 1513"/>
          <p:cNvSpPr/>
          <p:nvPr/>
        </p:nvSpPr>
        <p:spPr>
          <a:xfrm>
            <a:off x="2939550" y="4518973"/>
            <a:ext cx="24146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5" name="TextBox 1514"/>
          <p:cNvSpPr txBox="1"/>
          <p:nvPr/>
        </p:nvSpPr>
        <p:spPr>
          <a:xfrm>
            <a:off x="2988696" y="4518973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0" name="Google Shape;1500;p6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1" name="Google Shape;1501;p6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04" name="Google Shape;1504;p61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p61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p61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61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p61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61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p61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61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s049.text.1512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3" name="s049.text.1513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4" name="s049.text.1514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5" name="s049.text.151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6" name="s049.text.151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7" name="s049.text.1517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01-02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8" name="s049.text.1518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9" name="s049.text.1519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450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03" name="s049.text.150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2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49/72</a:t>
            </a:r>
          </a:p>
        </p:txBody>
      </p:sp>
      <p:sp>
        <p:nvSpPr>
          <p:cNvPr id="1520" name="Captura de actividad pendiente"/>
          <p:cNvSpPr/>
          <p:nvPr>
            <p:ph type="pic"/>
          </p:nvPr>
        </p:nvSpPr>
        <p:spPr>
          <a:xfrm>
            <a:off x="-3063800" y="-2487492"/>
            <a:ext cx="17880076" cy="1171400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  <p:sp>
        <p:nvSpPr>
          <p:cNvPr id="1521" name="Captura de actividad pendiente"/>
          <p:cNvSpPr/>
          <p:nvPr>
            <p:ph type="pic"/>
          </p:nvPr>
        </p:nvSpPr>
        <p:spPr>
          <a:xfrm>
            <a:off x="1733413" y="785274"/>
            <a:ext cx="5968527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7" name="Google Shape;1527;p62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8" name="Google Shape;1528;p62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31" name="Google Shape;1531;p62"/>
          <p:cNvSpPr/>
          <p:nvPr/>
        </p:nvSpPr>
        <p:spPr>
          <a:xfrm>
            <a:off x="2245038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62"/>
          <p:cNvSpPr/>
          <p:nvPr/>
        </p:nvSpPr>
        <p:spPr>
          <a:xfrm>
            <a:off x="3544975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62"/>
          <p:cNvSpPr/>
          <p:nvPr/>
        </p:nvSpPr>
        <p:spPr>
          <a:xfrm>
            <a:off x="4745113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62"/>
          <p:cNvSpPr/>
          <p:nvPr/>
        </p:nvSpPr>
        <p:spPr>
          <a:xfrm>
            <a:off x="5945238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62"/>
          <p:cNvSpPr/>
          <p:nvPr/>
        </p:nvSpPr>
        <p:spPr>
          <a:xfrm>
            <a:off x="2326138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62"/>
          <p:cNvSpPr/>
          <p:nvPr/>
        </p:nvSpPr>
        <p:spPr>
          <a:xfrm>
            <a:off x="3626075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62"/>
          <p:cNvSpPr/>
          <p:nvPr/>
        </p:nvSpPr>
        <p:spPr>
          <a:xfrm>
            <a:off x="4826213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62"/>
          <p:cNvSpPr/>
          <p:nvPr/>
        </p:nvSpPr>
        <p:spPr>
          <a:xfrm>
            <a:off x="6026338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s050.text.1539"/>
          <p:cNvSpPr txBox="1"/>
          <p:nvPr/>
        </p:nvSpPr>
        <p:spPr>
          <a:xfrm>
            <a:off x="2259988" y="4113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0" name="s050.text.1540"/>
          <p:cNvSpPr txBox="1"/>
          <p:nvPr/>
        </p:nvSpPr>
        <p:spPr>
          <a:xfrm>
            <a:off x="3574888" y="4133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1" name="s050.text.1541"/>
          <p:cNvSpPr txBox="1"/>
          <p:nvPr/>
        </p:nvSpPr>
        <p:spPr>
          <a:xfrm>
            <a:off x="4800613" y="4133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2" name="s050.text.1542"/>
          <p:cNvSpPr txBox="1"/>
          <p:nvPr/>
        </p:nvSpPr>
        <p:spPr>
          <a:xfrm>
            <a:off x="5999263" y="4113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3" name="s050.text.1543"/>
          <p:cNvSpPr txBox="1"/>
          <p:nvPr/>
        </p:nvSpPr>
        <p:spPr>
          <a:xfrm>
            <a:off x="2294314" y="428977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4" name="s050.text.1544"/>
          <p:cNvSpPr txBox="1"/>
          <p:nvPr/>
        </p:nvSpPr>
        <p:spPr>
          <a:xfrm>
            <a:off x="3158249" y="4289775"/>
            <a:ext cx="18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14/9 20 hs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5" name="s050.text.1545"/>
          <p:cNvSpPr txBox="1"/>
          <p:nvPr/>
        </p:nvSpPr>
        <p:spPr>
          <a:xfrm>
            <a:off x="6107439" y="426900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157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6" name="s050.text.1546"/>
          <p:cNvSpPr txBox="1"/>
          <p:nvPr/>
        </p:nvSpPr>
        <p:spPr>
          <a:xfrm>
            <a:off x="4807163" y="4234600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b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49 horas totales</a:t>
            </a:r>
            <a:endParaRPr b="1" sz="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0" name="s050.text.153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Líquido Ricardone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4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50/72</a:t>
            </a:r>
          </a:p>
        </p:txBody>
      </p:sp>
      <p:graphicFrame>
        <p:nvGraphicFramePr>
          <p:cNvPr id="1526" name="D50_G1"/>
          <p:cNvGraphicFramePr/>
          <p:nvPr/>
        </p:nvGraphicFramePr>
        <p:xfrm>
          <a:off x="451325" y="1664024"/>
          <a:ext cx="3724275" cy="2057201"/>
        </p:xfrm>
        <a:graphic>
          <a:graphicData uri="http://schemas.openxmlformats.org/drawingml/2006/chart">
            <c:chart r:id="rIdManual1021"/>
          </a:graphicData>
        </a:graphic>
      </p:graphicFrame>
      <p:sp>
        <p:nvSpPr>
          <p:cNvPr id="1547" name="Captura de actividad pendiente"/>
          <p:cNvSpPr/>
          <p:nvPr>
            <p:ph type="pic"/>
          </p:nvPr>
        </p:nvSpPr>
        <p:spPr>
          <a:xfrm>
            <a:off x="4271300" y="1253536"/>
            <a:ext cx="4663600" cy="2394822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63"/>
          <p:cNvSpPr/>
          <p:nvPr/>
        </p:nvSpPr>
        <p:spPr>
          <a:xfrm>
            <a:off x="2242025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63"/>
          <p:cNvSpPr/>
          <p:nvPr/>
        </p:nvSpPr>
        <p:spPr>
          <a:xfrm>
            <a:off x="3541963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63"/>
          <p:cNvSpPr/>
          <p:nvPr/>
        </p:nvSpPr>
        <p:spPr>
          <a:xfrm>
            <a:off x="4742100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63"/>
          <p:cNvSpPr/>
          <p:nvPr/>
        </p:nvSpPr>
        <p:spPr>
          <a:xfrm>
            <a:off x="5942225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63"/>
          <p:cNvSpPr/>
          <p:nvPr/>
        </p:nvSpPr>
        <p:spPr>
          <a:xfrm>
            <a:off x="2323125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63"/>
          <p:cNvSpPr/>
          <p:nvPr/>
        </p:nvSpPr>
        <p:spPr>
          <a:xfrm>
            <a:off x="3623063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63"/>
          <p:cNvSpPr/>
          <p:nvPr/>
        </p:nvSpPr>
        <p:spPr>
          <a:xfrm>
            <a:off x="4823200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63"/>
          <p:cNvSpPr/>
          <p:nvPr/>
        </p:nvSpPr>
        <p:spPr>
          <a:xfrm>
            <a:off x="6023325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0" name="s051.text.1560"/>
          <p:cNvSpPr txBox="1"/>
          <p:nvPr/>
        </p:nvSpPr>
        <p:spPr>
          <a:xfrm>
            <a:off x="2256975" y="43475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1" name="s051.text.1561"/>
          <p:cNvSpPr txBox="1"/>
          <p:nvPr/>
        </p:nvSpPr>
        <p:spPr>
          <a:xfrm>
            <a:off x="3571875" y="43683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2" name="s051.text.1562"/>
          <p:cNvSpPr txBox="1"/>
          <p:nvPr/>
        </p:nvSpPr>
        <p:spPr>
          <a:xfrm>
            <a:off x="4797600" y="43683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3" name="s051.text.1563"/>
          <p:cNvSpPr txBox="1"/>
          <p:nvPr/>
        </p:nvSpPr>
        <p:spPr>
          <a:xfrm>
            <a:off x="5996250" y="43475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4" name="s051.text.1564"/>
          <p:cNvSpPr txBox="1"/>
          <p:nvPr/>
        </p:nvSpPr>
        <p:spPr>
          <a:xfrm>
            <a:off x="2291301" y="45241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5" name="s051.text.1565"/>
          <p:cNvSpPr txBox="1"/>
          <p:nvPr/>
        </p:nvSpPr>
        <p:spPr>
          <a:xfrm>
            <a:off x="3155237" y="4524150"/>
            <a:ext cx="18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15/9 08 hs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6" name="s051.text.1566"/>
          <p:cNvSpPr txBox="1"/>
          <p:nvPr/>
        </p:nvSpPr>
        <p:spPr>
          <a:xfrm>
            <a:off x="6104426" y="45033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7" name="s051.text.1567"/>
          <p:cNvSpPr txBox="1"/>
          <p:nvPr/>
        </p:nvSpPr>
        <p:spPr>
          <a:xfrm>
            <a:off x="4804150" y="4468975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b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85  horas totales</a:t>
            </a:r>
            <a:endParaRPr b="1" sz="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68" name="Google Shape;1568;p6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9" name="Google Shape;1569;p6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71" name="s051.text.15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San Lorenzo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7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51/72</a:t>
            </a:r>
          </a:p>
        </p:txBody>
      </p:sp>
      <p:graphicFrame>
        <p:nvGraphicFramePr>
          <p:cNvPr id="1572" name="D51_G1"/>
          <p:cNvGraphicFramePr/>
          <p:nvPr/>
        </p:nvGraphicFramePr>
        <p:xfrm>
          <a:off x="304800" y="1714849"/>
          <a:ext cx="3583650" cy="1972783"/>
        </p:xfrm>
        <a:graphic>
          <a:graphicData uri="http://schemas.openxmlformats.org/drawingml/2006/chart">
            <c:chart r:id="rIdManual1022"/>
          </a:graphicData>
        </a:graphic>
      </p:graphicFrame>
      <p:sp>
        <p:nvSpPr>
          <p:cNvPr id="1573" name="Captura de actividad pendiente"/>
          <p:cNvSpPr/>
          <p:nvPr>
            <p:ph type="pic"/>
          </p:nvPr>
        </p:nvSpPr>
        <p:spPr>
          <a:xfrm>
            <a:off x="4028950" y="1091524"/>
            <a:ext cx="4950750" cy="2551388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8" name="Google Shape;1578;p64"/>
          <p:cNvPicPr preferRelativeResize="0"/>
          <p:nvPr/>
        </p:nvPicPr>
        <p:blipFill rotWithShape="1">
          <a:blip r:embed="rId3">
            <a:alphaModFix/>
          </a:blip>
          <a:srcRect b="2761" l="4325" r="31892" t="6700"/>
          <a:stretch/>
        </p:blipFill>
        <p:spPr>
          <a:xfrm>
            <a:off x="0" y="0"/>
            <a:ext cx="6177225" cy="5143500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57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52/72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3" name="Google Shape;1583;p6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4" name="Google Shape;1584;p6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86" name="s053.text.158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1/2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8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53/72</a:t>
            </a:r>
          </a:p>
        </p:txBody>
      </p:sp>
      <p:graphicFrame>
        <p:nvGraphicFramePr>
          <p:cNvPr id="1587" name="D53_G1"/>
          <p:cNvGraphicFramePr/>
          <p:nvPr/>
        </p:nvGraphicFramePr>
        <p:xfrm>
          <a:off x="3084725" y="3342750"/>
          <a:ext cx="2537325" cy="1556200"/>
        </p:xfrm>
        <a:graphic>
          <a:graphicData uri="http://schemas.openxmlformats.org/drawingml/2006/chart">
            <c:chart r:id="rIdManual1023"/>
          </a:graphicData>
        </a:graphic>
      </p:graphicFrame>
      <p:graphicFrame>
        <p:nvGraphicFramePr>
          <p:cNvPr id="1588" name="D53_G2"/>
          <p:cNvGraphicFramePr/>
          <p:nvPr/>
        </p:nvGraphicFramePr>
        <p:xfrm>
          <a:off x="1544913" y="691450"/>
          <a:ext cx="6345525" cy="2434350"/>
        </p:xfrm>
        <a:graphic>
          <a:graphicData uri="http://schemas.openxmlformats.org/drawingml/2006/chart">
            <c:chart r:id="rIdManual1024"/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3" name="Google Shape;1593;p6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4" name="Google Shape;1594;p6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97" name="Google Shape;1597;p66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66"/>
          <p:cNvSpPr/>
          <p:nvPr/>
        </p:nvSpPr>
        <p:spPr>
          <a:xfrm>
            <a:off x="4258600" y="3966013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66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p66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66"/>
          <p:cNvSpPr/>
          <p:nvPr/>
        </p:nvSpPr>
        <p:spPr>
          <a:xfrm>
            <a:off x="4339700" y="4006363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66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s054.text.1603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4" name="s054.text.1604"/>
          <p:cNvSpPr txBox="1"/>
          <p:nvPr/>
        </p:nvSpPr>
        <p:spPr>
          <a:xfrm>
            <a:off x="4314100" y="4027138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5" name="s054.text.160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6" name="s054.text.160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7" name="s054.text.1607"/>
          <p:cNvSpPr txBox="1"/>
          <p:nvPr/>
        </p:nvSpPr>
        <p:spPr>
          <a:xfrm>
            <a:off x="4434201" y="4162188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8" name="s054.text.160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446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96" name="s054.text.159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1/2 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1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54/72</a:t>
            </a:r>
          </a:p>
        </p:txBody>
      </p:sp>
      <p:sp>
        <p:nvSpPr>
          <p:cNvPr id="1609" name="Captura de actividad pendiente"/>
          <p:cNvSpPr/>
          <p:nvPr>
            <p:ph type="pic"/>
          </p:nvPr>
        </p:nvSpPr>
        <p:spPr>
          <a:xfrm>
            <a:off x="1791075" y="749699"/>
            <a:ext cx="5853199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4" name="Google Shape;1614;p6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5" name="Google Shape;1615;p6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7" name="s055.text.161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Silos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55/72</a:t>
            </a:r>
          </a:p>
        </p:txBody>
      </p:sp>
      <p:graphicFrame>
        <p:nvGraphicFramePr>
          <p:cNvPr id="1618" name="D55_G1"/>
          <p:cNvGraphicFramePr/>
          <p:nvPr/>
        </p:nvGraphicFramePr>
        <p:xfrm>
          <a:off x="2314125" y="944525"/>
          <a:ext cx="5025024" cy="3107149"/>
        </p:xfrm>
        <a:graphic>
          <a:graphicData uri="http://schemas.openxmlformats.org/drawingml/2006/chart">
            <c:chart r:id="rIdManual1025"/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p68"/>
          <p:cNvSpPr/>
          <p:nvPr/>
        </p:nvSpPr>
        <p:spPr>
          <a:xfrm>
            <a:off x="2422150" y="4260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68"/>
          <p:cNvSpPr/>
          <p:nvPr/>
        </p:nvSpPr>
        <p:spPr>
          <a:xfrm>
            <a:off x="4218900" y="4260838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68"/>
          <p:cNvSpPr/>
          <p:nvPr/>
        </p:nvSpPr>
        <p:spPr>
          <a:xfrm>
            <a:off x="6122350" y="4260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68"/>
          <p:cNvSpPr/>
          <p:nvPr/>
        </p:nvSpPr>
        <p:spPr>
          <a:xfrm>
            <a:off x="2503250" y="4301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68"/>
          <p:cNvSpPr/>
          <p:nvPr/>
        </p:nvSpPr>
        <p:spPr>
          <a:xfrm>
            <a:off x="4300000" y="4301188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68"/>
          <p:cNvSpPr/>
          <p:nvPr/>
        </p:nvSpPr>
        <p:spPr>
          <a:xfrm>
            <a:off x="6203450" y="4301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s056.text.1629"/>
          <p:cNvSpPr txBox="1"/>
          <p:nvPr/>
        </p:nvSpPr>
        <p:spPr>
          <a:xfrm>
            <a:off x="2437100" y="4301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0" name="s056.text.1630"/>
          <p:cNvSpPr txBox="1"/>
          <p:nvPr/>
        </p:nvSpPr>
        <p:spPr>
          <a:xfrm>
            <a:off x="4274400" y="4321963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1" name="s056.text.1631"/>
          <p:cNvSpPr txBox="1"/>
          <p:nvPr/>
        </p:nvSpPr>
        <p:spPr>
          <a:xfrm>
            <a:off x="6176375" y="4301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2" name="s056.text.1632"/>
          <p:cNvSpPr txBox="1"/>
          <p:nvPr/>
        </p:nvSpPr>
        <p:spPr>
          <a:xfrm>
            <a:off x="2471426" y="447777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3" name="s056.text.1633"/>
          <p:cNvSpPr txBox="1"/>
          <p:nvPr/>
        </p:nvSpPr>
        <p:spPr>
          <a:xfrm>
            <a:off x="4394501" y="4457013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4" name="s056.text.1634"/>
          <p:cNvSpPr txBox="1"/>
          <p:nvPr/>
        </p:nvSpPr>
        <p:spPr>
          <a:xfrm>
            <a:off x="6284551" y="445700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35" name="Google Shape;1635;p6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6" name="Google Shape;1636;p6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38" name="s056.text.163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Silos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4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56/72</a:t>
            </a:r>
          </a:p>
        </p:txBody>
      </p:sp>
      <p:sp>
        <p:nvSpPr>
          <p:cNvPr id="1639" name="Captura de actividad pendiente"/>
          <p:cNvSpPr/>
          <p:nvPr>
            <p:ph type="pic"/>
          </p:nvPr>
        </p:nvSpPr>
        <p:spPr>
          <a:xfrm>
            <a:off x="1579513" y="1115325"/>
            <a:ext cx="6329875" cy="2724200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5" name="Google Shape;1645;p69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6" name="Google Shape;1646;p69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49" name="Google Shape;1649;p69"/>
          <p:cNvSpPr/>
          <p:nvPr/>
        </p:nvSpPr>
        <p:spPr>
          <a:xfrm>
            <a:off x="2198325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69"/>
          <p:cNvSpPr/>
          <p:nvPr/>
        </p:nvSpPr>
        <p:spPr>
          <a:xfrm>
            <a:off x="3981538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69"/>
          <p:cNvSpPr/>
          <p:nvPr/>
        </p:nvSpPr>
        <p:spPr>
          <a:xfrm>
            <a:off x="5898525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69"/>
          <p:cNvSpPr/>
          <p:nvPr/>
        </p:nvSpPr>
        <p:spPr>
          <a:xfrm>
            <a:off x="2279425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3" name="Google Shape;1653;p69"/>
          <p:cNvSpPr/>
          <p:nvPr/>
        </p:nvSpPr>
        <p:spPr>
          <a:xfrm>
            <a:off x="4062638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69"/>
          <p:cNvSpPr/>
          <p:nvPr/>
        </p:nvSpPr>
        <p:spPr>
          <a:xfrm>
            <a:off x="5979625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5" name="s057.text.1655"/>
          <p:cNvSpPr txBox="1"/>
          <p:nvPr/>
        </p:nvSpPr>
        <p:spPr>
          <a:xfrm>
            <a:off x="2213275" y="945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diario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56" name="s057.text.1656"/>
          <p:cNvSpPr txBox="1"/>
          <p:nvPr/>
        </p:nvSpPr>
        <p:spPr>
          <a:xfrm>
            <a:off x="4022813" y="905600"/>
            <a:ext cx="11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dk2"/>
                </a:solidFill>
              </a:rPr>
              <a:t>Camiones x hora operativa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657" name="s057.text.1657"/>
          <p:cNvSpPr txBox="1"/>
          <p:nvPr/>
        </p:nvSpPr>
        <p:spPr>
          <a:xfrm>
            <a:off x="5952550" y="945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58" name="s057.text.1658"/>
          <p:cNvSpPr txBox="1"/>
          <p:nvPr/>
        </p:nvSpPr>
        <p:spPr>
          <a:xfrm>
            <a:off x="2247601" y="11225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 384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9" name="s057.text.1659"/>
          <p:cNvSpPr txBox="1"/>
          <p:nvPr/>
        </p:nvSpPr>
        <p:spPr>
          <a:xfrm>
            <a:off x="4157139" y="11017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 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0" name="s057.text.1660"/>
          <p:cNvSpPr txBox="1"/>
          <p:nvPr/>
        </p:nvSpPr>
        <p:spPr>
          <a:xfrm>
            <a:off x="6060726" y="11017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2688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8" name="s057.text.164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Puerto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6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57/72</a:t>
            </a:r>
          </a:p>
        </p:txBody>
      </p:sp>
      <p:graphicFrame>
        <p:nvGraphicFramePr>
          <p:cNvPr id="1644" name="D57_G1"/>
          <p:cNvGraphicFramePr/>
          <p:nvPr/>
        </p:nvGraphicFramePr>
        <p:xfrm>
          <a:off x="2198337" y="1754675"/>
          <a:ext cx="5038674" cy="3115575"/>
        </p:xfrm>
        <a:graphic>
          <a:graphicData uri="http://schemas.openxmlformats.org/drawingml/2006/chart">
            <c:chart r:id="rIdManual1026"/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5" name="Google Shape;1665;p7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6" name="Google Shape;1666;p7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0" name="Google Shape;1670;p70"/>
          <p:cNvSpPr/>
          <p:nvPr/>
        </p:nvSpPr>
        <p:spPr>
          <a:xfrm>
            <a:off x="1671325" y="4159075"/>
            <a:ext cx="6786600" cy="825000"/>
          </a:xfrm>
          <a:prstGeom prst="rect">
            <a:avLst/>
          </a:prstGeom>
          <a:solidFill>
            <a:srgbClr val="D5A6BD">
              <a:alpha val="26880"/>
            </a:srgbClr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s058.text.1671"/>
          <p:cNvSpPr txBox="1"/>
          <p:nvPr/>
        </p:nvSpPr>
        <p:spPr>
          <a:xfrm>
            <a:off x="1808375" y="4225225"/>
            <a:ext cx="6573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Las volcables </a:t>
            </a:r>
            <a:r>
              <a:rPr b="1" lang="es" sz="1100">
                <a:solidFill>
                  <a:schemeClr val="dk1"/>
                </a:solidFill>
              </a:rPr>
              <a:t>5, 3 y 2 concentraron el 73% de los camiones registrados</a:t>
            </a:r>
            <a:r>
              <a:rPr lang="es" sz="1100">
                <a:solidFill>
                  <a:schemeClr val="dk1"/>
                </a:solidFill>
              </a:rPr>
              <a:t>, con la volcable 5 como la de mayor actividad. La volcable </a:t>
            </a:r>
            <a:r>
              <a:rPr b="1" lang="es" sz="1100">
                <a:solidFill>
                  <a:schemeClr val="dk1"/>
                </a:solidFill>
              </a:rPr>
              <a:t>4 presentó el menor volumen, con 226 camiones</a:t>
            </a:r>
            <a:r>
              <a:rPr lang="es" sz="1100">
                <a:solidFill>
                  <a:schemeClr val="dk1"/>
                </a:solidFill>
              </a:rPr>
              <a:t> </a:t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8" name="s058.text.166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7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58/72</a:t>
            </a:r>
          </a:p>
        </p:txBody>
      </p:sp>
      <p:graphicFrame>
        <p:nvGraphicFramePr>
          <p:cNvPr id="1669" name="D58_G1"/>
          <p:cNvGraphicFramePr/>
          <p:nvPr/>
        </p:nvGraphicFramePr>
        <p:xfrm>
          <a:off x="1808375" y="809650"/>
          <a:ext cx="6101025" cy="3341575"/>
        </p:xfrm>
        <a:graphic>
          <a:graphicData uri="http://schemas.openxmlformats.org/drawingml/2006/chart">
            <c:chart r:id="rIdManual1027"/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6" name="Google Shape;1676;p7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7" name="Google Shape;1677;p7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9" name="s059.text.167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59/72</a:t>
            </a:r>
          </a:p>
        </p:txBody>
      </p:sp>
      <p:sp>
        <p:nvSpPr>
          <p:cNvPr id="1682" name="TextBox 1681"/>
          <p:cNvSpPr txBox="1"/>
          <p:nvPr/>
        </p:nvSpPr>
        <p:spPr>
          <a:xfrm>
            <a:off x="1451275" y="68537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Volcable</a:t>
            </a:r>
          </a:p>
        </p:txBody>
      </p:sp>
      <p:sp>
        <p:nvSpPr>
          <p:cNvPr id="1683" name="TextBox 1682"/>
          <p:cNvSpPr txBox="1"/>
          <p:nvPr/>
        </p:nvSpPr>
        <p:spPr>
          <a:xfrm>
            <a:off x="1451275" y="101537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1</a:t>
            </a:r>
          </a:p>
        </p:txBody>
      </p:sp>
      <p:sp>
        <p:nvSpPr>
          <p:cNvPr id="1684" name="Rectangle 1683"/>
          <p:cNvSpPr/>
          <p:nvPr/>
        </p:nvSpPr>
        <p:spPr>
          <a:xfrm>
            <a:off x="3219762" y="1170407"/>
            <a:ext cx="3621999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5" name="TextBox 1684"/>
          <p:cNvSpPr txBox="1"/>
          <p:nvPr/>
        </p:nvSpPr>
        <p:spPr>
          <a:xfrm>
            <a:off x="6061761" y="117040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150</a:t>
            </a:r>
          </a:p>
        </p:txBody>
      </p:sp>
      <p:sp>
        <p:nvSpPr>
          <p:cNvPr id="1686" name="TextBox 1685"/>
          <p:cNvSpPr txBox="1"/>
          <p:nvPr/>
        </p:nvSpPr>
        <p:spPr>
          <a:xfrm>
            <a:off x="1451275" y="179053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2</a:t>
            </a:r>
          </a:p>
        </p:txBody>
      </p:sp>
      <p:sp>
        <p:nvSpPr>
          <p:cNvPr id="1687" name="Rectangle 1686"/>
          <p:cNvSpPr/>
          <p:nvPr/>
        </p:nvSpPr>
        <p:spPr>
          <a:xfrm>
            <a:off x="3219762" y="1945572"/>
            <a:ext cx="4032493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8" name="TextBox 1687"/>
          <p:cNvSpPr txBox="1"/>
          <p:nvPr/>
        </p:nvSpPr>
        <p:spPr>
          <a:xfrm>
            <a:off x="6472255" y="194557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167</a:t>
            </a:r>
          </a:p>
        </p:txBody>
      </p:sp>
      <p:sp>
        <p:nvSpPr>
          <p:cNvPr id="1689" name="TextBox 1688"/>
          <p:cNvSpPr txBox="1"/>
          <p:nvPr/>
        </p:nvSpPr>
        <p:spPr>
          <a:xfrm>
            <a:off x="1451275" y="256570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3</a:t>
            </a:r>
          </a:p>
        </p:txBody>
      </p:sp>
      <p:sp>
        <p:nvSpPr>
          <p:cNvPr id="1690" name="Rectangle 1689"/>
          <p:cNvSpPr/>
          <p:nvPr/>
        </p:nvSpPr>
        <p:spPr>
          <a:xfrm>
            <a:off x="3219762" y="2720737"/>
            <a:ext cx="3332239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1" name="TextBox 1690"/>
          <p:cNvSpPr txBox="1"/>
          <p:nvPr/>
        </p:nvSpPr>
        <p:spPr>
          <a:xfrm>
            <a:off x="5772001" y="272073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138</a:t>
            </a:r>
          </a:p>
        </p:txBody>
      </p:sp>
      <p:sp>
        <p:nvSpPr>
          <p:cNvPr id="1692" name="TextBox 1691"/>
          <p:cNvSpPr txBox="1"/>
          <p:nvPr/>
        </p:nvSpPr>
        <p:spPr>
          <a:xfrm>
            <a:off x="1451275" y="334086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4</a:t>
            </a:r>
          </a:p>
        </p:txBody>
      </p:sp>
      <p:sp>
        <p:nvSpPr>
          <p:cNvPr id="1693" name="Rectangle 1692"/>
          <p:cNvSpPr/>
          <p:nvPr/>
        </p:nvSpPr>
        <p:spPr>
          <a:xfrm>
            <a:off x="3219762" y="3495902"/>
            <a:ext cx="676106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4" name="TextBox 1693"/>
          <p:cNvSpPr txBox="1"/>
          <p:nvPr/>
        </p:nvSpPr>
        <p:spPr>
          <a:xfrm>
            <a:off x="3920868" y="3495902"/>
            <a:ext cx="78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28</a:t>
            </a:r>
          </a:p>
        </p:txBody>
      </p:sp>
      <p:sp>
        <p:nvSpPr>
          <p:cNvPr id="1695" name="TextBox 1694"/>
          <p:cNvSpPr txBox="1"/>
          <p:nvPr/>
        </p:nvSpPr>
        <p:spPr>
          <a:xfrm>
            <a:off x="1451275" y="411603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5</a:t>
            </a:r>
          </a:p>
        </p:txBody>
      </p:sp>
      <p:sp>
        <p:nvSpPr>
          <p:cNvPr id="1696" name="Rectangle 1695"/>
          <p:cNvSpPr/>
          <p:nvPr/>
        </p:nvSpPr>
        <p:spPr>
          <a:xfrm>
            <a:off x="3219762" y="4271067"/>
            <a:ext cx="965866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7" name="TextBox 1696"/>
          <p:cNvSpPr txBox="1"/>
          <p:nvPr/>
        </p:nvSpPr>
        <p:spPr>
          <a:xfrm>
            <a:off x="3405628" y="427106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40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5" name="Google Shape;1685;p7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6" name="Google Shape;1686;p7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89" name="Google Shape;1689;p72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0" name="Google Shape;1690;p72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1" name="Google Shape;1691;p72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72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p72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72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72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72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s060.text.1697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98" name="s060.text.1698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99" name="s060.text.1699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00" name="s060.text.1700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01" name="s060.text.1701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33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2" name="s060.text.1702"/>
          <p:cNvSpPr txBox="1"/>
          <p:nvPr/>
        </p:nvSpPr>
        <p:spPr>
          <a:xfrm>
            <a:off x="3375062" y="4182950"/>
            <a:ext cx="1872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21/22</a:t>
            </a:r>
            <a:endParaRPr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3" name="s060.text.1703"/>
          <p:cNvSpPr txBox="1"/>
          <p:nvPr/>
        </p:nvSpPr>
        <p:spPr>
          <a:xfrm>
            <a:off x="5137526" y="41621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4" name="s060.text.1704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523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88" name="s060.text.168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0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60/72</a:t>
            </a:r>
          </a:p>
        </p:txBody>
      </p:sp>
      <p:sp>
        <p:nvSpPr>
          <p:cNvPr id="1705" name="Captura de actividad pendiente"/>
          <p:cNvSpPr/>
          <p:nvPr>
            <p:ph type="pic"/>
          </p:nvPr>
        </p:nvSpPr>
        <p:spPr>
          <a:xfrm>
            <a:off x="2023150" y="815836"/>
            <a:ext cx="5750760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0" name="Google Shape;1710;p7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1" name="Google Shape;1711;p7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13" name="s061.text.171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1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61/72</a:t>
            </a:r>
          </a:p>
        </p:txBody>
      </p:sp>
      <p:sp>
        <p:nvSpPr>
          <p:cNvPr id="1716" name="TextBox 1715"/>
          <p:cNvSpPr txBox="1"/>
          <p:nvPr/>
        </p:nvSpPr>
        <p:spPr>
          <a:xfrm>
            <a:off x="1364675" y="805249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Volcable</a:t>
            </a:r>
          </a:p>
        </p:txBody>
      </p:sp>
      <p:sp>
        <p:nvSpPr>
          <p:cNvPr id="1717" name="TextBox 1716"/>
          <p:cNvSpPr txBox="1"/>
          <p:nvPr/>
        </p:nvSpPr>
        <p:spPr>
          <a:xfrm>
            <a:off x="1364675" y="113524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1</a:t>
            </a:r>
          </a:p>
        </p:txBody>
      </p:sp>
      <p:sp>
        <p:nvSpPr>
          <p:cNvPr id="1718" name="Rectangle 1717"/>
          <p:cNvSpPr/>
          <p:nvPr/>
        </p:nvSpPr>
        <p:spPr>
          <a:xfrm>
            <a:off x="3133162" y="1290282"/>
            <a:ext cx="4829333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9" name="TextBox 1718"/>
          <p:cNvSpPr txBox="1"/>
          <p:nvPr/>
        </p:nvSpPr>
        <p:spPr>
          <a:xfrm>
            <a:off x="7182495" y="129028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150</a:t>
            </a:r>
          </a:p>
        </p:txBody>
      </p:sp>
      <p:sp>
        <p:nvSpPr>
          <p:cNvPr id="1720" name="TextBox 1719"/>
          <p:cNvSpPr txBox="1"/>
          <p:nvPr/>
        </p:nvSpPr>
        <p:spPr>
          <a:xfrm>
            <a:off x="1364675" y="191041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2</a:t>
            </a:r>
          </a:p>
        </p:txBody>
      </p:sp>
      <p:sp>
        <p:nvSpPr>
          <p:cNvPr id="1721" name="Rectangle 1720"/>
          <p:cNvSpPr/>
          <p:nvPr/>
        </p:nvSpPr>
        <p:spPr>
          <a:xfrm>
            <a:off x="3133162" y="2065447"/>
            <a:ext cx="3605901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2" name="TextBox 1721"/>
          <p:cNvSpPr txBox="1"/>
          <p:nvPr/>
        </p:nvSpPr>
        <p:spPr>
          <a:xfrm>
            <a:off x="5959063" y="206544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112</a:t>
            </a:r>
          </a:p>
        </p:txBody>
      </p:sp>
      <p:sp>
        <p:nvSpPr>
          <p:cNvPr id="1723" name="TextBox 1722"/>
          <p:cNvSpPr txBox="1"/>
          <p:nvPr/>
        </p:nvSpPr>
        <p:spPr>
          <a:xfrm>
            <a:off x="1364675" y="268557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3</a:t>
            </a:r>
          </a:p>
        </p:txBody>
      </p:sp>
      <p:sp>
        <p:nvSpPr>
          <p:cNvPr id="1724" name="Rectangle 1723"/>
          <p:cNvSpPr/>
          <p:nvPr/>
        </p:nvSpPr>
        <p:spPr>
          <a:xfrm>
            <a:off x="3133162" y="2840612"/>
            <a:ext cx="3444924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5" name="TextBox 1724"/>
          <p:cNvSpPr txBox="1"/>
          <p:nvPr/>
        </p:nvSpPr>
        <p:spPr>
          <a:xfrm>
            <a:off x="5798086" y="284061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107</a:t>
            </a:r>
          </a:p>
        </p:txBody>
      </p:sp>
      <p:sp>
        <p:nvSpPr>
          <p:cNvPr id="1726" name="TextBox 1725"/>
          <p:cNvSpPr txBox="1"/>
          <p:nvPr/>
        </p:nvSpPr>
        <p:spPr>
          <a:xfrm>
            <a:off x="1364675" y="346074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4</a:t>
            </a:r>
          </a:p>
        </p:txBody>
      </p:sp>
      <p:sp>
        <p:nvSpPr>
          <p:cNvPr id="1727" name="TextBox 1726"/>
          <p:cNvSpPr txBox="1"/>
          <p:nvPr/>
        </p:nvSpPr>
        <p:spPr>
          <a:xfrm>
            <a:off x="3158162" y="3615777"/>
            <a:ext cx="78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728" name="TextBox 1727"/>
          <p:cNvSpPr txBox="1"/>
          <p:nvPr/>
        </p:nvSpPr>
        <p:spPr>
          <a:xfrm>
            <a:off x="1364675" y="423590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5</a:t>
            </a:r>
          </a:p>
        </p:txBody>
      </p:sp>
      <p:sp>
        <p:nvSpPr>
          <p:cNvPr id="1729" name="Rectangle 1728"/>
          <p:cNvSpPr/>
          <p:nvPr/>
        </p:nvSpPr>
        <p:spPr>
          <a:xfrm>
            <a:off x="3133162" y="4390942"/>
            <a:ext cx="3831270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0" name="TextBox 1729"/>
          <p:cNvSpPr txBox="1"/>
          <p:nvPr/>
        </p:nvSpPr>
        <p:spPr>
          <a:xfrm>
            <a:off x="6184432" y="439094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119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9" name="Google Shape;1719;p7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0" name="Google Shape;1720;p7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23" name="Google Shape;1723;p74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74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74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6" name="Google Shape;1726;p74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p74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74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74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74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s062.text.173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2" name="s062.text.173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3" name="s062.text.173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4" name="s062.text.173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5" name="s062.text.1735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6" name="s062.text.173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05-06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7" name="s062.text.1737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8" name="s062.text.173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2" name="s062.text.172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Viernes 11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4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62/72</a:t>
            </a:r>
          </a:p>
        </p:txBody>
      </p:sp>
      <p:sp>
        <p:nvSpPr>
          <p:cNvPr id="1739" name="Captura de actividad pendiente"/>
          <p:cNvSpPr/>
          <p:nvPr>
            <p:ph type="pic"/>
          </p:nvPr>
        </p:nvSpPr>
        <p:spPr>
          <a:xfrm>
            <a:off x="1988125" y="749699"/>
            <a:ext cx="600042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4" name="Google Shape;1744;p7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5" name="Google Shape;1745;p7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47" name="s063.text.174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4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63/72</a:t>
            </a:r>
          </a:p>
        </p:txBody>
      </p:sp>
      <p:sp>
        <p:nvSpPr>
          <p:cNvPr id="1750" name="TextBox 1749"/>
          <p:cNvSpPr txBox="1"/>
          <p:nvPr/>
        </p:nvSpPr>
        <p:spPr>
          <a:xfrm>
            <a:off x="1195950" y="775999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Volcable</a:t>
            </a:r>
          </a:p>
        </p:txBody>
      </p:sp>
      <p:sp>
        <p:nvSpPr>
          <p:cNvPr id="1751" name="TextBox 1750"/>
          <p:cNvSpPr txBox="1"/>
          <p:nvPr/>
        </p:nvSpPr>
        <p:spPr>
          <a:xfrm>
            <a:off x="1195950" y="110599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1</a:t>
            </a:r>
          </a:p>
        </p:txBody>
      </p:sp>
      <p:sp>
        <p:nvSpPr>
          <p:cNvPr id="1752" name="Rectangle 1751"/>
          <p:cNvSpPr/>
          <p:nvPr/>
        </p:nvSpPr>
        <p:spPr>
          <a:xfrm>
            <a:off x="2964437" y="1261032"/>
            <a:ext cx="1416604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3" name="TextBox 1752"/>
          <p:cNvSpPr txBox="1"/>
          <p:nvPr/>
        </p:nvSpPr>
        <p:spPr>
          <a:xfrm>
            <a:off x="3601041" y="126103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44</a:t>
            </a:r>
          </a:p>
        </p:txBody>
      </p:sp>
      <p:sp>
        <p:nvSpPr>
          <p:cNvPr id="1754" name="TextBox 1753"/>
          <p:cNvSpPr txBox="1"/>
          <p:nvPr/>
        </p:nvSpPr>
        <p:spPr>
          <a:xfrm>
            <a:off x="1195950" y="188116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2</a:t>
            </a:r>
          </a:p>
        </p:txBody>
      </p:sp>
      <p:sp>
        <p:nvSpPr>
          <p:cNvPr id="1755" name="Rectangle 1754"/>
          <p:cNvSpPr/>
          <p:nvPr/>
        </p:nvSpPr>
        <p:spPr>
          <a:xfrm>
            <a:off x="2964437" y="2036197"/>
            <a:ext cx="4121030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6" name="TextBox 1755"/>
          <p:cNvSpPr txBox="1"/>
          <p:nvPr/>
        </p:nvSpPr>
        <p:spPr>
          <a:xfrm>
            <a:off x="6305467" y="203619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128</a:t>
            </a:r>
          </a:p>
        </p:txBody>
      </p:sp>
      <p:sp>
        <p:nvSpPr>
          <p:cNvPr id="1757" name="TextBox 1756"/>
          <p:cNvSpPr txBox="1"/>
          <p:nvPr/>
        </p:nvSpPr>
        <p:spPr>
          <a:xfrm>
            <a:off x="1195950" y="265632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3</a:t>
            </a:r>
          </a:p>
        </p:txBody>
      </p:sp>
      <p:sp>
        <p:nvSpPr>
          <p:cNvPr id="1758" name="Rectangle 1757"/>
          <p:cNvSpPr/>
          <p:nvPr/>
        </p:nvSpPr>
        <p:spPr>
          <a:xfrm>
            <a:off x="2964437" y="2811362"/>
            <a:ext cx="4571768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9" name="TextBox 1758"/>
          <p:cNvSpPr txBox="1"/>
          <p:nvPr/>
        </p:nvSpPr>
        <p:spPr>
          <a:xfrm>
            <a:off x="6756205" y="281136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142</a:t>
            </a:r>
          </a:p>
        </p:txBody>
      </p:sp>
      <p:sp>
        <p:nvSpPr>
          <p:cNvPr id="1760" name="TextBox 1759"/>
          <p:cNvSpPr txBox="1"/>
          <p:nvPr/>
        </p:nvSpPr>
        <p:spPr>
          <a:xfrm>
            <a:off x="1195950" y="343149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4</a:t>
            </a:r>
          </a:p>
        </p:txBody>
      </p:sp>
      <p:sp>
        <p:nvSpPr>
          <p:cNvPr id="1761" name="TextBox 1760"/>
          <p:cNvSpPr txBox="1"/>
          <p:nvPr/>
        </p:nvSpPr>
        <p:spPr>
          <a:xfrm>
            <a:off x="2989437" y="3586527"/>
            <a:ext cx="78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762" name="TextBox 1761"/>
          <p:cNvSpPr txBox="1"/>
          <p:nvPr/>
        </p:nvSpPr>
        <p:spPr>
          <a:xfrm>
            <a:off x="1195950" y="420665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5</a:t>
            </a:r>
          </a:p>
        </p:txBody>
      </p:sp>
      <p:sp>
        <p:nvSpPr>
          <p:cNvPr id="1763" name="Rectangle 1762"/>
          <p:cNvSpPr/>
          <p:nvPr/>
        </p:nvSpPr>
        <p:spPr>
          <a:xfrm>
            <a:off x="2964437" y="4361692"/>
            <a:ext cx="4185421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4" name="TextBox 1763"/>
          <p:cNvSpPr txBox="1"/>
          <p:nvPr/>
        </p:nvSpPr>
        <p:spPr>
          <a:xfrm>
            <a:off x="6369858" y="436169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130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2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3" name="Google Shape;1753;p7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4" name="Google Shape;1754;p7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57" name="Google Shape;1757;p76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8" name="Google Shape;1758;p76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9" name="Google Shape;1759;p76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76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1" name="Google Shape;1761;p76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76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76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p76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5" name="s064.text.1765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6" name="s064.text.1766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7" name="s064.text.1767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8" name="s064.text.1768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9" name="s064.text.1769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0" name="s064.text.1770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01-02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1" name="s064.text.1771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2" name="s064.text.1772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444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56" name="s064.text.175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7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64/72</a:t>
            </a:r>
          </a:p>
        </p:txBody>
      </p:sp>
      <p:sp>
        <p:nvSpPr>
          <p:cNvPr id="1773" name="Captura de actividad pendiente"/>
          <p:cNvSpPr/>
          <p:nvPr>
            <p:ph type="pic"/>
          </p:nvPr>
        </p:nvSpPr>
        <p:spPr>
          <a:xfrm>
            <a:off x="2045850" y="785274"/>
            <a:ext cx="571760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8" name="Google Shape;1778;p7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9" name="Google Shape;1779;p7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81" name="s065.text.178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8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65/72</a:t>
            </a:r>
          </a:p>
        </p:txBody>
      </p:sp>
      <p:sp>
        <p:nvSpPr>
          <p:cNvPr id="1784" name="TextBox 1783"/>
          <p:cNvSpPr txBox="1"/>
          <p:nvPr/>
        </p:nvSpPr>
        <p:spPr>
          <a:xfrm>
            <a:off x="1578275" y="77372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Volcable</a:t>
            </a:r>
          </a:p>
        </p:txBody>
      </p:sp>
      <p:sp>
        <p:nvSpPr>
          <p:cNvPr id="1785" name="TextBox 1784"/>
          <p:cNvSpPr txBox="1"/>
          <p:nvPr/>
        </p:nvSpPr>
        <p:spPr>
          <a:xfrm>
            <a:off x="1578275" y="110372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1</a:t>
            </a:r>
          </a:p>
        </p:txBody>
      </p:sp>
      <p:sp>
        <p:nvSpPr>
          <p:cNvPr id="1786" name="TextBox 1785"/>
          <p:cNvSpPr txBox="1"/>
          <p:nvPr/>
        </p:nvSpPr>
        <p:spPr>
          <a:xfrm>
            <a:off x="3371762" y="1258757"/>
            <a:ext cx="78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787" name="TextBox 1786"/>
          <p:cNvSpPr txBox="1"/>
          <p:nvPr/>
        </p:nvSpPr>
        <p:spPr>
          <a:xfrm>
            <a:off x="1578275" y="187888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2</a:t>
            </a:r>
          </a:p>
        </p:txBody>
      </p:sp>
      <p:sp>
        <p:nvSpPr>
          <p:cNvPr id="1788" name="TextBox 1787"/>
          <p:cNvSpPr txBox="1"/>
          <p:nvPr/>
        </p:nvSpPr>
        <p:spPr>
          <a:xfrm>
            <a:off x="3371762" y="2033922"/>
            <a:ext cx="78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789" name="TextBox 1788"/>
          <p:cNvSpPr txBox="1"/>
          <p:nvPr/>
        </p:nvSpPr>
        <p:spPr>
          <a:xfrm>
            <a:off x="1578275" y="265405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3</a:t>
            </a:r>
          </a:p>
        </p:txBody>
      </p:sp>
      <p:sp>
        <p:nvSpPr>
          <p:cNvPr id="1790" name="Rectangle 1789"/>
          <p:cNvSpPr/>
          <p:nvPr/>
        </p:nvSpPr>
        <p:spPr>
          <a:xfrm>
            <a:off x="3346762" y="2809087"/>
            <a:ext cx="2173199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1" name="TextBox 1790"/>
          <p:cNvSpPr txBox="1"/>
          <p:nvPr/>
        </p:nvSpPr>
        <p:spPr>
          <a:xfrm>
            <a:off x="4739961" y="280908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18</a:t>
            </a:r>
          </a:p>
        </p:txBody>
      </p:sp>
      <p:sp>
        <p:nvSpPr>
          <p:cNvPr id="1792" name="TextBox 1791"/>
          <p:cNvSpPr txBox="1"/>
          <p:nvPr/>
        </p:nvSpPr>
        <p:spPr>
          <a:xfrm>
            <a:off x="1578275" y="342921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4</a:t>
            </a:r>
          </a:p>
        </p:txBody>
      </p:sp>
      <p:sp>
        <p:nvSpPr>
          <p:cNvPr id="1793" name="TextBox 1792"/>
          <p:cNvSpPr txBox="1"/>
          <p:nvPr/>
        </p:nvSpPr>
        <p:spPr>
          <a:xfrm>
            <a:off x="3371762" y="3584252"/>
            <a:ext cx="78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794" name="TextBox 1793"/>
          <p:cNvSpPr txBox="1"/>
          <p:nvPr/>
        </p:nvSpPr>
        <p:spPr>
          <a:xfrm>
            <a:off x="1578275" y="420438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5</a:t>
            </a:r>
          </a:p>
        </p:txBody>
      </p:sp>
      <p:sp>
        <p:nvSpPr>
          <p:cNvPr id="1795" name="Rectangle 1794"/>
          <p:cNvSpPr/>
          <p:nvPr/>
        </p:nvSpPr>
        <p:spPr>
          <a:xfrm>
            <a:off x="3346762" y="4359417"/>
            <a:ext cx="4346399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6" name="TextBox 1795"/>
          <p:cNvSpPr txBox="1"/>
          <p:nvPr/>
        </p:nvSpPr>
        <p:spPr>
          <a:xfrm>
            <a:off x="6913161" y="435941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36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7" name="Google Shape;1787;p7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8" name="Google Shape;1788;p7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1" name="Google Shape;1791;p78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78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p78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p78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5" name="Google Shape;1795;p78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6" name="Google Shape;1796;p78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78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8" name="Google Shape;1798;p78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s066.text.1799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0" name="s066.text.1800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1" name="s066.text.1801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2" name="s066.text.1802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3" name="s066.text.1803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4" name="s066.text.1804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00-01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5" name="s066.text.1805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6" name="s066.text.1806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90" name="s066.text.179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Domingo 13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0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66/72</a:t>
            </a:r>
          </a:p>
        </p:txBody>
      </p:sp>
      <p:sp>
        <p:nvSpPr>
          <p:cNvPr id="1807" name="Captura de actividad pendiente"/>
          <p:cNvSpPr/>
          <p:nvPr>
            <p:ph type="pic"/>
          </p:nvPr>
        </p:nvSpPr>
        <p:spPr>
          <a:xfrm>
            <a:off x="1993900" y="749699"/>
            <a:ext cx="585372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2" name="Google Shape;1812;p7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3" name="Google Shape;1813;p7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15" name="s067.text.181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1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67/72</a:t>
            </a:r>
          </a:p>
        </p:txBody>
      </p:sp>
      <p:sp>
        <p:nvSpPr>
          <p:cNvPr id="1818" name="TextBox 1817"/>
          <p:cNvSpPr txBox="1"/>
          <p:nvPr/>
        </p:nvSpPr>
        <p:spPr>
          <a:xfrm>
            <a:off x="1376825" y="70177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Volcable</a:t>
            </a:r>
          </a:p>
        </p:txBody>
      </p:sp>
      <p:sp>
        <p:nvSpPr>
          <p:cNvPr id="1819" name="TextBox 1818"/>
          <p:cNvSpPr txBox="1"/>
          <p:nvPr/>
        </p:nvSpPr>
        <p:spPr>
          <a:xfrm>
            <a:off x="1376825" y="103177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1</a:t>
            </a:r>
          </a:p>
        </p:txBody>
      </p:sp>
      <p:sp>
        <p:nvSpPr>
          <p:cNvPr id="1820" name="Rectangle 1819"/>
          <p:cNvSpPr/>
          <p:nvPr/>
        </p:nvSpPr>
        <p:spPr>
          <a:xfrm>
            <a:off x="3145312" y="1186807"/>
            <a:ext cx="965866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1" name="TextBox 1820"/>
          <p:cNvSpPr txBox="1"/>
          <p:nvPr/>
        </p:nvSpPr>
        <p:spPr>
          <a:xfrm>
            <a:off x="3331178" y="118680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30</a:t>
            </a:r>
          </a:p>
        </p:txBody>
      </p:sp>
      <p:sp>
        <p:nvSpPr>
          <p:cNvPr id="1822" name="TextBox 1821"/>
          <p:cNvSpPr txBox="1"/>
          <p:nvPr/>
        </p:nvSpPr>
        <p:spPr>
          <a:xfrm>
            <a:off x="1376825" y="180693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2</a:t>
            </a:r>
          </a:p>
        </p:txBody>
      </p:sp>
      <p:sp>
        <p:nvSpPr>
          <p:cNvPr id="1823" name="Rectangle 1822"/>
          <p:cNvSpPr/>
          <p:nvPr/>
        </p:nvSpPr>
        <p:spPr>
          <a:xfrm>
            <a:off x="3145312" y="1961972"/>
            <a:ext cx="3219555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4" name="TextBox 1823"/>
          <p:cNvSpPr txBox="1"/>
          <p:nvPr/>
        </p:nvSpPr>
        <p:spPr>
          <a:xfrm>
            <a:off x="5584867" y="196197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100</a:t>
            </a:r>
          </a:p>
        </p:txBody>
      </p:sp>
      <p:sp>
        <p:nvSpPr>
          <p:cNvPr id="1825" name="TextBox 1824"/>
          <p:cNvSpPr txBox="1"/>
          <p:nvPr/>
        </p:nvSpPr>
        <p:spPr>
          <a:xfrm>
            <a:off x="1376825" y="258210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3</a:t>
            </a:r>
          </a:p>
        </p:txBody>
      </p:sp>
      <p:sp>
        <p:nvSpPr>
          <p:cNvPr id="1826" name="Rectangle 1825"/>
          <p:cNvSpPr/>
          <p:nvPr/>
        </p:nvSpPr>
        <p:spPr>
          <a:xfrm>
            <a:off x="3145312" y="2737137"/>
            <a:ext cx="869279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7" name="TextBox 1826"/>
          <p:cNvSpPr txBox="1"/>
          <p:nvPr/>
        </p:nvSpPr>
        <p:spPr>
          <a:xfrm>
            <a:off x="3234591" y="273713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27</a:t>
            </a:r>
          </a:p>
        </p:txBody>
      </p:sp>
      <p:sp>
        <p:nvSpPr>
          <p:cNvPr id="1828" name="TextBox 1827"/>
          <p:cNvSpPr txBox="1"/>
          <p:nvPr/>
        </p:nvSpPr>
        <p:spPr>
          <a:xfrm>
            <a:off x="1376825" y="335726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4</a:t>
            </a:r>
          </a:p>
        </p:txBody>
      </p:sp>
      <p:sp>
        <p:nvSpPr>
          <p:cNvPr id="1829" name="Rectangle 1828"/>
          <p:cNvSpPr/>
          <p:nvPr/>
        </p:nvSpPr>
        <p:spPr>
          <a:xfrm>
            <a:off x="3145312" y="3512302"/>
            <a:ext cx="869279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0" name="TextBox 1829"/>
          <p:cNvSpPr txBox="1"/>
          <p:nvPr/>
        </p:nvSpPr>
        <p:spPr>
          <a:xfrm>
            <a:off x="3234591" y="351230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27</a:t>
            </a:r>
          </a:p>
        </p:txBody>
      </p:sp>
      <p:sp>
        <p:nvSpPr>
          <p:cNvPr id="1831" name="TextBox 1830"/>
          <p:cNvSpPr txBox="1"/>
          <p:nvPr/>
        </p:nvSpPr>
        <p:spPr>
          <a:xfrm>
            <a:off x="1376825" y="413243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5</a:t>
            </a:r>
          </a:p>
        </p:txBody>
      </p:sp>
      <p:sp>
        <p:nvSpPr>
          <p:cNvPr id="1832" name="Rectangle 1831"/>
          <p:cNvSpPr/>
          <p:nvPr/>
        </p:nvSpPr>
        <p:spPr>
          <a:xfrm>
            <a:off x="3145312" y="4287467"/>
            <a:ext cx="3573706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3" name="TextBox 1832"/>
          <p:cNvSpPr txBox="1"/>
          <p:nvPr/>
        </p:nvSpPr>
        <p:spPr>
          <a:xfrm>
            <a:off x="5939018" y="428746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111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1" name="Google Shape;1821;p8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2" name="Google Shape;1822;p8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25" name="Google Shape;1825;p80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p80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p80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8" name="Google Shape;1828;p80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9" name="Google Shape;1829;p80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80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p80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80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s068.text.1833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4" name="s068.text.1834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5" name="s068.text.1835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6" name="s068.text.1836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7" name="s068.text.1837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8" name="s068.text.1838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9" name="s068.text.1839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0" name="s068.text.1840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24" name="s068.text.182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Lunes 14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4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68/72</a:t>
            </a:r>
          </a:p>
        </p:txBody>
      </p:sp>
      <p:sp>
        <p:nvSpPr>
          <p:cNvPr id="1841" name="Captura de actividad pendiente"/>
          <p:cNvSpPr/>
          <p:nvPr>
            <p:ph type="pic"/>
          </p:nvPr>
        </p:nvSpPr>
        <p:spPr>
          <a:xfrm>
            <a:off x="1228600" y="785274"/>
            <a:ext cx="6590051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5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6" name="Google Shape;1846;p8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7" name="Google Shape;1847;p8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9" name="s069.text.184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5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69/72</a:t>
            </a:r>
          </a:p>
        </p:txBody>
      </p:sp>
      <p:sp>
        <p:nvSpPr>
          <p:cNvPr id="1852" name="TextBox 1851"/>
          <p:cNvSpPr txBox="1"/>
          <p:nvPr/>
        </p:nvSpPr>
        <p:spPr>
          <a:xfrm>
            <a:off x="1171063" y="715699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Volcable</a:t>
            </a:r>
          </a:p>
        </p:txBody>
      </p:sp>
      <p:sp>
        <p:nvSpPr>
          <p:cNvPr id="1853" name="TextBox 1852"/>
          <p:cNvSpPr txBox="1"/>
          <p:nvPr/>
        </p:nvSpPr>
        <p:spPr>
          <a:xfrm>
            <a:off x="1171063" y="104569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1</a:t>
            </a:r>
          </a:p>
        </p:txBody>
      </p:sp>
      <p:sp>
        <p:nvSpPr>
          <p:cNvPr id="1854" name="Rectangle 1853"/>
          <p:cNvSpPr/>
          <p:nvPr/>
        </p:nvSpPr>
        <p:spPr>
          <a:xfrm>
            <a:off x="2939550" y="1200732"/>
            <a:ext cx="4185421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5" name="TextBox 1854"/>
          <p:cNvSpPr txBox="1"/>
          <p:nvPr/>
        </p:nvSpPr>
        <p:spPr>
          <a:xfrm>
            <a:off x="6344971" y="120073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130</a:t>
            </a:r>
          </a:p>
        </p:txBody>
      </p:sp>
      <p:sp>
        <p:nvSpPr>
          <p:cNvPr id="1856" name="TextBox 1855"/>
          <p:cNvSpPr txBox="1"/>
          <p:nvPr/>
        </p:nvSpPr>
        <p:spPr>
          <a:xfrm>
            <a:off x="1171063" y="182086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2</a:t>
            </a:r>
          </a:p>
        </p:txBody>
      </p:sp>
      <p:sp>
        <p:nvSpPr>
          <p:cNvPr id="1857" name="Rectangle 1856"/>
          <p:cNvSpPr/>
          <p:nvPr/>
        </p:nvSpPr>
        <p:spPr>
          <a:xfrm>
            <a:off x="2939550" y="1975897"/>
            <a:ext cx="3895661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8" name="TextBox 1857"/>
          <p:cNvSpPr txBox="1"/>
          <p:nvPr/>
        </p:nvSpPr>
        <p:spPr>
          <a:xfrm>
            <a:off x="6055211" y="197589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121</a:t>
            </a:r>
          </a:p>
        </p:txBody>
      </p:sp>
      <p:sp>
        <p:nvSpPr>
          <p:cNvPr id="1859" name="TextBox 1858"/>
          <p:cNvSpPr txBox="1"/>
          <p:nvPr/>
        </p:nvSpPr>
        <p:spPr>
          <a:xfrm>
            <a:off x="1171063" y="259602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3</a:t>
            </a:r>
          </a:p>
        </p:txBody>
      </p:sp>
      <p:sp>
        <p:nvSpPr>
          <p:cNvPr id="1860" name="Rectangle 1859"/>
          <p:cNvSpPr/>
          <p:nvPr/>
        </p:nvSpPr>
        <p:spPr>
          <a:xfrm>
            <a:off x="2939550" y="2751062"/>
            <a:ext cx="1899537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1" name="TextBox 1860"/>
          <p:cNvSpPr txBox="1"/>
          <p:nvPr/>
        </p:nvSpPr>
        <p:spPr>
          <a:xfrm>
            <a:off x="4059087" y="275106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59</a:t>
            </a:r>
          </a:p>
        </p:txBody>
      </p:sp>
      <p:sp>
        <p:nvSpPr>
          <p:cNvPr id="1862" name="TextBox 1861"/>
          <p:cNvSpPr txBox="1"/>
          <p:nvPr/>
        </p:nvSpPr>
        <p:spPr>
          <a:xfrm>
            <a:off x="1171063" y="337119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4</a:t>
            </a:r>
          </a:p>
        </p:txBody>
      </p:sp>
      <p:sp>
        <p:nvSpPr>
          <p:cNvPr id="1863" name="Rectangle 1862"/>
          <p:cNvSpPr/>
          <p:nvPr/>
        </p:nvSpPr>
        <p:spPr>
          <a:xfrm>
            <a:off x="2939550" y="3526227"/>
            <a:ext cx="1513191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4" name="TextBox 1863"/>
          <p:cNvSpPr txBox="1"/>
          <p:nvPr/>
        </p:nvSpPr>
        <p:spPr>
          <a:xfrm>
            <a:off x="3672741" y="352622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47</a:t>
            </a:r>
          </a:p>
        </p:txBody>
      </p:sp>
      <p:sp>
        <p:nvSpPr>
          <p:cNvPr id="1865" name="TextBox 1864"/>
          <p:cNvSpPr txBox="1"/>
          <p:nvPr/>
        </p:nvSpPr>
        <p:spPr>
          <a:xfrm>
            <a:off x="1171063" y="414635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5</a:t>
            </a:r>
          </a:p>
        </p:txBody>
      </p:sp>
      <p:sp>
        <p:nvSpPr>
          <p:cNvPr id="1866" name="Rectangle 1865"/>
          <p:cNvSpPr/>
          <p:nvPr/>
        </p:nvSpPr>
        <p:spPr>
          <a:xfrm>
            <a:off x="2939550" y="4301392"/>
            <a:ext cx="3992248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7" name="TextBox 1866"/>
          <p:cNvSpPr txBox="1"/>
          <p:nvPr/>
        </p:nvSpPr>
        <p:spPr>
          <a:xfrm>
            <a:off x="6151798" y="430139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124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5" name="Google Shape;1855;p8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6" name="Google Shape;1856;p8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59" name="Google Shape;1859;p82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0" name="Google Shape;1860;p82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1" name="Google Shape;1861;p82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2" name="Google Shape;1862;p82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3" name="Google Shape;1863;p82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4" name="Google Shape;1864;p82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5" name="Google Shape;1865;p82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6" name="Google Shape;1866;p82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s070.text.1867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68" name="s070.text.1868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69" name="s070.text.1869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70" name="s070.text.1870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71" name="s070.text.1871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2" name="s070.text.1872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02-03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3" name="s070.text.1873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4" name="s070.text.1874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8" name="s070.text.185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7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70/72</a:t>
            </a:r>
          </a:p>
        </p:txBody>
      </p:sp>
      <p:sp>
        <p:nvSpPr>
          <p:cNvPr id="1875" name="Captura de actividad pendiente"/>
          <p:cNvSpPr/>
          <p:nvPr>
            <p:ph type="pic"/>
          </p:nvPr>
        </p:nvSpPr>
        <p:spPr>
          <a:xfrm>
            <a:off x="1529175" y="785274"/>
            <a:ext cx="663969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9" name="Shape 1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1" name="Google Shape;1881;p83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2" name="Google Shape;1882;p83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84" name="s071.text.188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8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71/72</a:t>
            </a:r>
          </a:p>
        </p:txBody>
      </p:sp>
      <p:sp>
        <p:nvSpPr>
          <p:cNvPr id="1886" name="TextBox 1885"/>
          <p:cNvSpPr txBox="1"/>
          <p:nvPr/>
        </p:nvSpPr>
        <p:spPr>
          <a:xfrm>
            <a:off x="1547273" y="728925"/>
            <a:ext cx="62964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Volcable</a:t>
            </a:r>
          </a:p>
        </p:txBody>
      </p:sp>
      <p:sp>
        <p:nvSpPr>
          <p:cNvPr id="1887" name="TextBox 1886"/>
          <p:cNvSpPr txBox="1"/>
          <p:nvPr/>
        </p:nvSpPr>
        <p:spPr>
          <a:xfrm>
            <a:off x="1547273" y="1058925"/>
            <a:ext cx="1597064" cy="71265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1</a:t>
            </a:r>
          </a:p>
        </p:txBody>
      </p:sp>
      <p:sp>
        <p:nvSpPr>
          <p:cNvPr id="1888" name="TextBox 1887"/>
          <p:cNvSpPr txBox="1"/>
          <p:nvPr/>
        </p:nvSpPr>
        <p:spPr>
          <a:xfrm>
            <a:off x="3209337" y="1201456"/>
            <a:ext cx="780000" cy="427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889" name="TextBox 1888"/>
          <p:cNvSpPr txBox="1"/>
          <p:nvPr/>
        </p:nvSpPr>
        <p:spPr>
          <a:xfrm>
            <a:off x="1547273" y="1771580"/>
            <a:ext cx="1597064" cy="71265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2</a:t>
            </a:r>
          </a:p>
        </p:txBody>
      </p:sp>
      <p:sp>
        <p:nvSpPr>
          <p:cNvPr id="1890" name="TextBox 1889"/>
          <p:cNvSpPr txBox="1"/>
          <p:nvPr/>
        </p:nvSpPr>
        <p:spPr>
          <a:xfrm>
            <a:off x="3209337" y="1914111"/>
            <a:ext cx="780000" cy="427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891" name="TextBox 1890"/>
          <p:cNvSpPr txBox="1"/>
          <p:nvPr/>
        </p:nvSpPr>
        <p:spPr>
          <a:xfrm>
            <a:off x="1547273" y="2484235"/>
            <a:ext cx="1597064" cy="71265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3</a:t>
            </a:r>
          </a:p>
        </p:txBody>
      </p:sp>
      <p:sp>
        <p:nvSpPr>
          <p:cNvPr id="1892" name="Rectangle 1891"/>
          <p:cNvSpPr/>
          <p:nvPr/>
        </p:nvSpPr>
        <p:spPr>
          <a:xfrm>
            <a:off x="3184337" y="2626766"/>
            <a:ext cx="4470444" cy="427593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3" name="TextBox 1892"/>
          <p:cNvSpPr txBox="1"/>
          <p:nvPr/>
        </p:nvSpPr>
        <p:spPr>
          <a:xfrm>
            <a:off x="6874781" y="2626766"/>
            <a:ext cx="740000" cy="427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150</a:t>
            </a:r>
          </a:p>
        </p:txBody>
      </p:sp>
      <p:sp>
        <p:nvSpPr>
          <p:cNvPr id="1894" name="TextBox 1893"/>
          <p:cNvSpPr txBox="1"/>
          <p:nvPr/>
        </p:nvSpPr>
        <p:spPr>
          <a:xfrm>
            <a:off x="1547273" y="3196890"/>
            <a:ext cx="1597064" cy="71265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4</a:t>
            </a:r>
          </a:p>
        </p:txBody>
      </p:sp>
      <p:sp>
        <p:nvSpPr>
          <p:cNvPr id="1895" name="Rectangle 1894"/>
          <p:cNvSpPr/>
          <p:nvPr/>
        </p:nvSpPr>
        <p:spPr>
          <a:xfrm>
            <a:off x="3184337" y="3339421"/>
            <a:ext cx="3725370" cy="427593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6" name="TextBox 1895"/>
          <p:cNvSpPr txBox="1"/>
          <p:nvPr/>
        </p:nvSpPr>
        <p:spPr>
          <a:xfrm>
            <a:off x="6129707" y="3339421"/>
            <a:ext cx="740000" cy="427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125</a:t>
            </a:r>
          </a:p>
        </p:txBody>
      </p:sp>
      <p:sp>
        <p:nvSpPr>
          <p:cNvPr id="1897" name="TextBox 1896"/>
          <p:cNvSpPr txBox="1"/>
          <p:nvPr/>
        </p:nvSpPr>
        <p:spPr>
          <a:xfrm>
            <a:off x="1547273" y="3909545"/>
            <a:ext cx="1597064" cy="71265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5</a:t>
            </a:r>
          </a:p>
        </p:txBody>
      </p:sp>
      <p:sp>
        <p:nvSpPr>
          <p:cNvPr id="1898" name="Rectangle 1897"/>
          <p:cNvSpPr/>
          <p:nvPr/>
        </p:nvSpPr>
        <p:spPr>
          <a:xfrm>
            <a:off x="3184337" y="4052076"/>
            <a:ext cx="3993596" cy="427593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9" name="TextBox 1898"/>
          <p:cNvSpPr txBox="1"/>
          <p:nvPr/>
        </p:nvSpPr>
        <p:spPr>
          <a:xfrm>
            <a:off x="6397933" y="4052076"/>
            <a:ext cx="740000" cy="427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134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9" name="Google Shape;1889;p8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0" name="Google Shape;1890;p8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93" name="Google Shape;1893;p84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4" name="Google Shape;1894;p84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5" name="Google Shape;1895;p84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6" name="Google Shape;1896;p84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7" name="Google Shape;1897;p84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8" name="Google Shape;1898;p84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p84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0" name="Google Shape;1900;p84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s072.text.190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2" name="s072.text.190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3" name="s072.text.190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4" name="s072.text.190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5" name="s072.text.1905"/>
          <p:cNvSpPr txBox="1"/>
          <p:nvPr/>
        </p:nvSpPr>
        <p:spPr>
          <a:xfrm>
            <a:off x="2511126" y="418295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6" name="s072.text.190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10-11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7" name="s072.text.1907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8" name="s072.text.190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2" name="s072.text.18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91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72/72</a:t>
            </a:r>
          </a:p>
        </p:txBody>
      </p:sp>
      <p:sp>
        <p:nvSpPr>
          <p:cNvPr id="1909" name="Captura de actividad pendiente"/>
          <p:cNvSpPr/>
          <p:nvPr>
            <p:ph type="pic"/>
          </p:nvPr>
        </p:nvSpPr>
        <p:spPr>
          <a:xfrm>
            <a:off x="1389175" y="785274"/>
            <a:ext cx="6587038" cy="3028327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