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000.xml" ContentType="application/vnd.openxmlformats-officedocument.drawingml.chart+xml"/>
  <Override PartName="/ppt/charts/chart1001.xml" ContentType="application/vnd.openxmlformats-officedocument.drawingml.chart+xml"/>
  <Override PartName="/ppt/charts/chart1005.xml" ContentType="application/vnd.openxmlformats-officedocument.drawingml.chart+xml"/>
  <Override PartName="/ppt/charts/chart1006.xml" ContentType="application/vnd.openxmlformats-officedocument.drawingml.chart+xml"/>
  <Override PartName="/ppt/charts/chart1009.xml" ContentType="application/vnd.openxmlformats-officedocument.drawingml.chart+xml"/>
  <Override PartName="/ppt/charts/chart1010.xml" ContentType="application/vnd.openxmlformats-officedocument.drawingml.chart+xml"/>
  <Override PartName="/ppt/charts/chart1011.xml" ContentType="application/vnd.openxmlformats-officedocument.drawingml.chart+xml"/>
  <Override PartName="/ppt/charts/chart1012.xml" ContentType="application/vnd.openxmlformats-officedocument.drawingml.chart+xml"/>
  <Override PartName="/ppt/charts/chart1013.xml" ContentType="application/vnd.openxmlformats-officedocument.drawingml.chart+xml"/>
  <Override PartName="/ppt/charts/chart1021.xml" ContentType="application/vnd.openxmlformats-officedocument.drawingml.chart+xml"/>
  <Override PartName="/ppt/charts/chart1022.xml" ContentType="application/vnd.openxmlformats-officedocument.drawingml.chart+xml"/>
  <Override PartName="/ppt/charts/chart1023.xml" ContentType="application/vnd.openxmlformats-officedocument.drawingml.chart+xml"/>
  <Override PartName="/ppt/charts/chart1024.xml" ContentType="application/vnd.openxmlformats-officedocument.drawingml.chart+xml"/>
  <Override PartName="/ppt/charts/chart1025.xml" ContentType="application/vnd.openxmlformats-officedocument.drawingml.chart+xml"/>
  <Override PartName="/ppt/charts/chart1026.xml" ContentType="application/vnd.openxmlformats-officedocument.drawingml.chart+xml"/>
  <Override PartName="/ppt/charts/chart1027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font" Target="fonts/Inter-regular.fntdata"/><Relationship Id="rId79" Type="http://schemas.openxmlformats.org/officeDocument/2006/relationships/font" Target="fonts/Inter-bold.fntdata"/><Relationship Id="rId80" Type="http://schemas.openxmlformats.org/officeDocument/2006/relationships/font" Target="fonts/Inter-italic.fntdata"/><Relationship Id="rId81" Type="http://schemas.openxmlformats.org/officeDocument/2006/relationships/font" Target="fonts/Inter-boldItalic.fntdata"/><Relationship Id="rId82" Type="http://schemas.openxmlformats.org/officeDocument/2006/relationships/font" Target="fonts/InterExtraBold-bold.fntdata"/><Relationship Id="rId83" Type="http://schemas.openxmlformats.org/officeDocument/2006/relationships/font" Target="fonts/InterExtraBold-boldItalic.fntdata"/><Relationship Id="rId84" Type="http://schemas.openxmlformats.org/officeDocument/2006/relationships/font" Target="fonts/InterMedium-regular.fntdata"/><Relationship Id="rId85" Type="http://schemas.openxmlformats.org/officeDocument/2006/relationships/font" Target="fonts/InterMedium-bold.fntdata"/><Relationship Id="rId86" Type="http://schemas.openxmlformats.org/officeDocument/2006/relationships/font" Target="fonts/InterMedium-italic.fntdata"/><Relationship Id="rId87" Type="http://schemas.openxmlformats.org/officeDocument/2006/relationships/font" Target="fonts/InterMedium-boldItalic.fntdata"/><Relationship Id="rId88" Type="http://schemas.openxmlformats.org/officeDocument/2006/relationships/font" Target="fonts/InterExtraLight-regular.fntdata"/><Relationship Id="rId89" Type="http://schemas.openxmlformats.org/officeDocument/2006/relationships/font" Target="fonts/InterExtraLight-bold.fntdata"/><Relationship Id="rId90" Type="http://schemas.openxmlformats.org/officeDocument/2006/relationships/font" Target="fonts/InterExtraLight-italic.fntdata"/><Relationship Id="rId91" Type="http://schemas.openxmlformats.org/officeDocument/2006/relationships/font" Target="fonts/InterExtraLigh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1000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_rels/chart1001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1005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_rels/chart1006.xml.rels><Relationships xmlns="http://schemas.openxmlformats.org/package/2006/relationships"><Relationship Id="rIdChartSnapshot1" Type="http://schemas.openxmlformats.org/officeDocument/2006/relationships/package" Target="../embeddings/chart-data-snapshot-004.xlsx"/></Relationships>
</file>

<file path=ppt/charts/_rels/chart1009.xml.rels><Relationships xmlns="http://schemas.openxmlformats.org/package/2006/relationships"><Relationship Id="rIdChartSnapshot1" Type="http://schemas.openxmlformats.org/officeDocument/2006/relationships/package" Target="../embeddings/chart-data-snapshot-005.xlsx"/></Relationships>
</file>

<file path=ppt/charts/_rels/chart1010.xml.rels><Relationships xmlns="http://schemas.openxmlformats.org/package/2006/relationships"><Relationship Id="rIdChartSnapshot1" Type="http://schemas.openxmlformats.org/officeDocument/2006/relationships/package" Target="../embeddings/chart-data-snapshot-006.xlsx"/></Relationships>
</file>

<file path=ppt/charts/_rels/chart1011.xml.rels><Relationships xmlns="http://schemas.openxmlformats.org/package/2006/relationships"><Relationship Id="rIdChartSnapshot1" Type="http://schemas.openxmlformats.org/officeDocument/2006/relationships/package" Target="../embeddings/chart-data-snapshot-007.xlsx"/></Relationships>
</file>

<file path=ppt/charts/_rels/chart1012.xml.rels><Relationships xmlns="http://schemas.openxmlformats.org/package/2006/relationships"><Relationship Id="rIdChartSnapshot1" Type="http://schemas.openxmlformats.org/officeDocument/2006/relationships/package" Target="../embeddings/chart-data-snapshot-008.xlsx"/></Relationships>
</file>

<file path=ppt/charts/_rels/chart1013.xml.rels><Relationships xmlns="http://schemas.openxmlformats.org/package/2006/relationships"><Relationship Id="rIdChartSnapshot1" Type="http://schemas.openxmlformats.org/officeDocument/2006/relationships/package" Target="../embeddings/chart-data-snapshot-009.xlsx"/></Relationships>
</file>

<file path=ppt/charts/_rels/chart1021.xml.rels><Relationships xmlns="http://schemas.openxmlformats.org/package/2006/relationships"><Relationship Id="rIdChartSnapshot1" Type="http://schemas.openxmlformats.org/officeDocument/2006/relationships/package" Target="../embeddings/chart-data-snapshot-010.xlsx"/></Relationships>
</file>

<file path=ppt/charts/_rels/chart1022.xml.rels><Relationships xmlns="http://schemas.openxmlformats.org/package/2006/relationships"><Relationship Id="rIdChartSnapshot1" Type="http://schemas.openxmlformats.org/officeDocument/2006/relationships/package" Target="../embeddings/chart-data-snapshot-011.xlsx"/></Relationships>
</file>

<file path=ppt/charts/_rels/chart1023.xml.rels><Relationships xmlns="http://schemas.openxmlformats.org/package/2006/relationships"><Relationship Id="rIdChartSnapshot1" Type="http://schemas.openxmlformats.org/officeDocument/2006/relationships/package" Target="../embeddings/chart-data-snapshot-012.xlsx"/></Relationships>
</file>

<file path=ppt/charts/_rels/chart1024.xml.rels><Relationships xmlns="http://schemas.openxmlformats.org/package/2006/relationships"><Relationship Id="rIdChartSnapshot1" Type="http://schemas.openxmlformats.org/officeDocument/2006/relationships/package" Target="../embeddings/chart-data-snapshot-013.xlsx"/></Relationships>
</file>

<file path=ppt/charts/_rels/chart1025.xml.rels><Relationships xmlns="http://schemas.openxmlformats.org/package/2006/relationships"><Relationship Id="rIdChartSnapshot1" Type="http://schemas.openxmlformats.org/officeDocument/2006/relationships/package" Target="../embeddings/chart-data-snapshot-014.xlsx"/></Relationships>
</file>

<file path=ppt/charts/_rels/chart1026.xml.rels><Relationships xmlns="http://schemas.openxmlformats.org/package/2006/relationships"><Relationship Id="rIdChartSnapshot1" Type="http://schemas.openxmlformats.org/officeDocument/2006/relationships/package" Target="../embeddings/chart-data-snapshot-015.xlsx"/></Relationships>
</file>

<file path=ppt/charts/_rels/chart1027.xml.rels><Relationships xmlns="http://schemas.openxmlformats.org/package/2006/relationships"><Relationship Id="rIdChartSnapshot1" Type="http://schemas.openxmlformats.org/officeDocument/2006/relationships/package" Target="../embeddings/chart-data-snapshot-0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Playa OSL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5E86A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10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Cobertura de lecturas (%)</a:t>
            </a:r>
          </a:p>
        </c:rich>
      </c:tx>
      <c:layout/>
      <c:overlay val="0"/>
    </c:title>
    <c:plotArea>
      <c:layout/>
      <c:pieChart>
        <c:varyColors val="1"/>
        <c:ser>
          <c:idx val="0"/>
          <c:order val="0"/>
          <c:tx>
            <c:v>Porcentaje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dPt>
            <c:idx val="0"/>
            <c:spPr>
              <a:solidFill>
                <a:srgbClr val="0B5A43"/>
              </a:solidFill>
            </c:spPr>
          </c:dPt>
          <c:dPt>
            <c:idx val="1"/>
            <c:spPr>
              <a:solidFill>
                <a:srgbClr val="4472C4"/>
              </a:solidFill>
            </c:spPr>
          </c:dPt>
          <c:dPt>
            <c:idx val="2"/>
            <c:spPr>
              <a:solidFill>
                <a:srgbClr val="C49A32"/>
              </a:solidFill>
            </c:spPr>
          </c:dPt>
          <c:dPt>
            <c:idx val="3"/>
            <c:spPr>
              <a:solidFill>
                <a:srgbClr val="A95C3F"/>
              </a:solidFill>
            </c:spPr>
          </c:dPt>
          <c:dPt>
            <c:idx val="4"/>
            <c:spPr>
              <a:solidFill>
                <a:srgbClr val="6E7D91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8 lecturas</c:v>
                </c:pt>
                <c:pt idx="1">
                  <c:v>7 lecturas</c:v>
                </c:pt>
                <c:pt idx="2">
                  <c:v>6 lecturas</c:v>
                </c:pt>
                <c:pt idx="3">
                  <c:v>5 lecturas</c:v>
                </c:pt>
                <c:pt idx="4">
                  <c:v>≤4 lecturas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33</c:v>
                </c:pt>
                <c:pt idx="1">
                  <c:v>28.2</c:v>
                </c:pt>
                <c:pt idx="2">
                  <c:v>18.1</c:v>
                </c:pt>
                <c:pt idx="3">
                  <c:v>12</c:v>
                </c:pt>
                <c:pt idx="4">
                  <c:v>8.6</c:v>
                </c:pt>
              </c:numCache>
            </c:numRef>
          </c:val>
        </c:ser>
        <c:dLbls>
          <c:numFmt formatCode="0.0&quot;%&quot;" sourceLinked="0"/>
          <c:dLblPos val="bestFit"/>
          <c:showLegendKey val="0"/>
          <c:showVal val="1"/>
          <c:showCatName val="0"/>
          <c:showSerName val="0"/>
          <c:showPercent val="0"/>
        </c:dLbls>
      </c:pieChart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Data'!$A$2:$A$2</c:f>
              <c:strCache>
                <c:ptCount val="1"/>
                <c:pt idx="0">
                  <c:v>R7 Terminal de embarque</c:v>
                </c:pt>
              </c:strCache>
            </c:strRef>
          </c:cat>
          <c:val>
            <c:numRef>
              <c:f>'Chart Data'!$B$2:$B$2</c:f>
              <c:numCache>
                <c:formatCode>0</c:formatCode>
                <c:ptCount val="1"/>
                <c:pt idx="0">
                  <c:v>2557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v>Playa OSL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Ref>
              <c:f>'Chart Data'!$C$2:$C$15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Data'!$D$2:$D$15</c:f>
              <c:numCache>
                <c:formatCode>0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v>Descarga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marker>
            <c:symbol val="circle"/>
            <c:size val="4"/>
          </c:marker>
          <c:cat>
            <c:strRef>
              <c:f>'Chart Data'!$E$2:$E$15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Data'!$F$2:$F$15</c:f>
              <c:numCache>
                <c:formatCode>0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Cobertura de lecturas (%)</a:t>
            </a:r>
          </a:p>
        </c:rich>
      </c:tx>
      <c:layout/>
      <c:overlay val="0"/>
    </c:title>
    <c:plotArea>
      <c:layout/>
      <c:pieChart>
        <c:varyColors val="1"/>
        <c:ser>
          <c:idx val="0"/>
          <c:order val="0"/>
          <c:tx>
            <c:v>Porcentaje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dPt>
            <c:idx val="0"/>
            <c:spPr>
              <a:solidFill>
                <a:srgbClr val="0B5A43"/>
              </a:solidFill>
            </c:spPr>
          </c:dPt>
          <c:dPt>
            <c:idx val="1"/>
            <c:spPr>
              <a:solidFill>
                <a:srgbClr val="4472C4"/>
              </a:solidFill>
            </c:spPr>
          </c:dPt>
          <c:dPt>
            <c:idx val="2"/>
            <c:spPr>
              <a:solidFill>
                <a:srgbClr val="C49A32"/>
              </a:solidFill>
            </c:spPr>
          </c:dPt>
          <c:dPt>
            <c:idx val="3"/>
            <c:spPr>
              <a:solidFill>
                <a:srgbClr val="A95C3F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7 lecturas</c:v>
                </c:pt>
                <c:pt idx="1">
                  <c:v>6 lecturas</c:v>
                </c:pt>
                <c:pt idx="2">
                  <c:v>5 lecturas</c:v>
                </c:pt>
                <c:pt idx="3">
                  <c:v>≤4 lecturas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60</c:v>
                </c:pt>
                <c:pt idx="1">
                  <c:v>20</c:v>
                </c:pt>
                <c:pt idx="2">
                  <c:v>9.1</c:v>
                </c:pt>
                <c:pt idx="3">
                  <c:v>10.9</c:v>
                </c:pt>
              </c:numCache>
            </c:numRef>
          </c:val>
        </c:ser>
        <c:dLbls>
          <c:numFmt formatCode="0.0&quot;%&quot;" sourceLinked="0"/>
          <c:dLblPos val="bestFit"/>
          <c:showLegendKey val="0"/>
          <c:showVal val="1"/>
          <c:showCatName val="0"/>
          <c:showSerName val="0"/>
          <c:showPercent val="0"/>
        </c:dLbls>
      </c:pieChart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R5 Volcable 1</c:v>
                </c:pt>
                <c:pt idx="1">
                  <c:v>R6 Volcable 2</c:v>
                </c:pt>
                <c:pt idx="2">
                  <c:v>R4 Silos Kepler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361</c:v>
                </c:pt>
                <c:pt idx="1">
                  <c:v>92</c:v>
                </c:pt>
                <c:pt idx="2">
                  <c:v>40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v>Descarga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Ref>
              <c:f>'Chart Data'!$C$2:$C$15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Data'!$D$2:$D$15</c:f>
              <c:numCache>
                <c:formatCode>0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Girasol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semanal por calle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831</c:v>
                </c:pt>
                <c:pt idx="1">
                  <c:v>837</c:v>
                </c:pt>
                <c:pt idx="2">
                  <c:v>626</c:v>
                </c:pt>
                <c:pt idx="3">
                  <c:v>625</c:v>
                </c:pt>
                <c:pt idx="4">
                  <c:v>3</c:v>
                </c:pt>
                <c:pt idx="5">
                  <c:v>38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líquidos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1</c:v>
                </c:pt>
                <c:pt idx="1">
                  <c:v>4</c:v>
                </c:pt>
                <c:pt idx="2">
                  <c:v>2</c:v>
                </c:pt>
                <c:pt idx="3">
                  <c:v>0</c:v>
                </c:pt>
                <c:pt idx="4">
                  <c:v>91</c:v>
                </c:pt>
                <c:pt idx="5">
                  <c:v>27</c:v>
                </c:pt>
                <c:pt idx="6">
                  <c:v>30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San Lorenzo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55</c:v>
                </c:pt>
                <c:pt idx="1">
                  <c:v>47</c:v>
                </c:pt>
                <c:pt idx="2">
                  <c:v>7</c:v>
                </c:pt>
                <c:pt idx="3">
                  <c:v>2</c:v>
                </c:pt>
                <c:pt idx="4">
                  <c:v>40</c:v>
                </c:pt>
                <c:pt idx="5">
                  <c:v>51</c:v>
                </c:pt>
                <c:pt idx="6">
                  <c:v>40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semanales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Volcable 1</c:v>
                </c:pt>
                <c:pt idx="1">
                  <c:v>Volcable 2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361</c:v>
                </c:pt>
                <c:pt idx="1">
                  <c:v>92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diarias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Volcable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55</c:v>
                </c:pt>
                <c:pt idx="1">
                  <c:v>70</c:v>
                </c:pt>
                <c:pt idx="2">
                  <c:v>70</c:v>
                </c:pt>
                <c:pt idx="3">
                  <c:v>10</c:v>
                </c:pt>
                <c:pt idx="4">
                  <c:v>36</c:v>
                </c:pt>
                <c:pt idx="5">
                  <c:v>63</c:v>
                </c:pt>
                <c:pt idx="6">
                  <c:v>74</c:v>
                </c:pt>
              </c:numCache>
            </c:numRef>
          </c:val>
        </c:ser>
        <c:ser>
          <c:idx val="1"/>
          <c:order val="1"/>
          <c:tx>
            <c:v>Volcable 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Data'!$D$2:$D$8</c:f>
              <c:numCache>
                <c:formatCode>0</c:formatCode>
                <c:ptCount val="7"/>
                <c:pt idx="0">
                  <c:v>21</c:v>
                </c:pt>
                <c:pt idx="1">
                  <c:v>16</c:v>
                </c:pt>
                <c:pt idx="2">
                  <c:v>17</c:v>
                </c:pt>
                <c:pt idx="3">
                  <c:v>6</c:v>
                </c:pt>
                <c:pt idx="4">
                  <c:v>15</c:v>
                </c:pt>
                <c:pt idx="5">
                  <c:v>12</c:v>
                </c:pt>
                <c:pt idx="6">
                  <c:v>9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Silos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0</c:v>
                </c:pt>
                <c:pt idx="1">
                  <c:v>30</c:v>
                </c:pt>
                <c:pt idx="2">
                  <c:v>10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523</c:v>
                </c:pt>
                <c:pt idx="1">
                  <c:v>488</c:v>
                </c:pt>
                <c:pt idx="2">
                  <c:v>444</c:v>
                </c:pt>
                <c:pt idx="3">
                  <c:v>54</c:v>
                </c:pt>
                <c:pt idx="4">
                  <c:v>291</c:v>
                </c:pt>
                <c:pt idx="5">
                  <c:v>479</c:v>
                </c:pt>
                <c:pt idx="6">
                  <c:v>409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semanal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502</c:v>
                </c:pt>
                <c:pt idx="1">
                  <c:v>627</c:v>
                </c:pt>
                <c:pt idx="2">
                  <c:v>641</c:v>
                </c:pt>
                <c:pt idx="3">
                  <c:v>226</c:v>
                </c:pt>
                <c:pt idx="4">
                  <c:v>692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Manual1000" Type="http://schemas.openxmlformats.org/officeDocument/2006/relationships/chart" Target="../charts/chart1000.xml"/><Relationship Id="rIdManual1001" Type="http://schemas.openxmlformats.org/officeDocument/2006/relationships/chart" Target="../charts/chart100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Relationship Id="rId8" Type="http://schemas.openxmlformats.org/officeDocument/2006/relationships/chart" Target="../charts/chart1.xml"/><Relationship Id="rId9" Type="http://schemas.openxmlformats.org/officeDocument/2006/relationships/chart" Target="../charts/chart2.xml"/><Relationship Id="rIdManual1005" Type="http://schemas.openxmlformats.org/officeDocument/2006/relationships/chart" Target="../charts/chart1005.xml"/><Relationship Id="rIdManual1006" Type="http://schemas.openxmlformats.org/officeDocument/2006/relationships/chart" Target="../charts/chart100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Relationship Id="rIdManual1009" Type="http://schemas.openxmlformats.org/officeDocument/2006/relationships/chart" Target="../charts/chart1009.xml"/><Relationship Id="rIdManual1010" Type="http://schemas.openxmlformats.org/officeDocument/2006/relationships/chart" Target="../charts/chart10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Relationship Id="rIdManual1011" Type="http://schemas.openxmlformats.org/officeDocument/2006/relationships/chart" Target="../charts/chart1011.xml"/><Relationship Id="rIdManual1012" Type="http://schemas.openxmlformats.org/officeDocument/2006/relationships/chart" Target="../charts/chart10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3" Type="http://schemas.openxmlformats.org/officeDocument/2006/relationships/chart" Target="../charts/chart10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Relationship Id="rIdManual1021" Type="http://schemas.openxmlformats.org/officeDocument/2006/relationships/chart" Target="../charts/chart102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Relationship Id="rIdManual1022" Type="http://schemas.openxmlformats.org/officeDocument/2006/relationships/chart" Target="../charts/chart102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Manual1023" Type="http://schemas.openxmlformats.org/officeDocument/2006/relationships/chart" Target="../charts/chart1023.xml"/><Relationship Id="rIdManual1024" Type="http://schemas.openxmlformats.org/officeDocument/2006/relationships/chart" Target="../charts/chart102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Relationship Id="rIdManual1025" Type="http://schemas.openxmlformats.org/officeDocument/2006/relationships/chart" Target="../charts/chart102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26" Type="http://schemas.openxmlformats.org/officeDocument/2006/relationships/chart" Target="../charts/chart102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Relationship Id="rIdManual1027" Type="http://schemas.openxmlformats.org/officeDocument/2006/relationships/chart" Target="../charts/chart10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Comite de Logistica</a:t>
            </a:r>
            <a:endParaRPr b="0" i="0" sz="11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Nueva Vicentin Argentina</a:t>
            </a:r>
            <a:endParaRPr b="1" i="0" sz="3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18-09-2026</a:t>
            </a:r>
            <a:endParaRPr b="0" i="0" sz="13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1/72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label"/>
          <p:cNvSpPr txBox="1"/>
          <p:nvPr/>
        </p:nvSpPr>
        <p:spPr>
          <a:xfrm>
            <a:off x="1095375" y="781050"/>
            <a:ext cx="69532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Período analizado: 10/09 al 16/09/2026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index.0.number"/>
          <p:cNvSpPr txBox="1"/>
          <p:nvPr/>
        </p:nvSpPr>
        <p:spPr>
          <a:xfrm>
            <a:off x="1095375" y="1285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3" name="index.0.title"/>
          <p:cNvSpPr txBox="1"/>
          <p:nvPr/>
        </p:nvSpPr>
        <p:spPr>
          <a:xfrm>
            <a:off x="1695450" y="1285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Tamaño de la muestra y período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4" name="index.0.pages"/>
          <p:cNvSpPr txBox="1"/>
          <p:nvPr/>
        </p:nvSpPr>
        <p:spPr>
          <a:xfrm>
            <a:off x="7029450" y="1285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index.1.number"/>
          <p:cNvSpPr txBox="1"/>
          <p:nvPr/>
        </p:nvSpPr>
        <p:spPr>
          <a:xfrm>
            <a:off x="1095375" y="1857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6" name="index.1.title"/>
          <p:cNvSpPr txBox="1"/>
          <p:nvPr/>
        </p:nvSpPr>
        <p:spPr>
          <a:xfrm>
            <a:off x="1695450" y="1857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soja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7" name="index.1.pages"/>
          <p:cNvSpPr txBox="1"/>
          <p:nvPr/>
        </p:nvSpPr>
        <p:spPr>
          <a:xfrm>
            <a:off x="7029450" y="1857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4–18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8" name="index.2.number"/>
          <p:cNvSpPr txBox="1"/>
          <p:nvPr/>
        </p:nvSpPr>
        <p:spPr>
          <a:xfrm>
            <a:off x="1095375" y="2428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index.2.title"/>
          <p:cNvSpPr txBox="1"/>
          <p:nvPr/>
        </p:nvSpPr>
        <p:spPr>
          <a:xfrm>
            <a:off x="1695450" y="2428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Operativo de pellet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0" name="index.2.pages"/>
          <p:cNvSpPr txBox="1"/>
          <p:nvPr/>
        </p:nvSpPr>
        <p:spPr>
          <a:xfrm>
            <a:off x="7029450" y="2428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19–26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index.3.number"/>
          <p:cNvSpPr txBox="1"/>
          <p:nvPr/>
        </p:nvSpPr>
        <p:spPr>
          <a:xfrm>
            <a:off x="1095375" y="3000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4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index.3.title"/>
          <p:cNvSpPr txBox="1"/>
          <p:nvPr/>
        </p:nvSpPr>
        <p:spPr>
          <a:xfrm>
            <a:off x="1695450" y="3000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semilla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3" name="index.3.pages"/>
          <p:cNvSpPr txBox="1"/>
          <p:nvPr/>
        </p:nvSpPr>
        <p:spPr>
          <a:xfrm>
            <a:off x="7029450" y="3000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27–32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4" name="index.4.number"/>
          <p:cNvSpPr txBox="1"/>
          <p:nvPr/>
        </p:nvSpPr>
        <p:spPr>
          <a:xfrm>
            <a:off x="1095375" y="3571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5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index.4.title"/>
          <p:cNvSpPr txBox="1"/>
          <p:nvPr/>
        </p:nvSpPr>
        <p:spPr>
          <a:xfrm>
            <a:off x="1695450" y="3571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6" name="index.4.pages"/>
          <p:cNvSpPr txBox="1"/>
          <p:nvPr/>
        </p:nvSpPr>
        <p:spPr>
          <a:xfrm>
            <a:off x="7029450" y="3571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33–51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7" name="index.5.number"/>
          <p:cNvSpPr txBox="1"/>
          <p:nvPr/>
        </p:nvSpPr>
        <p:spPr>
          <a:xfrm>
            <a:off x="1095375" y="4143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index.5.title"/>
          <p:cNvSpPr txBox="1"/>
          <p:nvPr/>
        </p:nvSpPr>
        <p:spPr>
          <a:xfrm>
            <a:off x="1695450" y="4143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volcables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9" name="index.5.pages"/>
          <p:cNvSpPr txBox="1"/>
          <p:nvPr/>
        </p:nvSpPr>
        <p:spPr>
          <a:xfrm>
            <a:off x="7029450" y="4143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52–72</a:t>
            </a:r>
            <a:endParaRPr sz="12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heading"/>
          <p:cNvSpPr txBox="1"/>
          <p:nvPr/>
        </p:nvSpPr>
        <p:spPr>
          <a:xfrm>
            <a:off x="666750" y="1066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PERÍODO DE ANÁLISIS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period.start.label"/>
          <p:cNvSpPr txBox="1"/>
          <p:nvPr/>
        </p:nvSpPr>
        <p:spPr>
          <a:xfrm>
            <a:off x="6667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Inicio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3" name="period.start"/>
          <p:cNvSpPr txBox="1"/>
          <p:nvPr/>
        </p:nvSpPr>
        <p:spPr>
          <a:xfrm>
            <a:off x="6667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10/09</a:t>
            </a:r>
            <a:endParaRPr sz="2250"/>
          </a:p>
        </p:txBody>
      </p:sp>
      <p:sp xmlns:p="http://schemas.openxmlformats.org/presentationml/2006/main" xmlns:a="http://schemas.openxmlformats.org/drawingml/2006/main">
        <p:nvSpPr>
          <p:cNvPr id="20004" name="period.end.label"/>
          <p:cNvSpPr txBox="1"/>
          <p:nvPr/>
        </p:nvSpPr>
        <p:spPr>
          <a:xfrm>
            <a:off x="190500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Fin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5" name="period.end"/>
          <p:cNvSpPr txBox="1"/>
          <p:nvPr/>
        </p:nvSpPr>
        <p:spPr>
          <a:xfrm>
            <a:off x="190500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16/09</a:t>
            </a:r>
            <a:endParaRPr sz="2250"/>
          </a:p>
        </p:txBody>
      </p:sp>
      <p:sp xmlns:p="http://schemas.openxmlformats.org/presentationml/2006/main" xmlns:a="http://schemas.openxmlformats.org/drawingml/2006/main">
        <p:nvSpPr>
          <p:cNvPr id="20006" name="period.days.label"/>
          <p:cNvSpPr txBox="1"/>
          <p:nvPr/>
        </p:nvSpPr>
        <p:spPr>
          <a:xfrm>
            <a:off x="31432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Días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7" name="period.days"/>
          <p:cNvSpPr txBox="1"/>
          <p:nvPr/>
        </p:nvSpPr>
        <p:spPr>
          <a:xfrm>
            <a:off x="31432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7</a:t>
            </a:r>
            <a:endParaRPr sz="2250"/>
          </a:p>
        </p:txBody>
      </p:sp>
      <p:sp xmlns:p="http://schemas.openxmlformats.org/presentationml/2006/main" xmlns:a="http://schemas.openxmlformats.org/drawingml/2006/main">
        <p:nvSpPr>
          <p:cNvPr id="20008" name="sample.total.label"/>
          <p:cNvSpPr txBox="1"/>
          <p:nvPr/>
        </p:nvSpPr>
        <p:spPr>
          <a:xfrm>
            <a:off x="5048250" y="1066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VOLUMEN TOTAL REGISTRADO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9" name="sample.total"/>
          <p:cNvSpPr txBox="1"/>
          <p:nvPr/>
        </p:nvSpPr>
        <p:spPr>
          <a:xfrm>
            <a:off x="5048250" y="14668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3150" b="1">
                <a:solidFill>
                  <a:srgbClr val="06245F"/>
                </a:solidFill>
                <a:latin typeface="Inter"/>
              </a:rPr>
              <a:t>3.423</a:t>
            </a:r>
            <a:endParaRPr sz="3150"/>
          </a:p>
        </p:txBody>
      </p:sp>
      <p:sp xmlns:p="http://schemas.openxmlformats.org/presentationml/2006/main" xmlns:a="http://schemas.openxmlformats.org/drawingml/2006/main">
        <p:nvSpPr>
          <p:cNvPr id="20010" name="sample.unit"/>
          <p:cNvSpPr txBox="1"/>
          <p:nvPr/>
        </p:nvSpPr>
        <p:spPr>
          <a:xfrm>
            <a:off x="5048250" y="20955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camiones · valor reportado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products.soja.label"/>
          <p:cNvSpPr txBox="1"/>
          <p:nvPr/>
        </p:nvSpPr>
        <p:spPr>
          <a:xfrm>
            <a:off x="666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8761D"/>
                </a:solidFill>
                <a:latin typeface="Inter"/>
              </a:rPr>
              <a:t>SOJA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2" name="products.soja.count"/>
          <p:cNvSpPr txBox="1"/>
          <p:nvPr/>
        </p:nvSpPr>
        <p:spPr>
          <a:xfrm>
            <a:off x="666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8761D"/>
                </a:solidFill>
                <a:latin typeface="Inter"/>
              </a:rPr>
              <a:t>2.557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3" name="products.girasol.label"/>
          <p:cNvSpPr txBox="1"/>
          <p:nvPr/>
        </p:nvSpPr>
        <p:spPr>
          <a:xfrm>
            <a:off x="2762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A78619"/>
                </a:solidFill>
                <a:latin typeface="Inter"/>
              </a:rPr>
              <a:t>GIRASOL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4" name="products.girasol.count"/>
          <p:cNvSpPr txBox="1"/>
          <p:nvPr/>
        </p:nvSpPr>
        <p:spPr>
          <a:xfrm>
            <a:off x="2762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A78619"/>
                </a:solidFill>
                <a:latin typeface="Inter"/>
              </a:rPr>
              <a:t>523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5" name="products.liquidos.label"/>
          <p:cNvSpPr txBox="1"/>
          <p:nvPr/>
        </p:nvSpPr>
        <p:spPr>
          <a:xfrm>
            <a:off x="4857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B86415"/>
                </a:solidFill>
                <a:latin typeface="Inter"/>
              </a:rPr>
              <a:t>LÍQUIDOS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6" name="products.liquidos.count"/>
          <p:cNvSpPr txBox="1"/>
          <p:nvPr/>
        </p:nvSpPr>
        <p:spPr>
          <a:xfrm>
            <a:off x="4857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B86415"/>
                </a:solidFill>
                <a:latin typeface="Inter"/>
              </a:rPr>
              <a:t>155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7" name="products.pellet.label"/>
          <p:cNvSpPr txBox="1"/>
          <p:nvPr/>
        </p:nvSpPr>
        <p:spPr>
          <a:xfrm>
            <a:off x="6953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56CB3"/>
                </a:solidFill>
                <a:latin typeface="Inter"/>
              </a:rPr>
              <a:t>PELLET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8" name="products.pellet.count"/>
          <p:cNvSpPr txBox="1"/>
          <p:nvPr/>
        </p:nvSpPr>
        <p:spPr>
          <a:xfrm>
            <a:off x="6953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56CB3"/>
                </a:solidFill>
                <a:latin typeface="Inter"/>
              </a:rPr>
              <a:t>188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9" name="sample.caption"/>
          <p:cNvSpPr txBox="1"/>
          <p:nvPr/>
        </p:nvSpPr>
        <p:spPr>
          <a:xfrm>
            <a:off x="666750" y="4324350"/>
            <a:ext cx="79057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Totales por producto del informe de referencia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Contenido del análisis</a:t>
            </a:r>
            <a:endParaRPr sz="1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Calidad de lectura de cámaras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Descripción del circuito R7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Comparativo semanal e histórico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4/72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4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Balanza Egreso</a:t>
            </a:r>
            <a:r>
              <a:rPr b="1" lang="es" sz="12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6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(1604  patentes no leídas)</a:t>
            </a:r>
            <a:endParaRPr b="0" i="0" sz="1034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849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7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306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Calidad de lectura de Cámaras LPR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5/72</a:t>
            </a:r>
          </a:p>
        </p:txBody>
      </p:sp>
      <p:graphicFrame>
        <p:nvGraphicFramePr>
          <p:cNvPr id="130" name="D05_G1"/>
          <p:cNvGraphicFramePr/>
          <p:nvPr/>
        </p:nvGraphicFramePr>
        <p:xfrm>
          <a:off x="4691086" y="1370979"/>
          <a:ext cx="3532260" cy="1921320"/>
        </p:xfrm>
        <a:graphic>
          <a:graphicData uri="http://schemas.openxmlformats.org/drawingml/2006/chart">
            <c:chart r:id="rIdManual1000"/>
          </a:graphicData>
        </a:graphic>
      </p:graphicFrame>
      <p:graphicFrame>
        <p:nvGraphicFramePr>
          <p:cNvPr id="137" name="D05_G2"/>
          <p:cNvGraphicFramePr/>
          <p:nvPr/>
        </p:nvGraphicFramePr>
        <p:xfrm>
          <a:off x="542025" y="1284563"/>
          <a:ext cx="3583200" cy="1693812"/>
        </p:xfrm>
        <a:graphic>
          <a:graphicData uri="http://schemas.openxmlformats.org/drawingml/2006/chart">
            <c:chart r:id="rIdManual100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Egreso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Egreso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Playa OSL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Interplanta </a:t>
            </a:r>
            <a:endParaRPr b="1"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Descarga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Salida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 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Producto:Soja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6/72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126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Ric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OSL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PTO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  Playa 1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Salida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Interplanta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334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Playa OSL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Comparativo </a:t>
            </a:r>
            <a:b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Semana anterior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 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2557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+58</a:t>
            </a:r>
            <a:endParaRPr b="1" sz="2000">
              <a:solidFill>
                <a:srgbClr val="D30D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142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22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34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Tiempos medios por tramo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7/72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164</a:t>
            </a:r>
            <a:endParaRPr b="1" sz="1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151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118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104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511</a:t>
            </a:r>
            <a:endParaRPr b="1" sz="15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8/72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168</a:t>
            </a:r>
            <a:endParaRPr b="1" sz="1166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91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347 </a:t>
            </a:r>
            <a:r>
              <a:rPr b="1" lang="es" sz="13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178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78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482</a:t>
            </a:r>
            <a:endParaRPr b="1" sz="24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47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183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9/72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195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81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40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419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175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203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55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10/72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169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272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5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74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14 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32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11/72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81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229 </a:t>
            </a:r>
            <a:r>
              <a:rPr b="1" lang="es" sz="13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66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92 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292</a:t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14/09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139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18m)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12/72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83</a:t>
            </a:r>
            <a:endParaRPr b="1" sz="1166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217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396 </a:t>
            </a:r>
            <a:r>
              <a:rPr b="1" lang="es" sz="13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110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115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395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284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13/72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179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387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16 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127 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352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135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27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Miércoles 16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14/72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15/72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1281763" y="7411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704" name="Rectangle 703"/>
          <p:cNvSpPr/>
          <p:nvPr/>
        </p:nvSpPr>
        <p:spPr>
          <a:xfrm>
            <a:off x="2914213" y="107117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TextBox 704"/>
          <p:cNvSpPr txBox="1"/>
          <p:nvPr/>
        </p:nvSpPr>
        <p:spPr>
          <a:xfrm>
            <a:off x="3094213" y="105117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706" name="Rectangle 705"/>
          <p:cNvSpPr/>
          <p:nvPr/>
        </p:nvSpPr>
        <p:spPr>
          <a:xfrm>
            <a:off x="4914213" y="107117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TextBox 706"/>
          <p:cNvSpPr txBox="1"/>
          <p:nvPr/>
        </p:nvSpPr>
        <p:spPr>
          <a:xfrm>
            <a:off x="5094213" y="105117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1281763" y="1311174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709" name="Rectangle 708"/>
          <p:cNvSpPr/>
          <p:nvPr/>
        </p:nvSpPr>
        <p:spPr>
          <a:xfrm>
            <a:off x="2370063" y="1409861"/>
            <a:ext cx="2506831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TextBox 709"/>
          <p:cNvSpPr txBox="1"/>
          <p:nvPr/>
        </p:nvSpPr>
        <p:spPr>
          <a:xfrm>
            <a:off x="2370063" y="1409861"/>
            <a:ext cx="250683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182</a:t>
            </a:r>
          </a:p>
        </p:txBody>
      </p:sp>
      <p:sp>
        <p:nvSpPr>
          <p:cNvPr id="711" name="Rectangle 710"/>
          <p:cNvSpPr/>
          <p:nvPr/>
        </p:nvSpPr>
        <p:spPr>
          <a:xfrm>
            <a:off x="4876894" y="1409861"/>
            <a:ext cx="2313998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TextBox 711"/>
          <p:cNvSpPr txBox="1"/>
          <p:nvPr/>
        </p:nvSpPr>
        <p:spPr>
          <a:xfrm>
            <a:off x="4876894" y="1409861"/>
            <a:ext cx="2313998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713" name="TextBox 712"/>
          <p:cNvSpPr txBox="1"/>
          <p:nvPr/>
        </p:nvSpPr>
        <p:spPr>
          <a:xfrm>
            <a:off x="1281763" y="1830577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714" name="Rectangle 713"/>
          <p:cNvSpPr/>
          <p:nvPr/>
        </p:nvSpPr>
        <p:spPr>
          <a:xfrm>
            <a:off x="2370063" y="1929264"/>
            <a:ext cx="2520605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2370063" y="1929264"/>
            <a:ext cx="2520605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183</a:t>
            </a:r>
          </a:p>
        </p:txBody>
      </p:sp>
      <p:sp>
        <p:nvSpPr>
          <p:cNvPr id="716" name="Rectangle 715"/>
          <p:cNvSpPr/>
          <p:nvPr/>
        </p:nvSpPr>
        <p:spPr>
          <a:xfrm>
            <a:off x="4890668" y="1929264"/>
            <a:ext cx="2066070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TextBox 716"/>
          <p:cNvSpPr txBox="1"/>
          <p:nvPr/>
        </p:nvSpPr>
        <p:spPr>
          <a:xfrm>
            <a:off x="4890668" y="1929264"/>
            <a:ext cx="206607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1281763" y="2349980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719" name="Rectangle 718"/>
          <p:cNvSpPr/>
          <p:nvPr/>
        </p:nvSpPr>
        <p:spPr>
          <a:xfrm>
            <a:off x="2370063" y="2448667"/>
            <a:ext cx="2410415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TextBox 719"/>
          <p:cNvSpPr txBox="1"/>
          <p:nvPr/>
        </p:nvSpPr>
        <p:spPr>
          <a:xfrm>
            <a:off x="2370063" y="2448667"/>
            <a:ext cx="2410415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175</a:t>
            </a:r>
          </a:p>
        </p:txBody>
      </p:sp>
      <p:sp>
        <p:nvSpPr>
          <p:cNvPr id="721" name="Rectangle 720"/>
          <p:cNvSpPr/>
          <p:nvPr/>
        </p:nvSpPr>
        <p:spPr>
          <a:xfrm>
            <a:off x="4780478" y="2448667"/>
            <a:ext cx="2796081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TextBox 721"/>
          <p:cNvSpPr txBox="1"/>
          <p:nvPr/>
        </p:nvSpPr>
        <p:spPr>
          <a:xfrm>
            <a:off x="4780478" y="2448667"/>
            <a:ext cx="279608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203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1281763" y="2869383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724" name="Rectangle 723"/>
          <p:cNvSpPr/>
          <p:nvPr/>
        </p:nvSpPr>
        <p:spPr>
          <a:xfrm>
            <a:off x="2370063" y="2968070"/>
            <a:ext cx="2575700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TextBox 724"/>
          <p:cNvSpPr txBox="1"/>
          <p:nvPr/>
        </p:nvSpPr>
        <p:spPr>
          <a:xfrm>
            <a:off x="2370063" y="2968070"/>
            <a:ext cx="257570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187</a:t>
            </a:r>
          </a:p>
        </p:txBody>
      </p:sp>
      <p:sp>
        <p:nvSpPr>
          <p:cNvPr id="726" name="Rectangle 725"/>
          <p:cNvSpPr/>
          <p:nvPr/>
        </p:nvSpPr>
        <p:spPr>
          <a:xfrm>
            <a:off x="4945763" y="2968070"/>
            <a:ext cx="1019261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TextBox 726"/>
          <p:cNvSpPr txBox="1"/>
          <p:nvPr/>
        </p:nvSpPr>
        <p:spPr>
          <a:xfrm>
            <a:off x="4945763" y="2968070"/>
            <a:ext cx="101926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74</a:t>
            </a:r>
          </a:p>
        </p:txBody>
      </p:sp>
      <p:sp>
        <p:nvSpPr>
          <p:cNvPr id="728" name="TextBox 727"/>
          <p:cNvSpPr txBox="1"/>
          <p:nvPr/>
        </p:nvSpPr>
        <p:spPr>
          <a:xfrm>
            <a:off x="1281763" y="3388786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729" name="Rectangle 728"/>
          <p:cNvSpPr/>
          <p:nvPr/>
        </p:nvSpPr>
        <p:spPr>
          <a:xfrm>
            <a:off x="2370063" y="3487473"/>
            <a:ext cx="1074356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2370063" y="3487473"/>
            <a:ext cx="1074356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78</a:t>
            </a:r>
          </a:p>
        </p:txBody>
      </p:sp>
      <p:sp>
        <p:nvSpPr>
          <p:cNvPr id="731" name="Rectangle 730"/>
          <p:cNvSpPr/>
          <p:nvPr/>
        </p:nvSpPr>
        <p:spPr>
          <a:xfrm>
            <a:off x="3444419" y="3487473"/>
            <a:ext cx="1914558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TextBox 731"/>
          <p:cNvSpPr txBox="1"/>
          <p:nvPr/>
        </p:nvSpPr>
        <p:spPr>
          <a:xfrm>
            <a:off x="3444419" y="3487473"/>
            <a:ext cx="1914558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139</a:t>
            </a:r>
          </a:p>
        </p:txBody>
      </p:sp>
      <p:sp>
        <p:nvSpPr>
          <p:cNvPr id="733" name="TextBox 732"/>
          <p:cNvSpPr txBox="1"/>
          <p:nvPr/>
        </p:nvSpPr>
        <p:spPr>
          <a:xfrm>
            <a:off x="1281763" y="3908189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734" name="Rectangle 733"/>
          <p:cNvSpPr/>
          <p:nvPr/>
        </p:nvSpPr>
        <p:spPr>
          <a:xfrm>
            <a:off x="2370063" y="4006876"/>
            <a:ext cx="1377380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TextBox 734"/>
          <p:cNvSpPr txBox="1"/>
          <p:nvPr/>
        </p:nvSpPr>
        <p:spPr>
          <a:xfrm>
            <a:off x="2370063" y="4006876"/>
            <a:ext cx="137738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>
        <p:nvSpPr>
          <p:cNvPr id="736" name="Rectangle 735"/>
          <p:cNvSpPr/>
          <p:nvPr/>
        </p:nvSpPr>
        <p:spPr>
          <a:xfrm>
            <a:off x="3747443" y="4006876"/>
            <a:ext cx="3911759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TextBox 736"/>
          <p:cNvSpPr txBox="1"/>
          <p:nvPr/>
        </p:nvSpPr>
        <p:spPr>
          <a:xfrm>
            <a:off x="3747443" y="4006876"/>
            <a:ext cx="3911759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284</a:t>
            </a:r>
          </a:p>
        </p:txBody>
      </p:sp>
      <p:sp>
        <p:nvSpPr>
          <p:cNvPr id="738" name="TextBox 737"/>
          <p:cNvSpPr txBox="1"/>
          <p:nvPr/>
        </p:nvSpPr>
        <p:spPr>
          <a:xfrm>
            <a:off x="1281763" y="4427592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2370063" y="4526279"/>
            <a:ext cx="1859463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2370063" y="4526279"/>
            <a:ext cx="1859463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135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4229526" y="4526279"/>
            <a:ext cx="3333259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4229526" y="4526279"/>
            <a:ext cx="3333259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28" title="Puntuación lograda"/>
          <p:cNvPicPr preferRelativeResize="0"/>
          <p:nvPr/>
        </p:nvPicPr>
        <p:blipFill rotWithShape="1">
          <a:blip r:embed="rId3">
            <a:alphaModFix/>
          </a:blip>
          <a:srcRect b="1966" l="0" r="0" t="1639"/>
          <a:stretch/>
        </p:blipFill>
        <p:spPr>
          <a:xfrm>
            <a:off x="1881750" y="2955400"/>
            <a:ext cx="5448501" cy="211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28" title="Puntuación lograda"/>
          <p:cNvPicPr preferRelativeResize="0"/>
          <p:nvPr/>
        </p:nvPicPr>
        <p:blipFill rotWithShape="1">
          <a:blip r:embed="rId4">
            <a:alphaModFix/>
          </a:blip>
          <a:srcRect b="0" l="0" r="0" t="12219"/>
          <a:stretch/>
        </p:blipFill>
        <p:spPr>
          <a:xfrm>
            <a:off x="2025814" y="597150"/>
            <a:ext cx="5152173" cy="232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16/72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sz="2400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17/72</a:t>
            </a:r>
          </a:p>
        </p:txBody>
      </p:sp>
      <p:graphicFrame>
        <p:nvGraphicFramePr>
          <p:cNvPr id="717" name="D17_G1"/>
          <p:cNvGraphicFramePr/>
          <p:nvPr/>
        </p:nvGraphicFramePr>
        <p:xfrm>
          <a:off x="4721275" y="1346499"/>
          <a:ext cx="4225575" cy="2612816"/>
        </p:xfrm>
        <a:graphic>
          <a:graphicData uri="http://schemas.openxmlformats.org/drawingml/2006/chart">
            <c:chart r:id="rIdManual1005"/>
          </a:graphicData>
        </a:graphic>
      </p:graphicFrame>
      <p:graphicFrame>
        <p:nvGraphicFramePr>
          <p:cNvPr id="722" name="D17_G2"/>
          <p:cNvGraphicFramePr/>
          <p:nvPr/>
        </p:nvGraphicFramePr>
        <p:xfrm>
          <a:off x="304800" y="1289324"/>
          <a:ext cx="4416474" cy="2730853"/>
        </p:xfrm>
        <a:graphic>
          <a:graphicData uri="http://schemas.openxmlformats.org/drawingml/2006/chart">
            <c:chart r:id="rIdManual100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resumen del circuito R7 informa un tiempo medio de </a:t>
            </a:r>
            <a:r>
              <a:rPr b="1" lang="es" sz="1100">
                <a:solidFill>
                  <a:schemeClr val="dk1"/>
                </a:solidFill>
              </a:rPr>
              <a:t>334 minutos (5 h 34 min)</a:t>
            </a:r>
            <a:r>
              <a:rPr lang="es" sz="1100">
                <a:solidFill>
                  <a:schemeClr val="dk1"/>
                </a:solidFill>
              </a:rPr>
              <a:t>, frente a 276 minutos en la semana anterior. Esto representa un incremento de </a:t>
            </a:r>
            <a:r>
              <a:rPr b="1" lang="es" sz="1100">
                <a:solidFill>
                  <a:schemeClr val="dk1"/>
                </a:solidFill>
              </a:rPr>
              <a:t>58 minutos (+21%)</a:t>
            </a:r>
            <a:r>
              <a:rPr lang="es" sz="1100">
                <a:solidFill>
                  <a:schemeClr val="dk1"/>
                </a:solidFill>
              </a:rPr>
              <a:t>, sujeto a la conciliación del promedio semanal con el detalle diario.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mayor parte del tiempo se concentra en </a:t>
            </a:r>
            <a:r>
              <a:rPr b="1" lang="es" sz="1100">
                <a:solidFill>
                  <a:schemeClr val="dk1"/>
                </a:solidFill>
              </a:rPr>
              <a:t>Playa 1 de Ricardone, con 126 minutos, y Playa OSL, con 119 minutos</a:t>
            </a:r>
            <a:r>
              <a:rPr lang="es" sz="1100">
                <a:solidFill>
                  <a:schemeClr val="dk1"/>
                </a:solidFill>
              </a:rPr>
              <a:t>. En conjunto representan aproximadamente el </a:t>
            </a:r>
            <a:r>
              <a:rPr b="1" lang="es" sz="1100">
                <a:solidFill>
                  <a:schemeClr val="dk1"/>
                </a:solidFill>
              </a:rPr>
              <a:t>73% del ciclo informado</a:t>
            </a:r>
            <a:r>
              <a:rPr lang="es" sz="1100">
                <a:solidFill>
                  <a:schemeClr val="dk1"/>
                </a:solidFill>
              </a:rPr>
              <a:t>, por lo que ambas esperas constituyen los principales focos de revisión.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lunes 14/09 presentó el menor tiempo, con </a:t>
            </a:r>
            <a:r>
              <a:rPr b="1" lang="es" sz="1100">
                <a:solidFill>
                  <a:schemeClr val="dk1"/>
                </a:solidFill>
              </a:rPr>
              <a:t>229 minutos</a:t>
            </a:r>
            <a:r>
              <a:rPr lang="es" sz="1100">
                <a:solidFill>
                  <a:schemeClr val="dk1"/>
                </a:solidFill>
              </a:rPr>
              <a:t>. El martes 15/09 registró el mayor, con </a:t>
            </a:r>
            <a:r>
              <a:rPr b="1" lang="es" sz="1100">
                <a:solidFill>
                  <a:schemeClr val="dk1"/>
                </a:solidFill>
              </a:rPr>
              <a:t>396 minutos</a:t>
            </a:r>
            <a:r>
              <a:rPr lang="es" sz="1100">
                <a:solidFill>
                  <a:schemeClr val="dk1"/>
                </a:solidFill>
              </a:rPr>
              <a:t>, seguido por el sábado, con 390, y el miércoles, con 387. El martes y el miércoles se destaca la permanencia en Playa OSL, de </a:t>
            </a:r>
            <a:r>
              <a:rPr b="1" lang="es" sz="1100">
                <a:solidFill>
                  <a:schemeClr val="dk1"/>
                </a:solidFill>
              </a:rPr>
              <a:t>217 y 179 minutos</a:t>
            </a:r>
            <a:r>
              <a:rPr lang="es" sz="1100">
                <a:solidFill>
                  <a:schemeClr val="dk1"/>
                </a:solidFill>
              </a:rPr>
              <a:t>, respectivamente.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domingo tuvo actividad reducida, con </a:t>
            </a:r>
            <a:r>
              <a:rPr b="1" lang="es" sz="1100">
                <a:solidFill>
                  <a:schemeClr val="dk1"/>
                </a:solidFill>
              </a:rPr>
              <a:t>39 camiones</a:t>
            </a:r>
            <a:r>
              <a:rPr lang="es" sz="1100">
                <a:solidFill>
                  <a:schemeClr val="dk1"/>
                </a:solidFill>
              </a:rPr>
              <a:t>, pero no una interrupción total. Corresponde revisar la programación de arribos y las condiciones operativas de las jornadas con mayores esperas, sin atribuir todavía las demoras a una causa específica.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18/72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Circuito R30/31/32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19/72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Toneladas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 5.550</a:t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</a:t>
            </a:r>
            <a: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5284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188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5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camiones</a:t>
            </a:r>
            <a:endParaRPr b="1" sz="15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Inicio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  Fin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Operativo de Pellet de 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20/72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3591150" y="1341900"/>
            <a:ext cx="542895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Puntuación lograda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3591150" y="1671900"/>
            <a:ext cx="1371527" cy="1318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764" name="Rectangle 763"/>
          <p:cNvSpPr/>
          <p:nvPr/>
        </p:nvSpPr>
        <p:spPr>
          <a:xfrm>
            <a:off x="5002677" y="1935640"/>
            <a:ext cx="3469099" cy="7912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TextBox 764"/>
          <p:cNvSpPr txBox="1"/>
          <p:nvPr/>
        </p:nvSpPr>
        <p:spPr>
          <a:xfrm>
            <a:off x="7691776" y="1935640"/>
            <a:ext cx="740000" cy="791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135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3591150" y="2990600"/>
            <a:ext cx="1371527" cy="1318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767" name="Rectangle 766"/>
          <p:cNvSpPr/>
          <p:nvPr/>
        </p:nvSpPr>
        <p:spPr>
          <a:xfrm>
            <a:off x="5002677" y="3254340"/>
            <a:ext cx="1284851" cy="7912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TextBox 767"/>
          <p:cNvSpPr txBox="1"/>
          <p:nvPr/>
        </p:nvSpPr>
        <p:spPr>
          <a:xfrm>
            <a:off x="5507528" y="3254340"/>
            <a:ext cx="740000" cy="791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8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9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P.Tara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Carga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Playa 3</a:t>
            </a:r>
            <a:endParaRPr b="1"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7 : Playa OSL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 : Interplanta </a:t>
            </a:r>
            <a:endParaRPr b="1"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8:  Descarga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9 : Salida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R30/31/32/ | Producto:Pellets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21/72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Tara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Acceso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Interplanta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185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Playa OSL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Salida SLZ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23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42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Producto:Pellet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22/72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102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11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23/72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9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</a:t>
            </a: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76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 30/31/32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24/72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25/72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1625150" y="7431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1067" name="Rectangle 1066"/>
          <p:cNvSpPr/>
          <p:nvPr/>
        </p:nvSpPr>
        <p:spPr>
          <a:xfrm>
            <a:off x="3257600" y="107312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TextBox 1067"/>
          <p:cNvSpPr txBox="1"/>
          <p:nvPr/>
        </p:nvSpPr>
        <p:spPr>
          <a:xfrm>
            <a:off x="3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5257600" y="107312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TextBox 1069"/>
          <p:cNvSpPr txBox="1"/>
          <p:nvPr/>
        </p:nvSpPr>
        <p:spPr>
          <a:xfrm>
            <a:off x="5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1625150" y="1313124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1072" name="Rectangle 1071"/>
          <p:cNvSpPr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103</a:t>
            </a:r>
          </a:p>
        </p:txBody>
      </p:sp>
      <p:sp>
        <p:nvSpPr>
          <p:cNvPr id="1074" name="Rectangle 1073"/>
          <p:cNvSpPr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71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1625150" y="3131037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1077" name="Rectangle 1076"/>
          <p:cNvSpPr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1079" name="Rectangle 1078"/>
          <p:cNvSpPr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TextBox 1079"/>
          <p:cNvSpPr txBox="1"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operativo de pellet de girasol se desarrolló entre el </a:t>
            </a:r>
            <a:r>
              <a:rPr b="1" lang="es" sz="1100">
                <a:solidFill>
                  <a:schemeClr val="dk1"/>
                </a:solidFill>
              </a:rPr>
              <a:t>14 y el 15 de septiembre</a:t>
            </a:r>
            <a:r>
              <a:rPr lang="es" sz="1100">
                <a:solidFill>
                  <a:schemeClr val="dk1"/>
                </a:solidFill>
              </a:rPr>
              <a:t>, con un </a:t>
            </a:r>
            <a:r>
              <a:rPr b="1" lang="es" sz="1100">
                <a:solidFill>
                  <a:schemeClr val="dk1"/>
                </a:solidFill>
              </a:rPr>
              <a:t>flujo bajo de camiones</a:t>
            </a:r>
            <a:r>
              <a:rPr lang="es" sz="1100">
                <a:solidFill>
                  <a:schemeClr val="dk1"/>
                </a:solidFill>
              </a:rPr>
              <a:t>. El tiempo medio informado fue de </a:t>
            </a:r>
            <a:r>
              <a:rPr b="1" lang="es" sz="1100">
                <a:solidFill>
                  <a:schemeClr val="dk1"/>
                </a:solidFill>
              </a:rPr>
              <a:t>263 minutos</a:t>
            </a:r>
            <a:r>
              <a:rPr lang="es" sz="1100">
                <a:solidFill>
                  <a:schemeClr val="dk1"/>
                </a:solidFill>
              </a:rPr>
              <a:t>, frente a los </a:t>
            </a:r>
            <a:r>
              <a:rPr b="1" lang="es" sz="1100">
                <a:solidFill>
                  <a:schemeClr val="dk1"/>
                </a:solidFill>
              </a:rPr>
              <a:t>392 minutos de la semana anterior</a:t>
            </a:r>
            <a:r>
              <a:rPr lang="es" sz="1100">
                <a:solidFill>
                  <a:schemeClr val="dk1"/>
                </a:solidFill>
              </a:rPr>
              <a:t>, una reducción de </a:t>
            </a:r>
            <a:r>
              <a:rPr b="1" lang="es" sz="1100">
                <a:solidFill>
                  <a:schemeClr val="dk1"/>
                </a:solidFill>
              </a:rPr>
              <a:t>129 minutos, equivalente al 33%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principal mejora se registró en la </a:t>
            </a:r>
            <a:r>
              <a:rPr b="1" lang="es" sz="1100">
                <a:solidFill>
                  <a:schemeClr val="dk1"/>
                </a:solidFill>
              </a:rPr>
              <a:t>espera en San Lorenzo</a:t>
            </a:r>
            <a:r>
              <a:rPr lang="es" sz="1100">
                <a:solidFill>
                  <a:schemeClr val="dk1"/>
                </a:solidFill>
              </a:rPr>
              <a:t>, que disminuyó de </a:t>
            </a:r>
            <a:r>
              <a:rPr b="1" lang="es" sz="1100">
                <a:solidFill>
                  <a:schemeClr val="dk1"/>
                </a:solidFill>
              </a:rPr>
              <a:t>126 a 20 minutos</a:t>
            </a:r>
            <a:r>
              <a:rPr lang="es" sz="1100">
                <a:solidFill>
                  <a:schemeClr val="dk1"/>
                </a:solidFill>
              </a:rPr>
              <a:t>. Esta reducción de </a:t>
            </a:r>
            <a:r>
              <a:rPr b="1" lang="es" sz="1100">
                <a:solidFill>
                  <a:schemeClr val="dk1"/>
                </a:solidFill>
              </a:rPr>
              <a:t>106 minutos</a:t>
            </a:r>
            <a:r>
              <a:rPr lang="es" sz="1100">
                <a:solidFill>
                  <a:schemeClr val="dk1"/>
                </a:solidFill>
              </a:rPr>
              <a:t> explica la mayor parte de la mejora del tiempo total del operativo.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resultado muestra una menor permanencia en el circuito, especialmente en San Lorenzo. Sin embargo, el </a:t>
            </a:r>
            <a:r>
              <a:rPr b="1" lang="es" sz="1100">
                <a:solidFill>
                  <a:schemeClr val="dk1"/>
                </a:solidFill>
              </a:rPr>
              <a:t>bajo flujo de esta semana</a:t>
            </a:r>
            <a:r>
              <a:rPr lang="es" sz="1100">
                <a:solidFill>
                  <a:schemeClr val="dk1"/>
                </a:solidFill>
              </a:rPr>
              <a:t> debe considerarse al comparar el desempeño y evaluar si estos tiempos se sostienen con una mayor actividad.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26/72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de los circuitos R5+ R6 y R3 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27/72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8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Ingreso a Planta</a:t>
            </a:r>
            <a:endParaRPr b="0" i="0" sz="1758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99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Circuitos 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28/72</a:t>
            </a:r>
          </a:p>
        </p:txBody>
      </p:sp>
      <p:graphicFrame>
        <p:nvGraphicFramePr>
          <p:cNvPr id="1085" name="D28_G1"/>
          <p:cNvGraphicFramePr/>
          <p:nvPr/>
        </p:nvGraphicFramePr>
        <p:xfrm>
          <a:off x="3805154" y="1172153"/>
          <a:ext cx="4118034" cy="2258910"/>
        </p:xfrm>
        <a:graphic>
          <a:graphicData uri="http://schemas.openxmlformats.org/drawingml/2006/chart">
            <c:chart r:id="rIdManual1009"/>
          </a:graphicData>
        </a:graphic>
      </p:graphicFrame>
      <p:graphicFrame>
        <p:nvGraphicFramePr>
          <p:cNvPr id="1092" name="D28_G2"/>
          <p:cNvGraphicFramePr/>
          <p:nvPr/>
        </p:nvGraphicFramePr>
        <p:xfrm>
          <a:off x="416400" y="1572352"/>
          <a:ext cx="3310476" cy="1796187"/>
        </p:xfrm>
        <a:graphic>
          <a:graphicData uri="http://schemas.openxmlformats.org/drawingml/2006/chart">
            <c:chart r:id="rIdManual1010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:Espera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P.Bruto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 : Playa 3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5: Descarga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→ Volcable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P. Tara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 y R6 | Producto:Girasol</a:t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29/72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133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Balanza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P.Bruto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ingreso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30/72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31/72</a:t>
            </a:r>
          </a:p>
        </p:txBody>
      </p:sp>
      <p:graphicFrame>
        <p:nvGraphicFramePr>
          <p:cNvPr id="1231" name="D31_G1"/>
          <p:cNvGraphicFramePr/>
          <p:nvPr/>
        </p:nvGraphicFramePr>
        <p:xfrm>
          <a:off x="4709000" y="852825"/>
          <a:ext cx="4282599" cy="2494624"/>
        </p:xfrm>
        <a:graphic>
          <a:graphicData uri="http://schemas.openxmlformats.org/drawingml/2006/chart">
            <c:chart r:id="rIdManual1011"/>
          </a:graphicData>
        </a:graphic>
      </p:graphicFrame>
      <p:graphicFrame>
        <p:nvGraphicFramePr>
          <p:cNvPr id="1232" name="D31_G2"/>
          <p:cNvGraphicFramePr/>
          <p:nvPr/>
        </p:nvGraphicFramePr>
        <p:xfrm>
          <a:off x="269125" y="883324"/>
          <a:ext cx="4404201" cy="2565447"/>
        </p:xfrm>
        <a:graphic>
          <a:graphicData uri="http://schemas.openxmlformats.org/drawingml/2006/chart">
            <c:chart r:id="rIdManual101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circuito </a:t>
            </a:r>
            <a:r>
              <a:rPr b="1" lang="es" sz="1100">
                <a:solidFill>
                  <a:schemeClr val="dk1"/>
                </a:solidFill>
              </a:rPr>
              <a:t>R5+R6 informa un tiempo medio de 382 minutos (6 h 22 min)</a:t>
            </a:r>
            <a:r>
              <a:rPr lang="es" sz="1100">
                <a:solidFill>
                  <a:schemeClr val="dk1"/>
                </a:solidFill>
              </a:rPr>
              <a:t>, frente a 319 minutos en la semana anterior: un aumento de </a:t>
            </a:r>
            <a:r>
              <a:rPr b="1" lang="es" sz="1100">
                <a:solidFill>
                  <a:schemeClr val="dk1"/>
                </a:solidFill>
              </a:rPr>
              <a:t>63 minutos (+19,7%)</a:t>
            </a:r>
            <a:r>
              <a:rPr lang="es" sz="1100">
                <a:solidFill>
                  <a:schemeClr val="dk1"/>
                </a:solidFill>
              </a:rPr>
              <a:t>. R3 registra </a:t>
            </a:r>
            <a:r>
              <a:rPr b="1" lang="es" sz="1100">
                <a:solidFill>
                  <a:schemeClr val="dk1"/>
                </a:solidFill>
              </a:rPr>
              <a:t>403 minutos (6 h 43 min)</a:t>
            </a:r>
            <a:r>
              <a:rPr lang="es" sz="1100">
                <a:solidFill>
                  <a:schemeClr val="dk1"/>
                </a:solidFill>
              </a:rPr>
              <a:t>, con una diferencia actual de </a:t>
            </a:r>
            <a:r>
              <a:rPr b="1" lang="es" sz="1100">
                <a:solidFill>
                  <a:schemeClr val="dk1"/>
                </a:solidFill>
              </a:rPr>
              <a:t>21 minutos</a:t>
            </a:r>
            <a:r>
              <a:rPr lang="es" sz="1100">
                <a:solidFill>
                  <a:schemeClr val="dk1"/>
                </a:solidFill>
              </a:rPr>
              <a:t> respecto de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R5+R6, la espera previa a la calada alcanza </a:t>
            </a:r>
            <a:r>
              <a:rPr b="1" lang="es" sz="1100">
                <a:solidFill>
                  <a:schemeClr val="dk1"/>
                </a:solidFill>
              </a:rPr>
              <a:t>133 minutos</a:t>
            </a:r>
            <a:r>
              <a:rPr lang="es" sz="1100">
                <a:solidFill>
                  <a:schemeClr val="dk1"/>
                </a:solidFill>
              </a:rPr>
              <a:t> y el tramo de Playa 3 a Volcable, </a:t>
            </a:r>
            <a:r>
              <a:rPr b="1" lang="es" sz="1100">
                <a:solidFill>
                  <a:schemeClr val="dk1"/>
                </a:solidFill>
              </a:rPr>
              <a:t>191 minutos</a:t>
            </a:r>
            <a:r>
              <a:rPr lang="es" sz="1100">
                <a:solidFill>
                  <a:schemeClr val="dk1"/>
                </a:solidFill>
              </a:rPr>
              <a:t>. Ambos suman </a:t>
            </a:r>
            <a:r>
              <a:rPr b="1" lang="es" sz="1100">
                <a:solidFill>
                  <a:schemeClr val="dk1"/>
                </a:solidFill>
              </a:rPr>
              <a:t>324 minutos</a:t>
            </a:r>
            <a:r>
              <a:rPr lang="es" sz="1100">
                <a:solidFill>
                  <a:schemeClr val="dk1"/>
                </a:solidFill>
              </a:rPr>
              <a:t>, aproximadamente el </a:t>
            </a:r>
            <a:r>
              <a:rPr b="1" lang="es" sz="1100">
                <a:solidFill>
                  <a:schemeClr val="dk1"/>
                </a:solidFill>
              </a:rPr>
              <a:t>85% del ciclo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R3, esos mismos tramos representan </a:t>
            </a:r>
            <a:r>
              <a:rPr b="1" lang="es" sz="1100">
                <a:solidFill>
                  <a:schemeClr val="dk1"/>
                </a:solidFill>
              </a:rPr>
              <a:t>166 y 180 minutos</a:t>
            </a:r>
            <a:r>
              <a:rPr lang="es" sz="1100">
                <a:solidFill>
                  <a:schemeClr val="dk1"/>
                </a:solidFill>
              </a:rPr>
              <a:t>, respectivamente, y concentran aproximadamente el </a:t>
            </a:r>
            <a:r>
              <a:rPr b="1" lang="es" sz="1100">
                <a:solidFill>
                  <a:schemeClr val="dk1"/>
                </a:solidFill>
              </a:rPr>
              <a:t>86% del tiempo total</a:t>
            </a:r>
            <a:r>
              <a:rPr lang="es" sz="1100">
                <a:solidFill>
                  <a:schemeClr val="dk1"/>
                </a:solidFill>
              </a:rPr>
              <a:t>. R3 presenta mayor espera previa a la calada, mientras que el tramo de Playa 3 a Volcable es menor que en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prioridad es revisar la espera previa a la calada y la permanencia entre Playa 3 y el volcable. Este último tramo incluye espera y descarga, por lo que sus tiempos no permiten atribuir toda la demora al vuelco físico. Los volúmenes por circuito requieren conciliación antes de incorporarlos a la conclusión definitiva.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32/72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CALADO</a:t>
            </a:r>
            <a:endParaRPr sz="2300">
              <a:solidFill>
                <a:srgbClr val="036A0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33/72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34/72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calada.subtitle"/>
          <p:cNvSpPr txBox="1"/>
          <p:nvPr/>
        </p:nvSpPr>
        <p:spPr>
          <a:xfrm>
            <a:off x="666750" y="1000125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0">
                <a:solidFill>
                  <a:srgbClr val="06245F"/>
                </a:solidFill>
                <a:latin typeface="Inter"/>
              </a:rPr>
              <a:t>Actividad semanal por sede y tipo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2" name="calada.header.Sede"/>
          <p:cNvSpPr txBox="1"/>
          <p:nvPr/>
        </p:nvSpPr>
        <p:spPr>
          <a:xfrm>
            <a:off x="666750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Sede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3" name="calada.header.Tipo"/>
          <p:cNvSpPr txBox="1"/>
          <p:nvPr/>
        </p:nvSpPr>
        <p:spPr>
          <a:xfrm>
            <a:off x="2428875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Tipo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4" name="calada.header.Horas activas"/>
          <p:cNvSpPr txBox="1"/>
          <p:nvPr/>
        </p:nvSpPr>
        <p:spPr>
          <a:xfrm>
            <a:off x="41910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Horas activas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calada.header.Camiones/h"/>
          <p:cNvSpPr txBox="1"/>
          <p:nvPr/>
        </p:nvSpPr>
        <p:spPr>
          <a:xfrm>
            <a:off x="561975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Camiones/h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6" name="calada.header.Camiones"/>
          <p:cNvSpPr txBox="1"/>
          <p:nvPr/>
        </p:nvSpPr>
        <p:spPr>
          <a:xfrm>
            <a:off x="70485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7" name="calada.ric_solida.sede"/>
          <p:cNvSpPr txBox="1"/>
          <p:nvPr/>
        </p:nvSpPr>
        <p:spPr>
          <a:xfrm>
            <a:off x="666750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8" name="calada.ric_solida.tipo"/>
          <p:cNvSpPr txBox="1"/>
          <p:nvPr/>
        </p:nvSpPr>
        <p:spPr>
          <a:xfrm>
            <a:off x="2428875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Sólida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calada.ric_solida.horas"/>
          <p:cNvSpPr txBox="1"/>
          <p:nvPr/>
        </p:nvSpPr>
        <p:spPr>
          <a:xfrm>
            <a:off x="41910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148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0" name="calada.ric_solida.camiones_h"/>
          <p:cNvSpPr txBox="1"/>
          <p:nvPr/>
        </p:nvSpPr>
        <p:spPr>
          <a:xfrm>
            <a:off x="561975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1" name="calada.ric_solida.camiones"/>
          <p:cNvSpPr txBox="1"/>
          <p:nvPr/>
        </p:nvSpPr>
        <p:spPr>
          <a:xfrm>
            <a:off x="70485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2.908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calada.ric_liquida.sede"/>
          <p:cNvSpPr txBox="1"/>
          <p:nvPr/>
        </p:nvSpPr>
        <p:spPr>
          <a:xfrm>
            <a:off x="666750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3" name="calada.ric_liquida.tipo"/>
          <p:cNvSpPr txBox="1"/>
          <p:nvPr/>
        </p:nvSpPr>
        <p:spPr>
          <a:xfrm>
            <a:off x="2428875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Líquida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4" name="calada.ric_liquida.horas"/>
          <p:cNvSpPr txBox="1"/>
          <p:nvPr/>
        </p:nvSpPr>
        <p:spPr>
          <a:xfrm>
            <a:off x="41910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49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calada.ric_liquida.camiones_h"/>
          <p:cNvSpPr txBox="1"/>
          <p:nvPr/>
        </p:nvSpPr>
        <p:spPr>
          <a:xfrm>
            <a:off x="561975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6" name="calada.ric_liquida.camiones"/>
          <p:cNvSpPr txBox="1"/>
          <p:nvPr/>
        </p:nvSpPr>
        <p:spPr>
          <a:xfrm>
            <a:off x="70485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152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7" name="calada.sl.sede"/>
          <p:cNvSpPr txBox="1"/>
          <p:nvPr/>
        </p:nvSpPr>
        <p:spPr>
          <a:xfrm>
            <a:off x="666750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San Lorenzo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calada.sl.tipo"/>
          <p:cNvSpPr txBox="1"/>
          <p:nvPr/>
        </p:nvSpPr>
        <p:spPr>
          <a:xfrm>
            <a:off x="2428875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Calada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9" name="calada.sl.horas"/>
          <p:cNvSpPr txBox="1"/>
          <p:nvPr/>
        </p:nvSpPr>
        <p:spPr>
          <a:xfrm>
            <a:off x="41910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90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0" name="calada.sl.camiones_h"/>
          <p:cNvSpPr txBox="1"/>
          <p:nvPr/>
        </p:nvSpPr>
        <p:spPr>
          <a:xfrm>
            <a:off x="561975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1" name="calada.sl.camiones"/>
          <p:cNvSpPr txBox="1"/>
          <p:nvPr/>
        </p:nvSpPr>
        <p:spPr>
          <a:xfrm>
            <a:off x="70485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237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2" name="calada.caption"/>
          <p:cNvSpPr txBox="1"/>
          <p:nvPr/>
        </p:nvSpPr>
        <p:spPr>
          <a:xfrm>
            <a:off x="666750" y="4514850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Cada calada responde a una operación y una demanda diferentes.</a:t>
            </a:r>
            <a:endParaRPr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2908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148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35/72</a:t>
            </a:r>
          </a:p>
        </p:txBody>
      </p:sp>
      <p:graphicFrame>
        <p:nvGraphicFramePr>
          <p:cNvPr id="1262" name="D35_G1"/>
          <p:cNvGraphicFramePr/>
          <p:nvPr/>
        </p:nvGraphicFramePr>
        <p:xfrm>
          <a:off x="2145725" y="1388549"/>
          <a:ext cx="4625775" cy="2562529"/>
        </p:xfrm>
        <a:graphic>
          <a:graphicData uri="http://schemas.openxmlformats.org/drawingml/2006/chart">
            <c:chart r:id="rIdManual101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36/72</a:t>
            </a:r>
          </a:p>
        </p:txBody>
      </p:sp>
      <p:sp>
        <p:nvSpPr>
          <p:cNvPr id="1293" name="TextBox 1292"/>
          <p:cNvSpPr txBox="1"/>
          <p:nvPr/>
        </p:nvSpPr>
        <p:spPr>
          <a:xfrm>
            <a:off x="1063050" y="960625"/>
            <a:ext cx="7309251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294" name="TextBox 1293"/>
          <p:cNvSpPr txBox="1"/>
          <p:nvPr/>
        </p:nvSpPr>
        <p:spPr>
          <a:xfrm>
            <a:off x="1063050" y="1290625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295" name="Rectangle 1294"/>
          <p:cNvSpPr/>
          <p:nvPr/>
        </p:nvSpPr>
        <p:spPr>
          <a:xfrm>
            <a:off x="2963455" y="1397672"/>
            <a:ext cx="2646680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TextBox 1295"/>
          <p:cNvSpPr txBox="1"/>
          <p:nvPr/>
        </p:nvSpPr>
        <p:spPr>
          <a:xfrm>
            <a:off x="4830135" y="1397672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102</a:t>
            </a:r>
          </a:p>
        </p:txBody>
      </p:sp>
      <p:sp>
        <p:nvSpPr>
          <p:cNvPr id="1297" name="TextBox 1296"/>
          <p:cNvSpPr txBox="1"/>
          <p:nvPr/>
        </p:nvSpPr>
        <p:spPr>
          <a:xfrm>
            <a:off x="1063050" y="1825862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298" name="Rectangle 1297"/>
          <p:cNvSpPr/>
          <p:nvPr/>
        </p:nvSpPr>
        <p:spPr>
          <a:xfrm>
            <a:off x="2963455" y="1932909"/>
            <a:ext cx="2724523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TextBox 1298"/>
          <p:cNvSpPr txBox="1"/>
          <p:nvPr/>
        </p:nvSpPr>
        <p:spPr>
          <a:xfrm>
            <a:off x="4907978" y="1932909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105</a:t>
            </a:r>
          </a:p>
        </p:txBody>
      </p:sp>
      <p:sp>
        <p:nvSpPr>
          <p:cNvPr id="1300" name="TextBox 1299"/>
          <p:cNvSpPr txBox="1"/>
          <p:nvPr/>
        </p:nvSpPr>
        <p:spPr>
          <a:xfrm>
            <a:off x="1063050" y="2361099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301" name="Rectangle 1300"/>
          <p:cNvSpPr/>
          <p:nvPr/>
        </p:nvSpPr>
        <p:spPr>
          <a:xfrm>
            <a:off x="2963455" y="2468146"/>
            <a:ext cx="4878194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TextBox 1301"/>
          <p:cNvSpPr txBox="1"/>
          <p:nvPr/>
        </p:nvSpPr>
        <p:spPr>
          <a:xfrm>
            <a:off x="7061649" y="2468146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188</a:t>
            </a:r>
          </a:p>
        </p:txBody>
      </p:sp>
      <p:sp>
        <p:nvSpPr>
          <p:cNvPr id="1303" name="TextBox 1302"/>
          <p:cNvSpPr txBox="1"/>
          <p:nvPr/>
        </p:nvSpPr>
        <p:spPr>
          <a:xfrm>
            <a:off x="1063050" y="2896336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304" name="Rectangle 1303"/>
          <p:cNvSpPr/>
          <p:nvPr/>
        </p:nvSpPr>
        <p:spPr>
          <a:xfrm>
            <a:off x="2963455" y="3003383"/>
            <a:ext cx="4774403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TextBox 1304"/>
          <p:cNvSpPr txBox="1"/>
          <p:nvPr/>
        </p:nvSpPr>
        <p:spPr>
          <a:xfrm>
            <a:off x="6957858" y="3003383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184</a:t>
            </a:r>
          </a:p>
        </p:txBody>
      </p:sp>
      <p:sp>
        <p:nvSpPr>
          <p:cNvPr id="1306" name="TextBox 1305"/>
          <p:cNvSpPr txBox="1"/>
          <p:nvPr/>
        </p:nvSpPr>
        <p:spPr>
          <a:xfrm>
            <a:off x="1063050" y="3431573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307" name="TextBox 1306"/>
          <p:cNvSpPr txBox="1"/>
          <p:nvPr/>
        </p:nvSpPr>
        <p:spPr>
          <a:xfrm>
            <a:off x="2988455" y="3538620"/>
            <a:ext cx="78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308" name="TextBox 1307"/>
          <p:cNvSpPr txBox="1"/>
          <p:nvPr/>
        </p:nvSpPr>
        <p:spPr>
          <a:xfrm>
            <a:off x="1063050" y="3966810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309" name="Rectangle 1308"/>
          <p:cNvSpPr/>
          <p:nvPr/>
        </p:nvSpPr>
        <p:spPr>
          <a:xfrm>
            <a:off x="2963455" y="4073857"/>
            <a:ext cx="259478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TextBox 1309"/>
          <p:cNvSpPr txBox="1"/>
          <p:nvPr/>
        </p:nvSpPr>
        <p:spPr>
          <a:xfrm>
            <a:off x="3247933" y="4073857"/>
            <a:ext cx="78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37/72</a:t>
            </a:r>
          </a:p>
        </p:txBody>
      </p:sp>
      <p:sp>
        <p:nvSpPr>
          <p:cNvPr id="1316" name="Captura de actividad pendiente"/>
          <p:cNvSpPr/>
          <p:nvPr>
            <p:ph type="pic"/>
          </p:nvPr>
        </p:nvSpPr>
        <p:spPr>
          <a:xfrm>
            <a:off x="1752188" y="785274"/>
            <a:ext cx="58610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38/72</a:t>
            </a:r>
          </a:p>
        </p:txBody>
      </p:sp>
      <p:sp>
        <p:nvSpPr>
          <p:cNvPr id="1327" name="TextBox 1326"/>
          <p:cNvSpPr txBox="1"/>
          <p:nvPr/>
        </p:nvSpPr>
        <p:spPr>
          <a:xfrm>
            <a:off x="1171063" y="7852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328" name="TextBox 1327"/>
          <p:cNvSpPr txBox="1"/>
          <p:nvPr/>
        </p:nvSpPr>
        <p:spPr>
          <a:xfrm>
            <a:off x="1171063" y="111527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329" name="Rectangle 1328"/>
          <p:cNvSpPr/>
          <p:nvPr/>
        </p:nvSpPr>
        <p:spPr>
          <a:xfrm>
            <a:off x="2939550" y="1244468"/>
            <a:ext cx="246295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TextBox 1329"/>
          <p:cNvSpPr txBox="1"/>
          <p:nvPr/>
        </p:nvSpPr>
        <p:spPr>
          <a:xfrm>
            <a:off x="4622509" y="124446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102</a:t>
            </a:r>
          </a:p>
        </p:txBody>
      </p:sp>
      <p:sp>
        <p:nvSpPr>
          <p:cNvPr id="1331" name="TextBox 1330"/>
          <p:cNvSpPr txBox="1"/>
          <p:nvPr/>
        </p:nvSpPr>
        <p:spPr>
          <a:xfrm>
            <a:off x="1171063" y="176124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332" name="Rectangle 1331"/>
          <p:cNvSpPr/>
          <p:nvPr/>
        </p:nvSpPr>
        <p:spPr>
          <a:xfrm>
            <a:off x="2939550" y="1890439"/>
            <a:ext cx="270442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TextBox 1332"/>
          <p:cNvSpPr txBox="1"/>
          <p:nvPr/>
        </p:nvSpPr>
        <p:spPr>
          <a:xfrm>
            <a:off x="4863976" y="189043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112</a:t>
            </a:r>
          </a:p>
        </p:txBody>
      </p:sp>
      <p:sp>
        <p:nvSpPr>
          <p:cNvPr id="1334" name="TextBox 1333"/>
          <p:cNvSpPr txBox="1"/>
          <p:nvPr/>
        </p:nvSpPr>
        <p:spPr>
          <a:xfrm>
            <a:off x="1171063" y="240721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335" name="Rectangle 1334"/>
          <p:cNvSpPr/>
          <p:nvPr/>
        </p:nvSpPr>
        <p:spPr>
          <a:xfrm>
            <a:off x="2939550" y="2536410"/>
            <a:ext cx="444298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TextBox 1335"/>
          <p:cNvSpPr txBox="1"/>
          <p:nvPr/>
        </p:nvSpPr>
        <p:spPr>
          <a:xfrm>
            <a:off x="6602536" y="2536410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184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1171063" y="305318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338" name="Rectangle 1337"/>
          <p:cNvSpPr/>
          <p:nvPr/>
        </p:nvSpPr>
        <p:spPr>
          <a:xfrm>
            <a:off x="2939550" y="3182381"/>
            <a:ext cx="439469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TextBox 1338"/>
          <p:cNvSpPr txBox="1"/>
          <p:nvPr/>
        </p:nvSpPr>
        <p:spPr>
          <a:xfrm>
            <a:off x="6554243" y="3182381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182</a:t>
            </a:r>
          </a:p>
        </p:txBody>
      </p:sp>
      <p:sp>
        <p:nvSpPr>
          <p:cNvPr id="1340" name="TextBox 1339"/>
          <p:cNvSpPr txBox="1"/>
          <p:nvPr/>
        </p:nvSpPr>
        <p:spPr>
          <a:xfrm>
            <a:off x="1171063" y="369915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341" name="Rectangle 1340"/>
          <p:cNvSpPr/>
          <p:nvPr/>
        </p:nvSpPr>
        <p:spPr>
          <a:xfrm>
            <a:off x="2939550" y="3828352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TextBox 1341"/>
          <p:cNvSpPr txBox="1"/>
          <p:nvPr/>
        </p:nvSpPr>
        <p:spPr>
          <a:xfrm>
            <a:off x="2988696" y="382835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343" name="TextBox 1342"/>
          <p:cNvSpPr txBox="1"/>
          <p:nvPr/>
        </p:nvSpPr>
        <p:spPr>
          <a:xfrm>
            <a:off x="1171063" y="434512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344" name="Rectangle 1343"/>
          <p:cNvSpPr/>
          <p:nvPr/>
        </p:nvSpPr>
        <p:spPr>
          <a:xfrm>
            <a:off x="2939550" y="4474323"/>
            <a:ext cx="14487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TextBox 1344"/>
          <p:cNvSpPr txBox="1"/>
          <p:nvPr/>
        </p:nvSpPr>
        <p:spPr>
          <a:xfrm>
            <a:off x="3109429" y="447432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39/72</a:t>
            </a:r>
          </a:p>
        </p:txBody>
      </p:sp>
      <p:sp>
        <p:nvSpPr>
          <p:cNvPr id="1350" name="Captura de actividad pendiente"/>
          <p:cNvSpPr/>
          <p:nvPr>
            <p:ph type="pic"/>
          </p:nvPr>
        </p:nvSpPr>
        <p:spPr>
          <a:xfrm>
            <a:off x="2191075" y="785274"/>
            <a:ext cx="543508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40/72</a:t>
            </a:r>
          </a:p>
        </p:txBody>
      </p:sp>
      <p:sp>
        <p:nvSpPr>
          <p:cNvPr id="1361" name="TextBox 1360"/>
          <p:cNvSpPr txBox="1"/>
          <p:nvPr/>
        </p:nvSpPr>
        <p:spPr>
          <a:xfrm>
            <a:off x="1171050" y="7554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362" name="TextBox 1361"/>
          <p:cNvSpPr txBox="1"/>
          <p:nvPr/>
        </p:nvSpPr>
        <p:spPr>
          <a:xfrm>
            <a:off x="1171050" y="108549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363" name="Rectangle 1362"/>
          <p:cNvSpPr/>
          <p:nvPr/>
        </p:nvSpPr>
        <p:spPr>
          <a:xfrm>
            <a:off x="2939537" y="1214693"/>
            <a:ext cx="3058577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TextBox 1363"/>
          <p:cNvSpPr txBox="1"/>
          <p:nvPr/>
        </p:nvSpPr>
        <p:spPr>
          <a:xfrm>
            <a:off x="5218114" y="1214693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95</a:t>
            </a:r>
          </a:p>
        </p:txBody>
      </p:sp>
      <p:sp>
        <p:nvSpPr>
          <p:cNvPr id="1365" name="TextBox 1364"/>
          <p:cNvSpPr txBox="1"/>
          <p:nvPr/>
        </p:nvSpPr>
        <p:spPr>
          <a:xfrm>
            <a:off x="1171050" y="1731470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366" name="Rectangle 1365"/>
          <p:cNvSpPr/>
          <p:nvPr/>
        </p:nvSpPr>
        <p:spPr>
          <a:xfrm>
            <a:off x="2939537" y="1860664"/>
            <a:ext cx="2961990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TextBox 1366"/>
          <p:cNvSpPr txBox="1"/>
          <p:nvPr/>
        </p:nvSpPr>
        <p:spPr>
          <a:xfrm>
            <a:off x="5121527" y="1860664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92</a:t>
            </a:r>
          </a:p>
        </p:txBody>
      </p:sp>
      <p:sp>
        <p:nvSpPr>
          <p:cNvPr id="1368" name="TextBox 1367"/>
          <p:cNvSpPr txBox="1"/>
          <p:nvPr/>
        </p:nvSpPr>
        <p:spPr>
          <a:xfrm>
            <a:off x="1171050" y="2377441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369" name="Rectangle 1368"/>
          <p:cNvSpPr/>
          <p:nvPr/>
        </p:nvSpPr>
        <p:spPr>
          <a:xfrm>
            <a:off x="2939537" y="2506635"/>
            <a:ext cx="4378595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TextBox 1369"/>
          <p:cNvSpPr txBox="1"/>
          <p:nvPr/>
        </p:nvSpPr>
        <p:spPr>
          <a:xfrm>
            <a:off x="6538132" y="2506635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136</a:t>
            </a:r>
          </a:p>
        </p:txBody>
      </p:sp>
      <p:sp>
        <p:nvSpPr>
          <p:cNvPr id="1371" name="TextBox 1370"/>
          <p:cNvSpPr txBox="1"/>
          <p:nvPr/>
        </p:nvSpPr>
        <p:spPr>
          <a:xfrm>
            <a:off x="1171050" y="3023412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372" name="Rectangle 1371"/>
          <p:cNvSpPr/>
          <p:nvPr/>
        </p:nvSpPr>
        <p:spPr>
          <a:xfrm>
            <a:off x="2939537" y="3152606"/>
            <a:ext cx="4475181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TextBox 1372"/>
          <p:cNvSpPr txBox="1"/>
          <p:nvPr/>
        </p:nvSpPr>
        <p:spPr>
          <a:xfrm>
            <a:off x="6634718" y="3152606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139</a:t>
            </a:r>
          </a:p>
        </p:txBody>
      </p:sp>
      <p:sp>
        <p:nvSpPr>
          <p:cNvPr id="1374" name="TextBox 1373"/>
          <p:cNvSpPr txBox="1"/>
          <p:nvPr/>
        </p:nvSpPr>
        <p:spPr>
          <a:xfrm>
            <a:off x="1171050" y="3669383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375" name="TextBox 1374"/>
          <p:cNvSpPr txBox="1"/>
          <p:nvPr/>
        </p:nvSpPr>
        <p:spPr>
          <a:xfrm>
            <a:off x="2964537" y="3798577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376" name="TextBox 1375"/>
          <p:cNvSpPr txBox="1"/>
          <p:nvPr/>
        </p:nvSpPr>
        <p:spPr>
          <a:xfrm>
            <a:off x="1171050" y="431535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377" name="TextBox 1376"/>
          <p:cNvSpPr txBox="1"/>
          <p:nvPr/>
        </p:nvSpPr>
        <p:spPr>
          <a:xfrm>
            <a:off x="2964537" y="4444548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41/72</a:t>
            </a:r>
          </a:p>
        </p:txBody>
      </p:sp>
      <p:sp>
        <p:nvSpPr>
          <p:cNvPr id="1384" name="Captura de actividad pendiente"/>
          <p:cNvSpPr/>
          <p:nvPr>
            <p:ph type="pic"/>
          </p:nvPr>
        </p:nvSpPr>
        <p:spPr>
          <a:xfrm>
            <a:off x="1848500" y="749699"/>
            <a:ext cx="583089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42/72</a:t>
            </a:r>
          </a:p>
        </p:txBody>
      </p:sp>
      <p:sp>
        <p:nvSpPr>
          <p:cNvPr id="1395" name="TextBox 1394"/>
          <p:cNvSpPr txBox="1"/>
          <p:nvPr/>
        </p:nvSpPr>
        <p:spPr>
          <a:xfrm>
            <a:off x="1171063" y="8447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396" name="TextBox 1395"/>
          <p:cNvSpPr txBox="1"/>
          <p:nvPr/>
        </p:nvSpPr>
        <p:spPr>
          <a:xfrm>
            <a:off x="1171063" y="117479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397" name="TextBox 1396"/>
          <p:cNvSpPr txBox="1"/>
          <p:nvPr/>
        </p:nvSpPr>
        <p:spPr>
          <a:xfrm>
            <a:off x="2964550" y="130399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398" name="TextBox 1397"/>
          <p:cNvSpPr txBox="1"/>
          <p:nvPr/>
        </p:nvSpPr>
        <p:spPr>
          <a:xfrm>
            <a:off x="1171063" y="1820770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399" name="TextBox 1398"/>
          <p:cNvSpPr txBox="1"/>
          <p:nvPr/>
        </p:nvSpPr>
        <p:spPr>
          <a:xfrm>
            <a:off x="2964550" y="1949964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400" name="TextBox 1399"/>
          <p:cNvSpPr txBox="1"/>
          <p:nvPr/>
        </p:nvSpPr>
        <p:spPr>
          <a:xfrm>
            <a:off x="1171063" y="2466741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401" name="Rectangle 1400"/>
          <p:cNvSpPr/>
          <p:nvPr/>
        </p:nvSpPr>
        <p:spPr>
          <a:xfrm>
            <a:off x="2939550" y="2595935"/>
            <a:ext cx="434639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TextBox 1401"/>
          <p:cNvSpPr txBox="1"/>
          <p:nvPr/>
        </p:nvSpPr>
        <p:spPr>
          <a:xfrm>
            <a:off x="6505949" y="2595935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403" name="TextBox 1402"/>
          <p:cNvSpPr txBox="1"/>
          <p:nvPr/>
        </p:nvSpPr>
        <p:spPr>
          <a:xfrm>
            <a:off x="1171063" y="3112712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404" name="Rectangle 1403"/>
          <p:cNvSpPr/>
          <p:nvPr/>
        </p:nvSpPr>
        <p:spPr>
          <a:xfrm>
            <a:off x="2939550" y="3241906"/>
            <a:ext cx="434639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TextBox 1404"/>
          <p:cNvSpPr txBox="1"/>
          <p:nvPr/>
        </p:nvSpPr>
        <p:spPr>
          <a:xfrm>
            <a:off x="6505949" y="3241906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406" name="TextBox 1405"/>
          <p:cNvSpPr txBox="1"/>
          <p:nvPr/>
        </p:nvSpPr>
        <p:spPr>
          <a:xfrm>
            <a:off x="1171063" y="3758683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407" name="TextBox 1406"/>
          <p:cNvSpPr txBox="1"/>
          <p:nvPr/>
        </p:nvSpPr>
        <p:spPr>
          <a:xfrm>
            <a:off x="2964550" y="3887877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1171063" y="440465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409" name="TextBox 1408"/>
          <p:cNvSpPr txBox="1"/>
          <p:nvPr/>
        </p:nvSpPr>
        <p:spPr>
          <a:xfrm>
            <a:off x="2964550" y="4533848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43/72</a:t>
            </a:r>
          </a:p>
        </p:txBody>
      </p:sp>
      <p:sp>
        <p:nvSpPr>
          <p:cNvPr id="1418" name="Captura de actividad pendiente"/>
          <p:cNvSpPr/>
          <p:nvPr>
            <p:ph type="pic"/>
          </p:nvPr>
        </p:nvSpPr>
        <p:spPr>
          <a:xfrm>
            <a:off x="2115875" y="785274"/>
            <a:ext cx="56639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44/72</a:t>
            </a:r>
          </a:p>
        </p:txBody>
      </p:sp>
      <p:sp>
        <p:nvSpPr>
          <p:cNvPr id="1429" name="TextBox 1428"/>
          <p:cNvSpPr txBox="1"/>
          <p:nvPr/>
        </p:nvSpPr>
        <p:spPr>
          <a:xfrm>
            <a:off x="1171063" y="8001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430" name="TextBox 1429"/>
          <p:cNvSpPr txBox="1"/>
          <p:nvPr/>
        </p:nvSpPr>
        <p:spPr>
          <a:xfrm>
            <a:off x="1171063" y="113017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431" name="Rectangle 1430"/>
          <p:cNvSpPr/>
          <p:nvPr/>
        </p:nvSpPr>
        <p:spPr>
          <a:xfrm>
            <a:off x="2939550" y="1259368"/>
            <a:ext cx="453957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TextBox 1431"/>
          <p:cNvSpPr txBox="1"/>
          <p:nvPr/>
        </p:nvSpPr>
        <p:spPr>
          <a:xfrm>
            <a:off x="6699123" y="125936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141</a:t>
            </a:r>
          </a:p>
        </p:txBody>
      </p:sp>
      <p:sp>
        <p:nvSpPr>
          <p:cNvPr id="1433" name="TextBox 1432"/>
          <p:cNvSpPr txBox="1"/>
          <p:nvPr/>
        </p:nvSpPr>
        <p:spPr>
          <a:xfrm>
            <a:off x="1171063" y="177614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434" name="Rectangle 1433"/>
          <p:cNvSpPr/>
          <p:nvPr/>
        </p:nvSpPr>
        <p:spPr>
          <a:xfrm>
            <a:off x="2939550" y="1905339"/>
            <a:ext cx="4475181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TextBox 1434"/>
          <p:cNvSpPr txBox="1"/>
          <p:nvPr/>
        </p:nvSpPr>
        <p:spPr>
          <a:xfrm>
            <a:off x="6634731" y="190533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139</a:t>
            </a:r>
          </a:p>
        </p:txBody>
      </p:sp>
      <p:sp>
        <p:nvSpPr>
          <p:cNvPr id="1436" name="TextBox 1435"/>
          <p:cNvSpPr txBox="1"/>
          <p:nvPr/>
        </p:nvSpPr>
        <p:spPr>
          <a:xfrm>
            <a:off x="1171063" y="242211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437" name="Rectangle 1436"/>
          <p:cNvSpPr/>
          <p:nvPr/>
        </p:nvSpPr>
        <p:spPr>
          <a:xfrm>
            <a:off x="2939550" y="2551310"/>
            <a:ext cx="1191235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TextBox 1437"/>
          <p:cNvSpPr txBox="1"/>
          <p:nvPr/>
        </p:nvSpPr>
        <p:spPr>
          <a:xfrm>
            <a:off x="3350785" y="2551310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37</a:t>
            </a:r>
          </a:p>
        </p:txBody>
      </p:sp>
      <p:sp>
        <p:nvSpPr>
          <p:cNvPr id="1439" name="TextBox 1438"/>
          <p:cNvSpPr txBox="1"/>
          <p:nvPr/>
        </p:nvSpPr>
        <p:spPr>
          <a:xfrm>
            <a:off x="1171063" y="306808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440" name="Rectangle 1439"/>
          <p:cNvSpPr/>
          <p:nvPr/>
        </p:nvSpPr>
        <p:spPr>
          <a:xfrm>
            <a:off x="2939550" y="3197281"/>
            <a:ext cx="125562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TextBox 1440"/>
          <p:cNvSpPr txBox="1"/>
          <p:nvPr/>
        </p:nvSpPr>
        <p:spPr>
          <a:xfrm>
            <a:off x="3415176" y="3197281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39</a:t>
            </a:r>
          </a:p>
        </p:txBody>
      </p:sp>
      <p:sp>
        <p:nvSpPr>
          <p:cNvPr id="1442" name="TextBox 1441"/>
          <p:cNvSpPr txBox="1"/>
          <p:nvPr/>
        </p:nvSpPr>
        <p:spPr>
          <a:xfrm>
            <a:off x="1171063" y="371405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443" name="TextBox 1442"/>
          <p:cNvSpPr txBox="1"/>
          <p:nvPr/>
        </p:nvSpPr>
        <p:spPr>
          <a:xfrm>
            <a:off x="2964550" y="384325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444" name="TextBox 1443"/>
          <p:cNvSpPr txBox="1"/>
          <p:nvPr/>
        </p:nvSpPr>
        <p:spPr>
          <a:xfrm>
            <a:off x="1171063" y="436002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445" name="Rectangle 1444"/>
          <p:cNvSpPr/>
          <p:nvPr/>
        </p:nvSpPr>
        <p:spPr>
          <a:xfrm>
            <a:off x="2939550" y="4489223"/>
            <a:ext cx="321955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TextBox 1445"/>
          <p:cNvSpPr txBox="1"/>
          <p:nvPr/>
        </p:nvSpPr>
        <p:spPr>
          <a:xfrm>
            <a:off x="3286505" y="448922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17-18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45/72</a:t>
            </a:r>
          </a:p>
        </p:txBody>
      </p:sp>
      <p:sp>
        <p:nvSpPr>
          <p:cNvPr id="1452" name="Captura de actividad pendiente"/>
          <p:cNvSpPr/>
          <p:nvPr>
            <p:ph type="pic"/>
          </p:nvPr>
        </p:nvSpPr>
        <p:spPr>
          <a:xfrm>
            <a:off x="1838475" y="749699"/>
            <a:ext cx="575840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46/72</a:t>
            </a:r>
          </a:p>
        </p:txBody>
      </p:sp>
      <p:sp>
        <p:nvSpPr>
          <p:cNvPr id="1463" name="TextBox 1462"/>
          <p:cNvSpPr txBox="1"/>
          <p:nvPr/>
        </p:nvSpPr>
        <p:spPr>
          <a:xfrm>
            <a:off x="1171063" y="6328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464" name="TextBox 1463"/>
          <p:cNvSpPr txBox="1"/>
          <p:nvPr/>
        </p:nvSpPr>
        <p:spPr>
          <a:xfrm>
            <a:off x="1171063" y="96287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465" name="Rectangle 1464"/>
          <p:cNvSpPr/>
          <p:nvPr/>
        </p:nvSpPr>
        <p:spPr>
          <a:xfrm>
            <a:off x="2939550" y="1092068"/>
            <a:ext cx="415322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TextBox 1465"/>
          <p:cNvSpPr txBox="1"/>
          <p:nvPr/>
        </p:nvSpPr>
        <p:spPr>
          <a:xfrm>
            <a:off x="6312776" y="109206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215</a:t>
            </a:r>
          </a:p>
        </p:txBody>
      </p:sp>
      <p:sp>
        <p:nvSpPr>
          <p:cNvPr id="1467" name="TextBox 1466"/>
          <p:cNvSpPr txBox="1"/>
          <p:nvPr/>
        </p:nvSpPr>
        <p:spPr>
          <a:xfrm>
            <a:off x="1171063" y="160884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468" name="Rectangle 1467"/>
          <p:cNvSpPr/>
          <p:nvPr/>
        </p:nvSpPr>
        <p:spPr>
          <a:xfrm>
            <a:off x="2939550" y="1738039"/>
            <a:ext cx="424981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TextBox 1468"/>
          <p:cNvSpPr txBox="1"/>
          <p:nvPr/>
        </p:nvSpPr>
        <p:spPr>
          <a:xfrm>
            <a:off x="6409363" y="173803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220</a:t>
            </a:r>
          </a:p>
        </p:txBody>
      </p:sp>
      <p:sp>
        <p:nvSpPr>
          <p:cNvPr id="1470" name="TextBox 1469"/>
          <p:cNvSpPr txBox="1"/>
          <p:nvPr/>
        </p:nvSpPr>
        <p:spPr>
          <a:xfrm>
            <a:off x="1171063" y="225481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471" name="TextBox 1470"/>
          <p:cNvSpPr txBox="1"/>
          <p:nvPr/>
        </p:nvSpPr>
        <p:spPr>
          <a:xfrm>
            <a:off x="2964550" y="2384010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7F8C8D"/>
                </a:solidFill>
                <a:latin typeface="Inter"/>
              </a:rPr>
              <a:t>s/d</a:t>
            </a:r>
          </a:p>
        </p:txBody>
      </p:sp>
      <p:sp>
        <p:nvSpPr>
          <p:cNvPr id="1472" name="TextBox 1471"/>
          <p:cNvSpPr txBox="1"/>
          <p:nvPr/>
        </p:nvSpPr>
        <p:spPr>
          <a:xfrm>
            <a:off x="1171063" y="290078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473" name="TextBox 1472"/>
          <p:cNvSpPr txBox="1"/>
          <p:nvPr/>
        </p:nvSpPr>
        <p:spPr>
          <a:xfrm>
            <a:off x="2964550" y="3029981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7F8C8D"/>
                </a:solidFill>
                <a:latin typeface="Inter"/>
              </a:rPr>
              <a:t>s/d</a:t>
            </a:r>
          </a:p>
        </p:txBody>
      </p:sp>
      <p:sp>
        <p:nvSpPr>
          <p:cNvPr id="1474" name="TextBox 1473"/>
          <p:cNvSpPr txBox="1"/>
          <p:nvPr/>
        </p:nvSpPr>
        <p:spPr>
          <a:xfrm>
            <a:off x="1171063" y="354675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475" name="Rectangle 1474"/>
          <p:cNvSpPr/>
          <p:nvPr/>
        </p:nvSpPr>
        <p:spPr>
          <a:xfrm>
            <a:off x="2939550" y="3675952"/>
            <a:ext cx="19317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TextBox 1475"/>
          <p:cNvSpPr txBox="1"/>
          <p:nvPr/>
        </p:nvSpPr>
        <p:spPr>
          <a:xfrm>
            <a:off x="2983867" y="367595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477" name="TextBox 1476"/>
          <p:cNvSpPr txBox="1"/>
          <p:nvPr/>
        </p:nvSpPr>
        <p:spPr>
          <a:xfrm>
            <a:off x="1171063" y="419272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478" name="Rectangle 1477"/>
          <p:cNvSpPr/>
          <p:nvPr/>
        </p:nvSpPr>
        <p:spPr>
          <a:xfrm>
            <a:off x="2939550" y="4321923"/>
            <a:ext cx="212490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TextBox 1478"/>
          <p:cNvSpPr txBox="1"/>
          <p:nvPr/>
        </p:nvSpPr>
        <p:spPr>
          <a:xfrm>
            <a:off x="3177040" y="432192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47/72</a:t>
            </a:r>
          </a:p>
        </p:txBody>
      </p:sp>
      <p:sp>
        <p:nvSpPr>
          <p:cNvPr id="1486" name="Captura de actividad pendiente"/>
          <p:cNvSpPr/>
          <p:nvPr>
            <p:ph type="pic"/>
          </p:nvPr>
        </p:nvSpPr>
        <p:spPr>
          <a:xfrm>
            <a:off x="1876350" y="749699"/>
            <a:ext cx="588494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48/72</a:t>
            </a:r>
          </a:p>
        </p:txBody>
      </p:sp>
      <p:sp>
        <p:nvSpPr>
          <p:cNvPr id="1497" name="TextBox 1496"/>
          <p:cNvSpPr txBox="1"/>
          <p:nvPr/>
        </p:nvSpPr>
        <p:spPr>
          <a:xfrm>
            <a:off x="1171063" y="8299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498" name="TextBox 1497"/>
          <p:cNvSpPr txBox="1"/>
          <p:nvPr/>
        </p:nvSpPr>
        <p:spPr>
          <a:xfrm>
            <a:off x="1171063" y="115992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499" name="Rectangle 1498"/>
          <p:cNvSpPr/>
          <p:nvPr/>
        </p:nvSpPr>
        <p:spPr>
          <a:xfrm>
            <a:off x="2939550" y="1289118"/>
            <a:ext cx="424981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TextBox 1499"/>
          <p:cNvSpPr txBox="1"/>
          <p:nvPr/>
        </p:nvSpPr>
        <p:spPr>
          <a:xfrm>
            <a:off x="6409363" y="128911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176</a:t>
            </a:r>
          </a:p>
        </p:txBody>
      </p:sp>
      <p:sp>
        <p:nvSpPr>
          <p:cNvPr id="1501" name="TextBox 1500"/>
          <p:cNvSpPr txBox="1"/>
          <p:nvPr/>
        </p:nvSpPr>
        <p:spPr>
          <a:xfrm>
            <a:off x="1171063" y="180589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502" name="Rectangle 1501"/>
          <p:cNvSpPr/>
          <p:nvPr/>
        </p:nvSpPr>
        <p:spPr>
          <a:xfrm>
            <a:off x="2939550" y="1935089"/>
            <a:ext cx="408078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TextBox 1502"/>
          <p:cNvSpPr txBox="1"/>
          <p:nvPr/>
        </p:nvSpPr>
        <p:spPr>
          <a:xfrm>
            <a:off x="6240336" y="193508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169</a:t>
            </a:r>
          </a:p>
        </p:txBody>
      </p:sp>
      <p:sp>
        <p:nvSpPr>
          <p:cNvPr id="1504" name="TextBox 1503"/>
          <p:cNvSpPr txBox="1"/>
          <p:nvPr/>
        </p:nvSpPr>
        <p:spPr>
          <a:xfrm>
            <a:off x="1171063" y="245186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505" name="Rectangle 1504"/>
          <p:cNvSpPr/>
          <p:nvPr/>
        </p:nvSpPr>
        <p:spPr>
          <a:xfrm>
            <a:off x="2939550" y="2581060"/>
            <a:ext cx="130391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TextBox 1505"/>
          <p:cNvSpPr txBox="1"/>
          <p:nvPr/>
        </p:nvSpPr>
        <p:spPr>
          <a:xfrm>
            <a:off x="3463469" y="2581060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54</a:t>
            </a:r>
          </a:p>
        </p:txBody>
      </p:sp>
      <p:sp>
        <p:nvSpPr>
          <p:cNvPr id="1507" name="TextBox 1506"/>
          <p:cNvSpPr txBox="1"/>
          <p:nvPr/>
        </p:nvSpPr>
        <p:spPr>
          <a:xfrm>
            <a:off x="1171063" y="309783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508" name="Rectangle 1507"/>
          <p:cNvSpPr/>
          <p:nvPr/>
        </p:nvSpPr>
        <p:spPr>
          <a:xfrm>
            <a:off x="2939550" y="3227031"/>
            <a:ext cx="130391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TextBox 1508"/>
          <p:cNvSpPr txBox="1"/>
          <p:nvPr/>
        </p:nvSpPr>
        <p:spPr>
          <a:xfrm>
            <a:off x="3463469" y="3227031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54</a:t>
            </a:r>
          </a:p>
        </p:txBody>
      </p:sp>
      <p:sp>
        <p:nvSpPr>
          <p:cNvPr id="1510" name="TextBox 1509"/>
          <p:cNvSpPr txBox="1"/>
          <p:nvPr/>
        </p:nvSpPr>
        <p:spPr>
          <a:xfrm>
            <a:off x="1171063" y="374380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511" name="Rectangle 1510"/>
          <p:cNvSpPr/>
          <p:nvPr/>
        </p:nvSpPr>
        <p:spPr>
          <a:xfrm>
            <a:off x="2939550" y="3873002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TextBox 1511"/>
          <p:cNvSpPr txBox="1"/>
          <p:nvPr/>
        </p:nvSpPr>
        <p:spPr>
          <a:xfrm>
            <a:off x="2988696" y="387300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513" name="TextBox 1512"/>
          <p:cNvSpPr txBox="1"/>
          <p:nvPr/>
        </p:nvSpPr>
        <p:spPr>
          <a:xfrm>
            <a:off x="1171063" y="438977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514" name="Rectangle 1513"/>
          <p:cNvSpPr/>
          <p:nvPr/>
        </p:nvSpPr>
        <p:spPr>
          <a:xfrm>
            <a:off x="2939550" y="4518973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TextBox 1514"/>
          <p:cNvSpPr txBox="1"/>
          <p:nvPr/>
        </p:nvSpPr>
        <p:spPr>
          <a:xfrm>
            <a:off x="2988696" y="451897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49/72</a:t>
            </a:r>
          </a:p>
        </p:txBody>
      </p:sp>
      <p:sp>
        <p:nvSpPr>
          <p:cNvPr id="1520" name="Captura de actividad pendiente"/>
          <p:cNvSpPr/>
          <p:nvPr>
            <p:ph type="pic"/>
          </p:nvPr>
        </p:nvSpPr>
        <p:spPr>
          <a:xfrm>
            <a:off x="-3063800" y="-2487492"/>
            <a:ext cx="17880076" cy="11714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  <p:sp>
        <p:nvSpPr>
          <p:cNvPr id="1521" name="Captura de actividad pendiente"/>
          <p:cNvSpPr/>
          <p:nvPr>
            <p:ph type="pic"/>
          </p:nvPr>
        </p:nvSpPr>
        <p:spPr>
          <a:xfrm>
            <a:off x="1733413" y="785274"/>
            <a:ext cx="596852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14/9 20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49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Líquido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50/72</a:t>
            </a:r>
          </a:p>
        </p:txBody>
      </p:sp>
      <p:graphicFrame>
        <p:nvGraphicFramePr>
          <p:cNvPr id="1526" name="D50_G1"/>
          <p:cNvGraphicFramePr/>
          <p:nvPr/>
        </p:nvGraphicFramePr>
        <p:xfrm>
          <a:off x="451325" y="1664024"/>
          <a:ext cx="3724275" cy="2057201"/>
        </p:xfrm>
        <a:graphic>
          <a:graphicData uri="http://schemas.openxmlformats.org/drawingml/2006/chart">
            <c:chart r:id="rIdManual1021"/>
          </a:graphicData>
        </a:graphic>
      </p:graphicFrame>
      <p:sp>
        <p:nvSpPr>
          <p:cNvPr id="1547" name="Captura de actividad pendiente"/>
          <p:cNvSpPr/>
          <p:nvPr>
            <p:ph type="pic"/>
          </p:nvPr>
        </p:nvSpPr>
        <p:spPr>
          <a:xfrm>
            <a:off x="4271300" y="1253536"/>
            <a:ext cx="4663600" cy="2394822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85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San Lorenzo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51/72</a:t>
            </a:r>
          </a:p>
        </p:txBody>
      </p:sp>
      <p:graphicFrame>
        <p:nvGraphicFramePr>
          <p:cNvPr id="1572" name="D51_G1"/>
          <p:cNvGraphicFramePr/>
          <p:nvPr/>
        </p:nvGraphicFramePr>
        <p:xfrm>
          <a:off x="304800" y="1714849"/>
          <a:ext cx="3583650" cy="1972783"/>
        </p:xfrm>
        <a:graphic>
          <a:graphicData uri="http://schemas.openxmlformats.org/drawingml/2006/chart">
            <c:chart r:id="rIdManual1022"/>
          </a:graphicData>
        </a:graphic>
      </p:graphicFrame>
      <p:sp>
        <p:nvSpPr>
          <p:cNvPr id="1573" name="Captura de actividad pendiente"/>
          <p:cNvSpPr/>
          <p:nvPr>
            <p:ph type="pic"/>
          </p:nvPr>
        </p:nvSpPr>
        <p:spPr>
          <a:xfrm>
            <a:off x="4028950" y="1091524"/>
            <a:ext cx="4950750" cy="2551388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52/72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53/72</a:t>
            </a:r>
          </a:p>
        </p:txBody>
      </p:sp>
      <p:graphicFrame>
        <p:nvGraphicFramePr>
          <p:cNvPr id="1587" name="D53_G1"/>
          <p:cNvGraphicFramePr/>
          <p:nvPr/>
        </p:nvGraphicFramePr>
        <p:xfrm>
          <a:off x="3084725" y="3342750"/>
          <a:ext cx="2537325" cy="1556200"/>
        </p:xfrm>
        <a:graphic>
          <a:graphicData uri="http://schemas.openxmlformats.org/drawingml/2006/chart">
            <c:chart r:id="rIdManual1023"/>
          </a:graphicData>
        </a:graphic>
      </p:graphicFrame>
      <p:graphicFrame>
        <p:nvGraphicFramePr>
          <p:cNvPr id="1588" name="D53_G2"/>
          <p:cNvGraphicFramePr/>
          <p:nvPr/>
        </p:nvGraphicFramePr>
        <p:xfrm>
          <a:off x="1544913" y="691450"/>
          <a:ext cx="6345525" cy="2434350"/>
        </p:xfrm>
        <a:graphic>
          <a:graphicData uri="http://schemas.openxmlformats.org/drawingml/2006/chart">
            <c:chart r:id="rIdManual1024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54/72</a:t>
            </a:r>
          </a:p>
        </p:txBody>
      </p:sp>
      <p:sp>
        <p:nvSpPr>
          <p:cNvPr id="1609" name="Captura de actividad pendiente"/>
          <p:cNvSpPr/>
          <p:nvPr>
            <p:ph type="pic"/>
          </p:nvPr>
        </p:nvSpPr>
        <p:spPr>
          <a:xfrm>
            <a:off x="1791075" y="749699"/>
            <a:ext cx="5853199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55/72</a:t>
            </a:r>
          </a:p>
        </p:txBody>
      </p:sp>
      <p:graphicFrame>
        <p:nvGraphicFramePr>
          <p:cNvPr id="1618" name="D55_G1"/>
          <p:cNvGraphicFramePr/>
          <p:nvPr/>
        </p:nvGraphicFramePr>
        <p:xfrm>
          <a:off x="2314125" y="944525"/>
          <a:ext cx="5025024" cy="3107149"/>
        </p:xfrm>
        <a:graphic>
          <a:graphicData uri="http://schemas.openxmlformats.org/drawingml/2006/chart">
            <c:chart r:id="rIdManual1025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56/72</a:t>
            </a:r>
          </a:p>
        </p:txBody>
      </p:sp>
      <p:sp>
        <p:nvSpPr>
          <p:cNvPr id="1639" name="Captura de actividad pendiente"/>
          <p:cNvSpPr/>
          <p:nvPr>
            <p:ph type="pic"/>
          </p:nvPr>
        </p:nvSpPr>
        <p:spPr>
          <a:xfrm>
            <a:off x="1579513" y="1115325"/>
            <a:ext cx="6329875" cy="27242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diario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Camiones x hora operativa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 384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 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Puerto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57/72</a:t>
            </a:r>
          </a:p>
        </p:txBody>
      </p:sp>
      <p:graphicFrame>
        <p:nvGraphicFramePr>
          <p:cNvPr id="1644" name="D57_G1"/>
          <p:cNvGraphicFramePr/>
          <p:nvPr/>
        </p:nvGraphicFramePr>
        <p:xfrm>
          <a:off x="2198337" y="1754675"/>
          <a:ext cx="5038674" cy="3115575"/>
        </p:xfrm>
        <a:graphic>
          <a:graphicData uri="http://schemas.openxmlformats.org/drawingml/2006/chart">
            <c:chart r:id="rIdManual1026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Las volcables </a:t>
            </a:r>
            <a:r>
              <a:rPr b="1" lang="es" sz="1100">
                <a:solidFill>
                  <a:schemeClr val="dk1"/>
                </a:solidFill>
              </a:rPr>
              <a:t>5, 3 y 2 concentraron el 73% de los camiones registrados</a:t>
            </a:r>
            <a:r>
              <a:rPr lang="es" sz="1100">
                <a:solidFill>
                  <a:schemeClr val="dk1"/>
                </a:solidFill>
              </a:rPr>
              <a:t>, con la volcable 5 como la de mayor actividad. La volcable </a:t>
            </a:r>
            <a:r>
              <a:rPr b="1" lang="es" sz="1100">
                <a:solidFill>
                  <a:schemeClr val="dk1"/>
                </a:solidFill>
              </a:rPr>
              <a:t>4 presentó el menor volumen, con 226 camiones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58/72</a:t>
            </a:r>
          </a:p>
        </p:txBody>
      </p:sp>
      <p:graphicFrame>
        <p:nvGraphicFramePr>
          <p:cNvPr id="1669" name="D58_G1"/>
          <p:cNvGraphicFramePr/>
          <p:nvPr/>
        </p:nvGraphicFramePr>
        <p:xfrm>
          <a:off x="1808375" y="809650"/>
          <a:ext cx="6101025" cy="3341575"/>
        </p:xfrm>
        <a:graphic>
          <a:graphicData uri="http://schemas.openxmlformats.org/drawingml/2006/chart">
            <c:chart r:id="rIdManual1027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59/72</a:t>
            </a:r>
          </a:p>
        </p:txBody>
      </p:sp>
      <p:sp>
        <p:nvSpPr>
          <p:cNvPr id="1682" name="TextBox 1681"/>
          <p:cNvSpPr txBox="1"/>
          <p:nvPr/>
        </p:nvSpPr>
        <p:spPr>
          <a:xfrm>
            <a:off x="1451275" y="6853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683" name="TextBox 1682"/>
          <p:cNvSpPr txBox="1"/>
          <p:nvPr/>
        </p:nvSpPr>
        <p:spPr>
          <a:xfrm>
            <a:off x="1451275" y="101537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684" name="Rectangle 1683"/>
          <p:cNvSpPr/>
          <p:nvPr/>
        </p:nvSpPr>
        <p:spPr>
          <a:xfrm>
            <a:off x="3219762" y="1170407"/>
            <a:ext cx="362199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TextBox 1684"/>
          <p:cNvSpPr txBox="1"/>
          <p:nvPr/>
        </p:nvSpPr>
        <p:spPr>
          <a:xfrm>
            <a:off x="6061761" y="117040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1686" name="TextBox 1685"/>
          <p:cNvSpPr txBox="1"/>
          <p:nvPr/>
        </p:nvSpPr>
        <p:spPr>
          <a:xfrm>
            <a:off x="1451275" y="179053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687" name="Rectangle 1686"/>
          <p:cNvSpPr/>
          <p:nvPr/>
        </p:nvSpPr>
        <p:spPr>
          <a:xfrm>
            <a:off x="3219762" y="1945572"/>
            <a:ext cx="4032493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TextBox 1687"/>
          <p:cNvSpPr txBox="1"/>
          <p:nvPr/>
        </p:nvSpPr>
        <p:spPr>
          <a:xfrm>
            <a:off x="6472255" y="194557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167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1451275" y="256570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690" name="Rectangle 1689"/>
          <p:cNvSpPr/>
          <p:nvPr/>
        </p:nvSpPr>
        <p:spPr>
          <a:xfrm>
            <a:off x="3219762" y="2720737"/>
            <a:ext cx="333223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TextBox 1690"/>
          <p:cNvSpPr txBox="1"/>
          <p:nvPr/>
        </p:nvSpPr>
        <p:spPr>
          <a:xfrm>
            <a:off x="5772001" y="272073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138</a:t>
            </a:r>
          </a:p>
        </p:txBody>
      </p:sp>
      <p:sp>
        <p:nvSpPr>
          <p:cNvPr id="1692" name="TextBox 1691"/>
          <p:cNvSpPr txBox="1"/>
          <p:nvPr/>
        </p:nvSpPr>
        <p:spPr>
          <a:xfrm>
            <a:off x="1451275" y="334086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693" name="Rectangle 1692"/>
          <p:cNvSpPr/>
          <p:nvPr/>
        </p:nvSpPr>
        <p:spPr>
          <a:xfrm>
            <a:off x="3219762" y="3495902"/>
            <a:ext cx="67610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TextBox 1693"/>
          <p:cNvSpPr txBox="1"/>
          <p:nvPr/>
        </p:nvSpPr>
        <p:spPr>
          <a:xfrm>
            <a:off x="3920868" y="3495902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28</a:t>
            </a:r>
          </a:p>
        </p:txBody>
      </p:sp>
      <p:sp>
        <p:nvSpPr>
          <p:cNvPr id="1695" name="TextBox 1694"/>
          <p:cNvSpPr txBox="1"/>
          <p:nvPr/>
        </p:nvSpPr>
        <p:spPr>
          <a:xfrm>
            <a:off x="1451275" y="411603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696" name="Rectangle 1695"/>
          <p:cNvSpPr/>
          <p:nvPr/>
        </p:nvSpPr>
        <p:spPr>
          <a:xfrm>
            <a:off x="3219762" y="4271067"/>
            <a:ext cx="96586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TextBox 1696"/>
          <p:cNvSpPr txBox="1"/>
          <p:nvPr/>
        </p:nvSpPr>
        <p:spPr>
          <a:xfrm>
            <a:off x="3405628" y="427106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21/22</a:t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523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60/72</a:t>
            </a:r>
          </a:p>
        </p:txBody>
      </p:sp>
      <p:sp>
        <p:nvSpPr>
          <p:cNvPr id="1705" name="Captura de actividad pendiente"/>
          <p:cNvSpPr/>
          <p:nvPr>
            <p:ph type="pic"/>
          </p:nvPr>
        </p:nvSpPr>
        <p:spPr>
          <a:xfrm>
            <a:off x="2023150" y="815836"/>
            <a:ext cx="575076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61/72</a:t>
            </a:r>
          </a:p>
        </p:txBody>
      </p:sp>
      <p:sp>
        <p:nvSpPr>
          <p:cNvPr id="1716" name="TextBox 1715"/>
          <p:cNvSpPr txBox="1"/>
          <p:nvPr/>
        </p:nvSpPr>
        <p:spPr>
          <a:xfrm>
            <a:off x="1364675" y="80524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717" name="TextBox 1716"/>
          <p:cNvSpPr txBox="1"/>
          <p:nvPr/>
        </p:nvSpPr>
        <p:spPr>
          <a:xfrm>
            <a:off x="1364675" y="113524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718" name="Rectangle 1717"/>
          <p:cNvSpPr/>
          <p:nvPr/>
        </p:nvSpPr>
        <p:spPr>
          <a:xfrm>
            <a:off x="3133162" y="1290282"/>
            <a:ext cx="4829333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TextBox 1718"/>
          <p:cNvSpPr txBox="1"/>
          <p:nvPr/>
        </p:nvSpPr>
        <p:spPr>
          <a:xfrm>
            <a:off x="7182495" y="129028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1720" name="TextBox 1719"/>
          <p:cNvSpPr txBox="1"/>
          <p:nvPr/>
        </p:nvSpPr>
        <p:spPr>
          <a:xfrm>
            <a:off x="1364675" y="191041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721" name="Rectangle 1720"/>
          <p:cNvSpPr/>
          <p:nvPr/>
        </p:nvSpPr>
        <p:spPr>
          <a:xfrm>
            <a:off x="3133162" y="2065447"/>
            <a:ext cx="360590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TextBox 1721"/>
          <p:cNvSpPr txBox="1"/>
          <p:nvPr/>
        </p:nvSpPr>
        <p:spPr>
          <a:xfrm>
            <a:off x="5959063" y="206544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112</a:t>
            </a:r>
          </a:p>
        </p:txBody>
      </p:sp>
      <p:sp>
        <p:nvSpPr>
          <p:cNvPr id="1723" name="TextBox 1722"/>
          <p:cNvSpPr txBox="1"/>
          <p:nvPr/>
        </p:nvSpPr>
        <p:spPr>
          <a:xfrm>
            <a:off x="1364675" y="268557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724" name="Rectangle 1723"/>
          <p:cNvSpPr/>
          <p:nvPr/>
        </p:nvSpPr>
        <p:spPr>
          <a:xfrm>
            <a:off x="3133162" y="2840612"/>
            <a:ext cx="3444924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TextBox 1724"/>
          <p:cNvSpPr txBox="1"/>
          <p:nvPr/>
        </p:nvSpPr>
        <p:spPr>
          <a:xfrm>
            <a:off x="5798086" y="284061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107</a:t>
            </a:r>
          </a:p>
        </p:txBody>
      </p:sp>
      <p:sp>
        <p:nvSpPr>
          <p:cNvPr id="1726" name="TextBox 1725"/>
          <p:cNvSpPr txBox="1"/>
          <p:nvPr/>
        </p:nvSpPr>
        <p:spPr>
          <a:xfrm>
            <a:off x="1364675" y="346074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727" name="TextBox 1726"/>
          <p:cNvSpPr txBox="1"/>
          <p:nvPr/>
        </p:nvSpPr>
        <p:spPr>
          <a:xfrm>
            <a:off x="3158162" y="3615777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28" name="TextBox 1727"/>
          <p:cNvSpPr txBox="1"/>
          <p:nvPr/>
        </p:nvSpPr>
        <p:spPr>
          <a:xfrm>
            <a:off x="1364675" y="423590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729" name="Rectangle 1728"/>
          <p:cNvSpPr/>
          <p:nvPr/>
        </p:nvSpPr>
        <p:spPr>
          <a:xfrm>
            <a:off x="3133162" y="4390942"/>
            <a:ext cx="3831270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TextBox 1729"/>
          <p:cNvSpPr txBox="1"/>
          <p:nvPr/>
        </p:nvSpPr>
        <p:spPr>
          <a:xfrm>
            <a:off x="6184432" y="439094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05-06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62/72</a:t>
            </a:r>
          </a:p>
        </p:txBody>
      </p:sp>
      <p:sp>
        <p:nvSpPr>
          <p:cNvPr id="1739" name="Captura de actividad pendiente"/>
          <p:cNvSpPr/>
          <p:nvPr>
            <p:ph type="pic"/>
          </p:nvPr>
        </p:nvSpPr>
        <p:spPr>
          <a:xfrm>
            <a:off x="1988125" y="749699"/>
            <a:ext cx="600042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63/72</a:t>
            </a:r>
          </a:p>
        </p:txBody>
      </p:sp>
      <p:sp>
        <p:nvSpPr>
          <p:cNvPr id="1750" name="TextBox 1749"/>
          <p:cNvSpPr txBox="1"/>
          <p:nvPr/>
        </p:nvSpPr>
        <p:spPr>
          <a:xfrm>
            <a:off x="1195950" y="7759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751" name="TextBox 1750"/>
          <p:cNvSpPr txBox="1"/>
          <p:nvPr/>
        </p:nvSpPr>
        <p:spPr>
          <a:xfrm>
            <a:off x="1195950" y="110599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752" name="Rectangle 1751"/>
          <p:cNvSpPr/>
          <p:nvPr/>
        </p:nvSpPr>
        <p:spPr>
          <a:xfrm>
            <a:off x="2964437" y="1261032"/>
            <a:ext cx="1416604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TextBox 1752"/>
          <p:cNvSpPr txBox="1"/>
          <p:nvPr/>
        </p:nvSpPr>
        <p:spPr>
          <a:xfrm>
            <a:off x="3601041" y="126103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44</a:t>
            </a:r>
          </a:p>
        </p:txBody>
      </p:sp>
      <p:sp>
        <p:nvSpPr>
          <p:cNvPr id="1754" name="TextBox 1753"/>
          <p:cNvSpPr txBox="1"/>
          <p:nvPr/>
        </p:nvSpPr>
        <p:spPr>
          <a:xfrm>
            <a:off x="1195950" y="188116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755" name="Rectangle 1754"/>
          <p:cNvSpPr/>
          <p:nvPr/>
        </p:nvSpPr>
        <p:spPr>
          <a:xfrm>
            <a:off x="2964437" y="2036197"/>
            <a:ext cx="4121030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TextBox 1755"/>
          <p:cNvSpPr txBox="1"/>
          <p:nvPr/>
        </p:nvSpPr>
        <p:spPr>
          <a:xfrm>
            <a:off x="6305467" y="203619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128</a:t>
            </a:r>
          </a:p>
        </p:txBody>
      </p:sp>
      <p:sp>
        <p:nvSpPr>
          <p:cNvPr id="1757" name="TextBox 1756"/>
          <p:cNvSpPr txBox="1"/>
          <p:nvPr/>
        </p:nvSpPr>
        <p:spPr>
          <a:xfrm>
            <a:off x="1195950" y="265632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758" name="Rectangle 1757"/>
          <p:cNvSpPr/>
          <p:nvPr/>
        </p:nvSpPr>
        <p:spPr>
          <a:xfrm>
            <a:off x="2964437" y="2811362"/>
            <a:ext cx="4571768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TextBox 1758"/>
          <p:cNvSpPr txBox="1"/>
          <p:nvPr/>
        </p:nvSpPr>
        <p:spPr>
          <a:xfrm>
            <a:off x="6756205" y="281136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142</a:t>
            </a:r>
          </a:p>
        </p:txBody>
      </p:sp>
      <p:sp>
        <p:nvSpPr>
          <p:cNvPr id="1760" name="TextBox 1759"/>
          <p:cNvSpPr txBox="1"/>
          <p:nvPr/>
        </p:nvSpPr>
        <p:spPr>
          <a:xfrm>
            <a:off x="1195950" y="343149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761" name="TextBox 1760"/>
          <p:cNvSpPr txBox="1"/>
          <p:nvPr/>
        </p:nvSpPr>
        <p:spPr>
          <a:xfrm>
            <a:off x="2989437" y="3586527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62" name="TextBox 1761"/>
          <p:cNvSpPr txBox="1"/>
          <p:nvPr/>
        </p:nvSpPr>
        <p:spPr>
          <a:xfrm>
            <a:off x="1195950" y="420665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763" name="Rectangle 1762"/>
          <p:cNvSpPr/>
          <p:nvPr/>
        </p:nvSpPr>
        <p:spPr>
          <a:xfrm>
            <a:off x="2964437" y="4361692"/>
            <a:ext cx="418542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TextBox 1763"/>
          <p:cNvSpPr txBox="1"/>
          <p:nvPr/>
        </p:nvSpPr>
        <p:spPr>
          <a:xfrm>
            <a:off x="6369858" y="436169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64/72</a:t>
            </a:r>
          </a:p>
        </p:txBody>
      </p:sp>
      <p:sp>
        <p:nvSpPr>
          <p:cNvPr id="1773" name="Captura de actividad pendiente"/>
          <p:cNvSpPr/>
          <p:nvPr>
            <p:ph type="pic"/>
          </p:nvPr>
        </p:nvSpPr>
        <p:spPr>
          <a:xfrm>
            <a:off x="2045850" y="785274"/>
            <a:ext cx="571760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65/72</a:t>
            </a:r>
          </a:p>
        </p:txBody>
      </p:sp>
      <p:sp>
        <p:nvSpPr>
          <p:cNvPr id="1784" name="TextBox 1783"/>
          <p:cNvSpPr txBox="1"/>
          <p:nvPr/>
        </p:nvSpPr>
        <p:spPr>
          <a:xfrm>
            <a:off x="1578275" y="7737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785" name="TextBox 1784"/>
          <p:cNvSpPr txBox="1"/>
          <p:nvPr/>
        </p:nvSpPr>
        <p:spPr>
          <a:xfrm>
            <a:off x="1578275" y="110372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786" name="TextBox 1785"/>
          <p:cNvSpPr txBox="1"/>
          <p:nvPr/>
        </p:nvSpPr>
        <p:spPr>
          <a:xfrm>
            <a:off x="3371762" y="1258757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87" name="TextBox 1786"/>
          <p:cNvSpPr txBox="1"/>
          <p:nvPr/>
        </p:nvSpPr>
        <p:spPr>
          <a:xfrm>
            <a:off x="1578275" y="187888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788" name="TextBox 1787"/>
          <p:cNvSpPr txBox="1"/>
          <p:nvPr/>
        </p:nvSpPr>
        <p:spPr>
          <a:xfrm>
            <a:off x="3371762" y="2033922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89" name="TextBox 1788"/>
          <p:cNvSpPr txBox="1"/>
          <p:nvPr/>
        </p:nvSpPr>
        <p:spPr>
          <a:xfrm>
            <a:off x="1578275" y="265405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790" name="Rectangle 1789"/>
          <p:cNvSpPr/>
          <p:nvPr/>
        </p:nvSpPr>
        <p:spPr>
          <a:xfrm>
            <a:off x="3346762" y="2809087"/>
            <a:ext cx="217319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TextBox 1790"/>
          <p:cNvSpPr txBox="1"/>
          <p:nvPr/>
        </p:nvSpPr>
        <p:spPr>
          <a:xfrm>
            <a:off x="4739961" y="280908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</a:t>
            </a:r>
          </a:p>
        </p:txBody>
      </p:sp>
      <p:sp>
        <p:nvSpPr>
          <p:cNvPr id="1792" name="TextBox 1791"/>
          <p:cNvSpPr txBox="1"/>
          <p:nvPr/>
        </p:nvSpPr>
        <p:spPr>
          <a:xfrm>
            <a:off x="1578275" y="342921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793" name="TextBox 1792"/>
          <p:cNvSpPr txBox="1"/>
          <p:nvPr/>
        </p:nvSpPr>
        <p:spPr>
          <a:xfrm>
            <a:off x="3371762" y="3584252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94" name="TextBox 1793"/>
          <p:cNvSpPr txBox="1"/>
          <p:nvPr/>
        </p:nvSpPr>
        <p:spPr>
          <a:xfrm>
            <a:off x="1578275" y="420438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795" name="Rectangle 1794"/>
          <p:cNvSpPr/>
          <p:nvPr/>
        </p:nvSpPr>
        <p:spPr>
          <a:xfrm>
            <a:off x="3346762" y="4359417"/>
            <a:ext cx="434639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TextBox 1795"/>
          <p:cNvSpPr txBox="1"/>
          <p:nvPr/>
        </p:nvSpPr>
        <p:spPr>
          <a:xfrm>
            <a:off x="6913161" y="435941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00-01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66/72</a:t>
            </a:r>
          </a:p>
        </p:txBody>
      </p:sp>
      <p:sp>
        <p:nvSpPr>
          <p:cNvPr id="1807" name="Captura de actividad pendiente"/>
          <p:cNvSpPr/>
          <p:nvPr>
            <p:ph type="pic"/>
          </p:nvPr>
        </p:nvSpPr>
        <p:spPr>
          <a:xfrm>
            <a:off x="1993900" y="749699"/>
            <a:ext cx="58537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67/72</a:t>
            </a:r>
          </a:p>
        </p:txBody>
      </p:sp>
      <p:sp>
        <p:nvSpPr>
          <p:cNvPr id="1818" name="TextBox 1817"/>
          <p:cNvSpPr txBox="1"/>
          <p:nvPr/>
        </p:nvSpPr>
        <p:spPr>
          <a:xfrm>
            <a:off x="1376825" y="7017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819" name="TextBox 1818"/>
          <p:cNvSpPr txBox="1"/>
          <p:nvPr/>
        </p:nvSpPr>
        <p:spPr>
          <a:xfrm>
            <a:off x="1376825" y="103177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820" name="Rectangle 1819"/>
          <p:cNvSpPr/>
          <p:nvPr/>
        </p:nvSpPr>
        <p:spPr>
          <a:xfrm>
            <a:off x="3145312" y="1186807"/>
            <a:ext cx="96586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TextBox 1820"/>
          <p:cNvSpPr txBox="1"/>
          <p:nvPr/>
        </p:nvSpPr>
        <p:spPr>
          <a:xfrm>
            <a:off x="3331178" y="118680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30</a:t>
            </a:r>
          </a:p>
        </p:txBody>
      </p:sp>
      <p:sp>
        <p:nvSpPr>
          <p:cNvPr id="1822" name="TextBox 1821"/>
          <p:cNvSpPr txBox="1"/>
          <p:nvPr/>
        </p:nvSpPr>
        <p:spPr>
          <a:xfrm>
            <a:off x="1376825" y="180693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823" name="Rectangle 1822"/>
          <p:cNvSpPr/>
          <p:nvPr/>
        </p:nvSpPr>
        <p:spPr>
          <a:xfrm>
            <a:off x="3145312" y="1961972"/>
            <a:ext cx="3219555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TextBox 1823"/>
          <p:cNvSpPr txBox="1"/>
          <p:nvPr/>
        </p:nvSpPr>
        <p:spPr>
          <a:xfrm>
            <a:off x="5584867" y="196197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>
        <p:nvSpPr>
          <p:cNvPr id="1825" name="TextBox 1824"/>
          <p:cNvSpPr txBox="1"/>
          <p:nvPr/>
        </p:nvSpPr>
        <p:spPr>
          <a:xfrm>
            <a:off x="1376825" y="258210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826" name="Rectangle 1825"/>
          <p:cNvSpPr/>
          <p:nvPr/>
        </p:nvSpPr>
        <p:spPr>
          <a:xfrm>
            <a:off x="3145312" y="2737137"/>
            <a:ext cx="86927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TextBox 1826"/>
          <p:cNvSpPr txBox="1"/>
          <p:nvPr/>
        </p:nvSpPr>
        <p:spPr>
          <a:xfrm>
            <a:off x="3234591" y="273713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828" name="TextBox 1827"/>
          <p:cNvSpPr txBox="1"/>
          <p:nvPr/>
        </p:nvSpPr>
        <p:spPr>
          <a:xfrm>
            <a:off x="1376825" y="335726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829" name="Rectangle 1828"/>
          <p:cNvSpPr/>
          <p:nvPr/>
        </p:nvSpPr>
        <p:spPr>
          <a:xfrm>
            <a:off x="3145312" y="3512302"/>
            <a:ext cx="86927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TextBox 1829"/>
          <p:cNvSpPr txBox="1"/>
          <p:nvPr/>
        </p:nvSpPr>
        <p:spPr>
          <a:xfrm>
            <a:off x="3234591" y="351230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831" name="TextBox 1830"/>
          <p:cNvSpPr txBox="1"/>
          <p:nvPr/>
        </p:nvSpPr>
        <p:spPr>
          <a:xfrm>
            <a:off x="1376825" y="413243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832" name="Rectangle 1831"/>
          <p:cNvSpPr/>
          <p:nvPr/>
        </p:nvSpPr>
        <p:spPr>
          <a:xfrm>
            <a:off x="3145312" y="4287467"/>
            <a:ext cx="357370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TextBox 1832"/>
          <p:cNvSpPr txBox="1"/>
          <p:nvPr/>
        </p:nvSpPr>
        <p:spPr>
          <a:xfrm>
            <a:off x="5939018" y="428746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68/72</a:t>
            </a:r>
          </a:p>
        </p:txBody>
      </p:sp>
      <p:sp>
        <p:nvSpPr>
          <p:cNvPr id="1841" name="Captura de actividad pendiente"/>
          <p:cNvSpPr/>
          <p:nvPr>
            <p:ph type="pic"/>
          </p:nvPr>
        </p:nvSpPr>
        <p:spPr>
          <a:xfrm>
            <a:off x="1228600" y="785274"/>
            <a:ext cx="65900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69/72</a:t>
            </a:r>
          </a:p>
        </p:txBody>
      </p:sp>
      <p:sp>
        <p:nvSpPr>
          <p:cNvPr id="1852" name="TextBox 1851"/>
          <p:cNvSpPr txBox="1"/>
          <p:nvPr/>
        </p:nvSpPr>
        <p:spPr>
          <a:xfrm>
            <a:off x="1171063" y="7156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853" name="TextBox 1852"/>
          <p:cNvSpPr txBox="1"/>
          <p:nvPr/>
        </p:nvSpPr>
        <p:spPr>
          <a:xfrm>
            <a:off x="1171063" y="104569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854" name="Rectangle 1853"/>
          <p:cNvSpPr/>
          <p:nvPr/>
        </p:nvSpPr>
        <p:spPr>
          <a:xfrm>
            <a:off x="2939550" y="1200732"/>
            <a:ext cx="418542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TextBox 1854"/>
          <p:cNvSpPr txBox="1"/>
          <p:nvPr/>
        </p:nvSpPr>
        <p:spPr>
          <a:xfrm>
            <a:off x="6344971" y="120073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130</a:t>
            </a:r>
          </a:p>
        </p:txBody>
      </p:sp>
      <p:sp>
        <p:nvSpPr>
          <p:cNvPr id="1856" name="TextBox 1855"/>
          <p:cNvSpPr txBox="1"/>
          <p:nvPr/>
        </p:nvSpPr>
        <p:spPr>
          <a:xfrm>
            <a:off x="1171063" y="182086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857" name="Rectangle 1856"/>
          <p:cNvSpPr/>
          <p:nvPr/>
        </p:nvSpPr>
        <p:spPr>
          <a:xfrm>
            <a:off x="2939550" y="1975897"/>
            <a:ext cx="389566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TextBox 1857"/>
          <p:cNvSpPr txBox="1"/>
          <p:nvPr/>
        </p:nvSpPr>
        <p:spPr>
          <a:xfrm>
            <a:off x="6055211" y="197589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121</a:t>
            </a:r>
          </a:p>
        </p:txBody>
      </p:sp>
      <p:sp>
        <p:nvSpPr>
          <p:cNvPr id="1859" name="TextBox 1858"/>
          <p:cNvSpPr txBox="1"/>
          <p:nvPr/>
        </p:nvSpPr>
        <p:spPr>
          <a:xfrm>
            <a:off x="1171063" y="259602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860" name="Rectangle 1859"/>
          <p:cNvSpPr/>
          <p:nvPr/>
        </p:nvSpPr>
        <p:spPr>
          <a:xfrm>
            <a:off x="2939550" y="2751062"/>
            <a:ext cx="1899537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TextBox 1860"/>
          <p:cNvSpPr txBox="1"/>
          <p:nvPr/>
        </p:nvSpPr>
        <p:spPr>
          <a:xfrm>
            <a:off x="4059087" y="275106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59</a:t>
            </a:r>
          </a:p>
        </p:txBody>
      </p:sp>
      <p:sp>
        <p:nvSpPr>
          <p:cNvPr id="1862" name="TextBox 1861"/>
          <p:cNvSpPr txBox="1"/>
          <p:nvPr/>
        </p:nvSpPr>
        <p:spPr>
          <a:xfrm>
            <a:off x="1171063" y="337119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863" name="Rectangle 1862"/>
          <p:cNvSpPr/>
          <p:nvPr/>
        </p:nvSpPr>
        <p:spPr>
          <a:xfrm>
            <a:off x="2939550" y="3526227"/>
            <a:ext cx="151319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TextBox 1863"/>
          <p:cNvSpPr txBox="1"/>
          <p:nvPr/>
        </p:nvSpPr>
        <p:spPr>
          <a:xfrm>
            <a:off x="3672741" y="352622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47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1171063" y="414635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866" name="Rectangle 1865"/>
          <p:cNvSpPr/>
          <p:nvPr/>
        </p:nvSpPr>
        <p:spPr>
          <a:xfrm>
            <a:off x="2939550" y="4301392"/>
            <a:ext cx="3992248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TextBox 1866"/>
          <p:cNvSpPr txBox="1"/>
          <p:nvPr/>
        </p:nvSpPr>
        <p:spPr>
          <a:xfrm>
            <a:off x="6151798" y="430139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02-03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70/72</a:t>
            </a:r>
          </a:p>
        </p:txBody>
      </p:sp>
      <p:sp>
        <p:nvSpPr>
          <p:cNvPr id="1875" name="Captura de actividad pendiente"/>
          <p:cNvSpPr/>
          <p:nvPr>
            <p:ph type="pic"/>
          </p:nvPr>
        </p:nvSpPr>
        <p:spPr>
          <a:xfrm>
            <a:off x="1529175" y="785274"/>
            <a:ext cx="663969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71/72</a:t>
            </a:r>
          </a:p>
        </p:txBody>
      </p:sp>
      <p:sp>
        <p:nvSpPr>
          <p:cNvPr id="1886" name="TextBox 1885"/>
          <p:cNvSpPr txBox="1"/>
          <p:nvPr/>
        </p:nvSpPr>
        <p:spPr>
          <a:xfrm>
            <a:off x="1547273" y="728925"/>
            <a:ext cx="6296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887" name="TextBox 1886"/>
          <p:cNvSpPr txBox="1"/>
          <p:nvPr/>
        </p:nvSpPr>
        <p:spPr>
          <a:xfrm>
            <a:off x="1547273" y="105892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888" name="TextBox 1887"/>
          <p:cNvSpPr txBox="1"/>
          <p:nvPr/>
        </p:nvSpPr>
        <p:spPr>
          <a:xfrm>
            <a:off x="3209337" y="1201456"/>
            <a:ext cx="78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889" name="TextBox 1888"/>
          <p:cNvSpPr txBox="1"/>
          <p:nvPr/>
        </p:nvSpPr>
        <p:spPr>
          <a:xfrm>
            <a:off x="1547273" y="1771580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890" name="TextBox 1889"/>
          <p:cNvSpPr txBox="1"/>
          <p:nvPr/>
        </p:nvSpPr>
        <p:spPr>
          <a:xfrm>
            <a:off x="3209337" y="1914111"/>
            <a:ext cx="78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891" name="TextBox 1890"/>
          <p:cNvSpPr txBox="1"/>
          <p:nvPr/>
        </p:nvSpPr>
        <p:spPr>
          <a:xfrm>
            <a:off x="1547273" y="248423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892" name="Rectangle 1891"/>
          <p:cNvSpPr/>
          <p:nvPr/>
        </p:nvSpPr>
        <p:spPr>
          <a:xfrm>
            <a:off x="3184337" y="2626766"/>
            <a:ext cx="4470444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TextBox 1892"/>
          <p:cNvSpPr txBox="1"/>
          <p:nvPr/>
        </p:nvSpPr>
        <p:spPr>
          <a:xfrm>
            <a:off x="6874781" y="2626766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1894" name="TextBox 1893"/>
          <p:cNvSpPr txBox="1"/>
          <p:nvPr/>
        </p:nvSpPr>
        <p:spPr>
          <a:xfrm>
            <a:off x="1547273" y="3196890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895" name="Rectangle 1894"/>
          <p:cNvSpPr/>
          <p:nvPr/>
        </p:nvSpPr>
        <p:spPr>
          <a:xfrm>
            <a:off x="3184337" y="3339421"/>
            <a:ext cx="3725370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TextBox 1895"/>
          <p:cNvSpPr txBox="1"/>
          <p:nvPr/>
        </p:nvSpPr>
        <p:spPr>
          <a:xfrm>
            <a:off x="6129707" y="3339421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125</a:t>
            </a:r>
          </a:p>
        </p:txBody>
      </p:sp>
      <p:sp>
        <p:nvSpPr>
          <p:cNvPr id="1897" name="TextBox 1896"/>
          <p:cNvSpPr txBox="1"/>
          <p:nvPr/>
        </p:nvSpPr>
        <p:spPr>
          <a:xfrm>
            <a:off x="1547273" y="390954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898" name="Rectangle 1897"/>
          <p:cNvSpPr/>
          <p:nvPr/>
        </p:nvSpPr>
        <p:spPr>
          <a:xfrm>
            <a:off x="3184337" y="4052076"/>
            <a:ext cx="3993596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TextBox 1898"/>
          <p:cNvSpPr txBox="1"/>
          <p:nvPr/>
        </p:nvSpPr>
        <p:spPr>
          <a:xfrm>
            <a:off x="6397933" y="4052076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10-11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72/72</a:t>
            </a:r>
          </a:p>
        </p:txBody>
      </p:sp>
      <p:sp>
        <p:nvSpPr>
          <p:cNvPr id="1909" name="Captura de actividad pendiente"/>
          <p:cNvSpPr/>
          <p:nvPr>
            <p:ph type="pic"/>
          </p:nvPr>
        </p:nvSpPr>
        <p:spPr>
          <a:xfrm>
            <a:off x="1389175" y="785274"/>
            <a:ext cx="658703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