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Nodo Sur: Ricardone y San Lorenzo, 31 nodos y 49 circuitos de la Matriz de circuitos (R1 a R34 y SL1 a SL15). Cada circuito es una línea y las líneas se superponen: cuantos más circuitos pasan por la misma unión de nodos, más oscura se ve. El tronco Ingreso, Preingreso, Calada lleva 42 y es lo más oscuro; las conexiones claras las usa un solo circuito. Abajo, la vuelta de despachos y transiles de Balanza egreso a Calada. Arriba, los transiles entre plantas: 10 circuitos de Ricardone al puerto y 8 de vuelta, con el mismo trazo que el resto. Los círculos punteados son los 8 puntos que la matriz no asocia a una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 un nodo real de la matriz: Balanza egreso de Ricardone. Las líneas más oscuras son las que usan más circuitos. Llegan desde 11 puntos (el número es cuántos circuitos usan esa conexión) y a la salida se separan por tipo de movimiento: recepciones, transiles internos y camiones que vienen del puerto siguen a Playa de egreso y salen por Salida 1 (24 circuitos); despachos y transiles hacia San Lorenzo vuelven a Calada y salen por Salida 2 (17). El tipo de movimiento lo da el sistema de camiones y el paso lo da la cámara: con las dos cosas, cada evento se valida solo. Lo mismo está definido para los 31 nodos del Nodo Sur.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capas. La primera no es un agente: es la puerta única a los datos, un servidor MCP/API sobre TruckFlow, que extiende el MCP que ya tiene el repo. La segunda vive en el monitoreo en vivo: reglas que corren sobre cada evento. La tercera trabaja el histórico y ayuda a decidir: cierres por horario, tiempos, carga por punto y un asesor con IA que sugiere y una persona aprueba. La cuarta comunica. Las cuentas las hacen siempre las reglas; la IA explica y propone.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 pack no inventa procesos: cada agente toma algo que el repo ya hace y lo vuelve automático. Enriquecedor, Circuito y Seguridad salen de las reglas del ETL; Estado de planta, del tablero en vivo; Cierre de turno reemplaza correr el ETL a mano; Comunicador arma el informe diario y el comité que hoy se arman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sta aérea de la planta Ricardone">    </p:cNvPr>
          <p:cNvPicPr>
            <a:picLocks noChangeAspect="1"/>
          </p:cNvPicPr>
          <p:nvPr/>
        </p:nvPicPr>
        <p:blipFill>
          <a:blip r:embed="rId1"/>
          <a:srcRect l="21496" r="21496" t="0" b="0"/>
          <a:stretch/>
        </p:blipFill>
        <p:spPr>
          <a:xfrm>
            <a:off x="7493000" y="0"/>
            <a:ext cx="469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3000" y="0"/>
            <a:ext cx="2667000" cy="6858000"/>
          </a:xfrm>
          <a:prstGeom prst="rect">
            <a:avLst/>
          </a:prstGeom>
          <a:gradFill rotWithShape="1">
            <a:gsLst>
              <a:gs pos="0">
                <a:srgbClr val="0E1A2B"/>
              </a:gs>
              <a:gs pos="100000">
                <a:srgbClr val="0E1A2B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4" name="Image 1" descr="BIMtrazer">    </p:cNvPr>
          <p:cNvPicPr>
            <a:picLocks noChangeAspect="1"/>
          </p:cNvPicPr>
          <p:nvPr/>
        </p:nvPicPr>
        <p:blipFill>
          <a:blip r:embed="rId2"/>
          <a:srcRect l="0" r="0" t="-392" b="-392"/>
          <a:stretch/>
        </p:blipFill>
        <p:spPr>
          <a:xfrm>
            <a:off x="812800" y="844550"/>
            <a:ext cx="1206500" cy="57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73300" y="901700"/>
            <a:ext cx="12700" cy="457200"/>
          </a:xfrm>
          <a:prstGeom prst="rect">
            <a:avLst/>
          </a:prstGeom>
          <a:solidFill>
            <a:srgbClr val="EEF2F4">
              <a:alpha val="25000"/>
            </a:srgbClr>
          </a:solidFill>
          <a:ln/>
        </p:spPr>
      </p:sp>
      <p:pic>
        <p:nvPicPr>
          <p:cNvPr id="6" name="Image 2" descr="Nueva Vicentin Argentina">    </p:cNvPr>
          <p:cNvPicPr>
            <a:picLocks noChangeAspect="1"/>
          </p:cNvPicPr>
          <p:nvPr/>
        </p:nvPicPr>
        <p:blipFill>
          <a:blip r:embed="rId3"/>
          <a:srcRect l="-836" r="-836" t="0" b="0"/>
          <a:stretch/>
        </p:blipFill>
        <p:spPr>
          <a:xfrm>
            <a:off x="2540000" y="812800"/>
            <a:ext cx="1206500" cy="635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2414488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6CC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· NODO SUR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812800" y="2866529"/>
            <a:ext cx="6540500" cy="119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spc="-100" kern="0" dirty="0">
                <a:solidFill>
                  <a:srgbClr val="EEF2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medir la semana</a:t>
            </a:r>
            <a:endParaRPr lang="en-US" sz="4400" dirty="0"/>
          </a:p>
          <a:p>
            <a:pPr algn="l" indent="0" marL="0">
              <a:lnSpc>
                <a:spcPts val="4620"/>
              </a:lnSpc>
              <a:buNone/>
            </a:pPr>
            <a:r>
              <a:rPr lang="en-US" sz="4400" b="1" spc="-100" kern="0" dirty="0">
                <a:solidFill>
                  <a:srgbClr val="EEF2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gestionar el turno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812800" y="4243090"/>
            <a:ext cx="588645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8C4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como base de eventos, el sistema de camiones como contexto y agentes que operan en vivo.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812800" y="58141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C4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Propuesta interna · BIMtrazer · Septiembre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UNA LÁMINA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propuesta en una lámina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95314"/>
            <a:ext cx="3380284" cy="2335312"/>
          </a:xfrm>
          <a:prstGeom prst="roundRect">
            <a:avLst>
              <a:gd name="adj" fmla="val 4215"/>
            </a:avLst>
          </a:prstGeom>
          <a:solidFill>
            <a:srgbClr val="FCFDFB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3150" y="2452489"/>
            <a:ext cx="898525" cy="289520"/>
          </a:xfrm>
          <a:prstGeom prst="roundRect">
            <a:avLst>
              <a:gd name="adj" fmla="val 50000"/>
            </a:avLst>
          </a:prstGeom>
          <a:solidFill>
            <a:srgbClr val="DCEDE1"/>
          </a:solidFill>
          <a:ln/>
        </p:spPr>
      </p:sp>
      <p:sp>
        <p:nvSpPr>
          <p:cNvPr id="6" name="Text 4"/>
          <p:cNvSpPr/>
          <p:nvPr/>
        </p:nvSpPr>
        <p:spPr>
          <a:xfrm>
            <a:off x="1174750" y="2490589"/>
            <a:ext cx="7461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B56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3150" y="2869009"/>
            <a:ext cx="29519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TruckFlow, la capa de eventos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3150" y="3580209"/>
            <a:ext cx="295191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cámaras, un evento por paso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Nodo Sur: 31 nodos, 49 circuitos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 nuestra plataforma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5809" y="2195314"/>
            <a:ext cx="3380383" cy="2335312"/>
          </a:xfrm>
          <a:prstGeom prst="roundRect">
            <a:avLst>
              <a:gd name="adj" fmla="val 4215"/>
            </a:avLst>
          </a:prstGeom>
          <a:solidFill>
            <a:srgbClr val="FCFDFB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2984" y="2452489"/>
            <a:ext cx="885230" cy="289520"/>
          </a:xfrm>
          <a:prstGeom prst="roundRect">
            <a:avLst>
              <a:gd name="adj" fmla="val 50000"/>
            </a:avLst>
          </a:prstGeom>
          <a:solidFill>
            <a:srgbClr val="F8E7C8"/>
          </a:solidFill>
          <a:ln/>
        </p:spPr>
      </p:sp>
      <p:sp>
        <p:nvSpPr>
          <p:cNvPr id="11" name="Text 9"/>
          <p:cNvSpPr/>
          <p:nvPr/>
        </p:nvSpPr>
        <p:spPr>
          <a:xfrm>
            <a:off x="4764584" y="2490589"/>
            <a:ext cx="7328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DATO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2984" y="2869009"/>
            <a:ext cx="295201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73 % del ciclo es espera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2984" y="3580209"/>
            <a:ext cx="295201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Playa 1 y Playa OSL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bajó en 13 comités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ataca durante el turno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5741" y="2195314"/>
            <a:ext cx="3380284" cy="2335312"/>
          </a:xfrm>
          <a:prstGeom prst="roundRect">
            <a:avLst>
              <a:gd name="adj" fmla="val 4215"/>
            </a:avLst>
          </a:prstGeom>
          <a:solidFill>
            <a:srgbClr val="FCFDFB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2916" y="2452489"/>
            <a:ext cx="1447105" cy="289520"/>
          </a:xfrm>
          <a:prstGeom prst="roundRect">
            <a:avLst>
              <a:gd name="adj" fmla="val 50000"/>
            </a:avLst>
          </a:prstGeom>
          <a:solidFill>
            <a:srgbClr val="DCEEF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4516" y="2490589"/>
            <a:ext cx="12947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PROPUESTA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2916" y="2869009"/>
            <a:ext cx="29519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Enriquecer y automatizar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52916" y="3580209"/>
            <a:ext cx="295191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Sumar el sistema de camiones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Agentes que leen TruckFlow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Torre de control asistida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800" y="5151140"/>
            <a:ext cx="10566400" cy="690860"/>
          </a:xfrm>
          <a:prstGeom prst="roundRect">
            <a:avLst>
              <a:gd name="adj" fmla="val 14706"/>
            </a:avLst>
          </a:prstGeom>
          <a:solidFill>
            <a:srgbClr val="0E1A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" y="5354340"/>
            <a:ext cx="1025550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EF2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de hoy: aprobar la fase 1 y llevarle la propuesta a Vicentin.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26795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Vicentin · propuesta interna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56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TruckFlow ya está instalado y funcionando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221210"/>
            <a:ext cx="5740400" cy="2743200"/>
          </a:xfrm>
          <a:prstGeom prst="roundRect">
            <a:avLst>
              <a:gd name="adj" fmla="val 3704"/>
            </a:avLst>
          </a:prstGeom>
          <a:solidFill>
            <a:srgbClr val="0E1A2B"/>
          </a:solidFill>
          <a:ln/>
        </p:spPr>
      </p:sp>
      <p:pic>
        <p:nvPicPr>
          <p:cNvPr id="5" name="Image 0" descr="Mosaico del DSS con las cámaras de Ricardone y San Lorenzo">    </p:cNvPr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889000" y="2297410"/>
            <a:ext cx="5588000" cy="2590800"/>
          </a:xfrm>
          <a:prstGeom prst="roundRect">
            <a:avLst>
              <a:gd name="adj" fmla="val 1961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858000" y="2221210"/>
            <a:ext cx="46568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cámaras LPR con 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0" y="2477691"/>
            <a:ext cx="4656836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leen la patente en la cámara; 33 en Ricardone y 27 en el puerto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2981523"/>
            <a:ext cx="46568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 Edge, en planta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3238004"/>
            <a:ext cx="4656836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bitácora local y reenvío de cada lectura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741936"/>
            <a:ext cx="46568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Service, en la nube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0" y="3998416"/>
            <a:ext cx="4656836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viajes, rutas y alertas; APIs REST y gRPC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0" y="4502249"/>
            <a:ext cx="46568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Servidor, red y VPN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4758730"/>
            <a:ext cx="4656836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HPE con DSS y TF Edge, 21 switches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800" y="56109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Probado de punta a punta el 15/09: cámara → TF Edge → TruckFlow → visualización.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719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Imagen: DSS con las cámaras de ambas plantas · Fuente: informe de fin de etapa de instalación (15/09/2026)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56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DE NODOS · NODO SUR · MATRIZ DE CIRCUITOS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4900"/>
            <a:ext cx="78486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Nodo Sur: 31 nodos, 49 circuitos</a:t>
            </a:r>
            <a:endParaRPr lang="en-US" sz="3200" dirty="0"/>
          </a:p>
        </p:txBody>
      </p:sp>
      <p:pic>
        <p:nvPicPr>
          <p:cNvPr id="4" name="Image 0" descr="Escala: más circuitos superpuestos, línea más oscur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80500" y="952500"/>
            <a:ext cx="229870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80500" y="749300"/>
            <a:ext cx="11303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circuito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749300"/>
            <a:ext cx="13208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 superpuestos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525000" y="1168400"/>
            <a:ext cx="1909826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/ sin cámara</a:t>
            </a:r>
            <a:endParaRPr lang="en-US" sz="1200" dirty="0"/>
          </a:p>
        </p:txBody>
      </p:sp>
      <p:pic>
        <p:nvPicPr>
          <p:cNvPr id="8" name="Image 1" descr="Nodo Sur: 31 nodos y 49 circuitos de Ricardone y San Lorenzo. Los circuitos se superponen: cuantos más circuitos comparten una conexión, más oscura es la línea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812800" y="1841500"/>
            <a:ext cx="10566400" cy="3937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50900" y="3130550"/>
            <a:ext cx="5778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825500" y="3130550"/>
            <a:ext cx="6286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257300" y="3905250"/>
            <a:ext cx="7874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231900" y="3905250"/>
            <a:ext cx="8382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Preingreso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873250" y="4254500"/>
            <a:ext cx="5207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847850" y="4254500"/>
            <a:ext cx="5715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Calada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730500" y="3143250"/>
            <a:ext cx="11366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2705100" y="3143250"/>
            <a:ext cx="11874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Balanza ingreso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911600" y="4083050"/>
            <a:ext cx="5524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3886200" y="4083050"/>
            <a:ext cx="6032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Playa 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657600" y="2482850"/>
            <a:ext cx="6604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3632200" y="2482850"/>
            <a:ext cx="7112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Celda 16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10200" y="3975100"/>
            <a:ext cx="11239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5384800" y="3975100"/>
            <a:ext cx="11747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Silo Australiano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384800" y="3022600"/>
            <a:ext cx="8763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359400" y="3022600"/>
            <a:ext cx="9271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Silo Keppler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416550" y="3340100"/>
            <a:ext cx="6985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5391150" y="3340100"/>
            <a:ext cx="7493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Silo Chief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232400" y="4610100"/>
            <a:ext cx="10541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5207000" y="4610100"/>
            <a:ext cx="11049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Tolva Celda 09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334000" y="4292600"/>
            <a:ext cx="10541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5308600" y="4292600"/>
            <a:ext cx="11049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Tolva Celda 10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105400" y="4927600"/>
            <a:ext cx="10541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5080000" y="4927600"/>
            <a:ext cx="11049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Tolva Celda 11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118100" y="2400300"/>
            <a:ext cx="10731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5092700" y="2400300"/>
            <a:ext cx="11239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Tolva silo Chief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270500" y="2705100"/>
            <a:ext cx="7683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5245100" y="2705100"/>
            <a:ext cx="8191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Volcable 1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5435600" y="3657600"/>
            <a:ext cx="7683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5410200" y="3657600"/>
            <a:ext cx="8191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Volcable 2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3479800" y="4953000"/>
            <a:ext cx="6286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40" name="Text 36"/>
          <p:cNvSpPr/>
          <p:nvPr/>
        </p:nvSpPr>
        <p:spPr>
          <a:xfrm>
            <a:off x="3454400" y="4953000"/>
            <a:ext cx="6794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Líquidos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6337300" y="3333750"/>
            <a:ext cx="10922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6311900" y="3333750"/>
            <a:ext cx="11430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Balanza egreso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7131050" y="4483100"/>
            <a:ext cx="11303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44" name="Text 40"/>
          <p:cNvSpPr/>
          <p:nvPr/>
        </p:nvSpPr>
        <p:spPr>
          <a:xfrm>
            <a:off x="7105650" y="4483100"/>
            <a:ext cx="11811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Playa de egreso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6400800" y="5334000"/>
            <a:ext cx="6032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46" name="Text 42"/>
          <p:cNvSpPr/>
          <p:nvPr/>
        </p:nvSpPr>
        <p:spPr>
          <a:xfrm>
            <a:off x="6375400" y="5334000"/>
            <a:ext cx="6540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Salida 1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2540000" y="2692400"/>
            <a:ext cx="6032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48" name="Text 44"/>
          <p:cNvSpPr/>
          <p:nvPr/>
        </p:nvSpPr>
        <p:spPr>
          <a:xfrm>
            <a:off x="2514600" y="2692400"/>
            <a:ext cx="6540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Salida 2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7543800" y="2692400"/>
            <a:ext cx="5778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50" name="Text 46"/>
          <p:cNvSpPr/>
          <p:nvPr/>
        </p:nvSpPr>
        <p:spPr>
          <a:xfrm>
            <a:off x="7518400" y="2692400"/>
            <a:ext cx="6286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7950200" y="3759200"/>
            <a:ext cx="5207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52" name="Text 48"/>
          <p:cNvSpPr/>
          <p:nvPr/>
        </p:nvSpPr>
        <p:spPr>
          <a:xfrm>
            <a:off x="7924800" y="3759200"/>
            <a:ext cx="5715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Calada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8534400" y="2743200"/>
            <a:ext cx="11366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54" name="Text 50"/>
          <p:cNvSpPr/>
          <p:nvPr/>
        </p:nvSpPr>
        <p:spPr>
          <a:xfrm>
            <a:off x="8509000" y="2743200"/>
            <a:ext cx="11874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Balanza ingreso</a:t>
            </a:r>
            <a:endParaRPr lang="en-US" sz="1200" dirty="0"/>
          </a:p>
        </p:txBody>
      </p:sp>
      <p:sp>
        <p:nvSpPr>
          <p:cNvPr id="55" name="Shape 51"/>
          <p:cNvSpPr/>
          <p:nvPr/>
        </p:nvSpPr>
        <p:spPr>
          <a:xfrm>
            <a:off x="7937500" y="4724400"/>
            <a:ext cx="7556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56" name="Text 52"/>
          <p:cNvSpPr/>
          <p:nvPr/>
        </p:nvSpPr>
        <p:spPr>
          <a:xfrm>
            <a:off x="7912100" y="4724400"/>
            <a:ext cx="8064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 OSL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9277350" y="5257800"/>
            <a:ext cx="11049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58" name="Text 54"/>
          <p:cNvSpPr/>
          <p:nvPr/>
        </p:nvSpPr>
        <p:spPr>
          <a:xfrm>
            <a:off x="9251950" y="5257800"/>
            <a:ext cx="11557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Playa volcables</a:t>
            </a:r>
            <a:endParaRPr lang="en-US" sz="1200" dirty="0"/>
          </a:p>
        </p:txBody>
      </p:sp>
      <p:sp>
        <p:nvSpPr>
          <p:cNvPr id="59" name="Shape 55"/>
          <p:cNvSpPr/>
          <p:nvPr/>
        </p:nvSpPr>
        <p:spPr>
          <a:xfrm>
            <a:off x="10490200" y="4883150"/>
            <a:ext cx="7175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60" name="Text 56"/>
          <p:cNvSpPr/>
          <p:nvPr/>
        </p:nvSpPr>
        <p:spPr>
          <a:xfrm>
            <a:off x="10464800" y="4883150"/>
            <a:ext cx="7683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Volcables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10210800" y="3962400"/>
            <a:ext cx="7556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62" name="Text 58"/>
          <p:cNvSpPr/>
          <p:nvPr/>
        </p:nvSpPr>
        <p:spPr>
          <a:xfrm>
            <a:off x="10185400" y="3962400"/>
            <a:ext cx="8064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Cargadero</a:t>
            </a:r>
            <a:endParaRPr lang="en-US" sz="1200" dirty="0"/>
          </a:p>
        </p:txBody>
      </p:sp>
      <p:sp>
        <p:nvSpPr>
          <p:cNvPr id="63" name="Shape 59"/>
          <p:cNvSpPr/>
          <p:nvPr/>
        </p:nvSpPr>
        <p:spPr>
          <a:xfrm>
            <a:off x="9220200" y="3587750"/>
            <a:ext cx="121285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64" name="Text 60"/>
          <p:cNvSpPr/>
          <p:nvPr/>
        </p:nvSpPr>
        <p:spPr>
          <a:xfrm>
            <a:off x="9194800" y="3587750"/>
            <a:ext cx="12636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 y descarga</a:t>
            </a:r>
            <a:endParaRPr lang="en-US" sz="1200" dirty="0"/>
          </a:p>
        </p:txBody>
      </p:sp>
      <p:sp>
        <p:nvSpPr>
          <p:cNvPr id="65" name="Shape 61"/>
          <p:cNvSpPr/>
          <p:nvPr/>
        </p:nvSpPr>
        <p:spPr>
          <a:xfrm>
            <a:off x="9702800" y="2755900"/>
            <a:ext cx="10922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66" name="Text 62"/>
          <p:cNvSpPr/>
          <p:nvPr/>
        </p:nvSpPr>
        <p:spPr>
          <a:xfrm>
            <a:off x="9677400" y="2755900"/>
            <a:ext cx="11430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Balanza egreso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9093200" y="4159250"/>
            <a:ext cx="5588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68" name="Text 64"/>
          <p:cNvSpPr/>
          <p:nvPr/>
        </p:nvSpPr>
        <p:spPr>
          <a:xfrm>
            <a:off x="9067800" y="4159250"/>
            <a:ext cx="6096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Renova</a:t>
            </a:r>
            <a:endParaRPr lang="en-US" sz="1200" dirty="0"/>
          </a:p>
        </p:txBody>
      </p:sp>
      <p:sp>
        <p:nvSpPr>
          <p:cNvPr id="69" name="Shape 65"/>
          <p:cNvSpPr/>
          <p:nvPr/>
        </p:nvSpPr>
        <p:spPr>
          <a:xfrm>
            <a:off x="10826750" y="2933700"/>
            <a:ext cx="520700" cy="202605"/>
          </a:xfrm>
          <a:prstGeom prst="roundRect">
            <a:avLst>
              <a:gd name="adj" fmla="val 18805"/>
            </a:avLst>
          </a:prstGeom>
          <a:solidFill>
            <a:srgbClr val="F5F6F2">
              <a:alpha val="86000"/>
            </a:srgbClr>
          </a:solidFill>
          <a:ln/>
        </p:spPr>
      </p:sp>
      <p:sp>
        <p:nvSpPr>
          <p:cNvPr id="70" name="Text 66"/>
          <p:cNvSpPr/>
          <p:nvPr/>
        </p:nvSpPr>
        <p:spPr>
          <a:xfrm>
            <a:off x="10801350" y="2933700"/>
            <a:ext cx="5715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Egreso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812800" y="1841500"/>
            <a:ext cx="108585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spc="100" kern="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72" name="Text 68"/>
          <p:cNvSpPr/>
          <p:nvPr/>
        </p:nvSpPr>
        <p:spPr>
          <a:xfrm>
            <a:off x="10210800" y="1841500"/>
            <a:ext cx="1257300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spc="100" kern="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73" name="Text 69"/>
          <p:cNvSpPr/>
          <p:nvPr/>
        </p:nvSpPr>
        <p:spPr>
          <a:xfrm>
            <a:off x="812800" y="6238280"/>
            <a:ext cx="6999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Matriz de circuitos · cada circuito es una línea; donde se superponen, la línea es más oscura</a:t>
            </a:r>
            <a:endParaRPr lang="en-US" sz="1200" dirty="0"/>
          </a:p>
        </p:txBody>
      </p:sp>
      <p:sp>
        <p:nvSpPr>
          <p:cNvPr id="74" name="Text 70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56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DE NODOS · EJEMPLO: BALANZA EGRESO DE RICARDONE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49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nodo sabe de dónde vienen y a dónde van</a:t>
            </a:r>
            <a:endParaRPr lang="en-US" sz="3200" dirty="0"/>
          </a:p>
        </p:txBody>
      </p:sp>
      <p:pic>
        <p:nvPicPr>
          <p:cNvPr id="4" name="Image 0" descr="Los 41 circuitos que pasan por Balanza egreso llegan desde 11 puntos y salen por dos caminos; cuantos más circuitos, más oscura la línea">    </p:cNvPr>
          <p:cNvPicPr>
            <a:picLocks noChangeAspect="1"/>
          </p:cNvPicPr>
          <p:nvPr/>
        </p:nvPicPr>
        <p:blipFill>
          <a:blip r:embed="rId1"/>
          <a:srcRect l="-43" r="-43" t="0" b="0"/>
          <a:stretch/>
        </p:blipFill>
        <p:spPr>
          <a:xfrm>
            <a:off x="812800" y="1778000"/>
            <a:ext cx="10566400" cy="279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410" y="16637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b="1" spc="150" kern="0" dirty="0">
                <a:solidFill>
                  <a:srgbClr val="0B56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DÓNDE LLEGA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85200" y="1663700"/>
            <a:ext cx="287782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spc="150" kern="0" dirty="0">
                <a:solidFill>
                  <a:srgbClr val="0B56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DÓNDE SIGUE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0410" y="19050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Líquidos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02000" y="19050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410" y="21463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Playa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02000" y="21463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0410" y="23876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Silo Keppler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02000" y="23876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0410" y="26289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Volcable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02000" y="26289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0410" y="28702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Silo Australiano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02000" y="28702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0410" y="31115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Volcable 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02000" y="31115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0410" y="33528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Silo Chief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02000" y="33528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40410" y="35941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Tolva Celda 09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302000" y="35941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0410" y="38354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Tolva Celda 10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02000" y="38354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0410" y="40767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Tolva Celda 11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02000" y="40767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40410" y="4318000"/>
            <a:ext cx="248539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Tolva silo Chief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302000" y="4318000"/>
            <a:ext cx="330200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00700" y="2813050"/>
            <a:ext cx="2070100" cy="800100"/>
          </a:xfrm>
          <a:prstGeom prst="roundRect">
            <a:avLst>
              <a:gd name="adj" fmla="val 9524"/>
            </a:avLst>
          </a:prstGeom>
          <a:solidFill>
            <a:srgbClr val="0E1A2B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5800" y="2972098"/>
            <a:ext cx="179209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EEF2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Balanza egreso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765800" y="3248323"/>
            <a:ext cx="1792097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C4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Ricardone · 41 circuitos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591550" y="2012950"/>
            <a:ext cx="2781300" cy="1130300"/>
          </a:xfrm>
          <a:prstGeom prst="roundRect">
            <a:avLst>
              <a:gd name="adj" fmla="val 7303"/>
            </a:avLst>
          </a:prstGeom>
          <a:solidFill>
            <a:srgbClr val="FCFDFB"/>
          </a:solidFill>
          <a:ln w="12700">
            <a:solidFill>
              <a:srgbClr val="1320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50300" y="2128242"/>
            <a:ext cx="253771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Playa de egreso → Salida 1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750300" y="2372717"/>
            <a:ext cx="253771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recepción</a:t>
            </a: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r>
              <a:rPr lang="en-US" sz="12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transile interno</a:t>
            </a: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</a:t>
            </a:r>
            <a:r>
              <a:rPr lang="en-US" sz="12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camión que viene del puerto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750300" y="2822178"/>
            <a:ext cx="253771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circuitos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591550" y="3282950"/>
            <a:ext cx="2781300" cy="1130300"/>
          </a:xfrm>
          <a:prstGeom prst="roundRect">
            <a:avLst>
              <a:gd name="adj" fmla="val 7303"/>
            </a:avLst>
          </a:prstGeom>
          <a:solidFill>
            <a:srgbClr val="FCFDFB"/>
          </a:solidFill>
          <a:ln w="12700">
            <a:solidFill>
              <a:srgbClr val="1320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50300" y="3398242"/>
            <a:ext cx="253771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Vuelve a Calada → Salida 2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750300" y="3642717"/>
            <a:ext cx="253771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despacho</a:t>
            </a: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</a:t>
            </a:r>
            <a:r>
              <a:rPr lang="en-US" sz="12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transile hacia el puerto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750300" y="4092178"/>
            <a:ext cx="253771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circuitos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15975" y="4727575"/>
            <a:ext cx="3409950" cy="1111250"/>
          </a:xfrm>
          <a:prstGeom prst="roundRect">
            <a:avLst>
              <a:gd name="adj" fmla="val 8857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96950" y="4870450"/>
            <a:ext cx="313944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Valida la llegada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996950" y="5135860"/>
            <a:ext cx="313944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la cámara lo lee acá, tuvo que venir de una de sus 11 entradas.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391025" y="4727575"/>
            <a:ext cx="3409950" cy="1111250"/>
          </a:xfrm>
          <a:prstGeom prst="roundRect">
            <a:avLst>
              <a:gd name="adj" fmla="val 8857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72000" y="4870450"/>
            <a:ext cx="313944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Anticipa la salida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4572000" y="5135860"/>
            <a:ext cx="313944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sistema de camiones dice si sigue a Playa de egreso o vuelve a Calada.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7966075" y="4727575"/>
            <a:ext cx="3409950" cy="1111250"/>
          </a:xfrm>
          <a:prstGeom prst="roundRect">
            <a:avLst>
              <a:gd name="adj" fmla="val 8857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47050" y="4870450"/>
            <a:ext cx="313944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Alerta el desvío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147050" y="5135860"/>
            <a:ext cx="313944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toma otro camino, avisa con patente, nodo y el circuito que esperaba.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12800" y="6238280"/>
            <a:ext cx="66564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Matriz de circuitos · Ricardone · lo mismo está definido para los 31 nodos del Nodo Sur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56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YA EXISTE · CAPTURA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ya funciona sobre TruckFlow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6985000" cy="3994150"/>
          </a:xfrm>
          <a:prstGeom prst="roundRect">
            <a:avLst>
              <a:gd name="adj" fmla="val 2544"/>
            </a:avLst>
          </a:prstGeom>
          <a:solidFill>
            <a:srgbClr val="0E1A2B"/>
          </a:solidFill>
          <a:ln/>
        </p:spPr>
      </p:sp>
      <p:pic>
        <p:nvPicPr>
          <p:cNvPr id="5" name="Image 0" descr="Tablero en vivo de Ricardone con Playa 1 seleccionada y sus patentes">    </p:cNvPr>
          <p:cNvPicPr>
            <a:picLocks noChangeAspect="1"/>
          </p:cNvPicPr>
          <p:nvPr/>
        </p:nvPicPr>
        <p:blipFill>
          <a:blip r:embed="rId1"/>
          <a:srcRect l="-21" r="-21" t="0" b="0"/>
          <a:stretch/>
        </p:blipFill>
        <p:spPr>
          <a:xfrm>
            <a:off x="889000" y="1904901"/>
            <a:ext cx="6832600" cy="3841750"/>
          </a:xfrm>
          <a:prstGeom prst="roundRect">
            <a:avLst>
              <a:gd name="adj" fmla="val 1322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02600" y="1828701"/>
            <a:ext cx="337489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21/09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102600" y="2189361"/>
            <a:ext cx="337489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tablero en vivo pasa a ser la pantalla de inicio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02600" y="2971304"/>
            <a:ext cx="337489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102600" y="3331964"/>
            <a:ext cx="337489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comités semanales entregados desde el 10/06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02600" y="4113907"/>
            <a:ext cx="337489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 → 95 %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102600" y="4474567"/>
            <a:ext cx="337489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 volumen con trazabilidad por cámara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02600" y="5256510"/>
            <a:ext cx="337489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comando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102600" y="5617170"/>
            <a:ext cx="337489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arma el informe diario en Google Slides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62829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Captura real del tablero · Ricardone, domingo 27/09, 22:03 · Fuente: histórico de comités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5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DATO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73 % del ciclo de la soja es espera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77901"/>
            <a:ext cx="5511904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spc="-1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245 de 334 min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68963" y="2009080"/>
            <a:ext cx="505754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espera en playas por camión de soja, en la semana del 10 al 16/09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250" y="2857401"/>
            <a:ext cx="47091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Playa 1</a:t>
            </a:r>
            <a:r>
              <a:rPr lang="en-US" sz="14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espera para calar · </a:t>
            </a: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126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95950" y="2857401"/>
            <a:ext cx="57556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Playa OSL</a:t>
            </a:r>
            <a:r>
              <a:rPr lang="en-US" sz="14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espera en el puerto · </a:t>
            </a: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119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263801"/>
            <a:ext cx="158750" cy="279400"/>
          </a:xfrm>
          <a:prstGeom prst="rect">
            <a:avLst/>
          </a:prstGeom>
          <a:solidFill>
            <a:srgbClr val="7D8B99"/>
          </a:solidFill>
          <a:ln/>
        </p:spPr>
      </p:sp>
      <p:sp>
        <p:nvSpPr>
          <p:cNvPr id="9" name="Shape 7"/>
          <p:cNvSpPr/>
          <p:nvPr/>
        </p:nvSpPr>
        <p:spPr>
          <a:xfrm>
            <a:off x="984250" y="3263801"/>
            <a:ext cx="3956050" cy="279400"/>
          </a:xfrm>
          <a:prstGeom prst="rect">
            <a:avLst/>
          </a:prstGeom>
          <a:solidFill>
            <a:srgbClr val="C27A06"/>
          </a:solidFill>
          <a:ln/>
        </p:spPr>
      </p:sp>
      <p:sp>
        <p:nvSpPr>
          <p:cNvPr id="10" name="Shape 8"/>
          <p:cNvSpPr/>
          <p:nvPr/>
        </p:nvSpPr>
        <p:spPr>
          <a:xfrm>
            <a:off x="4953000" y="3263801"/>
            <a:ext cx="342900" cy="279400"/>
          </a:xfrm>
          <a:prstGeom prst="rect">
            <a:avLst/>
          </a:prstGeom>
          <a:solidFill>
            <a:srgbClr val="7D8B99"/>
          </a:solidFill>
          <a:ln/>
        </p:spPr>
      </p:sp>
      <p:sp>
        <p:nvSpPr>
          <p:cNvPr id="11" name="Shape 9"/>
          <p:cNvSpPr/>
          <p:nvPr/>
        </p:nvSpPr>
        <p:spPr>
          <a:xfrm>
            <a:off x="5308600" y="3263801"/>
            <a:ext cx="374650" cy="279400"/>
          </a:xfrm>
          <a:prstGeom prst="rect">
            <a:avLst/>
          </a:prstGeom>
          <a:solidFill>
            <a:srgbClr val="7D8B99"/>
          </a:solidFill>
          <a:ln/>
        </p:spPr>
      </p:sp>
      <p:sp>
        <p:nvSpPr>
          <p:cNvPr id="12" name="Shape 10"/>
          <p:cNvSpPr/>
          <p:nvPr/>
        </p:nvSpPr>
        <p:spPr>
          <a:xfrm>
            <a:off x="5695950" y="3263801"/>
            <a:ext cx="3740150" cy="279400"/>
          </a:xfrm>
          <a:prstGeom prst="rect">
            <a:avLst/>
          </a:prstGeom>
          <a:solidFill>
            <a:srgbClr val="C27A06"/>
          </a:solidFill>
          <a:ln/>
        </p:spPr>
      </p:sp>
      <p:sp>
        <p:nvSpPr>
          <p:cNvPr id="13" name="Shape 11"/>
          <p:cNvSpPr/>
          <p:nvPr/>
        </p:nvSpPr>
        <p:spPr>
          <a:xfrm>
            <a:off x="9448800" y="3263801"/>
            <a:ext cx="1320800" cy="279400"/>
          </a:xfrm>
          <a:prstGeom prst="rect">
            <a:avLst/>
          </a:prstGeom>
          <a:solidFill>
            <a:srgbClr val="7D8B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2300" y="3263801"/>
            <a:ext cx="596900" cy="279400"/>
          </a:xfrm>
          <a:custGeom>
            <a:avLst/>
            <a:gdLst/>
            <a:ahLst/>
            <a:cxnLst/>
            <a:rect l="l" t="t" r="r" b="b"/>
            <a:pathLst>
              <a:path w="596900" h="279400">
                <a:moveTo>
                  <a:pt x="0" y="0"/>
                </a:moveTo>
                <a:lnTo>
                  <a:pt x="571500" y="0"/>
                </a:lnTo>
                <a:arcTo hR="25400" wR="25400" stAng="16200000" swAng="5400000"/>
                <a:lnTo>
                  <a:pt x="596900" y="254000"/>
                </a:lnTo>
                <a:arcTo hR="25400" wR="25400" stAng="0" swAng="5400000"/>
                <a:lnTo>
                  <a:pt x="0" y="279400"/>
                </a:lnTo>
                <a:lnTo>
                  <a:pt x="0" y="0"/>
                </a:lnTo>
                <a:close/>
              </a:path>
            </a:pathLst>
          </a:custGeom>
          <a:solidFill>
            <a:srgbClr val="7D8B99"/>
          </a:solidFill>
          <a:ln/>
        </p:spPr>
      </p:sp>
      <p:sp>
        <p:nvSpPr>
          <p:cNvPr id="15" name="Text 13"/>
          <p:cNvSpPr/>
          <p:nvPr/>
        </p:nvSpPr>
        <p:spPr>
          <a:xfrm>
            <a:off x="787400" y="3644801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72050" y="3644801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0350" y="3644801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29800" y="3644801"/>
            <a:ext cx="558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28350" y="3644801"/>
            <a:ext cx="304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409942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C27A0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" y="4063901"/>
            <a:ext cx="450129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Espera en playas: Playa 1 y Playa OSL · 245 min (73 %)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2800" y="442446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7D8B99"/>
          </a:solidFill>
          <a:ln/>
        </p:spPr>
      </p:sp>
      <p:sp>
        <p:nvSpPr>
          <p:cNvPr id="23" name="Text 21"/>
          <p:cNvSpPr/>
          <p:nvPr/>
        </p:nvSpPr>
        <p:spPr>
          <a:xfrm>
            <a:off x="1092200" y="4388941"/>
            <a:ext cx="778145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Proceso y traslado: ingreso 5 · salida 11 · traslado 12 · descarga 42 · egreso 19 · 89 min (27 %)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4840982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puntos tienen capacidad (calada 60/h, balanza 38/h) y en 13 comités el tiempo total no bajó: osciló entre 276 y 433 min.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6194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Circuito R7 (soja), semana 10–16/09, 2.557 camiones · Comité de Logística del 18/09 e histórico de comités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JUSTIFICACIÓN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qué automatizar sobre TruckFlow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52501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sistema de camiones sabe qué se contrató y cuánto pesó; TruckFlow sabe dónde está cada camión y cuánto espera. Para automatizar la operación hace falta lo segundo, con lo primero como contexto.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423021"/>
          <a:ext cx="10553700" cy="1995487"/>
        </p:xfrm>
        <a:graphic>
          <a:graphicData uri="http://schemas.openxmlformats.org/drawingml/2006/table">
            <a:tbl>
              <a:tblPr/>
              <a:tblGrid>
                <a:gridCol w="1899666"/>
                <a:gridCol w="4327017"/>
                <a:gridCol w="4327017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EF2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Sistema de camiones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6CC1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TruckFlow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transacciones: contrato, cupo y pesos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eventos: cada paso por cada nodo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 genera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cuando alguien registra una operación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solo, por cámara, sin intervención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Muestra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 que se cargó en el sistema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dónde está el camión y cuánto espera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Llega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 cerrar la operación; hoy en Excel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 segundos, con foto de evidencia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 controla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Vicentin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nosotros: lo extendemos y le sumamos agentes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59630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ESO SE AUTOMATIZA MÁS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5975" y="4889004"/>
            <a:ext cx="3414117" cy="756841"/>
          </a:xfrm>
          <a:prstGeom prst="roundRect">
            <a:avLst>
              <a:gd name="adj" fmla="val 13005"/>
            </a:avLst>
          </a:prstGeom>
          <a:solidFill>
            <a:srgbClr val="FCFDFB"/>
          </a:solidFill>
          <a:ln w="6350">
            <a:solidFill>
              <a:srgbClr val="1A8F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6950" y="5044579"/>
            <a:ext cx="314373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evento dispara una regla, sin esperar a nadie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8842" y="4889004"/>
            <a:ext cx="3414216" cy="756841"/>
          </a:xfrm>
          <a:prstGeom prst="roundRect">
            <a:avLst>
              <a:gd name="adj" fmla="val 13005"/>
            </a:avLst>
          </a:prstGeom>
          <a:solidFill>
            <a:srgbClr val="FCFDFB"/>
          </a:solidFill>
          <a:ln w="6350">
            <a:solidFill>
              <a:srgbClr val="1A8F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69817" y="5044579"/>
            <a:ext cx="314383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Formato propio y abierto: un JSON por evento y APIs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61809" y="4889004"/>
            <a:ext cx="3414216" cy="756841"/>
          </a:xfrm>
          <a:prstGeom prst="roundRect">
            <a:avLst>
              <a:gd name="adj" fmla="val 13005"/>
            </a:avLst>
          </a:prstGeom>
          <a:solidFill>
            <a:srgbClr val="FCFDFB"/>
          </a:solidFill>
          <a:ln w="6350">
            <a:solidFill>
              <a:srgbClr val="1A8F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42784" y="5044579"/>
            <a:ext cx="314383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Sumamos fuentes y agentes sin tocar el sistema de Vicentin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26795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Vicentin · propuesta interna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PROPUESTA · 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funciona: eventos, enriquecimiento y agentes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733451"/>
            <a:ext cx="1765300" cy="1384300"/>
          </a:xfrm>
          <a:prstGeom prst="roundRect">
            <a:avLst>
              <a:gd name="adj" fmla="val 5046"/>
            </a:avLst>
          </a:prstGeom>
          <a:solidFill>
            <a:srgbClr val="DCEDE1"/>
          </a:solidFill>
          <a:ln w="12700">
            <a:solidFill>
              <a:srgbClr val="3A8F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984970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52500" y="2249091"/>
            <a:ext cx="15494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cámaras LPR y la tarjeta del chofer en cada punto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6250" y="1733451"/>
            <a:ext cx="1765300" cy="1384300"/>
          </a:xfrm>
          <a:prstGeom prst="roundRect">
            <a:avLst>
              <a:gd name="adj" fmla="val 5046"/>
            </a:avLst>
          </a:prstGeom>
          <a:solidFill>
            <a:srgbClr val="DCEDE1"/>
          </a:solidFill>
          <a:ln w="12700">
            <a:solidFill>
              <a:srgbClr val="3A8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9600" y="1984970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 Edge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49600" y="2249091"/>
            <a:ext cx="15494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planta: bitácora local y reenvío de cada lectura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9700" y="1739801"/>
            <a:ext cx="1752600" cy="1371600"/>
          </a:xfrm>
          <a:prstGeom prst="roundRect">
            <a:avLst>
              <a:gd name="adj" fmla="val 4630"/>
            </a:avLst>
          </a:prstGeom>
          <a:solidFill>
            <a:srgbClr val="0E1A2B"/>
          </a:solidFill>
          <a:ln w="25400">
            <a:solidFill>
              <a:srgbClr val="1A8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9400" y="1984970"/>
            <a:ext cx="1524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EF2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59400" y="2249091"/>
            <a:ext cx="15240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C4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nuestra base: un JSON por evento, viajes y alertas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10450" y="1733451"/>
            <a:ext cx="1765300" cy="1384300"/>
          </a:xfrm>
          <a:prstGeom prst="roundRect">
            <a:avLst>
              <a:gd name="adj" fmla="val 5046"/>
            </a:avLst>
          </a:prstGeom>
          <a:solidFill>
            <a:srgbClr val="DCEEF8"/>
          </a:solidFill>
          <a:ln w="12700">
            <a:solidFill>
              <a:srgbClr val="1A8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882180"/>
            <a:ext cx="1549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43800" y="2146300"/>
            <a:ext cx="1549400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leen solo TruckFlow: reglas siempre activas e IA para excepciones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7550" y="1733451"/>
            <a:ext cx="1765300" cy="1384300"/>
          </a:xfrm>
          <a:prstGeom prst="roundRect">
            <a:avLst>
              <a:gd name="adj" fmla="val 5046"/>
            </a:avLst>
          </a:prstGeom>
          <a:solidFill>
            <a:srgbClr val="DCEDE1"/>
          </a:solidFill>
          <a:ln w="12700">
            <a:solidFill>
              <a:srgbClr val="3A8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40900" y="1981200"/>
            <a:ext cx="1549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Tablero, torre y reportes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40900" y="2458641"/>
            <a:ext cx="15494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ven y deciden las personas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6250" y="3765451"/>
            <a:ext cx="1765300" cy="876300"/>
          </a:xfrm>
          <a:prstGeom prst="roundRect">
            <a:avLst>
              <a:gd name="adj" fmla="val 7971"/>
            </a:avLst>
          </a:prstGeom>
          <a:solidFill>
            <a:srgbClr val="E1E6E9"/>
          </a:solidFill>
          <a:ln w="12700">
            <a:solidFill>
              <a:srgbClr val="7D8B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9600" y="3873401"/>
            <a:ext cx="1549400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1199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 de camiones</a:t>
            </a:r>
            <a:endParaRPr lang="en-US" sz="1199" dirty="0"/>
          </a:p>
        </p:txBody>
      </p:sp>
      <p:sp>
        <p:nvSpPr>
          <p:cNvPr id="21" name="Text 19"/>
          <p:cNvSpPr/>
          <p:nvPr/>
        </p:nvSpPr>
        <p:spPr>
          <a:xfrm>
            <a:off x="3149600" y="4234557"/>
            <a:ext cx="1549400" cy="324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877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contrato, cupo, pesos y plataforma</a:t>
            </a:r>
            <a:endParaRPr lang="en-US" sz="877" dirty="0"/>
          </a:p>
        </p:txBody>
      </p:sp>
      <p:sp>
        <p:nvSpPr>
          <p:cNvPr id="22" name="Shape 20"/>
          <p:cNvSpPr/>
          <p:nvPr/>
        </p:nvSpPr>
        <p:spPr>
          <a:xfrm>
            <a:off x="5213350" y="3765451"/>
            <a:ext cx="1765300" cy="876300"/>
          </a:xfrm>
          <a:prstGeom prst="roundRect">
            <a:avLst>
              <a:gd name="adj" fmla="val 7971"/>
            </a:avLst>
          </a:prstGeom>
          <a:solidFill>
            <a:srgbClr val="DCEEF8"/>
          </a:solidFill>
          <a:ln w="12700">
            <a:solidFill>
              <a:srgbClr val="1A8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6700" y="3873401"/>
            <a:ext cx="1549400" cy="181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59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Enriquecedor</a:t>
            </a:r>
            <a:endParaRPr lang="en-US" sz="1059" dirty="0"/>
          </a:p>
        </p:txBody>
      </p:sp>
      <p:sp>
        <p:nvSpPr>
          <p:cNvPr id="24" name="Text 22"/>
          <p:cNvSpPr/>
          <p:nvPr/>
        </p:nvSpPr>
        <p:spPr>
          <a:xfrm>
            <a:off x="5346700" y="4080768"/>
            <a:ext cx="1549400" cy="478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43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lee por SFTP o API y suma esos datos al JSON</a:t>
            </a:r>
            <a:endParaRPr lang="en-US" sz="1043" dirty="0"/>
          </a:p>
        </p:txBody>
      </p:sp>
      <p:pic>
        <p:nvPicPr>
          <p:cNvPr id="25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40000" y="2374801"/>
            <a:ext cx="520700" cy="101600"/>
          </a:xfrm>
          <a:prstGeom prst="rect">
            <a:avLst/>
          </a:prstGeom>
        </p:spPr>
      </p:pic>
      <p:pic>
        <p:nvPicPr>
          <p:cNvPr id="26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37100" y="2374801"/>
            <a:ext cx="520700" cy="101600"/>
          </a:xfrm>
          <a:prstGeom prst="rect">
            <a:avLst/>
          </a:prstGeom>
        </p:spPr>
      </p:pic>
      <p:pic>
        <p:nvPicPr>
          <p:cNvPr id="27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34200" y="2374801"/>
            <a:ext cx="520700" cy="101600"/>
          </a:xfrm>
          <a:prstGeom prst="rect">
            <a:avLst/>
          </a:prstGeom>
        </p:spPr>
      </p:pic>
      <p:pic>
        <p:nvPicPr>
          <p:cNvPr id="2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31300" y="2374801"/>
            <a:ext cx="520700" cy="101600"/>
          </a:xfrm>
          <a:prstGeom prst="rect">
            <a:avLst/>
          </a:prstGeom>
        </p:spPr>
      </p:pic>
      <p:pic>
        <p:nvPicPr>
          <p:cNvPr id="29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37100" y="4152801"/>
            <a:ext cx="520700" cy="101600"/>
          </a:xfrm>
          <a:prstGeom prst="rect">
            <a:avLst/>
          </a:prstGeom>
        </p:spPr>
      </p:pic>
      <p:pic>
        <p:nvPicPr>
          <p:cNvPr id="30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045200" y="3073301"/>
            <a:ext cx="101600" cy="7366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22325" y="4827786"/>
            <a:ext cx="158750" cy="158750"/>
          </a:xfrm>
          <a:prstGeom prst="roundRect">
            <a:avLst>
              <a:gd name="adj" fmla="val 18000"/>
            </a:avLst>
          </a:prstGeom>
          <a:solidFill>
            <a:srgbClr val="0E1A2B"/>
          </a:solidFill>
          <a:ln w="19050">
            <a:solidFill>
              <a:srgbClr val="1A8FD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066800" y="4800501"/>
            <a:ext cx="5372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base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1762820" y="4824611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DCEDE1"/>
          </a:solidFill>
          <a:ln w="12700">
            <a:solidFill>
              <a:srgbClr val="3A8F63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2010470" y="4800501"/>
            <a:ext cx="8326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ya funciona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3001863" y="4824611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DCEEF8"/>
          </a:solidFill>
          <a:ln w="12700">
            <a:solidFill>
              <a:srgbClr val="1A8FD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249513" y="4800501"/>
            <a:ext cx="6199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suma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4028182" y="4824611"/>
            <a:ext cx="165100" cy="165100"/>
          </a:xfrm>
          <a:prstGeom prst="roundRect">
            <a:avLst>
              <a:gd name="adj" fmla="val 19231"/>
            </a:avLst>
          </a:prstGeom>
          <a:solidFill>
            <a:srgbClr val="E1E6E9"/>
          </a:solidFill>
          <a:ln w="12700">
            <a:solidFill>
              <a:srgbClr val="7D8B99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275832" y="4800501"/>
            <a:ext cx="1386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 de Vicentin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815975" y="5169396"/>
            <a:ext cx="3414117" cy="731441"/>
          </a:xfrm>
          <a:prstGeom prst="roundRect">
            <a:avLst>
              <a:gd name="adj" fmla="val 13456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996950" y="5312271"/>
            <a:ext cx="314373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es la base: todo evento pasa por ahí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4388842" y="5169396"/>
            <a:ext cx="3414216" cy="731441"/>
          </a:xfrm>
          <a:prstGeom prst="roundRect">
            <a:avLst>
              <a:gd name="adj" fmla="val 13456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569817" y="5312271"/>
            <a:ext cx="314383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sistema de camiones se lee, no se toca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7961809" y="5169396"/>
            <a:ext cx="3414216" cy="731441"/>
          </a:xfrm>
          <a:prstGeom prst="roundRect">
            <a:avLst>
              <a:gd name="adj" fmla="val 13456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142784" y="5312271"/>
            <a:ext cx="314383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agentes leen solo TruckFlow: una sola versión de los datos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PROPUESTA · EL DATO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evento de TruckFlow, enriquecido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7901"/>
            <a:ext cx="5715000" cy="3285927"/>
          </a:xfrm>
          <a:prstGeom prst="roundRect">
            <a:avLst>
              <a:gd name="adj" fmla="val 3092"/>
            </a:avLst>
          </a:prstGeom>
          <a:solidFill>
            <a:srgbClr val="0E1A2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981101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186781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9FD3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"journeyUid"</a:t>
            </a: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"540e…dd64",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2392462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9FD3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"eventType"</a:t>
            </a: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"sector_entered",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1400" y="2598142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9FD3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"occurredAt"</a:t>
            </a: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"2026-09-16T07:49:16",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1400" y="2803823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9FD3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"truckPlate"</a:t>
            </a: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"AB123CD",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1400" y="3009503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9FD3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"sectorCode"</a:t>
            </a: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"2-S2",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1400" y="3215184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9FD3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"deviceCode"</a:t>
            </a: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"RicCal03",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1400" y="3420864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F2C6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"movimiento": {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1400" y="3626545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  </a:t>
            </a:r>
            <a:r>
              <a:rPr lang="en-US" sz="1200" dirty="0">
                <a:solidFill>
                  <a:srgbClr val="F2C6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"nroIngreso": "…", "contrato": "…",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1400" y="3832225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  </a:t>
            </a:r>
            <a:r>
              <a:rPr lang="en-US" sz="1200" dirty="0">
                <a:solidFill>
                  <a:srgbClr val="F2C6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"cupo": "…", "producto": "SOJA",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400" y="4037905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  </a:t>
            </a:r>
            <a:r>
              <a:rPr lang="en-US" sz="1200" dirty="0">
                <a:solidFill>
                  <a:srgbClr val="F2C6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"plataforma": "VOLCABLE_1"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1400" y="4243586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F2C6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},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1400" y="4449266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  </a:t>
            </a:r>
            <a:r>
              <a:rPr lang="en-US" sz="1200" dirty="0">
                <a:solidFill>
                  <a:srgbClr val="F2C66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"tarjeta": { "nodo": "2-S2", "coincide": true 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1400" y="4654947"/>
            <a:ext cx="541553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EF2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81800" y="1777901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MANDA TRUCKFLOW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81800" y="2042021"/>
            <a:ext cx="473532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patente, nodo, cámara, hora y viaje: cada paso del camión, solo y en segundos.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81800" y="2665512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A52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SUMA EL SISTEMA DE CAMIONES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81800" y="2929632"/>
            <a:ext cx="473532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contrato, cupo, producto y plataforma, cruzados por patente, horario y número de ingreso.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81800" y="3553123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56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PERMITE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81800" y="3817243"/>
            <a:ext cx="4735322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Saber si va al destino asignado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Medir la espera por contrato o cliente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Alertar si entra sin cupo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Confirmar identidad con la tarjeta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82456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Campos reales del evento de TruckFlow y del Excel de movimientos · valores de ejemplo · en amarillo, lo que se suma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PROPUESTA · AGENTES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Cuatro capas de agentes sobre TruckFlow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30276"/>
            <a:ext cx="10560050" cy="706041"/>
          </a:xfrm>
          <a:prstGeom prst="roundRect">
            <a:avLst>
              <a:gd name="adj" fmla="val 13940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860451"/>
            <a:ext cx="2747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Acceso: MCP/API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2108101"/>
            <a:ext cx="274701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única puerta a los datos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22700" y="1927126"/>
            <a:ext cx="1325066" cy="312341"/>
          </a:xfrm>
          <a:prstGeom prst="roundRect">
            <a:avLst>
              <a:gd name="adj" fmla="val 50000"/>
            </a:avLst>
          </a:prstGeom>
          <a:solidFill>
            <a:srgbClr val="FCFDFB"/>
          </a:solidFill>
          <a:ln w="12700">
            <a:solidFill>
              <a:srgbClr val="7D8B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43350" y="1984276"/>
            <a:ext cx="113456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Eventos y viajes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36666" y="1927126"/>
            <a:ext cx="729754" cy="312341"/>
          </a:xfrm>
          <a:prstGeom prst="roundRect">
            <a:avLst>
              <a:gd name="adj" fmla="val 50000"/>
            </a:avLst>
          </a:prstGeom>
          <a:solidFill>
            <a:srgbClr val="FCFDFB"/>
          </a:solidFill>
          <a:ln w="12700">
            <a:solidFill>
              <a:srgbClr val="7D8B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7316" y="1984276"/>
            <a:ext cx="53925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55320" y="1927126"/>
            <a:ext cx="1413173" cy="312341"/>
          </a:xfrm>
          <a:prstGeom prst="roundRect">
            <a:avLst>
              <a:gd name="adj" fmla="val 50000"/>
            </a:avLst>
          </a:prstGeom>
          <a:solidFill>
            <a:srgbClr val="FCFDFB"/>
          </a:solidFill>
          <a:ln w="12700">
            <a:solidFill>
              <a:srgbClr val="7D8B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5970" y="1984276"/>
            <a:ext cx="122267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de nodos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57393" y="1927126"/>
            <a:ext cx="1695053" cy="312341"/>
          </a:xfrm>
          <a:prstGeom prst="roundRect">
            <a:avLst>
              <a:gd name="adj" fmla="val 50000"/>
            </a:avLst>
          </a:prstGeom>
          <a:solidFill>
            <a:srgbClr val="FCFDFB"/>
          </a:solidFill>
          <a:ln w="12700">
            <a:solidFill>
              <a:srgbClr val="7D8B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78043" y="1984276"/>
            <a:ext cx="150455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 de camiones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975" y="2544266"/>
            <a:ext cx="10560050" cy="706041"/>
          </a:xfrm>
          <a:prstGeom prst="roundRect">
            <a:avLst>
              <a:gd name="adj" fmla="val 13940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950" y="2674441"/>
            <a:ext cx="2747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En vivo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6950" y="2922091"/>
            <a:ext cx="274701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 sobre cada evento, en segundos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16350" y="2734766"/>
            <a:ext cx="1171178" cy="325041"/>
          </a:xfrm>
          <a:prstGeom prst="roundRect">
            <a:avLst>
              <a:gd name="adj" fmla="val 50000"/>
            </a:avLst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3943350" y="2798266"/>
            <a:ext cx="96797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Enriquecedor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63728" y="2734766"/>
            <a:ext cx="781546" cy="325041"/>
          </a:xfrm>
          <a:prstGeom prst="roundRect">
            <a:avLst>
              <a:gd name="adj" fmla="val 50000"/>
            </a:avLst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5190728" y="2798266"/>
            <a:ext cx="57834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Circuito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21474" y="2734766"/>
            <a:ext cx="1401366" cy="325041"/>
          </a:xfrm>
          <a:prstGeom prst="roundRect">
            <a:avLst>
              <a:gd name="adj" fmla="val 50000"/>
            </a:avLst>
          </a:prstGeom>
          <a:solidFill>
            <a:srgbClr val="E1E6E9"/>
          </a:solidFill>
          <a:ln/>
        </p:spPr>
      </p:sp>
      <p:sp>
        <p:nvSpPr>
          <p:cNvPr id="23" name="Text 21"/>
          <p:cNvSpPr/>
          <p:nvPr/>
        </p:nvSpPr>
        <p:spPr>
          <a:xfrm>
            <a:off x="6048474" y="2798266"/>
            <a:ext cx="119816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Estado de planta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99040" y="2734766"/>
            <a:ext cx="944860" cy="325041"/>
          </a:xfrm>
          <a:prstGeom prst="roundRect">
            <a:avLst>
              <a:gd name="adj" fmla="val 50000"/>
            </a:avLst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7526040" y="2798266"/>
            <a:ext cx="74166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5975" y="3358257"/>
            <a:ext cx="10560050" cy="706041"/>
          </a:xfrm>
          <a:prstGeom prst="roundRect">
            <a:avLst>
              <a:gd name="adj" fmla="val 13940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950" y="3488432"/>
            <a:ext cx="2747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Histórico y decisión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950" y="3736082"/>
            <a:ext cx="274701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horario o a pedido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16350" y="3548757"/>
            <a:ext cx="1277144" cy="325041"/>
          </a:xfrm>
          <a:prstGeom prst="roundRect">
            <a:avLst>
              <a:gd name="adj" fmla="val 50000"/>
            </a:avLst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3943350" y="3612257"/>
            <a:ext cx="107394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Cierre de turno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69694" y="3548757"/>
            <a:ext cx="843955" cy="325041"/>
          </a:xfrm>
          <a:prstGeom prst="roundRect">
            <a:avLst>
              <a:gd name="adj" fmla="val 50000"/>
            </a:avLst>
          </a:prstGeom>
          <a:solidFill>
            <a:srgbClr val="E1E6E9"/>
          </a:solidFill>
          <a:ln/>
        </p:spPr>
      </p:sp>
      <p:sp>
        <p:nvSpPr>
          <p:cNvPr id="32" name="Text 30"/>
          <p:cNvSpPr/>
          <p:nvPr/>
        </p:nvSpPr>
        <p:spPr>
          <a:xfrm>
            <a:off x="5296694" y="3612257"/>
            <a:ext cx="64075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Tiempos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9848" y="3548757"/>
            <a:ext cx="1345208" cy="325041"/>
          </a:xfrm>
          <a:prstGeom prst="roundRect">
            <a:avLst>
              <a:gd name="adj" fmla="val 50000"/>
            </a:avLst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216848" y="3612257"/>
            <a:ext cx="11420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 por punto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11256" y="3548757"/>
            <a:ext cx="1025525" cy="325041"/>
          </a:xfrm>
          <a:prstGeom prst="roundRect">
            <a:avLst>
              <a:gd name="adj" fmla="val 50000"/>
            </a:avLst>
          </a:prstGeom>
          <a:solidFill>
            <a:srgbClr val="DCEEF8"/>
          </a:solidFill>
          <a:ln/>
        </p:spPr>
      </p:sp>
      <p:sp>
        <p:nvSpPr>
          <p:cNvPr id="36" name="Text 34"/>
          <p:cNvSpPr/>
          <p:nvPr/>
        </p:nvSpPr>
        <p:spPr>
          <a:xfrm>
            <a:off x="7638256" y="3612257"/>
            <a:ext cx="82232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Asesor</a:t>
            </a:r>
            <a:r>
              <a:rPr lang="en-US" sz="120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IA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5975" y="4172248"/>
            <a:ext cx="10560050" cy="904081"/>
          </a:xfrm>
          <a:prstGeom prst="roundRect">
            <a:avLst>
              <a:gd name="adj" fmla="val 10887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6950" y="4302423"/>
            <a:ext cx="27470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3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Comunicación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96950" y="4550073"/>
            <a:ext cx="274701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informe diario, comité y avisos a la torre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16350" y="4461768"/>
            <a:ext cx="2359223" cy="325041"/>
          </a:xfrm>
          <a:prstGeom prst="roundRect">
            <a:avLst>
              <a:gd name="adj" fmla="val 50000"/>
            </a:avLst>
          </a:prstGeom>
          <a:solidFill>
            <a:srgbClr val="DCEEF8"/>
          </a:solidFill>
          <a:ln/>
        </p:spPr>
      </p:sp>
      <p:sp>
        <p:nvSpPr>
          <p:cNvPr id="41" name="Text 39"/>
          <p:cNvSpPr/>
          <p:nvPr/>
        </p:nvSpPr>
        <p:spPr>
          <a:xfrm>
            <a:off x="3943350" y="4525268"/>
            <a:ext cx="216838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Comunicador</a:t>
            </a:r>
            <a:r>
              <a:rPr lang="en-US" sz="120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IA con plantilla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2800" y="5231904"/>
            <a:ext cx="10566400" cy="544810"/>
          </a:xfrm>
          <a:prstGeom prst="roundRect">
            <a:avLst>
              <a:gd name="adj" fmla="val 18649"/>
            </a:avLst>
          </a:prstGeom>
          <a:solidFill>
            <a:srgbClr val="0E1A2B"/>
          </a:solidFill>
          <a:ln/>
        </p:spPr>
      </p:sp>
      <p:sp>
        <p:nvSpPr>
          <p:cNvPr id="43" name="Text 41"/>
          <p:cNvSpPr/>
          <p:nvPr/>
        </p:nvSpPr>
        <p:spPr>
          <a:xfrm>
            <a:off x="1066800" y="5384304"/>
            <a:ext cx="1036015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EF2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reglas hacen las cuentas; la IA explica y propone, nunca inventa cifras. Cada agente se activa solo o a pedido.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80"/>
            <a:ext cx="4479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Gris: reglas · celeste: IA · Truckflow Vicentin · propuesta interna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PROPUESTA · PRIMER PACK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Seis agentes que parten de lo que ya hacemos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90601"/>
          <a:ext cx="10553700" cy="2541389"/>
        </p:xfrm>
        <a:graphic>
          <a:graphicData uri="http://schemas.openxmlformats.org/drawingml/2006/table">
            <a:tbl>
              <a:tblPr/>
              <a:tblGrid>
                <a:gridCol w="2110740"/>
                <a:gridCol w="1899666"/>
                <a:gridCol w="3271647"/>
                <a:gridCol w="3271647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EF2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EF2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EEF2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Qué hace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6CC1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Hoy en el repo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Enriquecedor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reglas · en vivo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suma contrato, cupo y producto a cada evento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cruce con el Excel dentro del ETL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Circuito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reglas · en vivo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 cada paso contra la matriz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clasificación de circuitos del ETL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Estado de planta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reglas · en vivo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colas y ocupación por nodo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estado de planta del tablero en vivo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Seguridad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reglas · en vivo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desvío, doble ciclo, sin cupo, cámara caída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reglas de anomalías del ETL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Cierre de turno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reglas · por horario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conciliación y tablas del período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correr el ETL a mano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Comunicador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BB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IA con plantilla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informe diario, comité y avisos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armado manual del informe y del comité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3519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Segunda tanda: Tiempos, Carga por punto y Asesor, cuando esté el acceso al sistema de camiones.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26795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Vicentin · propuesta interna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AVANZAMOS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Cuatro fases con valor propio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076"/>
            <a:ext cx="2520950" cy="2692102"/>
          </a:xfrm>
          <a:prstGeom prst="roundRect">
            <a:avLst>
              <a:gd name="adj" fmla="val 3904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987451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A8F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2350" y="2515691"/>
            <a:ext cx="21714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2350" y="2880122"/>
            <a:ext cx="217144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y tablero en AWS</a:t>
            </a:r>
            <a:endParaRPr lang="en-US" sz="1200" dirty="0"/>
          </a:p>
          <a:p>
            <a:pPr algn="l" marL="182880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Catálogo y salud desde TruckFlow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22350" y="3723283"/>
            <a:ext cx="2108200" cy="12700"/>
          </a:xfrm>
          <a:prstGeom prst="rect">
            <a:avLst/>
          </a:prstGeom>
          <a:solidFill>
            <a:srgbClr val="D2DBE0"/>
          </a:solidFill>
          <a:ln/>
        </p:spPr>
      </p:sp>
      <p:sp>
        <p:nvSpPr>
          <p:cNvPr id="9" name="Text 7"/>
          <p:cNvSpPr/>
          <p:nvPr/>
        </p:nvSpPr>
        <p:spPr>
          <a:xfrm>
            <a:off x="1022350" y="3837583"/>
            <a:ext cx="217144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Valor:</a:t>
            </a:r>
            <a:r>
              <a:rPr lang="en-US" sz="130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una sola base, sin depender de una PC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95675" y="1781076"/>
            <a:ext cx="2520950" cy="2692102"/>
          </a:xfrm>
          <a:prstGeom prst="roundRect">
            <a:avLst>
              <a:gd name="adj" fmla="val 3904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2050" y="1987451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A8F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702050" y="2515691"/>
            <a:ext cx="21714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Enriquecer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2050" y="2880122"/>
            <a:ext cx="217144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Lectura del sistema de camiones por SFTP o API</a:t>
            </a:r>
            <a:endParaRPr lang="en-US" sz="1200" dirty="0"/>
          </a:p>
          <a:p>
            <a:pPr algn="l" marL="182880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Eventos enriquecidos en TruckFlow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2050" y="3937893"/>
            <a:ext cx="2108200" cy="12700"/>
          </a:xfrm>
          <a:prstGeom prst="rect">
            <a:avLst/>
          </a:prstGeom>
          <a:solidFill>
            <a:srgbClr val="D2DBE0"/>
          </a:solidFill>
          <a:ln/>
        </p:spPr>
      </p:sp>
      <p:sp>
        <p:nvSpPr>
          <p:cNvPr id="15" name="Text 13"/>
          <p:cNvSpPr/>
          <p:nvPr/>
        </p:nvSpPr>
        <p:spPr>
          <a:xfrm>
            <a:off x="3702050" y="4052193"/>
            <a:ext cx="217144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Valor:</a:t>
            </a:r>
            <a:r>
              <a:rPr lang="en-US" sz="130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cero carga manual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5375" y="1781076"/>
            <a:ext cx="2520950" cy="2692102"/>
          </a:xfrm>
          <a:prstGeom prst="roundRect">
            <a:avLst>
              <a:gd name="adj" fmla="val 3904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750" y="1987451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A8F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81750" y="2515691"/>
            <a:ext cx="21714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Edge por nodo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81750" y="2880122"/>
            <a:ext cx="217144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Edge por nodo</a:t>
            </a:r>
            <a:endParaRPr lang="en-US" sz="1200" dirty="0"/>
          </a:p>
          <a:p>
            <a:pPr algn="l" marL="182880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Reintento y hora de recepción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81750" y="3723283"/>
            <a:ext cx="2108200" cy="12700"/>
          </a:xfrm>
          <a:prstGeom prst="rect">
            <a:avLst/>
          </a:prstGeom>
          <a:solidFill>
            <a:srgbClr val="D2DBE0"/>
          </a:solidFill>
          <a:ln/>
        </p:spPr>
      </p:sp>
      <p:sp>
        <p:nvSpPr>
          <p:cNvPr id="21" name="Text 19"/>
          <p:cNvSpPr/>
          <p:nvPr/>
        </p:nvSpPr>
        <p:spPr>
          <a:xfrm>
            <a:off x="6381750" y="3837583"/>
            <a:ext cx="217144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Valor:</a:t>
            </a:r>
            <a:r>
              <a:rPr lang="en-US" sz="130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eventos en segundos, sin pérdidas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55075" y="1781076"/>
            <a:ext cx="2520950" cy="2692102"/>
          </a:xfrm>
          <a:prstGeom prst="roundRect">
            <a:avLst>
              <a:gd name="adj" fmla="val 3904"/>
            </a:avLst>
          </a:prstGeom>
          <a:solidFill>
            <a:srgbClr val="FCFDFB"/>
          </a:solidFill>
          <a:ln w="6350">
            <a:solidFill>
              <a:srgbClr val="D2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61450" y="1987451"/>
            <a:ext cx="21714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1A8F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061450" y="2515691"/>
            <a:ext cx="2171446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61450" y="2880122"/>
            <a:ext cx="217144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Reglas en vivo e IA para excepciones</a:t>
            </a:r>
            <a:endParaRPr lang="en-US" sz="1200" dirty="0"/>
          </a:p>
          <a:p>
            <a:pPr algn="l" marL="182880" indent="-1551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Torre de control asistida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61450" y="3723283"/>
            <a:ext cx="2108200" cy="12700"/>
          </a:xfrm>
          <a:prstGeom prst="rect">
            <a:avLst/>
          </a:prstGeom>
          <a:solidFill>
            <a:srgbClr val="D2DBE0"/>
          </a:solidFill>
          <a:ln/>
        </p:spPr>
      </p:sp>
      <p:sp>
        <p:nvSpPr>
          <p:cNvPr id="27" name="Text 25"/>
          <p:cNvSpPr/>
          <p:nvPr/>
        </p:nvSpPr>
        <p:spPr>
          <a:xfrm>
            <a:off x="9061450" y="3837583"/>
            <a:ext cx="2171446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Valor:</a:t>
            </a:r>
            <a:r>
              <a:rPr lang="en-US" sz="130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menos espera en playas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467955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cambios en TF Edge y TruckFlow Service pueden usar las 20 h/mes de mantenimiento evolutivo. Plazos y presupuesto: a estimar.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26795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Vicentin · propuesta interna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6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AVANZAMOS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spc="-50" kern="0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Qué necesitamos para avanzar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876"/>
            <a:ext cx="3380284" cy="2173883"/>
          </a:xfrm>
          <a:prstGeom prst="roundRect">
            <a:avLst>
              <a:gd name="adj" fmla="val 4528"/>
            </a:avLst>
          </a:prstGeom>
          <a:solidFill>
            <a:srgbClr val="FCFDFB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3150" y="2089051"/>
            <a:ext cx="406400" cy="38100"/>
          </a:xfrm>
          <a:prstGeom prst="roundRect">
            <a:avLst>
              <a:gd name="adj" fmla="val 50000"/>
            </a:avLst>
          </a:prstGeom>
          <a:solidFill>
            <a:srgbClr val="1A8FD0"/>
          </a:solidFill>
          <a:ln/>
        </p:spPr>
      </p:sp>
      <p:sp>
        <p:nvSpPr>
          <p:cNvPr id="6" name="Text 4"/>
          <p:cNvSpPr/>
          <p:nvPr/>
        </p:nvSpPr>
        <p:spPr>
          <a:xfrm>
            <a:off x="1073150" y="2228751"/>
            <a:ext cx="295191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BIMtrazer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3150" y="2593181"/>
            <a:ext cx="2951912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Decisión de llevar la propuesta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Entorno AWS para TruckFlow, tablero y agentes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Presupuesto de API de 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09" y="1831876"/>
            <a:ext cx="3380383" cy="2173883"/>
          </a:xfrm>
          <a:prstGeom prst="roundRect">
            <a:avLst>
              <a:gd name="adj" fmla="val 4528"/>
            </a:avLst>
          </a:prstGeom>
          <a:solidFill>
            <a:srgbClr val="FCFDFB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2984" y="2089051"/>
            <a:ext cx="406400" cy="38100"/>
          </a:xfrm>
          <a:prstGeom prst="roundRect">
            <a:avLst>
              <a:gd name="adj" fmla="val 50000"/>
            </a:avLst>
          </a:prstGeom>
          <a:solidFill>
            <a:srgbClr val="3A8F63"/>
          </a:solidFill>
          <a:ln/>
        </p:spPr>
      </p:sp>
      <p:sp>
        <p:nvSpPr>
          <p:cNvPr id="10" name="Text 8"/>
          <p:cNvSpPr/>
          <p:nvPr/>
        </p:nvSpPr>
        <p:spPr>
          <a:xfrm>
            <a:off x="4662984" y="2228751"/>
            <a:ext cx="2952014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Vicentin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2984" y="2593181"/>
            <a:ext cx="2952014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Acceso por SFTP o API al sistema de camiones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funciona la tarjeta y dónde se lee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referente en la torre de control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741" y="1831876"/>
            <a:ext cx="3380284" cy="2173883"/>
          </a:xfrm>
          <a:prstGeom prst="roundRect">
            <a:avLst>
              <a:gd name="adj" fmla="val 4528"/>
            </a:avLst>
          </a:prstGeom>
          <a:solidFill>
            <a:srgbClr val="FCFDFB"/>
          </a:solidFill>
          <a:ln w="6350">
            <a:solidFill>
              <a:srgbClr val="D9D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52916" y="2089051"/>
            <a:ext cx="406400" cy="38100"/>
          </a:xfrm>
          <a:prstGeom prst="roundRect">
            <a:avLst>
              <a:gd name="adj" fmla="val 50000"/>
            </a:avLst>
          </a:prstGeom>
          <a:solidFill>
            <a:srgbClr val="C27A06"/>
          </a:solidFill>
          <a:ln/>
        </p:spPr>
      </p:sp>
      <p:sp>
        <p:nvSpPr>
          <p:cNvPr id="14" name="Text 12"/>
          <p:cNvSpPr/>
          <p:nvPr/>
        </p:nvSpPr>
        <p:spPr>
          <a:xfrm>
            <a:off x="8252916" y="2228751"/>
            <a:ext cx="295191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3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Riesgos y respuesta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52916" y="2593181"/>
            <a:ext cx="2951912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Acceso lento</a:t>
            </a: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empezar por SFTP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Envíos que fallan</a:t>
            </a: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reintento en el Edge</a:t>
            </a:r>
            <a:endParaRPr lang="en-US" sz="1300" dirty="0"/>
          </a:p>
          <a:p>
            <a:pPr algn="l" marL="198120" indent="-168656">
              <a:lnSpc>
                <a:spcPts val="1820"/>
              </a:lnSpc>
              <a:buSzPct val="100000"/>
              <a:buChar char="•"/>
            </a:pPr>
            <a:r>
              <a:rPr lang="en-US" sz="1300" b="1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Costo de IA</a:t>
            </a:r>
            <a:r>
              <a:rPr lang="en-US" sz="1300" dirty="0">
                <a:solidFill>
                  <a:srgbClr val="4A58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solo excepciones, con tope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6795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Vicentin · propuesta interna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962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IMtrazer">    </p:cNvPr>
          <p:cNvPicPr>
            <a:picLocks noChangeAspect="1"/>
          </p:cNvPicPr>
          <p:nvPr/>
        </p:nvPicPr>
        <p:blipFill>
          <a:blip r:embed="rId1"/>
          <a:srcRect l="0" r="0" t="-392" b="-392"/>
          <a:stretch/>
        </p:blipFill>
        <p:spPr>
          <a:xfrm>
            <a:off x="812800" y="844550"/>
            <a:ext cx="1206500" cy="571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73300" y="901700"/>
            <a:ext cx="12700" cy="457200"/>
          </a:xfrm>
          <a:prstGeom prst="rect">
            <a:avLst/>
          </a:prstGeom>
          <a:solidFill>
            <a:srgbClr val="EEF2F4">
              <a:alpha val="25000"/>
            </a:srgbClr>
          </a:solidFill>
          <a:ln/>
        </p:spPr>
      </p:sp>
      <p:pic>
        <p:nvPicPr>
          <p:cNvPr id="4" name="Image 1" descr="Nueva Vicentin Argentina">    </p:cNvPr>
          <p:cNvPicPr>
            <a:picLocks noChangeAspect="1"/>
          </p:cNvPicPr>
          <p:nvPr/>
        </p:nvPicPr>
        <p:blipFill>
          <a:blip r:embed="rId2"/>
          <a:srcRect l="-836" r="-836" t="0" b="0"/>
          <a:stretch/>
        </p:blipFill>
        <p:spPr>
          <a:xfrm>
            <a:off x="2540000" y="812800"/>
            <a:ext cx="1206500" cy="635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225246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6CC1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 PASO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12800" y="2755305"/>
            <a:ext cx="9810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spc="-100" kern="0" dirty="0">
                <a:solidFill>
                  <a:srgbClr val="EEF2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Aprobar la fase 1 y presentarle a Vicentin la operación en vivo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12800" y="4126905"/>
            <a:ext cx="341843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6CC1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12800" y="4512965"/>
            <a:ext cx="341843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B8C4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del tablero en vivo con datos del día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436467" y="4126905"/>
            <a:ext cx="341853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6CC1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436467" y="4512965"/>
            <a:ext cx="341853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B8C4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espera en playas y cómo atacarla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60234" y="4126905"/>
            <a:ext cx="341853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6CC1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060234" y="4512965"/>
            <a:ext cx="34185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B8C4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TruckFlow como base y el acceso al sistema de camiones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BIMtrazer · Truckflow · Septiembre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Truckflow Vicentin · Propuesta en vivo</dc:title>
  <dc:subject>PptxGenJS Presentation</dc:subject>
  <dc:creator>PptxGenJS</dc:creator>
  <cp:lastModifiedBy>PptxGenJS</cp:lastModifiedBy>
  <cp:revision>1</cp:revision>
  <dcterms:created xsi:type="dcterms:W3CDTF">2026-09-29T05:05:43Z</dcterms:created>
  <dcterms:modified xsi:type="dcterms:W3CDTF">2026-09-29T05:05:43Z</dcterms:modified>
</cp:coreProperties>
</file>