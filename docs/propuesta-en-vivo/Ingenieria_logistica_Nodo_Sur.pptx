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1" r:id="rId22"/>
    <p:sldId id="258" r:id="rId4"/>
    <p:sldId id="261" r:id="rId7"/>
    <p:sldId id="262" r:id="rId8"/>
    <p:sldId id="272" r:id="rId23"/>
    <p:sldId id="273" r:id="rId24"/>
    <p:sldId id="274" r:id="rId25"/>
    <p:sldId id="275" r:id="rId26"/>
    <p:sldId id="260" r:id="rId6"/>
    <p:sldId id="276" r:id="rId27"/>
    <p:sldId id="277" r:id="rId28"/>
    <p:sldId id="278" r:id="rId29"/>
    <p:sldId id="279" r:id="rId30"/>
    <p:sldId id="280" r:id="rId31"/>
    <p:sldId id="281" r:id="rId32"/>
    <p:sldId id="282" r:id="rId33"/>
    <p:sldId id="270" r:id="rId16"/>
    <p:sldId id="265" r:id="rId11"/>
    <p:sldId id="283" r:id="rId34"/>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11" Type="http://schemas.openxmlformats.org/officeDocument/2006/relationships/slide" Target="slides/slide10.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3202E"/>
                </a:solidFill>
                <a:latin typeface="Arial"/>
              </a:rPr>
              <a:t>Y no baja: ciclo total de R7 en cada comité, min (276 a 433)</a:t>
            </a:r>
          </a:p>
        </c:rich>
      </c:tx>
      <c:layout/>
      <c:overlay val="0"/>
    </c:title>
    <c:autoTitleDeleted val="0"/>
    <c:plotArea>
      <c:lineChart>
        <c:grouping val="standard"/>
        <c:varyColors val="0"/>
        <c:ser>
          <c:idx val="0"/>
          <c:order val="0"/>
          <c:tx>
            <c:strRef>
              <c:f>Sheet1!$B$1</c:f>
              <c:strCache>
                <c:ptCount val="1"/>
                <c:pt idx="0">
                  <c:v>Ciclo total R7 (min)</c:v>
                </c:pt>
              </c:strCache>
            </c:strRef>
          </c:tx>
          <c:spPr>
            <a:ln w="28575">
              <a:solidFill>
                <a:srgbClr val="C27C0E"/>
              </a:solidFill>
            </a:ln>
          </c:spPr>
          <c:marker>
            <c:symbol val="circle"/>
            <c:size val="6"/>
            <c:spPr>
              <a:solidFill>
                <a:srgbClr val="C27C0E"/>
              </a:solidFill>
              <a:ln>
                <a:solidFill>
                  <a:srgbClr val="C27C0E"/>
                </a:solidFill>
              </a:ln>
            </c:spPr>
          </c:marker>
          <c:cat>
            <c:strRef>
              <c:f>Sheet1!$A$2:$A$14</c:f>
              <c:strCache>
                <c:ptCount val="13"/>
                <c:pt idx="0">
                  <c:v>10/06</c:v>
                </c:pt>
                <c:pt idx="1">
                  <c:v>18/06</c:v>
                </c:pt>
                <c:pt idx="2">
                  <c:v>24/06</c:v>
                </c:pt>
                <c:pt idx="3">
                  <c:v>08/07</c:v>
                </c:pt>
                <c:pt idx="4">
                  <c:v>15/07</c:v>
                </c:pt>
                <c:pt idx="5">
                  <c:v>23/07</c:v>
                </c:pt>
                <c:pt idx="6">
                  <c:v>31/07</c:v>
                </c:pt>
                <c:pt idx="7">
                  <c:v>07/08</c:v>
                </c:pt>
                <c:pt idx="8">
                  <c:v>14/08</c:v>
                </c:pt>
                <c:pt idx="9">
                  <c:v>28/08</c:v>
                </c:pt>
                <c:pt idx="10">
                  <c:v>04/09</c:v>
                </c:pt>
                <c:pt idx="11">
                  <c:v>11/09</c:v>
                </c:pt>
                <c:pt idx="12">
                  <c:v>18/09</c:v>
                </c:pt>
              </c:strCache>
            </c:strRef>
          </c:cat>
          <c:val>
            <c:numRef>
              <c:f>Sheet1!$B$2:$B$14</c:f>
              <c:numCache>
                <c:formatCode>General</c:formatCode>
                <c:ptCount val="13"/>
                <c:pt idx="0">
                  <c:v>376</c:v>
                </c:pt>
                <c:pt idx="1">
                  <c:v>338</c:v>
                </c:pt>
                <c:pt idx="2">
                  <c:v>316</c:v>
                </c:pt>
                <c:pt idx="3">
                  <c:v>383</c:v>
                </c:pt>
                <c:pt idx="4">
                  <c:v>304</c:v>
                </c:pt>
                <c:pt idx="5">
                  <c:v>433</c:v>
                </c:pt>
                <c:pt idx="6">
                  <c:v>389</c:v>
                </c:pt>
                <c:pt idx="7">
                  <c:v>421</c:v>
                </c:pt>
                <c:pt idx="8">
                  <c:v>346</c:v>
                </c:pt>
                <c:pt idx="9">
                  <c:v>296</c:v>
                </c:pt>
                <c:pt idx="10">
                  <c:v>379</c:v>
                </c:pt>
                <c:pt idx="11">
                  <c:v>276</c:v>
                </c:pt>
                <c:pt idx="12">
                  <c:v>334</c:v>
                </c:pt>
              </c:numCache>
            </c:numRef>
          </c:val>
          <c:smooth val="0"/>
        </c:ser>
        <c:dLbls>
          <c:txPr>
            <a:bodyPr/>
            <a:lstStyle/>
            <a:p>
              <a:pPr>
                <a:defRPr sz="1000">
                  <a:solidFill>
                    <a:srgbClr val="13202E"/>
                  </a:solidFill>
                  <a:latin typeface="Aria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D2DBE0"/>
            </a:solidFill>
          </a:ln>
        </c:spPr>
        <c:txPr>
          <a:bodyPr/>
          <a:lstStyle/>
          <a:p>
            <a:pPr>
              <a:defRPr sz="1000">
                <a:solidFill>
                  <a:srgbClr val="4A5868"/>
                </a:solidFill>
                <a:latin typeface="Arial"/>
              </a:defRPr>
            </a:pPr>
          </a:p>
        </c:txPr>
        <c:crossAx val="2140495176"/>
        <c:crosses val="autoZero"/>
        <c:auto val="1"/>
        <c:lblAlgn val="ctr"/>
        <c:lblOffset val="100"/>
        <c:noMultiLvlLbl val="0"/>
      </c:catAx>
      <c:valAx>
        <c:axId val="2140495176"/>
        <c:scaling>
          <c:max val="500.0"/>
          <c:min val="200.0"/>
        </c:scaling>
        <c:delete/>
        <c:axPos val="l"/>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Presentamos un proyecto de ingeniería logística: construir la base que permite automatizar la operación de camiones del Nodo Sur. La pregunta de hoy es si tiene sentido llevárselo a Vicentin.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infraestructura ya está instalada y paga: 60 cámaras con IA, el Edge en planta y TruckFlow en la nube. Se probó punta a punta el 15/09. Todo lo que proponemos se apoya en esto: no hay obra.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Así razona un nodo. La balanza de egreso sabe que un camión solo puede llegar desde 11 lugares y que sale por dos caminos según el tipo de movimiento. Con la cámara y el sistema de camiones, cada paso se valida solo y un desvío se avisa en el momento.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Esto no es un prototipo: es el tablero que usa la planta. Muestra cuántos camiones hay en cada playa, cuánto esperan y contra qué capacidad. Es la primera capa de lo que proponemos.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camión de soja pasa 245 de sus 334 minutos esperando en dos playas: Playa 1 en Ricardone y Playa OSL en el puerto. En 13 comités el ciclo no bajó. El comité del 14/08 lo dijo: la calada no limita, el tiempo se define aguas abajo.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Detalle técnico: así se ve un evento cuando se le suma el sistema de camiones y la confirmación del nodo.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decisión de hoy es si llevamos esto a Vicentin. Propuesta de reunión: demo en vivo, la base y el próximo paso con IA, y lo que necesitamos de ellos.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tiempos. Lo que proponemos ahora es la base: nodos, eventos y el modelo de la planta, con el sistema de camiones integrado. El próximo paso es abrirla para que Vicentin use su propia IA. El horizonte, que es el porqué de todo, es una planta que se opera sola.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recorrido de la soja sobre el modelo de nodos. Los dos carteles ámbar son las dos playas donde el camión pasa 245 minutos. El traslado entre plantas son 12 y la descarga 42. El problema no está en los puntos con cámara, está en los espacios entre ellos.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que una máquina tome una decisión logística necesita tres cosas al mismo tiempo. Dónde está el camión, que ya lo da TruckFlow. Cómo es la planta, que ya lo tenemos en el modelo de nodos. Y qué vino a hacer, que está en el sistema de camiones. Unirlas es el proyecto.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nodo es la unidad de todo. Tiene un lugar físico, un Edge que recibe todas las señales de ese punto y la lógica del modelo. Hoy entran las cámaras; se suman las balanzas con PLC y fotocélulas, que asocian el peso a la patente sin que nadie la tipee. El Edge confirma, valida, completa y no pierde nada. En el horizonte, el mismo Edge actúa.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modelo de las dos plantas: 33 nodos y 50 circuitos. Cuanto más oscura la línea, más circuitos comparten esa conexión. En ámbar, las 5 playas con su capacidad. Es la fuente única: el tablero, los informes y la IA leen esto.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playas son el lugar de trabajo. No tienen cámara ni figuran en el sistema de camiones, pero el modelo las mide con las cámaras de su entrada y su salida. Cada una tiene capacidad relevada con planta. Las esperas son las de los comités.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doble confirmación es la garantía de que el dato es completo. La cámara ve, el sistema de camiones dice qué debía pasar y el modelo dice qué se espera. Un ejemplo real: un camión con volcable 2 asignado descargó en el 5. Y al revés: las anomalías de julio se explicaron con datos del sistema de camiones.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arquitectura es liviana: microservicios en la nube, un evento por paso y el modelo de nodos en el centro. El sistema de camiones de Vicentin se lee, no se toca. Y todo sale por una puerta abierta: APIs y MCP, el estándar que usan los asistentes de IA para consultar y operar sistemas.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ventaja competitiva frente a lo que hay: tiempo real en vez de cierre, datos abiertos en vez de sistemas cerrados, un solo modelo en vez de datos sueltos, y una base que crece de a un nodo.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próximo paso no es que nosotros programemos cada aviso. Es abrir la base para que la gente de Vicentin, desde el asistente que ya usa, pida lo que necesita: avisos, reportes, consultas. Esto moderniza la operación sin reemplazar nada.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porqué. Con la base, el nodo que hoy lee mañana actúa: llama al camión cuando hay lugar, el destino se asigna según la capacidad libre, la identificación no necesita tarjeta y la flota de transiles se planifica para hacer más viajes por día, lo que abre la negociación de la tarifa por tonelada.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tres fases de base, cada una con valor propio, y después el próximo paso de IA abierta. La automatización queda como horizonte. Es barato porque la infraestructura ya está, no hay obra y no se reemplaza el sistema de camiones.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Detalle para preguntas. La capacidad sale del estudio de capacidades por circuito; el uso, del Excel de movimientos de cinco semanas. Salvo los volcables de Ricardone y el pellet, que depende de la flota, hay capacidad ociosa.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pic>
        <p:nvPicPr>
          <p:cNvPr id="2" name="Image 0" descr="Vista aérea de la planta Ricardone">    </p:cNvPr>
          <p:cNvPicPr>
            <a:picLocks noChangeAspect="1"/>
          </p:cNvPicPr>
          <p:nvPr/>
        </p:nvPicPr>
        <p:blipFill>
          <a:blip r:embed="rId1"/>
          <a:srcRect l="21496" r="21496" t="0" b="0"/>
          <a:stretch/>
        </p:blipFill>
        <p:spPr>
          <a:xfrm>
            <a:off x="7493000" y="0"/>
            <a:ext cx="4699000" cy="6858000"/>
          </a:xfrm>
          <a:prstGeom prst="rect">
            <a:avLst/>
          </a:prstGeom>
        </p:spPr>
      </p:pic>
      <p:sp>
        <p:nvSpPr>
          <p:cNvPr id="3" name="Shape 0"/>
          <p:cNvSpPr/>
          <p:nvPr/>
        </p:nvSpPr>
        <p:spPr>
          <a:xfrm>
            <a:off x="7493000" y="0"/>
            <a:ext cx="2667000" cy="6858000"/>
          </a:xfrm>
          <a:prstGeom prst="rect">
            <a:avLst/>
          </a:prstGeom>
          <a:gradFill rotWithShape="1">
            <a:gsLst>
              <a:gs pos="0">
                <a:srgbClr val="0E1A2B"/>
              </a:gs>
              <a:gs pos="100000">
                <a:srgbClr val="0E1A2B">
                  <a:alpha val="0"/>
                </a:srgbClr>
              </a:gs>
            </a:gsLst>
            <a:lin ang="0" scaled="0"/>
          </a:gradFill>
          <a:ln/>
        </p:spPr>
        <p:txBody>
          <a:bodyPr/>
          <a:p/>
        </p:txBody>
      </p:sp>
      <p:pic>
        <p:nvPicPr>
          <p:cNvPr id="4" name="Image 1" descr="BIMtrazer">    </p:cNvPr>
          <p:cNvPicPr>
            <a:picLocks noChangeAspect="1"/>
          </p:cNvPicPr>
          <p:nvPr/>
        </p:nvPicPr>
        <p:blipFill>
          <a:blip r:embed="rId2"/>
          <a:srcRect l="0" r="0" t="-392" b="-392"/>
          <a:stretch/>
        </p:blipFill>
        <p:spPr>
          <a:xfrm>
            <a:off x="812800" y="844550"/>
            <a:ext cx="1206500" cy="571500"/>
          </a:xfrm>
          <a:prstGeom prst="rect">
            <a:avLst/>
          </a:prstGeom>
        </p:spPr>
      </p:pic>
      <p:sp>
        <p:nvSpPr>
          <p:cNvPr id="5" name="Shape 1"/>
          <p:cNvSpPr/>
          <p:nvPr/>
        </p:nvSpPr>
        <p:spPr>
          <a:xfrm>
            <a:off x="2273300" y="901700"/>
            <a:ext cx="12700" cy="457200"/>
          </a:xfrm>
          <a:prstGeom prst="rect">
            <a:avLst/>
          </a:prstGeom>
          <a:solidFill>
            <a:srgbClr val="EEF2F4">
              <a:alpha val="25000"/>
            </a:srgbClr>
          </a:solidFill>
          <a:ln/>
        </p:spPr>
        <p:txBody>
          <a:bodyPr/>
          <a:p/>
        </p:txBody>
      </p:sp>
      <p:pic>
        <p:nvPicPr>
          <p:cNvPr id="6" name="Image 2" descr="Nueva Vicentin Argentina">    </p:cNvPr>
          <p:cNvPicPr>
            <a:picLocks noChangeAspect="1"/>
          </p:cNvPicPr>
          <p:nvPr/>
        </p:nvPicPr>
        <p:blipFill>
          <a:blip r:embed="rId3"/>
          <a:srcRect l="-836" r="-836" t="0" b="0"/>
          <a:stretch/>
        </p:blipFill>
        <p:spPr>
          <a:xfrm>
            <a:off x="2540000" y="812800"/>
            <a:ext cx="1206500" cy="635000"/>
          </a:xfrm>
          <a:prstGeom prst="rect">
            <a:avLst/>
          </a:prstGeom>
        </p:spPr>
      </p:pic>
      <p:sp>
        <p:nvSpPr>
          <p:cNvPr id="7" name="Text 2"/>
          <p:cNvSpPr/>
          <p:nvPr/>
        </p:nvSpPr>
        <p:spPr>
          <a:xfrm>
            <a:off x="812800" y="2414488"/>
            <a:ext cx="6540500"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6CC1F2"/>
                </a:solidFill>
                <a:latin typeface="Arial" pitchFamily="34" charset="0"/>
                <a:ea typeface="IBM Plex Sans" pitchFamily="34" charset="-122"/>
                <a:cs typeface="IBM Plex Sans" pitchFamily="34" charset="-120"/>
              </a:rPr>
              <a:t>TRUCKFLOW · NODO SUR</a:t>
            </a:r>
            <a:endParaRPr lang="en-US" sz="1400" dirty="0"/>
          </a:p>
        </p:txBody>
      </p:sp>
      <p:sp>
        <p:nvSpPr>
          <p:cNvPr id="8" name="Text 3"/>
          <p:cNvSpPr/>
          <p:nvPr/>
        </p:nvSpPr>
        <p:spPr>
          <a:xfrm>
            <a:off x="812800" y="2866529"/>
            <a:ext cx="6540500" cy="1198761"/>
          </a:xfrm>
          <a:prstGeom prst="rect">
            <a:avLst/>
          </a:prstGeom>
          <a:noFill/>
          <a:ln/>
        </p:spPr>
        <p:txBody>
          <a:bodyPr wrap="square" lIns="0" tIns="0" rIns="0" bIns="0" rtlCol="0" anchor="t">
            <a:normAutofit/>
          </a:bodyPr>
          <a:lstStyle/>
          <a:p>
            <a:pPr algn="l" indent="0" marL="0">
              <a:lnSpc>
                <a:spcPts val="4620"/>
              </a:lnSpc>
              <a:buNone/>
            </a:pPr>
            <a:r>
              <a:rPr lang="en-US" sz="4400" b="1" spc="-100" kern="0" dirty="0">
                <a:solidFill>
                  <a:srgbClr val="EEF2F4"/>
                </a:solidFill>
                <a:latin typeface="Arial" pitchFamily="34" charset="0"/>
                <a:ea typeface="Space Grotesk" pitchFamily="34" charset="-122"/>
                <a:cs typeface="Space Grotesk" pitchFamily="34" charset="-120"/>
              </a:rPr>
              <a:t>Ingeniería logística</a:t>
            </a:r>
            <a:endParaRPr lang="en-US" sz="4400" dirty="0"/>
          </a:p>
          <a:p>
            <a:pPr algn="l" indent="0" marL="0">
              <a:lnSpc>
                <a:spcPts val="4620"/>
              </a:lnSpc>
              <a:buNone/>
            </a:pPr>
            <a:r>
              <a:rPr lang="en-US" sz="4400" b="1" spc="-100" kern="0" dirty="0">
                <a:solidFill>
                  <a:srgbClr val="EEF2F4"/>
                </a:solidFill>
                <a:latin typeface="Arial" pitchFamily="34" charset="0"/>
                <a:ea typeface="Space Grotesk" pitchFamily="34" charset="-122"/>
                <a:cs typeface="Space Grotesk" pitchFamily="34" charset="-120"/>
              </a:rPr>
              <a:t>del Nodo Sur</a:t>
            </a:r>
            <a:endParaRPr lang="en-US" sz="4400" dirty="0"/>
          </a:p>
        </p:txBody>
      </p:sp>
      <p:sp>
        <p:nvSpPr>
          <p:cNvPr id="9" name="Text 4"/>
          <p:cNvSpPr/>
          <p:nvPr/>
        </p:nvSpPr>
        <p:spPr>
          <a:xfrm>
            <a:off x="812800" y="424309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8C4CE"/>
                </a:solidFill>
                <a:latin typeface="Arial" pitchFamily="34" charset="0"/>
                <a:ea typeface="IBM Plex Sans" pitchFamily="34" charset="-122"/>
                <a:cs typeface="IBM Plex Sans" pitchFamily="34" charset="-120"/>
              </a:rPr>
              <a:t>La base para automatizar la operación de camiones de Ricardone y San Lorenzo: nodos, eventos en tiempo real y un modelo único de la planta.</a:t>
            </a:r>
            <a:endParaRPr lang="en-US" sz="1700" dirty="0"/>
          </a:p>
        </p:txBody>
      </p:sp>
      <p:sp>
        <p:nvSpPr>
          <p:cNvPr id="10" name="Text 5"/>
          <p:cNvSpPr/>
          <p:nvPr/>
        </p:nvSpPr>
        <p:spPr>
          <a:xfrm>
            <a:off x="812800" y="58141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CE"/>
                </a:solidFill>
                <a:latin typeface="Arial" pitchFamily="34" charset="0"/>
                <a:ea typeface="IBM Plex Sans" pitchFamily="34" charset="-122"/>
                <a:cs typeface="IBM Plex Sans" pitchFamily="34" charset="-120"/>
              </a:rPr>
              <a:t>Propuesta interna · BIMtrazer · Septiembre 2026</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5638"/>
                </a:solidFill>
                <a:latin typeface="Arial" pitchFamily="34" charset="0"/>
                <a:ea typeface="IBM Plex Sans" pitchFamily="34" charset="-122"/>
                <a:cs typeface="IBM Plex Sans" pitchFamily="34" charset="-120"/>
              </a:rPr>
              <a:t>LA BASE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02E"/>
                </a:solidFill>
                <a:latin typeface="Arial" pitchFamily="34" charset="0"/>
                <a:ea typeface="Space Grotesk" pitchFamily="34" charset="-122"/>
                <a:cs typeface="Space Grotesk" pitchFamily="34" charset="-120"/>
              </a:rPr>
              <a:t>TruckFlow ya está instalado y funcionando</a:t>
            </a:r>
            <a:endParaRPr lang="en-US" sz="3200" dirty="0"/>
          </a:p>
        </p:txBody>
      </p:sp>
      <p:sp>
        <p:nvSpPr>
          <p:cNvPr id="4" name="Shape 2"/>
          <p:cNvSpPr/>
          <p:nvPr/>
        </p:nvSpPr>
        <p:spPr>
          <a:xfrm>
            <a:off x="812800" y="2221210"/>
            <a:ext cx="5740400" cy="2743200"/>
          </a:xfrm>
          <a:prstGeom prst="roundRect">
            <a:avLst>
              <a:gd name="adj" fmla="val 3704"/>
            </a:avLst>
          </a:prstGeom>
          <a:solidFill>
            <a:srgbClr val="0E1A2B"/>
          </a:solidFill>
          <a:ln/>
        </p:spPr>
        <p:txBody>
          <a:bodyPr/>
          <a:p/>
        </p:txBody>
      </p:sp>
      <p:pic>
        <p:nvPicPr>
          <p:cNvPr id="5" name="Image 0" descr="Mosaico del DSS con las cámaras de Ricardone y San Lorenzo">    </p:cNvPr>
          <p:cNvPicPr>
            <a:picLocks noChangeAspect="1"/>
          </p:cNvPicPr>
          <p:nvPr/>
        </p:nvPicPr>
        <p:blipFill>
          <a:blip r:embed="rId1"/>
          <a:srcRect l="-4" r="-4" t="0" b="0"/>
          <a:stretch/>
        </p:blipFill>
        <p:spPr>
          <a:xfrm>
            <a:off x="889000" y="2297410"/>
            <a:ext cx="5588000" cy="2590800"/>
          </a:xfrm>
          <a:prstGeom prst="roundRect">
            <a:avLst>
              <a:gd name="adj" fmla="val 1961"/>
            </a:avLst>
          </a:prstGeom>
        </p:spPr>
      </p:pic>
      <p:sp>
        <p:nvSpPr>
          <p:cNvPr id="6" name="Text 3"/>
          <p:cNvSpPr/>
          <p:nvPr/>
        </p:nvSpPr>
        <p:spPr>
          <a:xfrm>
            <a:off x="6858000" y="2221210"/>
            <a:ext cx="4656836"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02E"/>
                </a:solidFill>
                <a:latin typeface="Arial" pitchFamily="34" charset="0"/>
                <a:ea typeface="IBM Plex Sans" pitchFamily="34" charset="-122"/>
                <a:cs typeface="IBM Plex Sans" pitchFamily="34" charset="-120"/>
              </a:rPr>
              <a:t>60 cámaras LPR con IA</a:t>
            </a:r>
            <a:endParaRPr lang="en-US" sz="1400" dirty="0"/>
          </a:p>
        </p:txBody>
      </p:sp>
      <p:sp>
        <p:nvSpPr>
          <p:cNvPr id="7" name="Text 4"/>
          <p:cNvSpPr/>
          <p:nvPr/>
        </p:nvSpPr>
        <p:spPr>
          <a:xfrm>
            <a:off x="6858000" y="2477691"/>
            <a:ext cx="465683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Arial" pitchFamily="34" charset="0"/>
                <a:ea typeface="IBM Plex Sans" pitchFamily="34" charset="-122"/>
                <a:cs typeface="IBM Plex Sans" pitchFamily="34" charset="-120"/>
              </a:rPr>
              <a:t>leen la patente en la cámara; 33 en Ricardone y 27 en el puerto</a:t>
            </a:r>
            <a:endParaRPr lang="en-US" sz="1200" dirty="0"/>
          </a:p>
        </p:txBody>
      </p:sp>
      <p:sp>
        <p:nvSpPr>
          <p:cNvPr id="8" name="Text 5"/>
          <p:cNvSpPr/>
          <p:nvPr/>
        </p:nvSpPr>
        <p:spPr>
          <a:xfrm>
            <a:off x="6858000" y="2981523"/>
            <a:ext cx="4656836"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02E"/>
                </a:solidFill>
                <a:latin typeface="Arial" pitchFamily="34" charset="0"/>
                <a:ea typeface="IBM Plex Sans" pitchFamily="34" charset="-122"/>
                <a:cs typeface="IBM Plex Sans" pitchFamily="34" charset="-120"/>
              </a:rPr>
              <a:t>TF Edge, en planta</a:t>
            </a:r>
            <a:endParaRPr lang="en-US" sz="1400" dirty="0"/>
          </a:p>
        </p:txBody>
      </p:sp>
      <p:sp>
        <p:nvSpPr>
          <p:cNvPr id="9" name="Text 6"/>
          <p:cNvSpPr/>
          <p:nvPr/>
        </p:nvSpPr>
        <p:spPr>
          <a:xfrm>
            <a:off x="6858000" y="3238004"/>
            <a:ext cx="465683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Arial" pitchFamily="34" charset="0"/>
                <a:ea typeface="IBM Plex Sans" pitchFamily="34" charset="-122"/>
                <a:cs typeface="IBM Plex Sans" pitchFamily="34" charset="-120"/>
              </a:rPr>
              <a:t>bitácora local y reenvío de cada lectura</a:t>
            </a:r>
            <a:endParaRPr lang="en-US" sz="1200" dirty="0"/>
          </a:p>
        </p:txBody>
      </p:sp>
      <p:sp>
        <p:nvSpPr>
          <p:cNvPr id="10" name="Text 7"/>
          <p:cNvSpPr/>
          <p:nvPr/>
        </p:nvSpPr>
        <p:spPr>
          <a:xfrm>
            <a:off x="6858000" y="3741936"/>
            <a:ext cx="4656836"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02E"/>
                </a:solidFill>
                <a:latin typeface="Arial" pitchFamily="34" charset="0"/>
                <a:ea typeface="IBM Plex Sans" pitchFamily="34" charset="-122"/>
                <a:cs typeface="IBM Plex Sans" pitchFamily="34" charset="-120"/>
              </a:rPr>
              <a:t>TruckFlow Service, en la nube</a:t>
            </a:r>
            <a:endParaRPr lang="en-US" sz="1400" dirty="0"/>
          </a:p>
        </p:txBody>
      </p:sp>
      <p:sp>
        <p:nvSpPr>
          <p:cNvPr id="11" name="Text 8"/>
          <p:cNvSpPr/>
          <p:nvPr/>
        </p:nvSpPr>
        <p:spPr>
          <a:xfrm>
            <a:off x="6858000" y="3998416"/>
            <a:ext cx="465683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Arial" pitchFamily="34" charset="0"/>
                <a:ea typeface="IBM Plex Sans" pitchFamily="34" charset="-122"/>
                <a:cs typeface="IBM Plex Sans" pitchFamily="34" charset="-120"/>
              </a:rPr>
              <a:t>viajes, rutas y alertas; APIs REST y gRPC</a:t>
            </a:r>
            <a:endParaRPr lang="en-US" sz="1200" dirty="0"/>
          </a:p>
        </p:txBody>
      </p:sp>
      <p:sp>
        <p:nvSpPr>
          <p:cNvPr id="12" name="Text 9"/>
          <p:cNvSpPr/>
          <p:nvPr/>
        </p:nvSpPr>
        <p:spPr>
          <a:xfrm>
            <a:off x="6858000" y="4502249"/>
            <a:ext cx="4656836"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02E"/>
                </a:solidFill>
                <a:latin typeface="Arial" pitchFamily="34" charset="0"/>
                <a:ea typeface="IBM Plex Sans" pitchFamily="34" charset="-122"/>
                <a:cs typeface="IBM Plex Sans" pitchFamily="34" charset="-120"/>
              </a:rPr>
              <a:t>Servidor y red en planta</a:t>
            </a:r>
            <a:endParaRPr lang="en-US" sz="1400" dirty="0"/>
          </a:p>
        </p:txBody>
      </p:sp>
      <p:sp>
        <p:nvSpPr>
          <p:cNvPr id="13" name="Text 10"/>
          <p:cNvSpPr/>
          <p:nvPr/>
        </p:nvSpPr>
        <p:spPr>
          <a:xfrm>
            <a:off x="6858000" y="4758730"/>
            <a:ext cx="465683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Arial" pitchFamily="34" charset="0"/>
                <a:ea typeface="IBM Plex Sans" pitchFamily="34" charset="-122"/>
                <a:cs typeface="IBM Plex Sans" pitchFamily="34" charset="-120"/>
              </a:rPr>
              <a:t>DSS, TF Edge y enlace entre las dos plantas</a:t>
            </a:r>
            <a:endParaRPr lang="en-US" sz="1200" dirty="0"/>
          </a:p>
        </p:txBody>
      </p:sp>
      <p:sp>
        <p:nvSpPr>
          <p:cNvPr id="14" name="Text 11"/>
          <p:cNvSpPr/>
          <p:nvPr/>
        </p:nvSpPr>
        <p:spPr>
          <a:xfrm>
            <a:off x="812800" y="56109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E"/>
                </a:solidFill>
                <a:latin typeface="Arial" pitchFamily="34" charset="0"/>
                <a:ea typeface="IBM Plex Sans" pitchFamily="34" charset="-122"/>
                <a:cs typeface="IBM Plex Sans" pitchFamily="34" charset="-120"/>
              </a:rPr>
              <a:t>Probado de punta a punta el 15/09: cámara → TF Edge → TruckFlow → visualización.</a:t>
            </a:r>
            <a:endParaRPr lang="en-US" sz="1300" dirty="0"/>
          </a:p>
        </p:txBody>
      </p:sp>
      <p:sp>
        <p:nvSpPr>
          <p:cNvPr id="15" name="Text 12"/>
          <p:cNvSpPr/>
          <p:nvPr/>
        </p:nvSpPr>
        <p:spPr>
          <a:xfrm>
            <a:off x="812800" y="6238280"/>
            <a:ext cx="77196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Arial" pitchFamily="34" charset="0"/>
                <a:ea typeface="IBM Plex Sans" pitchFamily="34" charset="-122"/>
                <a:cs typeface="IBM Plex Sans" pitchFamily="34" charset="-120"/>
              </a:rPr>
              <a:t>Imagen: DSS con las cámaras de ambas plantas · Fuente: informe de fin de etapa de instalación (15/09/2026)</a:t>
            </a:r>
            <a:endParaRPr lang="en-US" sz="1200" dirty="0"/>
          </a:p>
        </p:txBody>
      </p:sp>
      <p:sp>
        <p:nvSpPr>
          <p:cNvPr id="16" name="TextBox 15"/>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5638"/>
                </a:solidFill>
                <a:latin typeface="Arial" pitchFamily="34" charset="0"/>
                <a:ea typeface="IBM Plex Sans" pitchFamily="34" charset="-122"/>
                <a:cs typeface="IBM Plex Sans" pitchFamily="34" charset="-120"/>
              </a:rPr>
              <a:t>LA LÓGICA DEL NODO · UN NODO REAL: BALANZA EGRESO DE RICARDONE</a:t>
            </a:r>
            <a:endParaRPr lang="en-US" sz="1200" dirty="0"/>
          </a:p>
        </p:txBody>
      </p:sp>
      <p:sp>
        <p:nvSpPr>
          <p:cNvPr id="3" name="Text 1"/>
          <p:cNvSpPr/>
          <p:nvPr/>
        </p:nvSpPr>
        <p:spPr>
          <a:xfrm>
            <a:off x="812800" y="11049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02E"/>
                </a:solidFill>
                <a:latin typeface="Arial" pitchFamily="34" charset="0"/>
                <a:ea typeface="Space Grotesk" pitchFamily="34" charset="-122"/>
                <a:cs typeface="Space Grotesk" pitchFamily="34" charset="-120"/>
              </a:rPr>
              <a:t>Cada nodo sabe de dónde vienen y a dónde van</a:t>
            </a:r>
            <a:endParaRPr lang="en-US" sz="3200" dirty="0"/>
          </a:p>
        </p:txBody>
      </p:sp>
      <p:pic>
        <p:nvPicPr>
          <p:cNvPr id="4" name="Image 0" descr="Los 41 circuitos que pasan por Balanza egreso llegan desde 11 puntos y salen por dos caminos; cuantos más circuitos, más oscura la línea">    </p:cNvPr>
          <p:cNvPicPr>
            <a:picLocks noChangeAspect="1"/>
          </p:cNvPicPr>
          <p:nvPr/>
        </p:nvPicPr>
        <p:blipFill>
          <a:blip r:embed="rId1"/>
          <a:srcRect l="-43" r="-43" t="0" b="0"/>
          <a:stretch/>
        </p:blipFill>
        <p:spPr>
          <a:xfrm>
            <a:off x="812800" y="1778000"/>
            <a:ext cx="10566400" cy="2794000"/>
          </a:xfrm>
          <a:prstGeom prst="rect">
            <a:avLst/>
          </a:prstGeom>
        </p:spPr>
      </p:pic>
      <p:sp>
        <p:nvSpPr>
          <p:cNvPr id="5" name="Text 2"/>
          <p:cNvSpPr/>
          <p:nvPr/>
        </p:nvSpPr>
        <p:spPr>
          <a:xfrm>
            <a:off x="740410" y="1663700"/>
            <a:ext cx="2485390" cy="228005"/>
          </a:xfrm>
          <a:prstGeom prst="rect">
            <a:avLst/>
          </a:prstGeom>
          <a:noFill/>
          <a:ln/>
        </p:spPr>
        <p:txBody>
          <a:bodyPr wrap="square" lIns="0" tIns="0" rIns="0" bIns="0" rtlCol="0" anchor="t">
            <a:normAutofit/>
          </a:bodyPr>
          <a:lstStyle/>
          <a:p>
            <a:pPr algn="r" indent="0" marL="0">
              <a:lnSpc>
                <a:spcPts val="1596"/>
              </a:lnSpc>
              <a:buNone/>
            </a:pPr>
            <a:r>
              <a:rPr lang="en-US" sz="1200" b="1" spc="150" kern="0" dirty="0">
                <a:solidFill>
                  <a:srgbClr val="0B5638"/>
                </a:solidFill>
                <a:latin typeface="Arial" pitchFamily="34" charset="0"/>
                <a:ea typeface="IBM Plex Sans" pitchFamily="34" charset="-122"/>
                <a:cs typeface="IBM Plex Sans" pitchFamily="34" charset="-120"/>
              </a:rPr>
              <a:t>DE DÓNDE LLEGA</a:t>
            </a:r>
            <a:endParaRPr lang="en-US" sz="1200" dirty="0"/>
          </a:p>
        </p:txBody>
      </p:sp>
      <p:sp>
        <p:nvSpPr>
          <p:cNvPr id="6" name="Text 3"/>
          <p:cNvSpPr/>
          <p:nvPr/>
        </p:nvSpPr>
        <p:spPr>
          <a:xfrm>
            <a:off x="8585200" y="1663700"/>
            <a:ext cx="2877820" cy="228005"/>
          </a:xfrm>
          <a:prstGeom prst="rect">
            <a:avLst/>
          </a:prstGeom>
          <a:noFill/>
          <a:ln/>
        </p:spPr>
        <p:txBody>
          <a:bodyPr wrap="square" lIns="0" tIns="0" rIns="0" bIns="0" rtlCol="0" anchor="t">
            <a:normAutofit/>
          </a:bodyPr>
          <a:lstStyle/>
          <a:p>
            <a:pPr algn="l" indent="0" marL="0">
              <a:lnSpc>
                <a:spcPts val="1596"/>
              </a:lnSpc>
              <a:buNone/>
            </a:pPr>
            <a:r>
              <a:rPr lang="en-US" sz="1200" b="1" spc="150" kern="0" dirty="0">
                <a:solidFill>
                  <a:srgbClr val="0B5638"/>
                </a:solidFill>
                <a:latin typeface="Arial" pitchFamily="34" charset="0"/>
                <a:ea typeface="IBM Plex Sans" pitchFamily="34" charset="-122"/>
                <a:cs typeface="IBM Plex Sans" pitchFamily="34" charset="-120"/>
              </a:rPr>
              <a:t>A DÓNDE SIGUE</a:t>
            </a:r>
            <a:endParaRPr lang="en-US" sz="1200" dirty="0"/>
          </a:p>
        </p:txBody>
      </p:sp>
      <p:sp>
        <p:nvSpPr>
          <p:cNvPr id="7" name="Text 4"/>
          <p:cNvSpPr/>
          <p:nvPr/>
        </p:nvSpPr>
        <p:spPr>
          <a:xfrm>
            <a:off x="740410" y="1905000"/>
            <a:ext cx="2485390" cy="228005"/>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13202E"/>
                </a:solidFill>
                <a:latin typeface="Arial" pitchFamily="34" charset="0"/>
                <a:ea typeface="IBM Plex Sans" pitchFamily="34" charset="-122"/>
                <a:cs typeface="IBM Plex Sans" pitchFamily="34" charset="-120"/>
              </a:rPr>
              <a:t>Líquidos</a:t>
            </a:r>
            <a:endParaRPr lang="en-US" sz="1200" dirty="0"/>
          </a:p>
        </p:txBody>
      </p:sp>
      <p:sp>
        <p:nvSpPr>
          <p:cNvPr id="8" name="Text 5"/>
          <p:cNvSpPr/>
          <p:nvPr/>
        </p:nvSpPr>
        <p:spPr>
          <a:xfrm>
            <a:off x="3302000" y="1905000"/>
            <a:ext cx="330200" cy="228005"/>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13202E"/>
                </a:solidFill>
                <a:latin typeface="Arial" pitchFamily="34" charset="0"/>
                <a:ea typeface="IBM Plex Sans" pitchFamily="34" charset="-122"/>
                <a:cs typeface="IBM Plex Sans" pitchFamily="34" charset="-120"/>
              </a:rPr>
              <a:t>6</a:t>
            </a:r>
            <a:endParaRPr lang="en-US" sz="1200" dirty="0"/>
          </a:p>
        </p:txBody>
      </p:sp>
      <p:sp>
        <p:nvSpPr>
          <p:cNvPr id="9" name="Text 6"/>
          <p:cNvSpPr/>
          <p:nvPr/>
        </p:nvSpPr>
        <p:spPr>
          <a:xfrm>
            <a:off x="740410" y="2146300"/>
            <a:ext cx="2485390" cy="228005"/>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13202E"/>
                </a:solidFill>
                <a:latin typeface="Arial" pitchFamily="34" charset="0"/>
                <a:ea typeface="IBM Plex Sans" pitchFamily="34" charset="-122"/>
                <a:cs typeface="IBM Plex Sans" pitchFamily="34" charset="-120"/>
              </a:rPr>
              <a:t>Playa 3</a:t>
            </a:r>
            <a:endParaRPr lang="en-US" sz="1200" dirty="0"/>
          </a:p>
        </p:txBody>
      </p:sp>
      <p:sp>
        <p:nvSpPr>
          <p:cNvPr id="10" name="Text 7"/>
          <p:cNvSpPr/>
          <p:nvPr/>
        </p:nvSpPr>
        <p:spPr>
          <a:xfrm>
            <a:off x="3302000" y="2146300"/>
            <a:ext cx="330200" cy="228005"/>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13202E"/>
                </a:solidFill>
                <a:latin typeface="Arial" pitchFamily="34" charset="0"/>
                <a:ea typeface="IBM Plex Sans" pitchFamily="34" charset="-122"/>
                <a:cs typeface="IBM Plex Sans" pitchFamily="34" charset="-120"/>
              </a:rPr>
              <a:t>6</a:t>
            </a:r>
            <a:endParaRPr lang="en-US" sz="1200" dirty="0"/>
          </a:p>
        </p:txBody>
      </p:sp>
      <p:sp>
        <p:nvSpPr>
          <p:cNvPr id="11" name="Text 8"/>
          <p:cNvSpPr/>
          <p:nvPr/>
        </p:nvSpPr>
        <p:spPr>
          <a:xfrm>
            <a:off x="740410" y="2387600"/>
            <a:ext cx="2485390" cy="228005"/>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13202E"/>
                </a:solidFill>
                <a:latin typeface="Arial" pitchFamily="34" charset="0"/>
                <a:ea typeface="IBM Plex Sans" pitchFamily="34" charset="-122"/>
                <a:cs typeface="IBM Plex Sans" pitchFamily="34" charset="-120"/>
              </a:rPr>
              <a:t>Silo Keppler</a:t>
            </a:r>
            <a:endParaRPr lang="en-US" sz="1200" dirty="0"/>
          </a:p>
        </p:txBody>
      </p:sp>
      <p:sp>
        <p:nvSpPr>
          <p:cNvPr id="12" name="Text 9"/>
          <p:cNvSpPr/>
          <p:nvPr/>
        </p:nvSpPr>
        <p:spPr>
          <a:xfrm>
            <a:off x="3302000" y="2387600"/>
            <a:ext cx="330200" cy="228005"/>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13202E"/>
                </a:solidFill>
                <a:latin typeface="Arial" pitchFamily="34" charset="0"/>
                <a:ea typeface="IBM Plex Sans" pitchFamily="34" charset="-122"/>
                <a:cs typeface="IBM Plex Sans" pitchFamily="34" charset="-120"/>
              </a:rPr>
              <a:t>5</a:t>
            </a:r>
            <a:endParaRPr lang="en-US" sz="1200" dirty="0"/>
          </a:p>
        </p:txBody>
      </p:sp>
      <p:sp>
        <p:nvSpPr>
          <p:cNvPr id="13" name="Text 10"/>
          <p:cNvSpPr/>
          <p:nvPr/>
        </p:nvSpPr>
        <p:spPr>
          <a:xfrm>
            <a:off x="740410" y="2628900"/>
            <a:ext cx="2485390" cy="228005"/>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13202E"/>
                </a:solidFill>
                <a:latin typeface="Arial" pitchFamily="34" charset="0"/>
                <a:ea typeface="IBM Plex Sans" pitchFamily="34" charset="-122"/>
                <a:cs typeface="IBM Plex Sans" pitchFamily="34" charset="-120"/>
              </a:rPr>
              <a:t>Volcable 1</a:t>
            </a:r>
            <a:endParaRPr lang="en-US" sz="1200" dirty="0"/>
          </a:p>
        </p:txBody>
      </p:sp>
      <p:sp>
        <p:nvSpPr>
          <p:cNvPr id="14" name="Text 11"/>
          <p:cNvSpPr/>
          <p:nvPr/>
        </p:nvSpPr>
        <p:spPr>
          <a:xfrm>
            <a:off x="3302000" y="2628900"/>
            <a:ext cx="330200" cy="228005"/>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13202E"/>
                </a:solidFill>
                <a:latin typeface="Arial" pitchFamily="34" charset="0"/>
                <a:ea typeface="IBM Plex Sans" pitchFamily="34" charset="-122"/>
                <a:cs typeface="IBM Plex Sans" pitchFamily="34" charset="-120"/>
              </a:rPr>
              <a:t>5</a:t>
            </a:r>
            <a:endParaRPr lang="en-US" sz="1200" dirty="0"/>
          </a:p>
        </p:txBody>
      </p:sp>
      <p:sp>
        <p:nvSpPr>
          <p:cNvPr id="15" name="Text 12"/>
          <p:cNvSpPr/>
          <p:nvPr/>
        </p:nvSpPr>
        <p:spPr>
          <a:xfrm>
            <a:off x="740410" y="2870200"/>
            <a:ext cx="2485390" cy="228005"/>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13202E"/>
                </a:solidFill>
                <a:latin typeface="Arial" pitchFamily="34" charset="0"/>
                <a:ea typeface="IBM Plex Sans" pitchFamily="34" charset="-122"/>
                <a:cs typeface="IBM Plex Sans" pitchFamily="34" charset="-120"/>
              </a:rPr>
              <a:t>Silo Australiano</a:t>
            </a:r>
            <a:endParaRPr lang="en-US" sz="1200" dirty="0"/>
          </a:p>
        </p:txBody>
      </p:sp>
      <p:sp>
        <p:nvSpPr>
          <p:cNvPr id="16" name="Text 13"/>
          <p:cNvSpPr/>
          <p:nvPr/>
        </p:nvSpPr>
        <p:spPr>
          <a:xfrm>
            <a:off x="3302000" y="2870200"/>
            <a:ext cx="330200" cy="228005"/>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13202E"/>
                </a:solidFill>
                <a:latin typeface="Arial" pitchFamily="34" charset="0"/>
                <a:ea typeface="IBM Plex Sans" pitchFamily="34" charset="-122"/>
                <a:cs typeface="IBM Plex Sans" pitchFamily="34" charset="-120"/>
              </a:rPr>
              <a:t>4</a:t>
            </a:r>
            <a:endParaRPr lang="en-US" sz="1200" dirty="0"/>
          </a:p>
        </p:txBody>
      </p:sp>
      <p:sp>
        <p:nvSpPr>
          <p:cNvPr id="17" name="Text 14"/>
          <p:cNvSpPr/>
          <p:nvPr/>
        </p:nvSpPr>
        <p:spPr>
          <a:xfrm>
            <a:off x="740410" y="3111500"/>
            <a:ext cx="2485390" cy="228005"/>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13202E"/>
                </a:solidFill>
                <a:latin typeface="Arial" pitchFamily="34" charset="0"/>
                <a:ea typeface="IBM Plex Sans" pitchFamily="34" charset="-122"/>
                <a:cs typeface="IBM Plex Sans" pitchFamily="34" charset="-120"/>
              </a:rPr>
              <a:t>Volcable 2</a:t>
            </a:r>
            <a:endParaRPr lang="en-US" sz="1200" dirty="0"/>
          </a:p>
        </p:txBody>
      </p:sp>
      <p:sp>
        <p:nvSpPr>
          <p:cNvPr id="18" name="Text 15"/>
          <p:cNvSpPr/>
          <p:nvPr/>
        </p:nvSpPr>
        <p:spPr>
          <a:xfrm>
            <a:off x="3302000" y="3111500"/>
            <a:ext cx="330200" cy="228005"/>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13202E"/>
                </a:solidFill>
                <a:latin typeface="Arial" pitchFamily="34" charset="0"/>
                <a:ea typeface="IBM Plex Sans" pitchFamily="34" charset="-122"/>
                <a:cs typeface="IBM Plex Sans" pitchFamily="34" charset="-120"/>
              </a:rPr>
              <a:t>4</a:t>
            </a:r>
            <a:endParaRPr lang="en-US" sz="1200" dirty="0"/>
          </a:p>
        </p:txBody>
      </p:sp>
      <p:sp>
        <p:nvSpPr>
          <p:cNvPr id="19" name="Text 16"/>
          <p:cNvSpPr/>
          <p:nvPr/>
        </p:nvSpPr>
        <p:spPr>
          <a:xfrm>
            <a:off x="740410" y="3352800"/>
            <a:ext cx="2485390" cy="228005"/>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13202E"/>
                </a:solidFill>
                <a:latin typeface="Arial" pitchFamily="34" charset="0"/>
                <a:ea typeface="IBM Plex Sans" pitchFamily="34" charset="-122"/>
                <a:cs typeface="IBM Plex Sans" pitchFamily="34" charset="-120"/>
              </a:rPr>
              <a:t>Silo Chief</a:t>
            </a:r>
            <a:endParaRPr lang="en-US" sz="1200" dirty="0"/>
          </a:p>
        </p:txBody>
      </p:sp>
      <p:sp>
        <p:nvSpPr>
          <p:cNvPr id="20" name="Text 17"/>
          <p:cNvSpPr/>
          <p:nvPr/>
        </p:nvSpPr>
        <p:spPr>
          <a:xfrm>
            <a:off x="3302000" y="3352800"/>
            <a:ext cx="330200" cy="228005"/>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13202E"/>
                </a:solidFill>
                <a:latin typeface="Arial" pitchFamily="34" charset="0"/>
                <a:ea typeface="IBM Plex Sans" pitchFamily="34" charset="-122"/>
                <a:cs typeface="IBM Plex Sans" pitchFamily="34" charset="-120"/>
              </a:rPr>
              <a:t>3</a:t>
            </a:r>
            <a:endParaRPr lang="en-US" sz="1200" dirty="0"/>
          </a:p>
        </p:txBody>
      </p:sp>
      <p:sp>
        <p:nvSpPr>
          <p:cNvPr id="21" name="Text 18"/>
          <p:cNvSpPr/>
          <p:nvPr/>
        </p:nvSpPr>
        <p:spPr>
          <a:xfrm>
            <a:off x="740410" y="3594100"/>
            <a:ext cx="2485390" cy="228005"/>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13202E"/>
                </a:solidFill>
                <a:latin typeface="Arial" pitchFamily="34" charset="0"/>
                <a:ea typeface="IBM Plex Sans" pitchFamily="34" charset="-122"/>
                <a:cs typeface="IBM Plex Sans" pitchFamily="34" charset="-120"/>
              </a:rPr>
              <a:t>Tolva Celda 09</a:t>
            </a:r>
            <a:endParaRPr lang="en-US" sz="1200" dirty="0"/>
          </a:p>
        </p:txBody>
      </p:sp>
      <p:sp>
        <p:nvSpPr>
          <p:cNvPr id="22" name="Text 19"/>
          <p:cNvSpPr/>
          <p:nvPr/>
        </p:nvSpPr>
        <p:spPr>
          <a:xfrm>
            <a:off x="3302000" y="3594100"/>
            <a:ext cx="330200" cy="228005"/>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13202E"/>
                </a:solidFill>
                <a:latin typeface="Arial" pitchFamily="34" charset="0"/>
                <a:ea typeface="IBM Plex Sans" pitchFamily="34" charset="-122"/>
                <a:cs typeface="IBM Plex Sans" pitchFamily="34" charset="-120"/>
              </a:rPr>
              <a:t>2</a:t>
            </a:r>
            <a:endParaRPr lang="en-US" sz="1200" dirty="0"/>
          </a:p>
        </p:txBody>
      </p:sp>
      <p:sp>
        <p:nvSpPr>
          <p:cNvPr id="23" name="Text 20"/>
          <p:cNvSpPr/>
          <p:nvPr/>
        </p:nvSpPr>
        <p:spPr>
          <a:xfrm>
            <a:off x="740410" y="3835400"/>
            <a:ext cx="2485390" cy="228005"/>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13202E"/>
                </a:solidFill>
                <a:latin typeface="Arial" pitchFamily="34" charset="0"/>
                <a:ea typeface="IBM Plex Sans" pitchFamily="34" charset="-122"/>
                <a:cs typeface="IBM Plex Sans" pitchFamily="34" charset="-120"/>
              </a:rPr>
              <a:t>Tolva Celda 10</a:t>
            </a:r>
            <a:endParaRPr lang="en-US" sz="1200" dirty="0"/>
          </a:p>
        </p:txBody>
      </p:sp>
      <p:sp>
        <p:nvSpPr>
          <p:cNvPr id="24" name="Text 21"/>
          <p:cNvSpPr/>
          <p:nvPr/>
        </p:nvSpPr>
        <p:spPr>
          <a:xfrm>
            <a:off x="3302000" y="3835400"/>
            <a:ext cx="330200" cy="228005"/>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13202E"/>
                </a:solidFill>
                <a:latin typeface="Arial" pitchFamily="34" charset="0"/>
                <a:ea typeface="IBM Plex Sans" pitchFamily="34" charset="-122"/>
                <a:cs typeface="IBM Plex Sans" pitchFamily="34" charset="-120"/>
              </a:rPr>
              <a:t>2</a:t>
            </a:r>
            <a:endParaRPr lang="en-US" sz="1200" dirty="0"/>
          </a:p>
        </p:txBody>
      </p:sp>
      <p:sp>
        <p:nvSpPr>
          <p:cNvPr id="25" name="Text 22"/>
          <p:cNvSpPr/>
          <p:nvPr/>
        </p:nvSpPr>
        <p:spPr>
          <a:xfrm>
            <a:off x="740410" y="4076700"/>
            <a:ext cx="2485390" cy="228005"/>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13202E"/>
                </a:solidFill>
                <a:latin typeface="Arial" pitchFamily="34" charset="0"/>
                <a:ea typeface="IBM Plex Sans" pitchFamily="34" charset="-122"/>
                <a:cs typeface="IBM Plex Sans" pitchFamily="34" charset="-120"/>
              </a:rPr>
              <a:t>Tolva Celda 11</a:t>
            </a:r>
            <a:endParaRPr lang="en-US" sz="1200" dirty="0"/>
          </a:p>
        </p:txBody>
      </p:sp>
      <p:sp>
        <p:nvSpPr>
          <p:cNvPr id="26" name="Text 23"/>
          <p:cNvSpPr/>
          <p:nvPr/>
        </p:nvSpPr>
        <p:spPr>
          <a:xfrm>
            <a:off x="3302000" y="4076700"/>
            <a:ext cx="330200" cy="228005"/>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13202E"/>
                </a:solidFill>
                <a:latin typeface="Arial" pitchFamily="34" charset="0"/>
                <a:ea typeface="IBM Plex Sans" pitchFamily="34" charset="-122"/>
                <a:cs typeface="IBM Plex Sans" pitchFamily="34" charset="-120"/>
              </a:rPr>
              <a:t>2</a:t>
            </a:r>
            <a:endParaRPr lang="en-US" sz="1200" dirty="0"/>
          </a:p>
        </p:txBody>
      </p:sp>
      <p:sp>
        <p:nvSpPr>
          <p:cNvPr id="27" name="Text 24"/>
          <p:cNvSpPr/>
          <p:nvPr/>
        </p:nvSpPr>
        <p:spPr>
          <a:xfrm>
            <a:off x="740410" y="4318000"/>
            <a:ext cx="2485390" cy="228005"/>
          </a:xfrm>
          <a:prstGeom prst="rect">
            <a:avLst/>
          </a:prstGeom>
          <a:noFill/>
          <a:ln/>
        </p:spPr>
        <p:txBody>
          <a:bodyPr wrap="square" lIns="0" tIns="0" rIns="0" bIns="0" rtlCol="0" anchor="t">
            <a:normAutofit/>
          </a:bodyPr>
          <a:lstStyle/>
          <a:p>
            <a:pPr algn="r" indent="0" marL="0">
              <a:lnSpc>
                <a:spcPts val="1596"/>
              </a:lnSpc>
              <a:buNone/>
            </a:pPr>
            <a:r>
              <a:rPr lang="en-US" sz="1200" dirty="0">
                <a:solidFill>
                  <a:srgbClr val="13202E"/>
                </a:solidFill>
                <a:latin typeface="Arial" pitchFamily="34" charset="0"/>
                <a:ea typeface="IBM Plex Sans" pitchFamily="34" charset="-122"/>
                <a:cs typeface="IBM Plex Sans" pitchFamily="34" charset="-120"/>
              </a:rPr>
              <a:t>Tolva silo Chief</a:t>
            </a:r>
            <a:endParaRPr lang="en-US" sz="1200" dirty="0"/>
          </a:p>
        </p:txBody>
      </p:sp>
      <p:sp>
        <p:nvSpPr>
          <p:cNvPr id="28" name="Text 25"/>
          <p:cNvSpPr/>
          <p:nvPr/>
        </p:nvSpPr>
        <p:spPr>
          <a:xfrm>
            <a:off x="3302000" y="4318000"/>
            <a:ext cx="330200" cy="228005"/>
          </a:xfrm>
          <a:prstGeom prst="rect">
            <a:avLst/>
          </a:prstGeom>
          <a:noFill/>
          <a:ln/>
        </p:spPr>
        <p:txBody>
          <a:bodyPr wrap="square" lIns="0" tIns="0" rIns="0" bIns="0" rtlCol="0" anchor="t">
            <a:normAutofit/>
          </a:bodyPr>
          <a:lstStyle/>
          <a:p>
            <a:pPr algn="l" indent="0" marL="0">
              <a:lnSpc>
                <a:spcPts val="1596"/>
              </a:lnSpc>
              <a:buNone/>
            </a:pPr>
            <a:r>
              <a:rPr lang="en-US" sz="1200" b="1" dirty="0">
                <a:solidFill>
                  <a:srgbClr val="13202E"/>
                </a:solidFill>
                <a:latin typeface="Arial" pitchFamily="34" charset="0"/>
                <a:ea typeface="IBM Plex Sans" pitchFamily="34" charset="-122"/>
                <a:cs typeface="IBM Plex Sans" pitchFamily="34" charset="-120"/>
              </a:rPr>
              <a:t>2</a:t>
            </a:r>
            <a:endParaRPr lang="en-US" sz="1200" dirty="0"/>
          </a:p>
        </p:txBody>
      </p:sp>
      <p:sp>
        <p:nvSpPr>
          <p:cNvPr id="29" name="Shape 26"/>
          <p:cNvSpPr/>
          <p:nvPr/>
        </p:nvSpPr>
        <p:spPr>
          <a:xfrm>
            <a:off x="5600700" y="2813050"/>
            <a:ext cx="2070100" cy="800100"/>
          </a:xfrm>
          <a:prstGeom prst="roundRect">
            <a:avLst>
              <a:gd name="adj" fmla="val 9524"/>
            </a:avLst>
          </a:prstGeom>
          <a:solidFill>
            <a:srgbClr val="0E1A2B"/>
          </a:solidFill>
          <a:ln w="25400">
            <a:solidFill>
              <a:srgbClr val="0E1A2B"/>
            </a:solidFill>
            <a:prstDash val="solid"/>
          </a:ln>
        </p:spPr>
        <p:txBody>
          <a:bodyPr/>
          <a:p/>
        </p:txBody>
      </p:sp>
      <p:sp>
        <p:nvSpPr>
          <p:cNvPr id="30" name="Text 27"/>
          <p:cNvSpPr/>
          <p:nvPr/>
        </p:nvSpPr>
        <p:spPr>
          <a:xfrm>
            <a:off x="5765800" y="2972098"/>
            <a:ext cx="179209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EEF2F4"/>
                </a:solidFill>
                <a:latin typeface="Arial" pitchFamily="34" charset="0"/>
                <a:ea typeface="IBM Plex Sans" pitchFamily="34" charset="-122"/>
                <a:cs typeface="IBM Plex Sans" pitchFamily="34" charset="-120"/>
              </a:rPr>
              <a:t>Balanza egreso</a:t>
            </a:r>
            <a:endParaRPr lang="en-US" sz="1500" dirty="0"/>
          </a:p>
        </p:txBody>
      </p:sp>
      <p:sp>
        <p:nvSpPr>
          <p:cNvPr id="31" name="Text 28"/>
          <p:cNvSpPr/>
          <p:nvPr/>
        </p:nvSpPr>
        <p:spPr>
          <a:xfrm>
            <a:off x="5765800" y="3248323"/>
            <a:ext cx="1792097"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C4CE"/>
                </a:solidFill>
                <a:latin typeface="Arial" pitchFamily="34" charset="0"/>
                <a:ea typeface="IBM Plex Sans" pitchFamily="34" charset="-122"/>
                <a:cs typeface="IBM Plex Sans" pitchFamily="34" charset="-120"/>
              </a:rPr>
              <a:t>Ricardone · 41 circuitos</a:t>
            </a:r>
            <a:endParaRPr lang="en-US" sz="1200" dirty="0"/>
          </a:p>
        </p:txBody>
      </p:sp>
      <p:sp>
        <p:nvSpPr>
          <p:cNvPr id="32" name="Shape 29"/>
          <p:cNvSpPr/>
          <p:nvPr/>
        </p:nvSpPr>
        <p:spPr>
          <a:xfrm>
            <a:off x="8591550" y="2012950"/>
            <a:ext cx="2781300" cy="1130300"/>
          </a:xfrm>
          <a:prstGeom prst="roundRect">
            <a:avLst>
              <a:gd name="adj" fmla="val 7303"/>
            </a:avLst>
          </a:prstGeom>
          <a:solidFill>
            <a:srgbClr val="FCFDFB"/>
          </a:solidFill>
          <a:ln w="12700">
            <a:solidFill>
              <a:srgbClr val="13202E"/>
            </a:solidFill>
            <a:prstDash val="solid"/>
          </a:ln>
        </p:spPr>
        <p:txBody>
          <a:bodyPr/>
          <a:p/>
        </p:txBody>
      </p:sp>
      <p:sp>
        <p:nvSpPr>
          <p:cNvPr id="33" name="Text 30"/>
          <p:cNvSpPr/>
          <p:nvPr/>
        </p:nvSpPr>
        <p:spPr>
          <a:xfrm>
            <a:off x="8750300" y="2128242"/>
            <a:ext cx="253771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E"/>
                </a:solidFill>
                <a:latin typeface="Arial" pitchFamily="34" charset="0"/>
                <a:ea typeface="IBM Plex Sans" pitchFamily="34" charset="-122"/>
                <a:cs typeface="IBM Plex Sans" pitchFamily="34" charset="-120"/>
              </a:rPr>
              <a:t>Playa de salida → Salida 1</a:t>
            </a:r>
            <a:endParaRPr lang="en-US" sz="1300" dirty="0"/>
          </a:p>
        </p:txBody>
      </p:sp>
      <p:sp>
        <p:nvSpPr>
          <p:cNvPr id="34" name="Text 31"/>
          <p:cNvSpPr/>
          <p:nvPr/>
        </p:nvSpPr>
        <p:spPr>
          <a:xfrm>
            <a:off x="8750300" y="2372717"/>
            <a:ext cx="2537714"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868"/>
                </a:solidFill>
                <a:latin typeface="Arial" pitchFamily="34" charset="0"/>
                <a:ea typeface="IBM Plex Sans" pitchFamily="34" charset="-122"/>
                <a:cs typeface="IBM Plex Sans" pitchFamily="34" charset="-120"/>
              </a:rPr>
              <a:t>recepción</a:t>
            </a:r>
            <a:r>
              <a:rPr lang="en-US" sz="1200" dirty="0">
                <a:solidFill>
                  <a:srgbClr val="4A5868"/>
                </a:solidFill>
                <a:latin typeface="Arial" pitchFamily="34" charset="0"/>
                <a:ea typeface="IBM Plex Sans" pitchFamily="34" charset="-122"/>
                <a:cs typeface="IBM Plex Sans" pitchFamily="34" charset="-120"/>
              </a:rPr>
              <a:t>, </a:t>
            </a:r>
            <a:r>
              <a:rPr lang="en-US" sz="1200" b="1" dirty="0">
                <a:solidFill>
                  <a:srgbClr val="4A5868"/>
                </a:solidFill>
                <a:latin typeface="Arial" pitchFamily="34" charset="0"/>
                <a:ea typeface="IBM Plex Sans" pitchFamily="34" charset="-122"/>
                <a:cs typeface="IBM Plex Sans" pitchFamily="34" charset="-120"/>
              </a:rPr>
              <a:t>transile interno</a:t>
            </a:r>
            <a:r>
              <a:rPr lang="en-US" sz="1200" dirty="0">
                <a:solidFill>
                  <a:srgbClr val="4A5868"/>
                </a:solidFill>
                <a:latin typeface="Arial" pitchFamily="34" charset="0"/>
                <a:ea typeface="IBM Plex Sans" pitchFamily="34" charset="-122"/>
                <a:cs typeface="IBM Plex Sans" pitchFamily="34" charset="-120"/>
              </a:rPr>
              <a:t> o </a:t>
            </a:r>
            <a:r>
              <a:rPr lang="en-US" sz="1200" b="1" dirty="0">
                <a:solidFill>
                  <a:srgbClr val="4A5868"/>
                </a:solidFill>
                <a:latin typeface="Arial" pitchFamily="34" charset="0"/>
                <a:ea typeface="IBM Plex Sans" pitchFamily="34" charset="-122"/>
                <a:cs typeface="IBM Plex Sans" pitchFamily="34" charset="-120"/>
              </a:rPr>
              <a:t>camión que viene del puerto</a:t>
            </a:r>
            <a:endParaRPr lang="en-US" sz="1200" dirty="0"/>
          </a:p>
        </p:txBody>
      </p:sp>
      <p:sp>
        <p:nvSpPr>
          <p:cNvPr id="35" name="Text 32"/>
          <p:cNvSpPr/>
          <p:nvPr/>
        </p:nvSpPr>
        <p:spPr>
          <a:xfrm>
            <a:off x="8750300" y="2822178"/>
            <a:ext cx="2537714"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3202E"/>
                </a:solidFill>
                <a:latin typeface="Arial" pitchFamily="34" charset="0"/>
                <a:ea typeface="IBM Plex Sans" pitchFamily="34" charset="-122"/>
                <a:cs typeface="IBM Plex Sans" pitchFamily="34" charset="-120"/>
              </a:rPr>
              <a:t>24 circuitos</a:t>
            </a:r>
            <a:endParaRPr lang="en-US" sz="1200" dirty="0"/>
          </a:p>
        </p:txBody>
      </p:sp>
      <p:sp>
        <p:nvSpPr>
          <p:cNvPr id="36" name="Shape 33"/>
          <p:cNvSpPr/>
          <p:nvPr/>
        </p:nvSpPr>
        <p:spPr>
          <a:xfrm>
            <a:off x="8591550" y="3282950"/>
            <a:ext cx="2781300" cy="1130300"/>
          </a:xfrm>
          <a:prstGeom prst="roundRect">
            <a:avLst>
              <a:gd name="adj" fmla="val 7303"/>
            </a:avLst>
          </a:prstGeom>
          <a:solidFill>
            <a:srgbClr val="FCFDFB"/>
          </a:solidFill>
          <a:ln w="12700">
            <a:solidFill>
              <a:srgbClr val="13202E"/>
            </a:solidFill>
            <a:prstDash val="solid"/>
          </a:ln>
        </p:spPr>
        <p:txBody>
          <a:bodyPr/>
          <a:p/>
        </p:txBody>
      </p:sp>
      <p:sp>
        <p:nvSpPr>
          <p:cNvPr id="37" name="Text 34"/>
          <p:cNvSpPr/>
          <p:nvPr/>
        </p:nvSpPr>
        <p:spPr>
          <a:xfrm>
            <a:off x="8750300" y="3398242"/>
            <a:ext cx="253771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E"/>
                </a:solidFill>
                <a:latin typeface="Arial" pitchFamily="34" charset="0"/>
                <a:ea typeface="IBM Plex Sans" pitchFamily="34" charset="-122"/>
                <a:cs typeface="IBM Plex Sans" pitchFamily="34" charset="-120"/>
              </a:rPr>
              <a:t>Vuelve a Calada → Salida 2</a:t>
            </a:r>
            <a:endParaRPr lang="en-US" sz="1300" dirty="0"/>
          </a:p>
        </p:txBody>
      </p:sp>
      <p:sp>
        <p:nvSpPr>
          <p:cNvPr id="38" name="Text 35"/>
          <p:cNvSpPr/>
          <p:nvPr/>
        </p:nvSpPr>
        <p:spPr>
          <a:xfrm>
            <a:off x="8750300" y="3642717"/>
            <a:ext cx="2537714"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868"/>
                </a:solidFill>
                <a:latin typeface="Arial" pitchFamily="34" charset="0"/>
                <a:ea typeface="IBM Plex Sans" pitchFamily="34" charset="-122"/>
                <a:cs typeface="IBM Plex Sans" pitchFamily="34" charset="-120"/>
              </a:rPr>
              <a:t>despacho</a:t>
            </a:r>
            <a:r>
              <a:rPr lang="en-US" sz="1200" dirty="0">
                <a:solidFill>
                  <a:srgbClr val="4A5868"/>
                </a:solidFill>
                <a:latin typeface="Arial" pitchFamily="34" charset="0"/>
                <a:ea typeface="IBM Plex Sans" pitchFamily="34" charset="-122"/>
                <a:cs typeface="IBM Plex Sans" pitchFamily="34" charset="-120"/>
              </a:rPr>
              <a:t> o </a:t>
            </a:r>
            <a:r>
              <a:rPr lang="en-US" sz="1200" b="1" dirty="0">
                <a:solidFill>
                  <a:srgbClr val="4A5868"/>
                </a:solidFill>
                <a:latin typeface="Arial" pitchFamily="34" charset="0"/>
                <a:ea typeface="IBM Plex Sans" pitchFamily="34" charset="-122"/>
                <a:cs typeface="IBM Plex Sans" pitchFamily="34" charset="-120"/>
              </a:rPr>
              <a:t>transile hacia el puerto</a:t>
            </a:r>
            <a:endParaRPr lang="en-US" sz="1200" dirty="0"/>
          </a:p>
        </p:txBody>
      </p:sp>
      <p:sp>
        <p:nvSpPr>
          <p:cNvPr id="39" name="Text 36"/>
          <p:cNvSpPr/>
          <p:nvPr/>
        </p:nvSpPr>
        <p:spPr>
          <a:xfrm>
            <a:off x="8750300" y="4092178"/>
            <a:ext cx="2537714"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3202E"/>
                </a:solidFill>
                <a:latin typeface="Arial" pitchFamily="34" charset="0"/>
                <a:ea typeface="IBM Plex Sans" pitchFamily="34" charset="-122"/>
                <a:cs typeface="IBM Plex Sans" pitchFamily="34" charset="-120"/>
              </a:rPr>
              <a:t>17 circuitos</a:t>
            </a:r>
            <a:endParaRPr lang="en-US" sz="1200" dirty="0"/>
          </a:p>
        </p:txBody>
      </p:sp>
      <p:sp>
        <p:nvSpPr>
          <p:cNvPr id="40" name="Shape 37"/>
          <p:cNvSpPr/>
          <p:nvPr/>
        </p:nvSpPr>
        <p:spPr>
          <a:xfrm>
            <a:off x="815975" y="4727575"/>
            <a:ext cx="3409950" cy="1111250"/>
          </a:xfrm>
          <a:prstGeom prst="roundRect">
            <a:avLst>
              <a:gd name="adj" fmla="val 8857"/>
            </a:avLst>
          </a:prstGeom>
          <a:solidFill>
            <a:srgbClr val="FCFDFB"/>
          </a:solidFill>
          <a:ln w="6350">
            <a:solidFill>
              <a:srgbClr val="D2DBE0"/>
            </a:solidFill>
            <a:prstDash val="solid"/>
          </a:ln>
        </p:spPr>
        <p:txBody>
          <a:bodyPr/>
          <a:p/>
        </p:txBody>
      </p:sp>
      <p:sp>
        <p:nvSpPr>
          <p:cNvPr id="41" name="Text 38"/>
          <p:cNvSpPr/>
          <p:nvPr/>
        </p:nvSpPr>
        <p:spPr>
          <a:xfrm>
            <a:off x="996950" y="4870450"/>
            <a:ext cx="3139440"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3202E"/>
                </a:solidFill>
                <a:latin typeface="Arial" pitchFamily="34" charset="0"/>
                <a:ea typeface="IBM Plex Sans" pitchFamily="34" charset="-122"/>
                <a:cs typeface="IBM Plex Sans" pitchFamily="34" charset="-120"/>
              </a:rPr>
              <a:t>1 · Valida la llegada</a:t>
            </a:r>
            <a:endParaRPr lang="en-US" sz="1300" dirty="0"/>
          </a:p>
        </p:txBody>
      </p:sp>
      <p:sp>
        <p:nvSpPr>
          <p:cNvPr id="42" name="Text 39"/>
          <p:cNvSpPr/>
          <p:nvPr/>
        </p:nvSpPr>
        <p:spPr>
          <a:xfrm>
            <a:off x="996950" y="5135860"/>
            <a:ext cx="31394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Arial" pitchFamily="34" charset="0"/>
                <a:ea typeface="IBM Plex Sans" pitchFamily="34" charset="-122"/>
                <a:cs typeface="IBM Plex Sans" pitchFamily="34" charset="-120"/>
              </a:rPr>
              <a:t>Si la cámara lo lee acá, tuvo que venir de una de sus 11 entradas.</a:t>
            </a:r>
            <a:endParaRPr lang="en-US" sz="1200" dirty="0"/>
          </a:p>
        </p:txBody>
      </p:sp>
      <p:sp>
        <p:nvSpPr>
          <p:cNvPr id="43" name="Shape 40"/>
          <p:cNvSpPr/>
          <p:nvPr/>
        </p:nvSpPr>
        <p:spPr>
          <a:xfrm>
            <a:off x="4391025" y="4727575"/>
            <a:ext cx="3409950" cy="1111250"/>
          </a:xfrm>
          <a:prstGeom prst="roundRect">
            <a:avLst>
              <a:gd name="adj" fmla="val 8857"/>
            </a:avLst>
          </a:prstGeom>
          <a:solidFill>
            <a:srgbClr val="FCFDFB"/>
          </a:solidFill>
          <a:ln w="6350">
            <a:solidFill>
              <a:srgbClr val="D2DBE0"/>
            </a:solidFill>
            <a:prstDash val="solid"/>
          </a:ln>
        </p:spPr>
        <p:txBody>
          <a:bodyPr/>
          <a:p/>
        </p:txBody>
      </p:sp>
      <p:sp>
        <p:nvSpPr>
          <p:cNvPr id="44" name="Text 41"/>
          <p:cNvSpPr/>
          <p:nvPr/>
        </p:nvSpPr>
        <p:spPr>
          <a:xfrm>
            <a:off x="4572000" y="4870450"/>
            <a:ext cx="3139440"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3202E"/>
                </a:solidFill>
                <a:latin typeface="Arial" pitchFamily="34" charset="0"/>
                <a:ea typeface="IBM Plex Sans" pitchFamily="34" charset="-122"/>
                <a:cs typeface="IBM Plex Sans" pitchFamily="34" charset="-120"/>
              </a:rPr>
              <a:t>2 · Anticipa la salida</a:t>
            </a:r>
            <a:endParaRPr lang="en-US" sz="1300" dirty="0"/>
          </a:p>
        </p:txBody>
      </p:sp>
      <p:sp>
        <p:nvSpPr>
          <p:cNvPr id="45" name="Text 42"/>
          <p:cNvSpPr/>
          <p:nvPr/>
        </p:nvSpPr>
        <p:spPr>
          <a:xfrm>
            <a:off x="4572000" y="5135860"/>
            <a:ext cx="31394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Arial" pitchFamily="34" charset="0"/>
                <a:ea typeface="IBM Plex Sans" pitchFamily="34" charset="-122"/>
                <a:cs typeface="IBM Plex Sans" pitchFamily="34" charset="-120"/>
              </a:rPr>
              <a:t>El sistema de camiones dice si sigue a Playa de salida o vuelve a Calada.</a:t>
            </a:r>
            <a:endParaRPr lang="en-US" sz="1200" dirty="0"/>
          </a:p>
        </p:txBody>
      </p:sp>
      <p:sp>
        <p:nvSpPr>
          <p:cNvPr id="46" name="Shape 43"/>
          <p:cNvSpPr/>
          <p:nvPr/>
        </p:nvSpPr>
        <p:spPr>
          <a:xfrm>
            <a:off x="7966075" y="4727575"/>
            <a:ext cx="3409950" cy="1111250"/>
          </a:xfrm>
          <a:prstGeom prst="roundRect">
            <a:avLst>
              <a:gd name="adj" fmla="val 8857"/>
            </a:avLst>
          </a:prstGeom>
          <a:solidFill>
            <a:srgbClr val="FCFDFB"/>
          </a:solidFill>
          <a:ln w="6350">
            <a:solidFill>
              <a:srgbClr val="D2DBE0"/>
            </a:solidFill>
            <a:prstDash val="solid"/>
          </a:ln>
        </p:spPr>
        <p:txBody>
          <a:bodyPr/>
          <a:p/>
        </p:txBody>
      </p:sp>
      <p:sp>
        <p:nvSpPr>
          <p:cNvPr id="47" name="Text 44"/>
          <p:cNvSpPr/>
          <p:nvPr/>
        </p:nvSpPr>
        <p:spPr>
          <a:xfrm>
            <a:off x="8147050" y="4870450"/>
            <a:ext cx="3139440"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3202E"/>
                </a:solidFill>
                <a:latin typeface="Arial" pitchFamily="34" charset="0"/>
                <a:ea typeface="IBM Plex Sans" pitchFamily="34" charset="-122"/>
                <a:cs typeface="IBM Plex Sans" pitchFamily="34" charset="-120"/>
              </a:rPr>
              <a:t>3 · Alerta el desvío</a:t>
            </a:r>
            <a:endParaRPr lang="en-US" sz="1300" dirty="0"/>
          </a:p>
        </p:txBody>
      </p:sp>
      <p:sp>
        <p:nvSpPr>
          <p:cNvPr id="48" name="Text 45"/>
          <p:cNvSpPr/>
          <p:nvPr/>
        </p:nvSpPr>
        <p:spPr>
          <a:xfrm>
            <a:off x="8147050" y="5135860"/>
            <a:ext cx="31394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Arial" pitchFamily="34" charset="0"/>
                <a:ea typeface="IBM Plex Sans" pitchFamily="34" charset="-122"/>
                <a:cs typeface="IBM Plex Sans" pitchFamily="34" charset="-120"/>
              </a:rPr>
              <a:t>Si toma otro camino, avisa con patente, nodo y el circuito que esperaba.</a:t>
            </a:r>
            <a:endParaRPr lang="en-US" sz="1200" dirty="0"/>
          </a:p>
        </p:txBody>
      </p:sp>
      <p:sp>
        <p:nvSpPr>
          <p:cNvPr id="49" name="Text 46"/>
          <p:cNvSpPr/>
          <p:nvPr/>
        </p:nvSpPr>
        <p:spPr>
          <a:xfrm>
            <a:off x="812800" y="6238280"/>
            <a:ext cx="66564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Arial" pitchFamily="34" charset="0"/>
                <a:ea typeface="IBM Plex Sans" pitchFamily="34" charset="-122"/>
                <a:cs typeface="IBM Plex Sans" pitchFamily="34" charset="-120"/>
              </a:rPr>
              <a:t>Fuente: modelo de nodos del Nodo Sur · lo mismo está definido para los 33 nodos</a:t>
            </a:r>
            <a:endParaRPr lang="en-US" sz="1200" dirty="0"/>
          </a:p>
        </p:txBody>
      </p:sp>
      <p:sp>
        <p:nvSpPr>
          <p:cNvPr id="50" name="TextBox 49"/>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5638"/>
                </a:solidFill>
                <a:latin typeface="Arial" pitchFamily="34" charset="0"/>
                <a:ea typeface="IBM Plex Sans" pitchFamily="34" charset="-122"/>
                <a:cs typeface="IBM Plex Sans" pitchFamily="34" charset="-120"/>
              </a:rPr>
              <a:t>LO QUE YA EXISTE · LA PLANTA EN VIVO</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02E"/>
                </a:solidFill>
                <a:latin typeface="Arial" pitchFamily="34" charset="0"/>
                <a:ea typeface="Space Grotesk" pitchFamily="34" charset="-122"/>
                <a:cs typeface="Space Grotesk" pitchFamily="34" charset="-120"/>
              </a:rPr>
              <a:t>La planta en vivo, ya hoy</a:t>
            </a:r>
            <a:endParaRPr lang="en-US" sz="3200" dirty="0"/>
          </a:p>
        </p:txBody>
      </p:sp>
      <p:sp>
        <p:nvSpPr>
          <p:cNvPr id="4" name="Shape 2"/>
          <p:cNvSpPr/>
          <p:nvPr/>
        </p:nvSpPr>
        <p:spPr>
          <a:xfrm>
            <a:off x="812800" y="1828701"/>
            <a:ext cx="6985000" cy="3994150"/>
          </a:xfrm>
          <a:prstGeom prst="roundRect">
            <a:avLst>
              <a:gd name="adj" fmla="val 2544"/>
            </a:avLst>
          </a:prstGeom>
          <a:solidFill>
            <a:srgbClr val="0E1A2B"/>
          </a:solidFill>
          <a:ln/>
        </p:spPr>
        <p:txBody>
          <a:bodyPr/>
          <a:p/>
        </p:txBody>
      </p:sp>
      <p:pic>
        <p:nvPicPr>
          <p:cNvPr id="5" name="Image 0" descr="Tablero en vivo de Ricardone con Playa 1 seleccionada y sus patentes">    </p:cNvPr>
          <p:cNvPicPr>
            <a:picLocks noChangeAspect="1"/>
          </p:cNvPicPr>
          <p:nvPr/>
        </p:nvPicPr>
        <p:blipFill>
          <a:blip r:embed="rId1"/>
          <a:srcRect l="-21" r="-21" t="0" b="0"/>
          <a:stretch/>
        </p:blipFill>
        <p:spPr>
          <a:xfrm>
            <a:off x="889000" y="1904901"/>
            <a:ext cx="6832600" cy="3841750"/>
          </a:xfrm>
          <a:prstGeom prst="roundRect">
            <a:avLst>
              <a:gd name="adj" fmla="val 1322"/>
            </a:avLst>
          </a:prstGeom>
        </p:spPr>
      </p:pic>
      <p:sp>
        <p:nvSpPr>
          <p:cNvPr id="6" name="Text 3"/>
          <p:cNvSpPr/>
          <p:nvPr/>
        </p:nvSpPr>
        <p:spPr>
          <a:xfrm>
            <a:off x="8102600" y="1828701"/>
            <a:ext cx="3374898"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3202E"/>
                </a:solidFill>
                <a:latin typeface="Arial" pitchFamily="34" charset="0"/>
                <a:ea typeface="Space Grotesk" pitchFamily="34" charset="-122"/>
                <a:cs typeface="Space Grotesk" pitchFamily="34" charset="-120"/>
              </a:rPr>
              <a:t>21/09</a:t>
            </a:r>
            <a:endParaRPr lang="en-US" sz="2400" dirty="0"/>
          </a:p>
        </p:txBody>
      </p:sp>
      <p:sp>
        <p:nvSpPr>
          <p:cNvPr id="7" name="Text 4"/>
          <p:cNvSpPr/>
          <p:nvPr/>
        </p:nvSpPr>
        <p:spPr>
          <a:xfrm>
            <a:off x="8102600" y="2189361"/>
            <a:ext cx="337489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Arial" pitchFamily="34" charset="0"/>
                <a:ea typeface="IBM Plex Sans" pitchFamily="34" charset="-122"/>
                <a:cs typeface="IBM Plex Sans" pitchFamily="34" charset="-120"/>
              </a:rPr>
              <a:t>el tablero en vivo pasa a ser la pantalla de inicio</a:t>
            </a:r>
            <a:endParaRPr lang="en-US" sz="1200" dirty="0"/>
          </a:p>
        </p:txBody>
      </p:sp>
      <p:sp>
        <p:nvSpPr>
          <p:cNvPr id="8" name="Text 5"/>
          <p:cNvSpPr/>
          <p:nvPr/>
        </p:nvSpPr>
        <p:spPr>
          <a:xfrm>
            <a:off x="8102600" y="2971304"/>
            <a:ext cx="3374898"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3202E"/>
                </a:solidFill>
                <a:latin typeface="Arial" pitchFamily="34" charset="0"/>
                <a:ea typeface="Space Grotesk" pitchFamily="34" charset="-122"/>
                <a:cs typeface="Space Grotesk" pitchFamily="34" charset="-120"/>
              </a:rPr>
              <a:t>13</a:t>
            </a:r>
            <a:endParaRPr lang="en-US" sz="2400" dirty="0"/>
          </a:p>
        </p:txBody>
      </p:sp>
      <p:sp>
        <p:nvSpPr>
          <p:cNvPr id="9" name="Text 6"/>
          <p:cNvSpPr/>
          <p:nvPr/>
        </p:nvSpPr>
        <p:spPr>
          <a:xfrm>
            <a:off x="8102600" y="3331964"/>
            <a:ext cx="337489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Arial" pitchFamily="34" charset="0"/>
                <a:ea typeface="IBM Plex Sans" pitchFamily="34" charset="-122"/>
                <a:cs typeface="IBM Plex Sans" pitchFamily="34" charset="-120"/>
              </a:rPr>
              <a:t>comités semanales entregados desde el 10/06</a:t>
            </a:r>
            <a:endParaRPr lang="en-US" sz="1200" dirty="0"/>
          </a:p>
        </p:txBody>
      </p:sp>
      <p:sp>
        <p:nvSpPr>
          <p:cNvPr id="10" name="Text 7"/>
          <p:cNvSpPr/>
          <p:nvPr/>
        </p:nvSpPr>
        <p:spPr>
          <a:xfrm>
            <a:off x="8102600" y="4113907"/>
            <a:ext cx="3374898"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3202E"/>
                </a:solidFill>
                <a:latin typeface="Arial" pitchFamily="34" charset="0"/>
                <a:ea typeface="Space Grotesk" pitchFamily="34" charset="-122"/>
                <a:cs typeface="Space Grotesk" pitchFamily="34" charset="-120"/>
              </a:rPr>
              <a:t>40 → 95 %</a:t>
            </a:r>
            <a:endParaRPr lang="en-US" sz="2400" dirty="0"/>
          </a:p>
        </p:txBody>
      </p:sp>
      <p:sp>
        <p:nvSpPr>
          <p:cNvPr id="11" name="Text 8"/>
          <p:cNvSpPr/>
          <p:nvPr/>
        </p:nvSpPr>
        <p:spPr>
          <a:xfrm>
            <a:off x="8102600" y="4474567"/>
            <a:ext cx="337489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Arial" pitchFamily="34" charset="0"/>
                <a:ea typeface="IBM Plex Sans" pitchFamily="34" charset="-122"/>
                <a:cs typeface="IBM Plex Sans" pitchFamily="34" charset="-120"/>
              </a:rPr>
              <a:t>del volumen con trazabilidad por cámara</a:t>
            </a:r>
            <a:endParaRPr lang="en-US" sz="1200" dirty="0"/>
          </a:p>
        </p:txBody>
      </p:sp>
      <p:sp>
        <p:nvSpPr>
          <p:cNvPr id="12" name="Text 9"/>
          <p:cNvSpPr/>
          <p:nvPr/>
        </p:nvSpPr>
        <p:spPr>
          <a:xfrm>
            <a:off x="8102600" y="5256510"/>
            <a:ext cx="3374898"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3202E"/>
                </a:solidFill>
                <a:latin typeface="Arial" pitchFamily="34" charset="0"/>
                <a:ea typeface="Space Grotesk" pitchFamily="34" charset="-122"/>
                <a:cs typeface="Space Grotesk" pitchFamily="34" charset="-120"/>
              </a:rPr>
              <a:t>5 playas</a:t>
            </a:r>
            <a:endParaRPr lang="en-US" sz="2400" dirty="0"/>
          </a:p>
        </p:txBody>
      </p:sp>
      <p:sp>
        <p:nvSpPr>
          <p:cNvPr id="13" name="Text 10"/>
          <p:cNvSpPr/>
          <p:nvPr/>
        </p:nvSpPr>
        <p:spPr>
          <a:xfrm>
            <a:off x="8102600" y="5617170"/>
            <a:ext cx="337489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868"/>
                </a:solidFill>
                <a:latin typeface="Arial" pitchFamily="34" charset="0"/>
                <a:ea typeface="IBM Plex Sans" pitchFamily="34" charset="-122"/>
                <a:cs typeface="IBM Plex Sans" pitchFamily="34" charset="-120"/>
              </a:rPr>
              <a:t>con capacidad, ocupación y espera medidas entre cámaras</a:t>
            </a:r>
            <a:endParaRPr lang="en-US" sz="1200" dirty="0"/>
          </a:p>
        </p:txBody>
      </p:sp>
      <p:sp>
        <p:nvSpPr>
          <p:cNvPr id="14" name="Text 11"/>
          <p:cNvSpPr/>
          <p:nvPr/>
        </p:nvSpPr>
        <p:spPr>
          <a:xfrm>
            <a:off x="812800" y="6238280"/>
            <a:ext cx="62829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Arial" pitchFamily="34" charset="0"/>
                <a:ea typeface="IBM Plex Sans" pitchFamily="34" charset="-122"/>
                <a:cs typeface="IBM Plex Sans" pitchFamily="34" charset="-120"/>
              </a:rPr>
              <a:t>Captura real del tablero · Ricardone, domingo 27/09, 22:03 · Fuente: histórico de comités</a:t>
            </a:r>
            <a:endParaRPr lang="en-US" sz="1200" dirty="0"/>
          </a:p>
        </p:txBody>
      </p:sp>
      <p:sp>
        <p:nvSpPr>
          <p:cNvPr id="15" name="TextBox 14"/>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04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200"/>
                </a:solidFill>
                <a:latin typeface="Arial" pitchFamily="34" charset="0"/>
                <a:ea typeface="IBM Plex Sans" pitchFamily="34" charset="-122"/>
                <a:cs typeface="IBM Plex Sans" pitchFamily="34" charset="-120"/>
              </a:rPr>
              <a:t>EL DATO</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02E"/>
                </a:solidFill>
                <a:latin typeface="Arial" pitchFamily="34" charset="0"/>
                <a:ea typeface="Space Grotesk" pitchFamily="34" charset="-122"/>
                <a:cs typeface="Space Grotesk" pitchFamily="34" charset="-120"/>
              </a:rPr>
              <a:t>El 73 % del ciclo es espera en las playas</a:t>
            </a:r>
            <a:endParaRPr lang="en-US" sz="3200" dirty="0"/>
          </a:p>
        </p:txBody>
      </p:sp>
      <p:sp>
        <p:nvSpPr>
          <p:cNvPr id="4" name="Text 2"/>
          <p:cNvSpPr/>
          <p:nvPr/>
        </p:nvSpPr>
        <p:spPr>
          <a:xfrm>
            <a:off x="812800" y="1777901"/>
            <a:ext cx="5511904" cy="825500"/>
          </a:xfrm>
          <a:prstGeom prst="rect">
            <a:avLst/>
          </a:prstGeom>
          <a:noFill/>
          <a:ln/>
        </p:spPr>
        <p:txBody>
          <a:bodyPr wrap="none" lIns="0" tIns="0" rIns="0" bIns="0" rtlCol="0" anchor="t">
            <a:normAutofit/>
          </a:bodyPr>
          <a:lstStyle/>
          <a:p>
            <a:pPr algn="l" indent="0" marL="0">
              <a:lnSpc>
                <a:spcPts val="6300"/>
              </a:lnSpc>
              <a:buNone/>
            </a:pPr>
            <a:r>
              <a:rPr lang="en-US" sz="6000" b="1" spc="-150" kern="0" dirty="0">
                <a:solidFill>
                  <a:srgbClr val="13202E"/>
                </a:solidFill>
                <a:latin typeface="Arial" pitchFamily="34" charset="0"/>
                <a:ea typeface="Space Grotesk" pitchFamily="34" charset="-122"/>
                <a:cs typeface="Space Grotesk" pitchFamily="34" charset="-120"/>
              </a:rPr>
              <a:t>245 de 334 min</a:t>
            </a:r>
            <a:endParaRPr lang="en-US" sz="6000" dirty="0"/>
          </a:p>
        </p:txBody>
      </p:sp>
      <p:sp>
        <p:nvSpPr>
          <p:cNvPr id="5" name="Text 3"/>
          <p:cNvSpPr/>
          <p:nvPr/>
        </p:nvSpPr>
        <p:spPr>
          <a:xfrm>
            <a:off x="6468963" y="2009080"/>
            <a:ext cx="50575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868"/>
                </a:solidFill>
                <a:latin typeface="Arial" pitchFamily="34" charset="0"/>
                <a:ea typeface="IBM Plex Sans" pitchFamily="34" charset="-122"/>
                <a:cs typeface="IBM Plex Sans" pitchFamily="34" charset="-120"/>
              </a:rPr>
              <a:t>de espera en playas por camión de soja, en la semana del 10 al 16/09</a:t>
            </a:r>
            <a:endParaRPr lang="en-US" sz="1600" dirty="0"/>
          </a:p>
        </p:txBody>
      </p:sp>
      <p:sp>
        <p:nvSpPr>
          <p:cNvPr id="6" name="Text 4"/>
          <p:cNvSpPr/>
          <p:nvPr/>
        </p:nvSpPr>
        <p:spPr>
          <a:xfrm>
            <a:off x="984250" y="2857401"/>
            <a:ext cx="470916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E"/>
                </a:solidFill>
                <a:latin typeface="Arial" pitchFamily="34" charset="0"/>
                <a:ea typeface="IBM Plex Sans" pitchFamily="34" charset="-122"/>
                <a:cs typeface="IBM Plex Sans" pitchFamily="34" charset="-120"/>
              </a:rPr>
              <a:t>Playa 1</a:t>
            </a:r>
            <a:r>
              <a:rPr lang="en-US" sz="1400" dirty="0">
                <a:solidFill>
                  <a:srgbClr val="13202E"/>
                </a:solidFill>
                <a:latin typeface="Arial" pitchFamily="34" charset="0"/>
                <a:ea typeface="IBM Plex Sans" pitchFamily="34" charset="-122"/>
                <a:cs typeface="IBM Plex Sans" pitchFamily="34" charset="-120"/>
              </a:rPr>
              <a:t> · espera para calar · </a:t>
            </a:r>
            <a:r>
              <a:rPr lang="en-US" sz="1400" b="1" dirty="0">
                <a:solidFill>
                  <a:srgbClr val="13202E"/>
                </a:solidFill>
                <a:latin typeface="Arial" pitchFamily="34" charset="0"/>
                <a:ea typeface="IBM Plex Sans" pitchFamily="34" charset="-122"/>
                <a:cs typeface="IBM Plex Sans" pitchFamily="34" charset="-120"/>
              </a:rPr>
              <a:t>126 min</a:t>
            </a:r>
            <a:endParaRPr lang="en-US" sz="1400" dirty="0"/>
          </a:p>
        </p:txBody>
      </p:sp>
      <p:sp>
        <p:nvSpPr>
          <p:cNvPr id="7" name="Text 5"/>
          <p:cNvSpPr/>
          <p:nvPr/>
        </p:nvSpPr>
        <p:spPr>
          <a:xfrm>
            <a:off x="5695950" y="2857401"/>
            <a:ext cx="575564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E"/>
                </a:solidFill>
                <a:latin typeface="Arial" pitchFamily="34" charset="0"/>
                <a:ea typeface="IBM Plex Sans" pitchFamily="34" charset="-122"/>
                <a:cs typeface="IBM Plex Sans" pitchFamily="34" charset="-120"/>
              </a:rPr>
              <a:t>Playa OSL</a:t>
            </a:r>
            <a:r>
              <a:rPr lang="en-US" sz="1400" dirty="0">
                <a:solidFill>
                  <a:srgbClr val="13202E"/>
                </a:solidFill>
                <a:latin typeface="Arial" pitchFamily="34" charset="0"/>
                <a:ea typeface="IBM Plex Sans" pitchFamily="34" charset="-122"/>
                <a:cs typeface="IBM Plex Sans" pitchFamily="34" charset="-120"/>
              </a:rPr>
              <a:t> · espera en el puerto · </a:t>
            </a:r>
            <a:r>
              <a:rPr lang="en-US" sz="1400" b="1" dirty="0">
                <a:solidFill>
                  <a:srgbClr val="13202E"/>
                </a:solidFill>
                <a:latin typeface="Arial" pitchFamily="34" charset="0"/>
                <a:ea typeface="IBM Plex Sans" pitchFamily="34" charset="-122"/>
                <a:cs typeface="IBM Plex Sans" pitchFamily="34" charset="-120"/>
              </a:rPr>
              <a:t>119 min</a:t>
            </a:r>
            <a:endParaRPr lang="en-US" sz="1400" dirty="0"/>
          </a:p>
        </p:txBody>
      </p:sp>
      <p:sp>
        <p:nvSpPr>
          <p:cNvPr id="8" name="Shape 6"/>
          <p:cNvSpPr/>
          <p:nvPr/>
        </p:nvSpPr>
        <p:spPr>
          <a:xfrm>
            <a:off x="812800" y="3263801"/>
            <a:ext cx="158750" cy="279400"/>
          </a:xfrm>
          <a:prstGeom prst="rect">
            <a:avLst/>
          </a:prstGeom>
          <a:solidFill>
            <a:srgbClr val="7D8B99"/>
          </a:solidFill>
          <a:ln/>
        </p:spPr>
        <p:txBody>
          <a:bodyPr/>
          <a:p/>
        </p:txBody>
      </p:sp>
      <p:sp>
        <p:nvSpPr>
          <p:cNvPr id="9" name="Shape 7"/>
          <p:cNvSpPr/>
          <p:nvPr/>
        </p:nvSpPr>
        <p:spPr>
          <a:xfrm>
            <a:off x="984250" y="3263801"/>
            <a:ext cx="3956050" cy="279400"/>
          </a:xfrm>
          <a:prstGeom prst="rect">
            <a:avLst/>
          </a:prstGeom>
          <a:solidFill>
            <a:srgbClr val="C27A06"/>
          </a:solidFill>
          <a:ln/>
        </p:spPr>
        <p:txBody>
          <a:bodyPr/>
          <a:p/>
        </p:txBody>
      </p:sp>
      <p:sp>
        <p:nvSpPr>
          <p:cNvPr id="10" name="Shape 8"/>
          <p:cNvSpPr/>
          <p:nvPr/>
        </p:nvSpPr>
        <p:spPr>
          <a:xfrm>
            <a:off x="4953000" y="3263801"/>
            <a:ext cx="342900" cy="279400"/>
          </a:xfrm>
          <a:prstGeom prst="rect">
            <a:avLst/>
          </a:prstGeom>
          <a:solidFill>
            <a:srgbClr val="7D8B99"/>
          </a:solidFill>
          <a:ln/>
        </p:spPr>
        <p:txBody>
          <a:bodyPr/>
          <a:p/>
        </p:txBody>
      </p:sp>
      <p:sp>
        <p:nvSpPr>
          <p:cNvPr id="11" name="Shape 9"/>
          <p:cNvSpPr/>
          <p:nvPr/>
        </p:nvSpPr>
        <p:spPr>
          <a:xfrm>
            <a:off x="5308600" y="3263801"/>
            <a:ext cx="374650" cy="279400"/>
          </a:xfrm>
          <a:prstGeom prst="rect">
            <a:avLst/>
          </a:prstGeom>
          <a:solidFill>
            <a:srgbClr val="7D8B99"/>
          </a:solidFill>
          <a:ln/>
        </p:spPr>
        <p:txBody>
          <a:bodyPr/>
          <a:p/>
        </p:txBody>
      </p:sp>
      <p:sp>
        <p:nvSpPr>
          <p:cNvPr id="12" name="Shape 10"/>
          <p:cNvSpPr/>
          <p:nvPr/>
        </p:nvSpPr>
        <p:spPr>
          <a:xfrm>
            <a:off x="5695950" y="3263801"/>
            <a:ext cx="3740150" cy="279400"/>
          </a:xfrm>
          <a:prstGeom prst="rect">
            <a:avLst/>
          </a:prstGeom>
          <a:solidFill>
            <a:srgbClr val="C27A06"/>
          </a:solidFill>
          <a:ln/>
        </p:spPr>
        <p:txBody>
          <a:bodyPr/>
          <a:p/>
        </p:txBody>
      </p:sp>
      <p:sp>
        <p:nvSpPr>
          <p:cNvPr id="13" name="Shape 11"/>
          <p:cNvSpPr/>
          <p:nvPr/>
        </p:nvSpPr>
        <p:spPr>
          <a:xfrm>
            <a:off x="9448800" y="3263801"/>
            <a:ext cx="1320800" cy="279400"/>
          </a:xfrm>
          <a:prstGeom prst="rect">
            <a:avLst/>
          </a:prstGeom>
          <a:solidFill>
            <a:srgbClr val="7D8B99"/>
          </a:solidFill>
          <a:ln/>
        </p:spPr>
        <p:txBody>
          <a:bodyPr/>
          <a:p/>
        </p:txBody>
      </p:sp>
      <p:sp>
        <p:nvSpPr>
          <p:cNvPr id="14" name="Shape 12"/>
          <p:cNvSpPr/>
          <p:nvPr/>
        </p:nvSpPr>
        <p:spPr>
          <a:xfrm>
            <a:off x="10782300" y="3263801"/>
            <a:ext cx="596900" cy="279400"/>
          </a:xfrm>
          <a:custGeom>
            <a:avLst/>
            <a:gdLst/>
            <a:ahLst/>
            <a:cxnLst/>
            <a:rect l="l" t="t" r="r" b="b"/>
            <a:pathLst>
              <a:path w="596900" h="279400">
                <a:moveTo>
                  <a:pt x="0" y="0"/>
                </a:moveTo>
                <a:lnTo>
                  <a:pt x="571500" y="0"/>
                </a:lnTo>
                <a:arcTo hR="25400" wR="25400" stAng="16200000" swAng="5400000"/>
                <a:lnTo>
                  <a:pt x="596900" y="254000"/>
                </a:lnTo>
                <a:arcTo hR="25400" wR="25400" stAng="0" swAng="5400000"/>
                <a:lnTo>
                  <a:pt x="0" y="279400"/>
                </a:lnTo>
                <a:lnTo>
                  <a:pt x="0" y="0"/>
                </a:lnTo>
                <a:close/>
              </a:path>
            </a:pathLst>
          </a:custGeom>
          <a:solidFill>
            <a:srgbClr val="7D8B99"/>
          </a:solidFill>
          <a:ln/>
        </p:spPr>
        <p:txBody>
          <a:bodyPr/>
          <a:p/>
        </p:txBody>
      </p:sp>
      <p:sp>
        <p:nvSpPr>
          <p:cNvPr id="15" name="Text 13"/>
          <p:cNvSpPr/>
          <p:nvPr/>
        </p:nvSpPr>
        <p:spPr>
          <a:xfrm>
            <a:off x="787400" y="3644801"/>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868"/>
                </a:solidFill>
                <a:latin typeface="Arial" pitchFamily="34" charset="0"/>
                <a:ea typeface="IBM Plex Sans" pitchFamily="34" charset="-122"/>
                <a:cs typeface="IBM Plex Sans" pitchFamily="34" charset="-120"/>
              </a:rPr>
              <a:t>5</a:t>
            </a:r>
            <a:endParaRPr lang="en-US" sz="1200" dirty="0"/>
          </a:p>
        </p:txBody>
      </p:sp>
      <p:sp>
        <p:nvSpPr>
          <p:cNvPr id="16" name="Text 14"/>
          <p:cNvSpPr/>
          <p:nvPr/>
        </p:nvSpPr>
        <p:spPr>
          <a:xfrm>
            <a:off x="4972050" y="3644801"/>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868"/>
                </a:solidFill>
                <a:latin typeface="Arial" pitchFamily="34" charset="0"/>
                <a:ea typeface="IBM Plex Sans" pitchFamily="34" charset="-122"/>
                <a:cs typeface="IBM Plex Sans" pitchFamily="34" charset="-120"/>
              </a:rPr>
              <a:t>11</a:t>
            </a:r>
            <a:endParaRPr lang="en-US" sz="1200" dirty="0"/>
          </a:p>
        </p:txBody>
      </p:sp>
      <p:sp>
        <p:nvSpPr>
          <p:cNvPr id="17" name="Text 15"/>
          <p:cNvSpPr/>
          <p:nvPr/>
        </p:nvSpPr>
        <p:spPr>
          <a:xfrm>
            <a:off x="5340350" y="3644801"/>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868"/>
                </a:solidFill>
                <a:latin typeface="Arial" pitchFamily="34" charset="0"/>
                <a:ea typeface="IBM Plex Sans" pitchFamily="34" charset="-122"/>
                <a:cs typeface="IBM Plex Sans" pitchFamily="34" charset="-120"/>
              </a:rPr>
              <a:t>12</a:t>
            </a:r>
            <a:endParaRPr lang="en-US" sz="1200" dirty="0"/>
          </a:p>
        </p:txBody>
      </p:sp>
      <p:sp>
        <p:nvSpPr>
          <p:cNvPr id="18" name="Text 16"/>
          <p:cNvSpPr/>
          <p:nvPr/>
        </p:nvSpPr>
        <p:spPr>
          <a:xfrm>
            <a:off x="9829800" y="3644801"/>
            <a:ext cx="558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868"/>
                </a:solidFill>
                <a:latin typeface="Arial" pitchFamily="34" charset="0"/>
                <a:ea typeface="IBM Plex Sans" pitchFamily="34" charset="-122"/>
                <a:cs typeface="IBM Plex Sans" pitchFamily="34" charset="-120"/>
              </a:rPr>
              <a:t>42</a:t>
            </a:r>
            <a:endParaRPr lang="en-US" sz="1200" dirty="0"/>
          </a:p>
        </p:txBody>
      </p:sp>
      <p:sp>
        <p:nvSpPr>
          <p:cNvPr id="19" name="Text 17"/>
          <p:cNvSpPr/>
          <p:nvPr/>
        </p:nvSpPr>
        <p:spPr>
          <a:xfrm>
            <a:off x="10928350" y="3644801"/>
            <a:ext cx="30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868"/>
                </a:solidFill>
                <a:latin typeface="Arial" pitchFamily="34" charset="0"/>
                <a:ea typeface="IBM Plex Sans" pitchFamily="34" charset="-122"/>
                <a:cs typeface="IBM Plex Sans" pitchFamily="34" charset="-120"/>
              </a:rPr>
              <a:t>19</a:t>
            </a:r>
            <a:endParaRPr lang="en-US" sz="1200" dirty="0"/>
          </a:p>
        </p:txBody>
      </p:sp>
      <p:sp>
        <p:nvSpPr>
          <p:cNvPr id="20" name="Shape 18"/>
          <p:cNvSpPr/>
          <p:nvPr/>
        </p:nvSpPr>
        <p:spPr>
          <a:xfrm>
            <a:off x="812800" y="4099421"/>
            <a:ext cx="177800" cy="177800"/>
          </a:xfrm>
          <a:prstGeom prst="roundRect">
            <a:avLst>
              <a:gd name="adj" fmla="val 21429"/>
            </a:avLst>
          </a:prstGeom>
          <a:solidFill>
            <a:srgbClr val="C27A06"/>
          </a:solidFill>
          <a:ln/>
        </p:spPr>
        <p:txBody>
          <a:bodyPr/>
          <a:p/>
        </p:txBody>
      </p:sp>
      <p:sp>
        <p:nvSpPr>
          <p:cNvPr id="21" name="Text 19"/>
          <p:cNvSpPr/>
          <p:nvPr/>
        </p:nvSpPr>
        <p:spPr>
          <a:xfrm>
            <a:off x="1092200" y="4063901"/>
            <a:ext cx="450129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Arial" pitchFamily="34" charset="0"/>
                <a:ea typeface="IBM Plex Sans" pitchFamily="34" charset="-122"/>
                <a:cs typeface="IBM Plex Sans" pitchFamily="34" charset="-120"/>
              </a:rPr>
              <a:t>Espera en playas: Playa 1 y Playa OSL · 245 min (73 %)</a:t>
            </a:r>
            <a:endParaRPr lang="en-US" sz="1400" dirty="0"/>
          </a:p>
        </p:txBody>
      </p:sp>
      <p:sp>
        <p:nvSpPr>
          <p:cNvPr id="22" name="Shape 20"/>
          <p:cNvSpPr/>
          <p:nvPr/>
        </p:nvSpPr>
        <p:spPr>
          <a:xfrm>
            <a:off x="812800" y="4424462"/>
            <a:ext cx="177800" cy="177800"/>
          </a:xfrm>
          <a:prstGeom prst="roundRect">
            <a:avLst>
              <a:gd name="adj" fmla="val 21429"/>
            </a:avLst>
          </a:prstGeom>
          <a:solidFill>
            <a:srgbClr val="7D8B99"/>
          </a:solidFill>
          <a:ln/>
        </p:spPr>
        <p:txBody>
          <a:bodyPr/>
          <a:p/>
        </p:txBody>
      </p:sp>
      <p:sp>
        <p:nvSpPr>
          <p:cNvPr id="23" name="Text 21"/>
          <p:cNvSpPr/>
          <p:nvPr/>
        </p:nvSpPr>
        <p:spPr>
          <a:xfrm>
            <a:off x="1092200" y="4388941"/>
            <a:ext cx="778145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Arial" pitchFamily="34" charset="0"/>
                <a:ea typeface="IBM Plex Sans" pitchFamily="34" charset="-122"/>
                <a:cs typeface="IBM Plex Sans" pitchFamily="34" charset="-120"/>
              </a:rPr>
              <a:t>Proceso y traslado: ingreso 5 · salida 11 · traslado 12 · descarga 42 · egreso 19 · 89 min (27 %)</a:t>
            </a:r>
            <a:endParaRPr lang="en-US" sz="1400" dirty="0"/>
          </a:p>
        </p:txBody>
      </p:sp>
      <p:sp>
        <p:nvSpPr>
          <p:cNvPr id="25" name="Text 23"/>
          <p:cNvSpPr/>
          <p:nvPr/>
        </p:nvSpPr>
        <p:spPr>
          <a:xfrm>
            <a:off x="812800" y="6238280"/>
            <a:ext cx="76194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Arial" pitchFamily="34" charset="0"/>
                <a:ea typeface="IBM Plex Sans" pitchFamily="34" charset="-122"/>
                <a:cs typeface="IBM Plex Sans" pitchFamily="34" charset="-120"/>
              </a:rPr>
              <a:t>Circuito R7 (soja), semana 10–16/09, 2.557 camiones · Comité de Logística del 18/09 e histórico de comités</a:t>
            </a:r>
            <a:endParaRPr lang="en-US" sz="1200" dirty="0"/>
          </a:p>
        </p:txBody>
      </p:sp>
      <p:graphicFrame>
        <p:nvGraphicFramePr>
          <p:cNvPr id="27" name="Chart 26"/>
          <p:cNvGraphicFramePr>
            <a:graphicFrameLocks noGrp="1"/>
          </p:cNvGraphicFramePr>
          <p:nvPr/>
        </p:nvGraphicFramePr>
        <p:xfrm>
          <a:off x="813816" y="4681728"/>
          <a:ext cx="10570464" cy="1481328"/>
        </p:xfrm>
        <a:graphic>
          <a:graphicData uri="http://schemas.openxmlformats.org/drawingml/2006/chart">
            <c:chart xmlns:c="http://schemas.openxmlformats.org/drawingml/2006/chart" r:id="rId3"/>
          </a:graphicData>
        </a:graphic>
      </p:graphicFrame>
      <p:sp>
        <p:nvSpPr>
          <p:cNvPr id="28" name="TextBox 27"/>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05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EF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FA8"/>
                </a:solidFill>
                <a:latin typeface="Arial" pitchFamily="34" charset="0"/>
                <a:ea typeface="IBM Plex Sans" pitchFamily="34" charset="-122"/>
                <a:cs typeface="IBM Plex Sans" pitchFamily="34" charset="-120"/>
              </a:rPr>
              <a:t>APÉNDICE · EL EVENTO ENRIQUECIDO</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02E"/>
                </a:solidFill>
                <a:latin typeface="Arial" pitchFamily="34" charset="0"/>
                <a:ea typeface="Space Grotesk" pitchFamily="34" charset="-122"/>
                <a:cs typeface="Space Grotesk" pitchFamily="34" charset="-120"/>
              </a:rPr>
              <a:t>Un evento de TruckFlow, enriquecido</a:t>
            </a:r>
            <a:endParaRPr lang="en-US" sz="3200" dirty="0"/>
          </a:p>
        </p:txBody>
      </p:sp>
      <p:sp>
        <p:nvSpPr>
          <p:cNvPr id="4" name="Shape 2"/>
          <p:cNvSpPr/>
          <p:nvPr/>
        </p:nvSpPr>
        <p:spPr>
          <a:xfrm>
            <a:off x="812800" y="1777901"/>
            <a:ext cx="5715000" cy="3285927"/>
          </a:xfrm>
          <a:prstGeom prst="roundRect">
            <a:avLst>
              <a:gd name="adj" fmla="val 3092"/>
            </a:avLst>
          </a:prstGeom>
          <a:solidFill>
            <a:srgbClr val="0E1A2B"/>
          </a:solidFill>
          <a:ln/>
        </p:spPr>
        <p:txBody>
          <a:bodyPr/>
          <a:p/>
        </p:txBody>
      </p:sp>
      <p:sp>
        <p:nvSpPr>
          <p:cNvPr id="5" name="Text 3"/>
          <p:cNvSpPr/>
          <p:nvPr/>
        </p:nvSpPr>
        <p:spPr>
          <a:xfrm>
            <a:off x="1041400" y="1981101"/>
            <a:ext cx="5415534"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EF2F4"/>
                </a:solidFill>
                <a:latin typeface="Consolas" pitchFamily="34" charset="0"/>
                <a:ea typeface="IBM Plex Mono" pitchFamily="34" charset="-122"/>
                <a:cs typeface="IBM Plex Mono" pitchFamily="34" charset="-120"/>
              </a:rPr>
              <a:t>{</a:t>
            </a:r>
            <a:endParaRPr lang="en-US" sz="1200" dirty="0"/>
          </a:p>
        </p:txBody>
      </p:sp>
      <p:sp>
        <p:nvSpPr>
          <p:cNvPr id="6" name="Text 4"/>
          <p:cNvSpPr/>
          <p:nvPr/>
        </p:nvSpPr>
        <p:spPr>
          <a:xfrm>
            <a:off x="1041400" y="2186781"/>
            <a:ext cx="5415534"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EF2F4"/>
                </a:solidFill>
                <a:latin typeface="Consolas" pitchFamily="34" charset="0"/>
                <a:ea typeface="IBM Plex Mono" pitchFamily="34" charset="-122"/>
                <a:cs typeface="IBM Plex Mono" pitchFamily="34" charset="-120"/>
              </a:rPr>
              <a:t>  </a:t>
            </a:r>
            <a:r>
              <a:rPr lang="en-US" sz="1200" dirty="0">
                <a:solidFill>
                  <a:srgbClr val="9FD3F5"/>
                </a:solidFill>
                <a:latin typeface="Consolas" pitchFamily="34" charset="0"/>
                <a:ea typeface="IBM Plex Mono" pitchFamily="34" charset="-122"/>
                <a:cs typeface="IBM Plex Mono" pitchFamily="34" charset="-120"/>
              </a:rPr>
              <a:t>"journeyUid"</a:t>
            </a:r>
            <a:r>
              <a:rPr lang="en-US" sz="1200" dirty="0">
                <a:solidFill>
                  <a:srgbClr val="EEF2F4"/>
                </a:solidFill>
                <a:latin typeface="Consolas" pitchFamily="34" charset="0"/>
                <a:ea typeface="IBM Plex Mono" pitchFamily="34" charset="-122"/>
                <a:cs typeface="IBM Plex Mono" pitchFamily="34" charset="-120"/>
              </a:rPr>
              <a:t>: "540e…dd64",</a:t>
            </a:r>
            <a:endParaRPr lang="en-US" sz="1200" dirty="0"/>
          </a:p>
        </p:txBody>
      </p:sp>
      <p:sp>
        <p:nvSpPr>
          <p:cNvPr id="7" name="Text 5"/>
          <p:cNvSpPr/>
          <p:nvPr/>
        </p:nvSpPr>
        <p:spPr>
          <a:xfrm>
            <a:off x="1041400" y="2392462"/>
            <a:ext cx="5415534"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EF2F4"/>
                </a:solidFill>
                <a:latin typeface="Consolas" pitchFamily="34" charset="0"/>
                <a:ea typeface="IBM Plex Mono" pitchFamily="34" charset="-122"/>
                <a:cs typeface="IBM Plex Mono" pitchFamily="34" charset="-120"/>
              </a:rPr>
              <a:t>  </a:t>
            </a:r>
            <a:r>
              <a:rPr lang="en-US" sz="1200" dirty="0">
                <a:solidFill>
                  <a:srgbClr val="9FD3F5"/>
                </a:solidFill>
                <a:latin typeface="Consolas" pitchFamily="34" charset="0"/>
                <a:ea typeface="IBM Plex Mono" pitchFamily="34" charset="-122"/>
                <a:cs typeface="IBM Plex Mono" pitchFamily="34" charset="-120"/>
              </a:rPr>
              <a:t>"eventType"</a:t>
            </a:r>
            <a:r>
              <a:rPr lang="en-US" sz="1200" dirty="0">
                <a:solidFill>
                  <a:srgbClr val="EEF2F4"/>
                </a:solidFill>
                <a:latin typeface="Consolas" pitchFamily="34" charset="0"/>
                <a:ea typeface="IBM Plex Mono" pitchFamily="34" charset="-122"/>
                <a:cs typeface="IBM Plex Mono" pitchFamily="34" charset="-120"/>
              </a:rPr>
              <a:t>: "sector_entered",</a:t>
            </a:r>
            <a:endParaRPr lang="en-US" sz="1200" dirty="0"/>
          </a:p>
        </p:txBody>
      </p:sp>
      <p:sp>
        <p:nvSpPr>
          <p:cNvPr id="8" name="Text 6"/>
          <p:cNvSpPr/>
          <p:nvPr/>
        </p:nvSpPr>
        <p:spPr>
          <a:xfrm>
            <a:off x="1041400" y="2598142"/>
            <a:ext cx="5415534"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EF2F4"/>
                </a:solidFill>
                <a:latin typeface="Consolas" pitchFamily="34" charset="0"/>
                <a:ea typeface="IBM Plex Mono" pitchFamily="34" charset="-122"/>
                <a:cs typeface="IBM Plex Mono" pitchFamily="34" charset="-120"/>
              </a:rPr>
              <a:t>  </a:t>
            </a:r>
            <a:r>
              <a:rPr lang="en-US" sz="1200" dirty="0">
                <a:solidFill>
                  <a:srgbClr val="9FD3F5"/>
                </a:solidFill>
                <a:latin typeface="Consolas" pitchFamily="34" charset="0"/>
                <a:ea typeface="IBM Plex Mono" pitchFamily="34" charset="-122"/>
                <a:cs typeface="IBM Plex Mono" pitchFamily="34" charset="-120"/>
              </a:rPr>
              <a:t>"occurredAt"</a:t>
            </a:r>
            <a:r>
              <a:rPr lang="en-US" sz="1200" dirty="0">
                <a:solidFill>
                  <a:srgbClr val="EEF2F4"/>
                </a:solidFill>
                <a:latin typeface="Consolas" pitchFamily="34" charset="0"/>
                <a:ea typeface="IBM Plex Mono" pitchFamily="34" charset="-122"/>
                <a:cs typeface="IBM Plex Mono" pitchFamily="34" charset="-120"/>
              </a:rPr>
              <a:t>: "2026-09-16T07:49:16",</a:t>
            </a:r>
            <a:endParaRPr lang="en-US" sz="1200" dirty="0"/>
          </a:p>
        </p:txBody>
      </p:sp>
      <p:sp>
        <p:nvSpPr>
          <p:cNvPr id="9" name="Text 7"/>
          <p:cNvSpPr/>
          <p:nvPr/>
        </p:nvSpPr>
        <p:spPr>
          <a:xfrm>
            <a:off x="1041400" y="2803823"/>
            <a:ext cx="5415534"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EF2F4"/>
                </a:solidFill>
                <a:latin typeface="Consolas" pitchFamily="34" charset="0"/>
                <a:ea typeface="IBM Plex Mono" pitchFamily="34" charset="-122"/>
                <a:cs typeface="IBM Plex Mono" pitchFamily="34" charset="-120"/>
              </a:rPr>
              <a:t>  </a:t>
            </a:r>
            <a:r>
              <a:rPr lang="en-US" sz="1200" dirty="0">
                <a:solidFill>
                  <a:srgbClr val="9FD3F5"/>
                </a:solidFill>
                <a:latin typeface="Consolas" pitchFamily="34" charset="0"/>
                <a:ea typeface="IBM Plex Mono" pitchFamily="34" charset="-122"/>
                <a:cs typeface="IBM Plex Mono" pitchFamily="34" charset="-120"/>
              </a:rPr>
              <a:t>"truckPlate"</a:t>
            </a:r>
            <a:r>
              <a:rPr lang="en-US" sz="1200" dirty="0">
                <a:solidFill>
                  <a:srgbClr val="EEF2F4"/>
                </a:solidFill>
                <a:latin typeface="Consolas" pitchFamily="34" charset="0"/>
                <a:ea typeface="IBM Plex Mono" pitchFamily="34" charset="-122"/>
                <a:cs typeface="IBM Plex Mono" pitchFamily="34" charset="-120"/>
              </a:rPr>
              <a:t>: "AB123CD",</a:t>
            </a:r>
            <a:endParaRPr lang="en-US" sz="1200" dirty="0"/>
          </a:p>
        </p:txBody>
      </p:sp>
      <p:sp>
        <p:nvSpPr>
          <p:cNvPr id="10" name="Text 8"/>
          <p:cNvSpPr/>
          <p:nvPr/>
        </p:nvSpPr>
        <p:spPr>
          <a:xfrm>
            <a:off x="1041400" y="3009503"/>
            <a:ext cx="5415534"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EF2F4"/>
                </a:solidFill>
                <a:latin typeface="Consolas" pitchFamily="34" charset="0"/>
                <a:ea typeface="IBM Plex Mono" pitchFamily="34" charset="-122"/>
                <a:cs typeface="IBM Plex Mono" pitchFamily="34" charset="-120"/>
              </a:rPr>
              <a:t>  </a:t>
            </a:r>
            <a:r>
              <a:rPr lang="en-US" sz="1200" dirty="0">
                <a:solidFill>
                  <a:srgbClr val="9FD3F5"/>
                </a:solidFill>
                <a:latin typeface="Consolas" pitchFamily="34" charset="0"/>
                <a:ea typeface="IBM Plex Mono" pitchFamily="34" charset="-122"/>
                <a:cs typeface="IBM Plex Mono" pitchFamily="34" charset="-120"/>
              </a:rPr>
              <a:t>"sectorCode"</a:t>
            </a:r>
            <a:r>
              <a:rPr lang="en-US" sz="1200" dirty="0">
                <a:solidFill>
                  <a:srgbClr val="EEF2F4"/>
                </a:solidFill>
                <a:latin typeface="Consolas" pitchFamily="34" charset="0"/>
                <a:ea typeface="IBM Plex Mono" pitchFamily="34" charset="-122"/>
                <a:cs typeface="IBM Plex Mono" pitchFamily="34" charset="-120"/>
              </a:rPr>
              <a:t>: "2-S2",</a:t>
            </a:r>
            <a:endParaRPr lang="en-US" sz="1200" dirty="0"/>
          </a:p>
        </p:txBody>
      </p:sp>
      <p:sp>
        <p:nvSpPr>
          <p:cNvPr id="11" name="Text 9"/>
          <p:cNvSpPr/>
          <p:nvPr/>
        </p:nvSpPr>
        <p:spPr>
          <a:xfrm>
            <a:off x="1041400" y="3215184"/>
            <a:ext cx="5415534"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EF2F4"/>
                </a:solidFill>
                <a:latin typeface="Consolas" pitchFamily="34" charset="0"/>
                <a:ea typeface="IBM Plex Mono" pitchFamily="34" charset="-122"/>
                <a:cs typeface="IBM Plex Mono" pitchFamily="34" charset="-120"/>
              </a:rPr>
              <a:t>  </a:t>
            </a:r>
            <a:r>
              <a:rPr lang="en-US" sz="1200" dirty="0">
                <a:solidFill>
                  <a:srgbClr val="9FD3F5"/>
                </a:solidFill>
                <a:latin typeface="Consolas" pitchFamily="34" charset="0"/>
                <a:ea typeface="IBM Plex Mono" pitchFamily="34" charset="-122"/>
                <a:cs typeface="IBM Plex Mono" pitchFamily="34" charset="-120"/>
              </a:rPr>
              <a:t>"deviceCode"</a:t>
            </a:r>
            <a:r>
              <a:rPr lang="en-US" sz="1200" dirty="0">
                <a:solidFill>
                  <a:srgbClr val="EEF2F4"/>
                </a:solidFill>
                <a:latin typeface="Consolas" pitchFamily="34" charset="0"/>
                <a:ea typeface="IBM Plex Mono" pitchFamily="34" charset="-122"/>
                <a:cs typeface="IBM Plex Mono" pitchFamily="34" charset="-120"/>
              </a:rPr>
              <a:t>: "RicCal03",</a:t>
            </a:r>
            <a:endParaRPr lang="en-US" sz="1200" dirty="0"/>
          </a:p>
        </p:txBody>
      </p:sp>
      <p:sp>
        <p:nvSpPr>
          <p:cNvPr id="12" name="Text 10"/>
          <p:cNvSpPr/>
          <p:nvPr/>
        </p:nvSpPr>
        <p:spPr>
          <a:xfrm>
            <a:off x="1041400" y="3420864"/>
            <a:ext cx="5415534"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EF2F4"/>
                </a:solidFill>
                <a:latin typeface="Consolas" pitchFamily="34" charset="0"/>
                <a:ea typeface="IBM Plex Mono" pitchFamily="34" charset="-122"/>
                <a:cs typeface="IBM Plex Mono" pitchFamily="34" charset="-120"/>
              </a:rPr>
              <a:t>  </a:t>
            </a:r>
            <a:r>
              <a:rPr lang="en-US" sz="1200" dirty="0">
                <a:solidFill>
                  <a:srgbClr val="F2C66D"/>
                </a:solidFill>
                <a:latin typeface="Consolas" pitchFamily="34" charset="0"/>
                <a:ea typeface="IBM Plex Mono" pitchFamily="34" charset="-122"/>
                <a:cs typeface="IBM Plex Mono" pitchFamily="34" charset="-120"/>
              </a:rPr>
              <a:t>"movimiento": {</a:t>
            </a:r>
            <a:endParaRPr lang="en-US" sz="1200" dirty="0"/>
          </a:p>
        </p:txBody>
      </p:sp>
      <p:sp>
        <p:nvSpPr>
          <p:cNvPr id="13" name="Text 11"/>
          <p:cNvSpPr/>
          <p:nvPr/>
        </p:nvSpPr>
        <p:spPr>
          <a:xfrm>
            <a:off x="1041400" y="3626545"/>
            <a:ext cx="5415534"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EF2F4"/>
                </a:solidFill>
                <a:latin typeface="Consolas" pitchFamily="34" charset="0"/>
                <a:ea typeface="IBM Plex Mono" pitchFamily="34" charset="-122"/>
                <a:cs typeface="IBM Plex Mono" pitchFamily="34" charset="-120"/>
              </a:rPr>
              <a:t>    </a:t>
            </a:r>
            <a:r>
              <a:rPr lang="en-US" sz="1200" dirty="0">
                <a:solidFill>
                  <a:srgbClr val="F2C66D"/>
                </a:solidFill>
                <a:latin typeface="Consolas" pitchFamily="34" charset="0"/>
                <a:ea typeface="IBM Plex Mono" pitchFamily="34" charset="-122"/>
                <a:cs typeface="IBM Plex Mono" pitchFamily="34" charset="-120"/>
              </a:rPr>
              <a:t>"nroIngreso": "…", "contrato": "…",</a:t>
            </a:r>
            <a:endParaRPr lang="en-US" sz="1200" dirty="0"/>
          </a:p>
        </p:txBody>
      </p:sp>
      <p:sp>
        <p:nvSpPr>
          <p:cNvPr id="14" name="Text 12"/>
          <p:cNvSpPr/>
          <p:nvPr/>
        </p:nvSpPr>
        <p:spPr>
          <a:xfrm>
            <a:off x="1041400" y="3832225"/>
            <a:ext cx="5415534"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EF2F4"/>
                </a:solidFill>
                <a:latin typeface="Consolas" pitchFamily="34" charset="0"/>
                <a:ea typeface="IBM Plex Mono" pitchFamily="34" charset="-122"/>
                <a:cs typeface="IBM Plex Mono" pitchFamily="34" charset="-120"/>
              </a:rPr>
              <a:t>    </a:t>
            </a:r>
            <a:r>
              <a:rPr lang="en-US" sz="1200" dirty="0">
                <a:solidFill>
                  <a:srgbClr val="F2C66D"/>
                </a:solidFill>
                <a:latin typeface="Consolas" pitchFamily="34" charset="0"/>
                <a:ea typeface="IBM Plex Mono" pitchFamily="34" charset="-122"/>
                <a:cs typeface="IBM Plex Mono" pitchFamily="34" charset="-120"/>
              </a:rPr>
              <a:t>"cupo": "…", "producto": "SOJA",</a:t>
            </a:r>
            <a:endParaRPr lang="en-US" sz="1200" dirty="0"/>
          </a:p>
        </p:txBody>
      </p:sp>
      <p:sp>
        <p:nvSpPr>
          <p:cNvPr id="15" name="Text 13"/>
          <p:cNvSpPr/>
          <p:nvPr/>
        </p:nvSpPr>
        <p:spPr>
          <a:xfrm>
            <a:off x="1041400" y="4037905"/>
            <a:ext cx="5415534"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EF2F4"/>
                </a:solidFill>
                <a:latin typeface="Consolas" pitchFamily="34" charset="0"/>
                <a:ea typeface="IBM Plex Mono" pitchFamily="34" charset="-122"/>
                <a:cs typeface="IBM Plex Mono" pitchFamily="34" charset="-120"/>
              </a:rPr>
              <a:t>    </a:t>
            </a:r>
            <a:r>
              <a:rPr lang="en-US" sz="1200" dirty="0">
                <a:solidFill>
                  <a:srgbClr val="F2C66D"/>
                </a:solidFill>
                <a:latin typeface="Consolas" pitchFamily="34" charset="0"/>
                <a:ea typeface="IBM Plex Mono" pitchFamily="34" charset="-122"/>
                <a:cs typeface="IBM Plex Mono" pitchFamily="34" charset="-120"/>
              </a:rPr>
              <a:t>"plataforma": "VOLCABLE_1"</a:t>
            </a:r>
            <a:endParaRPr lang="en-US" sz="1200" dirty="0"/>
          </a:p>
        </p:txBody>
      </p:sp>
      <p:sp>
        <p:nvSpPr>
          <p:cNvPr id="16" name="Text 14"/>
          <p:cNvSpPr/>
          <p:nvPr/>
        </p:nvSpPr>
        <p:spPr>
          <a:xfrm>
            <a:off x="1041400" y="4243586"/>
            <a:ext cx="5415534"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EF2F4"/>
                </a:solidFill>
                <a:latin typeface="Consolas" pitchFamily="34" charset="0"/>
                <a:ea typeface="IBM Plex Mono" pitchFamily="34" charset="-122"/>
                <a:cs typeface="IBM Plex Mono" pitchFamily="34" charset="-120"/>
              </a:rPr>
              <a:t>  </a:t>
            </a:r>
            <a:r>
              <a:rPr lang="en-US" sz="1200" dirty="0">
                <a:solidFill>
                  <a:srgbClr val="F2C66D"/>
                </a:solidFill>
                <a:latin typeface="Consolas" pitchFamily="34" charset="0"/>
                <a:ea typeface="IBM Plex Mono" pitchFamily="34" charset="-122"/>
                <a:cs typeface="IBM Plex Mono" pitchFamily="34" charset="-120"/>
              </a:rPr>
              <a:t>},</a:t>
            </a:r>
            <a:endParaRPr lang="en-US" sz="1200" dirty="0"/>
          </a:p>
        </p:txBody>
      </p:sp>
      <p:sp>
        <p:nvSpPr>
          <p:cNvPr id="17" name="Text 15"/>
          <p:cNvSpPr/>
          <p:nvPr/>
        </p:nvSpPr>
        <p:spPr>
          <a:xfrm>
            <a:off x="1041400" y="4449266"/>
            <a:ext cx="5415534"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EF2F4"/>
                </a:solidFill>
                <a:latin typeface="Consolas" pitchFamily="34" charset="0"/>
                <a:ea typeface="IBM Plex Mono" pitchFamily="34" charset="-122"/>
                <a:cs typeface="IBM Plex Mono" pitchFamily="34" charset="-120"/>
              </a:rPr>
              <a:t>  "confirmacion": { "fuentes": 2, "ok": true }</a:t>
            </a:r>
            <a:r>
              <a:rPr lang="en-US" sz="1200" dirty="0">
                <a:solidFill>
                  <a:srgbClr val="F2C66D"/>
                </a:solidFill>
                <a:latin typeface="Consolas" pitchFamily="34" charset="0"/>
                <a:ea typeface="IBM Plex Mono" pitchFamily="34" charset="-122"/>
                <a:cs typeface="IBM Plex Mono" pitchFamily="34" charset="-120"/>
              </a:rPr>
              <a:t/>
            </a:r>
            <a:endParaRPr lang="en-US" sz="1200" dirty="0"/>
          </a:p>
        </p:txBody>
      </p:sp>
      <p:sp>
        <p:nvSpPr>
          <p:cNvPr id="18" name="Text 16"/>
          <p:cNvSpPr/>
          <p:nvPr/>
        </p:nvSpPr>
        <p:spPr>
          <a:xfrm>
            <a:off x="1041400" y="4654947"/>
            <a:ext cx="5415534" cy="231080"/>
          </a:xfrm>
          <a:prstGeom prst="rect">
            <a:avLst/>
          </a:prstGeom>
          <a:noFill/>
          <a:ln/>
        </p:spPr>
        <p:txBody>
          <a:bodyPr wrap="none" lIns="0" tIns="0" rIns="0" bIns="0" rtlCol="0" anchor="t">
            <a:normAutofit/>
          </a:bodyPr>
          <a:lstStyle/>
          <a:p>
            <a:pPr algn="l" indent="0" marL="0">
              <a:lnSpc>
                <a:spcPts val="1620"/>
              </a:lnSpc>
              <a:buNone/>
            </a:pPr>
            <a:r>
              <a:rPr lang="en-US" sz="1200" dirty="0">
                <a:solidFill>
                  <a:srgbClr val="EEF2F4"/>
                </a:solidFill>
                <a:latin typeface="Consolas" pitchFamily="34" charset="0"/>
                <a:ea typeface="IBM Plex Mono" pitchFamily="34" charset="-122"/>
                <a:cs typeface="IBM Plex Mono" pitchFamily="34" charset="-120"/>
              </a:rPr>
              <a:t>}</a:t>
            </a:r>
            <a:endParaRPr lang="en-US" sz="1200" dirty="0"/>
          </a:p>
        </p:txBody>
      </p:sp>
      <p:sp>
        <p:nvSpPr>
          <p:cNvPr id="19" name="Text 17"/>
          <p:cNvSpPr/>
          <p:nvPr/>
        </p:nvSpPr>
        <p:spPr>
          <a:xfrm>
            <a:off x="6781800" y="1777901"/>
            <a:ext cx="473532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FA8"/>
                </a:solidFill>
                <a:latin typeface="Arial" pitchFamily="34" charset="0"/>
                <a:ea typeface="IBM Plex Sans" pitchFamily="34" charset="-122"/>
                <a:cs typeface="IBM Plex Sans" pitchFamily="34" charset="-120"/>
              </a:rPr>
              <a:t>LO QUE MANDA TRUCKFLOW</a:t>
            </a:r>
            <a:endParaRPr lang="en-US" sz="1200" dirty="0"/>
          </a:p>
        </p:txBody>
      </p:sp>
      <p:sp>
        <p:nvSpPr>
          <p:cNvPr id="20" name="Text 18"/>
          <p:cNvSpPr/>
          <p:nvPr/>
        </p:nvSpPr>
        <p:spPr>
          <a:xfrm>
            <a:off x="6781800" y="2042021"/>
            <a:ext cx="473532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E"/>
                </a:solidFill>
                <a:latin typeface="Arial" pitchFamily="34" charset="0"/>
                <a:ea typeface="IBM Plex Sans" pitchFamily="34" charset="-122"/>
                <a:cs typeface="IBM Plex Sans" pitchFamily="34" charset="-120"/>
              </a:rPr>
              <a:t>patente, nodo, cámara, hora y viaje: cada paso del camión, solo y en segundos.</a:t>
            </a:r>
            <a:endParaRPr lang="en-US" sz="1300" dirty="0"/>
          </a:p>
        </p:txBody>
      </p:sp>
      <p:sp>
        <p:nvSpPr>
          <p:cNvPr id="21" name="Text 19"/>
          <p:cNvSpPr/>
          <p:nvPr/>
        </p:nvSpPr>
        <p:spPr>
          <a:xfrm>
            <a:off x="6781800" y="2665512"/>
            <a:ext cx="473532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200"/>
                </a:solidFill>
                <a:latin typeface="Arial" pitchFamily="34" charset="0"/>
                <a:ea typeface="IBM Plex Sans" pitchFamily="34" charset="-122"/>
                <a:cs typeface="IBM Plex Sans" pitchFamily="34" charset="-120"/>
              </a:rPr>
              <a:t>LO QUE SUMA EL SISTEMA DE CAMIONES</a:t>
            </a:r>
            <a:endParaRPr lang="en-US" sz="1200" dirty="0"/>
          </a:p>
        </p:txBody>
      </p:sp>
      <p:sp>
        <p:nvSpPr>
          <p:cNvPr id="22" name="Text 20"/>
          <p:cNvSpPr/>
          <p:nvPr/>
        </p:nvSpPr>
        <p:spPr>
          <a:xfrm>
            <a:off x="6781800" y="2929632"/>
            <a:ext cx="473532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E"/>
                </a:solidFill>
                <a:latin typeface="Arial" pitchFamily="34" charset="0"/>
                <a:ea typeface="IBM Plex Sans" pitchFamily="34" charset="-122"/>
                <a:cs typeface="IBM Plex Sans" pitchFamily="34" charset="-120"/>
              </a:rPr>
              <a:t>contrato, cupo, producto y plataforma, cruzados por patente, horario y número de ingreso.</a:t>
            </a:r>
            <a:endParaRPr lang="en-US" sz="1300" dirty="0"/>
          </a:p>
        </p:txBody>
      </p:sp>
      <p:sp>
        <p:nvSpPr>
          <p:cNvPr id="23" name="Text 21"/>
          <p:cNvSpPr/>
          <p:nvPr/>
        </p:nvSpPr>
        <p:spPr>
          <a:xfrm>
            <a:off x="6781800" y="3553123"/>
            <a:ext cx="473532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5638"/>
                </a:solidFill>
                <a:latin typeface="Arial" pitchFamily="34" charset="0"/>
                <a:ea typeface="IBM Plex Sans" pitchFamily="34" charset="-122"/>
                <a:cs typeface="IBM Plex Sans" pitchFamily="34" charset="-120"/>
              </a:rPr>
              <a:t>LO QUE PERMITE</a:t>
            </a:r>
            <a:endParaRPr lang="en-US" sz="1200" dirty="0"/>
          </a:p>
        </p:txBody>
      </p:sp>
      <p:sp>
        <p:nvSpPr>
          <p:cNvPr id="24" name="Text 22"/>
          <p:cNvSpPr/>
          <p:nvPr/>
        </p:nvSpPr>
        <p:spPr>
          <a:xfrm>
            <a:off x="6781800" y="3817243"/>
            <a:ext cx="4735322" cy="949722"/>
          </a:xfrm>
          <a:prstGeom prst="rect">
            <a:avLst/>
          </a:prstGeom>
          <a:noFill/>
          <a:ln/>
        </p:spPr>
        <p:txBody>
          <a:bodyPr wrap="square" lIns="0" tIns="0" rIns="0" bIns="0" rtlCol="0" anchor="t">
            <a:normAutofit/>
          </a:bodyPr>
          <a:lstStyle/>
          <a:p>
            <a:pPr algn="l" marL="198120" indent="-168656">
              <a:lnSpc>
                <a:spcPts val="1820"/>
              </a:lnSpc>
              <a:buSzPct val="100000"/>
              <a:buChar char="•"/>
            </a:pPr>
            <a:r>
              <a:rPr lang="en-US" sz="1300" dirty="0">
                <a:solidFill>
                  <a:srgbClr val="13202E"/>
                </a:solidFill>
                <a:latin typeface="Arial" pitchFamily="34" charset="0"/>
                <a:ea typeface="IBM Plex Sans" pitchFamily="34" charset="-122"/>
                <a:cs typeface="IBM Plex Sans" pitchFamily="34" charset="-120"/>
              </a:rPr>
              <a:t>Saber si va al destino asignado</a:t>
            </a:r>
            <a:endParaRPr lang="en-US" sz="1300" dirty="0"/>
          </a:p>
          <a:p>
            <a:pPr algn="l" marL="198120" indent="-168656">
              <a:lnSpc>
                <a:spcPts val="1820"/>
              </a:lnSpc>
              <a:buSzPct val="100000"/>
              <a:buChar char="•"/>
            </a:pPr>
            <a:r>
              <a:rPr lang="en-US" sz="1300" dirty="0">
                <a:solidFill>
                  <a:srgbClr val="13202E"/>
                </a:solidFill>
                <a:latin typeface="Arial" pitchFamily="34" charset="0"/>
                <a:ea typeface="IBM Plex Sans" pitchFamily="34" charset="-122"/>
                <a:cs typeface="IBM Plex Sans" pitchFamily="34" charset="-120"/>
              </a:rPr>
              <a:t>Medir la espera por contrato o cliente</a:t>
            </a:r>
            <a:endParaRPr lang="en-US" sz="1300" dirty="0"/>
          </a:p>
          <a:p>
            <a:pPr algn="l" marL="198120" indent="-168656">
              <a:lnSpc>
                <a:spcPts val="1820"/>
              </a:lnSpc>
              <a:buSzPct val="100000"/>
              <a:buChar char="•"/>
            </a:pPr>
            <a:r>
              <a:rPr lang="en-US" sz="1300" dirty="0">
                <a:solidFill>
                  <a:srgbClr val="13202E"/>
                </a:solidFill>
                <a:latin typeface="Arial" pitchFamily="34" charset="0"/>
                <a:ea typeface="IBM Plex Sans" pitchFamily="34" charset="-122"/>
                <a:cs typeface="IBM Plex Sans" pitchFamily="34" charset="-120"/>
              </a:rPr>
              <a:t>Alertar si entra sin cupo</a:t>
            </a:r>
            <a:endParaRPr lang="en-US" sz="1300" dirty="0"/>
          </a:p>
          <a:p>
            <a:pPr algn="l" marL="198120" indent="-168656">
              <a:lnSpc>
                <a:spcPts val="1820"/>
              </a:lnSpc>
              <a:buSzPct val="100000"/>
              <a:buChar char="•"/>
            </a:pPr>
            <a:r>
              <a:rPr lang="en-US" sz="1300" dirty="0">
                <a:solidFill>
                  <a:srgbClr val="13202E"/>
                </a:solidFill>
                <a:latin typeface="Arial" pitchFamily="34" charset="0"/>
                <a:ea typeface="IBM Plex Sans" pitchFamily="34" charset="-122"/>
                <a:cs typeface="IBM Plex Sans" pitchFamily="34" charset="-120"/>
              </a:rPr>
              <a:t>Confirmar cada paso con dos fuentes</a:t>
            </a:r>
            <a:endParaRPr lang="en-US" sz="1300" dirty="0"/>
          </a:p>
        </p:txBody>
      </p:sp>
      <p:sp>
        <p:nvSpPr>
          <p:cNvPr id="25" name="Text 23"/>
          <p:cNvSpPr/>
          <p:nvPr/>
        </p:nvSpPr>
        <p:spPr>
          <a:xfrm>
            <a:off x="812800" y="6238280"/>
            <a:ext cx="82456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6"/>
                </a:solidFill>
                <a:latin typeface="Arial" pitchFamily="34" charset="0"/>
                <a:ea typeface="IBM Plex Sans" pitchFamily="34" charset="-122"/>
                <a:cs typeface="IBM Plex Sans" pitchFamily="34" charset="-120"/>
              </a:rPr>
              <a:t>Campos reales del evento de TruckFlow y del Excel de movimientos · valores de ejemplo · en amarillo, lo que se suma</a:t>
            </a:r>
            <a:endParaRPr lang="en-US" sz="1200" dirty="0"/>
          </a:p>
        </p:txBody>
      </p:sp>
      <p:sp>
        <p:nvSpPr>
          <p:cNvPr id="26" name="TextBox 25"/>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19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A2B"/>
        </a:solidFill>
      </p:bgPr>
    </p:bg>
    <p:spTree>
      <p:nvGrpSpPr>
        <p:cNvPr id="1" name=""/>
        <p:cNvGrpSpPr/>
        <p:nvPr/>
      </p:nvGrpSpPr>
      <p:grpSpPr>
        <a:xfrm>
          <a:off x="0" y="0"/>
          <a:ext cx="0" cy="0"/>
          <a:chOff x="0" y="0"/>
          <a:chExt cx="0" cy="0"/>
        </a:xfrm>
      </p:grpSpPr>
      <p:pic>
        <p:nvPicPr>
          <p:cNvPr id="2" name="Image 0" descr="BIMtrazer">    </p:cNvPr>
          <p:cNvPicPr>
            <a:picLocks noChangeAspect="1"/>
          </p:cNvPicPr>
          <p:nvPr/>
        </p:nvPicPr>
        <p:blipFill>
          <a:blip r:embed="rId1"/>
          <a:srcRect l="0" r="0" t="-392" b="-392"/>
          <a:stretch/>
        </p:blipFill>
        <p:spPr>
          <a:xfrm>
            <a:off x="812800" y="844550"/>
            <a:ext cx="1206500" cy="571500"/>
          </a:xfrm>
          <a:prstGeom prst="rect">
            <a:avLst/>
          </a:prstGeom>
        </p:spPr>
      </p:pic>
      <p:sp>
        <p:nvSpPr>
          <p:cNvPr id="3" name="Shape 0"/>
          <p:cNvSpPr/>
          <p:nvPr/>
        </p:nvSpPr>
        <p:spPr>
          <a:xfrm>
            <a:off x="2273300" y="901700"/>
            <a:ext cx="12700" cy="457200"/>
          </a:xfrm>
          <a:prstGeom prst="rect">
            <a:avLst/>
          </a:prstGeom>
          <a:solidFill>
            <a:srgbClr val="EEF2F4">
              <a:alpha val="25000"/>
            </a:srgbClr>
          </a:solidFill>
          <a:ln/>
        </p:spPr>
        <p:txBody>
          <a:bodyPr/>
          <a:p/>
        </p:txBody>
      </p:sp>
      <p:pic>
        <p:nvPicPr>
          <p:cNvPr id="4" name="Image 1" descr="Nueva Vicentin Argentina">    </p:cNvPr>
          <p:cNvPicPr>
            <a:picLocks noChangeAspect="1"/>
          </p:cNvPicPr>
          <p:nvPr/>
        </p:nvPicPr>
        <p:blipFill>
          <a:blip r:embed="rId2"/>
          <a:srcRect l="-836" r="-836" t="0" b="0"/>
          <a:stretch/>
        </p:blipFill>
        <p:spPr>
          <a:xfrm>
            <a:off x="2540000" y="812800"/>
            <a:ext cx="1206500" cy="635000"/>
          </a:xfrm>
          <a:prstGeom prst="rect">
            <a:avLst/>
          </a:prstGeom>
        </p:spPr>
      </p:pic>
      <p:sp>
        <p:nvSpPr>
          <p:cNvPr id="5" name="Text 1"/>
          <p:cNvSpPr/>
          <p:nvPr/>
        </p:nvSpPr>
        <p:spPr>
          <a:xfrm>
            <a:off x="812800" y="2252464"/>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6CC1F2"/>
                </a:solidFill>
                <a:latin typeface="Arial" pitchFamily="34" charset="0"/>
                <a:ea typeface="IBM Plex Sans" pitchFamily="34" charset="-122"/>
                <a:cs typeface="IBM Plex Sans" pitchFamily="34" charset="-120"/>
              </a:rPr>
              <a:t>PRÓXIMO PASO</a:t>
            </a:r>
            <a:endParaRPr lang="en-US" sz="1400" dirty="0"/>
          </a:p>
        </p:txBody>
      </p:sp>
      <p:sp>
        <p:nvSpPr>
          <p:cNvPr id="6" name="Text 2"/>
          <p:cNvSpPr/>
          <p:nvPr/>
        </p:nvSpPr>
        <p:spPr>
          <a:xfrm>
            <a:off x="812800" y="2755305"/>
            <a:ext cx="9810750" cy="1143000"/>
          </a:xfrm>
          <a:prstGeom prst="rect">
            <a:avLst/>
          </a:prstGeom>
          <a:noFill/>
          <a:ln/>
        </p:spPr>
        <p:txBody>
          <a:bodyPr wrap="square" lIns="0" tIns="0" rIns="0" bIns="0" rtlCol="0" anchor="t">
            <a:normAutofit/>
          </a:bodyPr>
          <a:lstStyle/>
          <a:p>
            <a:pPr algn="l" indent="0" marL="0">
              <a:lnSpc>
                <a:spcPts val="4400"/>
              </a:lnSpc>
              <a:buNone/>
            </a:pPr>
            <a:r>
              <a:rPr lang="en-US" sz="4000" b="1" spc="-100" kern="0" dirty="0">
                <a:solidFill>
                  <a:srgbClr val="EEF2F4"/>
                </a:solidFill>
                <a:latin typeface="Arial" pitchFamily="34" charset="0"/>
                <a:ea typeface="Space Grotesk" pitchFamily="34" charset="-122"/>
                <a:cs typeface="Space Grotesk" pitchFamily="34" charset="-120"/>
              </a:rPr>
              <a:t>Decidir llevarle esta propuesta a Vicentin</a:t>
            </a:r>
            <a:endParaRPr lang="en-US" sz="4000" dirty="0"/>
          </a:p>
        </p:txBody>
      </p:sp>
      <p:sp>
        <p:nvSpPr>
          <p:cNvPr id="7" name="Text 3"/>
          <p:cNvSpPr/>
          <p:nvPr/>
        </p:nvSpPr>
        <p:spPr>
          <a:xfrm>
            <a:off x="812800" y="4126905"/>
            <a:ext cx="3418433"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6CC1F2"/>
                </a:solidFill>
                <a:latin typeface="Arial" pitchFamily="34" charset="0"/>
                <a:ea typeface="Space Grotesk" pitchFamily="34" charset="-122"/>
                <a:cs typeface="Space Grotesk" pitchFamily="34" charset="-120"/>
              </a:rPr>
              <a:t>1</a:t>
            </a:r>
            <a:endParaRPr lang="en-US" sz="2400" dirty="0"/>
          </a:p>
        </p:txBody>
      </p:sp>
      <p:sp>
        <p:nvSpPr>
          <p:cNvPr id="8" name="Text 4"/>
          <p:cNvSpPr/>
          <p:nvPr/>
        </p:nvSpPr>
        <p:spPr>
          <a:xfrm>
            <a:off x="812800" y="4512965"/>
            <a:ext cx="3418433"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8C4CE"/>
                </a:solidFill>
                <a:latin typeface="Arial" pitchFamily="34" charset="0"/>
                <a:ea typeface="IBM Plex Sans" pitchFamily="34" charset="-122"/>
                <a:cs typeface="IBM Plex Sans" pitchFamily="34" charset="-120"/>
              </a:rPr>
              <a:t>Demo en vivo: la planta y sus playas con datos del día</a:t>
            </a:r>
            <a:endParaRPr lang="en-US" sz="1500" dirty="0"/>
          </a:p>
        </p:txBody>
      </p:sp>
      <p:sp>
        <p:nvSpPr>
          <p:cNvPr id="9" name="Text 5"/>
          <p:cNvSpPr/>
          <p:nvPr/>
        </p:nvSpPr>
        <p:spPr>
          <a:xfrm>
            <a:off x="4436467" y="4126905"/>
            <a:ext cx="3418535"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6CC1F2"/>
                </a:solidFill>
                <a:latin typeface="Arial" pitchFamily="34" charset="0"/>
                <a:ea typeface="Space Grotesk" pitchFamily="34" charset="-122"/>
                <a:cs typeface="Space Grotesk" pitchFamily="34" charset="-120"/>
              </a:rPr>
              <a:t>2</a:t>
            </a:r>
            <a:endParaRPr lang="en-US" sz="2400" dirty="0"/>
          </a:p>
        </p:txBody>
      </p:sp>
      <p:sp>
        <p:nvSpPr>
          <p:cNvPr id="10" name="Text 6"/>
          <p:cNvSpPr/>
          <p:nvPr/>
        </p:nvSpPr>
        <p:spPr>
          <a:xfrm>
            <a:off x="4436467" y="4512965"/>
            <a:ext cx="3418535"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8C4CE"/>
                </a:solidFill>
                <a:latin typeface="Arial" pitchFamily="34" charset="0"/>
                <a:ea typeface="IBM Plex Sans" pitchFamily="34" charset="-122"/>
                <a:cs typeface="IBM Plex Sans" pitchFamily="34" charset="-120"/>
              </a:rPr>
              <a:t>La base y su próximo paso: que usen su propia IA sobre TruckFlow</a:t>
            </a:r>
            <a:endParaRPr lang="en-US" sz="1500" dirty="0"/>
          </a:p>
        </p:txBody>
      </p:sp>
      <p:sp>
        <p:nvSpPr>
          <p:cNvPr id="11" name="Text 7"/>
          <p:cNvSpPr/>
          <p:nvPr/>
        </p:nvSpPr>
        <p:spPr>
          <a:xfrm>
            <a:off x="8060234" y="4126905"/>
            <a:ext cx="3418535"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6CC1F2"/>
                </a:solidFill>
                <a:latin typeface="Arial" pitchFamily="34" charset="0"/>
                <a:ea typeface="Space Grotesk" pitchFamily="34" charset="-122"/>
                <a:cs typeface="Space Grotesk" pitchFamily="34" charset="-120"/>
              </a:rPr>
              <a:t>3</a:t>
            </a:r>
            <a:endParaRPr lang="en-US" sz="2400" dirty="0"/>
          </a:p>
        </p:txBody>
      </p:sp>
      <p:sp>
        <p:nvSpPr>
          <p:cNvPr id="12" name="Text 8"/>
          <p:cNvSpPr/>
          <p:nvPr/>
        </p:nvSpPr>
        <p:spPr>
          <a:xfrm>
            <a:off x="8060234" y="4512965"/>
            <a:ext cx="341853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8C4CE"/>
                </a:solidFill>
                <a:latin typeface="Arial" pitchFamily="34" charset="0"/>
                <a:ea typeface="IBM Plex Sans" pitchFamily="34" charset="-122"/>
                <a:cs typeface="IBM Plex Sans" pitchFamily="34" charset="-120"/>
              </a:rPr>
              <a:t>Qué necesitamos de Vicentin: acceso al sistema de camiones y a las balanzas</a:t>
            </a:r>
            <a:endParaRPr lang="en-US" sz="1500" dirty="0"/>
          </a:p>
        </p:txBody>
      </p:sp>
      <p:sp>
        <p:nvSpPr>
          <p:cNvPr id="13" name="Text 9"/>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E"/>
                </a:solidFill>
                <a:latin typeface="Arial" pitchFamily="34" charset="0"/>
                <a:ea typeface="IBM Plex Sans" pitchFamily="34" charset="-122"/>
                <a:cs typeface="IBM Plex Sans" pitchFamily="34" charset="-120"/>
              </a:rPr>
              <a:t>BIMtrazer · Truckflow · Septiembre 2026</a:t>
            </a:r>
            <a:endParaRPr lang="en-US" sz="12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6F2"/>
        </a:solidFill>
        <a:effectLst/>
      </p:bgPr>
    </p:bg>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r>
              <a:rPr sz="1200" b="1" i="0">
                <a:solidFill>
                  <a:srgbClr val="0F6FA8"/>
                </a:solidFill>
                <a:latin typeface="Arial"/>
              </a:rPr>
              <a:t>EN UNA LÁMINA</a:t>
            </a:r>
          </a:p>
        </p:txBody>
      </p:sp>
      <p:sp>
        <p:nvSpPr>
          <p:cNvPr id="3" name="TextBox 2"/>
          <p:cNvSpPr txBox="1"/>
          <p:nvPr/>
        </p:nvSpPr>
        <p:spPr>
          <a:xfrm>
            <a:off x="813816" y="1097280"/>
            <a:ext cx="10881360" cy="548640"/>
          </a:xfrm>
          <a:prstGeom prst="rect">
            <a:avLst/>
          </a:prstGeom>
          <a:noFill/>
        </p:spPr>
        <p:txBody>
          <a:bodyPr wrap="square" lIns="0" rIns="0" tIns="0" bIns="0" anchor="t">
            <a:spAutoFit/>
          </a:bodyPr>
          <a:lstStyle/>
          <a:p>
            <a:pPr algn="l"/>
            <a:r>
              <a:rPr sz="3000" b="1" i="0">
                <a:solidFill>
                  <a:srgbClr val="13202E"/>
                </a:solidFill>
                <a:latin typeface="Arial"/>
              </a:rPr>
              <a:t>La base hoy, su IA mañana, la planta sola después</a:t>
            </a:r>
          </a:p>
        </p:txBody>
      </p:sp>
      <p:sp>
        <p:nvSpPr>
          <p:cNvPr id="4" name="Rounded Rectangle 3"/>
          <p:cNvSpPr/>
          <p:nvPr/>
        </p:nvSpPr>
        <p:spPr>
          <a:xfrm>
            <a:off x="813816" y="2057400"/>
            <a:ext cx="3383280" cy="274320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69848" y="2304288"/>
            <a:ext cx="1810512" cy="274320"/>
          </a:xfrm>
          <a:prstGeom prst="roundRect">
            <a:avLst>
              <a:gd name="adj" fmla="val 50000"/>
            </a:avLst>
          </a:prstGeom>
          <a:solidFill>
            <a:srgbClr val="DC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9848" y="2304288"/>
            <a:ext cx="1810512" cy="274320"/>
          </a:xfrm>
          <a:prstGeom prst="rect">
            <a:avLst/>
          </a:prstGeom>
          <a:noFill/>
        </p:spPr>
        <p:txBody>
          <a:bodyPr wrap="square" lIns="0" rIns="0" tIns="0" bIns="0" anchor="ctr">
            <a:spAutoFit/>
          </a:bodyPr>
          <a:lstStyle/>
          <a:p>
            <a:pPr algn="ctr"/>
            <a:r>
              <a:rPr sz="1050" b="1" i="0">
                <a:solidFill>
                  <a:srgbClr val="0B5638"/>
                </a:solidFill>
                <a:latin typeface="Arial"/>
              </a:rPr>
              <a:t>AHORA · LA BASE</a:t>
            </a:r>
          </a:p>
        </p:txBody>
      </p:sp>
      <p:sp>
        <p:nvSpPr>
          <p:cNvPr id="7" name="TextBox 6"/>
          <p:cNvSpPr txBox="1"/>
          <p:nvPr/>
        </p:nvSpPr>
        <p:spPr>
          <a:xfrm>
            <a:off x="1069848" y="2761488"/>
            <a:ext cx="2926080" cy="685800"/>
          </a:xfrm>
          <a:prstGeom prst="rect">
            <a:avLst/>
          </a:prstGeom>
          <a:noFill/>
        </p:spPr>
        <p:txBody>
          <a:bodyPr wrap="square" lIns="0" rIns="0" tIns="0" bIns="0" anchor="t">
            <a:spAutoFit/>
          </a:bodyPr>
          <a:lstStyle/>
          <a:p>
            <a:pPr algn="l"/>
            <a:r>
              <a:rPr sz="1900" b="1" i="0">
                <a:solidFill>
                  <a:srgbClr val="13202E"/>
                </a:solidFill>
                <a:latin typeface="Arial"/>
              </a:rPr>
              <a:t>Nodos, eventos y un modelo de la planta</a:t>
            </a:r>
          </a:p>
        </p:txBody>
      </p:sp>
      <p:sp>
        <p:nvSpPr>
          <p:cNvPr id="8" name="TextBox 7"/>
          <p:cNvSpPr txBox="1"/>
          <p:nvPr/>
        </p:nvSpPr>
        <p:spPr>
          <a:xfrm>
            <a:off x="1069848" y="3566160"/>
            <a:ext cx="2971800" cy="1188720"/>
          </a:xfrm>
          <a:prstGeom prst="rect">
            <a:avLst/>
          </a:prstGeom>
          <a:noFill/>
        </p:spPr>
        <p:txBody>
          <a:bodyPr wrap="square" lIns="0" rIns="0" tIns="0" bIns="0" anchor="t">
            <a:spAutoFit/>
          </a:bodyPr>
          <a:lstStyle/>
          <a:p>
            <a:pPr algn="l">
              <a:spcAft>
                <a:spcPts val="400"/>
              </a:spcAft>
            </a:pPr>
            <a:r>
              <a:rPr sz="1300" b="1" i="0">
                <a:solidFill>
                  <a:srgbClr val="0F6FA8"/>
                </a:solidFill>
                <a:latin typeface="Arial"/>
              </a:rPr>
              <a:t>•  </a:t>
            </a:r>
            <a:r>
              <a:rPr sz="1300" b="0" i="0">
                <a:solidFill>
                  <a:srgbClr val="4A5868"/>
                </a:solidFill>
                <a:latin typeface="Arial"/>
              </a:rPr>
              <a:t>Cada paso de cada camión, en segundos</a:t>
            </a:r>
          </a:p>
          <a:p>
            <a:pPr algn="l">
              <a:spcAft>
                <a:spcPts val="400"/>
              </a:spcAft>
            </a:pPr>
            <a:r>
              <a:rPr sz="1300" b="1" i="0">
                <a:solidFill>
                  <a:srgbClr val="0F6FA8"/>
                </a:solidFill>
                <a:latin typeface="Arial"/>
              </a:rPr>
              <a:t>•  </a:t>
            </a:r>
            <a:r>
              <a:rPr sz="1300" b="0" i="0">
                <a:solidFill>
                  <a:srgbClr val="4A5868"/>
                </a:solidFill>
                <a:latin typeface="Arial"/>
              </a:rPr>
              <a:t>Sistema de camiones integrado, sin tocarlo</a:t>
            </a:r>
          </a:p>
          <a:p>
            <a:pPr algn="l">
              <a:spcAft>
                <a:spcPts val="400"/>
              </a:spcAft>
            </a:pPr>
            <a:r>
              <a:rPr sz="1300" b="1" i="0">
                <a:solidFill>
                  <a:srgbClr val="0F6FA8"/>
                </a:solidFill>
                <a:latin typeface="Arial"/>
              </a:rPr>
              <a:t>•  </a:t>
            </a:r>
            <a:r>
              <a:rPr sz="1300" b="0" i="0">
                <a:solidFill>
                  <a:srgbClr val="4A5868"/>
                </a:solidFill>
                <a:latin typeface="Arial"/>
              </a:rPr>
              <a:t>Doble confirmación de cada paso</a:t>
            </a:r>
          </a:p>
        </p:txBody>
      </p:sp>
      <p:cxnSp>
        <p:nvCxnSpPr>
          <p:cNvPr id="9" name="Connector 8"/>
          <p:cNvCxnSpPr/>
          <p:nvPr/>
        </p:nvCxnSpPr>
        <p:spPr>
          <a:xfrm>
            <a:off x="4215384" y="3429000"/>
            <a:ext cx="164592" cy="0"/>
          </a:xfrm>
          <a:prstGeom prst="line">
            <a:avLst/>
          </a:prstGeom>
          <a:ln w="25400">
            <a:solidFill>
              <a:srgbClr val="C9CA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98264" y="2057400"/>
            <a:ext cx="3383280" cy="274320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654296" y="2304288"/>
            <a:ext cx="2798064" cy="274320"/>
          </a:xfrm>
          <a:prstGeom prst="roundRect">
            <a:avLst>
              <a:gd name="adj" fmla="val 50000"/>
            </a:avLst>
          </a:prstGeom>
          <a:solidFill>
            <a:srgbClr val="DC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654296" y="2304288"/>
            <a:ext cx="2798064" cy="274320"/>
          </a:xfrm>
          <a:prstGeom prst="rect">
            <a:avLst/>
          </a:prstGeom>
          <a:noFill/>
        </p:spPr>
        <p:txBody>
          <a:bodyPr wrap="square" lIns="0" rIns="0" tIns="0" bIns="0" anchor="ctr">
            <a:spAutoFit/>
          </a:bodyPr>
          <a:lstStyle/>
          <a:p>
            <a:pPr algn="ctr"/>
            <a:r>
              <a:rPr sz="1050" b="1" i="0">
                <a:solidFill>
                  <a:srgbClr val="0F6FA8"/>
                </a:solidFill>
                <a:latin typeface="Arial"/>
              </a:rPr>
              <a:t>PRÓXIMO PASO · IA ABIERTA</a:t>
            </a:r>
          </a:p>
        </p:txBody>
      </p:sp>
      <p:sp>
        <p:nvSpPr>
          <p:cNvPr id="13" name="TextBox 12"/>
          <p:cNvSpPr txBox="1"/>
          <p:nvPr/>
        </p:nvSpPr>
        <p:spPr>
          <a:xfrm>
            <a:off x="4654296" y="2761488"/>
            <a:ext cx="2926080" cy="685800"/>
          </a:xfrm>
          <a:prstGeom prst="rect">
            <a:avLst/>
          </a:prstGeom>
          <a:noFill/>
        </p:spPr>
        <p:txBody>
          <a:bodyPr wrap="square" lIns="0" rIns="0" tIns="0" bIns="0" anchor="t">
            <a:spAutoFit/>
          </a:bodyPr>
          <a:lstStyle/>
          <a:p>
            <a:pPr algn="l"/>
            <a:r>
              <a:rPr sz="1900" b="1" i="0">
                <a:solidFill>
                  <a:srgbClr val="13202E"/>
                </a:solidFill>
                <a:latin typeface="Arial"/>
              </a:rPr>
              <a:t>Vicentin usa su propia IA sobre la base</a:t>
            </a:r>
          </a:p>
        </p:txBody>
      </p:sp>
      <p:sp>
        <p:nvSpPr>
          <p:cNvPr id="14" name="TextBox 13"/>
          <p:cNvSpPr txBox="1"/>
          <p:nvPr/>
        </p:nvSpPr>
        <p:spPr>
          <a:xfrm>
            <a:off x="4654296" y="3566160"/>
            <a:ext cx="2971800" cy="1188720"/>
          </a:xfrm>
          <a:prstGeom prst="rect">
            <a:avLst/>
          </a:prstGeom>
          <a:noFill/>
        </p:spPr>
        <p:txBody>
          <a:bodyPr wrap="square" lIns="0" rIns="0" tIns="0" bIns="0" anchor="t">
            <a:spAutoFit/>
          </a:bodyPr>
          <a:lstStyle/>
          <a:p>
            <a:pPr algn="l">
              <a:spcAft>
                <a:spcPts val="400"/>
              </a:spcAft>
            </a:pPr>
            <a:r>
              <a:rPr sz="1300" b="1" i="0">
                <a:solidFill>
                  <a:srgbClr val="0F6FA8"/>
                </a:solidFill>
                <a:latin typeface="Arial"/>
              </a:rPr>
              <a:t>•  </a:t>
            </a:r>
            <a:r>
              <a:rPr sz="1300" b="0" i="0">
                <a:solidFill>
                  <a:srgbClr val="4A5868"/>
                </a:solidFill>
                <a:latin typeface="Arial"/>
              </a:rPr>
              <a:t>Desde ChatGPT, Claude o Copilot</a:t>
            </a:r>
          </a:p>
          <a:p>
            <a:pPr algn="l">
              <a:spcAft>
                <a:spcPts val="400"/>
              </a:spcAft>
            </a:pPr>
            <a:r>
              <a:rPr sz="1300" b="1" i="0">
                <a:solidFill>
                  <a:srgbClr val="0F6FA8"/>
                </a:solidFill>
                <a:latin typeface="Arial"/>
              </a:rPr>
              <a:t>•  </a:t>
            </a:r>
            <a:r>
              <a:rPr sz="1300" b="0" i="0">
                <a:solidFill>
                  <a:srgbClr val="4A5868"/>
                </a:solidFill>
                <a:latin typeface="Arial"/>
              </a:rPr>
              <a:t>Avisos y automatizaciones que arman ellos</a:t>
            </a:r>
          </a:p>
          <a:p>
            <a:pPr algn="l">
              <a:spcAft>
                <a:spcPts val="400"/>
              </a:spcAft>
            </a:pPr>
            <a:r>
              <a:rPr sz="1300" b="1" i="0">
                <a:solidFill>
                  <a:srgbClr val="0F6FA8"/>
                </a:solidFill>
                <a:latin typeface="Arial"/>
              </a:rPr>
              <a:t>•  </a:t>
            </a:r>
            <a:r>
              <a:rPr sz="1300" b="0" i="0">
                <a:solidFill>
                  <a:srgbClr val="4A5868"/>
                </a:solidFill>
                <a:latin typeface="Arial"/>
              </a:rPr>
              <a:t>Sin depender de nosotros</a:t>
            </a:r>
          </a:p>
        </p:txBody>
      </p:sp>
      <p:cxnSp>
        <p:nvCxnSpPr>
          <p:cNvPr id="15" name="Connector 14"/>
          <p:cNvCxnSpPr/>
          <p:nvPr/>
        </p:nvCxnSpPr>
        <p:spPr>
          <a:xfrm>
            <a:off x="7799831" y="3429000"/>
            <a:ext cx="164592" cy="0"/>
          </a:xfrm>
          <a:prstGeom prst="line">
            <a:avLst/>
          </a:prstGeom>
          <a:ln w="25400">
            <a:solidFill>
              <a:srgbClr val="C9CA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982712" y="2057400"/>
            <a:ext cx="3383280" cy="274320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238744" y="2304288"/>
            <a:ext cx="1217980" cy="274320"/>
          </a:xfrm>
          <a:prstGeom prst="roundRect">
            <a:avLst>
              <a:gd name="adj" fmla="val 50000"/>
            </a:avLst>
          </a:prstGeom>
          <a:solidFill>
            <a:srgbClr val="FBE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304288"/>
            <a:ext cx="1217980" cy="274320"/>
          </a:xfrm>
          <a:prstGeom prst="rect">
            <a:avLst/>
          </a:prstGeom>
          <a:noFill/>
        </p:spPr>
        <p:txBody>
          <a:bodyPr wrap="square" lIns="0" rIns="0" tIns="0" bIns="0" anchor="ctr">
            <a:spAutoFit/>
          </a:bodyPr>
          <a:lstStyle/>
          <a:p>
            <a:pPr algn="ctr"/>
            <a:r>
              <a:rPr sz="1050" b="1" i="0">
                <a:solidFill>
                  <a:srgbClr val="8A5200"/>
                </a:solidFill>
                <a:latin typeface="Arial"/>
              </a:rPr>
              <a:t>HORIZONTE</a:t>
            </a:r>
          </a:p>
        </p:txBody>
      </p:sp>
      <p:sp>
        <p:nvSpPr>
          <p:cNvPr id="19" name="TextBox 18"/>
          <p:cNvSpPr txBox="1"/>
          <p:nvPr/>
        </p:nvSpPr>
        <p:spPr>
          <a:xfrm>
            <a:off x="8238744" y="2761488"/>
            <a:ext cx="2926080" cy="685800"/>
          </a:xfrm>
          <a:prstGeom prst="rect">
            <a:avLst/>
          </a:prstGeom>
          <a:noFill/>
        </p:spPr>
        <p:txBody>
          <a:bodyPr wrap="square" lIns="0" rIns="0" tIns="0" bIns="0" anchor="t">
            <a:spAutoFit/>
          </a:bodyPr>
          <a:lstStyle/>
          <a:p>
            <a:pPr algn="l"/>
            <a:r>
              <a:rPr sz="1900" b="1" i="0">
                <a:solidFill>
                  <a:srgbClr val="13202E"/>
                </a:solidFill>
                <a:latin typeface="Arial"/>
              </a:rPr>
              <a:t>La planta se opera sola</a:t>
            </a:r>
          </a:p>
        </p:txBody>
      </p:sp>
      <p:sp>
        <p:nvSpPr>
          <p:cNvPr id="20" name="TextBox 19"/>
          <p:cNvSpPr txBox="1"/>
          <p:nvPr/>
        </p:nvSpPr>
        <p:spPr>
          <a:xfrm>
            <a:off x="8238744" y="3566160"/>
            <a:ext cx="2971800" cy="1188720"/>
          </a:xfrm>
          <a:prstGeom prst="rect">
            <a:avLst/>
          </a:prstGeom>
          <a:noFill/>
        </p:spPr>
        <p:txBody>
          <a:bodyPr wrap="square" lIns="0" rIns="0" tIns="0" bIns="0" anchor="t">
            <a:spAutoFit/>
          </a:bodyPr>
          <a:lstStyle/>
          <a:p>
            <a:pPr algn="l">
              <a:spcAft>
                <a:spcPts val="400"/>
              </a:spcAft>
            </a:pPr>
            <a:r>
              <a:rPr sz="1300" b="1" i="0">
                <a:solidFill>
                  <a:srgbClr val="0F6FA8"/>
                </a:solidFill>
                <a:latin typeface="Arial"/>
              </a:rPr>
              <a:t>•  </a:t>
            </a:r>
            <a:r>
              <a:rPr sz="1300" b="0" i="0">
                <a:solidFill>
                  <a:srgbClr val="4A5868"/>
                </a:solidFill>
                <a:latin typeface="Arial"/>
              </a:rPr>
              <a:t>El nodo detecta, decide y ejecuta</a:t>
            </a:r>
          </a:p>
          <a:p>
            <a:pPr algn="l">
              <a:spcAft>
                <a:spcPts val="400"/>
              </a:spcAft>
            </a:pPr>
            <a:r>
              <a:rPr sz="1300" b="1" i="0">
                <a:solidFill>
                  <a:srgbClr val="0F6FA8"/>
                </a:solidFill>
                <a:latin typeface="Arial"/>
              </a:rPr>
              <a:t>•  </a:t>
            </a:r>
            <a:r>
              <a:rPr sz="1300" b="0" i="0">
                <a:solidFill>
                  <a:srgbClr val="4A5868"/>
                </a:solidFill>
                <a:latin typeface="Arial"/>
              </a:rPr>
              <a:t>Destino según capacidad libre</a:t>
            </a:r>
          </a:p>
          <a:p>
            <a:pPr algn="l">
              <a:spcAft>
                <a:spcPts val="400"/>
              </a:spcAft>
            </a:pPr>
            <a:r>
              <a:rPr sz="1300" b="1" i="0">
                <a:solidFill>
                  <a:srgbClr val="0F6FA8"/>
                </a:solidFill>
                <a:latin typeface="Arial"/>
              </a:rPr>
              <a:t>•  </a:t>
            </a:r>
            <a:r>
              <a:rPr sz="1300" b="0" i="0">
                <a:solidFill>
                  <a:srgbClr val="4A5868"/>
                </a:solidFill>
                <a:latin typeface="Arial"/>
              </a:rPr>
              <a:t>Flota de transiles planificada</a:t>
            </a:r>
          </a:p>
        </p:txBody>
      </p:sp>
      <p:sp>
        <p:nvSpPr>
          <p:cNvPr id="21" name="Rounded Rectangle 20"/>
          <p:cNvSpPr/>
          <p:nvPr/>
        </p:nvSpPr>
        <p:spPr>
          <a:xfrm>
            <a:off x="813816" y="5120640"/>
            <a:ext cx="10570464" cy="658368"/>
          </a:xfrm>
          <a:prstGeom prst="roundRect">
            <a:avLst>
              <a:gd name="adj" fmla="val 8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97280" y="5120640"/>
            <a:ext cx="10058400" cy="658368"/>
          </a:xfrm>
          <a:prstGeom prst="rect">
            <a:avLst/>
          </a:prstGeom>
          <a:noFill/>
        </p:spPr>
        <p:txBody>
          <a:bodyPr wrap="square" lIns="0" rIns="0" tIns="0" bIns="0" anchor="ctr">
            <a:spAutoFit/>
          </a:bodyPr>
          <a:lstStyle/>
          <a:p>
            <a:pPr algn="l"/>
            <a:r>
              <a:rPr sz="1600" b="0" i="0">
                <a:solidFill>
                  <a:srgbClr val="EEF2F4"/>
                </a:solidFill>
                <a:latin typeface="Arial"/>
              </a:rPr>
              <a:t>Decisión de hoy: presentarle a Vicentin la base, con el próximo paso y el horizonte a la vista.</a:t>
            </a:r>
          </a:p>
        </p:txBody>
      </p:sp>
      <p:sp>
        <p:nvSpPr>
          <p:cNvPr id="23" name="TextBox 22"/>
          <p:cNvSpPr txBox="1"/>
          <p:nvPr/>
        </p:nvSpPr>
        <p:spPr>
          <a:xfrm>
            <a:off x="813816" y="6236208"/>
            <a:ext cx="9601200" cy="237744"/>
          </a:xfrm>
          <a:prstGeom prst="rect">
            <a:avLst/>
          </a:prstGeom>
          <a:noFill/>
        </p:spPr>
        <p:txBody>
          <a:bodyPr wrap="square" lIns="0" rIns="0" tIns="0" bIns="0" anchor="t">
            <a:spAutoFit/>
          </a:bodyPr>
          <a:lstStyle/>
          <a:p>
            <a:pPr algn="l"/>
            <a:r>
              <a:rPr sz="1100" b="0" i="0">
                <a:solidFill>
                  <a:srgbClr val="5B6776"/>
                </a:solidFill>
                <a:latin typeface="Arial"/>
              </a:rPr>
              <a:t>Truckflow Vicentin · propuesta interna</a:t>
            </a:r>
          </a:p>
        </p:txBody>
      </p:sp>
      <p:sp>
        <p:nvSpPr>
          <p:cNvPr id="24" name="TextBox 23"/>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02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DFB"/>
        </a:solidFill>
        <a:effectLst/>
      </p:bgPr>
    </p:bg>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r>
              <a:rPr sz="1200" b="1" i="0">
                <a:solidFill>
                  <a:srgbClr val="8A5200"/>
                </a:solidFill>
                <a:latin typeface="Arial"/>
              </a:rPr>
              <a:t>EL DATO SOBRE EL MODELO · CIRCUITO R7, SOJA</a:t>
            </a:r>
          </a:p>
        </p:txBody>
      </p:sp>
      <p:sp>
        <p:nvSpPr>
          <p:cNvPr id="3" name="TextBox 2"/>
          <p:cNvSpPr txBox="1"/>
          <p:nvPr/>
        </p:nvSpPr>
        <p:spPr>
          <a:xfrm>
            <a:off x="813816" y="1097280"/>
            <a:ext cx="10881360" cy="548640"/>
          </a:xfrm>
          <a:prstGeom prst="rect">
            <a:avLst/>
          </a:prstGeom>
          <a:noFill/>
        </p:spPr>
        <p:txBody>
          <a:bodyPr wrap="square" lIns="0" rIns="0" tIns="0" bIns="0" anchor="t">
            <a:spAutoFit/>
          </a:bodyPr>
          <a:lstStyle/>
          <a:p>
            <a:pPr algn="l"/>
            <a:r>
              <a:rPr sz="3000" b="1" i="0">
                <a:solidFill>
                  <a:srgbClr val="13202E"/>
                </a:solidFill>
                <a:latin typeface="Arial"/>
              </a:rPr>
              <a:t>Dónde se va el tiempo: el recorrido de la soja</a:t>
            </a:r>
          </a:p>
        </p:txBody>
      </p:sp>
      <p:pic>
        <p:nvPicPr>
          <p:cNvPr id="4" name="Picture 3" descr="graph_r7.png"/>
          <p:cNvPicPr>
            <a:picLocks noChangeAspect="1"/>
          </p:cNvPicPr>
          <p:nvPr/>
        </p:nvPicPr>
        <p:blipFill>
          <a:blip r:embed="rId2"/>
          <a:stretch>
            <a:fillRect/>
          </a:stretch>
        </p:blipFill>
        <p:spPr>
          <a:xfrm>
            <a:off x="813816" y="1783080"/>
            <a:ext cx="10570464" cy="4519438"/>
          </a:xfrm>
          <a:prstGeom prst="rect">
            <a:avLst/>
          </a:prstGeom>
        </p:spPr>
      </p:pic>
      <p:sp>
        <p:nvSpPr>
          <p:cNvPr id="5" name="TextBox 4"/>
          <p:cNvSpPr txBox="1"/>
          <p:nvPr/>
        </p:nvSpPr>
        <p:spPr>
          <a:xfrm>
            <a:off x="813816" y="5888736"/>
            <a:ext cx="10570464" cy="310896"/>
          </a:xfrm>
          <a:prstGeom prst="rect">
            <a:avLst/>
          </a:prstGeom>
          <a:noFill/>
        </p:spPr>
        <p:txBody>
          <a:bodyPr wrap="square" lIns="0" rIns="0" tIns="0" bIns="0" anchor="t">
            <a:spAutoFit/>
          </a:bodyPr>
          <a:lstStyle/>
          <a:p>
            <a:pPr algn="l"/>
            <a:r>
              <a:rPr sz="1400" b="1" i="0">
                <a:solidFill>
                  <a:srgbClr val="13202E"/>
                </a:solidFill>
                <a:latin typeface="Arial"/>
              </a:rPr>
              <a:t>La calada no limita: trabaja a demanda de las playas. </a:t>
            </a:r>
            <a:r>
              <a:rPr sz="1400" b="0" i="0">
                <a:solidFill>
                  <a:srgbClr val="13202E"/>
                </a:solidFill>
                <a:latin typeface="Arial"/>
              </a:rPr>
              <a:t>El tiempo se define aguas abajo, en las playas que ningún sistema ve.</a:t>
            </a:r>
          </a:p>
        </p:txBody>
      </p:sp>
      <p:sp>
        <p:nvSpPr>
          <p:cNvPr id="6" name="TextBox 5"/>
          <p:cNvSpPr txBox="1"/>
          <p:nvPr/>
        </p:nvSpPr>
        <p:spPr>
          <a:xfrm>
            <a:off x="813816" y="6236208"/>
            <a:ext cx="9601200" cy="237744"/>
          </a:xfrm>
          <a:prstGeom prst="rect">
            <a:avLst/>
          </a:prstGeom>
          <a:noFill/>
        </p:spPr>
        <p:txBody>
          <a:bodyPr wrap="square" lIns="0" rIns="0" tIns="0" bIns="0" anchor="t">
            <a:spAutoFit/>
          </a:bodyPr>
          <a:lstStyle/>
          <a:p>
            <a:pPr algn="l"/>
            <a:r>
              <a:rPr sz="1100" b="0" i="0">
                <a:solidFill>
                  <a:srgbClr val="5B6776"/>
                </a:solidFill>
                <a:latin typeface="Arial"/>
              </a:rPr>
              <a:t>Circuito R7, semana 10–16/09, 2.557 camiones · Comité de Logística del 18/09 · en ámbar, las playas con su capacidad</a:t>
            </a:r>
          </a:p>
        </p:txBody>
      </p:sp>
      <p:sp>
        <p:nvSpPr>
          <p:cNvPr id="7" name="TextBox 6"/>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06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6F2"/>
        </a:solidFill>
        <a:effectLst/>
      </p:bgPr>
    </p:bg>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r>
              <a:rPr sz="1200" b="1" i="0">
                <a:solidFill>
                  <a:srgbClr val="0F6FA8"/>
                </a:solidFill>
                <a:latin typeface="Arial"/>
              </a:rPr>
              <a:t>LA BASE</a:t>
            </a:r>
          </a:p>
        </p:txBody>
      </p:sp>
      <p:sp>
        <p:nvSpPr>
          <p:cNvPr id="3" name="TextBox 2"/>
          <p:cNvSpPr txBox="1"/>
          <p:nvPr/>
        </p:nvSpPr>
        <p:spPr>
          <a:xfrm>
            <a:off x="813816" y="1097280"/>
            <a:ext cx="10881360" cy="548640"/>
          </a:xfrm>
          <a:prstGeom prst="rect">
            <a:avLst/>
          </a:prstGeom>
          <a:noFill/>
        </p:spPr>
        <p:txBody>
          <a:bodyPr wrap="square" lIns="0" rIns="0" tIns="0" bIns="0" anchor="t">
            <a:spAutoFit/>
          </a:bodyPr>
          <a:lstStyle/>
          <a:p>
            <a:pPr algn="l"/>
            <a:r>
              <a:rPr sz="3000" b="1" i="0">
                <a:solidFill>
                  <a:srgbClr val="13202E"/>
                </a:solidFill>
                <a:latin typeface="Arial"/>
              </a:rPr>
              <a:t>Automatizar exige saber tres cosas a la vez</a:t>
            </a:r>
          </a:p>
        </p:txBody>
      </p:sp>
      <p:sp>
        <p:nvSpPr>
          <p:cNvPr id="4" name="TextBox 3"/>
          <p:cNvSpPr txBox="1"/>
          <p:nvPr/>
        </p:nvSpPr>
        <p:spPr>
          <a:xfrm>
            <a:off x="813816" y="1700784"/>
            <a:ext cx="10607040" cy="548640"/>
          </a:xfrm>
          <a:prstGeom prst="rect">
            <a:avLst/>
          </a:prstGeom>
          <a:noFill/>
        </p:spPr>
        <p:txBody>
          <a:bodyPr wrap="square" lIns="0" rIns="0" tIns="0" bIns="0" anchor="t">
            <a:spAutoFit/>
          </a:bodyPr>
          <a:lstStyle/>
          <a:p>
            <a:pPr algn="l"/>
            <a:r>
              <a:rPr sz="1500" b="0" i="0">
                <a:solidFill>
                  <a:srgbClr val="4A5868"/>
                </a:solidFill>
                <a:latin typeface="Arial"/>
              </a:rPr>
              <a:t>Hoy cada una vive por separado. El proyecto las une en un solo evento, y con eso cualquier tarea logística se puede automatizar.</a:t>
            </a:r>
          </a:p>
        </p:txBody>
      </p:sp>
      <p:sp>
        <p:nvSpPr>
          <p:cNvPr id="5" name="Rounded Rectangle 4"/>
          <p:cNvSpPr/>
          <p:nvPr/>
        </p:nvSpPr>
        <p:spPr>
          <a:xfrm>
            <a:off x="813816" y="2514600"/>
            <a:ext cx="2514600" cy="224028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42416" y="2724912"/>
            <a:ext cx="384048" cy="384048"/>
          </a:xfrm>
          <a:prstGeom prst="ellipse">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42416" y="2724912"/>
            <a:ext cx="384048" cy="384048"/>
          </a:xfrm>
          <a:prstGeom prst="rect">
            <a:avLst/>
          </a:prstGeom>
          <a:noFill/>
        </p:spPr>
        <p:txBody>
          <a:bodyPr wrap="square" lIns="0" rIns="0" tIns="0" bIns="0" anchor="ctr">
            <a:spAutoFit/>
          </a:bodyPr>
          <a:lstStyle/>
          <a:p>
            <a:pPr algn="ctr"/>
            <a:r>
              <a:rPr sz="1400" b="1" i="0">
                <a:solidFill>
                  <a:srgbClr val="FFFFFF"/>
                </a:solidFill>
                <a:latin typeface="Arial"/>
              </a:rPr>
              <a:t>1</a:t>
            </a:r>
          </a:p>
        </p:txBody>
      </p:sp>
      <p:sp>
        <p:nvSpPr>
          <p:cNvPr id="8" name="Rounded Rectangle 7"/>
          <p:cNvSpPr/>
          <p:nvPr/>
        </p:nvSpPr>
        <p:spPr>
          <a:xfrm>
            <a:off x="1545336" y="2779776"/>
            <a:ext cx="1415491" cy="274320"/>
          </a:xfrm>
          <a:prstGeom prst="roundRect">
            <a:avLst>
              <a:gd name="adj" fmla="val 50000"/>
            </a:avLst>
          </a:prstGeom>
          <a:solidFill>
            <a:srgbClr val="DC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545336" y="2779776"/>
            <a:ext cx="1415491" cy="274320"/>
          </a:xfrm>
          <a:prstGeom prst="rect">
            <a:avLst/>
          </a:prstGeom>
          <a:noFill/>
        </p:spPr>
        <p:txBody>
          <a:bodyPr wrap="square" lIns="0" rIns="0" tIns="0" bIns="0" anchor="ctr">
            <a:spAutoFit/>
          </a:bodyPr>
          <a:lstStyle/>
          <a:p>
            <a:pPr algn="ctr"/>
            <a:r>
              <a:rPr sz="1050" b="1" i="0">
                <a:solidFill>
                  <a:srgbClr val="0B5638"/>
                </a:solidFill>
                <a:latin typeface="Arial"/>
              </a:rPr>
              <a:t>YA FUNCIONA</a:t>
            </a:r>
          </a:p>
        </p:txBody>
      </p:sp>
      <p:sp>
        <p:nvSpPr>
          <p:cNvPr id="10" name="TextBox 9"/>
          <p:cNvSpPr txBox="1"/>
          <p:nvPr/>
        </p:nvSpPr>
        <p:spPr>
          <a:xfrm>
            <a:off x="1042416" y="3291840"/>
            <a:ext cx="2148840" cy="548640"/>
          </a:xfrm>
          <a:prstGeom prst="rect">
            <a:avLst/>
          </a:prstGeom>
          <a:noFill/>
        </p:spPr>
        <p:txBody>
          <a:bodyPr wrap="square" lIns="0" rIns="0" tIns="0" bIns="0" anchor="t">
            <a:spAutoFit/>
          </a:bodyPr>
          <a:lstStyle/>
          <a:p>
            <a:pPr algn="l"/>
            <a:r>
              <a:rPr sz="1700" b="1" i="0">
                <a:solidFill>
                  <a:srgbClr val="13202E"/>
                </a:solidFill>
                <a:latin typeface="Arial"/>
              </a:rPr>
              <a:t>Dónde está cada camión</a:t>
            </a:r>
          </a:p>
        </p:txBody>
      </p:sp>
      <p:sp>
        <p:nvSpPr>
          <p:cNvPr id="11" name="TextBox 10"/>
          <p:cNvSpPr txBox="1"/>
          <p:nvPr/>
        </p:nvSpPr>
        <p:spPr>
          <a:xfrm>
            <a:off x="1042416" y="3886200"/>
            <a:ext cx="2148840" cy="274320"/>
          </a:xfrm>
          <a:prstGeom prst="rect">
            <a:avLst/>
          </a:prstGeom>
          <a:noFill/>
        </p:spPr>
        <p:txBody>
          <a:bodyPr wrap="square" lIns="0" rIns="0" tIns="0" bIns="0" anchor="t">
            <a:spAutoFit/>
          </a:bodyPr>
          <a:lstStyle/>
          <a:p>
            <a:pPr algn="l"/>
            <a:r>
              <a:rPr sz="1300" b="1" i="0">
                <a:solidFill>
                  <a:srgbClr val="0F6FA8"/>
                </a:solidFill>
                <a:latin typeface="Arial"/>
              </a:rPr>
              <a:t>TruckFlow</a:t>
            </a:r>
          </a:p>
        </p:txBody>
      </p:sp>
      <p:sp>
        <p:nvSpPr>
          <p:cNvPr id="12" name="TextBox 11"/>
          <p:cNvSpPr txBox="1"/>
          <p:nvPr/>
        </p:nvSpPr>
        <p:spPr>
          <a:xfrm>
            <a:off x="1042416" y="4187952"/>
            <a:ext cx="2148840" cy="502920"/>
          </a:xfrm>
          <a:prstGeom prst="rect">
            <a:avLst/>
          </a:prstGeom>
          <a:noFill/>
        </p:spPr>
        <p:txBody>
          <a:bodyPr wrap="square" lIns="0" rIns="0" tIns="0" bIns="0" anchor="t">
            <a:spAutoFit/>
          </a:bodyPr>
          <a:lstStyle/>
          <a:p>
            <a:pPr algn="l"/>
            <a:r>
              <a:rPr sz="1200" b="0" i="0">
                <a:solidFill>
                  <a:srgbClr val="4A5868"/>
                </a:solidFill>
                <a:latin typeface="Arial"/>
              </a:rPr>
              <a:t>un evento por paso, en segundos, con foto</a:t>
            </a:r>
          </a:p>
        </p:txBody>
      </p:sp>
      <p:sp>
        <p:nvSpPr>
          <p:cNvPr id="13" name="Rounded Rectangle 12"/>
          <p:cNvSpPr/>
          <p:nvPr/>
        </p:nvSpPr>
        <p:spPr>
          <a:xfrm>
            <a:off x="3511296" y="2514600"/>
            <a:ext cx="2514600" cy="224028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739896" y="2724912"/>
            <a:ext cx="384048" cy="384048"/>
          </a:xfrm>
          <a:prstGeom prst="ellipse">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39896" y="2724912"/>
            <a:ext cx="384048" cy="384048"/>
          </a:xfrm>
          <a:prstGeom prst="rect">
            <a:avLst/>
          </a:prstGeom>
          <a:noFill/>
        </p:spPr>
        <p:txBody>
          <a:bodyPr wrap="square" lIns="0" rIns="0" tIns="0" bIns="0" anchor="ctr">
            <a:spAutoFit/>
          </a:bodyPr>
          <a:lstStyle/>
          <a:p>
            <a:pPr algn="ctr"/>
            <a:r>
              <a:rPr sz="1400" b="1" i="0">
                <a:solidFill>
                  <a:srgbClr val="FFFFFF"/>
                </a:solidFill>
                <a:latin typeface="Arial"/>
              </a:rPr>
              <a:t>2</a:t>
            </a:r>
          </a:p>
        </p:txBody>
      </p:sp>
      <p:sp>
        <p:nvSpPr>
          <p:cNvPr id="16" name="Rounded Rectangle 15"/>
          <p:cNvSpPr/>
          <p:nvPr/>
        </p:nvSpPr>
        <p:spPr>
          <a:xfrm>
            <a:off x="4242816" y="2779776"/>
            <a:ext cx="822960" cy="274320"/>
          </a:xfrm>
          <a:prstGeom prst="roundRect">
            <a:avLst>
              <a:gd name="adj" fmla="val 50000"/>
            </a:avLst>
          </a:prstGeom>
          <a:solidFill>
            <a:srgbClr val="DC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242816" y="2779776"/>
            <a:ext cx="822960" cy="274320"/>
          </a:xfrm>
          <a:prstGeom prst="rect">
            <a:avLst/>
          </a:prstGeom>
          <a:noFill/>
        </p:spPr>
        <p:txBody>
          <a:bodyPr wrap="square" lIns="0" rIns="0" tIns="0" bIns="0" anchor="ctr">
            <a:spAutoFit/>
          </a:bodyPr>
          <a:lstStyle/>
          <a:p>
            <a:pPr algn="ctr"/>
            <a:r>
              <a:rPr sz="1050" b="1" i="0">
                <a:solidFill>
                  <a:srgbClr val="0B5638"/>
                </a:solidFill>
                <a:latin typeface="Arial"/>
              </a:rPr>
              <a:t>HECHO</a:t>
            </a:r>
          </a:p>
        </p:txBody>
      </p:sp>
      <p:sp>
        <p:nvSpPr>
          <p:cNvPr id="18" name="TextBox 17"/>
          <p:cNvSpPr txBox="1"/>
          <p:nvPr/>
        </p:nvSpPr>
        <p:spPr>
          <a:xfrm>
            <a:off x="3739896" y="3291840"/>
            <a:ext cx="2148840" cy="548640"/>
          </a:xfrm>
          <a:prstGeom prst="rect">
            <a:avLst/>
          </a:prstGeom>
          <a:noFill/>
        </p:spPr>
        <p:txBody>
          <a:bodyPr wrap="square" lIns="0" rIns="0" tIns="0" bIns="0" anchor="t">
            <a:spAutoFit/>
          </a:bodyPr>
          <a:lstStyle/>
          <a:p>
            <a:pPr algn="l"/>
            <a:r>
              <a:rPr sz="1700" b="1" i="0">
                <a:solidFill>
                  <a:srgbClr val="13202E"/>
                </a:solidFill>
                <a:latin typeface="Arial"/>
              </a:rPr>
              <a:t>Cómo es la planta</a:t>
            </a:r>
          </a:p>
        </p:txBody>
      </p:sp>
      <p:sp>
        <p:nvSpPr>
          <p:cNvPr id="19" name="TextBox 18"/>
          <p:cNvSpPr txBox="1"/>
          <p:nvPr/>
        </p:nvSpPr>
        <p:spPr>
          <a:xfrm>
            <a:off x="3739896" y="3886200"/>
            <a:ext cx="2148840" cy="274320"/>
          </a:xfrm>
          <a:prstGeom prst="rect">
            <a:avLst/>
          </a:prstGeom>
          <a:noFill/>
        </p:spPr>
        <p:txBody>
          <a:bodyPr wrap="square" lIns="0" rIns="0" tIns="0" bIns="0" anchor="t">
            <a:spAutoFit/>
          </a:bodyPr>
          <a:lstStyle/>
          <a:p>
            <a:pPr algn="l"/>
            <a:r>
              <a:rPr sz="1300" b="1" i="0">
                <a:solidFill>
                  <a:srgbClr val="0F6FA8"/>
                </a:solidFill>
                <a:latin typeface="Arial"/>
              </a:rPr>
              <a:t>Modelo de nodos</a:t>
            </a:r>
          </a:p>
        </p:txBody>
      </p:sp>
      <p:sp>
        <p:nvSpPr>
          <p:cNvPr id="20" name="TextBox 19"/>
          <p:cNvSpPr txBox="1"/>
          <p:nvPr/>
        </p:nvSpPr>
        <p:spPr>
          <a:xfrm>
            <a:off x="3739896" y="4187952"/>
            <a:ext cx="2148840" cy="502920"/>
          </a:xfrm>
          <a:prstGeom prst="rect">
            <a:avLst/>
          </a:prstGeom>
          <a:noFill/>
        </p:spPr>
        <p:txBody>
          <a:bodyPr wrap="square" lIns="0" rIns="0" tIns="0" bIns="0" anchor="t">
            <a:spAutoFit/>
          </a:bodyPr>
          <a:lstStyle/>
          <a:p>
            <a:pPr algn="l"/>
            <a:r>
              <a:rPr sz="1200" b="0" i="0">
                <a:solidFill>
                  <a:srgbClr val="4A5868"/>
                </a:solidFill>
                <a:latin typeface="Arial"/>
              </a:rPr>
              <a:t>33 nodos, 50 circuitos, 5 playas con capacidad</a:t>
            </a:r>
          </a:p>
        </p:txBody>
      </p:sp>
      <p:sp>
        <p:nvSpPr>
          <p:cNvPr id="21" name="Rounded Rectangle 20"/>
          <p:cNvSpPr/>
          <p:nvPr/>
        </p:nvSpPr>
        <p:spPr>
          <a:xfrm>
            <a:off x="6208776" y="2514600"/>
            <a:ext cx="2514600" cy="224028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37376" y="2724912"/>
            <a:ext cx="384048" cy="384048"/>
          </a:xfrm>
          <a:prstGeom prst="ellipse">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37376" y="2724912"/>
            <a:ext cx="384048" cy="384048"/>
          </a:xfrm>
          <a:prstGeom prst="rect">
            <a:avLst/>
          </a:prstGeom>
          <a:noFill/>
        </p:spPr>
        <p:txBody>
          <a:bodyPr wrap="square" lIns="0" rIns="0" tIns="0" bIns="0" anchor="ctr">
            <a:spAutoFit/>
          </a:bodyPr>
          <a:lstStyle/>
          <a:p>
            <a:pPr algn="ctr"/>
            <a:r>
              <a:rPr sz="1400" b="1" i="0">
                <a:solidFill>
                  <a:srgbClr val="FFFFFF"/>
                </a:solidFill>
                <a:latin typeface="Arial"/>
              </a:rPr>
              <a:t>3</a:t>
            </a:r>
          </a:p>
        </p:txBody>
      </p:sp>
      <p:sp>
        <p:nvSpPr>
          <p:cNvPr id="24" name="Rounded Rectangle 23"/>
          <p:cNvSpPr/>
          <p:nvPr/>
        </p:nvSpPr>
        <p:spPr>
          <a:xfrm>
            <a:off x="6940296" y="2779776"/>
            <a:ext cx="1020470" cy="274320"/>
          </a:xfrm>
          <a:prstGeom prst="roundRect">
            <a:avLst>
              <a:gd name="adj" fmla="val 50000"/>
            </a:avLst>
          </a:prstGeom>
          <a:solidFill>
            <a:srgbClr val="DC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940296" y="2779776"/>
            <a:ext cx="1020470" cy="274320"/>
          </a:xfrm>
          <a:prstGeom prst="rect">
            <a:avLst/>
          </a:prstGeom>
          <a:noFill/>
        </p:spPr>
        <p:txBody>
          <a:bodyPr wrap="square" lIns="0" rIns="0" tIns="0" bIns="0" anchor="ctr">
            <a:spAutoFit/>
          </a:bodyPr>
          <a:lstStyle/>
          <a:p>
            <a:pPr algn="ctr"/>
            <a:r>
              <a:rPr sz="1050" b="1" i="0">
                <a:solidFill>
                  <a:srgbClr val="0F6FA8"/>
                </a:solidFill>
                <a:latin typeface="Arial"/>
              </a:rPr>
              <a:t>SE SUMA</a:t>
            </a:r>
          </a:p>
        </p:txBody>
      </p:sp>
      <p:sp>
        <p:nvSpPr>
          <p:cNvPr id="26" name="TextBox 25"/>
          <p:cNvSpPr txBox="1"/>
          <p:nvPr/>
        </p:nvSpPr>
        <p:spPr>
          <a:xfrm>
            <a:off x="6437376" y="3291840"/>
            <a:ext cx="2148840" cy="548640"/>
          </a:xfrm>
          <a:prstGeom prst="rect">
            <a:avLst/>
          </a:prstGeom>
          <a:noFill/>
        </p:spPr>
        <p:txBody>
          <a:bodyPr wrap="square" lIns="0" rIns="0" tIns="0" bIns="0" anchor="t">
            <a:spAutoFit/>
          </a:bodyPr>
          <a:lstStyle/>
          <a:p>
            <a:pPr algn="l"/>
            <a:r>
              <a:rPr sz="1700" b="1" i="0">
                <a:solidFill>
                  <a:srgbClr val="13202E"/>
                </a:solidFill>
                <a:latin typeface="Arial"/>
              </a:rPr>
              <a:t>Qué vino a hacer</a:t>
            </a:r>
          </a:p>
        </p:txBody>
      </p:sp>
      <p:sp>
        <p:nvSpPr>
          <p:cNvPr id="27" name="TextBox 26"/>
          <p:cNvSpPr txBox="1"/>
          <p:nvPr/>
        </p:nvSpPr>
        <p:spPr>
          <a:xfrm>
            <a:off x="6437376" y="3886200"/>
            <a:ext cx="2148840" cy="274320"/>
          </a:xfrm>
          <a:prstGeom prst="rect">
            <a:avLst/>
          </a:prstGeom>
          <a:noFill/>
        </p:spPr>
        <p:txBody>
          <a:bodyPr wrap="square" lIns="0" rIns="0" tIns="0" bIns="0" anchor="t">
            <a:spAutoFit/>
          </a:bodyPr>
          <a:lstStyle/>
          <a:p>
            <a:pPr algn="l"/>
            <a:r>
              <a:rPr sz="1300" b="1" i="0">
                <a:solidFill>
                  <a:srgbClr val="0F6FA8"/>
                </a:solidFill>
                <a:latin typeface="Arial"/>
              </a:rPr>
              <a:t>Sistema de camiones</a:t>
            </a:r>
          </a:p>
        </p:txBody>
      </p:sp>
      <p:sp>
        <p:nvSpPr>
          <p:cNvPr id="28" name="TextBox 27"/>
          <p:cNvSpPr txBox="1"/>
          <p:nvPr/>
        </p:nvSpPr>
        <p:spPr>
          <a:xfrm>
            <a:off x="6437376" y="4187952"/>
            <a:ext cx="2148840" cy="502920"/>
          </a:xfrm>
          <a:prstGeom prst="rect">
            <a:avLst/>
          </a:prstGeom>
          <a:noFill/>
        </p:spPr>
        <p:txBody>
          <a:bodyPr wrap="square" lIns="0" rIns="0" tIns="0" bIns="0" anchor="t">
            <a:spAutoFit/>
          </a:bodyPr>
          <a:lstStyle/>
          <a:p>
            <a:pPr algn="l"/>
            <a:r>
              <a:rPr sz="1200" b="0" i="0">
                <a:solidFill>
                  <a:srgbClr val="4A5868"/>
                </a:solidFill>
                <a:latin typeface="Arial"/>
              </a:rPr>
              <a:t>contrato, cupo, producto y destino asignado</a:t>
            </a:r>
          </a:p>
        </p:txBody>
      </p:sp>
      <p:cxnSp>
        <p:nvCxnSpPr>
          <p:cNvPr id="29" name="Connector 28"/>
          <p:cNvCxnSpPr/>
          <p:nvPr/>
        </p:nvCxnSpPr>
        <p:spPr>
          <a:xfrm>
            <a:off x="8915400" y="3630168"/>
            <a:ext cx="274320" cy="0"/>
          </a:xfrm>
          <a:prstGeom prst="line">
            <a:avLst/>
          </a:prstGeom>
          <a:ln w="28575">
            <a:solidFill>
              <a:srgbClr val="132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253728" y="2514600"/>
            <a:ext cx="2130552" cy="2240280"/>
          </a:xfrm>
          <a:prstGeom prst="roundRect">
            <a:avLst>
              <a:gd name="adj" fmla="val 5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64040" y="2724912"/>
            <a:ext cx="1737360" cy="274320"/>
          </a:xfrm>
          <a:prstGeom prst="rect">
            <a:avLst/>
          </a:prstGeom>
          <a:noFill/>
        </p:spPr>
        <p:txBody>
          <a:bodyPr wrap="square" lIns="0" rIns="0" tIns="0" bIns="0" anchor="t">
            <a:spAutoFit/>
          </a:bodyPr>
          <a:lstStyle/>
          <a:p>
            <a:pPr algn="l"/>
            <a:r>
              <a:rPr sz="1050" b="1" i="0">
                <a:solidFill>
                  <a:srgbClr val="6CC1F2"/>
                </a:solidFill>
                <a:latin typeface="Arial"/>
              </a:rPr>
              <a:t>RESULTADO</a:t>
            </a:r>
          </a:p>
        </p:txBody>
      </p:sp>
      <p:sp>
        <p:nvSpPr>
          <p:cNvPr id="32" name="TextBox 31"/>
          <p:cNvSpPr txBox="1"/>
          <p:nvPr/>
        </p:nvSpPr>
        <p:spPr>
          <a:xfrm>
            <a:off x="9464040" y="3035808"/>
            <a:ext cx="1783080" cy="822960"/>
          </a:xfrm>
          <a:prstGeom prst="rect">
            <a:avLst/>
          </a:prstGeom>
          <a:noFill/>
        </p:spPr>
        <p:txBody>
          <a:bodyPr wrap="square" lIns="0" rIns="0" tIns="0" bIns="0" anchor="t">
            <a:spAutoFit/>
          </a:bodyPr>
          <a:lstStyle/>
          <a:p>
            <a:pPr algn="l"/>
            <a:r>
              <a:rPr sz="1700" b="1" i="0">
                <a:solidFill>
                  <a:srgbClr val="FFFFFF"/>
                </a:solidFill>
                <a:latin typeface="Arial"/>
              </a:rPr>
              <a:t>Un evento enriquecido y confirmado</a:t>
            </a:r>
          </a:p>
        </p:txBody>
      </p:sp>
      <p:sp>
        <p:nvSpPr>
          <p:cNvPr id="33" name="TextBox 32"/>
          <p:cNvSpPr txBox="1"/>
          <p:nvPr/>
        </p:nvSpPr>
        <p:spPr>
          <a:xfrm>
            <a:off x="9464040" y="3977639"/>
            <a:ext cx="1783080" cy="731520"/>
          </a:xfrm>
          <a:prstGeom prst="rect">
            <a:avLst/>
          </a:prstGeom>
          <a:noFill/>
        </p:spPr>
        <p:txBody>
          <a:bodyPr wrap="square" lIns="0" rIns="0" tIns="0" bIns="0" anchor="t">
            <a:spAutoFit/>
          </a:bodyPr>
          <a:lstStyle/>
          <a:p>
            <a:pPr algn="l"/>
            <a:r>
              <a:rPr sz="1200" b="0" i="0">
                <a:solidFill>
                  <a:srgbClr val="B8C4CE"/>
                </a:solidFill>
                <a:latin typeface="Arial"/>
              </a:rPr>
              <a:t>la materia prima de cualquier automatización</a:t>
            </a:r>
          </a:p>
        </p:txBody>
      </p:sp>
      <p:sp>
        <p:nvSpPr>
          <p:cNvPr id="34" name="TextBox 33"/>
          <p:cNvSpPr txBox="1"/>
          <p:nvPr/>
        </p:nvSpPr>
        <p:spPr>
          <a:xfrm>
            <a:off x="813816" y="5074920"/>
            <a:ext cx="10570464" cy="548640"/>
          </a:xfrm>
          <a:prstGeom prst="rect">
            <a:avLst/>
          </a:prstGeom>
          <a:noFill/>
        </p:spPr>
        <p:txBody>
          <a:bodyPr wrap="square" lIns="0" rIns="0" tIns="0" bIns="0" anchor="t">
            <a:spAutoFit/>
          </a:bodyPr>
          <a:lstStyle/>
          <a:p>
            <a:pPr algn="l"/>
            <a:r>
              <a:rPr sz="1400" b="1" i="0">
                <a:solidFill>
                  <a:srgbClr val="13202E"/>
                </a:solidFill>
                <a:latin typeface="Arial"/>
              </a:rPr>
              <a:t>Sin esta base, automatizar es imposible: </a:t>
            </a:r>
            <a:r>
              <a:rPr sz="1400" b="0" i="0">
                <a:solidFill>
                  <a:srgbClr val="13202E"/>
                </a:solidFill>
                <a:latin typeface="Arial"/>
              </a:rPr>
              <a:t>nadie puede decidir por la planta si no sabe dónde está cada camión, cómo es la planta y qué vino a hacer.</a:t>
            </a:r>
          </a:p>
        </p:txBody>
      </p:sp>
      <p:sp>
        <p:nvSpPr>
          <p:cNvPr id="35" name="TextBox 34"/>
          <p:cNvSpPr txBox="1"/>
          <p:nvPr/>
        </p:nvSpPr>
        <p:spPr>
          <a:xfrm>
            <a:off x="813816" y="6236208"/>
            <a:ext cx="9601200" cy="237744"/>
          </a:xfrm>
          <a:prstGeom prst="rect">
            <a:avLst/>
          </a:prstGeom>
          <a:noFill/>
        </p:spPr>
        <p:txBody>
          <a:bodyPr wrap="square" lIns="0" rIns="0" tIns="0" bIns="0" anchor="t">
            <a:spAutoFit/>
          </a:bodyPr>
          <a:lstStyle/>
          <a:p>
            <a:pPr algn="l"/>
            <a:r>
              <a:rPr sz="1100" b="0" i="0">
                <a:solidFill>
                  <a:srgbClr val="5B6776"/>
                </a:solidFill>
                <a:latin typeface="Arial"/>
              </a:rPr>
              <a:t>Truckflow Vicentin · propuesta interna</a:t>
            </a:r>
          </a:p>
        </p:txBody>
      </p:sp>
      <p:sp>
        <p:nvSpPr>
          <p:cNvPr id="36" name="TextBox 35"/>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07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EF2F4"/>
        </a:solidFill>
        <a:effectLst/>
      </p:bgPr>
    </p:bg>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r>
              <a:rPr sz="1200" b="1" i="0">
                <a:solidFill>
                  <a:srgbClr val="0F6FA8"/>
                </a:solidFill>
                <a:latin typeface="Arial"/>
              </a:rPr>
              <a:t>EL NODO · LA UNIDAD DEL PROYECTO</a:t>
            </a:r>
          </a:p>
        </p:txBody>
      </p:sp>
      <p:sp>
        <p:nvSpPr>
          <p:cNvPr id="3" name="TextBox 2"/>
          <p:cNvSpPr txBox="1"/>
          <p:nvPr/>
        </p:nvSpPr>
        <p:spPr>
          <a:xfrm>
            <a:off x="813816" y="1097280"/>
            <a:ext cx="10881360" cy="548640"/>
          </a:xfrm>
          <a:prstGeom prst="rect">
            <a:avLst/>
          </a:prstGeom>
          <a:noFill/>
        </p:spPr>
        <p:txBody>
          <a:bodyPr wrap="square" lIns="0" rIns="0" tIns="0" bIns="0" anchor="t">
            <a:spAutoFit/>
          </a:bodyPr>
          <a:lstStyle/>
          <a:p>
            <a:pPr algn="l"/>
            <a:r>
              <a:rPr sz="3000" b="1" i="0">
                <a:solidFill>
                  <a:srgbClr val="13202E"/>
                </a:solidFill>
                <a:latin typeface="Arial"/>
              </a:rPr>
              <a:t>El nodo: un lugar, un Edge y una lógica</a:t>
            </a:r>
          </a:p>
        </p:txBody>
      </p:sp>
      <p:sp>
        <p:nvSpPr>
          <p:cNvPr id="4" name="TextBox 3"/>
          <p:cNvSpPr txBox="1"/>
          <p:nvPr/>
        </p:nvSpPr>
        <p:spPr>
          <a:xfrm>
            <a:off x="813816" y="1700784"/>
            <a:ext cx="10607040" cy="548640"/>
          </a:xfrm>
          <a:prstGeom prst="rect">
            <a:avLst/>
          </a:prstGeom>
          <a:noFill/>
        </p:spPr>
        <p:txBody>
          <a:bodyPr wrap="square" lIns="0" rIns="0" tIns="0" bIns="0" anchor="t">
            <a:spAutoFit/>
          </a:bodyPr>
          <a:lstStyle/>
          <a:p>
            <a:pPr algn="l"/>
            <a:r>
              <a:rPr sz="1500" b="0" i="0">
                <a:solidFill>
                  <a:srgbClr val="4A5868"/>
                </a:solidFill>
                <a:latin typeface="Arial"/>
              </a:rPr>
              <a:t>Cada punto de la planta es un nodo. Su Edge recibe todas las señales del lugar, las confirma y emite un solo evento.</a:t>
            </a:r>
          </a:p>
        </p:txBody>
      </p:sp>
      <p:sp>
        <p:nvSpPr>
          <p:cNvPr id="5" name="TextBox 4"/>
          <p:cNvSpPr txBox="1"/>
          <p:nvPr/>
        </p:nvSpPr>
        <p:spPr>
          <a:xfrm>
            <a:off x="813816" y="2395728"/>
            <a:ext cx="2926080" cy="237744"/>
          </a:xfrm>
          <a:prstGeom prst="rect">
            <a:avLst/>
          </a:prstGeom>
          <a:noFill/>
        </p:spPr>
        <p:txBody>
          <a:bodyPr wrap="square" lIns="0" rIns="0" tIns="0" bIns="0" anchor="t">
            <a:spAutoFit/>
          </a:bodyPr>
          <a:lstStyle/>
          <a:p>
            <a:pPr algn="l"/>
            <a:r>
              <a:rPr sz="1100" b="1" i="0">
                <a:solidFill>
                  <a:srgbClr val="0F6FA8"/>
                </a:solidFill>
                <a:latin typeface="Arial"/>
              </a:rPr>
              <a:t>ENTRADAS</a:t>
            </a:r>
          </a:p>
        </p:txBody>
      </p:sp>
      <p:sp>
        <p:nvSpPr>
          <p:cNvPr id="6" name="Rounded Rectangle 5"/>
          <p:cNvSpPr/>
          <p:nvPr/>
        </p:nvSpPr>
        <p:spPr>
          <a:xfrm>
            <a:off x="813816" y="2697480"/>
            <a:ext cx="3017520" cy="749808"/>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8408" y="2788920"/>
            <a:ext cx="2743200" cy="274320"/>
          </a:xfrm>
          <a:prstGeom prst="rect">
            <a:avLst/>
          </a:prstGeom>
          <a:noFill/>
        </p:spPr>
        <p:txBody>
          <a:bodyPr wrap="square" lIns="0" rIns="0" tIns="0" bIns="0" anchor="t">
            <a:spAutoFit/>
          </a:bodyPr>
          <a:lstStyle/>
          <a:p>
            <a:pPr algn="l"/>
            <a:r>
              <a:rPr sz="1300" b="1" i="0">
                <a:solidFill>
                  <a:srgbClr val="13202E"/>
                </a:solidFill>
                <a:latin typeface="Arial"/>
              </a:rPr>
              <a:t>Cámaras de patente</a:t>
            </a:r>
          </a:p>
        </p:txBody>
      </p:sp>
      <p:sp>
        <p:nvSpPr>
          <p:cNvPr id="8" name="TextBox 7"/>
          <p:cNvSpPr txBox="1"/>
          <p:nvPr/>
        </p:nvSpPr>
        <p:spPr>
          <a:xfrm>
            <a:off x="978408" y="3118104"/>
            <a:ext cx="1783080" cy="274320"/>
          </a:xfrm>
          <a:prstGeom prst="rect">
            <a:avLst/>
          </a:prstGeom>
          <a:noFill/>
        </p:spPr>
        <p:txBody>
          <a:bodyPr wrap="square" lIns="0" rIns="0" tIns="0" bIns="0" anchor="t">
            <a:spAutoFit/>
          </a:bodyPr>
          <a:lstStyle/>
          <a:p>
            <a:pPr algn="l"/>
            <a:r>
              <a:rPr sz="1050" b="0" i="0">
                <a:solidFill>
                  <a:srgbClr val="4A5868"/>
                </a:solidFill>
                <a:latin typeface="Arial"/>
              </a:rPr>
              <a:t>frontal y trasera</a:t>
            </a:r>
          </a:p>
        </p:txBody>
      </p:sp>
      <p:sp>
        <p:nvSpPr>
          <p:cNvPr id="9" name="Rounded Rectangle 8"/>
          <p:cNvSpPr/>
          <p:nvPr/>
        </p:nvSpPr>
        <p:spPr>
          <a:xfrm>
            <a:off x="3096158" y="3099816"/>
            <a:ext cx="625449" cy="274320"/>
          </a:xfrm>
          <a:prstGeom prst="roundRect">
            <a:avLst>
              <a:gd name="adj" fmla="val 50000"/>
            </a:avLst>
          </a:prstGeom>
          <a:solidFill>
            <a:srgbClr val="DC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096158" y="3099816"/>
            <a:ext cx="625449" cy="274320"/>
          </a:xfrm>
          <a:prstGeom prst="rect">
            <a:avLst/>
          </a:prstGeom>
          <a:noFill/>
        </p:spPr>
        <p:txBody>
          <a:bodyPr wrap="square" lIns="0" rIns="0" tIns="0" bIns="0" anchor="ctr">
            <a:spAutoFit/>
          </a:bodyPr>
          <a:lstStyle/>
          <a:p>
            <a:pPr algn="ctr"/>
            <a:r>
              <a:rPr sz="1050" b="1" i="0">
                <a:solidFill>
                  <a:srgbClr val="0B5638"/>
                </a:solidFill>
                <a:latin typeface="Arial"/>
              </a:rPr>
              <a:t>HOY</a:t>
            </a:r>
          </a:p>
        </p:txBody>
      </p:sp>
      <p:cxnSp>
        <p:nvCxnSpPr>
          <p:cNvPr id="11" name="Connector 10"/>
          <p:cNvCxnSpPr/>
          <p:nvPr/>
        </p:nvCxnSpPr>
        <p:spPr>
          <a:xfrm>
            <a:off x="3840480" y="3072384"/>
            <a:ext cx="384048" cy="539496"/>
          </a:xfrm>
          <a:prstGeom prst="line">
            <a:avLst/>
          </a:prstGeom>
          <a:ln w="15875">
            <a:solidFill>
              <a:srgbClr val="C9CA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3816" y="3593592"/>
            <a:ext cx="3017520" cy="749808"/>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78408" y="3685032"/>
            <a:ext cx="2743200" cy="274320"/>
          </a:xfrm>
          <a:prstGeom prst="rect">
            <a:avLst/>
          </a:prstGeom>
          <a:noFill/>
        </p:spPr>
        <p:txBody>
          <a:bodyPr wrap="square" lIns="0" rIns="0" tIns="0" bIns="0" anchor="t">
            <a:spAutoFit/>
          </a:bodyPr>
          <a:lstStyle/>
          <a:p>
            <a:pPr algn="l"/>
            <a:r>
              <a:rPr sz="1300" b="1" i="0">
                <a:solidFill>
                  <a:srgbClr val="13202E"/>
                </a:solidFill>
                <a:latin typeface="Arial"/>
              </a:rPr>
              <a:t>Balanzas PLC + fotocélulas</a:t>
            </a:r>
          </a:p>
        </p:txBody>
      </p:sp>
      <p:sp>
        <p:nvSpPr>
          <p:cNvPr id="14" name="TextBox 13"/>
          <p:cNvSpPr txBox="1"/>
          <p:nvPr/>
        </p:nvSpPr>
        <p:spPr>
          <a:xfrm>
            <a:off x="978408" y="4014216"/>
            <a:ext cx="1783080" cy="274320"/>
          </a:xfrm>
          <a:prstGeom prst="rect">
            <a:avLst/>
          </a:prstGeom>
          <a:noFill/>
        </p:spPr>
        <p:txBody>
          <a:bodyPr wrap="square" lIns="0" rIns="0" tIns="0" bIns="0" anchor="t">
            <a:spAutoFit/>
          </a:bodyPr>
          <a:lstStyle/>
          <a:p>
            <a:pPr algn="l"/>
            <a:r>
              <a:rPr sz="1050" b="0" i="0">
                <a:solidFill>
                  <a:srgbClr val="4A5868"/>
                </a:solidFill>
                <a:latin typeface="Arial"/>
              </a:rPr>
              <a:t>peso y posición</a:t>
            </a:r>
          </a:p>
        </p:txBody>
      </p:sp>
      <p:sp>
        <p:nvSpPr>
          <p:cNvPr id="15" name="Rounded Rectangle 14"/>
          <p:cNvSpPr/>
          <p:nvPr/>
        </p:nvSpPr>
        <p:spPr>
          <a:xfrm>
            <a:off x="2701137" y="3995928"/>
            <a:ext cx="1020470" cy="274320"/>
          </a:xfrm>
          <a:prstGeom prst="roundRect">
            <a:avLst>
              <a:gd name="adj" fmla="val 50000"/>
            </a:avLst>
          </a:prstGeom>
          <a:solidFill>
            <a:srgbClr val="DC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701137" y="3995928"/>
            <a:ext cx="1020470" cy="274320"/>
          </a:xfrm>
          <a:prstGeom prst="rect">
            <a:avLst/>
          </a:prstGeom>
          <a:noFill/>
        </p:spPr>
        <p:txBody>
          <a:bodyPr wrap="square" lIns="0" rIns="0" tIns="0" bIns="0" anchor="ctr">
            <a:spAutoFit/>
          </a:bodyPr>
          <a:lstStyle/>
          <a:p>
            <a:pPr algn="ctr"/>
            <a:r>
              <a:rPr sz="1050" b="1" i="0">
                <a:solidFill>
                  <a:srgbClr val="0F6FA8"/>
                </a:solidFill>
                <a:latin typeface="Arial"/>
              </a:rPr>
              <a:t>SE SUMA</a:t>
            </a:r>
          </a:p>
        </p:txBody>
      </p:sp>
      <p:cxnSp>
        <p:nvCxnSpPr>
          <p:cNvPr id="17" name="Connector 16"/>
          <p:cNvCxnSpPr/>
          <p:nvPr/>
        </p:nvCxnSpPr>
        <p:spPr>
          <a:xfrm flipV="1">
            <a:off x="3840480" y="3611880"/>
            <a:ext cx="384048" cy="356616"/>
          </a:xfrm>
          <a:prstGeom prst="line">
            <a:avLst/>
          </a:prstGeom>
          <a:ln w="15875">
            <a:solidFill>
              <a:srgbClr val="C9CA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3816" y="4489704"/>
            <a:ext cx="3017520" cy="749808"/>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78408" y="4581144"/>
            <a:ext cx="2743200" cy="274320"/>
          </a:xfrm>
          <a:prstGeom prst="rect">
            <a:avLst/>
          </a:prstGeom>
          <a:noFill/>
        </p:spPr>
        <p:txBody>
          <a:bodyPr wrap="square" lIns="0" rIns="0" tIns="0" bIns="0" anchor="t">
            <a:spAutoFit/>
          </a:bodyPr>
          <a:lstStyle/>
          <a:p>
            <a:pPr algn="l"/>
            <a:r>
              <a:rPr sz="1300" b="1" i="0">
                <a:solidFill>
                  <a:srgbClr val="13202E"/>
                </a:solidFill>
                <a:latin typeface="Arial"/>
              </a:rPr>
              <a:t>Identificación del chofer</a:t>
            </a:r>
          </a:p>
        </p:txBody>
      </p:sp>
      <p:sp>
        <p:nvSpPr>
          <p:cNvPr id="20" name="TextBox 19"/>
          <p:cNvSpPr txBox="1"/>
          <p:nvPr/>
        </p:nvSpPr>
        <p:spPr>
          <a:xfrm>
            <a:off x="978408" y="4910328"/>
            <a:ext cx="1783080" cy="274320"/>
          </a:xfrm>
          <a:prstGeom prst="rect">
            <a:avLst/>
          </a:prstGeom>
          <a:noFill/>
        </p:spPr>
        <p:txBody>
          <a:bodyPr wrap="square" lIns="0" rIns="0" tIns="0" bIns="0" anchor="t">
            <a:spAutoFit/>
          </a:bodyPr>
          <a:lstStyle/>
          <a:p>
            <a:pPr algn="l"/>
            <a:r>
              <a:rPr sz="1050" b="0" i="0">
                <a:solidFill>
                  <a:srgbClr val="4A5868"/>
                </a:solidFill>
                <a:latin typeface="Arial"/>
              </a:rPr>
              <a:t>y sensores nuevos</a:t>
            </a:r>
          </a:p>
        </p:txBody>
      </p:sp>
      <p:sp>
        <p:nvSpPr>
          <p:cNvPr id="21" name="Rounded Rectangle 20"/>
          <p:cNvSpPr/>
          <p:nvPr/>
        </p:nvSpPr>
        <p:spPr>
          <a:xfrm>
            <a:off x="2701137" y="4892040"/>
            <a:ext cx="1020470" cy="274320"/>
          </a:xfrm>
          <a:prstGeom prst="roundRect">
            <a:avLst>
              <a:gd name="adj" fmla="val 50000"/>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701137" y="4892040"/>
            <a:ext cx="1020470" cy="274320"/>
          </a:xfrm>
          <a:prstGeom prst="rect">
            <a:avLst/>
          </a:prstGeom>
          <a:noFill/>
        </p:spPr>
        <p:txBody>
          <a:bodyPr wrap="square" lIns="0" rIns="0" tIns="0" bIns="0" anchor="ctr">
            <a:spAutoFit/>
          </a:bodyPr>
          <a:lstStyle/>
          <a:p>
            <a:pPr algn="ctr"/>
            <a:r>
              <a:rPr sz="1050" b="1" i="0">
                <a:solidFill>
                  <a:srgbClr val="4A5868"/>
                </a:solidFill>
                <a:latin typeface="Arial"/>
              </a:rPr>
              <a:t>DESPUÉS</a:t>
            </a:r>
          </a:p>
        </p:txBody>
      </p:sp>
      <p:cxnSp>
        <p:nvCxnSpPr>
          <p:cNvPr id="23" name="Connector 22"/>
          <p:cNvCxnSpPr/>
          <p:nvPr/>
        </p:nvCxnSpPr>
        <p:spPr>
          <a:xfrm flipV="1">
            <a:off x="3840480" y="3611880"/>
            <a:ext cx="384048" cy="1252728"/>
          </a:xfrm>
          <a:prstGeom prst="line">
            <a:avLst/>
          </a:prstGeom>
          <a:ln w="15875">
            <a:solidFill>
              <a:srgbClr val="C9CA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251960" y="2395728"/>
            <a:ext cx="3977639" cy="2743200"/>
          </a:xfrm>
          <a:prstGeom prst="roundRect">
            <a:avLst>
              <a:gd name="adj" fmla="val 4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498848" y="2578608"/>
            <a:ext cx="3474720" cy="274320"/>
          </a:xfrm>
          <a:prstGeom prst="rect">
            <a:avLst/>
          </a:prstGeom>
          <a:noFill/>
        </p:spPr>
        <p:txBody>
          <a:bodyPr wrap="square" lIns="0" rIns="0" tIns="0" bIns="0" anchor="t">
            <a:spAutoFit/>
          </a:bodyPr>
          <a:lstStyle/>
          <a:p>
            <a:pPr algn="l"/>
            <a:r>
              <a:rPr sz="1100" b="1" i="0">
                <a:solidFill>
                  <a:srgbClr val="6CC1F2"/>
                </a:solidFill>
                <a:latin typeface="Arial"/>
              </a:rPr>
              <a:t>EDGE DEL NODO · EN PLANTA</a:t>
            </a:r>
          </a:p>
        </p:txBody>
      </p:sp>
      <p:sp>
        <p:nvSpPr>
          <p:cNvPr id="26" name="TextBox 25"/>
          <p:cNvSpPr txBox="1"/>
          <p:nvPr/>
        </p:nvSpPr>
        <p:spPr>
          <a:xfrm>
            <a:off x="4498848" y="2926080"/>
            <a:ext cx="3566160" cy="365760"/>
          </a:xfrm>
          <a:prstGeom prst="rect">
            <a:avLst/>
          </a:prstGeom>
          <a:noFill/>
        </p:spPr>
        <p:txBody>
          <a:bodyPr wrap="square" lIns="0" rIns="0" tIns="0" bIns="0" anchor="t">
            <a:spAutoFit/>
          </a:bodyPr>
          <a:lstStyle/>
          <a:p>
            <a:pPr algn="l"/>
            <a:r>
              <a:rPr sz="1300" b="1" i="0">
                <a:solidFill>
                  <a:srgbClr val="FFFFFF"/>
                </a:solidFill>
                <a:latin typeface="Arial"/>
              </a:rPr>
              <a:t>Confirma  </a:t>
            </a:r>
            <a:r>
              <a:rPr sz="1300" b="0" i="0">
                <a:solidFill>
                  <a:srgbClr val="B8C4CE"/>
                </a:solidFill>
                <a:latin typeface="Arial"/>
              </a:rPr>
              <a:t>el paso con dos fuentes</a:t>
            </a:r>
          </a:p>
        </p:txBody>
      </p:sp>
      <p:sp>
        <p:nvSpPr>
          <p:cNvPr id="27" name="TextBox 26"/>
          <p:cNvSpPr txBox="1"/>
          <p:nvPr/>
        </p:nvSpPr>
        <p:spPr>
          <a:xfrm>
            <a:off x="4498848" y="3346704"/>
            <a:ext cx="3566160" cy="365760"/>
          </a:xfrm>
          <a:prstGeom prst="rect">
            <a:avLst/>
          </a:prstGeom>
          <a:noFill/>
        </p:spPr>
        <p:txBody>
          <a:bodyPr wrap="square" lIns="0" rIns="0" tIns="0" bIns="0" anchor="t">
            <a:spAutoFit/>
          </a:bodyPr>
          <a:lstStyle/>
          <a:p>
            <a:pPr algn="l"/>
            <a:r>
              <a:rPr sz="1300" b="1" i="0">
                <a:solidFill>
                  <a:srgbClr val="FFFFFF"/>
                </a:solidFill>
                <a:latin typeface="Arial"/>
              </a:rPr>
              <a:t>Valida  </a:t>
            </a:r>
            <a:r>
              <a:rPr sz="1300" b="0" i="0">
                <a:solidFill>
                  <a:srgbClr val="B8C4CE"/>
                </a:solidFill>
                <a:latin typeface="Arial"/>
              </a:rPr>
              <a:t>de dónde viene y a dónde puede seguir</a:t>
            </a:r>
          </a:p>
        </p:txBody>
      </p:sp>
      <p:sp>
        <p:nvSpPr>
          <p:cNvPr id="28" name="TextBox 27"/>
          <p:cNvSpPr txBox="1"/>
          <p:nvPr/>
        </p:nvSpPr>
        <p:spPr>
          <a:xfrm>
            <a:off x="4498848" y="3767328"/>
            <a:ext cx="3566160" cy="365760"/>
          </a:xfrm>
          <a:prstGeom prst="rect">
            <a:avLst/>
          </a:prstGeom>
          <a:noFill/>
        </p:spPr>
        <p:txBody>
          <a:bodyPr wrap="square" lIns="0" rIns="0" tIns="0" bIns="0" anchor="t">
            <a:spAutoFit/>
          </a:bodyPr>
          <a:lstStyle/>
          <a:p>
            <a:pPr algn="l"/>
            <a:r>
              <a:rPr sz="1300" b="1" i="0">
                <a:solidFill>
                  <a:srgbClr val="FFFFFF"/>
                </a:solidFill>
                <a:latin typeface="Arial"/>
              </a:rPr>
              <a:t>Completa  </a:t>
            </a:r>
            <a:r>
              <a:rPr sz="1300" b="0" i="0">
                <a:solidFill>
                  <a:srgbClr val="B8C4CE"/>
                </a:solidFill>
                <a:latin typeface="Arial"/>
              </a:rPr>
              <a:t>lo que falta con los nodos vecinos</a:t>
            </a:r>
          </a:p>
        </p:txBody>
      </p:sp>
      <p:sp>
        <p:nvSpPr>
          <p:cNvPr id="29" name="TextBox 28"/>
          <p:cNvSpPr txBox="1"/>
          <p:nvPr/>
        </p:nvSpPr>
        <p:spPr>
          <a:xfrm>
            <a:off x="4498848" y="4187952"/>
            <a:ext cx="3566160" cy="365760"/>
          </a:xfrm>
          <a:prstGeom prst="rect">
            <a:avLst/>
          </a:prstGeom>
          <a:noFill/>
        </p:spPr>
        <p:txBody>
          <a:bodyPr wrap="square" lIns="0" rIns="0" tIns="0" bIns="0" anchor="t">
            <a:spAutoFit/>
          </a:bodyPr>
          <a:lstStyle/>
          <a:p>
            <a:pPr algn="l"/>
            <a:r>
              <a:rPr sz="1300" b="1" i="0">
                <a:solidFill>
                  <a:srgbClr val="FFFFFF"/>
                </a:solidFill>
                <a:latin typeface="Arial"/>
              </a:rPr>
              <a:t>No pierde  </a:t>
            </a:r>
            <a:r>
              <a:rPr sz="1300" b="0" i="0">
                <a:solidFill>
                  <a:srgbClr val="B8C4CE"/>
                </a:solidFill>
                <a:latin typeface="Arial"/>
              </a:rPr>
              <a:t>guarda y reenvía si se corta la red</a:t>
            </a:r>
          </a:p>
        </p:txBody>
      </p:sp>
      <p:sp>
        <p:nvSpPr>
          <p:cNvPr id="30" name="TextBox 29"/>
          <p:cNvSpPr txBox="1"/>
          <p:nvPr/>
        </p:nvSpPr>
        <p:spPr>
          <a:xfrm>
            <a:off x="4498848" y="4608576"/>
            <a:ext cx="3566160" cy="365760"/>
          </a:xfrm>
          <a:prstGeom prst="rect">
            <a:avLst/>
          </a:prstGeom>
          <a:noFill/>
        </p:spPr>
        <p:txBody>
          <a:bodyPr wrap="square" lIns="0" rIns="0" tIns="0" bIns="0" anchor="t">
            <a:spAutoFit/>
          </a:bodyPr>
          <a:lstStyle/>
          <a:p>
            <a:pPr algn="l"/>
            <a:r>
              <a:rPr sz="1300" b="1" i="0">
                <a:solidFill>
                  <a:srgbClr val="FFFFFF"/>
                </a:solidFill>
                <a:latin typeface="Arial"/>
              </a:rPr>
              <a:t>Pone la hora  </a:t>
            </a:r>
            <a:r>
              <a:rPr sz="1300" b="0" i="0">
                <a:solidFill>
                  <a:srgbClr val="B8C4CE"/>
                </a:solidFill>
                <a:latin typeface="Arial"/>
              </a:rPr>
              <a:t>real del lugar en cada evento</a:t>
            </a:r>
          </a:p>
        </p:txBody>
      </p:sp>
      <p:cxnSp>
        <p:nvCxnSpPr>
          <p:cNvPr id="31" name="Connector 30"/>
          <p:cNvCxnSpPr/>
          <p:nvPr/>
        </p:nvCxnSpPr>
        <p:spPr>
          <a:xfrm>
            <a:off x="8247888" y="3767328"/>
            <a:ext cx="393192" cy="0"/>
          </a:xfrm>
          <a:prstGeom prst="line">
            <a:avLst/>
          </a:prstGeom>
          <a:ln w="28575">
            <a:solidFill>
              <a:srgbClr val="132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686800" y="2395728"/>
            <a:ext cx="2697480" cy="141732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887968" y="2578608"/>
            <a:ext cx="2377440" cy="237744"/>
          </a:xfrm>
          <a:prstGeom prst="rect">
            <a:avLst/>
          </a:prstGeom>
          <a:noFill/>
        </p:spPr>
        <p:txBody>
          <a:bodyPr wrap="square" lIns="0" rIns="0" tIns="0" bIns="0" anchor="t">
            <a:spAutoFit/>
          </a:bodyPr>
          <a:lstStyle/>
          <a:p>
            <a:pPr algn="l"/>
            <a:r>
              <a:rPr sz="1100" b="1" i="0">
                <a:solidFill>
                  <a:srgbClr val="0F6FA8"/>
                </a:solidFill>
                <a:latin typeface="Arial"/>
              </a:rPr>
              <a:t>SALIDA</a:t>
            </a:r>
          </a:p>
        </p:txBody>
      </p:sp>
      <p:sp>
        <p:nvSpPr>
          <p:cNvPr id="34" name="TextBox 33"/>
          <p:cNvSpPr txBox="1"/>
          <p:nvPr/>
        </p:nvSpPr>
        <p:spPr>
          <a:xfrm>
            <a:off x="8887968" y="2852928"/>
            <a:ext cx="2377440" cy="868680"/>
          </a:xfrm>
          <a:prstGeom prst="rect">
            <a:avLst/>
          </a:prstGeom>
          <a:noFill/>
        </p:spPr>
        <p:txBody>
          <a:bodyPr wrap="square" lIns="0" rIns="0" tIns="0" bIns="0" anchor="t">
            <a:spAutoFit/>
          </a:bodyPr>
          <a:lstStyle/>
          <a:p>
            <a:pPr algn="l"/>
            <a:r>
              <a:rPr sz="1500" b="1" i="0">
                <a:solidFill>
                  <a:srgbClr val="13202E"/>
                </a:solidFill>
                <a:latin typeface="Arial"/>
              </a:rPr>
              <a:t>Un evento confirmado por paso, a TruckFlow</a:t>
            </a:r>
          </a:p>
        </p:txBody>
      </p:sp>
      <p:sp>
        <p:nvSpPr>
          <p:cNvPr id="35" name="Rounded Rectangle 34"/>
          <p:cNvSpPr/>
          <p:nvPr/>
        </p:nvSpPr>
        <p:spPr>
          <a:xfrm>
            <a:off x="8686800" y="3977639"/>
            <a:ext cx="2697480" cy="1161288"/>
          </a:xfrm>
          <a:prstGeom prst="roundRect">
            <a:avLst>
              <a:gd name="adj" fmla="val 5000"/>
            </a:avLst>
          </a:prstGeom>
          <a:solidFill>
            <a:srgbClr val="FBE9C8"/>
          </a:solidFill>
          <a:ln w="9525">
            <a:solidFill>
              <a:srgbClr val="C27C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887968" y="4114800"/>
            <a:ext cx="2377440" cy="237744"/>
          </a:xfrm>
          <a:prstGeom prst="rect">
            <a:avLst/>
          </a:prstGeom>
          <a:noFill/>
        </p:spPr>
        <p:txBody>
          <a:bodyPr wrap="square" lIns="0" rIns="0" tIns="0" bIns="0" anchor="t">
            <a:spAutoFit/>
          </a:bodyPr>
          <a:lstStyle/>
          <a:p>
            <a:pPr algn="l"/>
            <a:r>
              <a:rPr sz="1050" b="1" i="0">
                <a:solidFill>
                  <a:srgbClr val="8A5200"/>
                </a:solidFill>
                <a:latin typeface="Arial"/>
              </a:rPr>
              <a:t>HORIZONTE · EL NODO ACTÚA</a:t>
            </a:r>
          </a:p>
        </p:txBody>
      </p:sp>
      <p:sp>
        <p:nvSpPr>
          <p:cNvPr id="37" name="TextBox 36"/>
          <p:cNvSpPr txBox="1"/>
          <p:nvPr/>
        </p:nvSpPr>
        <p:spPr>
          <a:xfrm>
            <a:off x="8887968" y="4389120"/>
            <a:ext cx="2377440" cy="685800"/>
          </a:xfrm>
          <a:prstGeom prst="rect">
            <a:avLst/>
          </a:prstGeom>
          <a:noFill/>
        </p:spPr>
        <p:txBody>
          <a:bodyPr wrap="square" lIns="0" rIns="0" tIns="0" bIns="0" anchor="t">
            <a:spAutoFit/>
          </a:bodyPr>
          <a:lstStyle/>
          <a:p>
            <a:pPr algn="l"/>
            <a:r>
              <a:rPr sz="1200" b="0" i="0">
                <a:solidFill>
                  <a:srgbClr val="13202E"/>
                </a:solidFill>
                <a:latin typeface="Arial"/>
              </a:rPr>
              <a:t>barrera, semáforo y llamado de camiones desde la playa</a:t>
            </a:r>
          </a:p>
        </p:txBody>
      </p:sp>
      <p:sp>
        <p:nvSpPr>
          <p:cNvPr id="38" name="TextBox 37"/>
          <p:cNvSpPr txBox="1"/>
          <p:nvPr/>
        </p:nvSpPr>
        <p:spPr>
          <a:xfrm>
            <a:off x="813816" y="5440680"/>
            <a:ext cx="10570464" cy="457200"/>
          </a:xfrm>
          <a:prstGeom prst="rect">
            <a:avLst/>
          </a:prstGeom>
          <a:noFill/>
        </p:spPr>
        <p:txBody>
          <a:bodyPr wrap="square" lIns="0" rIns="0" tIns="0" bIns="0" anchor="t">
            <a:spAutoFit/>
          </a:bodyPr>
          <a:lstStyle/>
          <a:p>
            <a:pPr algn="l"/>
            <a:r>
              <a:rPr sz="1400" b="1" i="0">
                <a:solidFill>
                  <a:srgbClr val="13202E"/>
                </a:solidFill>
                <a:latin typeface="Arial"/>
              </a:rPr>
              <a:t>Escala solo: </a:t>
            </a:r>
            <a:r>
              <a:rPr sz="1400" b="0" i="0">
                <a:solidFill>
                  <a:srgbClr val="13202E"/>
                </a:solidFill>
                <a:latin typeface="Arial"/>
              </a:rPr>
              <a:t>sumar un sensor es sumar una entrada a un nodo; sumar un punto es sumar un nodo al modelo.</a:t>
            </a:r>
          </a:p>
        </p:txBody>
      </p:sp>
      <p:sp>
        <p:nvSpPr>
          <p:cNvPr id="39" name="TextBox 38"/>
          <p:cNvSpPr txBox="1"/>
          <p:nvPr/>
        </p:nvSpPr>
        <p:spPr>
          <a:xfrm>
            <a:off x="813816" y="6236208"/>
            <a:ext cx="9601200" cy="237744"/>
          </a:xfrm>
          <a:prstGeom prst="rect">
            <a:avLst/>
          </a:prstGeom>
          <a:noFill/>
        </p:spPr>
        <p:txBody>
          <a:bodyPr wrap="square" lIns="0" rIns="0" tIns="0" bIns="0" anchor="t">
            <a:spAutoFit/>
          </a:bodyPr>
          <a:lstStyle/>
          <a:p>
            <a:pPr algn="l"/>
            <a:r>
              <a:rPr sz="1100" b="0" i="0">
                <a:solidFill>
                  <a:srgbClr val="5B6776"/>
                </a:solidFill>
                <a:latin typeface="Arial"/>
              </a:rPr>
              <a:t>Truckflow Vicentin · propuesta interna</a:t>
            </a:r>
          </a:p>
        </p:txBody>
      </p:sp>
      <p:sp>
        <p:nvSpPr>
          <p:cNvPr id="40" name="TextBox 39"/>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08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DFB"/>
        </a:solidFill>
        <a:effectLst/>
      </p:bgPr>
    </p:bg>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r>
              <a:rPr sz="1200" b="1" i="0">
                <a:solidFill>
                  <a:srgbClr val="0F6FA8"/>
                </a:solidFill>
                <a:latin typeface="Arial"/>
              </a:rPr>
              <a:t>EL MODELO DE NODOS · 33 NODOS · 50 CIRCUITOS · 5 PLAYAS</a:t>
            </a:r>
          </a:p>
        </p:txBody>
      </p:sp>
      <p:sp>
        <p:nvSpPr>
          <p:cNvPr id="3" name="TextBox 2"/>
          <p:cNvSpPr txBox="1"/>
          <p:nvPr/>
        </p:nvSpPr>
        <p:spPr>
          <a:xfrm>
            <a:off x="813816" y="1097280"/>
            <a:ext cx="10881360" cy="548640"/>
          </a:xfrm>
          <a:prstGeom prst="rect">
            <a:avLst/>
          </a:prstGeom>
          <a:noFill/>
        </p:spPr>
        <p:txBody>
          <a:bodyPr wrap="square" lIns="0" rIns="0" tIns="0" bIns="0" anchor="t">
            <a:spAutoFit/>
          </a:bodyPr>
          <a:lstStyle/>
          <a:p>
            <a:pPr algn="l"/>
            <a:r>
              <a:rPr sz="3000" b="1" i="0">
                <a:solidFill>
                  <a:srgbClr val="13202E"/>
                </a:solidFill>
                <a:latin typeface="Arial"/>
              </a:rPr>
              <a:t>Una sola versión de la planta</a:t>
            </a:r>
          </a:p>
        </p:txBody>
      </p:sp>
      <p:pic>
        <p:nvPicPr>
          <p:cNvPr id="4" name="Picture 3" descr="graph_full.png"/>
          <p:cNvPicPr>
            <a:picLocks noChangeAspect="1"/>
          </p:cNvPicPr>
          <p:nvPr/>
        </p:nvPicPr>
        <p:blipFill>
          <a:blip r:embed="rId2"/>
          <a:stretch>
            <a:fillRect/>
          </a:stretch>
        </p:blipFill>
        <p:spPr>
          <a:xfrm>
            <a:off x="813816" y="1737360"/>
            <a:ext cx="10570464" cy="4519438"/>
          </a:xfrm>
          <a:prstGeom prst="rect">
            <a:avLst/>
          </a:prstGeom>
        </p:spPr>
      </p:pic>
      <p:sp>
        <p:nvSpPr>
          <p:cNvPr id="5" name="Oval 4"/>
          <p:cNvSpPr/>
          <p:nvPr/>
        </p:nvSpPr>
        <p:spPr>
          <a:xfrm>
            <a:off x="813816" y="5943600"/>
            <a:ext cx="201168" cy="201168"/>
          </a:xfrm>
          <a:prstGeom prst="ellipse">
            <a:avLst/>
          </a:prstGeom>
          <a:solidFill>
            <a:srgbClr val="FCFDFB"/>
          </a:solidFill>
          <a:ln w="25400">
            <a:solidFill>
              <a:srgbClr val="13202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88136" y="5916168"/>
            <a:ext cx="2926080" cy="256032"/>
          </a:xfrm>
          <a:prstGeom prst="rect">
            <a:avLst/>
          </a:prstGeom>
          <a:noFill/>
        </p:spPr>
        <p:txBody>
          <a:bodyPr wrap="square" lIns="0" rIns="0" tIns="0" bIns="0" anchor="t">
            <a:spAutoFit/>
          </a:bodyPr>
          <a:lstStyle/>
          <a:p>
            <a:pPr algn="l"/>
            <a:r>
              <a:rPr sz="1150" b="0" i="0">
                <a:solidFill>
                  <a:srgbClr val="4A5868"/>
                </a:solidFill>
                <a:latin typeface="Arial"/>
              </a:rPr>
              <a:t>con cámara</a:t>
            </a:r>
          </a:p>
        </p:txBody>
      </p:sp>
      <p:sp>
        <p:nvSpPr>
          <p:cNvPr id="7" name="Oval 6"/>
          <p:cNvSpPr/>
          <p:nvPr/>
        </p:nvSpPr>
        <p:spPr>
          <a:xfrm>
            <a:off x="2231136" y="5943600"/>
            <a:ext cx="201168" cy="201168"/>
          </a:xfrm>
          <a:prstGeom prst="ellipse">
            <a:avLst/>
          </a:prstGeom>
          <a:solidFill>
            <a:srgbClr val="FCFDFB"/>
          </a:solidFill>
          <a:ln w="25400">
            <a:solidFill>
              <a:srgbClr val="8A97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05456" y="5916168"/>
            <a:ext cx="2926080" cy="256032"/>
          </a:xfrm>
          <a:prstGeom prst="rect">
            <a:avLst/>
          </a:prstGeom>
          <a:noFill/>
        </p:spPr>
        <p:txBody>
          <a:bodyPr wrap="square" lIns="0" rIns="0" tIns="0" bIns="0" anchor="t">
            <a:spAutoFit/>
          </a:bodyPr>
          <a:lstStyle/>
          <a:p>
            <a:pPr algn="l"/>
            <a:r>
              <a:rPr sz="1150" b="0" i="0">
                <a:solidFill>
                  <a:srgbClr val="4A5868"/>
                </a:solidFill>
                <a:latin typeface="Arial"/>
              </a:rPr>
              <a:t>sin cámara</a:t>
            </a:r>
          </a:p>
        </p:txBody>
      </p:sp>
      <p:sp>
        <p:nvSpPr>
          <p:cNvPr id="9" name="Oval 8"/>
          <p:cNvSpPr/>
          <p:nvPr/>
        </p:nvSpPr>
        <p:spPr>
          <a:xfrm>
            <a:off x="3648456" y="5943600"/>
            <a:ext cx="201168" cy="201168"/>
          </a:xfrm>
          <a:prstGeom prst="ellipse">
            <a:avLst/>
          </a:prstGeom>
          <a:solidFill>
            <a:srgbClr val="FBE9C8"/>
          </a:solidFill>
          <a:ln w="25400">
            <a:solidFill>
              <a:srgbClr val="C27C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922776" y="5916168"/>
            <a:ext cx="2926080" cy="256032"/>
          </a:xfrm>
          <a:prstGeom prst="rect">
            <a:avLst/>
          </a:prstGeom>
          <a:noFill/>
        </p:spPr>
        <p:txBody>
          <a:bodyPr wrap="square" lIns="0" rIns="0" tIns="0" bIns="0" anchor="t">
            <a:spAutoFit/>
          </a:bodyPr>
          <a:lstStyle/>
          <a:p>
            <a:pPr algn="l"/>
            <a:r>
              <a:rPr sz="1150" b="0" i="0">
                <a:solidFill>
                  <a:srgbClr val="4A5868"/>
                </a:solidFill>
                <a:latin typeface="Arial"/>
              </a:rPr>
              <a:t>playa: área de espera · capacidad</a:t>
            </a:r>
          </a:p>
        </p:txBody>
      </p:sp>
      <p:cxnSp>
        <p:nvCxnSpPr>
          <p:cNvPr id="11" name="Connector 10"/>
          <p:cNvCxnSpPr/>
          <p:nvPr/>
        </p:nvCxnSpPr>
        <p:spPr>
          <a:xfrm>
            <a:off x="6853428" y="6044184"/>
            <a:ext cx="411480" cy="0"/>
          </a:xfrm>
          <a:prstGeom prst="line">
            <a:avLst/>
          </a:prstGeom>
          <a:ln w="22225">
            <a:solidFill>
              <a:srgbClr val="C27C0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56348" y="5916168"/>
            <a:ext cx="2743200" cy="256032"/>
          </a:xfrm>
          <a:prstGeom prst="rect">
            <a:avLst/>
          </a:prstGeom>
          <a:noFill/>
        </p:spPr>
        <p:txBody>
          <a:bodyPr wrap="square" lIns="0" rIns="0" tIns="0" bIns="0" anchor="t">
            <a:spAutoFit/>
          </a:bodyPr>
          <a:lstStyle/>
          <a:p>
            <a:pPr algn="l"/>
            <a:r>
              <a:rPr sz="1150" b="0" i="0">
                <a:solidFill>
                  <a:srgbClr val="4A5868"/>
                </a:solidFill>
                <a:latin typeface="Arial"/>
              </a:rPr>
              <a:t>desvío: solo camión demorado</a:t>
            </a:r>
          </a:p>
        </p:txBody>
      </p:sp>
      <p:sp>
        <p:nvSpPr>
          <p:cNvPr id="13" name="TextBox 12"/>
          <p:cNvSpPr txBox="1"/>
          <p:nvPr/>
        </p:nvSpPr>
        <p:spPr>
          <a:xfrm>
            <a:off x="813816" y="6236208"/>
            <a:ext cx="9601200" cy="237744"/>
          </a:xfrm>
          <a:prstGeom prst="rect">
            <a:avLst/>
          </a:prstGeom>
          <a:noFill/>
        </p:spPr>
        <p:txBody>
          <a:bodyPr wrap="square" lIns="0" rIns="0" tIns="0" bIns="0" anchor="t">
            <a:spAutoFit/>
          </a:bodyPr>
          <a:lstStyle/>
          <a:p>
            <a:pPr algn="l"/>
            <a:r>
              <a:rPr sz="1100" b="0" i="0">
                <a:solidFill>
                  <a:srgbClr val="5B6776"/>
                </a:solidFill>
                <a:latin typeface="Arial"/>
              </a:rPr>
              <a:t>Fuente: modelo de nodos del Nodo Sur (matriz de circuitos + relevamiento de cámaras y capacidades) · cada línea es un circuito</a:t>
            </a:r>
          </a:p>
        </p:txBody>
      </p:sp>
      <p:sp>
        <p:nvSpPr>
          <p:cNvPr id="14" name="TextBox 13"/>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09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6F2"/>
        </a:solidFill>
        <a:effectLst/>
      </p:bgPr>
    </p:bg>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r>
              <a:rPr sz="1200" b="1" i="0">
                <a:solidFill>
                  <a:srgbClr val="8A5200"/>
                </a:solidFill>
                <a:latin typeface="Arial"/>
              </a:rPr>
              <a:t>LAS PLAYAS · NODOS VIRTUALES</a:t>
            </a:r>
          </a:p>
        </p:txBody>
      </p:sp>
      <p:sp>
        <p:nvSpPr>
          <p:cNvPr id="3" name="TextBox 2"/>
          <p:cNvSpPr txBox="1"/>
          <p:nvPr/>
        </p:nvSpPr>
        <p:spPr>
          <a:xfrm>
            <a:off x="813816" y="1097280"/>
            <a:ext cx="10881360" cy="548640"/>
          </a:xfrm>
          <a:prstGeom prst="rect">
            <a:avLst/>
          </a:prstGeom>
          <a:noFill/>
        </p:spPr>
        <p:txBody>
          <a:bodyPr wrap="square" lIns="0" rIns="0" tIns="0" bIns="0" anchor="t">
            <a:spAutoFit/>
          </a:bodyPr>
          <a:lstStyle/>
          <a:p>
            <a:pPr algn="l"/>
            <a:r>
              <a:rPr sz="3000" b="1" i="0">
                <a:solidFill>
                  <a:srgbClr val="13202E"/>
                </a:solidFill>
                <a:latin typeface="Arial"/>
              </a:rPr>
              <a:t>Las playas: donde el camión pasa el 70 % del ciclo</a:t>
            </a:r>
          </a:p>
        </p:txBody>
      </p:sp>
      <p:sp>
        <p:nvSpPr>
          <p:cNvPr id="4" name="TextBox 3"/>
          <p:cNvSpPr txBox="1"/>
          <p:nvPr/>
        </p:nvSpPr>
        <p:spPr>
          <a:xfrm>
            <a:off x="813816" y="1700784"/>
            <a:ext cx="10607040" cy="548640"/>
          </a:xfrm>
          <a:prstGeom prst="rect">
            <a:avLst/>
          </a:prstGeom>
          <a:noFill/>
        </p:spPr>
        <p:txBody>
          <a:bodyPr wrap="square" lIns="0" rIns="0" tIns="0" bIns="0" anchor="t">
            <a:spAutoFit/>
          </a:bodyPr>
          <a:lstStyle/>
          <a:p>
            <a:pPr algn="l"/>
            <a:r>
              <a:rPr sz="1500" b="0" i="0">
                <a:solidFill>
                  <a:srgbClr val="4A5868"/>
                </a:solidFill>
                <a:latin typeface="Arial"/>
              </a:rPr>
              <a:t>No tienen cámara propia ni aparecen en el sistema de camiones. El modelo las mide entre la cámara de entrada y la de salida: sin instalar nada.</a:t>
            </a:r>
          </a:p>
        </p:txBody>
      </p:sp>
      <p:sp>
        <p:nvSpPr>
          <p:cNvPr id="5" name="Rounded Rectangle 4"/>
          <p:cNvSpPr/>
          <p:nvPr/>
        </p:nvSpPr>
        <p:spPr>
          <a:xfrm>
            <a:off x="813816" y="2487168"/>
            <a:ext cx="2011680" cy="278892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96696" y="2670048"/>
            <a:ext cx="566928" cy="566928"/>
          </a:xfrm>
          <a:prstGeom prst="ellipse">
            <a:avLst/>
          </a:prstGeom>
          <a:solidFill>
            <a:srgbClr val="FBE9C8"/>
          </a:solidFill>
          <a:ln w="31750">
            <a:solidFill>
              <a:srgbClr val="C27C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96696" y="2670048"/>
            <a:ext cx="566928" cy="566928"/>
          </a:xfrm>
          <a:prstGeom prst="rect">
            <a:avLst/>
          </a:prstGeom>
          <a:noFill/>
        </p:spPr>
        <p:txBody>
          <a:bodyPr wrap="square" lIns="0" rIns="0" tIns="0" bIns="0" anchor="ctr">
            <a:spAutoFit/>
          </a:bodyPr>
          <a:lstStyle/>
          <a:p>
            <a:pPr algn="ctr"/>
            <a:r>
              <a:rPr sz="1300" b="1" i="0">
                <a:solidFill>
                  <a:srgbClr val="8A5200"/>
                </a:solidFill>
                <a:latin typeface="Arial"/>
              </a:rPr>
              <a:t>300</a:t>
            </a:r>
          </a:p>
        </p:txBody>
      </p:sp>
      <p:sp>
        <p:nvSpPr>
          <p:cNvPr id="8" name="TextBox 7"/>
          <p:cNvSpPr txBox="1"/>
          <p:nvPr/>
        </p:nvSpPr>
        <p:spPr>
          <a:xfrm>
            <a:off x="1655064" y="2715768"/>
            <a:ext cx="1097280" cy="457200"/>
          </a:xfrm>
          <a:prstGeom prst="rect">
            <a:avLst/>
          </a:prstGeom>
          <a:noFill/>
        </p:spPr>
        <p:txBody>
          <a:bodyPr wrap="square" lIns="0" rIns="0" tIns="0" bIns="0" anchor="t">
            <a:spAutoFit/>
          </a:bodyPr>
          <a:lstStyle/>
          <a:p>
            <a:pPr algn="l"/>
            <a:r>
              <a:rPr sz="1000" b="0" i="0">
                <a:solidFill>
                  <a:srgbClr val="4A5868"/>
                </a:solidFill>
                <a:latin typeface="Arial"/>
              </a:rPr>
              <a:t>camiones de capacidad</a:t>
            </a:r>
          </a:p>
        </p:txBody>
      </p:sp>
      <p:sp>
        <p:nvSpPr>
          <p:cNvPr id="9" name="TextBox 8"/>
          <p:cNvSpPr txBox="1"/>
          <p:nvPr/>
        </p:nvSpPr>
        <p:spPr>
          <a:xfrm>
            <a:off x="996696" y="3383280"/>
            <a:ext cx="1737360" cy="292608"/>
          </a:xfrm>
          <a:prstGeom prst="rect">
            <a:avLst/>
          </a:prstGeom>
          <a:noFill/>
        </p:spPr>
        <p:txBody>
          <a:bodyPr wrap="square" lIns="0" rIns="0" tIns="0" bIns="0" anchor="t">
            <a:spAutoFit/>
          </a:bodyPr>
          <a:lstStyle/>
          <a:p>
            <a:pPr algn="l"/>
            <a:r>
              <a:rPr sz="1500" b="1" i="0">
                <a:solidFill>
                  <a:srgbClr val="13202E"/>
                </a:solidFill>
                <a:latin typeface="Arial"/>
              </a:rPr>
              <a:t>Playa 1</a:t>
            </a:r>
          </a:p>
        </p:txBody>
      </p:sp>
      <p:sp>
        <p:nvSpPr>
          <p:cNvPr id="10" name="TextBox 9"/>
          <p:cNvSpPr txBox="1"/>
          <p:nvPr/>
        </p:nvSpPr>
        <p:spPr>
          <a:xfrm>
            <a:off x="996696" y="3675887"/>
            <a:ext cx="1737360" cy="237744"/>
          </a:xfrm>
          <a:prstGeom prst="rect">
            <a:avLst/>
          </a:prstGeom>
          <a:noFill/>
        </p:spPr>
        <p:txBody>
          <a:bodyPr wrap="square" lIns="0" rIns="0" tIns="0" bIns="0" anchor="t">
            <a:spAutoFit/>
          </a:bodyPr>
          <a:lstStyle/>
          <a:p>
            <a:pPr algn="l"/>
            <a:r>
              <a:rPr sz="1100" b="1" i="0">
                <a:solidFill>
                  <a:srgbClr val="0F6FA8"/>
                </a:solidFill>
                <a:latin typeface="Arial"/>
              </a:rPr>
              <a:t>Ricardone</a:t>
            </a:r>
          </a:p>
        </p:txBody>
      </p:sp>
      <p:sp>
        <p:nvSpPr>
          <p:cNvPr id="11" name="TextBox 10"/>
          <p:cNvSpPr txBox="1"/>
          <p:nvPr/>
        </p:nvSpPr>
        <p:spPr>
          <a:xfrm>
            <a:off x="996696" y="3950208"/>
            <a:ext cx="1691640" cy="548640"/>
          </a:xfrm>
          <a:prstGeom prst="rect">
            <a:avLst/>
          </a:prstGeom>
          <a:noFill/>
        </p:spPr>
        <p:txBody>
          <a:bodyPr wrap="square" lIns="0" rIns="0" tIns="0" bIns="0" anchor="t">
            <a:spAutoFit/>
          </a:bodyPr>
          <a:lstStyle/>
          <a:p>
            <a:pPr algn="l"/>
            <a:r>
              <a:rPr sz="1100" b="0" i="0">
                <a:solidFill>
                  <a:srgbClr val="4A5868"/>
                </a:solidFill>
                <a:latin typeface="Arial"/>
              </a:rPr>
              <a:t>entre Preingreso y Calada</a:t>
            </a:r>
          </a:p>
        </p:txBody>
      </p:sp>
      <p:sp>
        <p:nvSpPr>
          <p:cNvPr id="12" name="TextBox 11"/>
          <p:cNvSpPr txBox="1"/>
          <p:nvPr/>
        </p:nvSpPr>
        <p:spPr>
          <a:xfrm>
            <a:off x="996696" y="4572000"/>
            <a:ext cx="1737360" cy="365760"/>
          </a:xfrm>
          <a:prstGeom prst="rect">
            <a:avLst/>
          </a:prstGeom>
          <a:noFill/>
        </p:spPr>
        <p:txBody>
          <a:bodyPr wrap="square" lIns="0" rIns="0" tIns="0" bIns="0" anchor="t">
            <a:spAutoFit/>
          </a:bodyPr>
          <a:lstStyle/>
          <a:p>
            <a:pPr algn="l"/>
            <a:r>
              <a:rPr sz="2000" b="1" i="0">
                <a:solidFill>
                  <a:srgbClr val="8A5200"/>
                </a:solidFill>
                <a:latin typeface="Arial"/>
              </a:rPr>
              <a:t>126 min</a:t>
            </a:r>
          </a:p>
        </p:txBody>
      </p:sp>
      <p:sp>
        <p:nvSpPr>
          <p:cNvPr id="13" name="TextBox 12"/>
          <p:cNvSpPr txBox="1"/>
          <p:nvPr/>
        </p:nvSpPr>
        <p:spPr>
          <a:xfrm>
            <a:off x="996696" y="4956048"/>
            <a:ext cx="1737360" cy="256032"/>
          </a:xfrm>
          <a:prstGeom prst="rect">
            <a:avLst/>
          </a:prstGeom>
          <a:noFill/>
        </p:spPr>
        <p:txBody>
          <a:bodyPr wrap="square" lIns="0" rIns="0" tIns="0" bIns="0" anchor="t">
            <a:spAutoFit/>
          </a:bodyPr>
          <a:lstStyle/>
          <a:p>
            <a:pPr algn="l"/>
            <a:r>
              <a:rPr sz="1000" b="0" i="0">
                <a:solidFill>
                  <a:srgbClr val="4A5868"/>
                </a:solidFill>
                <a:latin typeface="Arial"/>
              </a:rPr>
              <a:t>espera · soja, 10–16/09</a:t>
            </a:r>
          </a:p>
        </p:txBody>
      </p:sp>
      <p:sp>
        <p:nvSpPr>
          <p:cNvPr id="14" name="Rounded Rectangle 13"/>
          <p:cNvSpPr/>
          <p:nvPr/>
        </p:nvSpPr>
        <p:spPr>
          <a:xfrm>
            <a:off x="2944368" y="2487168"/>
            <a:ext cx="2011680" cy="278892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127248" y="2670048"/>
            <a:ext cx="566928" cy="566928"/>
          </a:xfrm>
          <a:prstGeom prst="ellipse">
            <a:avLst/>
          </a:prstGeom>
          <a:solidFill>
            <a:srgbClr val="FBE9C8"/>
          </a:solidFill>
          <a:ln w="31750">
            <a:solidFill>
              <a:srgbClr val="C27C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27248" y="2670048"/>
            <a:ext cx="566928" cy="566928"/>
          </a:xfrm>
          <a:prstGeom prst="rect">
            <a:avLst/>
          </a:prstGeom>
          <a:noFill/>
        </p:spPr>
        <p:txBody>
          <a:bodyPr wrap="square" lIns="0" rIns="0" tIns="0" bIns="0" anchor="ctr">
            <a:spAutoFit/>
          </a:bodyPr>
          <a:lstStyle/>
          <a:p>
            <a:pPr algn="ctr"/>
            <a:r>
              <a:rPr sz="1300" b="1" i="0">
                <a:solidFill>
                  <a:srgbClr val="8A5200"/>
                </a:solidFill>
                <a:latin typeface="Arial"/>
              </a:rPr>
              <a:t>20</a:t>
            </a:r>
          </a:p>
        </p:txBody>
      </p:sp>
      <p:sp>
        <p:nvSpPr>
          <p:cNvPr id="17" name="TextBox 16"/>
          <p:cNvSpPr txBox="1"/>
          <p:nvPr/>
        </p:nvSpPr>
        <p:spPr>
          <a:xfrm>
            <a:off x="3785616" y="2715768"/>
            <a:ext cx="1097280" cy="457200"/>
          </a:xfrm>
          <a:prstGeom prst="rect">
            <a:avLst/>
          </a:prstGeom>
          <a:noFill/>
        </p:spPr>
        <p:txBody>
          <a:bodyPr wrap="square" lIns="0" rIns="0" tIns="0" bIns="0" anchor="t">
            <a:spAutoFit/>
          </a:bodyPr>
          <a:lstStyle/>
          <a:p>
            <a:pPr algn="l"/>
            <a:r>
              <a:rPr sz="1000" b="0" i="0">
                <a:solidFill>
                  <a:srgbClr val="4A5868"/>
                </a:solidFill>
                <a:latin typeface="Arial"/>
              </a:rPr>
              <a:t>camiones de capacidad</a:t>
            </a:r>
          </a:p>
        </p:txBody>
      </p:sp>
      <p:sp>
        <p:nvSpPr>
          <p:cNvPr id="18" name="TextBox 17"/>
          <p:cNvSpPr txBox="1"/>
          <p:nvPr/>
        </p:nvSpPr>
        <p:spPr>
          <a:xfrm>
            <a:off x="3127248" y="3383280"/>
            <a:ext cx="1737360" cy="292608"/>
          </a:xfrm>
          <a:prstGeom prst="rect">
            <a:avLst/>
          </a:prstGeom>
          <a:noFill/>
        </p:spPr>
        <p:txBody>
          <a:bodyPr wrap="square" lIns="0" rIns="0" tIns="0" bIns="0" anchor="t">
            <a:spAutoFit/>
          </a:bodyPr>
          <a:lstStyle/>
          <a:p>
            <a:pPr algn="l"/>
            <a:r>
              <a:rPr sz="1500" b="1" i="0">
                <a:solidFill>
                  <a:srgbClr val="13202E"/>
                </a:solidFill>
                <a:latin typeface="Arial"/>
              </a:rPr>
              <a:t>Playa demorado</a:t>
            </a:r>
          </a:p>
        </p:txBody>
      </p:sp>
      <p:sp>
        <p:nvSpPr>
          <p:cNvPr id="19" name="TextBox 18"/>
          <p:cNvSpPr txBox="1"/>
          <p:nvPr/>
        </p:nvSpPr>
        <p:spPr>
          <a:xfrm>
            <a:off x="3127248" y="3675887"/>
            <a:ext cx="1737360" cy="237744"/>
          </a:xfrm>
          <a:prstGeom prst="rect">
            <a:avLst/>
          </a:prstGeom>
          <a:noFill/>
        </p:spPr>
        <p:txBody>
          <a:bodyPr wrap="square" lIns="0" rIns="0" tIns="0" bIns="0" anchor="t">
            <a:spAutoFit/>
          </a:bodyPr>
          <a:lstStyle/>
          <a:p>
            <a:pPr algn="l"/>
            <a:r>
              <a:rPr sz="1100" b="1" i="0">
                <a:solidFill>
                  <a:srgbClr val="0F6FA8"/>
                </a:solidFill>
                <a:latin typeface="Arial"/>
              </a:rPr>
              <a:t>Ricardone</a:t>
            </a:r>
          </a:p>
        </p:txBody>
      </p:sp>
      <p:sp>
        <p:nvSpPr>
          <p:cNvPr id="20" name="TextBox 19"/>
          <p:cNvSpPr txBox="1"/>
          <p:nvPr/>
        </p:nvSpPr>
        <p:spPr>
          <a:xfrm>
            <a:off x="3127248" y="3950208"/>
            <a:ext cx="1691640" cy="548640"/>
          </a:xfrm>
          <a:prstGeom prst="rect">
            <a:avLst/>
          </a:prstGeom>
          <a:noFill/>
        </p:spPr>
        <p:txBody>
          <a:bodyPr wrap="square" lIns="0" rIns="0" tIns="0" bIns="0" anchor="t">
            <a:spAutoFit/>
          </a:bodyPr>
          <a:lstStyle/>
          <a:p>
            <a:pPr algn="l"/>
            <a:r>
              <a:rPr sz="1100" b="0" i="0">
                <a:solidFill>
                  <a:srgbClr val="4A5868"/>
                </a:solidFill>
                <a:latin typeface="Arial"/>
              </a:rPr>
              <a:t>después de Calada, solo el camión demorado</a:t>
            </a:r>
          </a:p>
        </p:txBody>
      </p:sp>
      <p:sp>
        <p:nvSpPr>
          <p:cNvPr id="21" name="TextBox 20"/>
          <p:cNvSpPr txBox="1"/>
          <p:nvPr/>
        </p:nvSpPr>
        <p:spPr>
          <a:xfrm>
            <a:off x="3127248" y="4572000"/>
            <a:ext cx="1737360" cy="365760"/>
          </a:xfrm>
          <a:prstGeom prst="rect">
            <a:avLst/>
          </a:prstGeom>
          <a:noFill/>
        </p:spPr>
        <p:txBody>
          <a:bodyPr wrap="square" lIns="0" rIns="0" tIns="0" bIns="0" anchor="t">
            <a:spAutoFit/>
          </a:bodyPr>
          <a:lstStyle/>
          <a:p>
            <a:pPr algn="l"/>
            <a:r>
              <a:rPr sz="2000" b="1" i="0">
                <a:solidFill>
                  <a:srgbClr val="C9CAC8"/>
                </a:solidFill>
                <a:latin typeface="Arial"/>
              </a:rPr>
              <a:t>—</a:t>
            </a:r>
          </a:p>
        </p:txBody>
      </p:sp>
      <p:sp>
        <p:nvSpPr>
          <p:cNvPr id="22" name="TextBox 21"/>
          <p:cNvSpPr txBox="1"/>
          <p:nvPr/>
        </p:nvSpPr>
        <p:spPr>
          <a:xfrm>
            <a:off x="3127248" y="4956048"/>
            <a:ext cx="1737360" cy="256032"/>
          </a:xfrm>
          <a:prstGeom prst="rect">
            <a:avLst/>
          </a:prstGeom>
          <a:noFill/>
        </p:spPr>
        <p:txBody>
          <a:bodyPr wrap="square" lIns="0" rIns="0" tIns="0" bIns="0" anchor="t">
            <a:spAutoFit/>
          </a:bodyPr>
          <a:lstStyle/>
          <a:p>
            <a:pPr algn="l"/>
            <a:r>
              <a:rPr sz="1000" b="0" i="0">
                <a:solidFill>
                  <a:srgbClr val="4A5868"/>
                </a:solidFill>
                <a:latin typeface="Arial"/>
              </a:rPr>
              <a:t>desvío</a:t>
            </a:r>
          </a:p>
        </p:txBody>
      </p:sp>
      <p:sp>
        <p:nvSpPr>
          <p:cNvPr id="23" name="Rounded Rectangle 22"/>
          <p:cNvSpPr/>
          <p:nvPr/>
        </p:nvSpPr>
        <p:spPr>
          <a:xfrm>
            <a:off x="5074920" y="2487168"/>
            <a:ext cx="2011680" cy="278892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257800" y="2670048"/>
            <a:ext cx="566928" cy="566928"/>
          </a:xfrm>
          <a:prstGeom prst="ellipse">
            <a:avLst/>
          </a:prstGeom>
          <a:solidFill>
            <a:srgbClr val="FBE9C8"/>
          </a:solidFill>
          <a:ln w="31750">
            <a:solidFill>
              <a:srgbClr val="C27C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257800" y="2670048"/>
            <a:ext cx="566928" cy="566928"/>
          </a:xfrm>
          <a:prstGeom prst="rect">
            <a:avLst/>
          </a:prstGeom>
          <a:noFill/>
        </p:spPr>
        <p:txBody>
          <a:bodyPr wrap="square" lIns="0" rIns="0" tIns="0" bIns="0" anchor="ctr">
            <a:spAutoFit/>
          </a:bodyPr>
          <a:lstStyle/>
          <a:p>
            <a:pPr algn="ctr"/>
            <a:r>
              <a:rPr sz="1300" b="1" i="0">
                <a:solidFill>
                  <a:srgbClr val="8A5200"/>
                </a:solidFill>
                <a:latin typeface="Arial"/>
              </a:rPr>
              <a:t>100</a:t>
            </a:r>
          </a:p>
        </p:txBody>
      </p:sp>
      <p:sp>
        <p:nvSpPr>
          <p:cNvPr id="26" name="TextBox 25"/>
          <p:cNvSpPr txBox="1"/>
          <p:nvPr/>
        </p:nvSpPr>
        <p:spPr>
          <a:xfrm>
            <a:off x="5916168" y="2715768"/>
            <a:ext cx="1097280" cy="457200"/>
          </a:xfrm>
          <a:prstGeom prst="rect">
            <a:avLst/>
          </a:prstGeom>
          <a:noFill/>
        </p:spPr>
        <p:txBody>
          <a:bodyPr wrap="square" lIns="0" rIns="0" tIns="0" bIns="0" anchor="t">
            <a:spAutoFit/>
          </a:bodyPr>
          <a:lstStyle/>
          <a:p>
            <a:pPr algn="l"/>
            <a:r>
              <a:rPr sz="1000" b="0" i="0">
                <a:solidFill>
                  <a:srgbClr val="4A5868"/>
                </a:solidFill>
                <a:latin typeface="Arial"/>
              </a:rPr>
              <a:t>camiones de capacidad</a:t>
            </a:r>
          </a:p>
        </p:txBody>
      </p:sp>
      <p:sp>
        <p:nvSpPr>
          <p:cNvPr id="27" name="TextBox 26"/>
          <p:cNvSpPr txBox="1"/>
          <p:nvPr/>
        </p:nvSpPr>
        <p:spPr>
          <a:xfrm>
            <a:off x="5257800" y="3383280"/>
            <a:ext cx="1737360" cy="292608"/>
          </a:xfrm>
          <a:prstGeom prst="rect">
            <a:avLst/>
          </a:prstGeom>
          <a:noFill/>
        </p:spPr>
        <p:txBody>
          <a:bodyPr wrap="square" lIns="0" rIns="0" tIns="0" bIns="0" anchor="t">
            <a:spAutoFit/>
          </a:bodyPr>
          <a:lstStyle/>
          <a:p>
            <a:pPr algn="l"/>
            <a:r>
              <a:rPr sz="1500" b="1" i="0">
                <a:solidFill>
                  <a:srgbClr val="13202E"/>
                </a:solidFill>
                <a:latin typeface="Arial"/>
              </a:rPr>
              <a:t>Playa 3</a:t>
            </a:r>
          </a:p>
        </p:txBody>
      </p:sp>
      <p:sp>
        <p:nvSpPr>
          <p:cNvPr id="28" name="TextBox 27"/>
          <p:cNvSpPr txBox="1"/>
          <p:nvPr/>
        </p:nvSpPr>
        <p:spPr>
          <a:xfrm>
            <a:off x="5257800" y="3675887"/>
            <a:ext cx="1737360" cy="237744"/>
          </a:xfrm>
          <a:prstGeom prst="rect">
            <a:avLst/>
          </a:prstGeom>
          <a:noFill/>
        </p:spPr>
        <p:txBody>
          <a:bodyPr wrap="square" lIns="0" rIns="0" tIns="0" bIns="0" anchor="t">
            <a:spAutoFit/>
          </a:bodyPr>
          <a:lstStyle/>
          <a:p>
            <a:pPr algn="l"/>
            <a:r>
              <a:rPr sz="1100" b="1" i="0">
                <a:solidFill>
                  <a:srgbClr val="0F6FA8"/>
                </a:solidFill>
                <a:latin typeface="Arial"/>
              </a:rPr>
              <a:t>Ricardone</a:t>
            </a:r>
          </a:p>
        </p:txBody>
      </p:sp>
      <p:sp>
        <p:nvSpPr>
          <p:cNvPr id="29" name="TextBox 28"/>
          <p:cNvSpPr txBox="1"/>
          <p:nvPr/>
        </p:nvSpPr>
        <p:spPr>
          <a:xfrm>
            <a:off x="5257800" y="3950208"/>
            <a:ext cx="1691640" cy="548640"/>
          </a:xfrm>
          <a:prstGeom prst="rect">
            <a:avLst/>
          </a:prstGeom>
          <a:noFill/>
        </p:spPr>
        <p:txBody>
          <a:bodyPr wrap="square" lIns="0" rIns="0" tIns="0" bIns="0" anchor="t">
            <a:spAutoFit/>
          </a:bodyPr>
          <a:lstStyle/>
          <a:p>
            <a:pPr algn="l"/>
            <a:r>
              <a:rPr sz="1100" b="0" i="0">
                <a:solidFill>
                  <a:srgbClr val="4A5868"/>
                </a:solidFill>
                <a:latin typeface="Arial"/>
              </a:rPr>
              <a:t>antes de volcables, celda y silos</a:t>
            </a:r>
          </a:p>
        </p:txBody>
      </p:sp>
      <p:sp>
        <p:nvSpPr>
          <p:cNvPr id="30" name="TextBox 29"/>
          <p:cNvSpPr txBox="1"/>
          <p:nvPr/>
        </p:nvSpPr>
        <p:spPr>
          <a:xfrm>
            <a:off x="5257800" y="4572000"/>
            <a:ext cx="1737360" cy="365760"/>
          </a:xfrm>
          <a:prstGeom prst="rect">
            <a:avLst/>
          </a:prstGeom>
          <a:noFill/>
        </p:spPr>
        <p:txBody>
          <a:bodyPr wrap="square" lIns="0" rIns="0" tIns="0" bIns="0" anchor="t">
            <a:spAutoFit/>
          </a:bodyPr>
          <a:lstStyle/>
          <a:p>
            <a:pPr algn="l"/>
            <a:r>
              <a:rPr sz="2000" b="1" i="0">
                <a:solidFill>
                  <a:srgbClr val="8A5200"/>
                </a:solidFill>
                <a:latin typeface="Arial"/>
              </a:rPr>
              <a:t>128 min</a:t>
            </a:r>
          </a:p>
        </p:txBody>
      </p:sp>
      <p:sp>
        <p:nvSpPr>
          <p:cNvPr id="31" name="TextBox 30"/>
          <p:cNvSpPr txBox="1"/>
          <p:nvPr/>
        </p:nvSpPr>
        <p:spPr>
          <a:xfrm>
            <a:off x="5257800" y="4956048"/>
            <a:ext cx="1737360" cy="256032"/>
          </a:xfrm>
          <a:prstGeom prst="rect">
            <a:avLst/>
          </a:prstGeom>
          <a:noFill/>
        </p:spPr>
        <p:txBody>
          <a:bodyPr wrap="square" lIns="0" rIns="0" tIns="0" bIns="0" anchor="t">
            <a:spAutoFit/>
          </a:bodyPr>
          <a:lstStyle/>
          <a:p>
            <a:pPr algn="l"/>
            <a:r>
              <a:rPr sz="1000" b="0" i="0">
                <a:solidFill>
                  <a:srgbClr val="4A5868"/>
                </a:solidFill>
                <a:latin typeface="Arial"/>
              </a:rPr>
              <a:t>espera · pellet, 14–15/09</a:t>
            </a:r>
          </a:p>
        </p:txBody>
      </p:sp>
      <p:sp>
        <p:nvSpPr>
          <p:cNvPr id="32" name="Rounded Rectangle 31"/>
          <p:cNvSpPr/>
          <p:nvPr/>
        </p:nvSpPr>
        <p:spPr>
          <a:xfrm>
            <a:off x="7205472" y="2487168"/>
            <a:ext cx="2011680" cy="278892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7388352" y="2670048"/>
            <a:ext cx="566928" cy="566928"/>
          </a:xfrm>
          <a:prstGeom prst="ellipse">
            <a:avLst/>
          </a:prstGeom>
          <a:solidFill>
            <a:srgbClr val="FBE9C8"/>
          </a:solidFill>
          <a:ln w="31750">
            <a:solidFill>
              <a:srgbClr val="C27C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88352" y="2670048"/>
            <a:ext cx="566928" cy="566928"/>
          </a:xfrm>
          <a:prstGeom prst="rect">
            <a:avLst/>
          </a:prstGeom>
          <a:noFill/>
        </p:spPr>
        <p:txBody>
          <a:bodyPr wrap="square" lIns="0" rIns="0" tIns="0" bIns="0" anchor="ctr">
            <a:spAutoFit/>
          </a:bodyPr>
          <a:lstStyle/>
          <a:p>
            <a:pPr algn="ctr"/>
            <a:r>
              <a:rPr sz="1300" b="1" i="0">
                <a:solidFill>
                  <a:srgbClr val="8A5200"/>
                </a:solidFill>
                <a:latin typeface="Arial"/>
              </a:rPr>
              <a:t>4</a:t>
            </a:r>
          </a:p>
        </p:txBody>
      </p:sp>
      <p:sp>
        <p:nvSpPr>
          <p:cNvPr id="35" name="TextBox 34"/>
          <p:cNvSpPr txBox="1"/>
          <p:nvPr/>
        </p:nvSpPr>
        <p:spPr>
          <a:xfrm>
            <a:off x="8046720" y="2715768"/>
            <a:ext cx="1097280" cy="457200"/>
          </a:xfrm>
          <a:prstGeom prst="rect">
            <a:avLst/>
          </a:prstGeom>
          <a:noFill/>
        </p:spPr>
        <p:txBody>
          <a:bodyPr wrap="square" lIns="0" rIns="0" tIns="0" bIns="0" anchor="t">
            <a:spAutoFit/>
          </a:bodyPr>
          <a:lstStyle/>
          <a:p>
            <a:pPr algn="l"/>
            <a:r>
              <a:rPr sz="1000" b="0" i="0">
                <a:solidFill>
                  <a:srgbClr val="4A5868"/>
                </a:solidFill>
                <a:latin typeface="Arial"/>
              </a:rPr>
              <a:t>camiones de capacidad</a:t>
            </a:r>
          </a:p>
        </p:txBody>
      </p:sp>
      <p:sp>
        <p:nvSpPr>
          <p:cNvPr id="36" name="TextBox 35"/>
          <p:cNvSpPr txBox="1"/>
          <p:nvPr/>
        </p:nvSpPr>
        <p:spPr>
          <a:xfrm>
            <a:off x="7388352" y="3383280"/>
            <a:ext cx="1737360" cy="292608"/>
          </a:xfrm>
          <a:prstGeom prst="rect">
            <a:avLst/>
          </a:prstGeom>
          <a:noFill/>
        </p:spPr>
        <p:txBody>
          <a:bodyPr wrap="square" lIns="0" rIns="0" tIns="0" bIns="0" anchor="t">
            <a:spAutoFit/>
          </a:bodyPr>
          <a:lstStyle/>
          <a:p>
            <a:pPr algn="l"/>
            <a:r>
              <a:rPr sz="1500" b="1" i="0">
                <a:solidFill>
                  <a:srgbClr val="13202E"/>
                </a:solidFill>
                <a:latin typeface="Arial"/>
              </a:rPr>
              <a:t>Playa de salida</a:t>
            </a:r>
          </a:p>
        </p:txBody>
      </p:sp>
      <p:sp>
        <p:nvSpPr>
          <p:cNvPr id="37" name="TextBox 36"/>
          <p:cNvSpPr txBox="1"/>
          <p:nvPr/>
        </p:nvSpPr>
        <p:spPr>
          <a:xfrm>
            <a:off x="7388352" y="3675887"/>
            <a:ext cx="1737360" cy="237744"/>
          </a:xfrm>
          <a:prstGeom prst="rect">
            <a:avLst/>
          </a:prstGeom>
          <a:noFill/>
        </p:spPr>
        <p:txBody>
          <a:bodyPr wrap="square" lIns="0" rIns="0" tIns="0" bIns="0" anchor="t">
            <a:spAutoFit/>
          </a:bodyPr>
          <a:lstStyle/>
          <a:p>
            <a:pPr algn="l"/>
            <a:r>
              <a:rPr sz="1100" b="1" i="0">
                <a:solidFill>
                  <a:srgbClr val="0F6FA8"/>
                </a:solidFill>
                <a:latin typeface="Arial"/>
              </a:rPr>
              <a:t>Ricardone</a:t>
            </a:r>
          </a:p>
        </p:txBody>
      </p:sp>
      <p:sp>
        <p:nvSpPr>
          <p:cNvPr id="38" name="TextBox 37"/>
          <p:cNvSpPr txBox="1"/>
          <p:nvPr/>
        </p:nvSpPr>
        <p:spPr>
          <a:xfrm>
            <a:off x="7388352" y="3950208"/>
            <a:ext cx="1691640" cy="548640"/>
          </a:xfrm>
          <a:prstGeom prst="rect">
            <a:avLst/>
          </a:prstGeom>
          <a:noFill/>
        </p:spPr>
        <p:txBody>
          <a:bodyPr wrap="square" lIns="0" rIns="0" tIns="0" bIns="0" anchor="t">
            <a:spAutoFit/>
          </a:bodyPr>
          <a:lstStyle/>
          <a:p>
            <a:pPr algn="l"/>
            <a:r>
              <a:rPr sz="1100" b="0" i="0">
                <a:solidFill>
                  <a:srgbClr val="4A5868"/>
                </a:solidFill>
                <a:latin typeface="Arial"/>
              </a:rPr>
              <a:t>entre Balanza egreso y Salida 1</a:t>
            </a:r>
          </a:p>
        </p:txBody>
      </p:sp>
      <p:sp>
        <p:nvSpPr>
          <p:cNvPr id="39" name="TextBox 38"/>
          <p:cNvSpPr txBox="1"/>
          <p:nvPr/>
        </p:nvSpPr>
        <p:spPr>
          <a:xfrm>
            <a:off x="7388352" y="4572000"/>
            <a:ext cx="1737360" cy="365760"/>
          </a:xfrm>
          <a:prstGeom prst="rect">
            <a:avLst/>
          </a:prstGeom>
          <a:noFill/>
        </p:spPr>
        <p:txBody>
          <a:bodyPr wrap="square" lIns="0" rIns="0" tIns="0" bIns="0" anchor="t">
            <a:spAutoFit/>
          </a:bodyPr>
          <a:lstStyle/>
          <a:p>
            <a:pPr algn="l"/>
            <a:r>
              <a:rPr sz="2000" b="1" i="0">
                <a:solidFill>
                  <a:srgbClr val="C9CAC8"/>
                </a:solidFill>
                <a:latin typeface="Arial"/>
              </a:rPr>
              <a:t>—</a:t>
            </a:r>
          </a:p>
        </p:txBody>
      </p:sp>
      <p:sp>
        <p:nvSpPr>
          <p:cNvPr id="40" name="TextBox 39"/>
          <p:cNvSpPr txBox="1"/>
          <p:nvPr/>
        </p:nvSpPr>
        <p:spPr>
          <a:xfrm>
            <a:off x="7388352" y="4956048"/>
            <a:ext cx="1737360" cy="256032"/>
          </a:xfrm>
          <a:prstGeom prst="rect">
            <a:avLst/>
          </a:prstGeom>
          <a:noFill/>
        </p:spPr>
        <p:txBody>
          <a:bodyPr wrap="square" lIns="0" rIns="0" tIns="0" bIns="0" anchor="t">
            <a:spAutoFit/>
          </a:bodyPr>
          <a:lstStyle/>
          <a:p>
            <a:pPr algn="l"/>
            <a:r>
              <a:rPr sz="1000" b="0" i="0">
                <a:solidFill>
                  <a:srgbClr val="4A5868"/>
                </a:solidFill>
                <a:latin typeface="Arial"/>
              </a:rPr>
              <a:t>paso corto</a:t>
            </a:r>
          </a:p>
        </p:txBody>
      </p:sp>
      <p:sp>
        <p:nvSpPr>
          <p:cNvPr id="41" name="Rounded Rectangle 40"/>
          <p:cNvSpPr/>
          <p:nvPr/>
        </p:nvSpPr>
        <p:spPr>
          <a:xfrm>
            <a:off x="9336024" y="2487168"/>
            <a:ext cx="2011680" cy="278892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9518904" y="2670048"/>
            <a:ext cx="566928" cy="566928"/>
          </a:xfrm>
          <a:prstGeom prst="ellipse">
            <a:avLst/>
          </a:prstGeom>
          <a:solidFill>
            <a:srgbClr val="FBE9C8"/>
          </a:solidFill>
          <a:ln w="31750">
            <a:solidFill>
              <a:srgbClr val="C27C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518904" y="2670048"/>
            <a:ext cx="566928" cy="566928"/>
          </a:xfrm>
          <a:prstGeom prst="rect">
            <a:avLst/>
          </a:prstGeom>
          <a:noFill/>
        </p:spPr>
        <p:txBody>
          <a:bodyPr wrap="square" lIns="0" rIns="0" tIns="0" bIns="0" anchor="ctr">
            <a:spAutoFit/>
          </a:bodyPr>
          <a:lstStyle/>
          <a:p>
            <a:pPr algn="ctr"/>
            <a:r>
              <a:rPr sz="1300" b="1" i="0">
                <a:solidFill>
                  <a:srgbClr val="8A5200"/>
                </a:solidFill>
                <a:latin typeface="Arial"/>
              </a:rPr>
              <a:t>150</a:t>
            </a:r>
          </a:p>
        </p:txBody>
      </p:sp>
      <p:sp>
        <p:nvSpPr>
          <p:cNvPr id="44" name="TextBox 43"/>
          <p:cNvSpPr txBox="1"/>
          <p:nvPr/>
        </p:nvSpPr>
        <p:spPr>
          <a:xfrm>
            <a:off x="10177272" y="2715768"/>
            <a:ext cx="1097280" cy="457200"/>
          </a:xfrm>
          <a:prstGeom prst="rect">
            <a:avLst/>
          </a:prstGeom>
          <a:noFill/>
        </p:spPr>
        <p:txBody>
          <a:bodyPr wrap="square" lIns="0" rIns="0" tIns="0" bIns="0" anchor="t">
            <a:spAutoFit/>
          </a:bodyPr>
          <a:lstStyle/>
          <a:p>
            <a:pPr algn="l"/>
            <a:r>
              <a:rPr sz="1000" b="0" i="0">
                <a:solidFill>
                  <a:srgbClr val="4A5868"/>
                </a:solidFill>
                <a:latin typeface="Arial"/>
              </a:rPr>
              <a:t>camiones de capacidad</a:t>
            </a:r>
          </a:p>
        </p:txBody>
      </p:sp>
      <p:sp>
        <p:nvSpPr>
          <p:cNvPr id="45" name="TextBox 44"/>
          <p:cNvSpPr txBox="1"/>
          <p:nvPr/>
        </p:nvSpPr>
        <p:spPr>
          <a:xfrm>
            <a:off x="9518904" y="3383280"/>
            <a:ext cx="1737360" cy="292608"/>
          </a:xfrm>
          <a:prstGeom prst="rect">
            <a:avLst/>
          </a:prstGeom>
          <a:noFill/>
        </p:spPr>
        <p:txBody>
          <a:bodyPr wrap="square" lIns="0" rIns="0" tIns="0" bIns="0" anchor="t">
            <a:spAutoFit/>
          </a:bodyPr>
          <a:lstStyle/>
          <a:p>
            <a:pPr algn="l"/>
            <a:r>
              <a:rPr sz="1500" b="1" i="0">
                <a:solidFill>
                  <a:srgbClr val="13202E"/>
                </a:solidFill>
                <a:latin typeface="Arial"/>
              </a:rPr>
              <a:t>Playa OSL</a:t>
            </a:r>
          </a:p>
        </p:txBody>
      </p:sp>
      <p:sp>
        <p:nvSpPr>
          <p:cNvPr id="46" name="TextBox 45"/>
          <p:cNvSpPr txBox="1"/>
          <p:nvPr/>
        </p:nvSpPr>
        <p:spPr>
          <a:xfrm>
            <a:off x="9518904" y="3675887"/>
            <a:ext cx="1737360" cy="237744"/>
          </a:xfrm>
          <a:prstGeom prst="rect">
            <a:avLst/>
          </a:prstGeom>
          <a:noFill/>
        </p:spPr>
        <p:txBody>
          <a:bodyPr wrap="square" lIns="0" rIns="0" tIns="0" bIns="0" anchor="t">
            <a:spAutoFit/>
          </a:bodyPr>
          <a:lstStyle/>
          <a:p>
            <a:pPr algn="l"/>
            <a:r>
              <a:rPr sz="1100" b="1" i="0">
                <a:solidFill>
                  <a:srgbClr val="0F6FA8"/>
                </a:solidFill>
                <a:latin typeface="Arial"/>
              </a:rPr>
              <a:t>San Lorenzo</a:t>
            </a:r>
          </a:p>
        </p:txBody>
      </p:sp>
      <p:sp>
        <p:nvSpPr>
          <p:cNvPr id="47" name="TextBox 46"/>
          <p:cNvSpPr txBox="1"/>
          <p:nvPr/>
        </p:nvSpPr>
        <p:spPr>
          <a:xfrm>
            <a:off x="9518904" y="3950208"/>
            <a:ext cx="1691640" cy="548640"/>
          </a:xfrm>
          <a:prstGeom prst="rect">
            <a:avLst/>
          </a:prstGeom>
          <a:noFill/>
        </p:spPr>
        <p:txBody>
          <a:bodyPr wrap="square" lIns="0" rIns="0" tIns="0" bIns="0" anchor="t">
            <a:spAutoFit/>
          </a:bodyPr>
          <a:lstStyle/>
          <a:p>
            <a:pPr algn="l"/>
            <a:r>
              <a:rPr sz="1100" b="0" i="0">
                <a:solidFill>
                  <a:srgbClr val="4A5868"/>
                </a:solidFill>
                <a:latin typeface="Arial"/>
              </a:rPr>
              <a:t>entre Ingreso y Balanza ingreso</a:t>
            </a:r>
          </a:p>
        </p:txBody>
      </p:sp>
      <p:sp>
        <p:nvSpPr>
          <p:cNvPr id="48" name="TextBox 47"/>
          <p:cNvSpPr txBox="1"/>
          <p:nvPr/>
        </p:nvSpPr>
        <p:spPr>
          <a:xfrm>
            <a:off x="9518904" y="4572000"/>
            <a:ext cx="1737360" cy="365760"/>
          </a:xfrm>
          <a:prstGeom prst="rect">
            <a:avLst/>
          </a:prstGeom>
          <a:noFill/>
        </p:spPr>
        <p:txBody>
          <a:bodyPr wrap="square" lIns="0" rIns="0" tIns="0" bIns="0" anchor="t">
            <a:spAutoFit/>
          </a:bodyPr>
          <a:lstStyle/>
          <a:p>
            <a:pPr algn="l"/>
            <a:r>
              <a:rPr sz="2000" b="1" i="0">
                <a:solidFill>
                  <a:srgbClr val="8A5200"/>
                </a:solidFill>
                <a:latin typeface="Arial"/>
              </a:rPr>
              <a:t>119 min</a:t>
            </a:r>
          </a:p>
        </p:txBody>
      </p:sp>
      <p:sp>
        <p:nvSpPr>
          <p:cNvPr id="49" name="TextBox 48"/>
          <p:cNvSpPr txBox="1"/>
          <p:nvPr/>
        </p:nvSpPr>
        <p:spPr>
          <a:xfrm>
            <a:off x="9518904" y="4956048"/>
            <a:ext cx="1737360" cy="256032"/>
          </a:xfrm>
          <a:prstGeom prst="rect">
            <a:avLst/>
          </a:prstGeom>
          <a:noFill/>
        </p:spPr>
        <p:txBody>
          <a:bodyPr wrap="square" lIns="0" rIns="0" tIns="0" bIns="0" anchor="t">
            <a:spAutoFit/>
          </a:bodyPr>
          <a:lstStyle/>
          <a:p>
            <a:pPr algn="l"/>
            <a:r>
              <a:rPr sz="1000" b="0" i="0">
                <a:solidFill>
                  <a:srgbClr val="4A5868"/>
                </a:solidFill>
                <a:latin typeface="Arial"/>
              </a:rPr>
              <a:t>espera · soja; pellet 140–179</a:t>
            </a:r>
          </a:p>
        </p:txBody>
      </p:sp>
      <p:sp>
        <p:nvSpPr>
          <p:cNvPr id="50" name="Rounded Rectangle 49"/>
          <p:cNvSpPr/>
          <p:nvPr/>
        </p:nvSpPr>
        <p:spPr>
          <a:xfrm>
            <a:off x="813816" y="5486400"/>
            <a:ext cx="10570464" cy="548640"/>
          </a:xfrm>
          <a:prstGeom prst="roundRect">
            <a:avLst>
              <a:gd name="adj" fmla="val 8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097280" y="5486400"/>
            <a:ext cx="10058400" cy="548640"/>
          </a:xfrm>
          <a:prstGeom prst="rect">
            <a:avLst/>
          </a:prstGeom>
          <a:noFill/>
        </p:spPr>
        <p:txBody>
          <a:bodyPr wrap="square" lIns="0" rIns="0" tIns="0" bIns="0" anchor="ctr">
            <a:spAutoFit/>
          </a:bodyPr>
          <a:lstStyle/>
          <a:p>
            <a:pPr algn="l"/>
            <a:r>
              <a:rPr sz="1400" b="0" i="0">
                <a:solidFill>
                  <a:srgbClr val="EEF2F4"/>
                </a:solidFill>
                <a:latin typeface="Arial"/>
              </a:rPr>
              <a:t>Con capacidad y ocupación en vivo, la playa deja de ser un lugar donde se espera y pasa a ser un lugar que se gestiona.</a:t>
            </a:r>
          </a:p>
        </p:txBody>
      </p:sp>
      <p:sp>
        <p:nvSpPr>
          <p:cNvPr id="52" name="TextBox 51"/>
          <p:cNvSpPr txBox="1"/>
          <p:nvPr/>
        </p:nvSpPr>
        <p:spPr>
          <a:xfrm>
            <a:off x="813816" y="6236208"/>
            <a:ext cx="9601200" cy="237744"/>
          </a:xfrm>
          <a:prstGeom prst="rect">
            <a:avLst/>
          </a:prstGeom>
          <a:noFill/>
        </p:spPr>
        <p:txBody>
          <a:bodyPr wrap="square" lIns="0" rIns="0" tIns="0" bIns="0" anchor="t">
            <a:spAutoFit/>
          </a:bodyPr>
          <a:lstStyle/>
          <a:p>
            <a:pPr algn="l"/>
            <a:r>
              <a:rPr sz="1100" b="0" i="0">
                <a:solidFill>
                  <a:srgbClr val="5B6776"/>
                </a:solidFill>
                <a:latin typeface="Arial"/>
              </a:rPr>
              <a:t>Capacidad: dato de planta (29/09) · esperas: comités de Logística del 04/09 al 18/09</a:t>
            </a:r>
          </a:p>
        </p:txBody>
      </p:sp>
      <p:sp>
        <p:nvSpPr>
          <p:cNvPr id="53" name="TextBox 52"/>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11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EF2F4"/>
        </a:solidFill>
        <a:effectLst/>
      </p:bgPr>
    </p:bg>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r>
              <a:rPr sz="1200" b="1" i="0">
                <a:solidFill>
                  <a:srgbClr val="0F6FA8"/>
                </a:solidFill>
                <a:latin typeface="Arial"/>
              </a:rPr>
              <a:t>DOBLE CONFIRMACIÓN</a:t>
            </a:r>
          </a:p>
        </p:txBody>
      </p:sp>
      <p:sp>
        <p:nvSpPr>
          <p:cNvPr id="3" name="TextBox 2"/>
          <p:cNvSpPr txBox="1"/>
          <p:nvPr/>
        </p:nvSpPr>
        <p:spPr>
          <a:xfrm>
            <a:off x="813816" y="1097280"/>
            <a:ext cx="10881360" cy="548640"/>
          </a:xfrm>
          <a:prstGeom prst="rect">
            <a:avLst/>
          </a:prstGeom>
          <a:noFill/>
        </p:spPr>
        <p:txBody>
          <a:bodyPr wrap="square" lIns="0" rIns="0" tIns="0" bIns="0" anchor="t">
            <a:spAutoFit/>
          </a:bodyPr>
          <a:lstStyle/>
          <a:p>
            <a:pPr algn="l"/>
            <a:r>
              <a:rPr sz="3000" b="1" i="0">
                <a:solidFill>
                  <a:srgbClr val="13202E"/>
                </a:solidFill>
                <a:latin typeface="Arial"/>
              </a:rPr>
              <a:t>Un recorrido completo y confiable, paso por paso</a:t>
            </a:r>
          </a:p>
        </p:txBody>
      </p:sp>
      <p:sp>
        <p:nvSpPr>
          <p:cNvPr id="4" name="TextBox 3"/>
          <p:cNvSpPr txBox="1"/>
          <p:nvPr/>
        </p:nvSpPr>
        <p:spPr>
          <a:xfrm>
            <a:off x="813816" y="1700784"/>
            <a:ext cx="10607040" cy="548640"/>
          </a:xfrm>
          <a:prstGeom prst="rect">
            <a:avLst/>
          </a:prstGeom>
          <a:noFill/>
        </p:spPr>
        <p:txBody>
          <a:bodyPr wrap="square" lIns="0" rIns="0" tIns="0" bIns="0" anchor="t">
            <a:spAutoFit/>
          </a:bodyPr>
          <a:lstStyle/>
          <a:p>
            <a:pPr algn="l"/>
            <a:r>
              <a:rPr sz="1500" b="0" i="0">
                <a:solidFill>
                  <a:srgbClr val="4A5868"/>
                </a:solidFill>
                <a:latin typeface="Arial"/>
              </a:rPr>
              <a:t>Cada paso se confirma con dos fuentes. Si una falta, el modelo lo completa con las otras. Es lo mínimo para que una máquina decida.</a:t>
            </a:r>
          </a:p>
        </p:txBody>
      </p:sp>
      <p:sp>
        <p:nvSpPr>
          <p:cNvPr id="5" name="Rounded Rectangle 4"/>
          <p:cNvSpPr/>
          <p:nvPr/>
        </p:nvSpPr>
        <p:spPr>
          <a:xfrm>
            <a:off x="813816" y="2487168"/>
            <a:ext cx="2212848" cy="1481328"/>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14984" y="2651760"/>
            <a:ext cx="1828800" cy="274320"/>
          </a:xfrm>
          <a:prstGeom prst="rect">
            <a:avLst/>
          </a:prstGeom>
          <a:noFill/>
        </p:spPr>
        <p:txBody>
          <a:bodyPr wrap="square" lIns="0" rIns="0" tIns="0" bIns="0" anchor="t">
            <a:spAutoFit/>
          </a:bodyPr>
          <a:lstStyle/>
          <a:p>
            <a:pPr algn="l"/>
            <a:r>
              <a:rPr sz="1400" b="1" i="0">
                <a:solidFill>
                  <a:srgbClr val="13202E"/>
                </a:solidFill>
                <a:latin typeface="Arial"/>
              </a:rPr>
              <a:t>La cámara</a:t>
            </a:r>
          </a:p>
        </p:txBody>
      </p:sp>
      <p:sp>
        <p:nvSpPr>
          <p:cNvPr id="7" name="TextBox 6"/>
          <p:cNvSpPr txBox="1"/>
          <p:nvPr/>
        </p:nvSpPr>
        <p:spPr>
          <a:xfrm>
            <a:off x="1014984" y="2971800"/>
            <a:ext cx="1828800" cy="274320"/>
          </a:xfrm>
          <a:prstGeom prst="rect">
            <a:avLst/>
          </a:prstGeom>
          <a:noFill/>
        </p:spPr>
        <p:txBody>
          <a:bodyPr wrap="square" lIns="0" rIns="0" tIns="0" bIns="0" anchor="t">
            <a:spAutoFit/>
          </a:bodyPr>
          <a:lstStyle/>
          <a:p>
            <a:pPr algn="l"/>
            <a:r>
              <a:rPr sz="1200" b="1" i="0">
                <a:solidFill>
                  <a:srgbClr val="0F6FA8"/>
                </a:solidFill>
                <a:latin typeface="Arial"/>
              </a:rPr>
              <a:t>ve el paso</a:t>
            </a:r>
          </a:p>
        </p:txBody>
      </p:sp>
      <p:sp>
        <p:nvSpPr>
          <p:cNvPr id="8" name="TextBox 7"/>
          <p:cNvSpPr txBox="1"/>
          <p:nvPr/>
        </p:nvSpPr>
        <p:spPr>
          <a:xfrm>
            <a:off x="1014984" y="3291840"/>
            <a:ext cx="1828800" cy="594360"/>
          </a:xfrm>
          <a:prstGeom prst="rect">
            <a:avLst/>
          </a:prstGeom>
          <a:noFill/>
        </p:spPr>
        <p:txBody>
          <a:bodyPr wrap="square" lIns="0" rIns="0" tIns="0" bIns="0" anchor="t">
            <a:spAutoFit/>
          </a:bodyPr>
          <a:lstStyle/>
          <a:p>
            <a:pPr algn="l"/>
            <a:r>
              <a:rPr sz="1150" b="0" i="0">
                <a:solidFill>
                  <a:srgbClr val="4A5868"/>
                </a:solidFill>
                <a:latin typeface="Arial"/>
              </a:rPr>
              <a:t>patente, hora y foto</a:t>
            </a:r>
          </a:p>
        </p:txBody>
      </p:sp>
      <p:sp>
        <p:nvSpPr>
          <p:cNvPr id="9" name="TextBox 8"/>
          <p:cNvSpPr txBox="1"/>
          <p:nvPr/>
        </p:nvSpPr>
        <p:spPr>
          <a:xfrm>
            <a:off x="3026664" y="3017520"/>
            <a:ext cx="182880" cy="365760"/>
          </a:xfrm>
          <a:prstGeom prst="rect">
            <a:avLst/>
          </a:prstGeom>
          <a:noFill/>
        </p:spPr>
        <p:txBody>
          <a:bodyPr wrap="square" lIns="0" rIns="0" tIns="0" bIns="0" anchor="t">
            <a:spAutoFit/>
          </a:bodyPr>
          <a:lstStyle/>
          <a:p>
            <a:pPr algn="ctr"/>
            <a:r>
              <a:rPr sz="1800" b="1" i="0">
                <a:solidFill>
                  <a:srgbClr val="4A5868"/>
                </a:solidFill>
                <a:latin typeface="Arial"/>
              </a:rPr>
              <a:t>+</a:t>
            </a:r>
          </a:p>
        </p:txBody>
      </p:sp>
      <p:sp>
        <p:nvSpPr>
          <p:cNvPr id="10" name="Rounded Rectangle 9"/>
          <p:cNvSpPr/>
          <p:nvPr/>
        </p:nvSpPr>
        <p:spPr>
          <a:xfrm>
            <a:off x="3209544" y="2487168"/>
            <a:ext cx="2212848" cy="1481328"/>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410712" y="2651760"/>
            <a:ext cx="1828800" cy="274320"/>
          </a:xfrm>
          <a:prstGeom prst="rect">
            <a:avLst/>
          </a:prstGeom>
          <a:noFill/>
        </p:spPr>
        <p:txBody>
          <a:bodyPr wrap="square" lIns="0" rIns="0" tIns="0" bIns="0" anchor="t">
            <a:spAutoFit/>
          </a:bodyPr>
          <a:lstStyle/>
          <a:p>
            <a:pPr algn="l"/>
            <a:r>
              <a:rPr sz="1400" b="1" i="0">
                <a:solidFill>
                  <a:srgbClr val="13202E"/>
                </a:solidFill>
                <a:latin typeface="Arial"/>
              </a:rPr>
              <a:t>Sistema de camiones</a:t>
            </a:r>
          </a:p>
        </p:txBody>
      </p:sp>
      <p:sp>
        <p:nvSpPr>
          <p:cNvPr id="12" name="TextBox 11"/>
          <p:cNvSpPr txBox="1"/>
          <p:nvPr/>
        </p:nvSpPr>
        <p:spPr>
          <a:xfrm>
            <a:off x="3410712" y="2971800"/>
            <a:ext cx="1828800" cy="274320"/>
          </a:xfrm>
          <a:prstGeom prst="rect">
            <a:avLst/>
          </a:prstGeom>
          <a:noFill/>
        </p:spPr>
        <p:txBody>
          <a:bodyPr wrap="square" lIns="0" rIns="0" tIns="0" bIns="0" anchor="t">
            <a:spAutoFit/>
          </a:bodyPr>
          <a:lstStyle/>
          <a:p>
            <a:pPr algn="l"/>
            <a:r>
              <a:rPr sz="1200" b="1" i="0">
                <a:solidFill>
                  <a:srgbClr val="0F6FA8"/>
                </a:solidFill>
                <a:latin typeface="Arial"/>
              </a:rPr>
              <a:t>dice qué debía pasar</a:t>
            </a:r>
          </a:p>
        </p:txBody>
      </p:sp>
      <p:sp>
        <p:nvSpPr>
          <p:cNvPr id="13" name="TextBox 12"/>
          <p:cNvSpPr txBox="1"/>
          <p:nvPr/>
        </p:nvSpPr>
        <p:spPr>
          <a:xfrm>
            <a:off x="3410712" y="3291840"/>
            <a:ext cx="1828800" cy="594360"/>
          </a:xfrm>
          <a:prstGeom prst="rect">
            <a:avLst/>
          </a:prstGeom>
          <a:noFill/>
        </p:spPr>
        <p:txBody>
          <a:bodyPr wrap="square" lIns="0" rIns="0" tIns="0" bIns="0" anchor="t">
            <a:spAutoFit/>
          </a:bodyPr>
          <a:lstStyle/>
          <a:p>
            <a:pPr algn="l"/>
            <a:r>
              <a:rPr sz="1150" b="0" i="0">
                <a:solidFill>
                  <a:srgbClr val="4A5868"/>
                </a:solidFill>
                <a:latin typeface="Arial"/>
              </a:rPr>
              <a:t>contrato, cupo, producto y plataforma asignada</a:t>
            </a:r>
          </a:p>
        </p:txBody>
      </p:sp>
      <p:sp>
        <p:nvSpPr>
          <p:cNvPr id="14" name="TextBox 13"/>
          <p:cNvSpPr txBox="1"/>
          <p:nvPr/>
        </p:nvSpPr>
        <p:spPr>
          <a:xfrm>
            <a:off x="5422392" y="3017520"/>
            <a:ext cx="182880" cy="365760"/>
          </a:xfrm>
          <a:prstGeom prst="rect">
            <a:avLst/>
          </a:prstGeom>
          <a:noFill/>
        </p:spPr>
        <p:txBody>
          <a:bodyPr wrap="square" lIns="0" rIns="0" tIns="0" bIns="0" anchor="t">
            <a:spAutoFit/>
          </a:bodyPr>
          <a:lstStyle/>
          <a:p>
            <a:pPr algn="ctr"/>
            <a:r>
              <a:rPr sz="1800" b="1" i="0">
                <a:solidFill>
                  <a:srgbClr val="4A5868"/>
                </a:solidFill>
                <a:latin typeface="Arial"/>
              </a:rPr>
              <a:t>+</a:t>
            </a:r>
          </a:p>
        </p:txBody>
      </p:sp>
      <p:sp>
        <p:nvSpPr>
          <p:cNvPr id="15" name="Rounded Rectangle 14"/>
          <p:cNvSpPr/>
          <p:nvPr/>
        </p:nvSpPr>
        <p:spPr>
          <a:xfrm>
            <a:off x="5605272" y="2487168"/>
            <a:ext cx="2212848" cy="1481328"/>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806440" y="2651760"/>
            <a:ext cx="1828800" cy="274320"/>
          </a:xfrm>
          <a:prstGeom prst="rect">
            <a:avLst/>
          </a:prstGeom>
          <a:noFill/>
        </p:spPr>
        <p:txBody>
          <a:bodyPr wrap="square" lIns="0" rIns="0" tIns="0" bIns="0" anchor="t">
            <a:spAutoFit/>
          </a:bodyPr>
          <a:lstStyle/>
          <a:p>
            <a:pPr algn="l"/>
            <a:r>
              <a:rPr sz="1400" b="1" i="0">
                <a:solidFill>
                  <a:srgbClr val="13202E"/>
                </a:solidFill>
                <a:latin typeface="Arial"/>
              </a:rPr>
              <a:t>El modelo de nodos</a:t>
            </a:r>
          </a:p>
        </p:txBody>
      </p:sp>
      <p:sp>
        <p:nvSpPr>
          <p:cNvPr id="17" name="TextBox 16"/>
          <p:cNvSpPr txBox="1"/>
          <p:nvPr/>
        </p:nvSpPr>
        <p:spPr>
          <a:xfrm>
            <a:off x="5806440" y="2971800"/>
            <a:ext cx="1828800" cy="274320"/>
          </a:xfrm>
          <a:prstGeom prst="rect">
            <a:avLst/>
          </a:prstGeom>
          <a:noFill/>
        </p:spPr>
        <p:txBody>
          <a:bodyPr wrap="square" lIns="0" rIns="0" tIns="0" bIns="0" anchor="t">
            <a:spAutoFit/>
          </a:bodyPr>
          <a:lstStyle/>
          <a:p>
            <a:pPr algn="l"/>
            <a:r>
              <a:rPr sz="1200" b="1" i="0">
                <a:solidFill>
                  <a:srgbClr val="0F6FA8"/>
                </a:solidFill>
                <a:latin typeface="Arial"/>
              </a:rPr>
              <a:t>dice qué se espera</a:t>
            </a:r>
          </a:p>
        </p:txBody>
      </p:sp>
      <p:sp>
        <p:nvSpPr>
          <p:cNvPr id="18" name="TextBox 17"/>
          <p:cNvSpPr txBox="1"/>
          <p:nvPr/>
        </p:nvSpPr>
        <p:spPr>
          <a:xfrm>
            <a:off x="5806440" y="3291840"/>
            <a:ext cx="1828800" cy="594360"/>
          </a:xfrm>
          <a:prstGeom prst="rect">
            <a:avLst/>
          </a:prstGeom>
          <a:noFill/>
        </p:spPr>
        <p:txBody>
          <a:bodyPr wrap="square" lIns="0" rIns="0" tIns="0" bIns="0" anchor="t">
            <a:spAutoFit/>
          </a:bodyPr>
          <a:lstStyle/>
          <a:p>
            <a:pPr algn="l"/>
            <a:r>
              <a:rPr sz="1150" b="0" i="0">
                <a:solidFill>
                  <a:srgbClr val="4A5868"/>
                </a:solidFill>
                <a:latin typeface="Arial"/>
              </a:rPr>
              <a:t>de dónde viene, a dónde va, qué circuito</a:t>
            </a:r>
          </a:p>
        </p:txBody>
      </p:sp>
      <p:cxnSp>
        <p:nvCxnSpPr>
          <p:cNvPr id="19" name="Connector 18"/>
          <p:cNvCxnSpPr/>
          <p:nvPr/>
        </p:nvCxnSpPr>
        <p:spPr>
          <a:xfrm>
            <a:off x="7973568" y="3227832"/>
            <a:ext cx="347472" cy="0"/>
          </a:xfrm>
          <a:prstGeom prst="line">
            <a:avLst/>
          </a:prstGeom>
          <a:ln w="28575">
            <a:solidFill>
              <a:srgbClr val="132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366760" y="2487168"/>
            <a:ext cx="3017520" cy="1481328"/>
          </a:xfrm>
          <a:prstGeom prst="roundRect">
            <a:avLst>
              <a:gd name="adj" fmla="val 5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595360" y="2651760"/>
            <a:ext cx="2651760" cy="274320"/>
          </a:xfrm>
          <a:prstGeom prst="rect">
            <a:avLst/>
          </a:prstGeom>
          <a:noFill/>
        </p:spPr>
        <p:txBody>
          <a:bodyPr wrap="square" lIns="0" rIns="0" tIns="0" bIns="0" anchor="t">
            <a:spAutoFit/>
          </a:bodyPr>
          <a:lstStyle/>
          <a:p>
            <a:pPr algn="l"/>
            <a:r>
              <a:rPr sz="1050" b="1" i="0">
                <a:solidFill>
                  <a:srgbClr val="6CC1F2"/>
                </a:solidFill>
                <a:latin typeface="Arial"/>
              </a:rPr>
              <a:t>PASO CONFIRMADO</a:t>
            </a:r>
          </a:p>
        </p:txBody>
      </p:sp>
      <p:sp>
        <p:nvSpPr>
          <p:cNvPr id="22" name="TextBox 21"/>
          <p:cNvSpPr txBox="1"/>
          <p:nvPr/>
        </p:nvSpPr>
        <p:spPr>
          <a:xfrm>
            <a:off x="8595360" y="2926080"/>
            <a:ext cx="2651760" cy="914400"/>
          </a:xfrm>
          <a:prstGeom prst="rect">
            <a:avLst/>
          </a:prstGeom>
          <a:noFill/>
        </p:spPr>
        <p:txBody>
          <a:bodyPr wrap="square" lIns="0" rIns="0" tIns="0" bIns="0" anchor="t">
            <a:spAutoFit/>
          </a:bodyPr>
          <a:lstStyle/>
          <a:p>
            <a:pPr algn="l"/>
            <a:r>
              <a:rPr sz="1500" b="1" i="0">
                <a:solidFill>
                  <a:srgbClr val="FFFFFF"/>
                </a:solidFill>
                <a:latin typeface="Arial"/>
              </a:rPr>
              <a:t>o un aviso en el momento, cuando no coinciden</a:t>
            </a:r>
          </a:p>
        </p:txBody>
      </p:sp>
      <p:sp>
        <p:nvSpPr>
          <p:cNvPr id="23" name="Rounded Rectangle 22"/>
          <p:cNvSpPr/>
          <p:nvPr/>
        </p:nvSpPr>
        <p:spPr>
          <a:xfrm>
            <a:off x="813816" y="4224528"/>
            <a:ext cx="5175504" cy="1572768"/>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1005840" y="4389120"/>
            <a:ext cx="2304288" cy="274320"/>
          </a:xfrm>
          <a:prstGeom prst="roundRect">
            <a:avLst>
              <a:gd name="adj" fmla="val 50000"/>
            </a:avLst>
          </a:prstGeom>
          <a:solidFill>
            <a:srgbClr val="FBE9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05840" y="4389120"/>
            <a:ext cx="2304288" cy="274320"/>
          </a:xfrm>
          <a:prstGeom prst="rect">
            <a:avLst/>
          </a:prstGeom>
          <a:noFill/>
        </p:spPr>
        <p:txBody>
          <a:bodyPr wrap="square" lIns="0" rIns="0" tIns="0" bIns="0" anchor="ctr">
            <a:spAutoFit/>
          </a:bodyPr>
          <a:lstStyle/>
          <a:p>
            <a:pPr algn="ctr"/>
            <a:r>
              <a:rPr sz="1050" b="1" i="0">
                <a:solidFill>
                  <a:srgbClr val="8A5200"/>
                </a:solidFill>
                <a:latin typeface="Arial"/>
              </a:rPr>
              <a:t>CASO REAL · 14–15/09</a:t>
            </a:r>
          </a:p>
        </p:txBody>
      </p:sp>
      <p:sp>
        <p:nvSpPr>
          <p:cNvPr id="26" name="TextBox 25"/>
          <p:cNvSpPr txBox="1"/>
          <p:nvPr/>
        </p:nvSpPr>
        <p:spPr>
          <a:xfrm>
            <a:off x="1005840" y="4754880"/>
            <a:ext cx="4800600" cy="1005840"/>
          </a:xfrm>
          <a:prstGeom prst="rect">
            <a:avLst/>
          </a:prstGeom>
          <a:noFill/>
        </p:spPr>
        <p:txBody>
          <a:bodyPr wrap="square" lIns="0" rIns="0" tIns="0" bIns="0" anchor="t">
            <a:spAutoFit/>
          </a:bodyPr>
          <a:lstStyle/>
          <a:p>
            <a:pPr algn="l"/>
            <a:r>
              <a:rPr sz="1300" b="1" i="0">
                <a:solidFill>
                  <a:srgbClr val="13202E"/>
                </a:solidFill>
                <a:latin typeface="Arial"/>
              </a:rPr>
              <a:t>Debía descargar en el volcable 2 y descargó en el 5. </a:t>
            </a:r>
            <a:r>
              <a:rPr sz="1300" b="0" i="0">
                <a:solidFill>
                  <a:srgbClr val="13202E"/>
                </a:solidFill>
                <a:latin typeface="Arial"/>
              </a:rPr>
              <a:t>Solo se detecta cruzando la plataforma asignada en el sistema de camiones con la cámara del volcable.</a:t>
            </a:r>
          </a:p>
        </p:txBody>
      </p:sp>
      <p:sp>
        <p:nvSpPr>
          <p:cNvPr id="27" name="Rounded Rectangle 26"/>
          <p:cNvSpPr/>
          <p:nvPr/>
        </p:nvSpPr>
        <p:spPr>
          <a:xfrm>
            <a:off x="6208776" y="4224528"/>
            <a:ext cx="5175504" cy="1572768"/>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400800" y="4389120"/>
            <a:ext cx="2403043" cy="274320"/>
          </a:xfrm>
          <a:prstGeom prst="roundRect">
            <a:avLst>
              <a:gd name="adj" fmla="val 50000"/>
            </a:avLst>
          </a:prstGeom>
          <a:solidFill>
            <a:srgbClr val="DC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00800" y="4389120"/>
            <a:ext cx="2403043" cy="274320"/>
          </a:xfrm>
          <a:prstGeom prst="rect">
            <a:avLst/>
          </a:prstGeom>
          <a:noFill/>
        </p:spPr>
        <p:txBody>
          <a:bodyPr wrap="square" lIns="0" rIns="0" tIns="0" bIns="0" anchor="ctr">
            <a:spAutoFit/>
          </a:bodyPr>
          <a:lstStyle/>
          <a:p>
            <a:pPr algn="ctr"/>
            <a:r>
              <a:rPr sz="1050" b="1" i="0">
                <a:solidFill>
                  <a:srgbClr val="0F6FA8"/>
                </a:solidFill>
                <a:latin typeface="Arial"/>
              </a:rPr>
              <a:t>LA OTRA MITAD · JULIO</a:t>
            </a:r>
          </a:p>
        </p:txBody>
      </p:sp>
      <p:sp>
        <p:nvSpPr>
          <p:cNvPr id="30" name="TextBox 29"/>
          <p:cNvSpPr txBox="1"/>
          <p:nvPr/>
        </p:nvSpPr>
        <p:spPr>
          <a:xfrm>
            <a:off x="6400800" y="4754880"/>
            <a:ext cx="4800600" cy="1005840"/>
          </a:xfrm>
          <a:prstGeom prst="rect">
            <a:avLst/>
          </a:prstGeom>
          <a:noFill/>
        </p:spPr>
        <p:txBody>
          <a:bodyPr wrap="square" lIns="0" rIns="0" tIns="0" bIns="0" anchor="t">
            <a:spAutoFit/>
          </a:bodyPr>
          <a:lstStyle/>
          <a:p>
            <a:pPr algn="l"/>
            <a:r>
              <a:rPr sz="1300" b="1" i="0">
                <a:solidFill>
                  <a:srgbClr val="13202E"/>
                </a:solidFill>
                <a:latin typeface="Arial"/>
              </a:rPr>
              <a:t>La cámara ve el patrón, el sistema de camiones dice por qué: </a:t>
            </a:r>
            <a:r>
              <a:rPr sz="1300" b="0" i="0">
                <a:solidFill>
                  <a:srgbClr val="13202E"/>
                </a:solidFill>
                <a:latin typeface="Arial"/>
              </a:rPr>
              <a:t>los 36 recorridos anómalos de julio se explicaron por exceso de kg, falta de cupo o error del transportista.</a:t>
            </a:r>
          </a:p>
        </p:txBody>
      </p:sp>
      <p:sp>
        <p:nvSpPr>
          <p:cNvPr id="31" name="TextBox 30"/>
          <p:cNvSpPr txBox="1"/>
          <p:nvPr/>
        </p:nvSpPr>
        <p:spPr>
          <a:xfrm>
            <a:off x="813816" y="6236208"/>
            <a:ext cx="9601200" cy="237744"/>
          </a:xfrm>
          <a:prstGeom prst="rect">
            <a:avLst/>
          </a:prstGeom>
          <a:noFill/>
        </p:spPr>
        <p:txBody>
          <a:bodyPr wrap="square" lIns="0" rIns="0" tIns="0" bIns="0" anchor="t">
            <a:spAutoFit/>
          </a:bodyPr>
          <a:lstStyle/>
          <a:p>
            <a:pPr algn="l"/>
            <a:r>
              <a:rPr sz="1100" b="0" i="0">
                <a:solidFill>
                  <a:srgbClr val="5B6776"/>
                </a:solidFill>
                <a:latin typeface="Arial"/>
              </a:rPr>
              <a:t>Fuente: comités de Seguridad del 14/08 (resumen de julio, 36 casos) y del 18/09</a:t>
            </a:r>
          </a:p>
        </p:txBody>
      </p:sp>
      <p:sp>
        <p:nvSpPr>
          <p:cNvPr id="32" name="TextBox 31"/>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12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EF2F4"/>
        </a:solidFill>
        <a:effectLst/>
      </p:bgPr>
    </p:bg>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r>
              <a:rPr sz="1200" b="1" i="0">
                <a:solidFill>
                  <a:srgbClr val="0F6FA8"/>
                </a:solidFill>
                <a:latin typeface="Arial"/>
              </a:rPr>
              <a:t>ARQUITECTURA</a:t>
            </a:r>
          </a:p>
        </p:txBody>
      </p:sp>
      <p:sp>
        <p:nvSpPr>
          <p:cNvPr id="3" name="TextBox 2"/>
          <p:cNvSpPr txBox="1"/>
          <p:nvPr/>
        </p:nvSpPr>
        <p:spPr>
          <a:xfrm>
            <a:off x="813816" y="1097280"/>
            <a:ext cx="10881360" cy="548640"/>
          </a:xfrm>
          <a:prstGeom prst="rect">
            <a:avLst/>
          </a:prstGeom>
          <a:noFill/>
        </p:spPr>
        <p:txBody>
          <a:bodyPr wrap="square" lIns="0" rIns="0" tIns="0" bIns="0" anchor="t">
            <a:spAutoFit/>
          </a:bodyPr>
          <a:lstStyle/>
          <a:p>
            <a:pPr algn="l"/>
            <a:r>
              <a:rPr sz="3000" b="1" i="0">
                <a:solidFill>
                  <a:srgbClr val="13202E"/>
                </a:solidFill>
                <a:latin typeface="Arial"/>
              </a:rPr>
              <a:t>Liviana, en la nube y preparada para IA</a:t>
            </a:r>
          </a:p>
        </p:txBody>
      </p:sp>
      <p:sp>
        <p:nvSpPr>
          <p:cNvPr id="4" name="Rounded Rectangle 3"/>
          <p:cNvSpPr/>
          <p:nvPr/>
        </p:nvSpPr>
        <p:spPr>
          <a:xfrm>
            <a:off x="813816" y="1920240"/>
            <a:ext cx="1920240" cy="160020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78408" y="2075688"/>
            <a:ext cx="1645920" cy="237744"/>
          </a:xfrm>
          <a:prstGeom prst="rect">
            <a:avLst/>
          </a:prstGeom>
          <a:noFill/>
        </p:spPr>
        <p:txBody>
          <a:bodyPr wrap="square" lIns="0" rIns="0" tIns="0" bIns="0" anchor="t">
            <a:spAutoFit/>
          </a:bodyPr>
          <a:lstStyle/>
          <a:p>
            <a:pPr algn="l"/>
            <a:r>
              <a:rPr sz="1000" b="1" i="0">
                <a:solidFill>
                  <a:srgbClr val="0B5638"/>
                </a:solidFill>
                <a:latin typeface="Arial"/>
              </a:rPr>
              <a:t>NODOS · EN PLANTA</a:t>
            </a:r>
          </a:p>
        </p:txBody>
      </p:sp>
      <p:sp>
        <p:nvSpPr>
          <p:cNvPr id="6" name="TextBox 5"/>
          <p:cNvSpPr txBox="1"/>
          <p:nvPr/>
        </p:nvSpPr>
        <p:spPr>
          <a:xfrm>
            <a:off x="978408" y="2377440"/>
            <a:ext cx="1645920" cy="548640"/>
          </a:xfrm>
          <a:prstGeom prst="rect">
            <a:avLst/>
          </a:prstGeom>
          <a:noFill/>
        </p:spPr>
        <p:txBody>
          <a:bodyPr wrap="square" lIns="0" rIns="0" tIns="0" bIns="0" anchor="t">
            <a:spAutoFit/>
          </a:bodyPr>
          <a:lstStyle/>
          <a:p>
            <a:pPr algn="l"/>
            <a:r>
              <a:rPr sz="1450" b="1" i="0">
                <a:solidFill>
                  <a:srgbClr val="13202E"/>
                </a:solidFill>
                <a:latin typeface="Arial"/>
              </a:rPr>
              <a:t>Cámaras, balanzas y Edge</a:t>
            </a:r>
          </a:p>
        </p:txBody>
      </p:sp>
      <p:sp>
        <p:nvSpPr>
          <p:cNvPr id="7" name="TextBox 6"/>
          <p:cNvSpPr txBox="1"/>
          <p:nvPr/>
        </p:nvSpPr>
        <p:spPr>
          <a:xfrm>
            <a:off x="978408" y="2926080"/>
            <a:ext cx="1645920" cy="548640"/>
          </a:xfrm>
          <a:prstGeom prst="rect">
            <a:avLst/>
          </a:prstGeom>
          <a:noFill/>
        </p:spPr>
        <p:txBody>
          <a:bodyPr wrap="square" lIns="0" rIns="0" tIns="0" bIns="0" anchor="t">
            <a:spAutoFit/>
          </a:bodyPr>
          <a:lstStyle/>
          <a:p>
            <a:pPr algn="l"/>
            <a:r>
              <a:rPr sz="1100" b="0" i="0">
                <a:solidFill>
                  <a:srgbClr val="4A5868"/>
                </a:solidFill>
                <a:latin typeface="Arial"/>
              </a:rPr>
              <a:t>confirman cada paso</a:t>
            </a:r>
          </a:p>
        </p:txBody>
      </p:sp>
      <p:cxnSp>
        <p:nvCxnSpPr>
          <p:cNvPr id="8" name="Connector 7"/>
          <p:cNvCxnSpPr/>
          <p:nvPr/>
        </p:nvCxnSpPr>
        <p:spPr>
          <a:xfrm>
            <a:off x="2743200" y="2715768"/>
            <a:ext cx="210312" cy="0"/>
          </a:xfrm>
          <a:prstGeom prst="line">
            <a:avLst/>
          </a:prstGeom>
          <a:ln w="25400">
            <a:solidFill>
              <a:srgbClr val="132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962656" y="1920240"/>
            <a:ext cx="1920240" cy="1600200"/>
          </a:xfrm>
          <a:prstGeom prst="roundRect">
            <a:avLst>
              <a:gd name="adj" fmla="val 5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127248" y="2075688"/>
            <a:ext cx="1645920" cy="237744"/>
          </a:xfrm>
          <a:prstGeom prst="rect">
            <a:avLst/>
          </a:prstGeom>
          <a:noFill/>
        </p:spPr>
        <p:txBody>
          <a:bodyPr wrap="square" lIns="0" rIns="0" tIns="0" bIns="0" anchor="t">
            <a:spAutoFit/>
          </a:bodyPr>
          <a:lstStyle/>
          <a:p>
            <a:pPr algn="l"/>
            <a:r>
              <a:rPr sz="1000" b="1" i="0">
                <a:solidFill>
                  <a:srgbClr val="6CC1F2"/>
                </a:solidFill>
                <a:latin typeface="Arial"/>
              </a:rPr>
              <a:t>TRUCKFLOW · NUBE</a:t>
            </a:r>
          </a:p>
        </p:txBody>
      </p:sp>
      <p:sp>
        <p:nvSpPr>
          <p:cNvPr id="11" name="TextBox 10"/>
          <p:cNvSpPr txBox="1"/>
          <p:nvPr/>
        </p:nvSpPr>
        <p:spPr>
          <a:xfrm>
            <a:off x="3127248" y="2377440"/>
            <a:ext cx="1645920" cy="548640"/>
          </a:xfrm>
          <a:prstGeom prst="rect">
            <a:avLst/>
          </a:prstGeom>
          <a:noFill/>
        </p:spPr>
        <p:txBody>
          <a:bodyPr wrap="square" lIns="0" rIns="0" tIns="0" bIns="0" anchor="t">
            <a:spAutoFit/>
          </a:bodyPr>
          <a:lstStyle/>
          <a:p>
            <a:pPr algn="l"/>
            <a:r>
              <a:rPr sz="1450" b="1" i="0">
                <a:solidFill>
                  <a:srgbClr val="FFFFFF"/>
                </a:solidFill>
                <a:latin typeface="Arial"/>
              </a:rPr>
              <a:t>Un evento por paso</a:t>
            </a:r>
          </a:p>
        </p:txBody>
      </p:sp>
      <p:sp>
        <p:nvSpPr>
          <p:cNvPr id="12" name="TextBox 11"/>
          <p:cNvSpPr txBox="1"/>
          <p:nvPr/>
        </p:nvSpPr>
        <p:spPr>
          <a:xfrm>
            <a:off x="3127248" y="2926080"/>
            <a:ext cx="1645920" cy="548640"/>
          </a:xfrm>
          <a:prstGeom prst="rect">
            <a:avLst/>
          </a:prstGeom>
          <a:noFill/>
        </p:spPr>
        <p:txBody>
          <a:bodyPr wrap="square" lIns="0" rIns="0" tIns="0" bIns="0" anchor="t">
            <a:spAutoFit/>
          </a:bodyPr>
          <a:lstStyle/>
          <a:p>
            <a:pPr algn="l"/>
            <a:r>
              <a:rPr sz="1100" b="0" i="0">
                <a:solidFill>
                  <a:srgbClr val="B8C4CE"/>
                </a:solidFill>
                <a:latin typeface="Arial"/>
              </a:rPr>
              <a:t>microservicios livianos</a:t>
            </a:r>
          </a:p>
        </p:txBody>
      </p:sp>
      <p:cxnSp>
        <p:nvCxnSpPr>
          <p:cNvPr id="13" name="Connector 12"/>
          <p:cNvCxnSpPr/>
          <p:nvPr/>
        </p:nvCxnSpPr>
        <p:spPr>
          <a:xfrm>
            <a:off x="4892040" y="2715768"/>
            <a:ext cx="210312" cy="0"/>
          </a:xfrm>
          <a:prstGeom prst="line">
            <a:avLst/>
          </a:prstGeom>
          <a:ln w="25400">
            <a:solidFill>
              <a:srgbClr val="132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111496" y="1920240"/>
            <a:ext cx="1920240" cy="160020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276088" y="2075688"/>
            <a:ext cx="1645920" cy="237744"/>
          </a:xfrm>
          <a:prstGeom prst="rect">
            <a:avLst/>
          </a:prstGeom>
          <a:noFill/>
        </p:spPr>
        <p:txBody>
          <a:bodyPr wrap="square" lIns="0" rIns="0" tIns="0" bIns="0" anchor="t">
            <a:spAutoFit/>
          </a:bodyPr>
          <a:lstStyle/>
          <a:p>
            <a:pPr algn="l"/>
            <a:r>
              <a:rPr sz="1000" b="1" i="0">
                <a:solidFill>
                  <a:srgbClr val="0B5638"/>
                </a:solidFill>
                <a:latin typeface="Arial"/>
              </a:rPr>
              <a:t>MODELO DE NODOS</a:t>
            </a:r>
          </a:p>
        </p:txBody>
      </p:sp>
      <p:sp>
        <p:nvSpPr>
          <p:cNvPr id="16" name="TextBox 15"/>
          <p:cNvSpPr txBox="1"/>
          <p:nvPr/>
        </p:nvSpPr>
        <p:spPr>
          <a:xfrm>
            <a:off x="5276088" y="2377440"/>
            <a:ext cx="1645920" cy="548640"/>
          </a:xfrm>
          <a:prstGeom prst="rect">
            <a:avLst/>
          </a:prstGeom>
          <a:noFill/>
        </p:spPr>
        <p:txBody>
          <a:bodyPr wrap="square" lIns="0" rIns="0" tIns="0" bIns="0" anchor="t">
            <a:spAutoFit/>
          </a:bodyPr>
          <a:lstStyle/>
          <a:p>
            <a:pPr algn="l"/>
            <a:r>
              <a:rPr sz="1450" b="1" i="0">
                <a:solidFill>
                  <a:srgbClr val="13202E"/>
                </a:solidFill>
                <a:latin typeface="Arial"/>
              </a:rPr>
              <a:t>La planta en datos</a:t>
            </a:r>
          </a:p>
        </p:txBody>
      </p:sp>
      <p:sp>
        <p:nvSpPr>
          <p:cNvPr id="17" name="TextBox 16"/>
          <p:cNvSpPr txBox="1"/>
          <p:nvPr/>
        </p:nvSpPr>
        <p:spPr>
          <a:xfrm>
            <a:off x="5276088" y="2926080"/>
            <a:ext cx="1645920" cy="548640"/>
          </a:xfrm>
          <a:prstGeom prst="rect">
            <a:avLst/>
          </a:prstGeom>
          <a:noFill/>
        </p:spPr>
        <p:txBody>
          <a:bodyPr wrap="square" lIns="0" rIns="0" tIns="0" bIns="0" anchor="t">
            <a:spAutoFit/>
          </a:bodyPr>
          <a:lstStyle/>
          <a:p>
            <a:pPr algn="l"/>
            <a:r>
              <a:rPr sz="1100" b="0" i="0">
                <a:solidFill>
                  <a:srgbClr val="4A5868"/>
                </a:solidFill>
                <a:latin typeface="Arial"/>
              </a:rPr>
              <a:t>nodos, playas, capacidades, circuitos</a:t>
            </a:r>
          </a:p>
        </p:txBody>
      </p:sp>
      <p:cxnSp>
        <p:nvCxnSpPr>
          <p:cNvPr id="18" name="Connector 17"/>
          <p:cNvCxnSpPr/>
          <p:nvPr/>
        </p:nvCxnSpPr>
        <p:spPr>
          <a:xfrm>
            <a:off x="7040879" y="2715768"/>
            <a:ext cx="210313" cy="0"/>
          </a:xfrm>
          <a:prstGeom prst="line">
            <a:avLst/>
          </a:prstGeom>
          <a:ln w="25400">
            <a:solidFill>
              <a:srgbClr val="132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260336" y="1920240"/>
            <a:ext cx="1920240" cy="160020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424928" y="2075688"/>
            <a:ext cx="1645920" cy="237744"/>
          </a:xfrm>
          <a:prstGeom prst="rect">
            <a:avLst/>
          </a:prstGeom>
          <a:noFill/>
        </p:spPr>
        <p:txBody>
          <a:bodyPr wrap="square" lIns="0" rIns="0" tIns="0" bIns="0" anchor="t">
            <a:spAutoFit/>
          </a:bodyPr>
          <a:lstStyle/>
          <a:p>
            <a:pPr algn="l"/>
            <a:r>
              <a:rPr sz="1000" b="1" i="0">
                <a:solidFill>
                  <a:srgbClr val="0F6FA8"/>
                </a:solidFill>
                <a:latin typeface="Arial"/>
              </a:rPr>
              <a:t>PUERTA ABIERTA</a:t>
            </a:r>
          </a:p>
        </p:txBody>
      </p:sp>
      <p:sp>
        <p:nvSpPr>
          <p:cNvPr id="21" name="TextBox 20"/>
          <p:cNvSpPr txBox="1"/>
          <p:nvPr/>
        </p:nvSpPr>
        <p:spPr>
          <a:xfrm>
            <a:off x="7424928" y="2377440"/>
            <a:ext cx="1645920" cy="548640"/>
          </a:xfrm>
          <a:prstGeom prst="rect">
            <a:avLst/>
          </a:prstGeom>
          <a:noFill/>
        </p:spPr>
        <p:txBody>
          <a:bodyPr wrap="square" lIns="0" rIns="0" tIns="0" bIns="0" anchor="t">
            <a:spAutoFit/>
          </a:bodyPr>
          <a:lstStyle/>
          <a:p>
            <a:pPr algn="l"/>
            <a:r>
              <a:rPr sz="1450" b="1" i="0">
                <a:solidFill>
                  <a:srgbClr val="13202E"/>
                </a:solidFill>
                <a:latin typeface="Arial"/>
              </a:rPr>
              <a:t>APIs + MCP</a:t>
            </a:r>
          </a:p>
        </p:txBody>
      </p:sp>
      <p:sp>
        <p:nvSpPr>
          <p:cNvPr id="22" name="TextBox 21"/>
          <p:cNvSpPr txBox="1"/>
          <p:nvPr/>
        </p:nvSpPr>
        <p:spPr>
          <a:xfrm>
            <a:off x="7424928" y="2926080"/>
            <a:ext cx="1645920" cy="548640"/>
          </a:xfrm>
          <a:prstGeom prst="rect">
            <a:avLst/>
          </a:prstGeom>
          <a:noFill/>
        </p:spPr>
        <p:txBody>
          <a:bodyPr wrap="square" lIns="0" rIns="0" tIns="0" bIns="0" anchor="t">
            <a:spAutoFit/>
          </a:bodyPr>
          <a:lstStyle/>
          <a:p>
            <a:pPr algn="l"/>
            <a:r>
              <a:rPr sz="1100" b="0" i="0">
                <a:solidFill>
                  <a:srgbClr val="4A5868"/>
                </a:solidFill>
                <a:latin typeface="Arial"/>
              </a:rPr>
              <a:t>estándar para asistentes de IA</a:t>
            </a:r>
          </a:p>
        </p:txBody>
      </p:sp>
      <p:cxnSp>
        <p:nvCxnSpPr>
          <p:cNvPr id="23" name="Connector 22"/>
          <p:cNvCxnSpPr/>
          <p:nvPr/>
        </p:nvCxnSpPr>
        <p:spPr>
          <a:xfrm>
            <a:off x="9189720" y="2715768"/>
            <a:ext cx="210312" cy="0"/>
          </a:xfrm>
          <a:prstGeom prst="line">
            <a:avLst/>
          </a:prstGeom>
          <a:ln w="25400">
            <a:solidFill>
              <a:srgbClr val="132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409176" y="1920240"/>
            <a:ext cx="1920240" cy="160020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573768" y="2075688"/>
            <a:ext cx="1645920" cy="237744"/>
          </a:xfrm>
          <a:prstGeom prst="rect">
            <a:avLst/>
          </a:prstGeom>
          <a:noFill/>
        </p:spPr>
        <p:txBody>
          <a:bodyPr wrap="square" lIns="0" rIns="0" tIns="0" bIns="0" anchor="t">
            <a:spAutoFit/>
          </a:bodyPr>
          <a:lstStyle/>
          <a:p>
            <a:pPr algn="l"/>
            <a:r>
              <a:rPr sz="1000" b="1" i="0">
                <a:solidFill>
                  <a:srgbClr val="4A5868"/>
                </a:solidFill>
                <a:latin typeface="Arial"/>
              </a:rPr>
              <a:t>QUIÉN LO USA</a:t>
            </a:r>
          </a:p>
        </p:txBody>
      </p:sp>
      <p:sp>
        <p:nvSpPr>
          <p:cNvPr id="26" name="TextBox 25"/>
          <p:cNvSpPr txBox="1"/>
          <p:nvPr/>
        </p:nvSpPr>
        <p:spPr>
          <a:xfrm>
            <a:off x="9573768" y="2377440"/>
            <a:ext cx="1645920" cy="548640"/>
          </a:xfrm>
          <a:prstGeom prst="rect">
            <a:avLst/>
          </a:prstGeom>
          <a:noFill/>
        </p:spPr>
        <p:txBody>
          <a:bodyPr wrap="square" lIns="0" rIns="0" tIns="0" bIns="0" anchor="t">
            <a:spAutoFit/>
          </a:bodyPr>
          <a:lstStyle/>
          <a:p>
            <a:pPr algn="l"/>
            <a:r>
              <a:rPr sz="1450" b="1" i="0">
                <a:solidFill>
                  <a:srgbClr val="13202E"/>
                </a:solidFill>
                <a:latin typeface="Arial"/>
              </a:rPr>
              <a:t>Tablero, torre e informes</a:t>
            </a:r>
          </a:p>
        </p:txBody>
      </p:sp>
      <p:sp>
        <p:nvSpPr>
          <p:cNvPr id="27" name="TextBox 26"/>
          <p:cNvSpPr txBox="1"/>
          <p:nvPr/>
        </p:nvSpPr>
        <p:spPr>
          <a:xfrm>
            <a:off x="9573768" y="2926080"/>
            <a:ext cx="1645920" cy="548640"/>
          </a:xfrm>
          <a:prstGeom prst="rect">
            <a:avLst/>
          </a:prstGeom>
          <a:noFill/>
        </p:spPr>
        <p:txBody>
          <a:bodyPr wrap="square" lIns="0" rIns="0" tIns="0" bIns="0" anchor="t">
            <a:spAutoFit/>
          </a:bodyPr>
          <a:lstStyle/>
          <a:p>
            <a:pPr algn="l"/>
            <a:r>
              <a:rPr sz="1100" b="0" i="0">
                <a:solidFill>
                  <a:srgbClr val="4A5868"/>
                </a:solidFill>
                <a:latin typeface="Arial"/>
              </a:rPr>
              <a:t>y la IA que Vicentin ya usa</a:t>
            </a:r>
          </a:p>
        </p:txBody>
      </p:sp>
      <p:sp>
        <p:nvSpPr>
          <p:cNvPr id="28" name="Rounded Rectangle 27"/>
          <p:cNvSpPr/>
          <p:nvPr/>
        </p:nvSpPr>
        <p:spPr>
          <a:xfrm>
            <a:off x="2148840" y="3977639"/>
            <a:ext cx="3108960" cy="914400"/>
          </a:xfrm>
          <a:prstGeom prst="roundRect">
            <a:avLst>
              <a:gd name="adj" fmla="val 5000"/>
            </a:avLst>
          </a:prstGeom>
          <a:solidFill>
            <a:srgbClr val="EEF2F4"/>
          </a:solidFill>
          <a:ln w="9525">
            <a:solidFill>
              <a:srgbClr val="C9CA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2331720" y="4087368"/>
            <a:ext cx="2834640" cy="237744"/>
          </a:xfrm>
          <a:prstGeom prst="rect">
            <a:avLst/>
          </a:prstGeom>
          <a:noFill/>
        </p:spPr>
        <p:txBody>
          <a:bodyPr wrap="square" lIns="0" rIns="0" tIns="0" bIns="0" anchor="t">
            <a:spAutoFit/>
          </a:bodyPr>
          <a:lstStyle/>
          <a:p>
            <a:pPr algn="l"/>
            <a:r>
              <a:rPr sz="1000" b="1" i="0">
                <a:solidFill>
                  <a:srgbClr val="4A5868"/>
                </a:solidFill>
                <a:latin typeface="Arial"/>
              </a:rPr>
              <a:t>SISTEMA DE CAMIONES · VICENTIN</a:t>
            </a:r>
          </a:p>
        </p:txBody>
      </p:sp>
      <p:sp>
        <p:nvSpPr>
          <p:cNvPr id="30" name="TextBox 29"/>
          <p:cNvSpPr txBox="1"/>
          <p:nvPr/>
        </p:nvSpPr>
        <p:spPr>
          <a:xfrm>
            <a:off x="2331720" y="4361688"/>
            <a:ext cx="2834640" cy="457200"/>
          </a:xfrm>
          <a:prstGeom prst="rect">
            <a:avLst/>
          </a:prstGeom>
          <a:noFill/>
        </p:spPr>
        <p:txBody>
          <a:bodyPr wrap="square" lIns="0" rIns="0" tIns="0" bIns="0" anchor="t">
            <a:spAutoFit/>
          </a:bodyPr>
          <a:lstStyle/>
          <a:p>
            <a:pPr algn="l"/>
            <a:r>
              <a:rPr sz="1150" b="0" i="0">
                <a:solidFill>
                  <a:srgbClr val="13202E"/>
                </a:solidFill>
                <a:latin typeface="Arial"/>
              </a:rPr>
              <a:t>contrato, cupo, producto: se lee por SFTP o API, no se toca</a:t>
            </a:r>
          </a:p>
        </p:txBody>
      </p:sp>
      <p:cxnSp>
        <p:nvCxnSpPr>
          <p:cNvPr id="31" name="Connector 30"/>
          <p:cNvCxnSpPr/>
          <p:nvPr/>
        </p:nvCxnSpPr>
        <p:spPr>
          <a:xfrm flipV="1">
            <a:off x="3703320" y="3547872"/>
            <a:ext cx="0" cy="411480"/>
          </a:xfrm>
          <a:prstGeom prst="line">
            <a:avLst/>
          </a:prstGeom>
          <a:ln w="22225">
            <a:solidFill>
              <a:srgbClr val="4A58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13816" y="5138928"/>
            <a:ext cx="3383280" cy="86868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96696" y="5257800"/>
            <a:ext cx="3063240" cy="274320"/>
          </a:xfrm>
          <a:prstGeom prst="rect">
            <a:avLst/>
          </a:prstGeom>
          <a:noFill/>
        </p:spPr>
        <p:txBody>
          <a:bodyPr wrap="square" lIns="0" rIns="0" tIns="0" bIns="0" anchor="t">
            <a:spAutoFit/>
          </a:bodyPr>
          <a:lstStyle/>
          <a:p>
            <a:pPr algn="l"/>
            <a:r>
              <a:rPr sz="1300" b="1" i="0">
                <a:solidFill>
                  <a:srgbClr val="13202E"/>
                </a:solidFill>
                <a:latin typeface="Arial"/>
              </a:rPr>
              <a:t>Microservicios livianos</a:t>
            </a:r>
          </a:p>
        </p:txBody>
      </p:sp>
      <p:sp>
        <p:nvSpPr>
          <p:cNvPr id="34" name="TextBox 33"/>
          <p:cNvSpPr txBox="1"/>
          <p:nvPr/>
        </p:nvSpPr>
        <p:spPr>
          <a:xfrm>
            <a:off x="996696" y="5532120"/>
            <a:ext cx="3063240" cy="457200"/>
          </a:xfrm>
          <a:prstGeom prst="rect">
            <a:avLst/>
          </a:prstGeom>
          <a:noFill/>
        </p:spPr>
        <p:txBody>
          <a:bodyPr wrap="square" lIns="0" rIns="0" tIns="0" bIns="0" anchor="t">
            <a:spAutoFit/>
          </a:bodyPr>
          <a:lstStyle/>
          <a:p>
            <a:pPr algn="l"/>
            <a:r>
              <a:rPr sz="1100" b="0" i="0">
                <a:solidFill>
                  <a:srgbClr val="4A5868"/>
                </a:solidFill>
                <a:latin typeface="Arial"/>
              </a:rPr>
              <a:t>cada pieza escala y se actualiza sola; nada depende de una PC en planta</a:t>
            </a:r>
          </a:p>
        </p:txBody>
      </p:sp>
      <p:sp>
        <p:nvSpPr>
          <p:cNvPr id="35" name="Rounded Rectangle 34"/>
          <p:cNvSpPr/>
          <p:nvPr/>
        </p:nvSpPr>
        <p:spPr>
          <a:xfrm>
            <a:off x="4398264" y="5138928"/>
            <a:ext cx="3383280" cy="86868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81144" y="5257800"/>
            <a:ext cx="3063240" cy="274320"/>
          </a:xfrm>
          <a:prstGeom prst="rect">
            <a:avLst/>
          </a:prstGeom>
          <a:noFill/>
        </p:spPr>
        <p:txBody>
          <a:bodyPr wrap="square" lIns="0" rIns="0" tIns="0" bIns="0" anchor="t">
            <a:spAutoFit/>
          </a:bodyPr>
          <a:lstStyle/>
          <a:p>
            <a:pPr algn="l"/>
            <a:r>
              <a:rPr sz="1300" b="1" i="0">
                <a:solidFill>
                  <a:srgbClr val="13202E"/>
                </a:solidFill>
                <a:latin typeface="Arial"/>
              </a:rPr>
              <a:t>Un solo modelo de la planta</a:t>
            </a:r>
          </a:p>
        </p:txBody>
      </p:sp>
      <p:sp>
        <p:nvSpPr>
          <p:cNvPr id="37" name="TextBox 36"/>
          <p:cNvSpPr txBox="1"/>
          <p:nvPr/>
        </p:nvSpPr>
        <p:spPr>
          <a:xfrm>
            <a:off x="4581144" y="5532120"/>
            <a:ext cx="3063240" cy="457200"/>
          </a:xfrm>
          <a:prstGeom prst="rect">
            <a:avLst/>
          </a:prstGeom>
          <a:noFill/>
        </p:spPr>
        <p:txBody>
          <a:bodyPr wrap="square" lIns="0" rIns="0" tIns="0" bIns="0" anchor="t">
            <a:spAutoFit/>
          </a:bodyPr>
          <a:lstStyle/>
          <a:p>
            <a:pPr algn="l"/>
            <a:r>
              <a:rPr sz="1100" b="0" i="0">
                <a:solidFill>
                  <a:srgbClr val="4A5868"/>
                </a:solidFill>
                <a:latin typeface="Arial"/>
              </a:rPr>
              <a:t>tablero, informes y la IA leen exactamente lo mismo</a:t>
            </a:r>
          </a:p>
        </p:txBody>
      </p:sp>
      <p:sp>
        <p:nvSpPr>
          <p:cNvPr id="38" name="Rounded Rectangle 37"/>
          <p:cNvSpPr/>
          <p:nvPr/>
        </p:nvSpPr>
        <p:spPr>
          <a:xfrm>
            <a:off x="7982712" y="5138928"/>
            <a:ext cx="3383280" cy="86868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165592" y="5257800"/>
            <a:ext cx="3063240" cy="274320"/>
          </a:xfrm>
          <a:prstGeom prst="rect">
            <a:avLst/>
          </a:prstGeom>
          <a:noFill/>
        </p:spPr>
        <p:txBody>
          <a:bodyPr wrap="square" lIns="0" rIns="0" tIns="0" bIns="0" anchor="t">
            <a:spAutoFit/>
          </a:bodyPr>
          <a:lstStyle/>
          <a:p>
            <a:pPr algn="l"/>
            <a:r>
              <a:rPr sz="1300" b="1" i="0">
                <a:solidFill>
                  <a:srgbClr val="13202E"/>
                </a:solidFill>
                <a:latin typeface="Arial"/>
              </a:rPr>
              <a:t>Preparada para IA</a:t>
            </a:r>
          </a:p>
        </p:txBody>
      </p:sp>
      <p:sp>
        <p:nvSpPr>
          <p:cNvPr id="40" name="TextBox 39"/>
          <p:cNvSpPr txBox="1"/>
          <p:nvPr/>
        </p:nvSpPr>
        <p:spPr>
          <a:xfrm>
            <a:off x="8165592" y="5532120"/>
            <a:ext cx="3063240" cy="457200"/>
          </a:xfrm>
          <a:prstGeom prst="rect">
            <a:avLst/>
          </a:prstGeom>
          <a:noFill/>
        </p:spPr>
        <p:txBody>
          <a:bodyPr wrap="square" lIns="0" rIns="0" tIns="0" bIns="0" anchor="t">
            <a:spAutoFit/>
          </a:bodyPr>
          <a:lstStyle/>
          <a:p>
            <a:pPr algn="l"/>
            <a:r>
              <a:rPr sz="1100" b="0" i="0">
                <a:solidFill>
                  <a:srgbClr val="4A5868"/>
                </a:solidFill>
                <a:latin typeface="Arial"/>
              </a:rPr>
              <a:t>cualquier asistente consulta y opera por una puerta estándar</a:t>
            </a:r>
          </a:p>
        </p:txBody>
      </p:sp>
      <p:sp>
        <p:nvSpPr>
          <p:cNvPr id="41" name="TextBox 40"/>
          <p:cNvSpPr txBox="1"/>
          <p:nvPr/>
        </p:nvSpPr>
        <p:spPr>
          <a:xfrm>
            <a:off x="813816" y="6236208"/>
            <a:ext cx="9601200" cy="237744"/>
          </a:xfrm>
          <a:prstGeom prst="rect">
            <a:avLst/>
          </a:prstGeom>
          <a:noFill/>
        </p:spPr>
        <p:txBody>
          <a:bodyPr wrap="square" lIns="0" rIns="0" tIns="0" bIns="0" anchor="t">
            <a:spAutoFit/>
          </a:bodyPr>
          <a:lstStyle/>
          <a:p>
            <a:pPr algn="l"/>
            <a:r>
              <a:rPr sz="1100" b="0" i="0">
                <a:solidFill>
                  <a:srgbClr val="5B6776"/>
                </a:solidFill>
                <a:latin typeface="Arial"/>
              </a:rPr>
              <a:t>Truckflow Vicentin · propuesta interna</a:t>
            </a:r>
          </a:p>
        </p:txBody>
      </p:sp>
      <p:sp>
        <p:nvSpPr>
          <p:cNvPr id="42" name="TextBox 41"/>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13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6F2"/>
        </a:solidFill>
        <a:effectLst/>
      </p:bgPr>
    </p:bg>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r>
              <a:rPr sz="1200" b="1" i="0">
                <a:solidFill>
                  <a:srgbClr val="0F6FA8"/>
                </a:solidFill>
                <a:latin typeface="Arial"/>
              </a:rPr>
              <a:t>VENTAJAS</a:t>
            </a:r>
          </a:p>
        </p:txBody>
      </p:sp>
      <p:sp>
        <p:nvSpPr>
          <p:cNvPr id="3" name="TextBox 2"/>
          <p:cNvSpPr txBox="1"/>
          <p:nvPr/>
        </p:nvSpPr>
        <p:spPr>
          <a:xfrm>
            <a:off x="813816" y="1097280"/>
            <a:ext cx="10881360" cy="548640"/>
          </a:xfrm>
          <a:prstGeom prst="rect">
            <a:avLst/>
          </a:prstGeom>
          <a:noFill/>
        </p:spPr>
        <p:txBody>
          <a:bodyPr wrap="square" lIns="0" rIns="0" tIns="0" bIns="0" anchor="t">
            <a:spAutoFit/>
          </a:bodyPr>
          <a:lstStyle/>
          <a:p>
            <a:pPr algn="l"/>
            <a:r>
              <a:rPr sz="3000" b="1" i="0">
                <a:solidFill>
                  <a:srgbClr val="13202E"/>
                </a:solidFill>
                <a:latin typeface="Arial"/>
              </a:rPr>
              <a:t>Qué cambia frente a lo que hay hoy en planta</a:t>
            </a:r>
          </a:p>
        </p:txBody>
      </p:sp>
      <p:sp>
        <p:nvSpPr>
          <p:cNvPr id="4" name="TextBox 3"/>
          <p:cNvSpPr txBox="1"/>
          <p:nvPr/>
        </p:nvSpPr>
        <p:spPr>
          <a:xfrm>
            <a:off x="813816" y="1700784"/>
            <a:ext cx="10607040" cy="548640"/>
          </a:xfrm>
          <a:prstGeom prst="rect">
            <a:avLst/>
          </a:prstGeom>
          <a:noFill/>
        </p:spPr>
        <p:txBody>
          <a:bodyPr wrap="square" lIns="0" rIns="0" tIns="0" bIns="0" anchor="t">
            <a:spAutoFit/>
          </a:bodyPr>
          <a:lstStyle/>
          <a:p>
            <a:pPr algn="l"/>
            <a:r>
              <a:rPr sz="1500" b="0" i="0">
                <a:solidFill>
                  <a:srgbClr val="4A5868"/>
                </a:solidFill>
                <a:latin typeface="Arial"/>
              </a:rPr>
              <a:t>No reemplaza al sistema de camiones: le da operación en tiempo real y lo abre a la automatización.</a:t>
            </a:r>
          </a:p>
        </p:txBody>
      </p:sp>
      <p:graphicFrame>
        <p:nvGraphicFramePr>
          <p:cNvPr id="5" name="Table 4"/>
          <p:cNvGraphicFramePr>
            <a:graphicFrameLocks noGrp="1"/>
          </p:cNvGraphicFramePr>
          <p:nvPr/>
        </p:nvGraphicFramePr>
        <p:xfrm>
          <a:off x="813816" y="2395728"/>
          <a:ext cx="10570464" cy="3566160"/>
        </p:xfrm>
        <a:graphic>
          <a:graphicData uri="http://schemas.openxmlformats.org/drawingml/2006/table">
            <a:tbl>
              <a:tblPr firstRow="1" bandRow="1">
                <a:tableStyleId>{5C22544A-7EE6-4342-B048-85BDC9FD1C3A}</a:tableStyleId>
              </a:tblPr>
              <a:tblGrid>
                <a:gridCol w="4480560"/>
                <a:gridCol w="6089904"/>
              </a:tblGrid>
              <a:tr h="509451">
                <a:tc>
                  <a:txBody>
                    <a:bodyPr/>
                    <a:lstStyle/>
                    <a:p>
                      <a:r>
                        <a:rPr sz="1200" b="1">
                          <a:solidFill>
                            <a:srgbClr val="FFFFFF"/>
                          </a:solidFill>
                          <a:latin typeface="Arial"/>
                        </a:rPr>
                        <a:t>Hoy en planta</a:t>
                      </a:r>
                    </a:p>
                  </a:txBody>
                  <a:tcPr marL="128016" marR="128016" marT="54864" marB="54864" anchor="ctr">
                    <a:solidFill>
                      <a:srgbClr val="0E1A2B"/>
                    </a:solidFill>
                  </a:tcPr>
                </a:tc>
                <a:tc>
                  <a:txBody>
                    <a:bodyPr/>
                    <a:lstStyle/>
                    <a:p>
                      <a:r>
                        <a:rPr sz="1200" b="1">
                          <a:solidFill>
                            <a:srgbClr val="FFFFFF"/>
                          </a:solidFill>
                          <a:latin typeface="Arial"/>
                        </a:rPr>
                        <a:t>Con esta arquitectura</a:t>
                      </a:r>
                    </a:p>
                  </a:txBody>
                  <a:tcPr marL="128016" marR="128016" marT="54864" marB="54864" anchor="ctr">
                    <a:solidFill>
                      <a:srgbClr val="0E1A2B"/>
                    </a:solidFill>
                  </a:tcPr>
                </a:tc>
              </a:tr>
              <a:tr h="509451">
                <a:tc>
                  <a:txBody>
                    <a:bodyPr/>
                    <a:lstStyle/>
                    <a:p>
                      <a:r>
                        <a:rPr sz="1250" b="0">
                          <a:solidFill>
                            <a:srgbClr val="4A5868"/>
                          </a:solidFill>
                          <a:latin typeface="Arial"/>
                        </a:rPr>
                        <a:t>La operación se registra cuando se cierra y se exporta a Excel</a:t>
                      </a:r>
                    </a:p>
                  </a:txBody>
                  <a:tcPr marL="128016" marR="128016" marT="54864" marB="54864" anchor="ctr">
                    <a:solidFill>
                      <a:srgbClr val="FCFDFB"/>
                    </a:solidFill>
                  </a:tcPr>
                </a:tc>
                <a:tc>
                  <a:txBody>
                    <a:bodyPr/>
                    <a:lstStyle/>
                    <a:p>
                      <a:r>
                        <a:rPr sz="1250" b="1">
                          <a:solidFill>
                            <a:srgbClr val="13202E"/>
                          </a:solidFill>
                          <a:latin typeface="Arial"/>
                        </a:rPr>
                        <a:t>Un evento por paso, en segundos, mientras el camión se mueve</a:t>
                      </a:r>
                    </a:p>
                  </a:txBody>
                  <a:tcPr marL="128016" marR="128016" marT="54864" marB="54864" anchor="ctr">
                    <a:solidFill>
                      <a:srgbClr val="EAF4FB"/>
                    </a:solidFill>
                  </a:tcPr>
                </a:tc>
              </a:tr>
              <a:tr h="509451">
                <a:tc>
                  <a:txBody>
                    <a:bodyPr/>
                    <a:lstStyle/>
                    <a:p>
                      <a:r>
                        <a:rPr sz="1250" b="0">
                          <a:solidFill>
                            <a:srgbClr val="4A5868"/>
                          </a:solidFill>
                          <a:latin typeface="Arial"/>
                        </a:rPr>
                        <a:t>Sistemas pensados para personas que cargan datos</a:t>
                      </a:r>
                    </a:p>
                  </a:txBody>
                  <a:tcPr marL="128016" marR="128016" marT="54864" marB="54864" anchor="ctr">
                    <a:solidFill>
                      <a:srgbClr val="FCFDFB"/>
                    </a:solidFill>
                  </a:tcPr>
                </a:tc>
                <a:tc>
                  <a:txBody>
                    <a:bodyPr/>
                    <a:lstStyle/>
                    <a:p>
                      <a:r>
                        <a:rPr sz="1250" b="1">
                          <a:solidFill>
                            <a:srgbClr val="13202E"/>
                          </a:solidFill>
                          <a:latin typeface="Arial"/>
                        </a:rPr>
                        <a:t>Microservicios en la nube con APIs abiertas: la IA consulta y opera de forma nativa</a:t>
                      </a:r>
                    </a:p>
                  </a:txBody>
                  <a:tcPr marL="128016" marR="128016" marT="54864" marB="54864" anchor="ctr">
                    <a:solidFill>
                      <a:srgbClr val="EAF4FB"/>
                    </a:solidFill>
                  </a:tcPr>
                </a:tc>
              </a:tr>
              <a:tr h="509451">
                <a:tc>
                  <a:txBody>
                    <a:bodyPr/>
                    <a:lstStyle/>
                    <a:p>
                      <a:r>
                        <a:rPr sz="1250" b="0">
                          <a:solidFill>
                            <a:srgbClr val="4A5868"/>
                          </a:solidFill>
                          <a:latin typeface="Arial"/>
                        </a:rPr>
                        <a:t>Identificación con tarjeta</a:t>
                      </a:r>
                    </a:p>
                  </a:txBody>
                  <a:tcPr marL="128016" marR="128016" marT="54864" marB="54864" anchor="ctr">
                    <a:solidFill>
                      <a:srgbClr val="FCFDFB"/>
                    </a:solidFill>
                  </a:tcPr>
                </a:tc>
                <a:tc>
                  <a:txBody>
                    <a:bodyPr/>
                    <a:lstStyle/>
                    <a:p>
                      <a:r>
                        <a:rPr sz="1250" b="1">
                          <a:solidFill>
                            <a:srgbClr val="13202E"/>
                          </a:solidFill>
                          <a:latin typeface="Arial"/>
                        </a:rPr>
                        <a:t>Patente + foto, confirmada con una segunda fuente</a:t>
                      </a:r>
                    </a:p>
                  </a:txBody>
                  <a:tcPr marL="128016" marR="128016" marT="54864" marB="54864" anchor="ctr">
                    <a:solidFill>
                      <a:srgbClr val="EAF4FB"/>
                    </a:solidFill>
                  </a:tcPr>
                </a:tc>
              </a:tr>
              <a:tr h="509451">
                <a:tc>
                  <a:txBody>
                    <a:bodyPr/>
                    <a:lstStyle/>
                    <a:p>
                      <a:r>
                        <a:rPr sz="1250" b="0">
                          <a:solidFill>
                            <a:srgbClr val="4A5868"/>
                          </a:solidFill>
                          <a:latin typeface="Arial"/>
                        </a:rPr>
                        <a:t>Cada sistema con sus datos, por separado</a:t>
                      </a:r>
                    </a:p>
                  </a:txBody>
                  <a:tcPr marL="128016" marR="128016" marT="54864" marB="54864" anchor="ctr">
                    <a:solidFill>
                      <a:srgbClr val="FCFDFB"/>
                    </a:solidFill>
                  </a:tcPr>
                </a:tc>
                <a:tc>
                  <a:txBody>
                    <a:bodyPr/>
                    <a:lstStyle/>
                    <a:p>
                      <a:r>
                        <a:rPr sz="1250" b="1">
                          <a:solidFill>
                            <a:srgbClr val="13202E"/>
                          </a:solidFill>
                          <a:latin typeface="Arial"/>
                        </a:rPr>
                        <a:t>Un solo modelo de la planta que todos leen</a:t>
                      </a:r>
                    </a:p>
                  </a:txBody>
                  <a:tcPr marL="128016" marR="128016" marT="54864" marB="54864" anchor="ctr">
                    <a:solidFill>
                      <a:srgbClr val="EAF4FB"/>
                    </a:solidFill>
                  </a:tcPr>
                </a:tc>
              </a:tr>
              <a:tr h="509451">
                <a:tc>
                  <a:txBody>
                    <a:bodyPr/>
                    <a:lstStyle/>
                    <a:p>
                      <a:r>
                        <a:rPr sz="1250" b="0">
                          <a:solidFill>
                            <a:srgbClr val="4A5868"/>
                          </a:solidFill>
                          <a:latin typeface="Arial"/>
                        </a:rPr>
                        <a:t>Crecer es un proyecto de sistemas</a:t>
                      </a:r>
                    </a:p>
                  </a:txBody>
                  <a:tcPr marL="128016" marR="128016" marT="54864" marB="54864" anchor="ctr">
                    <a:solidFill>
                      <a:srgbClr val="FCFDFB"/>
                    </a:solidFill>
                  </a:tcPr>
                </a:tc>
                <a:tc>
                  <a:txBody>
                    <a:bodyPr/>
                    <a:lstStyle/>
                    <a:p>
                      <a:r>
                        <a:rPr sz="1250" b="1">
                          <a:solidFill>
                            <a:srgbClr val="13202E"/>
                          </a:solidFill>
                          <a:latin typeface="Arial"/>
                        </a:rPr>
                        <a:t>Crecer es sumar un sensor a un nodo o un nodo al modelo</a:t>
                      </a:r>
                    </a:p>
                  </a:txBody>
                  <a:tcPr marL="128016" marR="128016" marT="54864" marB="54864" anchor="ctr">
                    <a:solidFill>
                      <a:srgbClr val="EAF4FB"/>
                    </a:solidFill>
                  </a:tcPr>
                </a:tc>
              </a:tr>
              <a:tr h="509454">
                <a:tc>
                  <a:txBody>
                    <a:bodyPr/>
                    <a:lstStyle/>
                    <a:p>
                      <a:r>
                        <a:rPr sz="1250" b="0">
                          <a:solidFill>
                            <a:srgbClr val="4A5868"/>
                          </a:solidFill>
                          <a:latin typeface="Arial"/>
                        </a:rPr>
                        <a:t>Depende de la red y de una PC</a:t>
                      </a:r>
                    </a:p>
                  </a:txBody>
                  <a:tcPr marL="128016" marR="128016" marT="54864" marB="54864" anchor="ctr">
                    <a:solidFill>
                      <a:srgbClr val="FCFDFB"/>
                    </a:solidFill>
                  </a:tcPr>
                </a:tc>
                <a:tc>
                  <a:txBody>
                    <a:bodyPr/>
                    <a:lstStyle/>
                    <a:p>
                      <a:r>
                        <a:rPr sz="1250" b="1">
                          <a:solidFill>
                            <a:srgbClr val="13202E"/>
                          </a:solidFill>
                          <a:latin typeface="Arial"/>
                        </a:rPr>
                        <a:t>El nodo trabaja solo si se corta la red y reenvía después</a:t>
                      </a:r>
                    </a:p>
                  </a:txBody>
                  <a:tcPr marL="128016" marR="128016" marT="54864" marB="54864" anchor="ctr">
                    <a:solidFill>
                      <a:srgbClr val="EAF4FB"/>
                    </a:solidFill>
                  </a:tcPr>
                </a:tc>
              </a:tr>
            </a:tbl>
          </a:graphicData>
        </a:graphic>
      </p:graphicFrame>
      <p:sp>
        <p:nvSpPr>
          <p:cNvPr id="6" name="TextBox 5"/>
          <p:cNvSpPr txBox="1"/>
          <p:nvPr/>
        </p:nvSpPr>
        <p:spPr>
          <a:xfrm>
            <a:off x="813816" y="6236208"/>
            <a:ext cx="9601200" cy="237744"/>
          </a:xfrm>
          <a:prstGeom prst="rect">
            <a:avLst/>
          </a:prstGeom>
          <a:noFill/>
        </p:spPr>
        <p:txBody>
          <a:bodyPr wrap="square" lIns="0" rIns="0" tIns="0" bIns="0" anchor="t">
            <a:spAutoFit/>
          </a:bodyPr>
          <a:lstStyle/>
          <a:p>
            <a:pPr algn="l"/>
            <a:r>
              <a:rPr sz="1100" b="0" i="0">
                <a:solidFill>
                  <a:srgbClr val="5B6776"/>
                </a:solidFill>
                <a:latin typeface="Arial"/>
              </a:rPr>
              <a:t>Truckflow Vicentin · propuesta interna</a:t>
            </a:r>
          </a:p>
        </p:txBody>
      </p:sp>
      <p:sp>
        <p:nvSpPr>
          <p:cNvPr id="7" name="TextBox 6"/>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14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DFB"/>
        </a:solidFill>
        <a:effectLst/>
      </p:bgPr>
    </p:bg>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r>
              <a:rPr sz="1200" b="1" i="0">
                <a:solidFill>
                  <a:srgbClr val="0F6FA8"/>
                </a:solidFill>
                <a:latin typeface="Arial"/>
              </a:rPr>
              <a:t>PRÓXIMO PASO · IA ABIERTA</a:t>
            </a:r>
          </a:p>
        </p:txBody>
      </p:sp>
      <p:sp>
        <p:nvSpPr>
          <p:cNvPr id="3" name="TextBox 2"/>
          <p:cNvSpPr txBox="1"/>
          <p:nvPr/>
        </p:nvSpPr>
        <p:spPr>
          <a:xfrm>
            <a:off x="813816" y="1097280"/>
            <a:ext cx="10881360" cy="548640"/>
          </a:xfrm>
          <a:prstGeom prst="rect">
            <a:avLst/>
          </a:prstGeom>
          <a:noFill/>
        </p:spPr>
        <p:txBody>
          <a:bodyPr wrap="square" lIns="0" rIns="0" tIns="0" bIns="0" anchor="t">
            <a:spAutoFit/>
          </a:bodyPr>
          <a:lstStyle/>
          <a:p>
            <a:pPr algn="l"/>
            <a:r>
              <a:rPr sz="3000" b="1" i="0">
                <a:solidFill>
                  <a:srgbClr val="13202E"/>
                </a:solidFill>
                <a:latin typeface="Arial"/>
              </a:rPr>
              <a:t>Que Vicentin arme sus automatizaciones con su propia IA</a:t>
            </a:r>
          </a:p>
        </p:txBody>
      </p:sp>
      <p:sp>
        <p:nvSpPr>
          <p:cNvPr id="4" name="Rounded Rectangle 3"/>
          <p:cNvSpPr/>
          <p:nvPr/>
        </p:nvSpPr>
        <p:spPr>
          <a:xfrm>
            <a:off x="813816" y="1783080"/>
            <a:ext cx="6309360" cy="4251960"/>
          </a:xfrm>
          <a:prstGeom prst="roundRect">
            <a:avLst>
              <a:gd name="adj" fmla="val 3000"/>
            </a:avLst>
          </a:prstGeom>
          <a:solidFill>
            <a:srgbClr val="EEF2F4"/>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24128" y="1901952"/>
            <a:ext cx="5852160" cy="237744"/>
          </a:xfrm>
          <a:prstGeom prst="rect">
            <a:avLst/>
          </a:prstGeom>
          <a:noFill/>
        </p:spPr>
        <p:txBody>
          <a:bodyPr wrap="square" lIns="0" rIns="0" tIns="0" bIns="0" anchor="t">
            <a:spAutoFit/>
          </a:bodyPr>
          <a:lstStyle/>
          <a:p>
            <a:pPr algn="l"/>
            <a:r>
              <a:rPr sz="1000" b="1" i="0">
                <a:solidFill>
                  <a:srgbClr val="4A5868"/>
                </a:solidFill>
                <a:latin typeface="Arial"/>
              </a:rPr>
              <a:t>CHATGPT · CLAUDE · COPILOT · LO QUE USEN</a:t>
            </a:r>
          </a:p>
        </p:txBody>
      </p:sp>
      <p:sp>
        <p:nvSpPr>
          <p:cNvPr id="6" name="Rounded Rectangle 5"/>
          <p:cNvSpPr/>
          <p:nvPr/>
        </p:nvSpPr>
        <p:spPr>
          <a:xfrm>
            <a:off x="2743200" y="2240280"/>
            <a:ext cx="4160520" cy="457200"/>
          </a:xfrm>
          <a:prstGeom prst="roundRect">
            <a:avLst>
              <a:gd name="adj" fmla="val 25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907792" y="2240280"/>
            <a:ext cx="3840480" cy="457200"/>
          </a:xfrm>
          <a:prstGeom prst="rect">
            <a:avLst/>
          </a:prstGeom>
          <a:noFill/>
        </p:spPr>
        <p:txBody>
          <a:bodyPr wrap="square" lIns="0" rIns="0" tIns="0" bIns="0" anchor="ctr">
            <a:spAutoFit/>
          </a:bodyPr>
          <a:lstStyle/>
          <a:p>
            <a:pPr algn="l"/>
            <a:r>
              <a:rPr sz="1100" b="0" i="0">
                <a:solidFill>
                  <a:srgbClr val="FFFFFF"/>
                </a:solidFill>
                <a:latin typeface="Arial"/>
              </a:rPr>
              <a:t>Avisame cuando un camión salga de Ricardone al puerto sin calar.</a:t>
            </a:r>
          </a:p>
        </p:txBody>
      </p:sp>
      <p:sp>
        <p:nvSpPr>
          <p:cNvPr id="8" name="Rounded Rectangle 7"/>
          <p:cNvSpPr/>
          <p:nvPr/>
        </p:nvSpPr>
        <p:spPr>
          <a:xfrm>
            <a:off x="1024128" y="2743200"/>
            <a:ext cx="3931920" cy="384048"/>
          </a:xfrm>
          <a:prstGeom prst="roundRect">
            <a:avLst>
              <a:gd name="adj" fmla="val 25000"/>
            </a:avLst>
          </a:prstGeom>
          <a:solidFill>
            <a:srgbClr val="FFFFFF"/>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88720" y="2743200"/>
            <a:ext cx="3657600" cy="384048"/>
          </a:xfrm>
          <a:prstGeom prst="rect">
            <a:avLst/>
          </a:prstGeom>
          <a:noFill/>
        </p:spPr>
        <p:txBody>
          <a:bodyPr wrap="square" lIns="0" rIns="0" tIns="0" bIns="0" anchor="ctr">
            <a:spAutoFit/>
          </a:bodyPr>
          <a:lstStyle/>
          <a:p>
            <a:pPr algn="l"/>
            <a:r>
              <a:rPr sz="1100" b="0" i="0">
                <a:solidFill>
                  <a:srgbClr val="13202E"/>
                </a:solidFill>
                <a:latin typeface="Arial"/>
              </a:rPr>
              <a:t>Listo: te aviso en el momento, con patente, hora y foto.</a:t>
            </a:r>
          </a:p>
        </p:txBody>
      </p:sp>
      <p:sp>
        <p:nvSpPr>
          <p:cNvPr id="10" name="Rounded Rectangle 9"/>
          <p:cNvSpPr/>
          <p:nvPr/>
        </p:nvSpPr>
        <p:spPr>
          <a:xfrm>
            <a:off x="2743200" y="3182112"/>
            <a:ext cx="4160520" cy="457200"/>
          </a:xfrm>
          <a:prstGeom prst="roundRect">
            <a:avLst>
              <a:gd name="adj" fmla="val 25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907792" y="3182112"/>
            <a:ext cx="3840480" cy="457200"/>
          </a:xfrm>
          <a:prstGeom prst="rect">
            <a:avLst/>
          </a:prstGeom>
          <a:noFill/>
        </p:spPr>
        <p:txBody>
          <a:bodyPr wrap="square" lIns="0" rIns="0" tIns="0" bIns="0" anchor="ctr">
            <a:spAutoFit/>
          </a:bodyPr>
          <a:lstStyle/>
          <a:p>
            <a:pPr algn="l"/>
            <a:r>
              <a:rPr sz="1100" b="0" i="0">
                <a:solidFill>
                  <a:srgbClr val="FFFFFF"/>
                </a:solidFill>
                <a:latin typeface="Arial"/>
              </a:rPr>
              <a:t>Mandale un mensaje al jefe de turno cuando Playa 1 pase de 250 camiones.</a:t>
            </a:r>
          </a:p>
        </p:txBody>
      </p:sp>
      <p:sp>
        <p:nvSpPr>
          <p:cNvPr id="12" name="Rounded Rectangle 11"/>
          <p:cNvSpPr/>
          <p:nvPr/>
        </p:nvSpPr>
        <p:spPr>
          <a:xfrm>
            <a:off x="1024128" y="3685032"/>
            <a:ext cx="3931920" cy="384048"/>
          </a:xfrm>
          <a:prstGeom prst="roundRect">
            <a:avLst>
              <a:gd name="adj" fmla="val 25000"/>
            </a:avLst>
          </a:prstGeom>
          <a:solidFill>
            <a:srgbClr val="FFFFFF"/>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88720" y="3685032"/>
            <a:ext cx="3657600" cy="384048"/>
          </a:xfrm>
          <a:prstGeom prst="rect">
            <a:avLst/>
          </a:prstGeom>
          <a:noFill/>
        </p:spPr>
        <p:txBody>
          <a:bodyPr wrap="square" lIns="0" rIns="0" tIns="0" bIns="0" anchor="ctr">
            <a:spAutoFit/>
          </a:bodyPr>
          <a:lstStyle/>
          <a:p>
            <a:pPr algn="l"/>
            <a:r>
              <a:rPr sz="1100" b="0" i="0">
                <a:solidFill>
                  <a:srgbClr val="13202E"/>
                </a:solidFill>
                <a:latin typeface="Arial"/>
              </a:rPr>
              <a:t>Aviso activado para Playa 1 (capacidad 300).</a:t>
            </a:r>
          </a:p>
        </p:txBody>
      </p:sp>
      <p:sp>
        <p:nvSpPr>
          <p:cNvPr id="14" name="Rounded Rectangle 13"/>
          <p:cNvSpPr/>
          <p:nvPr/>
        </p:nvSpPr>
        <p:spPr>
          <a:xfrm>
            <a:off x="2743200" y="4123944"/>
            <a:ext cx="4160520" cy="457200"/>
          </a:xfrm>
          <a:prstGeom prst="roundRect">
            <a:avLst>
              <a:gd name="adj" fmla="val 25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07792" y="4123944"/>
            <a:ext cx="3840480" cy="457200"/>
          </a:xfrm>
          <a:prstGeom prst="rect">
            <a:avLst/>
          </a:prstGeom>
          <a:noFill/>
        </p:spPr>
        <p:txBody>
          <a:bodyPr wrap="square" lIns="0" rIns="0" tIns="0" bIns="0" anchor="ctr">
            <a:spAutoFit/>
          </a:bodyPr>
          <a:lstStyle/>
          <a:p>
            <a:pPr algn="l"/>
            <a:r>
              <a:rPr sz="1100" b="0" i="0">
                <a:solidFill>
                  <a:srgbClr val="FFFFFF"/>
                </a:solidFill>
                <a:latin typeface="Arial"/>
              </a:rPr>
              <a:t>¿Qué destino tiene más lugar ahora para la soja?</a:t>
            </a:r>
          </a:p>
        </p:txBody>
      </p:sp>
      <p:sp>
        <p:nvSpPr>
          <p:cNvPr id="16" name="Rounded Rectangle 15"/>
          <p:cNvSpPr/>
          <p:nvPr/>
        </p:nvSpPr>
        <p:spPr>
          <a:xfrm>
            <a:off x="1024128" y="4626864"/>
            <a:ext cx="3931920" cy="384048"/>
          </a:xfrm>
          <a:prstGeom prst="roundRect">
            <a:avLst>
              <a:gd name="adj" fmla="val 25000"/>
            </a:avLst>
          </a:prstGeom>
          <a:solidFill>
            <a:srgbClr val="FFFFFF"/>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88720" y="4626864"/>
            <a:ext cx="3657600" cy="384048"/>
          </a:xfrm>
          <a:prstGeom prst="rect">
            <a:avLst/>
          </a:prstGeom>
          <a:noFill/>
        </p:spPr>
        <p:txBody>
          <a:bodyPr wrap="square" lIns="0" rIns="0" tIns="0" bIns="0" anchor="ctr">
            <a:spAutoFit/>
          </a:bodyPr>
          <a:lstStyle/>
          <a:p>
            <a:pPr algn="l"/>
            <a:r>
              <a:rPr sz="1100" b="0" i="0">
                <a:solidFill>
                  <a:srgbClr val="13202E"/>
                </a:solidFill>
                <a:latin typeface="Arial"/>
              </a:rPr>
              <a:t>Te respondo con la ocupación de cada destino en este momento.</a:t>
            </a:r>
          </a:p>
        </p:txBody>
      </p:sp>
      <p:sp>
        <p:nvSpPr>
          <p:cNvPr id="18" name="Rounded Rectangle 17"/>
          <p:cNvSpPr/>
          <p:nvPr/>
        </p:nvSpPr>
        <p:spPr>
          <a:xfrm>
            <a:off x="2743200" y="5065776"/>
            <a:ext cx="4160520" cy="457200"/>
          </a:xfrm>
          <a:prstGeom prst="roundRect">
            <a:avLst>
              <a:gd name="adj" fmla="val 25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907792" y="5065776"/>
            <a:ext cx="3840480" cy="457200"/>
          </a:xfrm>
          <a:prstGeom prst="rect">
            <a:avLst/>
          </a:prstGeom>
          <a:noFill/>
        </p:spPr>
        <p:txBody>
          <a:bodyPr wrap="square" lIns="0" rIns="0" tIns="0" bIns="0" anchor="ctr">
            <a:spAutoFit/>
          </a:bodyPr>
          <a:lstStyle/>
          <a:p>
            <a:pPr algn="l"/>
            <a:r>
              <a:rPr sz="1100" b="0" i="0">
                <a:solidFill>
                  <a:srgbClr val="FFFFFF"/>
                </a:solidFill>
                <a:latin typeface="Arial"/>
              </a:rPr>
              <a:t>Todos los días a las 7, decime qué camiones estuvieron más de 3 horas en planta.</a:t>
            </a:r>
          </a:p>
        </p:txBody>
      </p:sp>
      <p:sp>
        <p:nvSpPr>
          <p:cNvPr id="20" name="Rounded Rectangle 19"/>
          <p:cNvSpPr/>
          <p:nvPr/>
        </p:nvSpPr>
        <p:spPr>
          <a:xfrm>
            <a:off x="1024128" y="5568696"/>
            <a:ext cx="3931920" cy="384048"/>
          </a:xfrm>
          <a:prstGeom prst="roundRect">
            <a:avLst>
              <a:gd name="adj" fmla="val 25000"/>
            </a:avLst>
          </a:prstGeom>
          <a:solidFill>
            <a:srgbClr val="FFFFFF"/>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88720" y="5568696"/>
            <a:ext cx="3657600" cy="384048"/>
          </a:xfrm>
          <a:prstGeom prst="rect">
            <a:avLst/>
          </a:prstGeom>
          <a:noFill/>
        </p:spPr>
        <p:txBody>
          <a:bodyPr wrap="square" lIns="0" rIns="0" tIns="0" bIns="0" anchor="ctr">
            <a:spAutoFit/>
          </a:bodyPr>
          <a:lstStyle/>
          <a:p>
            <a:pPr algn="l"/>
            <a:r>
              <a:rPr sz="1100" b="0" i="0">
                <a:solidFill>
                  <a:srgbClr val="13202E"/>
                </a:solidFill>
                <a:latin typeface="Arial"/>
              </a:rPr>
              <a:t>Programado: informe diario a las 07:00.</a:t>
            </a:r>
          </a:p>
        </p:txBody>
      </p:sp>
      <p:sp>
        <p:nvSpPr>
          <p:cNvPr id="22" name="Oval 21"/>
          <p:cNvSpPr/>
          <p:nvPr/>
        </p:nvSpPr>
        <p:spPr>
          <a:xfrm>
            <a:off x="7452360" y="1828800"/>
            <a:ext cx="365760" cy="365760"/>
          </a:xfrm>
          <a:prstGeom prst="ellipse">
            <a:avLst/>
          </a:prstGeom>
          <a:solidFill>
            <a:srgbClr val="0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52360" y="1828800"/>
            <a:ext cx="365760" cy="365760"/>
          </a:xfrm>
          <a:prstGeom prst="rect">
            <a:avLst/>
          </a:prstGeom>
          <a:noFill/>
        </p:spPr>
        <p:txBody>
          <a:bodyPr wrap="square" lIns="0" rIns="0" tIns="0" bIns="0" anchor="ctr">
            <a:spAutoFit/>
          </a:bodyPr>
          <a:lstStyle/>
          <a:p>
            <a:pPr algn="ctr"/>
            <a:r>
              <a:rPr sz="1400" b="1" i="0">
                <a:solidFill>
                  <a:srgbClr val="FFFFFF"/>
                </a:solidFill>
                <a:latin typeface="Arial"/>
              </a:rPr>
              <a:t>1</a:t>
            </a:r>
          </a:p>
        </p:txBody>
      </p:sp>
      <p:sp>
        <p:nvSpPr>
          <p:cNvPr id="24" name="TextBox 23"/>
          <p:cNvSpPr txBox="1"/>
          <p:nvPr/>
        </p:nvSpPr>
        <p:spPr>
          <a:xfrm>
            <a:off x="7955279" y="1847088"/>
            <a:ext cx="3429000" cy="548640"/>
          </a:xfrm>
          <a:prstGeom prst="rect">
            <a:avLst/>
          </a:prstGeom>
          <a:noFill/>
        </p:spPr>
        <p:txBody>
          <a:bodyPr wrap="square" lIns="0" rIns="0" tIns="0" bIns="0" anchor="t">
            <a:spAutoFit/>
          </a:bodyPr>
          <a:lstStyle/>
          <a:p>
            <a:pPr algn="l"/>
            <a:r>
              <a:rPr sz="1300" b="0" i="0">
                <a:solidFill>
                  <a:srgbClr val="13202E"/>
                </a:solidFill>
                <a:latin typeface="Arial"/>
              </a:rPr>
              <a:t>La base expone una puerta estándar para IA (MCP) y APIs</a:t>
            </a:r>
          </a:p>
        </p:txBody>
      </p:sp>
      <p:sp>
        <p:nvSpPr>
          <p:cNvPr id="25" name="Oval 24"/>
          <p:cNvSpPr/>
          <p:nvPr/>
        </p:nvSpPr>
        <p:spPr>
          <a:xfrm>
            <a:off x="7452360" y="2542032"/>
            <a:ext cx="365760" cy="365760"/>
          </a:xfrm>
          <a:prstGeom prst="ellipse">
            <a:avLst/>
          </a:prstGeom>
          <a:solidFill>
            <a:srgbClr val="0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52360" y="2542032"/>
            <a:ext cx="365760" cy="365760"/>
          </a:xfrm>
          <a:prstGeom prst="rect">
            <a:avLst/>
          </a:prstGeom>
          <a:noFill/>
        </p:spPr>
        <p:txBody>
          <a:bodyPr wrap="square" lIns="0" rIns="0" tIns="0" bIns="0" anchor="ctr">
            <a:spAutoFit/>
          </a:bodyPr>
          <a:lstStyle/>
          <a:p>
            <a:pPr algn="ctr"/>
            <a:r>
              <a:rPr sz="1400" b="1" i="0">
                <a:solidFill>
                  <a:srgbClr val="FFFFFF"/>
                </a:solidFill>
                <a:latin typeface="Arial"/>
              </a:rPr>
              <a:t>2</a:t>
            </a:r>
          </a:p>
        </p:txBody>
      </p:sp>
      <p:sp>
        <p:nvSpPr>
          <p:cNvPr id="27" name="TextBox 26"/>
          <p:cNvSpPr txBox="1"/>
          <p:nvPr/>
        </p:nvSpPr>
        <p:spPr>
          <a:xfrm>
            <a:off x="7955279" y="2560320"/>
            <a:ext cx="3429000" cy="548640"/>
          </a:xfrm>
          <a:prstGeom prst="rect">
            <a:avLst/>
          </a:prstGeom>
          <a:noFill/>
        </p:spPr>
        <p:txBody>
          <a:bodyPr wrap="square" lIns="0" rIns="0" tIns="0" bIns="0" anchor="t">
            <a:spAutoFit/>
          </a:bodyPr>
          <a:lstStyle/>
          <a:p>
            <a:pPr algn="l"/>
            <a:r>
              <a:rPr sz="1300" b="0" i="0">
                <a:solidFill>
                  <a:srgbClr val="13202E"/>
                </a:solidFill>
                <a:latin typeface="Arial"/>
              </a:rPr>
              <a:t>Vicentin conecta el asistente que ya usa</a:t>
            </a:r>
          </a:p>
        </p:txBody>
      </p:sp>
      <p:sp>
        <p:nvSpPr>
          <p:cNvPr id="28" name="Oval 27"/>
          <p:cNvSpPr/>
          <p:nvPr/>
        </p:nvSpPr>
        <p:spPr>
          <a:xfrm>
            <a:off x="7452360" y="3255264"/>
            <a:ext cx="365760" cy="365760"/>
          </a:xfrm>
          <a:prstGeom prst="ellipse">
            <a:avLst/>
          </a:prstGeom>
          <a:solidFill>
            <a:srgbClr val="0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452360" y="3255264"/>
            <a:ext cx="365760" cy="365760"/>
          </a:xfrm>
          <a:prstGeom prst="rect">
            <a:avLst/>
          </a:prstGeom>
          <a:noFill/>
        </p:spPr>
        <p:txBody>
          <a:bodyPr wrap="square" lIns="0" rIns="0" tIns="0" bIns="0" anchor="ctr">
            <a:spAutoFit/>
          </a:bodyPr>
          <a:lstStyle/>
          <a:p>
            <a:pPr algn="ctr"/>
            <a:r>
              <a:rPr sz="1400" b="1" i="0">
                <a:solidFill>
                  <a:srgbClr val="FFFFFF"/>
                </a:solidFill>
                <a:latin typeface="Arial"/>
              </a:rPr>
              <a:t>3</a:t>
            </a:r>
          </a:p>
        </p:txBody>
      </p:sp>
      <p:sp>
        <p:nvSpPr>
          <p:cNvPr id="30" name="TextBox 29"/>
          <p:cNvSpPr txBox="1"/>
          <p:nvPr/>
        </p:nvSpPr>
        <p:spPr>
          <a:xfrm>
            <a:off x="7955279" y="3273552"/>
            <a:ext cx="3429000" cy="548640"/>
          </a:xfrm>
          <a:prstGeom prst="rect">
            <a:avLst/>
          </a:prstGeom>
          <a:noFill/>
        </p:spPr>
        <p:txBody>
          <a:bodyPr wrap="square" lIns="0" rIns="0" tIns="0" bIns="0" anchor="t">
            <a:spAutoFit/>
          </a:bodyPr>
          <a:lstStyle/>
          <a:p>
            <a:pPr algn="l"/>
            <a:r>
              <a:rPr sz="1300" b="0" i="0">
                <a:solidFill>
                  <a:srgbClr val="13202E"/>
                </a:solidFill>
                <a:latin typeface="Arial"/>
              </a:rPr>
              <a:t>Arman avisos y automatizaciones en lenguaje natural</a:t>
            </a:r>
          </a:p>
        </p:txBody>
      </p:sp>
      <p:sp>
        <p:nvSpPr>
          <p:cNvPr id="31" name="Oval 30"/>
          <p:cNvSpPr/>
          <p:nvPr/>
        </p:nvSpPr>
        <p:spPr>
          <a:xfrm>
            <a:off x="7452360" y="3968496"/>
            <a:ext cx="365760" cy="365760"/>
          </a:xfrm>
          <a:prstGeom prst="ellipse">
            <a:avLst/>
          </a:prstGeom>
          <a:solidFill>
            <a:srgbClr val="0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452360" y="3968496"/>
            <a:ext cx="365760" cy="365760"/>
          </a:xfrm>
          <a:prstGeom prst="rect">
            <a:avLst/>
          </a:prstGeom>
          <a:noFill/>
        </p:spPr>
        <p:txBody>
          <a:bodyPr wrap="square" lIns="0" rIns="0" tIns="0" bIns="0" anchor="ctr">
            <a:spAutoFit/>
          </a:bodyPr>
          <a:lstStyle/>
          <a:p>
            <a:pPr algn="ctr"/>
            <a:r>
              <a:rPr sz="1400" b="1" i="0">
                <a:solidFill>
                  <a:srgbClr val="FFFFFF"/>
                </a:solidFill>
                <a:latin typeface="Arial"/>
              </a:rPr>
              <a:t>4</a:t>
            </a:r>
          </a:p>
        </p:txBody>
      </p:sp>
      <p:sp>
        <p:nvSpPr>
          <p:cNvPr id="33" name="TextBox 32"/>
          <p:cNvSpPr txBox="1"/>
          <p:nvPr/>
        </p:nvSpPr>
        <p:spPr>
          <a:xfrm>
            <a:off x="7955279" y="3986783"/>
            <a:ext cx="3429000" cy="548640"/>
          </a:xfrm>
          <a:prstGeom prst="rect">
            <a:avLst/>
          </a:prstGeom>
          <a:noFill/>
        </p:spPr>
        <p:txBody>
          <a:bodyPr wrap="square" lIns="0" rIns="0" tIns="0" bIns="0" anchor="t">
            <a:spAutoFit/>
          </a:bodyPr>
          <a:lstStyle/>
          <a:p>
            <a:pPr algn="l"/>
            <a:r>
              <a:rPr sz="1300" b="0" i="0">
                <a:solidFill>
                  <a:srgbClr val="13202E"/>
                </a:solidFill>
                <a:latin typeface="Arial"/>
              </a:rPr>
              <a:t>Nosotros mantenemos la base; ellos crean</a:t>
            </a:r>
          </a:p>
        </p:txBody>
      </p:sp>
      <p:sp>
        <p:nvSpPr>
          <p:cNvPr id="34" name="Rounded Rectangle 33"/>
          <p:cNvSpPr/>
          <p:nvPr/>
        </p:nvSpPr>
        <p:spPr>
          <a:xfrm>
            <a:off x="7406640" y="4828032"/>
            <a:ext cx="3977639" cy="1207008"/>
          </a:xfrm>
          <a:prstGeom prst="roundRect">
            <a:avLst>
              <a:gd name="adj" fmla="val 6000"/>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35240" y="4828032"/>
            <a:ext cx="3611880" cy="1207008"/>
          </a:xfrm>
          <a:prstGeom prst="rect">
            <a:avLst/>
          </a:prstGeom>
          <a:noFill/>
        </p:spPr>
        <p:txBody>
          <a:bodyPr wrap="square" lIns="0" rIns="0" tIns="0" bIns="0" anchor="ctr">
            <a:spAutoFit/>
          </a:bodyPr>
          <a:lstStyle/>
          <a:p>
            <a:pPr algn="l"/>
            <a:r>
              <a:rPr sz="1450" b="1" i="0">
                <a:solidFill>
                  <a:srgbClr val="FFFFFF"/>
                </a:solidFill>
                <a:latin typeface="Arial"/>
              </a:rPr>
              <a:t>No hacemos cada automatización: damos la base para que cualquiera la haga.</a:t>
            </a:r>
          </a:p>
        </p:txBody>
      </p:sp>
      <p:sp>
        <p:nvSpPr>
          <p:cNvPr id="36" name="TextBox 35"/>
          <p:cNvSpPr txBox="1"/>
          <p:nvPr/>
        </p:nvSpPr>
        <p:spPr>
          <a:xfrm>
            <a:off x="813816" y="6236208"/>
            <a:ext cx="9601200" cy="237744"/>
          </a:xfrm>
          <a:prstGeom prst="rect">
            <a:avLst/>
          </a:prstGeom>
          <a:noFill/>
        </p:spPr>
        <p:txBody>
          <a:bodyPr wrap="square" lIns="0" rIns="0" tIns="0" bIns="0" anchor="t">
            <a:spAutoFit/>
          </a:bodyPr>
          <a:lstStyle/>
          <a:p>
            <a:pPr algn="l"/>
            <a:r>
              <a:rPr sz="1100" b="0" i="0">
                <a:solidFill>
                  <a:srgbClr val="5B6776"/>
                </a:solidFill>
                <a:latin typeface="Arial"/>
              </a:rPr>
              <a:t>Ejemplos de pedidos en lenguaje natural · MCP: estándar abierto para que los asistentes de IA consulten y operen sistemas</a:t>
            </a:r>
          </a:p>
        </p:txBody>
      </p:sp>
      <p:sp>
        <p:nvSpPr>
          <p:cNvPr id="37" name="TextBox 36"/>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15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E1A2B"/>
        </a:solidFill>
        <a:effectLst/>
      </p:bgPr>
    </p:bg>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r>
              <a:rPr sz="1200" b="1" i="0">
                <a:solidFill>
                  <a:srgbClr val="F2C66D"/>
                </a:solidFill>
                <a:latin typeface="Arial"/>
              </a:rPr>
              <a:t>HORIZONTE · POR QUÉ HACEMOS ESTO</a:t>
            </a:r>
          </a:p>
        </p:txBody>
      </p:sp>
      <p:sp>
        <p:nvSpPr>
          <p:cNvPr id="3" name="TextBox 2"/>
          <p:cNvSpPr txBox="1"/>
          <p:nvPr/>
        </p:nvSpPr>
        <p:spPr>
          <a:xfrm>
            <a:off x="813816" y="1097280"/>
            <a:ext cx="10881360" cy="548640"/>
          </a:xfrm>
          <a:prstGeom prst="rect">
            <a:avLst/>
          </a:prstGeom>
          <a:noFill/>
        </p:spPr>
        <p:txBody>
          <a:bodyPr wrap="square" lIns="0" rIns="0" tIns="0" bIns="0" anchor="t">
            <a:spAutoFit/>
          </a:bodyPr>
          <a:lstStyle/>
          <a:p>
            <a:pPr algn="l"/>
            <a:r>
              <a:rPr sz="3000" b="1" i="0">
                <a:solidFill>
                  <a:srgbClr val="FFFFFF"/>
                </a:solidFill>
                <a:latin typeface="Arial"/>
              </a:rPr>
              <a:t>La planta automatizada</a:t>
            </a:r>
          </a:p>
        </p:txBody>
      </p:sp>
      <p:sp>
        <p:nvSpPr>
          <p:cNvPr id="4" name="Rounded Rectangle 3"/>
          <p:cNvSpPr/>
          <p:nvPr/>
        </p:nvSpPr>
        <p:spPr>
          <a:xfrm>
            <a:off x="813816" y="1874519"/>
            <a:ext cx="2468880" cy="566928"/>
          </a:xfrm>
          <a:prstGeom prst="roundRect">
            <a:avLst>
              <a:gd name="adj" fmla="val 50000"/>
            </a:avLst>
          </a:prstGeom>
          <a:solidFill>
            <a:srgbClr val="1B2B42"/>
          </a:solidFill>
          <a:ln w="9525">
            <a:solidFill>
              <a:srgbClr val="2B3C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13816" y="1874519"/>
            <a:ext cx="2468880" cy="566928"/>
          </a:xfrm>
          <a:prstGeom prst="rect">
            <a:avLst/>
          </a:prstGeom>
          <a:noFill/>
        </p:spPr>
        <p:txBody>
          <a:bodyPr wrap="square" lIns="0" rIns="0" tIns="0" bIns="0" anchor="ctr">
            <a:spAutoFit/>
          </a:bodyPr>
          <a:lstStyle/>
          <a:p>
            <a:pPr algn="ctr"/>
            <a:r>
              <a:rPr sz="1500" b="1" i="0">
                <a:solidFill>
                  <a:srgbClr val="FFFFFF"/>
                </a:solidFill>
                <a:latin typeface="Arial"/>
              </a:rPr>
              <a:t>El nodo detecta</a:t>
            </a:r>
          </a:p>
        </p:txBody>
      </p:sp>
      <p:cxnSp>
        <p:nvCxnSpPr>
          <p:cNvPr id="6" name="Connector 5"/>
          <p:cNvCxnSpPr/>
          <p:nvPr/>
        </p:nvCxnSpPr>
        <p:spPr>
          <a:xfrm>
            <a:off x="3300984" y="2157984"/>
            <a:ext cx="329184" cy="0"/>
          </a:xfrm>
          <a:prstGeom prst="line">
            <a:avLst/>
          </a:prstGeom>
          <a:ln w="25400">
            <a:solidFill>
              <a:srgbClr val="F2C6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648456" y="1874519"/>
            <a:ext cx="2468880" cy="566928"/>
          </a:xfrm>
          <a:prstGeom prst="roundRect">
            <a:avLst>
              <a:gd name="adj" fmla="val 50000"/>
            </a:avLst>
          </a:prstGeom>
          <a:solidFill>
            <a:srgbClr val="1B2B42"/>
          </a:solidFill>
          <a:ln w="9525">
            <a:solidFill>
              <a:srgbClr val="2B3C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648456" y="1874519"/>
            <a:ext cx="2468880" cy="566928"/>
          </a:xfrm>
          <a:prstGeom prst="rect">
            <a:avLst/>
          </a:prstGeom>
          <a:noFill/>
        </p:spPr>
        <p:txBody>
          <a:bodyPr wrap="square" lIns="0" rIns="0" tIns="0" bIns="0" anchor="ctr">
            <a:spAutoFit/>
          </a:bodyPr>
          <a:lstStyle/>
          <a:p>
            <a:pPr algn="ctr"/>
            <a:r>
              <a:rPr sz="1500" b="1" i="0">
                <a:solidFill>
                  <a:srgbClr val="FFFFFF"/>
                </a:solidFill>
                <a:latin typeface="Arial"/>
              </a:rPr>
              <a:t>El sistema decide</a:t>
            </a:r>
          </a:p>
        </p:txBody>
      </p:sp>
      <p:cxnSp>
        <p:nvCxnSpPr>
          <p:cNvPr id="9" name="Connector 8"/>
          <p:cNvCxnSpPr/>
          <p:nvPr/>
        </p:nvCxnSpPr>
        <p:spPr>
          <a:xfrm>
            <a:off x="6135624" y="2157984"/>
            <a:ext cx="329184" cy="0"/>
          </a:xfrm>
          <a:prstGeom prst="line">
            <a:avLst/>
          </a:prstGeom>
          <a:ln w="25400">
            <a:solidFill>
              <a:srgbClr val="F2C6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483096" y="1874519"/>
            <a:ext cx="2468880" cy="566928"/>
          </a:xfrm>
          <a:prstGeom prst="roundRect">
            <a:avLst>
              <a:gd name="adj" fmla="val 50000"/>
            </a:avLst>
          </a:prstGeom>
          <a:solidFill>
            <a:srgbClr val="1B2B42"/>
          </a:solidFill>
          <a:ln w="9525">
            <a:solidFill>
              <a:srgbClr val="2B3C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83096" y="1874519"/>
            <a:ext cx="2468880" cy="566928"/>
          </a:xfrm>
          <a:prstGeom prst="rect">
            <a:avLst/>
          </a:prstGeom>
          <a:noFill/>
        </p:spPr>
        <p:txBody>
          <a:bodyPr wrap="square" lIns="0" rIns="0" tIns="0" bIns="0" anchor="ctr">
            <a:spAutoFit/>
          </a:bodyPr>
          <a:lstStyle/>
          <a:p>
            <a:pPr algn="ctr"/>
            <a:r>
              <a:rPr sz="1500" b="1" i="0">
                <a:solidFill>
                  <a:srgbClr val="FFFFFF"/>
                </a:solidFill>
                <a:latin typeface="Arial"/>
              </a:rPr>
              <a:t>El nodo ejecuta</a:t>
            </a:r>
          </a:p>
        </p:txBody>
      </p:sp>
      <p:sp>
        <p:nvSpPr>
          <p:cNvPr id="12" name="Rounded Rectangle 11"/>
          <p:cNvSpPr/>
          <p:nvPr/>
        </p:nvSpPr>
        <p:spPr>
          <a:xfrm>
            <a:off x="813816" y="2761488"/>
            <a:ext cx="5120640" cy="1234440"/>
          </a:xfrm>
          <a:prstGeom prst="roundRect">
            <a:avLst>
              <a:gd name="adj" fmla="val 5000"/>
            </a:avLst>
          </a:prstGeom>
          <a:solidFill>
            <a:srgbClr val="132238"/>
          </a:solidFill>
          <a:ln w="9525">
            <a:solidFill>
              <a:srgbClr val="2B3C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42416" y="2926080"/>
            <a:ext cx="4663440" cy="292608"/>
          </a:xfrm>
          <a:prstGeom prst="rect">
            <a:avLst/>
          </a:prstGeom>
          <a:noFill/>
        </p:spPr>
        <p:txBody>
          <a:bodyPr wrap="square" lIns="0" rIns="0" tIns="0" bIns="0" anchor="t">
            <a:spAutoFit/>
          </a:bodyPr>
          <a:lstStyle/>
          <a:p>
            <a:pPr algn="l"/>
            <a:r>
              <a:rPr sz="1500" b="1" i="0">
                <a:solidFill>
                  <a:srgbClr val="FFFFFF"/>
                </a:solidFill>
                <a:latin typeface="Arial"/>
              </a:rPr>
              <a:t>Llamado desde la playa</a:t>
            </a:r>
          </a:p>
        </p:txBody>
      </p:sp>
      <p:sp>
        <p:nvSpPr>
          <p:cNvPr id="14" name="TextBox 13"/>
          <p:cNvSpPr txBox="1"/>
          <p:nvPr/>
        </p:nvSpPr>
        <p:spPr>
          <a:xfrm>
            <a:off x="1042416" y="3264408"/>
            <a:ext cx="4663440" cy="685800"/>
          </a:xfrm>
          <a:prstGeom prst="rect">
            <a:avLst/>
          </a:prstGeom>
          <a:noFill/>
        </p:spPr>
        <p:txBody>
          <a:bodyPr wrap="square" lIns="0" rIns="0" tIns="0" bIns="0" anchor="t">
            <a:spAutoFit/>
          </a:bodyPr>
          <a:lstStyle/>
          <a:p>
            <a:pPr algn="l"/>
            <a:r>
              <a:rPr sz="1200" b="0" i="0">
                <a:solidFill>
                  <a:srgbClr val="B8C4CE"/>
                </a:solidFill>
                <a:latin typeface="Arial"/>
              </a:rPr>
              <a:t>Se libera lugar en volcables y el nodo de Playa 1 llama al próximo camión.</a:t>
            </a:r>
          </a:p>
        </p:txBody>
      </p:sp>
      <p:sp>
        <p:nvSpPr>
          <p:cNvPr id="15" name="Rounded Rectangle 14"/>
          <p:cNvSpPr/>
          <p:nvPr/>
        </p:nvSpPr>
        <p:spPr>
          <a:xfrm>
            <a:off x="6163055" y="2761488"/>
            <a:ext cx="5120640" cy="1234440"/>
          </a:xfrm>
          <a:prstGeom prst="roundRect">
            <a:avLst>
              <a:gd name="adj" fmla="val 5000"/>
            </a:avLst>
          </a:prstGeom>
          <a:solidFill>
            <a:srgbClr val="132238"/>
          </a:solidFill>
          <a:ln w="9525">
            <a:solidFill>
              <a:srgbClr val="2B3C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391655" y="2926080"/>
            <a:ext cx="4663440" cy="292608"/>
          </a:xfrm>
          <a:prstGeom prst="rect">
            <a:avLst/>
          </a:prstGeom>
          <a:noFill/>
        </p:spPr>
        <p:txBody>
          <a:bodyPr wrap="square" lIns="0" rIns="0" tIns="0" bIns="0" anchor="t">
            <a:spAutoFit/>
          </a:bodyPr>
          <a:lstStyle/>
          <a:p>
            <a:pPr algn="l"/>
            <a:r>
              <a:rPr sz="1500" b="1" i="0">
                <a:solidFill>
                  <a:srgbClr val="FFFFFF"/>
                </a:solidFill>
                <a:latin typeface="Arial"/>
              </a:rPr>
              <a:t>Destino según capacidad libre</a:t>
            </a:r>
          </a:p>
        </p:txBody>
      </p:sp>
      <p:sp>
        <p:nvSpPr>
          <p:cNvPr id="17" name="TextBox 16"/>
          <p:cNvSpPr txBox="1"/>
          <p:nvPr/>
        </p:nvSpPr>
        <p:spPr>
          <a:xfrm>
            <a:off x="6391655" y="3264408"/>
            <a:ext cx="4663440" cy="685800"/>
          </a:xfrm>
          <a:prstGeom prst="rect">
            <a:avLst/>
          </a:prstGeom>
          <a:noFill/>
        </p:spPr>
        <p:txBody>
          <a:bodyPr wrap="square" lIns="0" rIns="0" tIns="0" bIns="0" anchor="t">
            <a:spAutoFit/>
          </a:bodyPr>
          <a:lstStyle/>
          <a:p>
            <a:pPr algn="l"/>
            <a:r>
              <a:rPr sz="1200" b="0" i="0">
                <a:solidFill>
                  <a:srgbClr val="B8C4CE"/>
                </a:solidFill>
                <a:latin typeface="Arial"/>
              </a:rPr>
              <a:t>Hoy la calada está sobrada y los volcables de Ricardone llegan al 76 %: el destino se asigna solo.</a:t>
            </a:r>
          </a:p>
        </p:txBody>
      </p:sp>
      <p:sp>
        <p:nvSpPr>
          <p:cNvPr id="18" name="Rounded Rectangle 17"/>
          <p:cNvSpPr/>
          <p:nvPr/>
        </p:nvSpPr>
        <p:spPr>
          <a:xfrm>
            <a:off x="813816" y="4178808"/>
            <a:ext cx="5120640" cy="1234440"/>
          </a:xfrm>
          <a:prstGeom prst="roundRect">
            <a:avLst>
              <a:gd name="adj" fmla="val 5000"/>
            </a:avLst>
          </a:prstGeom>
          <a:solidFill>
            <a:srgbClr val="132238"/>
          </a:solidFill>
          <a:ln w="9525">
            <a:solidFill>
              <a:srgbClr val="2B3C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42416" y="4343400"/>
            <a:ext cx="4663440" cy="292608"/>
          </a:xfrm>
          <a:prstGeom prst="rect">
            <a:avLst/>
          </a:prstGeom>
          <a:noFill/>
        </p:spPr>
        <p:txBody>
          <a:bodyPr wrap="square" lIns="0" rIns="0" tIns="0" bIns="0" anchor="t">
            <a:spAutoFit/>
          </a:bodyPr>
          <a:lstStyle/>
          <a:p>
            <a:pPr algn="l"/>
            <a:r>
              <a:rPr sz="1500" b="1" i="0">
                <a:solidFill>
                  <a:srgbClr val="FFFFFF"/>
                </a:solidFill>
                <a:latin typeface="Arial"/>
              </a:rPr>
              <a:t>Identificación sin tarjeta</a:t>
            </a:r>
          </a:p>
        </p:txBody>
      </p:sp>
      <p:sp>
        <p:nvSpPr>
          <p:cNvPr id="20" name="TextBox 19"/>
          <p:cNvSpPr txBox="1"/>
          <p:nvPr/>
        </p:nvSpPr>
        <p:spPr>
          <a:xfrm>
            <a:off x="1042416" y="4681728"/>
            <a:ext cx="4663440" cy="685800"/>
          </a:xfrm>
          <a:prstGeom prst="rect">
            <a:avLst/>
          </a:prstGeom>
          <a:noFill/>
        </p:spPr>
        <p:txBody>
          <a:bodyPr wrap="square" lIns="0" rIns="0" tIns="0" bIns="0" anchor="t">
            <a:spAutoFit/>
          </a:bodyPr>
          <a:lstStyle/>
          <a:p>
            <a:pPr algn="l"/>
            <a:r>
              <a:rPr sz="1200" b="0" i="0">
                <a:solidFill>
                  <a:srgbClr val="B8C4CE"/>
                </a:solidFill>
                <a:latin typeface="Arial"/>
              </a:rPr>
              <a:t>Patente y foto confirmadas en cada nodo: la base para dejar la tarjeta RFID.</a:t>
            </a:r>
          </a:p>
        </p:txBody>
      </p:sp>
      <p:sp>
        <p:nvSpPr>
          <p:cNvPr id="21" name="Rounded Rectangle 20"/>
          <p:cNvSpPr/>
          <p:nvPr/>
        </p:nvSpPr>
        <p:spPr>
          <a:xfrm>
            <a:off x="6163055" y="4178808"/>
            <a:ext cx="5120640" cy="1234440"/>
          </a:xfrm>
          <a:prstGeom prst="roundRect">
            <a:avLst>
              <a:gd name="adj" fmla="val 5000"/>
            </a:avLst>
          </a:prstGeom>
          <a:solidFill>
            <a:srgbClr val="132238"/>
          </a:solidFill>
          <a:ln w="9525">
            <a:solidFill>
              <a:srgbClr val="2B3C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91655" y="4343400"/>
            <a:ext cx="4663440" cy="292608"/>
          </a:xfrm>
          <a:prstGeom prst="rect">
            <a:avLst/>
          </a:prstGeom>
          <a:noFill/>
        </p:spPr>
        <p:txBody>
          <a:bodyPr wrap="square" lIns="0" rIns="0" tIns="0" bIns="0" anchor="t">
            <a:spAutoFit/>
          </a:bodyPr>
          <a:lstStyle/>
          <a:p>
            <a:pPr algn="l"/>
            <a:r>
              <a:rPr sz="1500" b="1" i="0">
                <a:solidFill>
                  <a:srgbClr val="FFFFFF"/>
                </a:solidFill>
                <a:latin typeface="Arial"/>
              </a:rPr>
              <a:t>Flota de transiles planificada</a:t>
            </a:r>
          </a:p>
        </p:txBody>
      </p:sp>
      <p:sp>
        <p:nvSpPr>
          <p:cNvPr id="23" name="TextBox 22"/>
          <p:cNvSpPr txBox="1"/>
          <p:nvPr/>
        </p:nvSpPr>
        <p:spPr>
          <a:xfrm>
            <a:off x="6391655" y="4681728"/>
            <a:ext cx="4663440" cy="685800"/>
          </a:xfrm>
          <a:prstGeom prst="rect">
            <a:avLst/>
          </a:prstGeom>
          <a:noFill/>
        </p:spPr>
        <p:txBody>
          <a:bodyPr wrap="square" lIns="0" rIns="0" tIns="0" bIns="0" anchor="t">
            <a:spAutoFit/>
          </a:bodyPr>
          <a:lstStyle/>
          <a:p>
            <a:pPr algn="l"/>
            <a:r>
              <a:rPr sz="1200" b="0" i="0">
                <a:solidFill>
                  <a:srgbClr val="B8C4CE"/>
                </a:solidFill>
                <a:latin typeface="Arial"/>
              </a:rPr>
              <a:t>Hoy un camión hace 2,1 a 2,8 viajes por día entre plantas. Más viajes por día permiten negociar menos tarifa por tonelada.</a:t>
            </a:r>
          </a:p>
        </p:txBody>
      </p:sp>
      <p:sp>
        <p:nvSpPr>
          <p:cNvPr id="24" name="TextBox 23"/>
          <p:cNvSpPr txBox="1"/>
          <p:nvPr/>
        </p:nvSpPr>
        <p:spPr>
          <a:xfrm>
            <a:off x="813816" y="5715000"/>
            <a:ext cx="10570464" cy="365760"/>
          </a:xfrm>
          <a:prstGeom prst="rect">
            <a:avLst/>
          </a:prstGeom>
          <a:noFill/>
        </p:spPr>
        <p:txBody>
          <a:bodyPr wrap="square" lIns="0" rIns="0" tIns="0" bIns="0" anchor="t">
            <a:spAutoFit/>
          </a:bodyPr>
          <a:lstStyle/>
          <a:p>
            <a:pPr algn="l"/>
            <a:r>
              <a:rPr sz="1400" b="0" i="1">
                <a:solidFill>
                  <a:srgbClr val="F2C66D"/>
                </a:solidFill>
                <a:latin typeface="Arial"/>
              </a:rPr>
              <a:t>Las personas pasan de registrar a supervisar las excepciones.</a:t>
            </a:r>
          </a:p>
        </p:txBody>
      </p:sp>
      <p:sp>
        <p:nvSpPr>
          <p:cNvPr id="25" name="TextBox 24"/>
          <p:cNvSpPr txBox="1"/>
          <p:nvPr/>
        </p:nvSpPr>
        <p:spPr>
          <a:xfrm>
            <a:off x="813816" y="6236208"/>
            <a:ext cx="9601200" cy="237744"/>
          </a:xfrm>
          <a:prstGeom prst="rect">
            <a:avLst/>
          </a:prstGeom>
          <a:noFill/>
        </p:spPr>
        <p:txBody>
          <a:bodyPr wrap="square" lIns="0" rIns="0" tIns="0" bIns="0" anchor="t">
            <a:spAutoFit/>
          </a:bodyPr>
          <a:lstStyle/>
          <a:p>
            <a:pPr algn="l"/>
            <a:r>
              <a:rPr sz="1100" b="0" i="0">
                <a:solidFill>
                  <a:srgbClr val="9FB0C0"/>
                </a:solidFill>
                <a:latin typeface="Arial"/>
              </a:rPr>
              <a:t>Capacidad: estudio de capacidades por circuito · viajes por camión: transiles R29–R32, 4 semanas de agosto y septiembre</a:t>
            </a:r>
          </a:p>
        </p:txBody>
      </p:sp>
      <p:sp>
        <p:nvSpPr>
          <p:cNvPr id="26" name="TextBox 25"/>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9FB0C0"/>
                </a:solidFill>
                <a:latin typeface="Arial"/>
              </a:rPr>
              <a:t>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6F2"/>
        </a:solidFill>
        <a:effectLst/>
      </p:bgPr>
    </p:bg>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r>
              <a:rPr sz="1200" b="1" i="0">
                <a:solidFill>
                  <a:srgbClr val="0F6FA8"/>
                </a:solidFill>
                <a:latin typeface="Arial"/>
              </a:rPr>
              <a:t>CÓMO AVANZAMOS</a:t>
            </a:r>
          </a:p>
        </p:txBody>
      </p:sp>
      <p:sp>
        <p:nvSpPr>
          <p:cNvPr id="3" name="TextBox 2"/>
          <p:cNvSpPr txBox="1"/>
          <p:nvPr/>
        </p:nvSpPr>
        <p:spPr>
          <a:xfrm>
            <a:off x="813816" y="1097280"/>
            <a:ext cx="10881360" cy="548640"/>
          </a:xfrm>
          <a:prstGeom prst="rect">
            <a:avLst/>
          </a:prstGeom>
          <a:noFill/>
        </p:spPr>
        <p:txBody>
          <a:bodyPr wrap="square" lIns="0" rIns="0" tIns="0" bIns="0" anchor="t">
            <a:spAutoFit/>
          </a:bodyPr>
          <a:lstStyle/>
          <a:p>
            <a:pPr algn="l"/>
            <a:r>
              <a:rPr sz="3000" b="1" i="0">
                <a:solidFill>
                  <a:srgbClr val="13202E"/>
                </a:solidFill>
                <a:latin typeface="Arial"/>
              </a:rPr>
              <a:t>Un proyecto de ingeniería por fases, sobre lo que ya está</a:t>
            </a:r>
          </a:p>
        </p:txBody>
      </p:sp>
      <p:sp>
        <p:nvSpPr>
          <p:cNvPr id="4" name="Rounded Rectangle 3"/>
          <p:cNvSpPr/>
          <p:nvPr/>
        </p:nvSpPr>
        <p:spPr>
          <a:xfrm>
            <a:off x="813816" y="1920240"/>
            <a:ext cx="2240280" cy="269748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696" y="2057400"/>
            <a:ext cx="457200" cy="411480"/>
          </a:xfrm>
          <a:prstGeom prst="rect">
            <a:avLst/>
          </a:prstGeom>
          <a:noFill/>
        </p:spPr>
        <p:txBody>
          <a:bodyPr wrap="square" lIns="0" rIns="0" tIns="0" bIns="0" anchor="t">
            <a:spAutoFit/>
          </a:bodyPr>
          <a:lstStyle/>
          <a:p>
            <a:pPr algn="l"/>
            <a:r>
              <a:rPr sz="2400" b="1" i="0">
                <a:solidFill>
                  <a:srgbClr val="1A8FD0"/>
                </a:solidFill>
                <a:latin typeface="Arial"/>
              </a:rPr>
              <a:t>1</a:t>
            </a:r>
          </a:p>
        </p:txBody>
      </p:sp>
      <p:sp>
        <p:nvSpPr>
          <p:cNvPr id="6" name="TextBox 5"/>
          <p:cNvSpPr txBox="1"/>
          <p:nvPr/>
        </p:nvSpPr>
        <p:spPr>
          <a:xfrm>
            <a:off x="996696" y="2487168"/>
            <a:ext cx="1920240" cy="548640"/>
          </a:xfrm>
          <a:prstGeom prst="rect">
            <a:avLst/>
          </a:prstGeom>
          <a:noFill/>
        </p:spPr>
        <p:txBody>
          <a:bodyPr wrap="square" lIns="0" rIns="0" tIns="0" bIns="0" anchor="t">
            <a:spAutoFit/>
          </a:bodyPr>
          <a:lstStyle/>
          <a:p>
            <a:pPr algn="l"/>
            <a:r>
              <a:rPr sz="1500" b="1" i="0">
                <a:solidFill>
                  <a:srgbClr val="13202E"/>
                </a:solidFill>
                <a:latin typeface="Arial"/>
              </a:rPr>
              <a:t>Base en la nube</a:t>
            </a:r>
          </a:p>
        </p:txBody>
      </p:sp>
      <p:sp>
        <p:nvSpPr>
          <p:cNvPr id="7" name="TextBox 6"/>
          <p:cNvSpPr txBox="1"/>
          <p:nvPr/>
        </p:nvSpPr>
        <p:spPr>
          <a:xfrm>
            <a:off x="996696" y="3090672"/>
            <a:ext cx="1920240" cy="960120"/>
          </a:xfrm>
          <a:prstGeom prst="rect">
            <a:avLst/>
          </a:prstGeom>
          <a:noFill/>
        </p:spPr>
        <p:txBody>
          <a:bodyPr wrap="square" lIns="0" rIns="0" tIns="0" bIns="0" anchor="t">
            <a:spAutoFit/>
          </a:bodyPr>
          <a:lstStyle/>
          <a:p>
            <a:pPr algn="l">
              <a:spcAft>
                <a:spcPts val="400"/>
              </a:spcAft>
            </a:pPr>
            <a:r>
              <a:rPr sz="1150" b="1" i="0">
                <a:solidFill>
                  <a:srgbClr val="0F6FA8"/>
                </a:solidFill>
                <a:latin typeface="Arial"/>
              </a:rPr>
              <a:t>•  </a:t>
            </a:r>
            <a:r>
              <a:rPr sz="1150" b="0" i="0">
                <a:solidFill>
                  <a:srgbClr val="4A5868"/>
                </a:solidFill>
                <a:latin typeface="Arial"/>
              </a:rPr>
              <a:t>TruckFlow, modelo de nodos y tablero en la nube</a:t>
            </a:r>
          </a:p>
          <a:p>
            <a:pPr algn="l">
              <a:spcAft>
                <a:spcPts val="400"/>
              </a:spcAft>
            </a:pPr>
            <a:r>
              <a:rPr sz="1150" b="1" i="0">
                <a:solidFill>
                  <a:srgbClr val="0F6FA8"/>
                </a:solidFill>
                <a:latin typeface="Arial"/>
              </a:rPr>
              <a:t>•  </a:t>
            </a:r>
            <a:r>
              <a:rPr sz="1150" b="0" i="0">
                <a:solidFill>
                  <a:srgbClr val="4A5868"/>
                </a:solidFill>
                <a:latin typeface="Arial"/>
              </a:rPr>
              <a:t>Catálogo y salud de cada nodo</a:t>
            </a:r>
          </a:p>
        </p:txBody>
      </p:sp>
      <p:sp>
        <p:nvSpPr>
          <p:cNvPr id="8" name="TextBox 7"/>
          <p:cNvSpPr txBox="1"/>
          <p:nvPr/>
        </p:nvSpPr>
        <p:spPr>
          <a:xfrm>
            <a:off x="996696" y="4069080"/>
            <a:ext cx="1920240" cy="457200"/>
          </a:xfrm>
          <a:prstGeom prst="rect">
            <a:avLst/>
          </a:prstGeom>
          <a:noFill/>
        </p:spPr>
        <p:txBody>
          <a:bodyPr wrap="square" lIns="0" rIns="0" tIns="0" bIns="0" anchor="t">
            <a:spAutoFit/>
          </a:bodyPr>
          <a:lstStyle/>
          <a:p>
            <a:pPr algn="l"/>
            <a:r>
              <a:rPr sz="1150" b="1" i="0">
                <a:solidFill>
                  <a:srgbClr val="0F6FA8"/>
                </a:solidFill>
                <a:latin typeface="Arial"/>
              </a:rPr>
              <a:t>Valor: </a:t>
            </a:r>
            <a:r>
              <a:rPr sz="1150" b="0" i="0">
                <a:solidFill>
                  <a:srgbClr val="0F6FA8"/>
                </a:solidFill>
                <a:latin typeface="Arial"/>
              </a:rPr>
              <a:t>una sola versión de la planta</a:t>
            </a:r>
          </a:p>
        </p:txBody>
      </p:sp>
      <p:sp>
        <p:nvSpPr>
          <p:cNvPr id="9" name="Rounded Rectangle 8"/>
          <p:cNvSpPr/>
          <p:nvPr/>
        </p:nvSpPr>
        <p:spPr>
          <a:xfrm>
            <a:off x="3209544" y="1920240"/>
            <a:ext cx="2240280" cy="269748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92424" y="2057400"/>
            <a:ext cx="457200" cy="411480"/>
          </a:xfrm>
          <a:prstGeom prst="rect">
            <a:avLst/>
          </a:prstGeom>
          <a:noFill/>
        </p:spPr>
        <p:txBody>
          <a:bodyPr wrap="square" lIns="0" rIns="0" tIns="0" bIns="0" anchor="t">
            <a:spAutoFit/>
          </a:bodyPr>
          <a:lstStyle/>
          <a:p>
            <a:pPr algn="l"/>
            <a:r>
              <a:rPr sz="2400" b="1" i="0">
                <a:solidFill>
                  <a:srgbClr val="1A8FD0"/>
                </a:solidFill>
                <a:latin typeface="Arial"/>
              </a:rPr>
              <a:t>2</a:t>
            </a:r>
          </a:p>
        </p:txBody>
      </p:sp>
      <p:sp>
        <p:nvSpPr>
          <p:cNvPr id="11" name="TextBox 10"/>
          <p:cNvSpPr txBox="1"/>
          <p:nvPr/>
        </p:nvSpPr>
        <p:spPr>
          <a:xfrm>
            <a:off x="3392424" y="2487168"/>
            <a:ext cx="1920240" cy="548640"/>
          </a:xfrm>
          <a:prstGeom prst="rect">
            <a:avLst/>
          </a:prstGeom>
          <a:noFill/>
        </p:spPr>
        <p:txBody>
          <a:bodyPr wrap="square" lIns="0" rIns="0" tIns="0" bIns="0" anchor="t">
            <a:spAutoFit/>
          </a:bodyPr>
          <a:lstStyle/>
          <a:p>
            <a:pPr algn="l"/>
            <a:r>
              <a:rPr sz="1500" b="1" i="0">
                <a:solidFill>
                  <a:srgbClr val="13202E"/>
                </a:solidFill>
                <a:latin typeface="Arial"/>
              </a:rPr>
              <a:t>Sistema de camiones</a:t>
            </a:r>
          </a:p>
        </p:txBody>
      </p:sp>
      <p:sp>
        <p:nvSpPr>
          <p:cNvPr id="12" name="TextBox 11"/>
          <p:cNvSpPr txBox="1"/>
          <p:nvPr/>
        </p:nvSpPr>
        <p:spPr>
          <a:xfrm>
            <a:off x="3392424" y="3090672"/>
            <a:ext cx="1920240" cy="960120"/>
          </a:xfrm>
          <a:prstGeom prst="rect">
            <a:avLst/>
          </a:prstGeom>
          <a:noFill/>
        </p:spPr>
        <p:txBody>
          <a:bodyPr wrap="square" lIns="0" rIns="0" tIns="0" bIns="0" anchor="t">
            <a:spAutoFit/>
          </a:bodyPr>
          <a:lstStyle/>
          <a:p>
            <a:pPr algn="l">
              <a:spcAft>
                <a:spcPts val="400"/>
              </a:spcAft>
            </a:pPr>
            <a:r>
              <a:rPr sz="1150" b="1" i="0">
                <a:solidFill>
                  <a:srgbClr val="0F6FA8"/>
                </a:solidFill>
                <a:latin typeface="Arial"/>
              </a:rPr>
              <a:t>•  </a:t>
            </a:r>
            <a:r>
              <a:rPr sz="1150" b="0" i="0">
                <a:solidFill>
                  <a:srgbClr val="4A5868"/>
                </a:solidFill>
                <a:latin typeface="Arial"/>
              </a:rPr>
              <a:t>Lectura por SFTP o API</a:t>
            </a:r>
          </a:p>
          <a:p>
            <a:pPr algn="l">
              <a:spcAft>
                <a:spcPts val="400"/>
              </a:spcAft>
            </a:pPr>
            <a:r>
              <a:rPr sz="1150" b="1" i="0">
                <a:solidFill>
                  <a:srgbClr val="0F6FA8"/>
                </a:solidFill>
                <a:latin typeface="Arial"/>
              </a:rPr>
              <a:t>•  </a:t>
            </a:r>
            <a:r>
              <a:rPr sz="1150" b="0" i="0">
                <a:solidFill>
                  <a:srgbClr val="4A5868"/>
                </a:solidFill>
                <a:latin typeface="Arial"/>
              </a:rPr>
              <a:t>Evento enriquecido y doble confirmación</a:t>
            </a:r>
          </a:p>
        </p:txBody>
      </p:sp>
      <p:sp>
        <p:nvSpPr>
          <p:cNvPr id="13" name="TextBox 12"/>
          <p:cNvSpPr txBox="1"/>
          <p:nvPr/>
        </p:nvSpPr>
        <p:spPr>
          <a:xfrm>
            <a:off x="3392424" y="4069080"/>
            <a:ext cx="1920240" cy="457200"/>
          </a:xfrm>
          <a:prstGeom prst="rect">
            <a:avLst/>
          </a:prstGeom>
          <a:noFill/>
        </p:spPr>
        <p:txBody>
          <a:bodyPr wrap="square" lIns="0" rIns="0" tIns="0" bIns="0" anchor="t">
            <a:spAutoFit/>
          </a:bodyPr>
          <a:lstStyle/>
          <a:p>
            <a:pPr algn="l"/>
            <a:r>
              <a:rPr sz="1150" b="1" i="0">
                <a:solidFill>
                  <a:srgbClr val="0F6FA8"/>
                </a:solidFill>
                <a:latin typeface="Arial"/>
              </a:rPr>
              <a:t>Valor: </a:t>
            </a:r>
            <a:r>
              <a:rPr sz="1150" b="0" i="0">
                <a:solidFill>
                  <a:srgbClr val="0F6FA8"/>
                </a:solidFill>
                <a:latin typeface="Arial"/>
              </a:rPr>
              <a:t>cada paso con contexto</a:t>
            </a:r>
          </a:p>
        </p:txBody>
      </p:sp>
      <p:sp>
        <p:nvSpPr>
          <p:cNvPr id="14" name="Rounded Rectangle 13"/>
          <p:cNvSpPr/>
          <p:nvPr/>
        </p:nvSpPr>
        <p:spPr>
          <a:xfrm>
            <a:off x="5605272" y="1920240"/>
            <a:ext cx="2240280" cy="269748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788152" y="2057400"/>
            <a:ext cx="457200" cy="411480"/>
          </a:xfrm>
          <a:prstGeom prst="rect">
            <a:avLst/>
          </a:prstGeom>
          <a:noFill/>
        </p:spPr>
        <p:txBody>
          <a:bodyPr wrap="square" lIns="0" rIns="0" tIns="0" bIns="0" anchor="t">
            <a:spAutoFit/>
          </a:bodyPr>
          <a:lstStyle/>
          <a:p>
            <a:pPr algn="l"/>
            <a:r>
              <a:rPr sz="2400" b="1" i="0">
                <a:solidFill>
                  <a:srgbClr val="1A8FD0"/>
                </a:solidFill>
                <a:latin typeface="Arial"/>
              </a:rPr>
              <a:t>3</a:t>
            </a:r>
          </a:p>
        </p:txBody>
      </p:sp>
      <p:sp>
        <p:nvSpPr>
          <p:cNvPr id="16" name="TextBox 15"/>
          <p:cNvSpPr txBox="1"/>
          <p:nvPr/>
        </p:nvSpPr>
        <p:spPr>
          <a:xfrm>
            <a:off x="5788152" y="2487168"/>
            <a:ext cx="1920240" cy="548640"/>
          </a:xfrm>
          <a:prstGeom prst="rect">
            <a:avLst/>
          </a:prstGeom>
          <a:noFill/>
        </p:spPr>
        <p:txBody>
          <a:bodyPr wrap="square" lIns="0" rIns="0" tIns="0" bIns="0" anchor="t">
            <a:spAutoFit/>
          </a:bodyPr>
          <a:lstStyle/>
          <a:p>
            <a:pPr algn="l"/>
            <a:r>
              <a:rPr sz="1500" b="1" i="0">
                <a:solidFill>
                  <a:srgbClr val="13202E"/>
                </a:solidFill>
                <a:latin typeface="Arial"/>
              </a:rPr>
              <a:t>Nodos Edge y balanzas</a:t>
            </a:r>
          </a:p>
        </p:txBody>
      </p:sp>
      <p:sp>
        <p:nvSpPr>
          <p:cNvPr id="17" name="TextBox 16"/>
          <p:cNvSpPr txBox="1"/>
          <p:nvPr/>
        </p:nvSpPr>
        <p:spPr>
          <a:xfrm>
            <a:off x="5788152" y="3090672"/>
            <a:ext cx="1920240" cy="960120"/>
          </a:xfrm>
          <a:prstGeom prst="rect">
            <a:avLst/>
          </a:prstGeom>
          <a:noFill/>
        </p:spPr>
        <p:txBody>
          <a:bodyPr wrap="square" lIns="0" rIns="0" tIns="0" bIns="0" anchor="t">
            <a:spAutoFit/>
          </a:bodyPr>
          <a:lstStyle/>
          <a:p>
            <a:pPr algn="l">
              <a:spcAft>
                <a:spcPts val="400"/>
              </a:spcAft>
            </a:pPr>
            <a:r>
              <a:rPr sz="1150" b="1" i="0">
                <a:solidFill>
                  <a:srgbClr val="0F6FA8"/>
                </a:solidFill>
                <a:latin typeface="Arial"/>
              </a:rPr>
              <a:t>•  </a:t>
            </a:r>
            <a:r>
              <a:rPr sz="1150" b="0" i="0">
                <a:solidFill>
                  <a:srgbClr val="4A5868"/>
                </a:solidFill>
                <a:latin typeface="Arial"/>
              </a:rPr>
              <a:t>Reforzar el Edge de cada nodo</a:t>
            </a:r>
          </a:p>
          <a:p>
            <a:pPr algn="l">
              <a:spcAft>
                <a:spcPts val="400"/>
              </a:spcAft>
            </a:pPr>
            <a:r>
              <a:rPr sz="1150" b="1" i="0">
                <a:solidFill>
                  <a:srgbClr val="0F6FA8"/>
                </a:solidFill>
                <a:latin typeface="Arial"/>
              </a:rPr>
              <a:t>•  </a:t>
            </a:r>
            <a:r>
              <a:rPr sz="1150" b="0" i="0">
                <a:solidFill>
                  <a:srgbClr val="4A5868"/>
                </a:solidFill>
                <a:latin typeface="Arial"/>
              </a:rPr>
              <a:t>Sumar balanzas PLC + fotocélulas</a:t>
            </a:r>
          </a:p>
        </p:txBody>
      </p:sp>
      <p:sp>
        <p:nvSpPr>
          <p:cNvPr id="18" name="TextBox 17"/>
          <p:cNvSpPr txBox="1"/>
          <p:nvPr/>
        </p:nvSpPr>
        <p:spPr>
          <a:xfrm>
            <a:off x="5788152" y="4069080"/>
            <a:ext cx="1920240" cy="457200"/>
          </a:xfrm>
          <a:prstGeom prst="rect">
            <a:avLst/>
          </a:prstGeom>
          <a:noFill/>
        </p:spPr>
        <p:txBody>
          <a:bodyPr wrap="square" lIns="0" rIns="0" tIns="0" bIns="0" anchor="t">
            <a:spAutoFit/>
          </a:bodyPr>
          <a:lstStyle/>
          <a:p>
            <a:pPr algn="l"/>
            <a:r>
              <a:rPr sz="1150" b="1" i="0">
                <a:solidFill>
                  <a:srgbClr val="0F6FA8"/>
                </a:solidFill>
                <a:latin typeface="Arial"/>
              </a:rPr>
              <a:t>Valor: </a:t>
            </a:r>
            <a:r>
              <a:rPr sz="1150" b="0" i="0">
                <a:solidFill>
                  <a:srgbClr val="0F6FA8"/>
                </a:solidFill>
                <a:latin typeface="Arial"/>
              </a:rPr>
              <a:t>datos completos, sin pérdidas</a:t>
            </a:r>
          </a:p>
        </p:txBody>
      </p:sp>
      <p:sp>
        <p:nvSpPr>
          <p:cNvPr id="19" name="Rounded Rectangle 18"/>
          <p:cNvSpPr/>
          <p:nvPr/>
        </p:nvSpPr>
        <p:spPr>
          <a:xfrm>
            <a:off x="8001000" y="1920240"/>
            <a:ext cx="1600200" cy="2697480"/>
          </a:xfrm>
          <a:prstGeom prst="roundRect">
            <a:avLst>
              <a:gd name="adj" fmla="val 5000"/>
            </a:avLst>
          </a:prstGeom>
          <a:solidFill>
            <a:srgbClr val="DC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38160" y="2084831"/>
            <a:ext cx="1371600" cy="237744"/>
          </a:xfrm>
          <a:prstGeom prst="rect">
            <a:avLst/>
          </a:prstGeom>
          <a:noFill/>
        </p:spPr>
        <p:txBody>
          <a:bodyPr wrap="square" lIns="0" rIns="0" tIns="0" bIns="0" anchor="t">
            <a:spAutoFit/>
          </a:bodyPr>
          <a:lstStyle/>
          <a:p>
            <a:pPr algn="l"/>
            <a:r>
              <a:rPr sz="1000" b="1" i="0">
                <a:solidFill>
                  <a:srgbClr val="0F6FA8"/>
                </a:solidFill>
                <a:latin typeface="Arial"/>
              </a:rPr>
              <a:t>PRÓXIMO PASO</a:t>
            </a:r>
          </a:p>
        </p:txBody>
      </p:sp>
      <p:sp>
        <p:nvSpPr>
          <p:cNvPr id="21" name="TextBox 20"/>
          <p:cNvSpPr txBox="1"/>
          <p:nvPr/>
        </p:nvSpPr>
        <p:spPr>
          <a:xfrm>
            <a:off x="8138160" y="2377440"/>
            <a:ext cx="1371600" cy="1097280"/>
          </a:xfrm>
          <a:prstGeom prst="rect">
            <a:avLst/>
          </a:prstGeom>
          <a:noFill/>
        </p:spPr>
        <p:txBody>
          <a:bodyPr wrap="square" lIns="0" rIns="0" tIns="0" bIns="0" anchor="t">
            <a:spAutoFit/>
          </a:bodyPr>
          <a:lstStyle/>
          <a:p>
            <a:pPr algn="l"/>
            <a:r>
              <a:rPr sz="1350" b="1" i="0">
                <a:solidFill>
                  <a:srgbClr val="13202E"/>
                </a:solidFill>
                <a:latin typeface="Arial"/>
              </a:rPr>
              <a:t>IA abierta: MCP y APIs para su propia IA</a:t>
            </a:r>
          </a:p>
        </p:txBody>
      </p:sp>
      <p:sp>
        <p:nvSpPr>
          <p:cNvPr id="22" name="Rounded Rectangle 21"/>
          <p:cNvSpPr/>
          <p:nvPr/>
        </p:nvSpPr>
        <p:spPr>
          <a:xfrm>
            <a:off x="9710928" y="1920240"/>
            <a:ext cx="1673352" cy="2697480"/>
          </a:xfrm>
          <a:prstGeom prst="roundRect">
            <a:avLst>
              <a:gd name="adj" fmla="val 5000"/>
            </a:avLst>
          </a:prstGeom>
          <a:solidFill>
            <a:srgbClr val="FBE9C8"/>
          </a:solidFill>
          <a:ln w="9525">
            <a:solidFill>
              <a:srgbClr val="C27C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848088" y="2084831"/>
            <a:ext cx="1417320" cy="237744"/>
          </a:xfrm>
          <a:prstGeom prst="rect">
            <a:avLst/>
          </a:prstGeom>
          <a:noFill/>
        </p:spPr>
        <p:txBody>
          <a:bodyPr wrap="square" lIns="0" rIns="0" tIns="0" bIns="0" anchor="t">
            <a:spAutoFit/>
          </a:bodyPr>
          <a:lstStyle/>
          <a:p>
            <a:pPr algn="l"/>
            <a:r>
              <a:rPr sz="1000" b="1" i="0">
                <a:solidFill>
                  <a:srgbClr val="8A5200"/>
                </a:solidFill>
                <a:latin typeface="Arial"/>
              </a:rPr>
              <a:t>HORIZONTE</a:t>
            </a:r>
          </a:p>
        </p:txBody>
      </p:sp>
      <p:sp>
        <p:nvSpPr>
          <p:cNvPr id="24" name="TextBox 23"/>
          <p:cNvSpPr txBox="1"/>
          <p:nvPr/>
        </p:nvSpPr>
        <p:spPr>
          <a:xfrm>
            <a:off x="9848088" y="2377440"/>
            <a:ext cx="1417320" cy="1097280"/>
          </a:xfrm>
          <a:prstGeom prst="rect">
            <a:avLst/>
          </a:prstGeom>
          <a:noFill/>
        </p:spPr>
        <p:txBody>
          <a:bodyPr wrap="square" lIns="0" rIns="0" tIns="0" bIns="0" anchor="t">
            <a:spAutoFit/>
          </a:bodyPr>
          <a:lstStyle/>
          <a:p>
            <a:pPr algn="l"/>
            <a:r>
              <a:rPr sz="1350" b="1" i="0">
                <a:solidFill>
                  <a:srgbClr val="13202E"/>
                </a:solidFill>
                <a:latin typeface="Arial"/>
              </a:rPr>
              <a:t>Automatización: el nodo actúa</a:t>
            </a:r>
          </a:p>
        </p:txBody>
      </p:sp>
      <p:sp>
        <p:nvSpPr>
          <p:cNvPr id="25" name="Rounded Rectangle 24"/>
          <p:cNvSpPr/>
          <p:nvPr/>
        </p:nvSpPr>
        <p:spPr>
          <a:xfrm>
            <a:off x="813816" y="4846320"/>
            <a:ext cx="10570464" cy="1188720"/>
          </a:xfrm>
          <a:prstGeom prst="roundRect">
            <a:avLst>
              <a:gd name="adj" fmla="val 5000"/>
            </a:avLst>
          </a:prstGeom>
          <a:solidFill>
            <a:srgbClr val="FCFDFB"/>
          </a:solidFill>
          <a:ln w="9525">
            <a:solidFill>
              <a:srgbClr val="D2DB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4974336"/>
            <a:ext cx="2743200" cy="274320"/>
          </a:xfrm>
          <a:prstGeom prst="rect">
            <a:avLst/>
          </a:prstGeom>
          <a:noFill/>
        </p:spPr>
        <p:txBody>
          <a:bodyPr wrap="square" lIns="0" rIns="0" tIns="0" bIns="0" anchor="t">
            <a:spAutoFit/>
          </a:bodyPr>
          <a:lstStyle/>
          <a:p>
            <a:pPr algn="l"/>
            <a:r>
              <a:rPr sz="1100" b="1" i="0">
                <a:solidFill>
                  <a:srgbClr val="0B5638"/>
                </a:solidFill>
                <a:latin typeface="Arial"/>
              </a:rPr>
              <a:t>POR QUÉ ES BARATO</a:t>
            </a:r>
          </a:p>
        </p:txBody>
      </p:sp>
      <p:sp>
        <p:nvSpPr>
          <p:cNvPr id="27" name="TextBox 26"/>
          <p:cNvSpPr txBox="1"/>
          <p:nvPr/>
        </p:nvSpPr>
        <p:spPr>
          <a:xfrm>
            <a:off x="1024128" y="5303520"/>
            <a:ext cx="3291840" cy="292608"/>
          </a:xfrm>
          <a:prstGeom prst="rect">
            <a:avLst/>
          </a:prstGeom>
          <a:noFill/>
        </p:spPr>
        <p:txBody>
          <a:bodyPr wrap="square" lIns="0" rIns="0" tIns="0" bIns="0" anchor="t">
            <a:spAutoFit/>
          </a:bodyPr>
          <a:lstStyle/>
          <a:p>
            <a:pPr algn="l"/>
            <a:r>
              <a:rPr sz="1200" b="1" i="0">
                <a:solidFill>
                  <a:srgbClr val="3A8F63"/>
                </a:solidFill>
                <a:latin typeface="Arial"/>
              </a:rPr>
              <a:t>✓  </a:t>
            </a:r>
            <a:r>
              <a:rPr sz="1200" b="0" i="0">
                <a:solidFill>
                  <a:srgbClr val="13202E"/>
                </a:solidFill>
                <a:latin typeface="Arial"/>
              </a:rPr>
              <a:t>Infraestructura instalada y paga</a:t>
            </a:r>
          </a:p>
        </p:txBody>
      </p:sp>
      <p:sp>
        <p:nvSpPr>
          <p:cNvPr id="28" name="TextBox 27"/>
          <p:cNvSpPr txBox="1"/>
          <p:nvPr/>
        </p:nvSpPr>
        <p:spPr>
          <a:xfrm>
            <a:off x="4453128" y="5303520"/>
            <a:ext cx="3291840" cy="292608"/>
          </a:xfrm>
          <a:prstGeom prst="rect">
            <a:avLst/>
          </a:prstGeom>
          <a:noFill/>
        </p:spPr>
        <p:txBody>
          <a:bodyPr wrap="square" lIns="0" rIns="0" tIns="0" bIns="0" anchor="t">
            <a:spAutoFit/>
          </a:bodyPr>
          <a:lstStyle/>
          <a:p>
            <a:pPr algn="l"/>
            <a:r>
              <a:rPr sz="1200" b="1" i="0">
                <a:solidFill>
                  <a:srgbClr val="3A8F63"/>
                </a:solidFill>
                <a:latin typeface="Arial"/>
              </a:rPr>
              <a:t>✓  </a:t>
            </a:r>
            <a:r>
              <a:rPr sz="1200" b="0" i="0">
                <a:solidFill>
                  <a:srgbClr val="13202E"/>
                </a:solidFill>
                <a:latin typeface="Arial"/>
              </a:rPr>
              <a:t>Sin obra ni reemplazo de sistemas</a:t>
            </a:r>
          </a:p>
        </p:txBody>
      </p:sp>
      <p:sp>
        <p:nvSpPr>
          <p:cNvPr id="29" name="TextBox 28"/>
          <p:cNvSpPr txBox="1"/>
          <p:nvPr/>
        </p:nvSpPr>
        <p:spPr>
          <a:xfrm>
            <a:off x="7882128" y="5303520"/>
            <a:ext cx="3291840" cy="292608"/>
          </a:xfrm>
          <a:prstGeom prst="rect">
            <a:avLst/>
          </a:prstGeom>
          <a:noFill/>
        </p:spPr>
        <p:txBody>
          <a:bodyPr wrap="square" lIns="0" rIns="0" tIns="0" bIns="0" anchor="t">
            <a:spAutoFit/>
          </a:bodyPr>
          <a:lstStyle/>
          <a:p>
            <a:pPr algn="l"/>
            <a:r>
              <a:rPr sz="1200" b="1" i="0">
                <a:solidFill>
                  <a:srgbClr val="3A8F63"/>
                </a:solidFill>
                <a:latin typeface="Arial"/>
              </a:rPr>
              <a:t>✓  </a:t>
            </a:r>
            <a:r>
              <a:rPr sz="1200" b="0" i="0">
                <a:solidFill>
                  <a:srgbClr val="13202E"/>
                </a:solidFill>
                <a:latin typeface="Arial"/>
              </a:rPr>
              <a:t>Por fases, cada una con valor propio</a:t>
            </a:r>
          </a:p>
        </p:txBody>
      </p:sp>
      <p:sp>
        <p:nvSpPr>
          <p:cNvPr id="30" name="TextBox 29"/>
          <p:cNvSpPr txBox="1"/>
          <p:nvPr/>
        </p:nvSpPr>
        <p:spPr>
          <a:xfrm>
            <a:off x="1024128" y="5632704"/>
            <a:ext cx="3291840" cy="292608"/>
          </a:xfrm>
          <a:prstGeom prst="rect">
            <a:avLst/>
          </a:prstGeom>
          <a:noFill/>
        </p:spPr>
        <p:txBody>
          <a:bodyPr wrap="square" lIns="0" rIns="0" tIns="0" bIns="0" anchor="t">
            <a:spAutoFit/>
          </a:bodyPr>
          <a:lstStyle/>
          <a:p>
            <a:pPr algn="l"/>
            <a:r>
              <a:rPr sz="1200" b="1" i="0">
                <a:solidFill>
                  <a:srgbClr val="3A8F63"/>
                </a:solidFill>
                <a:latin typeface="Arial"/>
              </a:rPr>
              <a:t>✓  </a:t>
            </a:r>
            <a:r>
              <a:rPr sz="1200" b="0" i="0">
                <a:solidFill>
                  <a:srgbClr val="13202E"/>
                </a:solidFill>
                <a:latin typeface="Arial"/>
              </a:rPr>
              <a:t>Parte entra en las 20 h/mes de evolutivo</a:t>
            </a:r>
          </a:p>
        </p:txBody>
      </p:sp>
      <p:sp>
        <p:nvSpPr>
          <p:cNvPr id="31" name="TextBox 30"/>
          <p:cNvSpPr txBox="1"/>
          <p:nvPr/>
        </p:nvSpPr>
        <p:spPr>
          <a:xfrm>
            <a:off x="4453128" y="5632704"/>
            <a:ext cx="3291840" cy="292608"/>
          </a:xfrm>
          <a:prstGeom prst="rect">
            <a:avLst/>
          </a:prstGeom>
          <a:noFill/>
        </p:spPr>
        <p:txBody>
          <a:bodyPr wrap="square" lIns="0" rIns="0" tIns="0" bIns="0" anchor="t">
            <a:spAutoFit/>
          </a:bodyPr>
          <a:lstStyle/>
          <a:p>
            <a:pPr algn="l"/>
            <a:r>
              <a:rPr sz="1200" b="1" i="0">
                <a:solidFill>
                  <a:srgbClr val="3A8F63"/>
                </a:solidFill>
                <a:latin typeface="Arial"/>
              </a:rPr>
              <a:t>✓  </a:t>
            </a:r>
            <a:r>
              <a:rPr sz="1200" b="0" i="0">
                <a:solidFill>
                  <a:srgbClr val="13202E"/>
                </a:solidFill>
                <a:latin typeface="Arial"/>
              </a:rPr>
              <a:t>Nube e IA se pagan por uso</a:t>
            </a:r>
          </a:p>
        </p:txBody>
      </p:sp>
      <p:sp>
        <p:nvSpPr>
          <p:cNvPr id="32" name="TextBox 31"/>
          <p:cNvSpPr txBox="1"/>
          <p:nvPr/>
        </p:nvSpPr>
        <p:spPr>
          <a:xfrm>
            <a:off x="813816" y="6236208"/>
            <a:ext cx="9601200" cy="237744"/>
          </a:xfrm>
          <a:prstGeom prst="rect">
            <a:avLst/>
          </a:prstGeom>
          <a:noFill/>
        </p:spPr>
        <p:txBody>
          <a:bodyPr wrap="square" lIns="0" rIns="0" tIns="0" bIns="0" anchor="t">
            <a:spAutoFit/>
          </a:bodyPr>
          <a:lstStyle/>
          <a:p>
            <a:pPr algn="l"/>
            <a:r>
              <a:rPr sz="1100" b="0" i="0">
                <a:solidFill>
                  <a:srgbClr val="5B6776"/>
                </a:solidFill>
                <a:latin typeface="Arial"/>
              </a:rPr>
              <a:t>Plazos y presupuesto: a estimar · Truckflow Vicentin · propuesta interna</a:t>
            </a:r>
          </a:p>
        </p:txBody>
      </p:sp>
      <p:sp>
        <p:nvSpPr>
          <p:cNvPr id="33" name="TextBox 32"/>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17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6F2"/>
        </a:solidFill>
        <a:effectLst/>
      </p:bgPr>
    </p:bg>
    <p:spTree>
      <p:nvGrpSpPr>
        <p:cNvPr id="1" name=""/>
        <p:cNvGrpSpPr/>
        <p:nvPr/>
      </p:nvGrpSpPr>
      <p:grpSpPr/>
      <p:sp>
        <p:nvSpPr>
          <p:cNvPr id="2" name="TextBox 1"/>
          <p:cNvSpPr txBox="1"/>
          <p:nvPr/>
        </p:nvSpPr>
        <p:spPr>
          <a:xfrm>
            <a:off x="813816" y="813816"/>
            <a:ext cx="10881360" cy="237744"/>
          </a:xfrm>
          <a:prstGeom prst="rect">
            <a:avLst/>
          </a:prstGeom>
          <a:noFill/>
        </p:spPr>
        <p:txBody>
          <a:bodyPr wrap="square" lIns="0" rIns="0" tIns="0" bIns="0" anchor="t">
            <a:spAutoFit/>
          </a:bodyPr>
          <a:lstStyle/>
          <a:p>
            <a:pPr algn="l"/>
            <a:r>
              <a:rPr sz="1200" b="1" i="0">
                <a:solidFill>
                  <a:srgbClr val="0F6FA8"/>
                </a:solidFill>
                <a:latin typeface="Arial"/>
              </a:rPr>
              <a:t>APÉNDICE · CAPACIDAD CONTRA USO</a:t>
            </a:r>
          </a:p>
        </p:txBody>
      </p:sp>
      <p:sp>
        <p:nvSpPr>
          <p:cNvPr id="3" name="TextBox 2"/>
          <p:cNvSpPr txBox="1"/>
          <p:nvPr/>
        </p:nvSpPr>
        <p:spPr>
          <a:xfrm>
            <a:off x="813816" y="1097280"/>
            <a:ext cx="10881360" cy="548640"/>
          </a:xfrm>
          <a:prstGeom prst="rect">
            <a:avLst/>
          </a:prstGeom>
          <a:noFill/>
        </p:spPr>
        <p:txBody>
          <a:bodyPr wrap="square" lIns="0" rIns="0" tIns="0" bIns="0" anchor="t">
            <a:spAutoFit/>
          </a:bodyPr>
          <a:lstStyle/>
          <a:p>
            <a:pPr algn="l"/>
            <a:r>
              <a:rPr sz="3000" b="1" i="0">
                <a:solidFill>
                  <a:srgbClr val="13202E"/>
                </a:solidFill>
                <a:latin typeface="Arial"/>
              </a:rPr>
              <a:t>Hay capacidad instalada mientras los camiones esperan</a:t>
            </a:r>
          </a:p>
        </p:txBody>
      </p:sp>
      <p:graphicFrame>
        <p:nvGraphicFramePr>
          <p:cNvPr id="4" name="Table 3"/>
          <p:cNvGraphicFramePr>
            <a:graphicFrameLocks noGrp="1"/>
          </p:cNvGraphicFramePr>
          <p:nvPr/>
        </p:nvGraphicFramePr>
        <p:xfrm>
          <a:off x="813816" y="1828800"/>
          <a:ext cx="10570464" cy="3931920"/>
        </p:xfrm>
        <a:graphic>
          <a:graphicData uri="http://schemas.openxmlformats.org/drawingml/2006/table">
            <a:tbl>
              <a:tblPr firstRow="1" bandRow="1">
                <a:tableStyleId>{5C22544A-7EE6-4342-B048-85BDC9FD1C3A}</a:tableStyleId>
              </a:tblPr>
              <a:tblGrid>
                <a:gridCol w="2834640"/>
                <a:gridCol w="2331720"/>
                <a:gridCol w="1737360"/>
                <a:gridCol w="1645920"/>
                <a:gridCol w="2020824"/>
              </a:tblGrid>
              <a:tr h="436880">
                <a:tc>
                  <a:txBody>
                    <a:bodyPr/>
                    <a:lstStyle/>
                    <a:p>
                      <a:r>
                        <a:rPr sz="1200" b="1">
                          <a:solidFill>
                            <a:srgbClr val="FFFFFF"/>
                          </a:solidFill>
                          <a:latin typeface="Arial"/>
                        </a:rPr>
                        <a:t>Circuito</a:t>
                      </a:r>
                    </a:p>
                  </a:txBody>
                  <a:tcPr marL="109728" marR="109728" anchor="ctr">
                    <a:solidFill>
                      <a:srgbClr val="0E1A2B"/>
                    </a:solidFill>
                  </a:tcPr>
                </a:tc>
                <a:tc>
                  <a:txBody>
                    <a:bodyPr/>
                    <a:lstStyle/>
                    <a:p>
                      <a:r>
                        <a:rPr sz="1200" b="1">
                          <a:solidFill>
                            <a:srgbClr val="FFFFFF"/>
                          </a:solidFill>
                          <a:latin typeface="Arial"/>
                        </a:rPr>
                        <a:t>Recurso que limita</a:t>
                      </a:r>
                    </a:p>
                  </a:txBody>
                  <a:tcPr marL="109728" marR="109728" anchor="ctr">
                    <a:solidFill>
                      <a:srgbClr val="0E1A2B"/>
                    </a:solidFill>
                  </a:tcPr>
                </a:tc>
                <a:tc>
                  <a:txBody>
                    <a:bodyPr/>
                    <a:lstStyle/>
                    <a:p>
                      <a:pPr algn="l"/>
                      <a:r>
                        <a:rPr sz="1200" b="1">
                          <a:solidFill>
                            <a:srgbClr val="FFFFFF"/>
                          </a:solidFill>
                          <a:latin typeface="Arial"/>
                        </a:rPr>
                        <a:t>Capacidad semanal</a:t>
                      </a:r>
                    </a:p>
                  </a:txBody>
                  <a:tcPr marL="109728" marR="109728" anchor="ctr">
                    <a:solidFill>
                      <a:srgbClr val="0E1A2B"/>
                    </a:solidFill>
                  </a:tcPr>
                </a:tc>
                <a:tc>
                  <a:txBody>
                    <a:bodyPr/>
                    <a:lstStyle/>
                    <a:p>
                      <a:pPr algn="l"/>
                      <a:r>
                        <a:rPr sz="1200" b="1">
                          <a:solidFill>
                            <a:srgbClr val="FFFFFF"/>
                          </a:solidFill>
                          <a:latin typeface="Arial"/>
                        </a:rPr>
                        <a:t>Uso real semanal</a:t>
                      </a:r>
                    </a:p>
                  </a:txBody>
                  <a:tcPr marL="109728" marR="109728" anchor="ctr">
                    <a:solidFill>
                      <a:srgbClr val="0E1A2B"/>
                    </a:solidFill>
                  </a:tcPr>
                </a:tc>
                <a:tc>
                  <a:txBody>
                    <a:bodyPr/>
                    <a:lstStyle/>
                    <a:p>
                      <a:pPr algn="l"/>
                      <a:r>
                        <a:rPr sz="1200" b="1">
                          <a:solidFill>
                            <a:srgbClr val="FFFFFF"/>
                          </a:solidFill>
                          <a:latin typeface="Arial"/>
                        </a:rPr>
                        <a:t>Lectura</a:t>
                      </a:r>
                    </a:p>
                  </a:txBody>
                  <a:tcPr marL="109728" marR="109728" anchor="ctr">
                    <a:solidFill>
                      <a:srgbClr val="0E1A2B"/>
                    </a:solidFill>
                  </a:tcPr>
                </a:tc>
              </a:tr>
              <a:tr h="436880">
                <a:tc>
                  <a:txBody>
                    <a:bodyPr/>
                    <a:lstStyle/>
                    <a:p>
                      <a:r>
                        <a:rPr sz="1200" b="1">
                          <a:solidFill>
                            <a:srgbClr val="13202E"/>
                          </a:solidFill>
                          <a:latin typeface="Arial"/>
                        </a:rPr>
                        <a:t>R7 · soja a volcables SL</a:t>
                      </a:r>
                    </a:p>
                  </a:txBody>
                  <a:tcPr marL="109728" marR="109728" anchor="ctr">
                    <a:solidFill>
                      <a:srgbClr val="FCFDFB"/>
                    </a:solidFill>
                  </a:tcPr>
                </a:tc>
                <a:tc>
                  <a:txBody>
                    <a:bodyPr/>
                    <a:lstStyle/>
                    <a:p>
                      <a:r>
                        <a:rPr sz="1200" b="0">
                          <a:solidFill>
                            <a:srgbClr val="13202E"/>
                          </a:solidFill>
                          <a:latin typeface="Arial"/>
                        </a:rPr>
                        <a:t>Balanzas SL (38/h)</a:t>
                      </a:r>
                    </a:p>
                  </a:txBody>
                  <a:tcPr marL="109728" marR="109728" anchor="ctr">
                    <a:solidFill>
                      <a:srgbClr val="FCFDFB"/>
                    </a:solidFill>
                  </a:tcPr>
                </a:tc>
                <a:tc>
                  <a:txBody>
                    <a:bodyPr/>
                    <a:lstStyle/>
                    <a:p>
                      <a:pPr algn="l"/>
                      <a:r>
                        <a:rPr sz="1200" b="0">
                          <a:solidFill>
                            <a:srgbClr val="13202E"/>
                          </a:solidFill>
                          <a:latin typeface="Arial"/>
                        </a:rPr>
                        <a:t>6.317</a:t>
                      </a:r>
                    </a:p>
                  </a:txBody>
                  <a:tcPr marL="109728" marR="109728" anchor="ctr">
                    <a:solidFill>
                      <a:srgbClr val="FCFDFB"/>
                    </a:solidFill>
                  </a:tcPr>
                </a:tc>
                <a:tc>
                  <a:txBody>
                    <a:bodyPr/>
                    <a:lstStyle/>
                    <a:p>
                      <a:pPr algn="l"/>
                      <a:r>
                        <a:rPr sz="1200" b="0">
                          <a:solidFill>
                            <a:srgbClr val="13202E"/>
                          </a:solidFill>
                          <a:latin typeface="Arial"/>
                        </a:rPr>
                        <a:t>2.058–2.949</a:t>
                      </a:r>
                    </a:p>
                  </a:txBody>
                  <a:tcPr marL="109728" marR="109728" anchor="ctr">
                    <a:solidFill>
                      <a:srgbClr val="FCFDFB"/>
                    </a:solidFill>
                  </a:tcPr>
                </a:tc>
                <a:tc>
                  <a:txBody>
                    <a:bodyPr/>
                    <a:lstStyle/>
                    <a:p>
                      <a:pPr algn="l"/>
                      <a:r>
                        <a:rPr sz="1200" b="0">
                          <a:solidFill>
                            <a:srgbClr val="13202E"/>
                          </a:solidFill>
                          <a:latin typeface="Arial"/>
                        </a:rPr>
                        <a:t>33–47 %</a:t>
                      </a:r>
                    </a:p>
                  </a:txBody>
                  <a:tcPr marL="109728" marR="109728" anchor="ctr">
                    <a:solidFill>
                      <a:srgbClr val="FCFDFB"/>
                    </a:solidFill>
                  </a:tcPr>
                </a:tc>
              </a:tr>
              <a:tr h="436880">
                <a:tc>
                  <a:txBody>
                    <a:bodyPr/>
                    <a:lstStyle/>
                    <a:p>
                      <a:r>
                        <a:rPr sz="1200" b="1">
                          <a:solidFill>
                            <a:srgbClr val="13202E"/>
                          </a:solidFill>
                          <a:latin typeface="Arial"/>
                        </a:rPr>
                        <a:t>R5 + R6 · volcables Ricardone</a:t>
                      </a:r>
                    </a:p>
                  </a:txBody>
                  <a:tcPr marL="109728" marR="109728" anchor="ctr">
                    <a:solidFill>
                      <a:srgbClr val="F0F3F5"/>
                    </a:solidFill>
                  </a:tcPr>
                </a:tc>
                <a:tc>
                  <a:txBody>
                    <a:bodyPr/>
                    <a:lstStyle/>
                    <a:p>
                      <a:r>
                        <a:rPr sz="1200" b="0">
                          <a:solidFill>
                            <a:srgbClr val="13202E"/>
                          </a:solidFill>
                          <a:latin typeface="Arial"/>
                        </a:rPr>
                        <a:t>Volcables 1 y 2</a:t>
                      </a:r>
                    </a:p>
                  </a:txBody>
                  <a:tcPr marL="109728" marR="109728" anchor="ctr">
                    <a:solidFill>
                      <a:srgbClr val="F0F3F5"/>
                    </a:solidFill>
                  </a:tcPr>
                </a:tc>
                <a:tc>
                  <a:txBody>
                    <a:bodyPr/>
                    <a:lstStyle/>
                    <a:p>
                      <a:pPr algn="l"/>
                      <a:r>
                        <a:rPr sz="1200" b="0">
                          <a:solidFill>
                            <a:srgbClr val="13202E"/>
                          </a:solidFill>
                          <a:latin typeface="Arial"/>
                        </a:rPr>
                        <a:t>644–805</a:t>
                      </a:r>
                    </a:p>
                  </a:txBody>
                  <a:tcPr marL="109728" marR="109728" anchor="ctr">
                    <a:solidFill>
                      <a:srgbClr val="F0F3F5"/>
                    </a:solidFill>
                  </a:tcPr>
                </a:tc>
                <a:tc>
                  <a:txBody>
                    <a:bodyPr/>
                    <a:lstStyle/>
                    <a:p>
                      <a:pPr algn="l"/>
                      <a:r>
                        <a:rPr sz="1200" b="0">
                          <a:solidFill>
                            <a:srgbClr val="13202E"/>
                          </a:solidFill>
                          <a:latin typeface="Arial"/>
                        </a:rPr>
                        <a:t>301–489</a:t>
                      </a:r>
                    </a:p>
                  </a:txBody>
                  <a:tcPr marL="109728" marR="109728" anchor="ctr">
                    <a:solidFill>
                      <a:srgbClr val="F0F3F5"/>
                    </a:solidFill>
                  </a:tcPr>
                </a:tc>
                <a:tc>
                  <a:txBody>
                    <a:bodyPr/>
                    <a:lstStyle/>
                    <a:p>
                      <a:pPr algn="l"/>
                      <a:r>
                        <a:rPr sz="1200" b="0">
                          <a:solidFill>
                            <a:srgbClr val="13202E"/>
                          </a:solidFill>
                          <a:latin typeface="Arial"/>
                        </a:rPr>
                        <a:t>hasta 76 %: el más exigido</a:t>
                      </a:r>
                    </a:p>
                  </a:txBody>
                  <a:tcPr marL="109728" marR="109728" anchor="ctr">
                    <a:solidFill>
                      <a:srgbClr val="F0F3F5"/>
                    </a:solidFill>
                  </a:tcPr>
                </a:tc>
              </a:tr>
              <a:tr h="436880">
                <a:tc>
                  <a:txBody>
                    <a:bodyPr/>
                    <a:lstStyle/>
                    <a:p>
                      <a:r>
                        <a:rPr sz="1200" b="1">
                          <a:solidFill>
                            <a:srgbClr val="13202E"/>
                          </a:solidFill>
                          <a:latin typeface="Arial"/>
                        </a:rPr>
                        <a:t>R1 · Celda 16</a:t>
                      </a:r>
                    </a:p>
                  </a:txBody>
                  <a:tcPr marL="109728" marR="109728" anchor="ctr">
                    <a:solidFill>
                      <a:srgbClr val="FCFDFB"/>
                    </a:solidFill>
                  </a:tcPr>
                </a:tc>
                <a:tc>
                  <a:txBody>
                    <a:bodyPr/>
                    <a:lstStyle/>
                    <a:p>
                      <a:r>
                        <a:rPr sz="1200" b="0">
                          <a:solidFill>
                            <a:srgbClr val="13202E"/>
                          </a:solidFill>
                          <a:latin typeface="Arial"/>
                        </a:rPr>
                        <a:t>Recepción de la celda</a:t>
                      </a:r>
                    </a:p>
                  </a:txBody>
                  <a:tcPr marL="109728" marR="109728" anchor="ctr">
                    <a:solidFill>
                      <a:srgbClr val="FCFDFB"/>
                    </a:solidFill>
                  </a:tcPr>
                </a:tc>
                <a:tc>
                  <a:txBody>
                    <a:bodyPr/>
                    <a:lstStyle/>
                    <a:p>
                      <a:pPr algn="l"/>
                      <a:r>
                        <a:rPr sz="1200" b="0">
                          <a:solidFill>
                            <a:srgbClr val="13202E"/>
                          </a:solidFill>
                          <a:latin typeface="Arial"/>
                        </a:rPr>
                        <a:t>1.848</a:t>
                      </a:r>
                    </a:p>
                  </a:txBody>
                  <a:tcPr marL="109728" marR="109728" anchor="ctr">
                    <a:solidFill>
                      <a:srgbClr val="FCFDFB"/>
                    </a:solidFill>
                  </a:tcPr>
                </a:tc>
                <a:tc>
                  <a:txBody>
                    <a:bodyPr/>
                    <a:lstStyle/>
                    <a:p>
                      <a:pPr algn="l"/>
                      <a:r>
                        <a:rPr sz="1200" b="0">
                          <a:solidFill>
                            <a:srgbClr val="13202E"/>
                          </a:solidFill>
                          <a:latin typeface="Arial"/>
                        </a:rPr>
                        <a:t>0</a:t>
                      </a:r>
                    </a:p>
                  </a:txBody>
                  <a:tcPr marL="109728" marR="109728" anchor="ctr">
                    <a:solidFill>
                      <a:srgbClr val="FCFDFB"/>
                    </a:solidFill>
                  </a:tcPr>
                </a:tc>
                <a:tc>
                  <a:txBody>
                    <a:bodyPr/>
                    <a:lstStyle/>
                    <a:p>
                      <a:pPr algn="l"/>
                      <a:r>
                        <a:rPr sz="1200" b="0">
                          <a:solidFill>
                            <a:srgbClr val="13202E"/>
                          </a:solidFill>
                          <a:latin typeface="Arial"/>
                        </a:rPr>
                        <a:t>sin uso</a:t>
                      </a:r>
                    </a:p>
                  </a:txBody>
                  <a:tcPr marL="109728" marR="109728" anchor="ctr">
                    <a:solidFill>
                      <a:srgbClr val="FCFDFB"/>
                    </a:solidFill>
                  </a:tcPr>
                </a:tc>
              </a:tr>
              <a:tr h="436880">
                <a:tc>
                  <a:txBody>
                    <a:bodyPr/>
                    <a:lstStyle/>
                    <a:p>
                      <a:r>
                        <a:rPr sz="1200" b="1">
                          <a:solidFill>
                            <a:srgbClr val="13202E"/>
                          </a:solidFill>
                          <a:latin typeface="Arial"/>
                        </a:rPr>
                        <a:t>R3 · Silo Keppler</a:t>
                      </a:r>
                    </a:p>
                  </a:txBody>
                  <a:tcPr marL="109728" marR="109728" anchor="ctr">
                    <a:solidFill>
                      <a:srgbClr val="F0F3F5"/>
                    </a:solidFill>
                  </a:tcPr>
                </a:tc>
                <a:tc>
                  <a:txBody>
                    <a:bodyPr/>
                    <a:lstStyle/>
                    <a:p>
                      <a:r>
                        <a:rPr sz="1200" b="0">
                          <a:solidFill>
                            <a:srgbClr val="13202E"/>
                          </a:solidFill>
                          <a:latin typeface="Arial"/>
                        </a:rPr>
                        <a:t>Descarga Keppler</a:t>
                      </a:r>
                    </a:p>
                  </a:txBody>
                  <a:tcPr marL="109728" marR="109728" anchor="ctr">
                    <a:solidFill>
                      <a:srgbClr val="F0F3F5"/>
                    </a:solidFill>
                  </a:tcPr>
                </a:tc>
                <a:tc>
                  <a:txBody>
                    <a:bodyPr/>
                    <a:lstStyle/>
                    <a:p>
                      <a:pPr algn="l"/>
                      <a:r>
                        <a:rPr sz="1200" b="0">
                          <a:solidFill>
                            <a:srgbClr val="13202E"/>
                          </a:solidFill>
                          <a:latin typeface="Arial"/>
                        </a:rPr>
                        <a:t>612–765</a:t>
                      </a:r>
                    </a:p>
                  </a:txBody>
                  <a:tcPr marL="109728" marR="109728" anchor="ctr">
                    <a:solidFill>
                      <a:srgbClr val="F0F3F5"/>
                    </a:solidFill>
                  </a:tcPr>
                </a:tc>
                <a:tc>
                  <a:txBody>
                    <a:bodyPr/>
                    <a:lstStyle/>
                    <a:p>
                      <a:pPr algn="l"/>
                      <a:r>
                        <a:rPr sz="1200" b="0">
                          <a:solidFill>
                            <a:srgbClr val="13202E"/>
                          </a:solidFill>
                          <a:latin typeface="Arial"/>
                        </a:rPr>
                        <a:t>0–227</a:t>
                      </a:r>
                    </a:p>
                  </a:txBody>
                  <a:tcPr marL="109728" marR="109728" anchor="ctr">
                    <a:solidFill>
                      <a:srgbClr val="F0F3F5"/>
                    </a:solidFill>
                  </a:tcPr>
                </a:tc>
                <a:tc>
                  <a:txBody>
                    <a:bodyPr/>
                    <a:lstStyle/>
                    <a:p>
                      <a:pPr algn="l"/>
                      <a:r>
                        <a:rPr sz="1200" b="0">
                          <a:solidFill>
                            <a:srgbClr val="13202E"/>
                          </a:solidFill>
                          <a:latin typeface="Arial"/>
                        </a:rPr>
                        <a:t>por campañas</a:t>
                      </a:r>
                    </a:p>
                  </a:txBody>
                  <a:tcPr marL="109728" marR="109728" anchor="ctr">
                    <a:solidFill>
                      <a:srgbClr val="F0F3F5"/>
                    </a:solidFill>
                  </a:tcPr>
                </a:tc>
              </a:tr>
              <a:tr h="436880">
                <a:tc>
                  <a:txBody>
                    <a:bodyPr/>
                    <a:lstStyle/>
                    <a:p>
                      <a:r>
                        <a:rPr sz="1200" b="1">
                          <a:solidFill>
                            <a:srgbClr val="13202E"/>
                          </a:solidFill>
                          <a:latin typeface="Arial"/>
                        </a:rPr>
                        <a:t>R8 · líquidos Ricardone</a:t>
                      </a:r>
                    </a:p>
                  </a:txBody>
                  <a:tcPr marL="109728" marR="109728" anchor="ctr">
                    <a:solidFill>
                      <a:srgbClr val="FCFDFB"/>
                    </a:solidFill>
                  </a:tcPr>
                </a:tc>
                <a:tc>
                  <a:txBody>
                    <a:bodyPr/>
                    <a:lstStyle/>
                    <a:p>
                      <a:r>
                        <a:rPr sz="1200" b="0">
                          <a:solidFill>
                            <a:srgbClr val="13202E"/>
                          </a:solidFill>
                          <a:latin typeface="Arial"/>
                        </a:rPr>
                        <a:t>Descarga de líquidos</a:t>
                      </a:r>
                    </a:p>
                  </a:txBody>
                  <a:tcPr marL="109728" marR="109728" anchor="ctr">
                    <a:solidFill>
                      <a:srgbClr val="FCFDFB"/>
                    </a:solidFill>
                  </a:tcPr>
                </a:tc>
                <a:tc>
                  <a:txBody>
                    <a:bodyPr/>
                    <a:lstStyle/>
                    <a:p>
                      <a:pPr algn="l"/>
                      <a:r>
                        <a:rPr sz="1200" b="0">
                          <a:solidFill>
                            <a:srgbClr val="13202E"/>
                          </a:solidFill>
                          <a:latin typeface="Arial"/>
                        </a:rPr>
                        <a:t>672</a:t>
                      </a:r>
                    </a:p>
                  </a:txBody>
                  <a:tcPr marL="109728" marR="109728" anchor="ctr">
                    <a:solidFill>
                      <a:srgbClr val="FCFDFB"/>
                    </a:solidFill>
                  </a:tcPr>
                </a:tc>
                <a:tc>
                  <a:txBody>
                    <a:bodyPr/>
                    <a:lstStyle/>
                    <a:p>
                      <a:pPr algn="l"/>
                      <a:r>
                        <a:rPr sz="1200" b="0">
                          <a:solidFill>
                            <a:srgbClr val="13202E"/>
                          </a:solidFill>
                          <a:latin typeface="Arial"/>
                        </a:rPr>
                        <a:t>42–160</a:t>
                      </a:r>
                    </a:p>
                  </a:txBody>
                  <a:tcPr marL="109728" marR="109728" anchor="ctr">
                    <a:solidFill>
                      <a:srgbClr val="FCFDFB"/>
                    </a:solidFill>
                  </a:tcPr>
                </a:tc>
                <a:tc>
                  <a:txBody>
                    <a:bodyPr/>
                    <a:lstStyle/>
                    <a:p>
                      <a:pPr algn="l"/>
                      <a:r>
                        <a:rPr sz="1200" b="0">
                          <a:solidFill>
                            <a:srgbClr val="13202E"/>
                          </a:solidFill>
                          <a:latin typeface="Arial"/>
                        </a:rPr>
                        <a:t>6–24 %</a:t>
                      </a:r>
                    </a:p>
                  </a:txBody>
                  <a:tcPr marL="109728" marR="109728" anchor="ctr">
                    <a:solidFill>
                      <a:srgbClr val="FCFDFB"/>
                    </a:solidFill>
                  </a:tcPr>
                </a:tc>
              </a:tr>
              <a:tr h="436880">
                <a:tc>
                  <a:txBody>
                    <a:bodyPr/>
                    <a:lstStyle/>
                    <a:p>
                      <a:r>
                        <a:rPr sz="1200" b="1">
                          <a:solidFill>
                            <a:srgbClr val="13202E"/>
                          </a:solidFill>
                          <a:latin typeface="Arial"/>
                        </a:rPr>
                        <a:t>SL1 · aceite OSL</a:t>
                      </a:r>
                    </a:p>
                  </a:txBody>
                  <a:tcPr marL="109728" marR="109728" anchor="ctr">
                    <a:solidFill>
                      <a:srgbClr val="F0F3F5"/>
                    </a:solidFill>
                  </a:tcPr>
                </a:tc>
                <a:tc>
                  <a:txBody>
                    <a:bodyPr/>
                    <a:lstStyle/>
                    <a:p>
                      <a:r>
                        <a:rPr sz="1200" b="0">
                          <a:solidFill>
                            <a:srgbClr val="13202E"/>
                          </a:solidFill>
                          <a:latin typeface="Arial"/>
                        </a:rPr>
                        <a:t>Carga/descarga OSL</a:t>
                      </a:r>
                    </a:p>
                  </a:txBody>
                  <a:tcPr marL="109728" marR="109728" anchor="ctr">
                    <a:solidFill>
                      <a:srgbClr val="F0F3F5"/>
                    </a:solidFill>
                  </a:tcPr>
                </a:tc>
                <a:tc>
                  <a:txBody>
                    <a:bodyPr/>
                    <a:lstStyle/>
                    <a:p>
                      <a:pPr algn="l"/>
                      <a:r>
                        <a:rPr sz="1200" b="0">
                          <a:solidFill>
                            <a:srgbClr val="13202E"/>
                          </a:solidFill>
                          <a:latin typeface="Arial"/>
                        </a:rPr>
                        <a:t>924</a:t>
                      </a:r>
                    </a:p>
                  </a:txBody>
                  <a:tcPr marL="109728" marR="109728" anchor="ctr">
                    <a:solidFill>
                      <a:srgbClr val="F0F3F5"/>
                    </a:solidFill>
                  </a:tcPr>
                </a:tc>
                <a:tc>
                  <a:txBody>
                    <a:bodyPr/>
                    <a:lstStyle/>
                    <a:p>
                      <a:pPr algn="l"/>
                      <a:r>
                        <a:rPr sz="1200" b="0">
                          <a:solidFill>
                            <a:srgbClr val="13202E"/>
                          </a:solidFill>
                          <a:latin typeface="Arial"/>
                        </a:rPr>
                        <a:t>132–207</a:t>
                      </a:r>
                    </a:p>
                  </a:txBody>
                  <a:tcPr marL="109728" marR="109728" anchor="ctr">
                    <a:solidFill>
                      <a:srgbClr val="F0F3F5"/>
                    </a:solidFill>
                  </a:tcPr>
                </a:tc>
                <a:tc>
                  <a:txBody>
                    <a:bodyPr/>
                    <a:lstStyle/>
                    <a:p>
                      <a:pPr algn="l"/>
                      <a:r>
                        <a:rPr sz="1200" b="0">
                          <a:solidFill>
                            <a:srgbClr val="13202E"/>
                          </a:solidFill>
                          <a:latin typeface="Arial"/>
                        </a:rPr>
                        <a:t>14–22 %</a:t>
                      </a:r>
                    </a:p>
                  </a:txBody>
                  <a:tcPr marL="109728" marR="109728" anchor="ctr">
                    <a:solidFill>
                      <a:srgbClr val="F0F3F5"/>
                    </a:solidFill>
                  </a:tcPr>
                </a:tc>
              </a:tr>
              <a:tr h="436880">
                <a:tc>
                  <a:txBody>
                    <a:bodyPr/>
                    <a:lstStyle/>
                    <a:p>
                      <a:r>
                        <a:rPr sz="1200" b="1">
                          <a:solidFill>
                            <a:srgbClr val="13202E"/>
                          </a:solidFill>
                          <a:latin typeface="Arial"/>
                        </a:rPr>
                        <a:t>SL2 · aceite puerto</a:t>
                      </a:r>
                    </a:p>
                  </a:txBody>
                  <a:tcPr marL="109728" marR="109728" anchor="ctr">
                    <a:solidFill>
                      <a:srgbClr val="FCFDFB"/>
                    </a:solidFill>
                  </a:tcPr>
                </a:tc>
                <a:tc>
                  <a:txBody>
                    <a:bodyPr/>
                    <a:lstStyle/>
                    <a:p>
                      <a:r>
                        <a:rPr sz="1200" b="0">
                          <a:solidFill>
                            <a:srgbClr val="13202E"/>
                          </a:solidFill>
                          <a:latin typeface="Arial"/>
                        </a:rPr>
                        <a:t>Carga/descarga puerto</a:t>
                      </a:r>
                    </a:p>
                  </a:txBody>
                  <a:tcPr marL="109728" marR="109728" anchor="ctr">
                    <a:solidFill>
                      <a:srgbClr val="FCFDFB"/>
                    </a:solidFill>
                  </a:tcPr>
                </a:tc>
                <a:tc>
                  <a:txBody>
                    <a:bodyPr/>
                    <a:lstStyle/>
                    <a:p>
                      <a:pPr algn="l"/>
                      <a:r>
                        <a:rPr sz="1200" b="0">
                          <a:solidFill>
                            <a:srgbClr val="13202E"/>
                          </a:solidFill>
                          <a:latin typeface="Arial"/>
                        </a:rPr>
                        <a:t>924</a:t>
                      </a:r>
                    </a:p>
                  </a:txBody>
                  <a:tcPr marL="109728" marR="109728" anchor="ctr">
                    <a:solidFill>
                      <a:srgbClr val="FCFDFB"/>
                    </a:solidFill>
                  </a:tcPr>
                </a:tc>
                <a:tc>
                  <a:txBody>
                    <a:bodyPr/>
                    <a:lstStyle/>
                    <a:p>
                      <a:pPr algn="l"/>
                      <a:r>
                        <a:rPr sz="1200" b="0">
                          <a:solidFill>
                            <a:srgbClr val="13202E"/>
                          </a:solidFill>
                          <a:latin typeface="Arial"/>
                        </a:rPr>
                        <a:t>47–104</a:t>
                      </a:r>
                    </a:p>
                  </a:txBody>
                  <a:tcPr marL="109728" marR="109728" anchor="ctr">
                    <a:solidFill>
                      <a:srgbClr val="FCFDFB"/>
                    </a:solidFill>
                  </a:tcPr>
                </a:tc>
                <a:tc>
                  <a:txBody>
                    <a:bodyPr/>
                    <a:lstStyle/>
                    <a:p>
                      <a:pPr algn="l"/>
                      <a:r>
                        <a:rPr sz="1200" b="0">
                          <a:solidFill>
                            <a:srgbClr val="13202E"/>
                          </a:solidFill>
                          <a:latin typeface="Arial"/>
                        </a:rPr>
                        <a:t>5–11 %</a:t>
                      </a:r>
                    </a:p>
                  </a:txBody>
                  <a:tcPr marL="109728" marR="109728" anchor="ctr">
                    <a:solidFill>
                      <a:srgbClr val="FCFDFB"/>
                    </a:solidFill>
                  </a:tcPr>
                </a:tc>
              </a:tr>
              <a:tr h="436880">
                <a:tc>
                  <a:txBody>
                    <a:bodyPr/>
                    <a:lstStyle/>
                    <a:p>
                      <a:r>
                        <a:rPr sz="1200" b="1">
                          <a:solidFill>
                            <a:srgbClr val="13202E"/>
                          </a:solidFill>
                          <a:latin typeface="Arial"/>
                        </a:rPr>
                        <a:t>R30–R32 · pellet al puerto</a:t>
                      </a:r>
                    </a:p>
                  </a:txBody>
                  <a:tcPr marL="109728" marR="109728" anchor="ctr">
                    <a:solidFill>
                      <a:srgbClr val="F0F3F5"/>
                    </a:solidFill>
                  </a:tcPr>
                </a:tc>
                <a:tc>
                  <a:txBody>
                    <a:bodyPr/>
                    <a:lstStyle/>
                    <a:p>
                      <a:r>
                        <a:rPr sz="1200" b="0">
                          <a:solidFill>
                            <a:srgbClr val="13202E"/>
                          </a:solidFill>
                          <a:latin typeface="Arial"/>
                        </a:rPr>
                        <a:t>Carga SP (4/h) y flota</a:t>
                      </a:r>
                    </a:p>
                  </a:txBody>
                  <a:tcPr marL="109728" marR="109728" anchor="ctr">
                    <a:solidFill>
                      <a:srgbClr val="F0F3F5"/>
                    </a:solidFill>
                  </a:tcPr>
                </a:tc>
                <a:tc>
                  <a:txBody>
                    <a:bodyPr/>
                    <a:lstStyle/>
                    <a:p>
                      <a:pPr algn="l"/>
                      <a:r>
                        <a:rPr sz="1200" b="0">
                          <a:solidFill>
                            <a:srgbClr val="13202E"/>
                          </a:solidFill>
                          <a:latin typeface="Arial"/>
                        </a:rPr>
                        <a:t>4/h en el operativo</a:t>
                      </a:r>
                    </a:p>
                  </a:txBody>
                  <a:tcPr marL="109728" marR="109728" anchor="ctr">
                    <a:solidFill>
                      <a:srgbClr val="F0F3F5"/>
                    </a:solidFill>
                  </a:tcPr>
                </a:tc>
                <a:tc>
                  <a:txBody>
                    <a:bodyPr/>
                    <a:lstStyle/>
                    <a:p>
                      <a:pPr algn="l"/>
                      <a:r>
                        <a:rPr sz="1200" b="0">
                          <a:solidFill>
                            <a:srgbClr val="13202E"/>
                          </a:solidFill>
                          <a:latin typeface="Arial"/>
                        </a:rPr>
                        <a:t>hasta 696</a:t>
                      </a:r>
                    </a:p>
                  </a:txBody>
                  <a:tcPr marL="109728" marR="109728" anchor="ctr">
                    <a:solidFill>
                      <a:srgbClr val="F0F3F5"/>
                    </a:solidFill>
                  </a:tcPr>
                </a:tc>
                <a:tc>
                  <a:txBody>
                    <a:bodyPr/>
                    <a:lstStyle/>
                    <a:p>
                      <a:pPr algn="l"/>
                      <a:r>
                        <a:rPr sz="1200" b="0">
                          <a:solidFill>
                            <a:srgbClr val="13202E"/>
                          </a:solidFill>
                          <a:latin typeface="Arial"/>
                        </a:rPr>
                        <a:t>en el techo: manda la flota</a:t>
                      </a:r>
                    </a:p>
                  </a:txBody>
                  <a:tcPr marL="109728" marR="109728" anchor="ctr">
                    <a:solidFill>
                      <a:srgbClr val="F0F3F5"/>
                    </a:solidFill>
                  </a:tcPr>
                </a:tc>
              </a:tr>
            </a:tbl>
          </a:graphicData>
        </a:graphic>
      </p:graphicFrame>
      <p:sp>
        <p:nvSpPr>
          <p:cNvPr id="5" name="TextBox 4"/>
          <p:cNvSpPr txBox="1"/>
          <p:nvPr/>
        </p:nvSpPr>
        <p:spPr>
          <a:xfrm>
            <a:off x="813816" y="6236208"/>
            <a:ext cx="9601200" cy="237744"/>
          </a:xfrm>
          <a:prstGeom prst="rect">
            <a:avLst/>
          </a:prstGeom>
          <a:noFill/>
        </p:spPr>
        <p:txBody>
          <a:bodyPr wrap="square" lIns="0" rIns="0" tIns="0" bIns="0" anchor="t">
            <a:spAutoFit/>
          </a:bodyPr>
          <a:lstStyle/>
          <a:p>
            <a:pPr algn="l"/>
            <a:r>
              <a:rPr sz="1100" b="0" i="0">
                <a:solidFill>
                  <a:srgbClr val="5B6776"/>
                </a:solidFill>
                <a:latin typeface="Arial"/>
              </a:rPr>
              <a:t>Capacidad: estudio de capacidades por circuito (09/09) · uso: movimientos del Excel, semanas del 17/08 al 20/09</a:t>
            </a:r>
          </a:p>
        </p:txBody>
      </p:sp>
      <p:sp>
        <p:nvSpPr>
          <p:cNvPr id="6" name="TextBox 5"/>
          <p:cNvSpPr txBox="1"/>
          <p:nvPr/>
        </p:nvSpPr>
        <p:spPr>
          <a:xfrm>
            <a:off x="11018520" y="6236208"/>
            <a:ext cx="411480" cy="237744"/>
          </a:xfrm>
          <a:prstGeom prst="rect">
            <a:avLst/>
          </a:prstGeom>
          <a:noFill/>
        </p:spPr>
        <p:txBody>
          <a:bodyPr wrap="square" lIns="0" rIns="0" tIns="0" bIns="0" anchor="t">
            <a:spAutoFit/>
          </a:bodyPr>
          <a:lstStyle/>
          <a:p>
            <a:pPr algn="r"/>
            <a:r>
              <a:rPr sz="1100" b="0" i="0">
                <a:solidFill>
                  <a:srgbClr val="5B6776"/>
                </a:solidFill>
                <a:latin typeface="Arial"/>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Truckflow Vicentin · Propuesta en vivo</dc:title>
  <dc:subject>PptxGenJS Presentation</dc:subject>
  <dc:creator>PptxGenJS</dc:creator>
  <cp:lastModifiedBy>PptxGenJS</cp:lastModifiedBy>
  <cp:revision>1</cp:revision>
  <dcterms:created xsi:type="dcterms:W3CDTF">2026-09-29T05:05:43Z</dcterms:created>
  <dcterms:modified xsi:type="dcterms:W3CDTF">2026-09-29T05:05:43Z</dcterms:modified>
</cp:coreProperties>
</file>