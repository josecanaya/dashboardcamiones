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un proyecto de ingeniería logística: construir la base que permite automatizar con IA la operación de camiones del Nodo Sur: nodos, eventos en tiempo real, un modelo único de la planta y, encima, agentes que miden, anticipan y corrigen. La pregunta de hoy es si tiene sentido llevárselo a Vicentin.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tiempos. Ahora, la base: nodos, eventos y el modelo de la planta, con el sistema de camiones integrado. Encima se suman las capas de agentes con un orquestador: los que miden, los que anticipan y los que comunican. El horizonte, que es el porqué de todo, es una planta que se corrige sola con agentes correctivos.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no es un prototipo. Las 60 cámaras con IA, el Edge en planta y TruckFlow en la nube ya están instalados y pagos, y se probaron de punta a punta el 15/09. El tablero en vivo es la pantalla de inicio de la planta: muestra cuántos camiones hay en cada playa, cuánto esperan y contra qué capacidad. Llevamos 13 comités y pasamos del 40 al 95 % del volumen con trazabilidad por cámara. Y el salto más importante: pasamos del análisis semanal en comité, que mira lo que ya pasó, al análisis en vivo, que muestra playa por playa lo que está pasando ahora.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modelo de las dos plantas: 33 nodos y 50 circuitos. Cuanto más oscura la línea, más circuitos comparten esa conexión. En ámbar, las 5 playas con su capacidad. Es la fuente única: el tablero, los informes y la IA leen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recorrido de la soja sobre el modelo de nodos. De las 5,6 horas del ciclo, el camión pasa 4,1 esperando en dos playas: 2,1 horas en Playa 1, en Ricardone, y 2 horas en Playa OSL, en el puerto. El traslado entre plantas y la descarga suman menos de una hora. En 13 comités el ciclo osciló entre 4,6 y 7,2 horas y no bajó. No es un problema de capacidad, es de coordinación: nadie puede tener la planta entera en la cabeza. Sincronizar 33 nodos y 50 circuitos en tiempo real es un problema de ingeniería logística, y eso es lo que proponemos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mismo que mide la espera sirve para la seguridad. Después de 13 comités tenemos reglas que dicen qué movimiento es normal y cuál es sospechoso: un camión que va de Ricardone al puerto sin pasar por calada, una visita relámpago en el puerto, un circuito que no corresponde al producto que lleva. Hoy eso se aplica en el momento: la alerta llega a la torre con la patente, la foto y la regla que la disparó. Y con los agentes predictivos damos un paso más: avisar antes de que pase, cuando el camión empieza a apartarse de su circuito.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nodo es la unidad de todo. A la izquierda, lo que entra: hoy las cámaras frontal y trasera, que leen en conjunto la patente del tractor y la del acoplado; se suma la balanza con PLC y su fotocélula, que dan el peso y la posición, y después cualquier otro sensor que se agregue al nodo. Y del sistema de camiones de Vicentin entra lo que ninguna cámara ve: el producto, el CTG, la carta de porte y el contrato. En el centro, el Edge del nodo, en planta: confirma el paso con dos fuentes y valida que venga del nodo anterior y pueda seguir al siguiente según el modelo. Cuando el camión ingresa, le asigna un circuito: un código propio de ese recorrido. A partir de ahí, cada evento nuevo que coincide en la patente se une a ese mismo código, así el recorrido completo queda armado paso a paso. No pierde nada si se corta la red y pone la hora real del lugar. A la derecha, lo que sale: un solo evento confirmado por paso, con patente, acoplado, nodo, hora, el código de circuito, peso, posición, producto, CTG y carta de porte, que va a TruckFlow. En el horizonte, el mismo nodo actúa: barrera, semáforo y llamado de camiones. Y escala solo: sumar un sensor es sumar una entrada; sumar un punto, un nodo al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agentes, el puente. Un agente de IA es tan bueno como los datos y el modelo que lo alimentan, y eso es justamente lo que ya construimos. Primero, datos confiables: el nodo que acabamos de ver emite un evento confirmado por paso. Segundo, la planta en un modelo: 33 nodos, 50 circuitos y las reglas que fuimos afinando en 13 comités, todo versionado. Tercero, una puerta para la IA: un MCP, que son las herramientas con las que un agente consulta la planta y propone; ya tenemos un prototipo funcionando. Y cuarto, recién ahí, los agentes, capa por capa: primero miden, después anticipan, cuentan y corrigen. Hoy una persona mira el tablero y decide; con agentes, la planta entera se mira todo el tiempo y la propuesta llega antes de que se arme la cola.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capas de agentes, cada una con una técnica distinta. La capa 1, los deterministas, es lo que ya corre: reglas versionadas sobre el modelo de nodos, una máquina de estados por camión que cruza los eventos de cámara con los movimientos del sistema de camiones y devuelve el circuito, los tiempos por tramo y las anomalías. Es auditable: cada resultado dice con qué versión de reglas salió. La capa 2, los predictivos, arranca con simulación de colas sobre el mismo modelo, usando la capacidad de cada playa, y estima la espera por playa a horas vista; después se suman modelos aprendidos sobre la historia. La capa 3, los comunicadores, son modelos de lenguaje conectados por MCP: redactan alertas, el parte de turno y el comité, pero solo con cifras que salen de las tools, nunca inventadas; el informe diario y el comité ya funcionan así. La capa 4, los correctivos, son políticas de control con límites: cupo por playa, llamado de camiones, asignación de calle; su salida es un comando a TruckFlow. Todas leen el mismo modelo y publican al orquestador.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orquestador es el único lugar donde se decide. Está suscripto a los eventos de TruckFlow y mantiene el estado de la planta contra el modelo de nodos. Es bidireccional, pero no con todas las capas igual: a los predictivos les pide escenarios, por ejemplo qué pasa si se rompe la noria 2, y espera la respuesta; a los correctivos les manda la orden y espera la confirmación. Los deterministas solo publican y los comunicadores solo reciben lo decidido. Si dos agentes proponen cosas opuestas, arbitra con las prioridades de la planta, y registra quién propuso, quién aprobó y qué se ejecutó. Esto se vincula con lo que BIMtrazer ya hace en mantenimiento con MCPs: esos MCPs se conectan al mismo orquestador y de ahí salen agentes nuevos. Y la autonomía se gana: primero propone y una persona aprueba, después actúa solo dentro de límites, y al final actúa y avisa.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más claro es el transile, porque la planta paga cada viaje. En el operativo de pellet de la semana del 24 al 30 de septiembre trabajaron 62 camiones que hicieron 307 viajes, 2,1 viajes por camión y por día, con un ciclo de 4,7 horas, de las cuales 2,7 son Playa OSL y descarga en el puerto. Si bajamos esa espera a 1,7 horas, que es lo que ya se vio en los días con dos volcables y pocos camiones, el ciclo pasa a 3,6 horas y alcanzan 40 camiones para mover las mismas 9.210 toneladas en las mismas horas: cada uno hace 3,3 viajes por día. Con eso podemos bajarle la tarifa por viaje al transportista un 15 o un 20 % y el camionero igual gana más: un 34 o un 26 % más por día, porque da más vueltas. Recién con una baja del 36 % quedaría igual que hoy. Para la planta es un flete 15 a 20 % más barato, el equivalente a no pagar 46 a 61 viajes por operativo, y 22 camiones menos en las playas. Con el flete interplanta a 6.000 pesos la tonelada, el operativo de 9.210 toneladas cuesta 55,3 millones: la baja del 15 al 20 % son entre 8,3 y 11,1 millones de ahorro por operativo. Lo mismo pasa en la soja de silos, R29: de 5 horas de ciclo, 2,2 son espera para cargar en el silo. Fueron 516 viajes en la semana; a 30 toneladas por viaje son 92,9 millones de flete, y la misma baja suma entre 13,9 y 18,6 millones por semana. Son escenarios sobre datos medidos en el comité, no promesas.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Automatizar también libera gente. Según el modelo de nodos, entre las dos plantas hay 10 puestos de registro: en Ricardone el ingreso, el preingreso, las dos balanzas y las dos salidas; en San Lorenzo el ingreso, las dos balanzas y el egreso. No sabemos cuánta gente está afectada hoy, así que lo planteamos al revés: si hoy hay una persona por puesto y por turno, son 10 por turno y 30 en tres turnos. Como ya cruzamos cámaras, balanza y sistema de camiones, el registro se puede hacer desde una sala remota, y un mismo operador puede atender dos o tres garitas. Con eso alcanzan 4 o 5 operadores por turno, 12 a 15 en tres turnos, y quedan 15 a 18 puestos por día para reubicar en otras tareas. Y así entra al sistema de camiones: el nodo lee la patente, el acoplado, el peso y la hora; lo cruza con el CTG, el contrato y el cupo; precarga el registro en el sistema de camiones, y el operador solo confirma. Solo se tipean las excepciones.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tiene dos capas y dos dueños. Abajo, la plataforma TruckFlow, que desarrolla y opera Enesimal: la lectura de patentes, el Edge de cada nodo, los microservicios de eventos, la integración con los PLC de barreras y semáforos, y las balanzas con fotocélulas. Arriba, la capa de inteligencia de BIMtrazer: el modelo de nodos, las reglas y el ETL versionados, el estado en vivo, las cuatro capas de agentes, el orquestador y un MCP con usuario y rol. Entre las dos hay solo dos interfaces: la API de eventos, que sube cada paso confirmado en tiempo real, y la API de comandos, que baja las órdenes a barreras, semáforos y llamados, siempre con aprobación. El sistema de camiones de Vicentin entra a la capa de inteligencia: lo complementamos. Y todo se consume desde el tablero, la torre, los informes, los comités y la IA de Vicentin.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fases, cada una con valor propio. BIMtrazer lleva la base en la nube, la integración con el sistema de camiones y las capas de agentes con el orquestador. Después Enesimal abre la plataforma TruckFlow con dos interfaces: la API de eventos y la API de comandos hacia los PLC. El horizonte son los correctivos: decide el orquestador y ejecuta TruckFlow. Plazos y presupuesto quedan a estimar; como referencia, Enesimal cotiza su parte a USD 24 la hora. Es barato porque la infraestructura ya está, no hay obra, no se reemplaza el sistema de camiones y lo que ya tenemos no se paga dos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de hoy es si llevamos esto a Vicentin. El orden es: primero que nos den acceso al sistema de camiones y a las balanzas, después la demo en vivo con datos del día, tercero la base y las capas de agentes, y cuarto la gobernanza sobre esos agentes: quién puede qué según su rol, qué acciones necesitan aprobación, los límites dentro de los que un agente puede actuar solo y el registro auditable de cada decisión.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EF2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26220"/>
            <a:ext cx="10566400" cy="4218980"/>
          </a:xfrm>
          <a:prstGeom prst="rect">
            <a:avLst/>
          </a:prstGeom>
          <a:noFill/>
          <a:ln/>
        </p:spPr>
        <p:txBody>
          <a:bodyPr wrap="square" lIns="0" tIns="0" rIns="0" bIns="0" rtlCol="0" anchor="t"/>
          <a:lstStyle>
            <a:lvl1pPr algn="l" indent="0" marL="0">
              <a:lnSpc>
                <a:spcPct val="140000"/>
              </a:lnSpc>
              <a:buNone/>
              <a:defRPr lang="en-US" sz="1600" dirty="0">
                <a:solidFill>
                  <a:srgbClr val="13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2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26220"/>
            <a:ext cx="10566400" cy="4218980"/>
          </a:xfrm>
          <a:prstGeom prst="rect">
            <a:avLst/>
          </a:prstGeom>
          <a:noFill/>
          <a:ln/>
        </p:spPr>
        <p:txBody>
          <a:bodyPr wrap="square" lIns="0" tIns="0" rIns="0" bIns="0" rtlCol="0" anchor="t"/>
          <a:lstStyle>
            <a:lvl1pPr algn="l" indent="0" marL="0">
              <a:lnSpc>
                <a:spcPct val="140000"/>
              </a:lnSpc>
              <a:buNone/>
              <a:defRPr lang="en-US" sz="1600" dirty="0">
                <a:solidFill>
                  <a:srgbClr val="13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slideLayout" Target="../slideLayouts/slideLayout2.xml"/><Relationship Id="rId1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2.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pic>
        <p:nvPicPr>
          <p:cNvPr id="2" name="Image 0" descr="Vista aérea de la planta Ricardone">    </p:cNvPr>
          <p:cNvPicPr>
            <a:picLocks noChangeAspect="1"/>
          </p:cNvPicPr>
          <p:nvPr/>
        </p:nvPicPr>
        <p:blipFill>
          <a:blip r:embed="rId1"/>
          <a:srcRect l="13022" r="13022" t="0" b="0"/>
          <a:stretch/>
        </p:blipFill>
        <p:spPr>
          <a:xfrm>
            <a:off x="6096000" y="0"/>
            <a:ext cx="6096000" cy="6858000"/>
          </a:xfrm>
          <a:prstGeom prst="rect">
            <a:avLst/>
          </a:prstGeom>
        </p:spPr>
      </p:pic>
      <p:sp>
        <p:nvSpPr>
          <p:cNvPr id="3" name="Shape 0"/>
          <p:cNvSpPr/>
          <p:nvPr/>
        </p:nvSpPr>
        <p:spPr>
          <a:xfrm>
            <a:off x="6096000" y="0"/>
            <a:ext cx="3048000" cy="6858000"/>
          </a:xfrm>
          <a:prstGeom prst="rect">
            <a:avLst/>
          </a:prstGeom>
          <a:gradFill rotWithShape="1">
            <a:gsLst>
              <a:gs pos="0">
                <a:srgbClr val="0E1A2B"/>
              </a:gs>
              <a:gs pos="100000">
                <a:srgbClr val="0E1A2B">
                  <a:alpha val="0"/>
                </a:srgbClr>
              </a:gs>
            </a:gsLst>
            <a:lin ang="0" scaled="0"/>
          </a:gradFill>
          <a:ln/>
        </p:spPr>
      </p:sp>
      <p:pic>
        <p:nvPicPr>
          <p:cNvPr id="4" name="Image 1" descr="BIMtrazer">    </p:cNvPr>
          <p:cNvPicPr>
            <a:picLocks noChangeAspect="1"/>
          </p:cNvPicPr>
          <p:nvPr/>
        </p:nvPicPr>
        <p:blipFill>
          <a:blip r:embed="rId2"/>
          <a:srcRect l="0" r="0" t="-63" b="-63"/>
          <a:stretch/>
        </p:blipFill>
        <p:spPr>
          <a:xfrm>
            <a:off x="812800" y="812800"/>
            <a:ext cx="1079500" cy="508000"/>
          </a:xfrm>
          <a:prstGeom prst="rect">
            <a:avLst/>
          </a:prstGeom>
        </p:spPr>
      </p:pic>
      <p:sp>
        <p:nvSpPr>
          <p:cNvPr id="5" name="Shape 1"/>
          <p:cNvSpPr/>
          <p:nvPr/>
        </p:nvSpPr>
        <p:spPr>
          <a:xfrm>
            <a:off x="2146300" y="812800"/>
            <a:ext cx="12700" cy="508000"/>
          </a:xfrm>
          <a:prstGeom prst="rect">
            <a:avLst/>
          </a:prstGeom>
          <a:solidFill>
            <a:srgbClr val="3A4A60"/>
          </a:solidFill>
          <a:ln/>
        </p:spPr>
      </p:sp>
      <p:pic>
        <p:nvPicPr>
          <p:cNvPr id="6" name="Image 2" descr="Nueva Vicentin Argentina">    </p:cNvPr>
          <p:cNvPicPr>
            <a:picLocks noChangeAspect="1"/>
          </p:cNvPicPr>
          <p:nvPr/>
        </p:nvPicPr>
        <p:blipFill>
          <a:blip r:embed="rId3"/>
          <a:srcRect l="-167" r="-167" t="0" b="0"/>
          <a:stretch/>
        </p:blipFill>
        <p:spPr>
          <a:xfrm>
            <a:off x="2413000" y="812800"/>
            <a:ext cx="952500" cy="508000"/>
          </a:xfrm>
          <a:prstGeom prst="rect">
            <a:avLst/>
          </a:prstGeom>
        </p:spPr>
      </p:pic>
      <p:sp>
        <p:nvSpPr>
          <p:cNvPr id="7" name="Text 2"/>
          <p:cNvSpPr/>
          <p:nvPr/>
        </p:nvSpPr>
        <p:spPr>
          <a:xfrm>
            <a:off x="812800" y="2020292"/>
            <a:ext cx="5101590"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6CC1F2"/>
                </a:solidFill>
                <a:latin typeface="IBM Plex Sans" pitchFamily="34" charset="0"/>
                <a:ea typeface="IBM Plex Sans" pitchFamily="34" charset="-122"/>
                <a:cs typeface="IBM Plex Sans" pitchFamily="34" charset="-120"/>
              </a:rPr>
              <a:t>TRUCKFLOW · NODO SUR</a:t>
            </a:r>
            <a:endParaRPr lang="en-US" sz="1300" dirty="0"/>
          </a:p>
        </p:txBody>
      </p:sp>
      <p:sp>
        <p:nvSpPr>
          <p:cNvPr id="8" name="Text 3"/>
          <p:cNvSpPr/>
          <p:nvPr>
            <p:ph type="title"/>
          </p:nvPr>
        </p:nvSpPr>
        <p:spPr>
          <a:xfrm>
            <a:off x="812800" y="2429173"/>
            <a:ext cx="5101590" cy="1372592"/>
          </a:xfrm>
          <a:prstGeom prst="rect">
            <a:avLst/>
          </a:prstGeom>
          <a:noFill/>
          <a:ln/>
        </p:spPr>
        <p:txBody>
          <a:bodyPr wrap="square" lIns="0" tIns="0" rIns="0" bIns="0" rtlCol="0" anchor="t">
            <a:normAutofit/>
          </a:bodyPr>
          <a:lstStyle/>
          <a:p>
            <a:pPr algn="l" indent="0" marL="0">
              <a:lnSpc>
                <a:spcPts val="5304"/>
              </a:lnSpc>
              <a:buNone/>
            </a:pPr>
            <a:r>
              <a:rPr lang="en-US" sz="5200" b="1" i="0" dirty="0">
                <a:solidFill>
                  <a:srgbClr val="F4F6F3"/>
                </a:solidFill>
                <a:latin typeface="Space Grotesk" pitchFamily="34" charset="0"/>
                <a:ea typeface="Space Grotesk" pitchFamily="34" charset="-122"/>
                <a:cs typeface="Space Grotesk" pitchFamily="34" charset="-120"/>
              </a:rPr>
              <a:t>Evolucion de Truckflow </a:t>
            </a:r>
            <a:endParaRPr lang="en-US" sz="5200" dirty="0"/>
          </a:p>
        </p:txBody>
      </p:sp>
      <p:sp>
        <p:nvSpPr>
          <p:cNvPr id="9" name="Text 4"/>
          <p:cNvSpPr/>
          <p:nvPr/>
        </p:nvSpPr>
        <p:spPr>
          <a:xfrm>
            <a:off x="812800" y="3954165"/>
            <a:ext cx="5101590" cy="1203722"/>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8C4CE"/>
                </a:solidFill>
                <a:latin typeface="IBM Plex Sans" pitchFamily="34" charset="0"/>
                <a:ea typeface="IBM Plex Sans" pitchFamily="34" charset="-122"/>
                <a:cs typeface="IBM Plex Sans" pitchFamily="34" charset="-120"/>
              </a:rPr>
              <a:t>La base para automatizar la operación de camiones de Ricardone y San Lorenzo: nodos, eventos en tiempo real, un modelo único de la planta y agentes que miden, anticipan y corrigen.</a:t>
            </a:r>
            <a:endParaRPr lang="en-US" sz="1600" dirty="0"/>
          </a:p>
        </p:txBody>
      </p:sp>
      <p:sp>
        <p:nvSpPr>
          <p:cNvPr id="10" name="Text 5"/>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0"/>
                </a:solidFill>
                <a:latin typeface="IBM Plex Sans" pitchFamily="34" charset="0"/>
                <a:ea typeface="IBM Plex Sans" pitchFamily="34" charset="-122"/>
                <a:cs typeface="IBM Plex Sans" pitchFamily="34" charset="-120"/>
              </a:rPr>
              <a:t>Propuesta interna · BIMtrazer · Septiembre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FA8"/>
                </a:solidFill>
                <a:latin typeface="IBM Plex Sans" pitchFamily="34" charset="0"/>
                <a:ea typeface="IBM Plex Sans" pitchFamily="34" charset="-122"/>
                <a:cs typeface="IBM Plex Sans" pitchFamily="34" charset="-120"/>
              </a:rPr>
              <a:t>EN UNA LÁMINA</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Space Grotesk" pitchFamily="34" charset="0"/>
                <a:ea typeface="Space Grotesk" pitchFamily="34" charset="-122"/>
                <a:cs typeface="Space Grotesk" pitchFamily="34" charset="-120"/>
              </a:rPr>
              <a:t>Base, agentes y una planta que se corrige sola</a:t>
            </a:r>
            <a:endParaRPr lang="en-US" sz="3000" dirty="0"/>
          </a:p>
        </p:txBody>
      </p:sp>
      <p:sp>
        <p:nvSpPr>
          <p:cNvPr id="4" name="Shape 2"/>
          <p:cNvSpPr/>
          <p:nvPr/>
        </p:nvSpPr>
        <p:spPr>
          <a:xfrm>
            <a:off x="815975" y="1829395"/>
            <a:ext cx="3397250" cy="2710954"/>
          </a:xfrm>
          <a:prstGeom prst="roundRect">
            <a:avLst>
              <a:gd name="adj" fmla="val 3631"/>
            </a:avLst>
          </a:prstGeom>
          <a:solidFill>
            <a:srgbClr val="FCFDFB"/>
          </a:solidFill>
          <a:ln w="6350">
            <a:solidFill>
              <a:srgbClr val="D2DBE0"/>
            </a:solidFill>
            <a:prstDash val="solid"/>
          </a:ln>
        </p:spPr>
      </p:sp>
      <p:sp>
        <p:nvSpPr>
          <p:cNvPr id="5" name="Text 3"/>
          <p:cNvSpPr/>
          <p:nvPr/>
        </p:nvSpPr>
        <p:spPr>
          <a:xfrm>
            <a:off x="1047750" y="2061170"/>
            <a:ext cx="1596132" cy="289520"/>
          </a:xfrm>
          <a:custGeom>
            <a:avLst/>
            <a:gdLst/>
            <a:ahLst/>
            <a:cxnLst/>
            <a:rect l="l" t="t" r="r" b="b"/>
            <a:pathLst>
              <a:path w="1596132" h="289520">
                <a:moveTo>
                  <a:pt x="144760" y="0"/>
                </a:moveTo>
                <a:lnTo>
                  <a:pt x="1451372" y="0"/>
                </a:lnTo>
                <a:arcTo hR="144760" wR="144760" stAng="16200000" swAng="5400000"/>
                <a:lnTo>
                  <a:pt x="1596132"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DE1"/>
          </a:solidFill>
          <a:ln/>
        </p:spPr>
        <p:txBody>
          <a:bodyPr wrap="none" lIns="0" tIns="0" rIns="0" bIns="0" rtlCol="0" anchor="ctr">
            <a:normAutofit/>
          </a:bodyPr>
          <a:lstStyle/>
          <a:p>
            <a:pPr algn="ctr" indent="0" marL="0">
              <a:lnSpc>
                <a:spcPts val="1680"/>
              </a:lnSpc>
              <a:buNone/>
            </a:pPr>
            <a:r>
              <a:rPr lang="en-US" sz="1200" b="1" spc="50" kern="0" dirty="0">
                <a:solidFill>
                  <a:srgbClr val="0B5638"/>
                </a:solidFill>
                <a:latin typeface="IBM Plex Sans" pitchFamily="34" charset="0"/>
                <a:ea typeface="IBM Plex Sans" pitchFamily="34" charset="-122"/>
                <a:cs typeface="IBM Plex Sans" pitchFamily="34" charset="-120"/>
              </a:rPr>
              <a:t>AHORA · LA BASE</a:t>
            </a:r>
            <a:endParaRPr lang="en-US" sz="1200" dirty="0"/>
          </a:p>
        </p:txBody>
      </p:sp>
      <p:sp>
        <p:nvSpPr>
          <p:cNvPr id="6" name="Text 4"/>
          <p:cNvSpPr/>
          <p:nvPr/>
        </p:nvSpPr>
        <p:spPr>
          <a:xfrm>
            <a:off x="1047750" y="2477691"/>
            <a:ext cx="3021711"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Space Grotesk" pitchFamily="34" charset="0"/>
                <a:ea typeface="Space Grotesk" pitchFamily="34" charset="-122"/>
                <a:cs typeface="Space Grotesk" pitchFamily="34" charset="-120"/>
              </a:rPr>
              <a:t>Nodos, eventos y un modelo de la planta</a:t>
            </a:r>
            <a:endParaRPr lang="en-US" sz="1800" dirty="0"/>
          </a:p>
        </p:txBody>
      </p:sp>
      <p:sp>
        <p:nvSpPr>
          <p:cNvPr id="7" name="Text 5"/>
          <p:cNvSpPr/>
          <p:nvPr/>
        </p:nvSpPr>
        <p:spPr>
          <a:xfrm>
            <a:off x="1047750" y="3153172"/>
            <a:ext cx="3021711" cy="1180802"/>
          </a:xfrm>
          <a:prstGeom prst="rect">
            <a:avLst/>
          </a:prstGeom>
          <a:noFill/>
          <a:ln/>
        </p:spPr>
        <p:txBody>
          <a:bodyPr wrap="square" lIns="0" tIns="0" rIns="0" bIns="0" rtlCol="0" anchor="t">
            <a:normAutofit/>
          </a:bodyPr>
          <a:lstStyle/>
          <a:p>
            <a:pPr algn="l" marL="198120" indent="-168656">
              <a:lnSpc>
                <a:spcPts val="1820"/>
              </a:lnSpc>
              <a:buSzPct val="100000"/>
              <a:buChar char="•"/>
            </a:pPr>
            <a:r>
              <a:rPr lang="en-US" sz="1300" dirty="0">
                <a:solidFill>
                  <a:srgbClr val="4A5868"/>
                </a:solidFill>
                <a:latin typeface="IBM Plex Sans" pitchFamily="34" charset="0"/>
                <a:ea typeface="IBM Plex Sans" pitchFamily="34" charset="-122"/>
                <a:cs typeface="IBM Plex Sans" pitchFamily="34" charset="-120"/>
              </a:rPr>
              <a:t>Cada paso de cada camión, en segundos</a:t>
            </a:r>
            <a:endParaRPr lang="en-US" sz="1300" dirty="0"/>
          </a:p>
          <a:p>
            <a:pPr algn="l" marL="198120" indent="-168656">
              <a:lnSpc>
                <a:spcPts val="1820"/>
              </a:lnSpc>
              <a:buSzPct val="100000"/>
              <a:buChar char="•"/>
            </a:pPr>
            <a:r>
              <a:rPr lang="en-US" sz="1300" dirty="0">
                <a:solidFill>
                  <a:srgbClr val="4A5868"/>
                </a:solidFill>
                <a:latin typeface="IBM Plex Sans" pitchFamily="34" charset="0"/>
                <a:ea typeface="IBM Plex Sans" pitchFamily="34" charset="-122"/>
                <a:cs typeface="IBM Plex Sans" pitchFamily="34" charset="-120"/>
              </a:rPr>
              <a:t>Sistema de camiones integrado, sin tocarlo</a:t>
            </a:r>
            <a:endParaRPr lang="en-US" sz="1300" dirty="0"/>
          </a:p>
          <a:p>
            <a:pPr algn="l" marL="198120" indent="-168656">
              <a:lnSpc>
                <a:spcPts val="1820"/>
              </a:lnSpc>
              <a:buSzPct val="100000"/>
              <a:buChar char="•"/>
            </a:pPr>
            <a:r>
              <a:rPr lang="en-US" sz="1300" dirty="0">
                <a:solidFill>
                  <a:srgbClr val="4A5868"/>
                </a:solidFill>
                <a:latin typeface="IBM Plex Sans" pitchFamily="34" charset="0"/>
                <a:ea typeface="IBM Plex Sans" pitchFamily="34" charset="-122"/>
                <a:cs typeface="IBM Plex Sans" pitchFamily="34" charset="-120"/>
              </a:rPr>
              <a:t>Doble confirmación de cada paso</a:t>
            </a:r>
            <a:endParaRPr lang="en-US" sz="1300" dirty="0"/>
          </a:p>
        </p:txBody>
      </p:sp>
      <p:sp>
        <p:nvSpPr>
          <p:cNvPr id="8" name="Shape 6"/>
          <p:cNvSpPr/>
          <p:nvPr/>
        </p:nvSpPr>
        <p:spPr>
          <a:xfrm>
            <a:off x="4397375" y="1829395"/>
            <a:ext cx="3397250" cy="2710954"/>
          </a:xfrm>
          <a:prstGeom prst="roundRect">
            <a:avLst>
              <a:gd name="adj" fmla="val 3631"/>
            </a:avLst>
          </a:prstGeom>
          <a:solidFill>
            <a:srgbClr val="FCFDFB"/>
          </a:solidFill>
          <a:ln w="6350">
            <a:solidFill>
              <a:srgbClr val="D2DBE0"/>
            </a:solidFill>
            <a:prstDash val="solid"/>
          </a:ln>
        </p:spPr>
      </p:sp>
      <p:sp>
        <p:nvSpPr>
          <p:cNvPr id="9" name="Text 7"/>
          <p:cNvSpPr/>
          <p:nvPr/>
        </p:nvSpPr>
        <p:spPr>
          <a:xfrm>
            <a:off x="4629150" y="2061170"/>
            <a:ext cx="1805583" cy="289520"/>
          </a:xfrm>
          <a:custGeom>
            <a:avLst/>
            <a:gdLst/>
            <a:ahLst/>
            <a:cxnLst/>
            <a:rect l="l" t="t" r="r" b="b"/>
            <a:pathLst>
              <a:path w="1805583" h="289520">
                <a:moveTo>
                  <a:pt x="144760" y="0"/>
                </a:moveTo>
                <a:lnTo>
                  <a:pt x="1660823" y="0"/>
                </a:lnTo>
                <a:arcTo hR="144760" wR="144760" stAng="16200000" swAng="5400000"/>
                <a:lnTo>
                  <a:pt x="1805583"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EF8"/>
          </a:solidFill>
          <a:ln/>
        </p:spPr>
        <p:txBody>
          <a:bodyPr wrap="none" lIns="0" tIns="0" rIns="0" bIns="0" rtlCol="0" anchor="ctr">
            <a:normAutofit/>
          </a:bodyPr>
          <a:lstStyle/>
          <a:p>
            <a:pPr algn="ctr" indent="0" marL="0">
              <a:lnSpc>
                <a:spcPts val="1680"/>
              </a:lnSpc>
              <a:buNone/>
            </a:pPr>
            <a:r>
              <a:rPr lang="en-US" sz="1200" b="1" spc="50" kern="0" dirty="0">
                <a:solidFill>
                  <a:srgbClr val="0F6FA8"/>
                </a:solidFill>
                <a:latin typeface="IBM Plex Sans" pitchFamily="34" charset="0"/>
                <a:ea typeface="IBM Plex Sans" pitchFamily="34" charset="-122"/>
                <a:cs typeface="IBM Plex Sans" pitchFamily="34" charset="-120"/>
              </a:rPr>
              <a:t>SE SUMA · AGENTES</a:t>
            </a:r>
            <a:endParaRPr lang="en-US" sz="1200" dirty="0"/>
          </a:p>
        </p:txBody>
      </p:sp>
      <p:sp>
        <p:nvSpPr>
          <p:cNvPr id="10" name="Text 8"/>
          <p:cNvSpPr/>
          <p:nvPr/>
        </p:nvSpPr>
        <p:spPr>
          <a:xfrm>
            <a:off x="4629150" y="2477691"/>
            <a:ext cx="3021711"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Space Grotesk" pitchFamily="34" charset="0"/>
                <a:ea typeface="Space Grotesk" pitchFamily="34" charset="-122"/>
                <a:cs typeface="Space Grotesk" pitchFamily="34" charset="-120"/>
              </a:rPr>
              <a:t>Capas de agentes con un orquestador</a:t>
            </a:r>
            <a:endParaRPr lang="en-US" sz="1800" dirty="0"/>
          </a:p>
        </p:txBody>
      </p:sp>
      <p:sp>
        <p:nvSpPr>
          <p:cNvPr id="11" name="Text 9"/>
          <p:cNvSpPr/>
          <p:nvPr/>
        </p:nvSpPr>
        <p:spPr>
          <a:xfrm>
            <a:off x="4629150" y="3153172"/>
            <a:ext cx="3021711" cy="718641"/>
          </a:xfrm>
          <a:prstGeom prst="rect">
            <a:avLst/>
          </a:prstGeom>
          <a:noFill/>
          <a:ln/>
        </p:spPr>
        <p:txBody>
          <a:bodyPr wrap="square" lIns="0" tIns="0" rIns="0" bIns="0" rtlCol="0" anchor="t">
            <a:normAutofit/>
          </a:bodyPr>
          <a:lstStyle/>
          <a:p>
            <a:pPr algn="l" marL="198120" indent="-168656">
              <a:lnSpc>
                <a:spcPts val="1820"/>
              </a:lnSpc>
              <a:buSzPct val="100000"/>
              <a:buChar char="•"/>
            </a:pPr>
            <a:r>
              <a:rPr lang="en-US" sz="1300" dirty="0">
                <a:solidFill>
                  <a:srgbClr val="4A5868"/>
                </a:solidFill>
                <a:latin typeface="IBM Plex Sans" pitchFamily="34" charset="0"/>
                <a:ea typeface="IBM Plex Sans" pitchFamily="34" charset="-122"/>
                <a:cs typeface="IBM Plex Sans" pitchFamily="34" charset="-120"/>
              </a:rPr>
              <a:t>Deterministas: qué pasa</a:t>
            </a:r>
            <a:endParaRPr lang="en-US" sz="1300" dirty="0"/>
          </a:p>
          <a:p>
            <a:pPr algn="l" marL="198120" indent="-168656">
              <a:lnSpc>
                <a:spcPts val="1820"/>
              </a:lnSpc>
              <a:buSzPct val="100000"/>
              <a:buChar char="•"/>
            </a:pPr>
            <a:r>
              <a:rPr lang="en-US" sz="1300" dirty="0">
                <a:solidFill>
                  <a:srgbClr val="4A5868"/>
                </a:solidFill>
                <a:latin typeface="IBM Plex Sans" pitchFamily="34" charset="0"/>
                <a:ea typeface="IBM Plex Sans" pitchFamily="34" charset="-122"/>
                <a:cs typeface="IBM Plex Sans" pitchFamily="34" charset="-120"/>
              </a:rPr>
              <a:t>Predictivos: qué va a pasar</a:t>
            </a:r>
            <a:endParaRPr lang="en-US" sz="1300" dirty="0"/>
          </a:p>
          <a:p>
            <a:pPr algn="l" marL="198120" indent="-168656">
              <a:lnSpc>
                <a:spcPts val="1820"/>
              </a:lnSpc>
              <a:buSzPct val="100000"/>
              <a:buChar char="•"/>
            </a:pPr>
            <a:r>
              <a:rPr lang="en-US" sz="1300" dirty="0">
                <a:solidFill>
                  <a:srgbClr val="4A5868"/>
                </a:solidFill>
                <a:latin typeface="IBM Plex Sans" pitchFamily="34" charset="0"/>
                <a:ea typeface="IBM Plex Sans" pitchFamily="34" charset="-122"/>
                <a:cs typeface="IBM Plex Sans" pitchFamily="34" charset="-120"/>
              </a:rPr>
              <a:t>Comunicadores: lo cuentan</a:t>
            </a:r>
            <a:endParaRPr lang="en-US" sz="1300" dirty="0"/>
          </a:p>
        </p:txBody>
      </p:sp>
      <p:sp>
        <p:nvSpPr>
          <p:cNvPr id="12" name="Shape 10"/>
          <p:cNvSpPr/>
          <p:nvPr/>
        </p:nvSpPr>
        <p:spPr>
          <a:xfrm>
            <a:off x="7978775" y="1829395"/>
            <a:ext cx="3397250" cy="2710954"/>
          </a:xfrm>
          <a:prstGeom prst="roundRect">
            <a:avLst>
              <a:gd name="adj" fmla="val 3631"/>
            </a:avLst>
          </a:prstGeom>
          <a:solidFill>
            <a:srgbClr val="FCFDFB"/>
          </a:solidFill>
          <a:ln w="6350">
            <a:solidFill>
              <a:srgbClr val="D2DBE0"/>
            </a:solidFill>
            <a:prstDash val="solid"/>
          </a:ln>
        </p:spPr>
      </p:sp>
      <p:sp>
        <p:nvSpPr>
          <p:cNvPr id="13" name="Text 11"/>
          <p:cNvSpPr/>
          <p:nvPr/>
        </p:nvSpPr>
        <p:spPr>
          <a:xfrm>
            <a:off x="8210550" y="2061170"/>
            <a:ext cx="1163935" cy="289520"/>
          </a:xfrm>
          <a:custGeom>
            <a:avLst/>
            <a:gdLst/>
            <a:ahLst/>
            <a:cxnLst/>
            <a:rect l="l" t="t" r="r" b="b"/>
            <a:pathLst>
              <a:path w="1163935" h="289520">
                <a:moveTo>
                  <a:pt x="144760" y="0"/>
                </a:moveTo>
                <a:lnTo>
                  <a:pt x="1019175" y="0"/>
                </a:lnTo>
                <a:arcTo hR="144760" wR="144760" stAng="16200000" swAng="5400000"/>
                <a:lnTo>
                  <a:pt x="1163935" y="144760"/>
                </a:lnTo>
                <a:arcTo hR="144760" wR="144760" stAng="0" swAng="5400000"/>
                <a:lnTo>
                  <a:pt x="144760" y="289520"/>
                </a:lnTo>
                <a:arcTo hR="144760" wR="144760" stAng="5400000" swAng="5400000"/>
                <a:lnTo>
                  <a:pt x="0" y="144760"/>
                </a:lnTo>
                <a:arcTo hR="144760" wR="144760" stAng="10800000" swAng="5400000"/>
                <a:close/>
              </a:path>
            </a:pathLst>
          </a:custGeom>
          <a:solidFill>
            <a:srgbClr val="FBE9C8"/>
          </a:solidFill>
          <a:ln/>
        </p:spPr>
        <p:txBody>
          <a:bodyPr wrap="none" lIns="0" tIns="0" rIns="0" bIns="0" rtlCol="0" anchor="ctr">
            <a:normAutofit/>
          </a:bodyPr>
          <a:lstStyle/>
          <a:p>
            <a:pPr algn="ctr" indent="0" marL="0">
              <a:lnSpc>
                <a:spcPts val="1680"/>
              </a:lnSpc>
              <a:buNone/>
            </a:pPr>
            <a:r>
              <a:rPr lang="en-US" sz="1200" b="1" spc="50" kern="0" dirty="0">
                <a:solidFill>
                  <a:srgbClr val="8A5200"/>
                </a:solidFill>
                <a:latin typeface="IBM Plex Sans" pitchFamily="34" charset="0"/>
                <a:ea typeface="IBM Plex Sans" pitchFamily="34" charset="-122"/>
                <a:cs typeface="IBM Plex Sans" pitchFamily="34" charset="-120"/>
              </a:rPr>
              <a:t>HORIZONTE</a:t>
            </a:r>
            <a:endParaRPr lang="en-US" sz="1200" dirty="0"/>
          </a:p>
        </p:txBody>
      </p:sp>
      <p:sp>
        <p:nvSpPr>
          <p:cNvPr id="14" name="Text 12"/>
          <p:cNvSpPr/>
          <p:nvPr/>
        </p:nvSpPr>
        <p:spPr>
          <a:xfrm>
            <a:off x="8210550" y="2477691"/>
            <a:ext cx="302171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Space Grotesk" pitchFamily="34" charset="0"/>
                <a:ea typeface="Space Grotesk" pitchFamily="34" charset="-122"/>
                <a:cs typeface="Space Grotesk" pitchFamily="34" charset="-120"/>
              </a:rPr>
              <a:t>La planta se corrige sola</a:t>
            </a:r>
            <a:endParaRPr lang="en-US" sz="1800" dirty="0"/>
          </a:p>
        </p:txBody>
      </p:sp>
      <p:sp>
        <p:nvSpPr>
          <p:cNvPr id="15" name="Text 13"/>
          <p:cNvSpPr/>
          <p:nvPr/>
        </p:nvSpPr>
        <p:spPr>
          <a:xfrm>
            <a:off x="8210550" y="2878931"/>
            <a:ext cx="3021711" cy="718641"/>
          </a:xfrm>
          <a:prstGeom prst="rect">
            <a:avLst/>
          </a:prstGeom>
          <a:noFill/>
          <a:ln/>
        </p:spPr>
        <p:txBody>
          <a:bodyPr wrap="square" lIns="0" tIns="0" rIns="0" bIns="0" rtlCol="0" anchor="t">
            <a:normAutofit/>
          </a:bodyPr>
          <a:lstStyle/>
          <a:p>
            <a:pPr algn="l" marL="198120" indent="-168656">
              <a:lnSpc>
                <a:spcPts val="1820"/>
              </a:lnSpc>
              <a:buSzPct val="100000"/>
              <a:buChar char="•"/>
            </a:pPr>
            <a:r>
              <a:rPr lang="en-US" sz="1300" dirty="0">
                <a:solidFill>
                  <a:srgbClr val="4A5868"/>
                </a:solidFill>
                <a:latin typeface="IBM Plex Sans" pitchFamily="34" charset="0"/>
                <a:ea typeface="IBM Plex Sans" pitchFamily="34" charset="-122"/>
                <a:cs typeface="IBM Plex Sans" pitchFamily="34" charset="-120"/>
              </a:rPr>
              <a:t>Correctivos que actúan sobre el flujo</a:t>
            </a:r>
            <a:endParaRPr lang="en-US" sz="1300" dirty="0"/>
          </a:p>
          <a:p>
            <a:pPr algn="l" marL="198120" indent="-168656">
              <a:lnSpc>
                <a:spcPts val="1820"/>
              </a:lnSpc>
              <a:buSzPct val="100000"/>
              <a:buChar char="•"/>
            </a:pPr>
            <a:r>
              <a:rPr lang="en-US" sz="1300" dirty="0">
                <a:solidFill>
                  <a:srgbClr val="4A5868"/>
                </a:solidFill>
                <a:latin typeface="IBM Plex Sans" pitchFamily="34" charset="0"/>
                <a:ea typeface="IBM Plex Sans" pitchFamily="34" charset="-122"/>
                <a:cs typeface="IBM Plex Sans" pitchFamily="34" charset="-120"/>
              </a:rPr>
              <a:t>Llamado y destino automáticos</a:t>
            </a:r>
            <a:endParaRPr lang="en-US" sz="1300" dirty="0"/>
          </a:p>
          <a:p>
            <a:pPr algn="l" marL="198120" indent="-168656">
              <a:lnSpc>
                <a:spcPts val="1820"/>
              </a:lnSpc>
              <a:buSzPct val="100000"/>
              <a:buChar char="•"/>
            </a:pPr>
            <a:r>
              <a:rPr lang="en-US" sz="1300" dirty="0">
                <a:solidFill>
                  <a:srgbClr val="4A5868"/>
                </a:solidFill>
                <a:latin typeface="IBM Plex Sans" pitchFamily="34" charset="0"/>
                <a:ea typeface="IBM Plex Sans" pitchFamily="34" charset="-122"/>
                <a:cs typeface="IBM Plex Sans" pitchFamily="34" charset="-120"/>
              </a:rPr>
              <a:t>Flota de transiles planificada</a:t>
            </a:r>
            <a:endParaRPr lang="en-US" sz="1300" dirty="0"/>
          </a:p>
        </p:txBody>
      </p:sp>
      <p:sp>
        <p:nvSpPr>
          <p:cNvPr id="16" name="Text 1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Truckflow Vicentin · propuesta interna</a:t>
            </a:r>
            <a:endParaRPr lang="en-US" sz="1200" dirty="0"/>
          </a:p>
        </p:txBody>
      </p:sp>
      <p:sp>
        <p:nvSpPr>
          <p:cNvPr id="17" name="Text 15"/>
          <p:cNvSpPr/>
          <p:nvPr/>
        </p:nvSpPr>
        <p:spPr>
          <a:xfrm>
            <a:off x="10718800" y="623828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6835"/>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0B5638"/>
                </a:solidFill>
                <a:latin typeface="IBM Plex Sans" pitchFamily="34" charset="0"/>
                <a:ea typeface="IBM Plex Sans" pitchFamily="34" charset="-122"/>
                <a:cs typeface="IBM Plex Sans" pitchFamily="34" charset="-120"/>
              </a:rPr>
              <a:t>LO QUE YA HAY</a:t>
            </a:r>
            <a:endParaRPr lang="en-US" sz="1196" dirty="0"/>
          </a:p>
        </p:txBody>
      </p:sp>
      <p:sp>
        <p:nvSpPr>
          <p:cNvPr id="3" name="Text 1"/>
          <p:cNvSpPr/>
          <p:nvPr>
            <p:ph type="title"/>
          </p:nvPr>
        </p:nvSpPr>
        <p:spPr>
          <a:xfrm>
            <a:off x="812800" y="1100435"/>
            <a:ext cx="10883392" cy="440829"/>
          </a:xfrm>
          <a:prstGeom prst="rect">
            <a:avLst/>
          </a:prstGeom>
          <a:noFill/>
          <a:ln/>
        </p:spPr>
        <p:txBody>
          <a:bodyPr wrap="square" lIns="0" tIns="0" rIns="0" bIns="0" rtlCol="0" anchor="t">
            <a:normAutofit/>
          </a:bodyPr>
          <a:lstStyle/>
          <a:p>
            <a:pPr algn="l" indent="0" marL="0">
              <a:lnSpc>
                <a:spcPts val="3269"/>
              </a:lnSpc>
              <a:buNone/>
            </a:pPr>
            <a:r>
              <a:rPr lang="en-US" sz="2972" b="1" i="0" dirty="0">
                <a:solidFill>
                  <a:srgbClr val="13202E"/>
                </a:solidFill>
                <a:latin typeface="Space Grotesk" pitchFamily="34" charset="0"/>
                <a:ea typeface="Space Grotesk" pitchFamily="34" charset="-122"/>
                <a:cs typeface="Space Grotesk" pitchFamily="34" charset="-120"/>
              </a:rPr>
              <a:t>Instalado, funcionando y en vivo</a:t>
            </a:r>
            <a:endParaRPr lang="en-US" sz="2972" dirty="0"/>
          </a:p>
        </p:txBody>
      </p:sp>
      <p:sp>
        <p:nvSpPr>
          <p:cNvPr id="4" name="Shape 2"/>
          <p:cNvSpPr/>
          <p:nvPr/>
        </p:nvSpPr>
        <p:spPr>
          <a:xfrm>
            <a:off x="812800" y="1769864"/>
            <a:ext cx="6985000" cy="3930650"/>
          </a:xfrm>
          <a:prstGeom prst="roundRect">
            <a:avLst>
              <a:gd name="adj" fmla="val 2585"/>
            </a:avLst>
          </a:prstGeom>
          <a:solidFill>
            <a:srgbClr val="FCFDFB"/>
          </a:solidFill>
          <a:ln/>
        </p:spPr>
      </p:sp>
      <p:pic>
        <p:nvPicPr>
          <p:cNvPr id="5" name="Image 0" descr="Tablero en vivo de Ricardone con las playas sobre el plano">    </p:cNvPr>
          <p:cNvPicPr>
            <a:picLocks noChangeAspect="1"/>
          </p:cNvPicPr>
          <p:nvPr/>
        </p:nvPicPr>
        <p:blipFill>
          <a:blip r:embed="rId1"/>
          <a:stretch>
            <a:fillRect/>
          </a:stretch>
        </p:blipFill>
        <p:spPr>
          <a:xfrm>
            <a:off x="901700" y="1820664"/>
            <a:ext cx="6807200" cy="3829050"/>
          </a:xfrm>
          <a:custGeom>
            <a:avLst/>
            <a:gdLst/>
            <a:ahLst/>
            <a:cxnLst/>
            <a:rect l="l" t="t" r="r" b="b"/>
            <a:pathLst>
              <a:path w="6807200" h="3829050">
                <a:moveTo>
                  <a:pt x="0" y="1613"/>
                </a:moveTo>
                <a:arcTo wR="50800" hR="50800" stAng="15331349" swAng="868651"/>
                <a:lnTo>
                  <a:pt x="6794500" y="0"/>
                </a:lnTo>
                <a:arcTo wR="50800" hR="50800" stAng="16200000" swAng="868651"/>
                <a:lnTo>
                  <a:pt x="6807200" y="3827437"/>
                </a:lnTo>
                <a:arcTo wR="50800" hR="50800" stAng="4531349" swAng="868651"/>
                <a:lnTo>
                  <a:pt x="12700" y="3829050"/>
                </a:lnTo>
                <a:arcTo wR="50800" hR="50800" stAng="5400000" swAng="868651"/>
                <a:close/>
              </a:path>
            </a:pathLst>
          </a:custGeom>
        </p:spPr>
      </p:pic>
      <p:sp>
        <p:nvSpPr>
          <p:cNvPr id="6" name="Shape 3"/>
          <p:cNvSpPr/>
          <p:nvPr/>
        </p:nvSpPr>
        <p:spPr>
          <a:xfrm>
            <a:off x="838200" y="1795264"/>
            <a:ext cx="6934200" cy="3879850"/>
          </a:xfrm>
          <a:prstGeom prst="roundRect">
            <a:avLst>
              <a:gd name="adj" fmla="val 1964"/>
            </a:avLst>
          </a:prstGeom>
          <a:noFill/>
          <a:ln w="50800">
            <a:solidFill>
              <a:srgbClr val="0E1A2B"/>
            </a:solidFill>
            <a:prstDash val="solid"/>
          </a:ln>
        </p:spPr>
      </p:sp>
      <p:sp>
        <p:nvSpPr>
          <p:cNvPr id="7" name="Text 4"/>
          <p:cNvSpPr/>
          <p:nvPr/>
        </p:nvSpPr>
        <p:spPr>
          <a:xfrm>
            <a:off x="8153400" y="1769864"/>
            <a:ext cx="3322574"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3202E"/>
                </a:solidFill>
                <a:latin typeface="Space Grotesk" pitchFamily="34" charset="0"/>
                <a:ea typeface="Space Grotesk" pitchFamily="34" charset="-122"/>
                <a:cs typeface="Space Grotesk" pitchFamily="34" charset="-120"/>
              </a:rPr>
              <a:t>60 cámaras</a:t>
            </a:r>
            <a:endParaRPr lang="en-US" sz="2600" dirty="0"/>
          </a:p>
        </p:txBody>
      </p:sp>
      <p:sp>
        <p:nvSpPr>
          <p:cNvPr id="8" name="Text 5"/>
          <p:cNvSpPr/>
          <p:nvPr/>
        </p:nvSpPr>
        <p:spPr>
          <a:xfrm>
            <a:off x="8153400" y="2257524"/>
            <a:ext cx="332257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con IA en las dos plantas, Edge en planta y TruckFlow en la nube; probado de punta a punta el 15/09</a:t>
            </a:r>
            <a:endParaRPr lang="en-US" sz="1200" dirty="0"/>
          </a:p>
        </p:txBody>
      </p:sp>
      <p:sp>
        <p:nvSpPr>
          <p:cNvPr id="9" name="Text 6"/>
          <p:cNvSpPr/>
          <p:nvPr/>
        </p:nvSpPr>
        <p:spPr>
          <a:xfrm>
            <a:off x="8153400" y="3049885"/>
            <a:ext cx="3322574"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3202E"/>
                </a:solidFill>
                <a:latin typeface="Space Grotesk" pitchFamily="34" charset="0"/>
                <a:ea typeface="Space Grotesk" pitchFamily="34" charset="-122"/>
                <a:cs typeface="Space Grotesk" pitchFamily="34" charset="-120"/>
              </a:rPr>
              <a:t>13 comités</a:t>
            </a:r>
            <a:endParaRPr lang="en-US" sz="2600" dirty="0"/>
          </a:p>
        </p:txBody>
      </p:sp>
      <p:sp>
        <p:nvSpPr>
          <p:cNvPr id="10" name="Text 7"/>
          <p:cNvSpPr/>
          <p:nvPr/>
        </p:nvSpPr>
        <p:spPr>
          <a:xfrm>
            <a:off x="8153400" y="3537545"/>
            <a:ext cx="33225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semanales entregados desde el 10/06</a:t>
            </a:r>
            <a:endParaRPr lang="en-US" sz="1200" dirty="0"/>
          </a:p>
        </p:txBody>
      </p:sp>
      <p:sp>
        <p:nvSpPr>
          <p:cNvPr id="11" name="Text 8"/>
          <p:cNvSpPr/>
          <p:nvPr/>
        </p:nvSpPr>
        <p:spPr>
          <a:xfrm>
            <a:off x="8153400" y="3903266"/>
            <a:ext cx="3322574"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3202E"/>
                </a:solidFill>
                <a:latin typeface="Space Grotesk" pitchFamily="34" charset="0"/>
                <a:ea typeface="Space Grotesk" pitchFamily="34" charset="-122"/>
                <a:cs typeface="Space Grotesk" pitchFamily="34" charset="-120"/>
              </a:rPr>
              <a:t>40 → 95 %</a:t>
            </a:r>
            <a:endParaRPr lang="en-US" sz="2600" dirty="0"/>
          </a:p>
        </p:txBody>
      </p:sp>
      <p:sp>
        <p:nvSpPr>
          <p:cNvPr id="12" name="Text 9"/>
          <p:cNvSpPr/>
          <p:nvPr/>
        </p:nvSpPr>
        <p:spPr>
          <a:xfrm>
            <a:off x="8153400" y="4390926"/>
            <a:ext cx="33225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del volumen con trazabilidad por cámara</a:t>
            </a:r>
            <a:endParaRPr lang="en-US" sz="1200" dirty="0"/>
          </a:p>
        </p:txBody>
      </p:sp>
      <p:sp>
        <p:nvSpPr>
          <p:cNvPr id="13" name="Shape 10"/>
          <p:cNvSpPr/>
          <p:nvPr/>
        </p:nvSpPr>
        <p:spPr>
          <a:xfrm>
            <a:off x="8153400" y="4756646"/>
            <a:ext cx="3225800" cy="1117501"/>
          </a:xfrm>
          <a:prstGeom prst="roundRect">
            <a:avLst>
              <a:gd name="adj" fmla="val 7955"/>
            </a:avLst>
          </a:prstGeom>
          <a:solidFill>
            <a:srgbClr val="DCEDE1"/>
          </a:solidFill>
          <a:ln/>
        </p:spPr>
      </p:sp>
      <p:sp>
        <p:nvSpPr>
          <p:cNvPr id="14" name="Text 11"/>
          <p:cNvSpPr/>
          <p:nvPr/>
        </p:nvSpPr>
        <p:spPr>
          <a:xfrm>
            <a:off x="8280400" y="4858246"/>
            <a:ext cx="3060954"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0B5638"/>
                </a:solidFill>
                <a:latin typeface="Space Grotesk" pitchFamily="34" charset="0"/>
                <a:ea typeface="Space Grotesk" pitchFamily="34" charset="-122"/>
                <a:cs typeface="Space Grotesk" pitchFamily="34" charset="-120"/>
              </a:rPr>
              <a:t>Semana → ahora</a:t>
            </a:r>
            <a:endParaRPr lang="en-US" sz="2600" dirty="0"/>
          </a:p>
        </p:txBody>
      </p:sp>
      <p:sp>
        <p:nvSpPr>
          <p:cNvPr id="15" name="Text 12"/>
          <p:cNvSpPr/>
          <p:nvPr/>
        </p:nvSpPr>
        <p:spPr>
          <a:xfrm>
            <a:off x="8280400" y="5345906"/>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el paso del análisis semanal en comité al análisis en vivo, playa por playa</a:t>
            </a:r>
            <a:endParaRPr lang="en-US" sz="1200" dirty="0"/>
          </a:p>
        </p:txBody>
      </p:sp>
      <p:sp>
        <p:nvSpPr>
          <p:cNvPr id="16" name="Text 13"/>
          <p:cNvSpPr/>
          <p:nvPr/>
        </p:nvSpPr>
        <p:spPr>
          <a:xfrm>
            <a:off x="10718800" y="623828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DFB"/>
        </a:solidFill>
      </p:bgPr>
    </p:bg>
    <p:spTree>
      <p:nvGrpSpPr>
        <p:cNvPr id="1" name=""/>
        <p:cNvGrpSpPr/>
        <p:nvPr/>
      </p:nvGrpSpPr>
      <p:grpSpPr>
        <a:xfrm>
          <a:off x="0" y="0"/>
          <a:ext cx="0" cy="0"/>
          <a:chOff x="0" y="0"/>
          <a:chExt cx="0" cy="0"/>
        </a:xfrm>
      </p:grpSpPr>
      <p:sp>
        <p:nvSpPr>
          <p:cNvPr id="2" name="Text 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Fuente: modelo de nodos del Nodo Sur · cada línea es un circuito; más oscura, más circuitos comparten la conexión</a:t>
            </a:r>
            <a:endParaRPr lang="en-US" sz="1200" dirty="0"/>
          </a:p>
        </p:txBody>
      </p:sp>
      <p:sp>
        <p:nvSpPr>
          <p:cNvPr id="3" name="Text 1"/>
          <p:cNvSpPr/>
          <p:nvPr/>
        </p:nvSpPr>
        <p:spPr>
          <a:xfrm>
            <a:off x="10718800" y="623828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04</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5638"/>
                </a:solidFill>
                <a:latin typeface="IBM Plex Sans" pitchFamily="34" charset="0"/>
                <a:ea typeface="IBM Plex Sans" pitchFamily="34" charset="-122"/>
                <a:cs typeface="IBM Plex Sans" pitchFamily="34" charset="-120"/>
              </a:rPr>
              <a:t>EL MODELO DE NODOS · 33 NODOS · 50 CIRCUITOS · 5 PLAYAS</a:t>
            </a:r>
            <a:endParaRPr lang="en-US" sz="1200" dirty="0"/>
          </a:p>
        </p:txBody>
      </p:sp>
      <p:sp>
        <p:nvSpPr>
          <p:cNvPr id="5" name="Text 3"/>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Space Grotesk" pitchFamily="34" charset="0"/>
                <a:ea typeface="Space Grotesk" pitchFamily="34" charset="-122"/>
                <a:cs typeface="Space Grotesk" pitchFamily="34" charset="-120"/>
              </a:rPr>
              <a:t>Una sola versión de las 2 plantas</a:t>
            </a:r>
            <a:endParaRPr lang="en-US" sz="3000" dirty="0"/>
          </a:p>
        </p:txBody>
      </p:sp>
      <p:pic>
        <p:nvPicPr>
          <p:cNvPr id="6" name="Image 0" descr="Red del Nodo Sur: 33 nodos de Ricardone y San Lorenzo, 50 circuitos y 5 playas con su capacidad">    </p:cNvPr>
          <p:cNvPicPr>
            <a:picLocks noChangeAspect="1"/>
          </p:cNvPicPr>
          <p:nvPr/>
        </p:nvPicPr>
        <p:blipFill>
          <a:blip r:embed="rId1"/>
          <a:srcRect l="0" r="0" t="-24" b="-24"/>
          <a:stretch/>
        </p:blipFill>
        <p:spPr>
          <a:xfrm>
            <a:off x="1635125" y="1689100"/>
            <a:ext cx="8921750" cy="3816350"/>
          </a:xfrm>
          <a:prstGeom prst="rect">
            <a:avLst/>
          </a:prstGeom>
        </p:spPr>
      </p:pic>
      <p:pic>
        <p:nvPicPr>
          <p:cNvPr id="7" name="Image 1" descr="nodo con cámara">    </p:cNvPr>
          <p:cNvPicPr>
            <a:picLocks noChangeAspect="1"/>
          </p:cNvPicPr>
          <p:nvPr/>
        </p:nvPicPr>
        <p:blipFill>
          <a:blip r:embed="rId2"/>
          <a:srcRect l="0" r="0" t="0" b="0"/>
          <a:stretch/>
        </p:blipFill>
        <p:spPr>
          <a:xfrm>
            <a:off x="812800" y="5651500"/>
            <a:ext cx="177800" cy="177800"/>
          </a:xfrm>
          <a:prstGeom prst="rect">
            <a:avLst/>
          </a:prstGeom>
        </p:spPr>
      </p:pic>
      <p:sp>
        <p:nvSpPr>
          <p:cNvPr id="8" name="Text 4"/>
          <p:cNvSpPr/>
          <p:nvPr/>
        </p:nvSpPr>
        <p:spPr>
          <a:xfrm>
            <a:off x="1066800" y="5633740"/>
            <a:ext cx="951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con cámara</a:t>
            </a:r>
            <a:endParaRPr lang="en-US" sz="1200" dirty="0"/>
          </a:p>
        </p:txBody>
      </p:sp>
      <p:pic>
        <p:nvPicPr>
          <p:cNvPr id="9" name="Image 2" descr="nodo sin cámara">    </p:cNvPr>
          <p:cNvPicPr>
            <a:picLocks noChangeAspect="1"/>
          </p:cNvPicPr>
          <p:nvPr/>
        </p:nvPicPr>
        <p:blipFill>
          <a:blip r:embed="rId3"/>
          <a:srcRect l="0" r="0" t="0" b="0"/>
          <a:stretch/>
        </p:blipFill>
        <p:spPr>
          <a:xfrm>
            <a:off x="2164457" y="5651500"/>
            <a:ext cx="177800" cy="177800"/>
          </a:xfrm>
          <a:prstGeom prst="rect">
            <a:avLst/>
          </a:prstGeom>
        </p:spPr>
      </p:pic>
      <p:sp>
        <p:nvSpPr>
          <p:cNvPr id="10" name="Text 5"/>
          <p:cNvSpPr/>
          <p:nvPr/>
        </p:nvSpPr>
        <p:spPr>
          <a:xfrm>
            <a:off x="2418457" y="5633740"/>
            <a:ext cx="8928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sin cámara</a:t>
            </a:r>
            <a:endParaRPr lang="en-US" sz="1200" dirty="0"/>
          </a:p>
        </p:txBody>
      </p:sp>
      <p:pic>
        <p:nvPicPr>
          <p:cNvPr id="11" name="Image 3" descr="playa">    </p:cNvPr>
          <p:cNvPicPr>
            <a:picLocks noChangeAspect="1"/>
          </p:cNvPicPr>
          <p:nvPr/>
        </p:nvPicPr>
        <p:blipFill>
          <a:blip r:embed="rId4"/>
          <a:srcRect l="0" r="0" t="0" b="0"/>
          <a:stretch/>
        </p:blipFill>
        <p:spPr>
          <a:xfrm>
            <a:off x="3467298" y="5651500"/>
            <a:ext cx="177800" cy="177800"/>
          </a:xfrm>
          <a:prstGeom prst="rect">
            <a:avLst/>
          </a:prstGeom>
        </p:spPr>
      </p:pic>
      <p:sp>
        <p:nvSpPr>
          <p:cNvPr id="12" name="Text 6"/>
          <p:cNvSpPr/>
          <p:nvPr/>
        </p:nvSpPr>
        <p:spPr>
          <a:xfrm>
            <a:off x="3721298" y="5633740"/>
            <a:ext cx="30233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playa: área de espera, con su capacidad</a:t>
            </a:r>
            <a:endParaRPr lang="en-US" sz="1200" dirty="0"/>
          </a:p>
        </p:txBody>
      </p:sp>
      <p:pic>
        <p:nvPicPr>
          <p:cNvPr id="13" name="Image 4" descr="desvío">    </p:cNvPr>
          <p:cNvPicPr>
            <a:picLocks noChangeAspect="1"/>
          </p:cNvPicPr>
          <p:nvPr/>
        </p:nvPicPr>
        <p:blipFill>
          <a:blip r:embed="rId5"/>
          <a:srcRect l="0" r="0" t="0" b="0"/>
          <a:stretch/>
        </p:blipFill>
        <p:spPr>
          <a:xfrm>
            <a:off x="6744692" y="5651500"/>
            <a:ext cx="304800" cy="177800"/>
          </a:xfrm>
          <a:prstGeom prst="rect">
            <a:avLst/>
          </a:prstGeom>
        </p:spPr>
      </p:pic>
      <p:sp>
        <p:nvSpPr>
          <p:cNvPr id="14" name="Text 7"/>
          <p:cNvSpPr/>
          <p:nvPr/>
        </p:nvSpPr>
        <p:spPr>
          <a:xfrm>
            <a:off x="7125692" y="5633740"/>
            <a:ext cx="26935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desvío: solo el camión demorado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D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200"/>
                </a:solidFill>
                <a:latin typeface="IBM Plex Sans" pitchFamily="34" charset="0"/>
                <a:ea typeface="IBM Plex Sans" pitchFamily="34" charset="-122"/>
                <a:cs typeface="IBM Plex Sans" pitchFamily="34" charset="-120"/>
              </a:rPr>
              <a:t>EL DATO · CIRCUITO R7, SOJA</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Space Grotesk" pitchFamily="34" charset="0"/>
                <a:ea typeface="Space Grotesk" pitchFamily="34" charset="-122"/>
                <a:cs typeface="Space Grotesk" pitchFamily="34" charset="-120"/>
              </a:rPr>
              <a:t>El 73 % del ciclo es espera en las playas</a:t>
            </a:r>
            <a:endParaRPr lang="en-US" sz="3000" dirty="0"/>
          </a:p>
        </p:txBody>
      </p:sp>
      <p:sp>
        <p:nvSpPr>
          <p:cNvPr id="4" name="Text 2"/>
          <p:cNvSpPr/>
          <p:nvPr/>
        </p:nvSpPr>
        <p:spPr>
          <a:xfrm>
            <a:off x="812800" y="1943795"/>
            <a:ext cx="3401060" cy="723900"/>
          </a:xfrm>
          <a:prstGeom prst="rect">
            <a:avLst/>
          </a:prstGeom>
          <a:noFill/>
          <a:ln/>
        </p:spPr>
        <p:txBody>
          <a:bodyPr wrap="square" lIns="0" tIns="0" rIns="0" bIns="0" rtlCol="0" anchor="t">
            <a:normAutofit/>
          </a:bodyPr>
          <a:lstStyle/>
          <a:p>
            <a:pPr algn="l" indent="0" marL="0">
              <a:lnSpc>
                <a:spcPts val="5500"/>
              </a:lnSpc>
              <a:buNone/>
            </a:pPr>
            <a:r>
              <a:rPr lang="en-US" sz="5500" b="1" dirty="0">
                <a:solidFill>
                  <a:srgbClr val="8A5200"/>
                </a:solidFill>
                <a:latin typeface="Space Grotesk" pitchFamily="34" charset="0"/>
                <a:ea typeface="Space Grotesk" pitchFamily="34" charset="-122"/>
                <a:cs typeface="Space Grotesk" pitchFamily="34" charset="-120"/>
              </a:rPr>
              <a:t>4,1 h</a:t>
            </a:r>
            <a:endParaRPr lang="en-US" sz="5500" dirty="0"/>
          </a:p>
        </p:txBody>
      </p:sp>
      <p:sp>
        <p:nvSpPr>
          <p:cNvPr id="5" name="Text 3"/>
          <p:cNvSpPr/>
          <p:nvPr/>
        </p:nvSpPr>
        <p:spPr>
          <a:xfrm>
            <a:off x="812800" y="2680395"/>
            <a:ext cx="340106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868"/>
                </a:solidFill>
                <a:latin typeface="IBM Plex Sans" pitchFamily="34" charset="0"/>
                <a:ea typeface="IBM Plex Sans" pitchFamily="34" charset="-122"/>
                <a:cs typeface="IBM Plex Sans" pitchFamily="34" charset="-120"/>
              </a:rPr>
              <a:t>de las 5,6 h del ciclo del camión de soja son espera en dos playas</a:t>
            </a:r>
            <a:endParaRPr lang="en-US" sz="1400" dirty="0"/>
          </a:p>
        </p:txBody>
      </p:sp>
      <p:sp>
        <p:nvSpPr>
          <p:cNvPr id="6" name="Text 4"/>
          <p:cNvSpPr/>
          <p:nvPr/>
        </p:nvSpPr>
        <p:spPr>
          <a:xfrm>
            <a:off x="812800" y="3300115"/>
            <a:ext cx="131802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3202E"/>
                </a:solidFill>
                <a:latin typeface="Space Grotesk" pitchFamily="34" charset="0"/>
                <a:ea typeface="Space Grotesk" pitchFamily="34" charset="-122"/>
                <a:cs typeface="Space Grotesk" pitchFamily="34" charset="-120"/>
              </a:rPr>
              <a:t>2,1 h</a:t>
            </a:r>
            <a:endParaRPr lang="en-US" sz="2200" dirty="0"/>
          </a:p>
        </p:txBody>
      </p:sp>
      <p:sp>
        <p:nvSpPr>
          <p:cNvPr id="7" name="Text 5"/>
          <p:cNvSpPr/>
          <p:nvPr/>
        </p:nvSpPr>
        <p:spPr>
          <a:xfrm>
            <a:off x="812800" y="3703935"/>
            <a:ext cx="14450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Playa 1, Ricardone</a:t>
            </a:r>
            <a:endParaRPr lang="en-US" sz="1200" dirty="0"/>
          </a:p>
        </p:txBody>
      </p:sp>
      <p:sp>
        <p:nvSpPr>
          <p:cNvPr id="8" name="Text 6"/>
          <p:cNvSpPr/>
          <p:nvPr/>
        </p:nvSpPr>
        <p:spPr>
          <a:xfrm>
            <a:off x="2257822" y="3300115"/>
            <a:ext cx="126394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3202E"/>
                </a:solidFill>
                <a:latin typeface="Space Grotesk" pitchFamily="34" charset="0"/>
                <a:ea typeface="Space Grotesk" pitchFamily="34" charset="-122"/>
                <a:cs typeface="Space Grotesk" pitchFamily="34" charset="-120"/>
              </a:rPr>
              <a:t>2,0 h</a:t>
            </a:r>
            <a:endParaRPr lang="en-US" sz="2200" dirty="0"/>
          </a:p>
        </p:txBody>
      </p:sp>
      <p:sp>
        <p:nvSpPr>
          <p:cNvPr id="9" name="Text 7"/>
          <p:cNvSpPr/>
          <p:nvPr/>
        </p:nvSpPr>
        <p:spPr>
          <a:xfrm>
            <a:off x="2257822" y="3703935"/>
            <a:ext cx="14557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Playa OSL, puerto</a:t>
            </a:r>
            <a:endParaRPr lang="en-US" sz="1200" dirty="0"/>
          </a:p>
        </p:txBody>
      </p:sp>
      <p:sp>
        <p:nvSpPr>
          <p:cNvPr id="10" name="Text 8"/>
          <p:cNvSpPr/>
          <p:nvPr/>
        </p:nvSpPr>
        <p:spPr>
          <a:xfrm>
            <a:off x="812800" y="4056955"/>
            <a:ext cx="340106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E"/>
                </a:solidFill>
                <a:latin typeface="IBM Plex Sans" pitchFamily="34" charset="0"/>
                <a:ea typeface="IBM Plex Sans" pitchFamily="34" charset="-122"/>
                <a:cs typeface="IBM Plex Sans" pitchFamily="34" charset="-120"/>
              </a:rPr>
              <a:t>Y no baja: en 13 comités el ciclo osciló </a:t>
            </a:r>
            <a:r>
              <a:rPr lang="en-US" sz="1300" b="1" dirty="0">
                <a:solidFill>
                  <a:srgbClr val="13202E"/>
                </a:solidFill>
                <a:latin typeface="IBM Plex Sans" pitchFamily="34" charset="0"/>
                <a:ea typeface="IBM Plex Sans" pitchFamily="34" charset="-122"/>
                <a:cs typeface="IBM Plex Sans" pitchFamily="34" charset="-120"/>
              </a:rPr>
              <a:t>entre 4,6 y 7,2 h</a:t>
            </a:r>
            <a:r>
              <a:rPr lang="en-US" sz="1300" dirty="0">
                <a:solidFill>
                  <a:srgbClr val="13202E"/>
                </a:solidFill>
                <a:latin typeface="IBM Plex Sans" pitchFamily="34" charset="0"/>
                <a:ea typeface="IBM Plex Sans" pitchFamily="34" charset="-122"/>
                <a:cs typeface="IBM Plex Sans" pitchFamily="34" charset="-120"/>
              </a:rPr>
              <a:t>.</a:t>
            </a:r>
            <a:endParaRPr lang="en-US" sz="1300" dirty="0"/>
          </a:p>
        </p:txBody>
      </p:sp>
      <p:pic>
        <p:nvPicPr>
          <p:cNvPr id="11" name="Image 0" descr="Recorrido de R7 sobre el modelo de nodos: la espera se concentra en Playa 1 y Playa OSL">    </p:cNvPr>
          <p:cNvPicPr>
            <a:picLocks noChangeAspect="1"/>
          </p:cNvPicPr>
          <p:nvPr/>
        </p:nvPicPr>
        <p:blipFill>
          <a:blip r:embed="rId1"/>
          <a:srcRect l="-2" r="-2" t="0" b="0"/>
          <a:stretch/>
        </p:blipFill>
        <p:spPr>
          <a:xfrm>
            <a:off x="4368800" y="1724620"/>
            <a:ext cx="7010400" cy="2997200"/>
          </a:xfrm>
          <a:prstGeom prst="rect">
            <a:avLst/>
          </a:prstGeom>
        </p:spPr>
      </p:pic>
      <p:sp>
        <p:nvSpPr>
          <p:cNvPr id="12" name="Text 9"/>
          <p:cNvSpPr/>
          <p:nvPr/>
        </p:nvSpPr>
        <p:spPr>
          <a:xfrm>
            <a:off x="812800" y="4925020"/>
            <a:ext cx="1088339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No es capacidad: es coordinación.</a:t>
            </a:r>
            <a:r>
              <a:rPr lang="en-US" sz="1400" dirty="0">
                <a:solidFill>
                  <a:srgbClr val="13202E"/>
                </a:solidFill>
                <a:latin typeface="IBM Plex Sans" pitchFamily="34" charset="0"/>
                <a:ea typeface="IBM Plex Sans" pitchFamily="34" charset="-122"/>
                <a:cs typeface="IBM Plex Sans" pitchFamily="34" charset="-120"/>
              </a:rPr>
              <a:t> Nadie puede tener la planta entera en la cabeza; sincronizar 33 nodos y 50 circuitos en tiempo real es un problema de ingeniería logística.</a:t>
            </a:r>
            <a:endParaRPr lang="en-US" sz="1400" dirty="0"/>
          </a:p>
        </p:txBody>
      </p:sp>
      <p:sp>
        <p:nvSpPr>
          <p:cNvPr id="13" name="Text 1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Semana 10–16/09, 2.557 camiones · Comité de Logística del 18/09 e histórico de comités · en ámbar, las playas</a:t>
            </a:r>
            <a:endParaRPr lang="en-US" sz="1200" dirty="0"/>
          </a:p>
        </p:txBody>
      </p:sp>
      <p:sp>
        <p:nvSpPr>
          <p:cNvPr id="14" name="Text 11"/>
          <p:cNvSpPr/>
          <p:nvPr/>
        </p:nvSpPr>
        <p:spPr>
          <a:xfrm>
            <a:off x="10718800" y="623828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FA8"/>
                </a:solidFill>
                <a:latin typeface="IBM Plex Sans" pitchFamily="34" charset="0"/>
                <a:ea typeface="IBM Plex Sans" pitchFamily="34" charset="-122"/>
                <a:cs typeface="IBM Plex Sans" pitchFamily="34" charset="-120"/>
              </a:rPr>
              <a:t>SEGURIDAD · EN TIEMPO REAL</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Space Grotesk" pitchFamily="34" charset="0"/>
                <a:ea typeface="Space Grotesk" pitchFamily="34" charset="-122"/>
                <a:cs typeface="Space Grotesk" pitchFamily="34" charset="-120"/>
              </a:rPr>
              <a:t>Vemos el movimiento sospechoso mientras pasa</a:t>
            </a:r>
            <a:endParaRPr lang="en-US" sz="3000" dirty="0"/>
          </a:p>
        </p:txBody>
      </p:sp>
      <p:sp>
        <p:nvSpPr>
          <p:cNvPr id="4" name="Shape 2"/>
          <p:cNvSpPr/>
          <p:nvPr/>
        </p:nvSpPr>
        <p:spPr>
          <a:xfrm>
            <a:off x="815975" y="1727795"/>
            <a:ext cx="3244850" cy="1426071"/>
          </a:xfrm>
          <a:prstGeom prst="roundRect">
            <a:avLst>
              <a:gd name="adj" fmla="val 6902"/>
            </a:avLst>
          </a:prstGeom>
          <a:solidFill>
            <a:srgbClr val="FCFDFB"/>
          </a:solidFill>
          <a:ln w="6350">
            <a:solidFill>
              <a:srgbClr val="D2DBE0"/>
            </a:solidFill>
            <a:prstDash val="solid"/>
          </a:ln>
        </p:spPr>
      </p:sp>
      <p:sp>
        <p:nvSpPr>
          <p:cNvPr id="5" name="Text 3"/>
          <p:cNvSpPr/>
          <p:nvPr/>
        </p:nvSpPr>
        <p:spPr>
          <a:xfrm>
            <a:off x="996950" y="1916410"/>
            <a:ext cx="1207393" cy="238720"/>
          </a:xfrm>
          <a:custGeom>
            <a:avLst/>
            <a:gdLst/>
            <a:ahLst/>
            <a:cxnLst/>
            <a:rect l="l" t="t" r="r" b="b"/>
            <a:pathLst>
              <a:path w="1207393" h="238720">
                <a:moveTo>
                  <a:pt x="119360" y="0"/>
                </a:moveTo>
                <a:lnTo>
                  <a:pt x="1088033" y="0"/>
                </a:lnTo>
                <a:arcTo hR="119360" wR="119360" stAng="16200000" swAng="5400000"/>
                <a:lnTo>
                  <a:pt x="1207393" y="119360"/>
                </a:lnTo>
                <a:arcTo hR="119360" wR="119360" stAng="0" swAng="5400000"/>
                <a:lnTo>
                  <a:pt x="119360" y="238720"/>
                </a:lnTo>
                <a:arcTo hR="119360" wR="119360" stAng="5400000" swAng="5400000"/>
                <a:lnTo>
                  <a:pt x="0" y="119360"/>
                </a:lnTo>
                <a:arcTo hR="119360" wR="119360" stAng="10800000" swAng="5400000"/>
                <a:close/>
              </a:path>
            </a:pathLst>
          </a:custGeom>
          <a:solidFill>
            <a:srgbClr val="E1E6E9"/>
          </a:solidFill>
          <a:ln/>
        </p:spPr>
        <p:txBody>
          <a:bodyPr wrap="none" lIns="0" tIns="0" rIns="0" bIns="0" rtlCol="0" anchor="ctr">
            <a:normAutofit/>
          </a:bodyPr>
          <a:lstStyle/>
          <a:p>
            <a:pPr algn="ctr" indent="0" marL="0">
              <a:lnSpc>
                <a:spcPts val="1680"/>
              </a:lnSpc>
              <a:buNone/>
            </a:pPr>
            <a:r>
              <a:rPr lang="en-US" sz="1200" b="1" spc="50" kern="0" dirty="0">
                <a:solidFill>
                  <a:srgbClr val="4A5868"/>
                </a:solidFill>
                <a:latin typeface="IBM Plex Sans" pitchFamily="34" charset="0"/>
                <a:ea typeface="IBM Plex Sans" pitchFamily="34" charset="-122"/>
                <a:cs typeface="IBM Plex Sans" pitchFamily="34" charset="-120"/>
              </a:rPr>
              <a:t>LO QUE PASÓ</a:t>
            </a:r>
            <a:endParaRPr lang="en-US" sz="1200" dirty="0"/>
          </a:p>
        </p:txBody>
      </p:sp>
      <p:pic>
        <p:nvPicPr>
          <p:cNvPr id="6" name="Image 0" descr="Book">    </p:cNvPr>
          <p:cNvPicPr>
            <a:picLocks noChangeAspect="1"/>
          </p:cNvPicPr>
          <p:nvPr/>
        </p:nvPicPr>
        <p:blipFill>
          <a:blip r:embed="rId1"/>
          <a:srcRect l="0" r="0" t="0" b="0"/>
          <a:stretch/>
        </p:blipFill>
        <p:spPr>
          <a:xfrm>
            <a:off x="3625850" y="1908770"/>
            <a:ext cx="254000" cy="254000"/>
          </a:xfrm>
          <a:prstGeom prst="rect">
            <a:avLst/>
          </a:prstGeom>
        </p:spPr>
      </p:pic>
      <p:sp>
        <p:nvSpPr>
          <p:cNvPr id="7" name="Text 4"/>
          <p:cNvSpPr/>
          <p:nvPr/>
        </p:nvSpPr>
        <p:spPr>
          <a:xfrm>
            <a:off x="996950" y="2226270"/>
            <a:ext cx="296938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02E"/>
                </a:solidFill>
                <a:latin typeface="Space Grotesk" pitchFamily="34" charset="0"/>
                <a:ea typeface="Space Grotesk" pitchFamily="34" charset="-122"/>
                <a:cs typeface="Space Grotesk" pitchFamily="34" charset="-120"/>
              </a:rPr>
              <a:t>13 comités de reglas</a:t>
            </a:r>
            <a:endParaRPr lang="en-US" sz="1700" dirty="0"/>
          </a:p>
        </p:txBody>
      </p:sp>
      <p:sp>
        <p:nvSpPr>
          <p:cNvPr id="8" name="Text 5"/>
          <p:cNvSpPr/>
          <p:nvPr/>
        </p:nvSpPr>
        <p:spPr>
          <a:xfrm>
            <a:off x="996950" y="2548830"/>
            <a:ext cx="2969387"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IBM Plex Sans" pitchFamily="34" charset="0"/>
                <a:ea typeface="IBM Plex Sans" pitchFamily="34" charset="-122"/>
                <a:cs typeface="IBM Plex Sans" pitchFamily="34" charset="-120"/>
              </a:rPr>
              <a:t>cada comité dejó criterio: hoy son reglas que juzgan cada movimiento</a:t>
            </a:r>
            <a:endParaRPr lang="en-US" sz="1200" dirty="0"/>
          </a:p>
        </p:txBody>
      </p:sp>
      <p:pic>
        <p:nvPicPr>
          <p:cNvPr id="9" name="Image 1" descr="arrow-right">    </p:cNvPr>
          <p:cNvPicPr>
            <a:picLocks noChangeAspect="1"/>
          </p:cNvPicPr>
          <p:nvPr/>
        </p:nvPicPr>
        <p:blipFill>
          <a:blip r:embed="rId2"/>
          <a:srcRect l="0" r="0" t="0" b="0"/>
          <a:stretch/>
        </p:blipFill>
        <p:spPr>
          <a:xfrm>
            <a:off x="4140200" y="2364581"/>
            <a:ext cx="254000" cy="152400"/>
          </a:xfrm>
          <a:prstGeom prst="rect">
            <a:avLst/>
          </a:prstGeom>
        </p:spPr>
      </p:pic>
      <p:sp>
        <p:nvSpPr>
          <p:cNvPr id="10" name="Shape 6"/>
          <p:cNvSpPr/>
          <p:nvPr/>
        </p:nvSpPr>
        <p:spPr>
          <a:xfrm>
            <a:off x="4470400" y="1724620"/>
            <a:ext cx="3238500" cy="1432421"/>
          </a:xfrm>
          <a:prstGeom prst="roundRect">
            <a:avLst>
              <a:gd name="adj" fmla="val 7093"/>
            </a:avLst>
          </a:prstGeom>
          <a:solidFill>
            <a:srgbClr val="0E1A2B"/>
          </a:solidFill>
          <a:ln/>
        </p:spPr>
      </p:sp>
      <p:sp>
        <p:nvSpPr>
          <p:cNvPr id="11" name="Text 7"/>
          <p:cNvSpPr/>
          <p:nvPr/>
        </p:nvSpPr>
        <p:spPr>
          <a:xfrm>
            <a:off x="4648200" y="1910060"/>
            <a:ext cx="1982688" cy="238720"/>
          </a:xfrm>
          <a:custGeom>
            <a:avLst/>
            <a:gdLst/>
            <a:ahLst/>
            <a:cxnLst/>
            <a:rect l="l" t="t" r="r" b="b"/>
            <a:pathLst>
              <a:path w="1982688" h="238720">
                <a:moveTo>
                  <a:pt x="119360" y="0"/>
                </a:moveTo>
                <a:lnTo>
                  <a:pt x="1863328" y="0"/>
                </a:lnTo>
                <a:arcTo hR="119360" wR="119360" stAng="16200000" swAng="5400000"/>
                <a:lnTo>
                  <a:pt x="1982688" y="119360"/>
                </a:lnTo>
                <a:arcTo hR="119360" wR="119360" stAng="0" swAng="5400000"/>
                <a:lnTo>
                  <a:pt x="119360" y="238720"/>
                </a:lnTo>
                <a:arcTo hR="119360" wR="119360" stAng="5400000" swAng="5400000"/>
                <a:lnTo>
                  <a:pt x="0" y="119360"/>
                </a:lnTo>
                <a:arcTo hR="119360" wR="119360" stAng="10800000" swAng="5400000"/>
                <a:close/>
              </a:path>
            </a:pathLst>
          </a:custGeom>
          <a:solidFill>
            <a:srgbClr val="6CC1F2"/>
          </a:solidFill>
          <a:ln/>
        </p:spPr>
        <p:txBody>
          <a:bodyPr wrap="none" lIns="0" tIns="0" rIns="0" bIns="0" rtlCol="0" anchor="ctr">
            <a:normAutofit/>
          </a:bodyPr>
          <a:lstStyle/>
          <a:p>
            <a:pPr algn="ctr" indent="0" marL="0">
              <a:lnSpc>
                <a:spcPts val="1680"/>
              </a:lnSpc>
              <a:buNone/>
            </a:pPr>
            <a:r>
              <a:rPr lang="en-US" sz="1200" b="1" spc="50" kern="0" dirty="0">
                <a:solidFill>
                  <a:srgbClr val="0E1A2B"/>
                </a:solidFill>
                <a:latin typeface="IBM Plex Sans" pitchFamily="34" charset="0"/>
                <a:ea typeface="IBM Plex Sans" pitchFamily="34" charset="-122"/>
                <a:cs typeface="IBM Plex Sans" pitchFamily="34" charset="-120"/>
              </a:rPr>
              <a:t>LO QUE ESTÁ PASANDO</a:t>
            </a:r>
            <a:endParaRPr lang="en-US" sz="1200" dirty="0"/>
          </a:p>
        </p:txBody>
      </p:sp>
      <p:pic>
        <p:nvPicPr>
          <p:cNvPr id="12" name="Image 2" descr="Activity">    </p:cNvPr>
          <p:cNvPicPr>
            <a:picLocks noChangeAspect="1"/>
          </p:cNvPicPr>
          <p:nvPr/>
        </p:nvPicPr>
        <p:blipFill>
          <a:blip r:embed="rId3"/>
          <a:srcRect l="0" r="0" t="0" b="0"/>
          <a:stretch/>
        </p:blipFill>
        <p:spPr>
          <a:xfrm>
            <a:off x="7277100" y="1902420"/>
            <a:ext cx="254000" cy="254000"/>
          </a:xfrm>
          <a:prstGeom prst="rect">
            <a:avLst/>
          </a:prstGeom>
        </p:spPr>
      </p:pic>
      <p:sp>
        <p:nvSpPr>
          <p:cNvPr id="13" name="Text 8"/>
          <p:cNvSpPr/>
          <p:nvPr/>
        </p:nvSpPr>
        <p:spPr>
          <a:xfrm>
            <a:off x="4648200" y="2219920"/>
            <a:ext cx="296938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CFDFB"/>
                </a:solidFill>
                <a:latin typeface="Space Grotesk" pitchFamily="34" charset="0"/>
                <a:ea typeface="Space Grotesk" pitchFamily="34" charset="-122"/>
                <a:cs typeface="Space Grotesk" pitchFamily="34" charset="-120"/>
              </a:rPr>
              <a:t>Alerta en el momento</a:t>
            </a:r>
            <a:endParaRPr lang="en-US" sz="1700" dirty="0"/>
          </a:p>
        </p:txBody>
      </p:sp>
      <p:sp>
        <p:nvSpPr>
          <p:cNvPr id="14" name="Text 9"/>
          <p:cNvSpPr/>
          <p:nvPr/>
        </p:nvSpPr>
        <p:spPr>
          <a:xfrm>
            <a:off x="4648200" y="2542480"/>
            <a:ext cx="2969387"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C4CE"/>
                </a:solidFill>
                <a:latin typeface="IBM Plex Sans" pitchFamily="34" charset="0"/>
                <a:ea typeface="IBM Plex Sans" pitchFamily="34" charset="-122"/>
                <a:cs typeface="IBM Plex Sans" pitchFamily="34" charset="-120"/>
              </a:rPr>
              <a:t>a la torre, con la patente, la foto y la regla que la disparó</a:t>
            </a:r>
            <a:endParaRPr lang="en-US" sz="1200" dirty="0"/>
          </a:p>
        </p:txBody>
      </p:sp>
      <p:pic>
        <p:nvPicPr>
          <p:cNvPr id="15" name="Image 3" descr="arrow-right">    </p:cNvPr>
          <p:cNvPicPr>
            <a:picLocks noChangeAspect="1"/>
          </p:cNvPicPr>
          <p:nvPr/>
        </p:nvPicPr>
        <p:blipFill>
          <a:blip r:embed="rId4"/>
          <a:srcRect l="0" r="0" t="0" b="0"/>
          <a:stretch/>
        </p:blipFill>
        <p:spPr>
          <a:xfrm>
            <a:off x="7785100" y="2364581"/>
            <a:ext cx="254000" cy="152400"/>
          </a:xfrm>
          <a:prstGeom prst="rect">
            <a:avLst/>
          </a:prstGeom>
        </p:spPr>
      </p:pic>
      <p:sp>
        <p:nvSpPr>
          <p:cNvPr id="16" name="Shape 10"/>
          <p:cNvSpPr/>
          <p:nvPr/>
        </p:nvSpPr>
        <p:spPr>
          <a:xfrm>
            <a:off x="8121650" y="1730970"/>
            <a:ext cx="3251200" cy="1419721"/>
          </a:xfrm>
          <a:prstGeom prst="roundRect">
            <a:avLst>
              <a:gd name="adj" fmla="val 6709"/>
            </a:avLst>
          </a:prstGeom>
          <a:solidFill>
            <a:srgbClr val="FBE9C8"/>
          </a:solidFill>
          <a:ln w="12700">
            <a:solidFill>
              <a:srgbClr val="C27C0E"/>
            </a:solidFill>
            <a:prstDash val="dash"/>
          </a:ln>
        </p:spPr>
      </p:sp>
      <p:sp>
        <p:nvSpPr>
          <p:cNvPr id="17" name="Text 11"/>
          <p:cNvSpPr/>
          <p:nvPr/>
        </p:nvSpPr>
        <p:spPr>
          <a:xfrm>
            <a:off x="8305800" y="1922760"/>
            <a:ext cx="1715294" cy="238720"/>
          </a:xfrm>
          <a:custGeom>
            <a:avLst/>
            <a:gdLst/>
            <a:ahLst/>
            <a:cxnLst/>
            <a:rect l="l" t="t" r="r" b="b"/>
            <a:pathLst>
              <a:path w="1715294" h="238720">
                <a:moveTo>
                  <a:pt x="119360" y="0"/>
                </a:moveTo>
                <a:lnTo>
                  <a:pt x="1595934" y="0"/>
                </a:lnTo>
                <a:arcTo hR="119360" wR="119360" stAng="16200000" swAng="5400000"/>
                <a:lnTo>
                  <a:pt x="1715294" y="119360"/>
                </a:lnTo>
                <a:arcTo hR="119360" wR="119360" stAng="0" swAng="5400000"/>
                <a:lnTo>
                  <a:pt x="119360" y="238720"/>
                </a:lnTo>
                <a:arcTo hR="119360" wR="119360" stAng="5400000" swAng="5400000"/>
                <a:lnTo>
                  <a:pt x="0" y="119360"/>
                </a:lnTo>
                <a:arcTo hR="119360" wR="119360" stAng="10800000" swAng="5400000"/>
                <a:close/>
              </a:path>
            </a:pathLst>
          </a:custGeom>
          <a:solidFill>
            <a:srgbClr val="FCFDFB"/>
          </a:solidFill>
          <a:ln/>
        </p:spPr>
        <p:txBody>
          <a:bodyPr wrap="none" lIns="0" tIns="0" rIns="0" bIns="0" rtlCol="0" anchor="ctr">
            <a:normAutofit/>
          </a:bodyPr>
          <a:lstStyle/>
          <a:p>
            <a:pPr algn="ctr" indent="0" marL="0">
              <a:lnSpc>
                <a:spcPts val="1680"/>
              </a:lnSpc>
              <a:buNone/>
            </a:pPr>
            <a:r>
              <a:rPr lang="en-US" sz="1200" b="1" spc="50" kern="0" dirty="0">
                <a:solidFill>
                  <a:srgbClr val="8A5200"/>
                </a:solidFill>
                <a:latin typeface="IBM Plex Sans" pitchFamily="34" charset="0"/>
                <a:ea typeface="IBM Plex Sans" pitchFamily="34" charset="-122"/>
                <a:cs typeface="IBM Plex Sans" pitchFamily="34" charset="-120"/>
              </a:rPr>
              <a:t>LO QUE VA A PASAR</a:t>
            </a:r>
            <a:endParaRPr lang="en-US" sz="1200" dirty="0"/>
          </a:p>
        </p:txBody>
      </p:sp>
      <p:pic>
        <p:nvPicPr>
          <p:cNvPr id="18" name="Image 4" descr="Lightning">    </p:cNvPr>
          <p:cNvPicPr>
            <a:picLocks noChangeAspect="1"/>
          </p:cNvPicPr>
          <p:nvPr/>
        </p:nvPicPr>
        <p:blipFill>
          <a:blip r:embed="rId5"/>
          <a:srcRect l="0" r="0" t="0" b="0"/>
          <a:stretch/>
        </p:blipFill>
        <p:spPr>
          <a:xfrm>
            <a:off x="10934700" y="1915120"/>
            <a:ext cx="254000" cy="254000"/>
          </a:xfrm>
          <a:prstGeom prst="rect">
            <a:avLst/>
          </a:prstGeom>
        </p:spPr>
      </p:pic>
      <p:sp>
        <p:nvSpPr>
          <p:cNvPr id="19" name="Text 12"/>
          <p:cNvSpPr/>
          <p:nvPr/>
        </p:nvSpPr>
        <p:spPr>
          <a:xfrm>
            <a:off x="8305800" y="2232620"/>
            <a:ext cx="296938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02E"/>
                </a:solidFill>
                <a:latin typeface="Space Grotesk" pitchFamily="34" charset="0"/>
                <a:ea typeface="Space Grotesk" pitchFamily="34" charset="-122"/>
                <a:cs typeface="Space Grotesk" pitchFamily="34" charset="-120"/>
              </a:rPr>
              <a:t>Aviso antes de que pase</a:t>
            </a:r>
            <a:endParaRPr lang="en-US" sz="1700" dirty="0"/>
          </a:p>
        </p:txBody>
      </p:sp>
      <p:sp>
        <p:nvSpPr>
          <p:cNvPr id="20" name="Text 13"/>
          <p:cNvSpPr/>
          <p:nvPr/>
        </p:nvSpPr>
        <p:spPr>
          <a:xfrm>
            <a:off x="8305800" y="2555180"/>
            <a:ext cx="2969387"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IBM Plex Sans" pitchFamily="34" charset="0"/>
                <a:ea typeface="IBM Plex Sans" pitchFamily="34" charset="-122"/>
                <a:cs typeface="IBM Plex Sans" pitchFamily="34" charset="-120"/>
              </a:rPr>
              <a:t>el camión que se aparta de su circuito se ve venir, no se descubre en el comité</a:t>
            </a:r>
            <a:endParaRPr lang="en-US" sz="1200" dirty="0"/>
          </a:p>
        </p:txBody>
      </p:sp>
      <p:sp>
        <p:nvSpPr>
          <p:cNvPr id="21" name="Shape 14"/>
          <p:cNvSpPr/>
          <p:nvPr/>
        </p:nvSpPr>
        <p:spPr>
          <a:xfrm>
            <a:off x="815975" y="3363416"/>
            <a:ext cx="10560050" cy="890191"/>
          </a:xfrm>
          <a:prstGeom prst="roundRect">
            <a:avLst>
              <a:gd name="adj" fmla="val 11057"/>
            </a:avLst>
          </a:prstGeom>
          <a:solidFill>
            <a:srgbClr val="FCFDFB"/>
          </a:solidFill>
          <a:ln w="6350">
            <a:solidFill>
              <a:srgbClr val="D2DBE0"/>
            </a:solidFill>
            <a:prstDash val="solid"/>
          </a:ln>
        </p:spPr>
      </p:sp>
      <p:sp>
        <p:nvSpPr>
          <p:cNvPr id="22" name="Text 15"/>
          <p:cNvSpPr/>
          <p:nvPr/>
        </p:nvSpPr>
        <p:spPr>
          <a:xfrm>
            <a:off x="1022350" y="3544391"/>
            <a:ext cx="104517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5638"/>
                </a:solidFill>
                <a:latin typeface="IBM Plex Sans" pitchFamily="34" charset="0"/>
                <a:ea typeface="IBM Plex Sans" pitchFamily="34" charset="-122"/>
                <a:cs typeface="IBM Plex Sans" pitchFamily="34" charset="-120"/>
              </a:rPr>
              <a:t>EJEMPLOS DE LO QUE YA DETECTAMOS</a:t>
            </a:r>
            <a:endParaRPr lang="en-US" sz="1200" dirty="0"/>
          </a:p>
        </p:txBody>
      </p:sp>
      <p:pic>
        <p:nvPicPr>
          <p:cNvPr id="23" name="Image 5" descr="Warning">    </p:cNvPr>
          <p:cNvPicPr>
            <a:picLocks noChangeAspect="1"/>
          </p:cNvPicPr>
          <p:nvPr/>
        </p:nvPicPr>
        <p:blipFill>
          <a:blip r:embed="rId6"/>
          <a:srcRect l="0" r="0" t="0" b="0"/>
          <a:stretch/>
        </p:blipFill>
        <p:spPr>
          <a:xfrm>
            <a:off x="1022350" y="3864372"/>
            <a:ext cx="203200" cy="203200"/>
          </a:xfrm>
          <a:prstGeom prst="rect">
            <a:avLst/>
          </a:prstGeom>
        </p:spPr>
      </p:pic>
      <p:sp>
        <p:nvSpPr>
          <p:cNvPr id="24" name="Text 16"/>
          <p:cNvSpPr/>
          <p:nvPr/>
        </p:nvSpPr>
        <p:spPr>
          <a:xfrm>
            <a:off x="1301750" y="3859312"/>
            <a:ext cx="31326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De Ricardone al puerto sin pasar por calada</a:t>
            </a:r>
            <a:endParaRPr lang="en-US" sz="1200" dirty="0"/>
          </a:p>
        </p:txBody>
      </p:sp>
      <p:pic>
        <p:nvPicPr>
          <p:cNvPr id="25" name="Image 6" descr="Warning">    </p:cNvPr>
          <p:cNvPicPr>
            <a:picLocks noChangeAspect="1"/>
          </p:cNvPicPr>
          <p:nvPr/>
        </p:nvPicPr>
        <p:blipFill>
          <a:blip r:embed="rId7"/>
          <a:srcRect l="0" r="0" t="0" b="0"/>
          <a:stretch/>
        </p:blipFill>
        <p:spPr>
          <a:xfrm>
            <a:off x="4434384" y="3864372"/>
            <a:ext cx="203200" cy="203200"/>
          </a:xfrm>
          <a:prstGeom prst="rect">
            <a:avLst/>
          </a:prstGeom>
        </p:spPr>
      </p:pic>
      <p:sp>
        <p:nvSpPr>
          <p:cNvPr id="26" name="Text 17"/>
          <p:cNvSpPr/>
          <p:nvPr/>
        </p:nvSpPr>
        <p:spPr>
          <a:xfrm>
            <a:off x="4713784" y="3859312"/>
            <a:ext cx="24001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Visita relámpago en el puerto</a:t>
            </a:r>
            <a:endParaRPr lang="en-US" sz="1200" dirty="0"/>
          </a:p>
        </p:txBody>
      </p:sp>
      <p:pic>
        <p:nvPicPr>
          <p:cNvPr id="27" name="Image 7" descr="Warning">    </p:cNvPr>
          <p:cNvPicPr>
            <a:picLocks noChangeAspect="1"/>
          </p:cNvPicPr>
          <p:nvPr/>
        </p:nvPicPr>
        <p:blipFill>
          <a:blip r:embed="rId8"/>
          <a:srcRect l="0" r="0" t="0" b="0"/>
          <a:stretch/>
        </p:blipFill>
        <p:spPr>
          <a:xfrm>
            <a:off x="7846417" y="3864372"/>
            <a:ext cx="203200" cy="203200"/>
          </a:xfrm>
          <a:prstGeom prst="rect">
            <a:avLst/>
          </a:prstGeom>
        </p:spPr>
      </p:pic>
      <p:sp>
        <p:nvSpPr>
          <p:cNvPr id="28" name="Text 18"/>
          <p:cNvSpPr/>
          <p:nvPr/>
        </p:nvSpPr>
        <p:spPr>
          <a:xfrm>
            <a:off x="8125817" y="3859312"/>
            <a:ext cx="3247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Circuito que no corresponde al producto</a:t>
            </a:r>
            <a:endParaRPr lang="en-US" sz="1200" dirty="0"/>
          </a:p>
        </p:txBody>
      </p:sp>
      <p:sp>
        <p:nvSpPr>
          <p:cNvPr id="29" name="Text 1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Reglas del panel de Seguridad y del histórico de comités · Truckflow Vicentin · propuesta interna</a:t>
            </a:r>
            <a:endParaRPr lang="en-US" sz="1200" dirty="0"/>
          </a:p>
        </p:txBody>
      </p:sp>
      <p:sp>
        <p:nvSpPr>
          <p:cNvPr id="30" name="Text 20"/>
          <p:cNvSpPr/>
          <p:nvPr/>
        </p:nvSpPr>
        <p:spPr>
          <a:xfrm>
            <a:off x="10718800" y="623828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812800" y="812800"/>
            <a:ext cx="10883392" cy="220464"/>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0B5638"/>
                </a:solidFill>
                <a:latin typeface="IBM Plex Sans" pitchFamily="34" charset="0"/>
                <a:ea typeface="IBM Plex Sans" pitchFamily="34" charset="-122"/>
                <a:cs typeface="IBM Plex Sans" pitchFamily="34" charset="-120"/>
              </a:rPr>
              <a:t>EL NODO · LA UNIDAD DEL PROYECTO</a:t>
            </a:r>
            <a:endParaRPr lang="en-US" sz="1121" dirty="0"/>
          </a:p>
        </p:txBody>
      </p:sp>
      <p:sp>
        <p:nvSpPr>
          <p:cNvPr id="3" name="Text 1"/>
          <p:cNvSpPr/>
          <p:nvPr>
            <p:ph type="title"/>
          </p:nvPr>
        </p:nvSpPr>
        <p:spPr>
          <a:xfrm>
            <a:off x="812800" y="1084064"/>
            <a:ext cx="10883392" cy="408583"/>
          </a:xfrm>
          <a:prstGeom prst="rect">
            <a:avLst/>
          </a:prstGeom>
          <a:noFill/>
          <a:ln/>
        </p:spPr>
        <p:txBody>
          <a:bodyPr wrap="square" lIns="0" tIns="0" rIns="0" bIns="0" rtlCol="0" anchor="t">
            <a:normAutofit/>
          </a:bodyPr>
          <a:lstStyle/>
          <a:p>
            <a:pPr algn="l" indent="0" marL="0">
              <a:lnSpc>
                <a:spcPts val="3022"/>
              </a:lnSpc>
              <a:buNone/>
            </a:pPr>
            <a:r>
              <a:rPr lang="en-US" sz="2747" b="1" i="0" dirty="0">
                <a:solidFill>
                  <a:srgbClr val="13202E"/>
                </a:solidFill>
                <a:latin typeface="Space Grotesk" pitchFamily="34" charset="0"/>
                <a:ea typeface="Space Grotesk" pitchFamily="34" charset="-122"/>
                <a:cs typeface="Space Grotesk" pitchFamily="34" charset="-120"/>
              </a:rPr>
              <a:t>Entran señales, sale un evento confirmado</a:t>
            </a:r>
            <a:endParaRPr lang="en-US" sz="2747" dirty="0"/>
          </a:p>
        </p:txBody>
      </p:sp>
      <p:sp>
        <p:nvSpPr>
          <p:cNvPr id="4" name="Text 2"/>
          <p:cNvSpPr/>
          <p:nvPr/>
        </p:nvSpPr>
        <p:spPr>
          <a:xfrm>
            <a:off x="812800" y="1645047"/>
            <a:ext cx="82260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FA8"/>
                </a:solidFill>
                <a:latin typeface="IBM Plex Sans" pitchFamily="34" charset="0"/>
                <a:ea typeface="IBM Plex Sans" pitchFamily="34" charset="-122"/>
                <a:cs typeface="IBM Plex Sans" pitchFamily="34" charset="-120"/>
              </a:rPr>
              <a:t>ENTRAN</a:t>
            </a:r>
            <a:endParaRPr lang="en-US" sz="1200" dirty="0"/>
          </a:p>
        </p:txBody>
      </p:sp>
      <p:sp>
        <p:nvSpPr>
          <p:cNvPr id="5" name="Shape 3"/>
          <p:cNvSpPr/>
          <p:nvPr/>
        </p:nvSpPr>
        <p:spPr>
          <a:xfrm>
            <a:off x="815975" y="1937742"/>
            <a:ext cx="2635250" cy="836811"/>
          </a:xfrm>
          <a:prstGeom prst="roundRect">
            <a:avLst>
              <a:gd name="adj" fmla="val 10244"/>
            </a:avLst>
          </a:prstGeom>
          <a:solidFill>
            <a:srgbClr val="FCFDFB"/>
          </a:solidFill>
          <a:ln w="6350">
            <a:solidFill>
              <a:srgbClr val="D2DBE0"/>
            </a:solidFill>
            <a:prstDash val="solid"/>
          </a:ln>
        </p:spPr>
      </p:sp>
      <p:pic>
        <p:nvPicPr>
          <p:cNvPr id="6" name="Image 0" descr="Search">    </p:cNvPr>
          <p:cNvPicPr>
            <a:picLocks noChangeAspect="1"/>
          </p:cNvPicPr>
          <p:nvPr/>
        </p:nvPicPr>
        <p:blipFill>
          <a:blip r:embed="rId1"/>
          <a:srcRect l="0" r="0" t="0" b="0"/>
          <a:stretch/>
        </p:blipFill>
        <p:spPr>
          <a:xfrm>
            <a:off x="933450" y="2241848"/>
            <a:ext cx="228600" cy="228600"/>
          </a:xfrm>
          <a:prstGeom prst="rect">
            <a:avLst/>
          </a:prstGeom>
        </p:spPr>
      </p:pic>
      <p:sp>
        <p:nvSpPr>
          <p:cNvPr id="7" name="Text 4"/>
          <p:cNvSpPr/>
          <p:nvPr/>
        </p:nvSpPr>
        <p:spPr>
          <a:xfrm>
            <a:off x="1250950" y="2029817"/>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Cámaras frontal y trasera</a:t>
            </a:r>
            <a:endParaRPr lang="en-US" sz="1200" dirty="0"/>
          </a:p>
        </p:txBody>
      </p:sp>
      <p:sp>
        <p:nvSpPr>
          <p:cNvPr id="8" name="Text 5"/>
          <p:cNvSpPr/>
          <p:nvPr/>
        </p:nvSpPr>
        <p:spPr>
          <a:xfrm>
            <a:off x="1250950" y="2255838"/>
            <a:ext cx="21452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patente del tractor y del acoplado</a:t>
            </a:r>
            <a:endParaRPr lang="en-US" sz="1200" dirty="0"/>
          </a:p>
        </p:txBody>
      </p:sp>
      <p:pic>
        <p:nvPicPr>
          <p:cNvPr id="9" name="Image 1" descr="arrow-right">    </p:cNvPr>
          <p:cNvPicPr>
            <a:picLocks noChangeAspect="1"/>
          </p:cNvPicPr>
          <p:nvPr/>
        </p:nvPicPr>
        <p:blipFill>
          <a:blip r:embed="rId2"/>
          <a:srcRect l="0" r="0" t="0" b="0"/>
          <a:stretch/>
        </p:blipFill>
        <p:spPr>
          <a:xfrm>
            <a:off x="3543300" y="2286298"/>
            <a:ext cx="254000" cy="139700"/>
          </a:xfrm>
          <a:prstGeom prst="rect">
            <a:avLst/>
          </a:prstGeom>
        </p:spPr>
      </p:pic>
      <p:sp>
        <p:nvSpPr>
          <p:cNvPr id="10" name="Shape 6"/>
          <p:cNvSpPr/>
          <p:nvPr/>
        </p:nvSpPr>
        <p:spPr>
          <a:xfrm>
            <a:off x="815975" y="2857103"/>
            <a:ext cx="2635250" cy="623491"/>
          </a:xfrm>
          <a:prstGeom prst="roundRect">
            <a:avLst>
              <a:gd name="adj" fmla="val 13749"/>
            </a:avLst>
          </a:prstGeom>
          <a:solidFill>
            <a:srgbClr val="FCFDFB"/>
          </a:solidFill>
          <a:ln w="6350">
            <a:solidFill>
              <a:srgbClr val="1A8FD0"/>
            </a:solidFill>
            <a:prstDash val="dash"/>
          </a:ln>
        </p:spPr>
      </p:sp>
      <p:pic>
        <p:nvPicPr>
          <p:cNvPr id="11" name="Image 2" descr="Activity">    </p:cNvPr>
          <p:cNvPicPr>
            <a:picLocks noChangeAspect="1"/>
          </p:cNvPicPr>
          <p:nvPr/>
        </p:nvPicPr>
        <p:blipFill>
          <a:blip r:embed="rId3"/>
          <a:srcRect l="0" r="0" t="0" b="0"/>
          <a:stretch/>
        </p:blipFill>
        <p:spPr>
          <a:xfrm>
            <a:off x="933450" y="3054548"/>
            <a:ext cx="228600" cy="228600"/>
          </a:xfrm>
          <a:prstGeom prst="rect">
            <a:avLst/>
          </a:prstGeom>
        </p:spPr>
      </p:pic>
      <p:sp>
        <p:nvSpPr>
          <p:cNvPr id="12" name="Text 7"/>
          <p:cNvSpPr/>
          <p:nvPr/>
        </p:nvSpPr>
        <p:spPr>
          <a:xfrm>
            <a:off x="1250950" y="2949178"/>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Balanza PLC con fotocélula</a:t>
            </a:r>
            <a:endParaRPr lang="en-US" sz="1200" dirty="0"/>
          </a:p>
        </p:txBody>
      </p:sp>
      <p:sp>
        <p:nvSpPr>
          <p:cNvPr id="13" name="Text 8"/>
          <p:cNvSpPr/>
          <p:nvPr/>
        </p:nvSpPr>
        <p:spPr>
          <a:xfrm>
            <a:off x="1250950" y="3175198"/>
            <a:ext cx="21452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peso y posición del camión</a:t>
            </a:r>
            <a:endParaRPr lang="en-US" sz="1200" dirty="0"/>
          </a:p>
        </p:txBody>
      </p:sp>
      <p:pic>
        <p:nvPicPr>
          <p:cNvPr id="14" name="Image 3" descr="arrow-right">    </p:cNvPr>
          <p:cNvPicPr>
            <a:picLocks noChangeAspect="1"/>
          </p:cNvPicPr>
          <p:nvPr/>
        </p:nvPicPr>
        <p:blipFill>
          <a:blip r:embed="rId4"/>
          <a:srcRect l="0" r="0" t="0" b="0"/>
          <a:stretch/>
        </p:blipFill>
        <p:spPr>
          <a:xfrm>
            <a:off x="3543300" y="3098998"/>
            <a:ext cx="254000" cy="139700"/>
          </a:xfrm>
          <a:prstGeom prst="rect">
            <a:avLst/>
          </a:prstGeom>
        </p:spPr>
      </p:pic>
      <p:sp>
        <p:nvSpPr>
          <p:cNvPr id="15" name="Shape 9"/>
          <p:cNvSpPr/>
          <p:nvPr/>
        </p:nvSpPr>
        <p:spPr>
          <a:xfrm>
            <a:off x="815975" y="3563144"/>
            <a:ext cx="2635250" cy="623491"/>
          </a:xfrm>
          <a:prstGeom prst="roundRect">
            <a:avLst>
              <a:gd name="adj" fmla="val 13749"/>
            </a:avLst>
          </a:prstGeom>
          <a:solidFill>
            <a:srgbClr val="FCFDFB"/>
          </a:solidFill>
          <a:ln w="6350">
            <a:solidFill>
              <a:srgbClr val="1A8FD0"/>
            </a:solidFill>
            <a:prstDash val="dash"/>
          </a:ln>
        </p:spPr>
      </p:sp>
      <p:pic>
        <p:nvPicPr>
          <p:cNvPr id="16" name="Image 4" descr="Settings">    </p:cNvPr>
          <p:cNvPicPr>
            <a:picLocks noChangeAspect="1"/>
          </p:cNvPicPr>
          <p:nvPr/>
        </p:nvPicPr>
        <p:blipFill>
          <a:blip r:embed="rId5"/>
          <a:srcRect l="0" r="0" t="0" b="0"/>
          <a:stretch/>
        </p:blipFill>
        <p:spPr>
          <a:xfrm>
            <a:off x="933450" y="3760589"/>
            <a:ext cx="228600" cy="228600"/>
          </a:xfrm>
          <a:prstGeom prst="rect">
            <a:avLst/>
          </a:prstGeom>
        </p:spPr>
      </p:pic>
      <p:sp>
        <p:nvSpPr>
          <p:cNvPr id="17" name="Text 10"/>
          <p:cNvSpPr/>
          <p:nvPr/>
        </p:nvSpPr>
        <p:spPr>
          <a:xfrm>
            <a:off x="1250950" y="3655219"/>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Otros sensores</a:t>
            </a:r>
            <a:endParaRPr lang="en-US" sz="1200" dirty="0"/>
          </a:p>
        </p:txBody>
      </p:sp>
      <p:sp>
        <p:nvSpPr>
          <p:cNvPr id="18" name="Text 11"/>
          <p:cNvSpPr/>
          <p:nvPr/>
        </p:nvSpPr>
        <p:spPr>
          <a:xfrm>
            <a:off x="1250950" y="3881239"/>
            <a:ext cx="21452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lo que se sume al nodo</a:t>
            </a:r>
            <a:endParaRPr lang="en-US" sz="1200" dirty="0"/>
          </a:p>
        </p:txBody>
      </p:sp>
      <p:pic>
        <p:nvPicPr>
          <p:cNvPr id="19" name="Image 5" descr="arrow-right">    </p:cNvPr>
          <p:cNvPicPr>
            <a:picLocks noChangeAspect="1"/>
          </p:cNvPicPr>
          <p:nvPr/>
        </p:nvPicPr>
        <p:blipFill>
          <a:blip r:embed="rId6"/>
          <a:srcRect l="0" r="0" t="0" b="0"/>
          <a:stretch/>
        </p:blipFill>
        <p:spPr>
          <a:xfrm>
            <a:off x="3543300" y="3805039"/>
            <a:ext cx="254000" cy="139700"/>
          </a:xfrm>
          <a:prstGeom prst="rect">
            <a:avLst/>
          </a:prstGeom>
        </p:spPr>
      </p:pic>
      <p:sp>
        <p:nvSpPr>
          <p:cNvPr id="20" name="Shape 12"/>
          <p:cNvSpPr/>
          <p:nvPr/>
        </p:nvSpPr>
        <p:spPr>
          <a:xfrm>
            <a:off x="815975" y="4269184"/>
            <a:ext cx="2635250" cy="836811"/>
          </a:xfrm>
          <a:prstGeom prst="roundRect">
            <a:avLst>
              <a:gd name="adj" fmla="val 10244"/>
            </a:avLst>
          </a:prstGeom>
          <a:solidFill>
            <a:srgbClr val="E1E6E9"/>
          </a:solidFill>
          <a:ln w="6350">
            <a:solidFill>
              <a:srgbClr val="C9CAC8"/>
            </a:solidFill>
            <a:prstDash val="solid"/>
          </a:ln>
        </p:spPr>
      </p:sp>
      <p:pic>
        <p:nvPicPr>
          <p:cNvPr id="21" name="Image 6" descr="Database">    </p:cNvPr>
          <p:cNvPicPr>
            <a:picLocks noChangeAspect="1"/>
          </p:cNvPicPr>
          <p:nvPr/>
        </p:nvPicPr>
        <p:blipFill>
          <a:blip r:embed="rId7"/>
          <a:srcRect l="0" r="0" t="0" b="0"/>
          <a:stretch/>
        </p:blipFill>
        <p:spPr>
          <a:xfrm>
            <a:off x="933450" y="4573290"/>
            <a:ext cx="228600" cy="228600"/>
          </a:xfrm>
          <a:prstGeom prst="rect">
            <a:avLst/>
          </a:prstGeom>
        </p:spPr>
      </p:pic>
      <p:sp>
        <p:nvSpPr>
          <p:cNvPr id="22" name="Text 13"/>
          <p:cNvSpPr/>
          <p:nvPr/>
        </p:nvSpPr>
        <p:spPr>
          <a:xfrm>
            <a:off x="1250950" y="4361259"/>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Sistema de camiones</a:t>
            </a:r>
            <a:endParaRPr lang="en-US" sz="1200" dirty="0"/>
          </a:p>
        </p:txBody>
      </p:sp>
      <p:sp>
        <p:nvSpPr>
          <p:cNvPr id="23" name="Text 14"/>
          <p:cNvSpPr/>
          <p:nvPr/>
        </p:nvSpPr>
        <p:spPr>
          <a:xfrm>
            <a:off x="1250950" y="4587280"/>
            <a:ext cx="21452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producto, CTG, carta de porte, contrato</a:t>
            </a:r>
            <a:endParaRPr lang="en-US" sz="1200" dirty="0"/>
          </a:p>
        </p:txBody>
      </p:sp>
      <p:pic>
        <p:nvPicPr>
          <p:cNvPr id="24" name="Image 7" descr="arrow-right">    </p:cNvPr>
          <p:cNvPicPr>
            <a:picLocks noChangeAspect="1"/>
          </p:cNvPicPr>
          <p:nvPr/>
        </p:nvPicPr>
        <p:blipFill>
          <a:blip r:embed="rId8"/>
          <a:srcRect l="0" r="0" t="0" b="0"/>
          <a:stretch/>
        </p:blipFill>
        <p:spPr>
          <a:xfrm>
            <a:off x="3543300" y="4617740"/>
            <a:ext cx="254000" cy="139700"/>
          </a:xfrm>
          <a:prstGeom prst="rect">
            <a:avLst/>
          </a:prstGeom>
        </p:spPr>
      </p:pic>
      <p:sp>
        <p:nvSpPr>
          <p:cNvPr id="25" name="Text 15"/>
          <p:cNvSpPr/>
          <p:nvPr/>
        </p:nvSpPr>
        <p:spPr>
          <a:xfrm>
            <a:off x="5045472" y="1648222"/>
            <a:ext cx="1808857" cy="270470"/>
          </a:xfrm>
          <a:custGeom>
            <a:avLst/>
            <a:gdLst/>
            <a:ahLst/>
            <a:cxnLst/>
            <a:rect l="l" t="t" r="r" b="b"/>
            <a:pathLst>
              <a:path w="1808857" h="270470">
                <a:moveTo>
                  <a:pt x="135235" y="0"/>
                </a:moveTo>
                <a:lnTo>
                  <a:pt x="1673622" y="0"/>
                </a:lnTo>
                <a:arcTo hR="135235" wR="135235" stAng="16200000" swAng="5400000"/>
                <a:lnTo>
                  <a:pt x="1808857" y="135235"/>
                </a:lnTo>
                <a:arcTo hR="135235" wR="135235" stAng="0" swAng="5400000"/>
                <a:lnTo>
                  <a:pt x="135235" y="270470"/>
                </a:lnTo>
                <a:arcTo hR="135235" wR="135235" stAng="5400000" swAng="5400000"/>
                <a:lnTo>
                  <a:pt x="0" y="135235"/>
                </a:lnTo>
                <a:arcTo hR="135235" wR="135235" stAng="10800000" swAng="5400000"/>
                <a:close/>
              </a:path>
            </a:pathLst>
          </a:custGeom>
          <a:solidFill>
            <a:srgbClr val="FCFDFB"/>
          </a:solidFill>
          <a:ln w="6350">
            <a:solidFill>
              <a:srgbClr val="D2DBE0"/>
            </a:solidFill>
            <a:prstDash val="solid"/>
          </a:ln>
        </p:spPr>
        <p:txBody>
          <a:bodyPr wrap="none" lIns="0" tIns="0" rIns="0" bIns="0" rtlCol="0" anchor="ctr">
            <a:normAutofit/>
          </a:bodyPr>
          <a:lstStyle/>
          <a:p>
            <a:pPr algn="ctr"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viene del nodo anterior</a:t>
            </a:r>
            <a:endParaRPr lang="en-US" sz="1200" dirty="0"/>
          </a:p>
        </p:txBody>
      </p:sp>
      <p:sp>
        <p:nvSpPr>
          <p:cNvPr id="26" name="Shape 16"/>
          <p:cNvSpPr/>
          <p:nvPr/>
        </p:nvSpPr>
        <p:spPr>
          <a:xfrm>
            <a:off x="3924300" y="1985367"/>
            <a:ext cx="4051300" cy="2921893"/>
          </a:xfrm>
          <a:prstGeom prst="roundRect">
            <a:avLst>
              <a:gd name="adj" fmla="val 6954"/>
            </a:avLst>
          </a:prstGeom>
          <a:solidFill>
            <a:srgbClr val="0E1A2B"/>
          </a:solidFill>
          <a:ln/>
          <a:effectLst>
            <a:outerShdw sx="100000" sy="100000" kx="0" ky="0" algn="bl" rotWithShape="0" blurRad="203200" dist="76200" dir="5400000">
              <a:srgbClr val="0E1A2B">
                <a:alpha val="25000"/>
              </a:srgbClr>
            </a:outerShdw>
          </a:effectLst>
        </p:spPr>
      </p:sp>
      <p:sp>
        <p:nvSpPr>
          <p:cNvPr id="27" name="Text 17"/>
          <p:cNvSpPr/>
          <p:nvPr/>
        </p:nvSpPr>
        <p:spPr>
          <a:xfrm>
            <a:off x="4127500" y="2163167"/>
            <a:ext cx="37542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CC1F2"/>
                </a:solidFill>
                <a:latin typeface="IBM Plex Sans" pitchFamily="34" charset="0"/>
                <a:ea typeface="IBM Plex Sans" pitchFamily="34" charset="-122"/>
                <a:cs typeface="IBM Plex Sans" pitchFamily="34" charset="-120"/>
              </a:rPr>
              <a:t>EDGE DEL NODO · EN PLANTA</a:t>
            </a:r>
            <a:endParaRPr lang="en-US" sz="1200" dirty="0"/>
          </a:p>
        </p:txBody>
      </p:sp>
      <p:pic>
        <p:nvPicPr>
          <p:cNvPr id="28" name="Image 8" descr="Check">    </p:cNvPr>
          <p:cNvPicPr>
            <a:picLocks noChangeAspect="1"/>
          </p:cNvPicPr>
          <p:nvPr/>
        </p:nvPicPr>
        <p:blipFill>
          <a:blip r:embed="rId9"/>
          <a:srcRect l="0" r="0" t="0" b="0"/>
          <a:stretch/>
        </p:blipFill>
        <p:spPr>
          <a:xfrm>
            <a:off x="4127500" y="2483148"/>
            <a:ext cx="177800" cy="177800"/>
          </a:xfrm>
          <a:prstGeom prst="rect">
            <a:avLst/>
          </a:prstGeom>
        </p:spPr>
      </p:pic>
      <p:sp>
        <p:nvSpPr>
          <p:cNvPr id="29" name="Text 18"/>
          <p:cNvSpPr/>
          <p:nvPr/>
        </p:nvSpPr>
        <p:spPr>
          <a:xfrm>
            <a:off x="4381500" y="2465388"/>
            <a:ext cx="213562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Confirma</a:t>
            </a:r>
            <a:r>
              <a:rPr lang="en-US" sz="1200" dirty="0">
                <a:solidFill>
                  <a:srgbClr val="B8C4CE"/>
                </a:solidFill>
                <a:latin typeface="IBM Plex Sans" pitchFamily="34" charset="0"/>
                <a:ea typeface="IBM Plex Sans" pitchFamily="34" charset="-122"/>
                <a:cs typeface="IBM Plex Sans" pitchFamily="34" charset="-120"/>
              </a:rPr>
              <a:t> con dos fuentes</a:t>
            </a:r>
            <a:endParaRPr lang="en-US" sz="1200" dirty="0"/>
          </a:p>
        </p:txBody>
      </p:sp>
      <p:pic>
        <p:nvPicPr>
          <p:cNvPr id="30" name="Image 9" descr="Check">    </p:cNvPr>
          <p:cNvPicPr>
            <a:picLocks noChangeAspect="1"/>
          </p:cNvPicPr>
          <p:nvPr/>
        </p:nvPicPr>
        <p:blipFill>
          <a:blip r:embed="rId10"/>
          <a:srcRect l="0" r="0" t="0" b="0"/>
          <a:stretch/>
        </p:blipFill>
        <p:spPr>
          <a:xfrm>
            <a:off x="4127500" y="2785368"/>
            <a:ext cx="177800" cy="177800"/>
          </a:xfrm>
          <a:prstGeom prst="rect">
            <a:avLst/>
          </a:prstGeom>
        </p:spPr>
      </p:pic>
      <p:sp>
        <p:nvSpPr>
          <p:cNvPr id="31" name="Text 19"/>
          <p:cNvSpPr/>
          <p:nvPr/>
        </p:nvSpPr>
        <p:spPr>
          <a:xfrm>
            <a:off x="4381500" y="2767608"/>
            <a:ext cx="31059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Valida</a:t>
            </a:r>
            <a:r>
              <a:rPr lang="en-US" sz="1200" dirty="0">
                <a:solidFill>
                  <a:srgbClr val="B8C4CE"/>
                </a:solidFill>
                <a:latin typeface="IBM Plex Sans" pitchFamily="34" charset="0"/>
                <a:ea typeface="IBM Plex Sans" pitchFamily="34" charset="-122"/>
                <a:cs typeface="IBM Plex Sans" pitchFamily="34" charset="-120"/>
              </a:rPr>
              <a:t> de dónde viene y adónde sigue</a:t>
            </a:r>
            <a:endParaRPr lang="en-US" sz="1200" dirty="0"/>
          </a:p>
        </p:txBody>
      </p:sp>
      <p:pic>
        <p:nvPicPr>
          <p:cNvPr id="32" name="Image 10" descr="Link">    </p:cNvPr>
          <p:cNvPicPr>
            <a:picLocks noChangeAspect="1"/>
          </p:cNvPicPr>
          <p:nvPr/>
        </p:nvPicPr>
        <p:blipFill>
          <a:blip r:embed="rId11"/>
          <a:srcRect l="-679" r="-679" t="0" b="0"/>
          <a:stretch/>
        </p:blipFill>
        <p:spPr>
          <a:xfrm>
            <a:off x="4127500" y="3194248"/>
            <a:ext cx="148034" cy="177800"/>
          </a:xfrm>
          <a:prstGeom prst="rect">
            <a:avLst/>
          </a:prstGeom>
        </p:spPr>
      </p:pic>
      <p:sp>
        <p:nvSpPr>
          <p:cNvPr id="33" name="Text 20"/>
          <p:cNvSpPr/>
          <p:nvPr/>
        </p:nvSpPr>
        <p:spPr>
          <a:xfrm>
            <a:off x="4351734" y="3069828"/>
            <a:ext cx="3523286"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Asigna el circuito</a:t>
            </a:r>
            <a:r>
              <a:rPr lang="en-US" sz="1200" dirty="0">
                <a:solidFill>
                  <a:srgbClr val="B8C4CE"/>
                </a:solidFill>
                <a:latin typeface="IBM Plex Sans" pitchFamily="34" charset="0"/>
                <a:ea typeface="IBM Plex Sans" pitchFamily="34" charset="-122"/>
                <a:cs typeface="IBM Plex Sans" pitchFamily="34" charset="-120"/>
              </a:rPr>
              <a:t> al ingresar: un código propio del recorrido</a:t>
            </a:r>
            <a:endParaRPr lang="en-US" sz="1200" dirty="0"/>
          </a:p>
        </p:txBody>
      </p:sp>
      <p:pic>
        <p:nvPicPr>
          <p:cNvPr id="34" name="Image 11" descr="Link">    </p:cNvPr>
          <p:cNvPicPr>
            <a:picLocks noChangeAspect="1"/>
          </p:cNvPicPr>
          <p:nvPr/>
        </p:nvPicPr>
        <p:blipFill>
          <a:blip r:embed="rId12"/>
          <a:srcRect l="-723" r="-723" t="0" b="0"/>
          <a:stretch/>
        </p:blipFill>
        <p:spPr>
          <a:xfrm>
            <a:off x="4127500" y="3709789"/>
            <a:ext cx="173930" cy="177800"/>
          </a:xfrm>
          <a:prstGeom prst="rect">
            <a:avLst/>
          </a:prstGeom>
        </p:spPr>
      </p:pic>
      <p:sp>
        <p:nvSpPr>
          <p:cNvPr id="35" name="Text 21"/>
          <p:cNvSpPr/>
          <p:nvPr/>
        </p:nvSpPr>
        <p:spPr>
          <a:xfrm>
            <a:off x="4377630" y="3585369"/>
            <a:ext cx="3496613"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Une</a:t>
            </a:r>
            <a:r>
              <a:rPr lang="en-US" sz="1200" dirty="0">
                <a:solidFill>
                  <a:srgbClr val="B8C4CE"/>
                </a:solidFill>
                <a:latin typeface="IBM Plex Sans" pitchFamily="34" charset="0"/>
                <a:ea typeface="IBM Plex Sans" pitchFamily="34" charset="-122"/>
                <a:cs typeface="IBM Plex Sans" pitchFamily="34" charset="-120"/>
              </a:rPr>
              <a:t> cada evento nuevo a ese código por la patente</a:t>
            </a:r>
            <a:endParaRPr lang="en-US" sz="1200" dirty="0"/>
          </a:p>
        </p:txBody>
      </p:sp>
      <p:pic>
        <p:nvPicPr>
          <p:cNvPr id="36" name="Image 12" descr="Check">    </p:cNvPr>
          <p:cNvPicPr>
            <a:picLocks noChangeAspect="1"/>
          </p:cNvPicPr>
          <p:nvPr/>
        </p:nvPicPr>
        <p:blipFill>
          <a:blip r:embed="rId13"/>
          <a:srcRect l="0" r="0" t="0" b="0"/>
          <a:stretch/>
        </p:blipFill>
        <p:spPr>
          <a:xfrm>
            <a:off x="4127500" y="4118670"/>
            <a:ext cx="177800" cy="177800"/>
          </a:xfrm>
          <a:prstGeom prst="rect">
            <a:avLst/>
          </a:prstGeom>
        </p:spPr>
      </p:pic>
      <p:sp>
        <p:nvSpPr>
          <p:cNvPr id="37" name="Text 22"/>
          <p:cNvSpPr/>
          <p:nvPr/>
        </p:nvSpPr>
        <p:spPr>
          <a:xfrm>
            <a:off x="4381500" y="4100909"/>
            <a:ext cx="22762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No pierde</a:t>
            </a:r>
            <a:r>
              <a:rPr lang="en-US" sz="1200" dirty="0">
                <a:solidFill>
                  <a:srgbClr val="B8C4CE"/>
                </a:solidFill>
                <a:latin typeface="IBM Plex Sans" pitchFamily="34" charset="0"/>
                <a:ea typeface="IBM Plex Sans" pitchFamily="34" charset="-122"/>
                <a:cs typeface="IBM Plex Sans" pitchFamily="34" charset="-120"/>
              </a:rPr>
              <a:t>: guarda y reenvía</a:t>
            </a:r>
            <a:endParaRPr lang="en-US" sz="1200" dirty="0"/>
          </a:p>
        </p:txBody>
      </p:sp>
      <p:pic>
        <p:nvPicPr>
          <p:cNvPr id="38" name="Image 13" descr="Clock">    </p:cNvPr>
          <p:cNvPicPr>
            <a:picLocks noChangeAspect="1"/>
          </p:cNvPicPr>
          <p:nvPr/>
        </p:nvPicPr>
        <p:blipFill>
          <a:blip r:embed="rId14"/>
          <a:srcRect l="0" r="0" t="0" b="0"/>
          <a:stretch/>
        </p:blipFill>
        <p:spPr>
          <a:xfrm>
            <a:off x="4127500" y="4420890"/>
            <a:ext cx="177800" cy="177800"/>
          </a:xfrm>
          <a:prstGeom prst="rect">
            <a:avLst/>
          </a:prstGeom>
        </p:spPr>
      </p:pic>
      <p:sp>
        <p:nvSpPr>
          <p:cNvPr id="39" name="Text 23"/>
          <p:cNvSpPr/>
          <p:nvPr/>
        </p:nvSpPr>
        <p:spPr>
          <a:xfrm>
            <a:off x="4381500" y="4403130"/>
            <a:ext cx="21788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Pone la hora</a:t>
            </a:r>
            <a:r>
              <a:rPr lang="en-US" sz="1200" dirty="0">
                <a:solidFill>
                  <a:srgbClr val="B8C4CE"/>
                </a:solidFill>
                <a:latin typeface="IBM Plex Sans" pitchFamily="34" charset="0"/>
                <a:ea typeface="IBM Plex Sans" pitchFamily="34" charset="-122"/>
                <a:cs typeface="IBM Plex Sans" pitchFamily="34" charset="-120"/>
              </a:rPr>
              <a:t> real del lugar</a:t>
            </a:r>
            <a:endParaRPr lang="en-US" sz="1200" dirty="0"/>
          </a:p>
        </p:txBody>
      </p:sp>
      <p:sp>
        <p:nvSpPr>
          <p:cNvPr id="40" name="Text 24"/>
          <p:cNvSpPr/>
          <p:nvPr/>
        </p:nvSpPr>
        <p:spPr>
          <a:xfrm>
            <a:off x="4976813" y="4973935"/>
            <a:ext cx="1946176" cy="270470"/>
          </a:xfrm>
          <a:custGeom>
            <a:avLst/>
            <a:gdLst/>
            <a:ahLst/>
            <a:cxnLst/>
            <a:rect l="l" t="t" r="r" b="b"/>
            <a:pathLst>
              <a:path w="1946176" h="270470">
                <a:moveTo>
                  <a:pt x="135235" y="0"/>
                </a:moveTo>
                <a:lnTo>
                  <a:pt x="1810941" y="0"/>
                </a:lnTo>
                <a:arcTo hR="135235" wR="135235" stAng="16200000" swAng="5400000"/>
                <a:lnTo>
                  <a:pt x="1946176" y="135235"/>
                </a:lnTo>
                <a:arcTo hR="135235" wR="135235" stAng="0" swAng="5400000"/>
                <a:lnTo>
                  <a:pt x="135235" y="270470"/>
                </a:lnTo>
                <a:arcTo hR="135235" wR="135235" stAng="5400000" swAng="5400000"/>
                <a:lnTo>
                  <a:pt x="0" y="135235"/>
                </a:lnTo>
                <a:arcTo hR="135235" wR="135235" stAng="10800000" swAng="5400000"/>
                <a:close/>
              </a:path>
            </a:pathLst>
          </a:custGeom>
          <a:solidFill>
            <a:srgbClr val="FCFDFB"/>
          </a:solidFill>
          <a:ln w="6350">
            <a:solidFill>
              <a:srgbClr val="D2DBE0"/>
            </a:solidFill>
            <a:prstDash val="solid"/>
          </a:ln>
        </p:spPr>
        <p:txBody>
          <a:bodyPr wrap="none" lIns="0" tIns="0" rIns="0" bIns="0" rtlCol="0" anchor="ctr">
            <a:normAutofit/>
          </a:bodyPr>
          <a:lstStyle/>
          <a:p>
            <a:pPr algn="ctr"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habilita el nodo siguiente</a:t>
            </a:r>
            <a:endParaRPr lang="en-US" sz="1200" dirty="0"/>
          </a:p>
        </p:txBody>
      </p:sp>
      <p:pic>
        <p:nvPicPr>
          <p:cNvPr id="41" name="Image 14" descr="arrow-right">    </p:cNvPr>
          <p:cNvPicPr>
            <a:picLocks noChangeAspect="1"/>
          </p:cNvPicPr>
          <p:nvPr/>
        </p:nvPicPr>
        <p:blipFill>
          <a:blip r:embed="rId15"/>
          <a:srcRect l="0" r="0" t="0" b="0"/>
          <a:stretch/>
        </p:blipFill>
        <p:spPr>
          <a:xfrm>
            <a:off x="8102600" y="3351014"/>
            <a:ext cx="355600" cy="190500"/>
          </a:xfrm>
          <a:prstGeom prst="rect">
            <a:avLst/>
          </a:prstGeom>
        </p:spPr>
      </p:pic>
      <p:sp>
        <p:nvSpPr>
          <p:cNvPr id="42" name="Text 25"/>
          <p:cNvSpPr/>
          <p:nvPr/>
        </p:nvSpPr>
        <p:spPr>
          <a:xfrm>
            <a:off x="8585200" y="1645047"/>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5638"/>
                </a:solidFill>
                <a:latin typeface="IBM Plex Sans" pitchFamily="34" charset="0"/>
                <a:ea typeface="IBM Plex Sans" pitchFamily="34" charset="-122"/>
                <a:cs typeface="IBM Plex Sans" pitchFamily="34" charset="-120"/>
              </a:rPr>
              <a:t>SALE</a:t>
            </a:r>
            <a:endParaRPr lang="en-US" sz="1200" dirty="0"/>
          </a:p>
        </p:txBody>
      </p:sp>
      <p:sp>
        <p:nvSpPr>
          <p:cNvPr id="43" name="Shape 26"/>
          <p:cNvSpPr/>
          <p:nvPr/>
        </p:nvSpPr>
        <p:spPr>
          <a:xfrm>
            <a:off x="8591550" y="1940917"/>
            <a:ext cx="2781300" cy="2592983"/>
          </a:xfrm>
          <a:prstGeom prst="roundRect">
            <a:avLst>
              <a:gd name="adj" fmla="val 3673"/>
            </a:avLst>
          </a:prstGeom>
          <a:solidFill>
            <a:srgbClr val="FCFDFB"/>
          </a:solidFill>
          <a:ln w="12700">
            <a:solidFill>
              <a:srgbClr val="3A8F63"/>
            </a:solidFill>
            <a:prstDash val="solid"/>
          </a:ln>
        </p:spPr>
      </p:sp>
      <p:pic>
        <p:nvPicPr>
          <p:cNvPr id="44" name="Image 15" descr="Verified">    </p:cNvPr>
          <p:cNvPicPr>
            <a:picLocks noChangeAspect="1"/>
          </p:cNvPicPr>
          <p:nvPr/>
        </p:nvPicPr>
        <p:blipFill>
          <a:blip r:embed="rId16"/>
          <a:srcRect l="0" r="0" t="0" b="0"/>
          <a:stretch/>
        </p:blipFill>
        <p:spPr>
          <a:xfrm>
            <a:off x="8750300" y="2079327"/>
            <a:ext cx="203200" cy="203200"/>
          </a:xfrm>
          <a:prstGeom prst="rect">
            <a:avLst/>
          </a:prstGeom>
        </p:spPr>
      </p:pic>
      <p:sp>
        <p:nvSpPr>
          <p:cNvPr id="45" name="Text 27"/>
          <p:cNvSpPr/>
          <p:nvPr/>
        </p:nvSpPr>
        <p:spPr>
          <a:xfrm>
            <a:off x="9017000" y="2074267"/>
            <a:ext cx="15201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1 evento por paso</a:t>
            </a:r>
            <a:endParaRPr lang="en-US" sz="1200" dirty="0"/>
          </a:p>
        </p:txBody>
      </p:sp>
      <p:sp>
        <p:nvSpPr>
          <p:cNvPr id="46" name="Text 28"/>
          <p:cNvSpPr/>
          <p:nvPr/>
        </p:nvSpPr>
        <p:spPr>
          <a:xfrm>
            <a:off x="8750300" y="2338388"/>
            <a:ext cx="25377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Mono" pitchFamily="49" charset="0"/>
                <a:ea typeface="IBM Plex Mono" pitchFamily="49" charset="-122"/>
                <a:cs typeface="IBM Plex Mono" pitchFamily="49" charset="-120"/>
              </a:rPr>
              <a:t>patente · acoplado</a:t>
            </a:r>
            <a:endParaRPr lang="en-US" sz="1200" dirty="0"/>
          </a:p>
        </p:txBody>
      </p:sp>
      <p:sp>
        <p:nvSpPr>
          <p:cNvPr id="47" name="Text 29"/>
          <p:cNvSpPr/>
          <p:nvPr/>
        </p:nvSpPr>
        <p:spPr>
          <a:xfrm>
            <a:off x="8750300" y="2602508"/>
            <a:ext cx="25377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Mono" pitchFamily="49" charset="0"/>
                <a:ea typeface="IBM Plex Mono" pitchFamily="49" charset="-122"/>
                <a:cs typeface="IBM Plex Mono" pitchFamily="49" charset="-120"/>
              </a:rPr>
              <a:t>nodo · hora del lugar</a:t>
            </a:r>
            <a:endParaRPr lang="en-US" sz="1200" dirty="0"/>
          </a:p>
        </p:txBody>
      </p:sp>
      <p:sp>
        <p:nvSpPr>
          <p:cNvPr id="48" name="Text 30"/>
          <p:cNvSpPr/>
          <p:nvPr/>
        </p:nvSpPr>
        <p:spPr>
          <a:xfrm>
            <a:off x="8750300" y="2866628"/>
            <a:ext cx="1772940" cy="238720"/>
          </a:xfrm>
          <a:prstGeom prst="roundRect">
            <a:avLst>
              <a:gd name="adj" fmla="val 21280"/>
            </a:avLst>
          </a:prstGeom>
          <a:solidFill>
            <a:srgbClr val="DCEEF8"/>
          </a:solidFill>
          <a:ln/>
        </p:spPr>
        <p:txBody>
          <a:bodyPr wrap="none" lIns="0" tIns="0" rIns="0" bIns="0" rtlCol="0" anchor="ctr">
            <a:normAutofit/>
          </a:bodyPr>
          <a:lstStyle/>
          <a:p>
            <a:pPr algn="ctr" indent="0" marL="0">
              <a:lnSpc>
                <a:spcPts val="1680"/>
              </a:lnSpc>
              <a:buNone/>
            </a:pPr>
            <a:r>
              <a:rPr lang="en-US" sz="1200" b="1" dirty="0">
                <a:solidFill>
                  <a:srgbClr val="0F6FA8"/>
                </a:solidFill>
                <a:latin typeface="IBM Plex Mono" pitchFamily="49" charset="0"/>
                <a:ea typeface="IBM Plex Mono" pitchFamily="49" charset="-122"/>
                <a:cs typeface="IBM Plex Mono" pitchFamily="49" charset="-120"/>
              </a:rPr>
              <a:t>código de circuito</a:t>
            </a:r>
            <a:endParaRPr lang="en-US" sz="1200" dirty="0"/>
          </a:p>
        </p:txBody>
      </p:sp>
      <p:sp>
        <p:nvSpPr>
          <p:cNvPr id="49" name="Text 31"/>
          <p:cNvSpPr/>
          <p:nvPr/>
        </p:nvSpPr>
        <p:spPr>
          <a:xfrm>
            <a:off x="8750300" y="3156148"/>
            <a:ext cx="25377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Mono" pitchFamily="49" charset="0"/>
                <a:ea typeface="IBM Plex Mono" pitchFamily="49" charset="-122"/>
                <a:cs typeface="IBM Plex Mono" pitchFamily="49" charset="-120"/>
              </a:rPr>
              <a:t>peso · posición</a:t>
            </a:r>
            <a:endParaRPr lang="en-US" sz="1200" dirty="0"/>
          </a:p>
        </p:txBody>
      </p:sp>
      <p:sp>
        <p:nvSpPr>
          <p:cNvPr id="50" name="Text 32"/>
          <p:cNvSpPr/>
          <p:nvPr/>
        </p:nvSpPr>
        <p:spPr>
          <a:xfrm>
            <a:off x="8750300" y="3420269"/>
            <a:ext cx="253771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Mono" pitchFamily="49" charset="0"/>
                <a:ea typeface="IBM Plex Mono" pitchFamily="49" charset="-122"/>
                <a:cs typeface="IBM Plex Mono" pitchFamily="49" charset="-120"/>
              </a:rPr>
              <a:t>producto · CTG · carta de porte</a:t>
            </a:r>
            <a:endParaRPr lang="en-US" sz="1200" dirty="0"/>
          </a:p>
        </p:txBody>
      </p:sp>
      <p:sp>
        <p:nvSpPr>
          <p:cNvPr id="51" name="Text 33"/>
          <p:cNvSpPr/>
          <p:nvPr/>
        </p:nvSpPr>
        <p:spPr>
          <a:xfrm>
            <a:off x="8750300" y="3897709"/>
            <a:ext cx="25377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8F63"/>
                </a:solidFill>
                <a:latin typeface="IBM Plex Mono" pitchFamily="49" charset="0"/>
                <a:ea typeface="IBM Plex Mono" pitchFamily="49" charset="-122"/>
                <a:cs typeface="IBM Plex Mono" pitchFamily="49" charset="-120"/>
              </a:rPr>
              <a:t>confirmado 2/2</a:t>
            </a:r>
            <a:endParaRPr lang="en-US" sz="1200" dirty="0"/>
          </a:p>
        </p:txBody>
      </p:sp>
      <p:sp>
        <p:nvSpPr>
          <p:cNvPr id="52" name="Text 34"/>
          <p:cNvSpPr/>
          <p:nvPr/>
        </p:nvSpPr>
        <p:spPr>
          <a:xfrm>
            <a:off x="8750300" y="4161830"/>
            <a:ext cx="1115417" cy="238720"/>
          </a:xfrm>
          <a:custGeom>
            <a:avLst/>
            <a:gdLst/>
            <a:ahLst/>
            <a:cxnLst/>
            <a:rect l="l" t="t" r="r" b="b"/>
            <a:pathLst>
              <a:path w="1115417" h="238720">
                <a:moveTo>
                  <a:pt x="119360" y="0"/>
                </a:moveTo>
                <a:lnTo>
                  <a:pt x="996057" y="0"/>
                </a:lnTo>
                <a:arcTo hR="119360" wR="119360" stAng="16200000" swAng="5400000"/>
                <a:lnTo>
                  <a:pt x="1115417" y="119360"/>
                </a:lnTo>
                <a:arcTo hR="119360" wR="119360" stAng="0" swAng="5400000"/>
                <a:lnTo>
                  <a:pt x="119360" y="238720"/>
                </a:lnTo>
                <a:arcTo hR="119360" wR="119360" stAng="5400000" swAng="5400000"/>
                <a:lnTo>
                  <a:pt x="0" y="119360"/>
                </a:lnTo>
                <a:arcTo hR="119360" wR="119360" stAng="10800000" swAng="5400000"/>
                <a:close/>
              </a:path>
            </a:pathLst>
          </a:custGeom>
          <a:solidFill>
            <a:srgbClr val="0E1A2B"/>
          </a:solidFill>
          <a:ln/>
        </p:spPr>
        <p:txBody>
          <a:bodyPr wrap="none" lIns="0" tIns="0" rIns="0" bIns="0" rtlCol="0" anchor="ctr">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 TruckFlow</a:t>
            </a:r>
            <a:endParaRPr lang="en-US" sz="1200" dirty="0"/>
          </a:p>
        </p:txBody>
      </p:sp>
      <p:sp>
        <p:nvSpPr>
          <p:cNvPr id="53" name="Shape 35"/>
          <p:cNvSpPr/>
          <p:nvPr/>
        </p:nvSpPr>
        <p:spPr>
          <a:xfrm>
            <a:off x="8591550" y="4622800"/>
            <a:ext cx="2781300" cy="618430"/>
          </a:xfrm>
          <a:prstGeom prst="roundRect">
            <a:avLst>
              <a:gd name="adj" fmla="val 15402"/>
            </a:avLst>
          </a:prstGeom>
          <a:solidFill>
            <a:srgbClr val="FBE9C8"/>
          </a:solidFill>
          <a:ln w="12700">
            <a:solidFill>
              <a:srgbClr val="C27C0E"/>
            </a:solidFill>
            <a:prstDash val="dash"/>
          </a:ln>
        </p:spPr>
      </p:sp>
      <p:pic>
        <p:nvPicPr>
          <p:cNvPr id="54" name="Image 16" descr="Settings">    </p:cNvPr>
          <p:cNvPicPr>
            <a:picLocks noChangeAspect="1"/>
          </p:cNvPicPr>
          <p:nvPr/>
        </p:nvPicPr>
        <p:blipFill>
          <a:blip r:embed="rId17"/>
          <a:srcRect l="0" r="0" t="0" b="0"/>
          <a:stretch/>
        </p:blipFill>
        <p:spPr>
          <a:xfrm>
            <a:off x="8750300" y="4697611"/>
            <a:ext cx="203200" cy="203200"/>
          </a:xfrm>
          <a:prstGeom prst="rect">
            <a:avLst/>
          </a:prstGeom>
        </p:spPr>
      </p:pic>
      <p:sp>
        <p:nvSpPr>
          <p:cNvPr id="55" name="Text 36"/>
          <p:cNvSpPr/>
          <p:nvPr/>
        </p:nvSpPr>
        <p:spPr>
          <a:xfrm>
            <a:off x="9017000" y="4692551"/>
            <a:ext cx="17989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200"/>
                </a:solidFill>
                <a:latin typeface="IBM Plex Sans" pitchFamily="34" charset="0"/>
                <a:ea typeface="IBM Plex Sans" pitchFamily="34" charset="-122"/>
                <a:cs typeface="IBM Plex Sans" pitchFamily="34" charset="-120"/>
              </a:rPr>
              <a:t>HORIZONTE · ACTÚA</a:t>
            </a:r>
            <a:endParaRPr lang="en-US" sz="1200" dirty="0"/>
          </a:p>
        </p:txBody>
      </p:sp>
      <p:sp>
        <p:nvSpPr>
          <p:cNvPr id="56" name="Text 37"/>
          <p:cNvSpPr/>
          <p:nvPr/>
        </p:nvSpPr>
        <p:spPr>
          <a:xfrm>
            <a:off x="8750300" y="4905673"/>
            <a:ext cx="2616200" cy="240308"/>
          </a:xfrm>
          <a:prstGeom prst="rect">
            <a:avLst/>
          </a:prstGeom>
          <a:noFill/>
          <a:ln/>
        </p:spPr>
        <p:txBody>
          <a:bodyPr wrap="square" lIns="0" tIns="0" rIns="0" bIns="0" rtlCol="0" anchor="t">
            <a:normAutofit/>
          </a:bodyPr>
          <a:lstStyle/>
          <a:p>
            <a:pPr algn="l" indent="0" marL="0">
              <a:lnSpc>
                <a:spcPts val="1407"/>
              </a:lnSpc>
              <a:buNone/>
            </a:pPr>
            <a:r>
              <a:rPr lang="en-US" sz="1043" dirty="0">
                <a:solidFill>
                  <a:srgbClr val="13202E"/>
                </a:solidFill>
                <a:latin typeface="IBM Plex Sans" pitchFamily="34" charset="0"/>
                <a:ea typeface="IBM Plex Sans" pitchFamily="34" charset="-122"/>
                <a:cs typeface="IBM Plex Sans" pitchFamily="34" charset="-120"/>
              </a:rPr>
              <a:t>barrera, semáforo y llamado de camiones</a:t>
            </a:r>
            <a:endParaRPr lang="en-US" sz="1043" dirty="0"/>
          </a:p>
        </p:txBody>
      </p:sp>
      <p:sp>
        <p:nvSpPr>
          <p:cNvPr id="57" name="Shape 38"/>
          <p:cNvSpPr/>
          <p:nvPr/>
        </p:nvSpPr>
        <p:spPr>
          <a:xfrm>
            <a:off x="812800" y="5425380"/>
            <a:ext cx="10566400" cy="416620"/>
          </a:xfrm>
          <a:prstGeom prst="roundRect">
            <a:avLst>
              <a:gd name="adj" fmla="val 21338"/>
            </a:avLst>
          </a:prstGeom>
          <a:solidFill>
            <a:srgbClr val="DCEDE1"/>
          </a:solidFill>
          <a:ln/>
        </p:spPr>
      </p:sp>
      <p:sp>
        <p:nvSpPr>
          <p:cNvPr id="58" name="Text 39"/>
          <p:cNvSpPr/>
          <p:nvPr/>
        </p:nvSpPr>
        <p:spPr>
          <a:xfrm>
            <a:off x="965200" y="5518150"/>
            <a:ext cx="96678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Escala solo</a:t>
            </a:r>
            <a:endParaRPr lang="en-US" sz="1300" dirty="0"/>
          </a:p>
        </p:txBody>
      </p:sp>
      <p:sp>
        <p:nvSpPr>
          <p:cNvPr id="59" name="Text 40"/>
          <p:cNvSpPr/>
          <p:nvPr/>
        </p:nvSpPr>
        <p:spPr>
          <a:xfrm>
            <a:off x="1931988" y="5518150"/>
            <a:ext cx="669667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sumar un sensor es sumar una entrada; sumar un punto, un nodo al modelo</a:t>
            </a:r>
            <a:endParaRPr lang="en-US" sz="1300" dirty="0"/>
          </a:p>
        </p:txBody>
      </p:sp>
      <p:sp>
        <p:nvSpPr>
          <p:cNvPr id="60" name="Text 4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Truckflow Vicentin · propuesta interna</a:t>
            </a:r>
            <a:endParaRPr lang="en-US" sz="1200" dirty="0"/>
          </a:p>
        </p:txBody>
      </p:sp>
      <p:sp>
        <p:nvSpPr>
          <p:cNvPr id="61" name="Text 42"/>
          <p:cNvSpPr/>
          <p:nvPr/>
        </p:nvSpPr>
        <p:spPr>
          <a:xfrm>
            <a:off x="10718800" y="623828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FA8"/>
                </a:solidFill>
                <a:latin typeface="IBM Plex Sans" pitchFamily="34" charset="0"/>
                <a:ea typeface="IBM Plex Sans" pitchFamily="34" charset="-122"/>
                <a:cs typeface="IBM Plex Sans" pitchFamily="34" charset="-120"/>
              </a:rPr>
              <a:t>EL PUENTE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Space Grotesk" pitchFamily="34" charset="0"/>
                <a:ea typeface="Space Grotesk" pitchFamily="34" charset="-122"/>
                <a:cs typeface="Space Grotesk" pitchFamily="34" charset="-120"/>
              </a:rPr>
              <a:t>De la base a los agentes de IA</a:t>
            </a:r>
            <a:endParaRPr lang="en-US" sz="3000" dirty="0"/>
          </a:p>
        </p:txBody>
      </p:sp>
      <p:sp>
        <p:nvSpPr>
          <p:cNvPr id="4" name="Text 2"/>
          <p:cNvSpPr/>
          <p:nvPr/>
        </p:nvSpPr>
        <p:spPr>
          <a:xfrm>
            <a:off x="812800" y="15976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868"/>
                </a:solidFill>
                <a:latin typeface="IBM Plex Sans" pitchFamily="34" charset="0"/>
                <a:ea typeface="IBM Plex Sans" pitchFamily="34" charset="-122"/>
                <a:cs typeface="IBM Plex Sans" pitchFamily="34" charset="-120"/>
              </a:rPr>
              <a:t>Un agente es tan bueno como los datos y el modelo que lo alimentan. Eso ya lo construimos.</a:t>
            </a:r>
            <a:endParaRPr lang="en-US" sz="1400" dirty="0"/>
          </a:p>
        </p:txBody>
      </p:sp>
      <p:sp>
        <p:nvSpPr>
          <p:cNvPr id="5" name="Shape 3"/>
          <p:cNvSpPr/>
          <p:nvPr/>
        </p:nvSpPr>
        <p:spPr>
          <a:xfrm>
            <a:off x="815975" y="2027436"/>
            <a:ext cx="2540000" cy="1817191"/>
          </a:xfrm>
          <a:prstGeom prst="roundRect">
            <a:avLst>
              <a:gd name="adj" fmla="val 5416"/>
            </a:avLst>
          </a:prstGeom>
          <a:solidFill>
            <a:srgbClr val="FCFDFB"/>
          </a:solidFill>
          <a:ln w="6350">
            <a:solidFill>
              <a:srgbClr val="D2DBE0"/>
            </a:solidFill>
            <a:prstDash val="solid"/>
          </a:ln>
        </p:spPr>
      </p:sp>
      <p:sp>
        <p:nvSpPr>
          <p:cNvPr id="6" name="Text 4"/>
          <p:cNvSpPr/>
          <p:nvPr/>
        </p:nvSpPr>
        <p:spPr>
          <a:xfrm>
            <a:off x="984250" y="2203351"/>
            <a:ext cx="774005" cy="238720"/>
          </a:xfrm>
          <a:custGeom>
            <a:avLst/>
            <a:gdLst/>
            <a:ahLst/>
            <a:cxnLst/>
            <a:rect l="l" t="t" r="r" b="b"/>
            <a:pathLst>
              <a:path w="774005" h="238720">
                <a:moveTo>
                  <a:pt x="119360" y="0"/>
                </a:moveTo>
                <a:lnTo>
                  <a:pt x="654645" y="0"/>
                </a:lnTo>
                <a:arcTo hR="119360" wR="119360" stAng="16200000" swAng="5400000"/>
                <a:lnTo>
                  <a:pt x="774005" y="119360"/>
                </a:lnTo>
                <a:arcTo hR="119360" wR="119360" stAng="0" swAng="5400000"/>
                <a:lnTo>
                  <a:pt x="119360" y="238720"/>
                </a:lnTo>
                <a:arcTo hR="119360" wR="119360" stAng="5400000" swAng="5400000"/>
                <a:lnTo>
                  <a:pt x="0" y="119360"/>
                </a:lnTo>
                <a:arcTo hR="119360" wR="119360" stAng="10800000" swAng="5400000"/>
                <a:close/>
              </a:path>
            </a:pathLst>
          </a:custGeom>
          <a:solidFill>
            <a:srgbClr val="DCEDE1"/>
          </a:solidFill>
          <a:ln/>
        </p:spPr>
        <p:txBody>
          <a:bodyPr wrap="none" lIns="0" tIns="0" rIns="0" bIns="0" rtlCol="0" anchor="ctr">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YA ESTÁ</a:t>
            </a:r>
            <a:endParaRPr lang="en-US" sz="1200" dirty="0"/>
          </a:p>
        </p:txBody>
      </p:sp>
      <p:pic>
        <p:nvPicPr>
          <p:cNvPr id="7" name="Image 0" descr="Database">    </p:cNvPr>
          <p:cNvPicPr>
            <a:picLocks noChangeAspect="1"/>
          </p:cNvPicPr>
          <p:nvPr/>
        </p:nvPicPr>
        <p:blipFill>
          <a:blip r:embed="rId1"/>
          <a:srcRect l="0" r="0" t="0" b="0"/>
          <a:stretch/>
        </p:blipFill>
        <p:spPr>
          <a:xfrm>
            <a:off x="2933700" y="2195711"/>
            <a:ext cx="254000" cy="254000"/>
          </a:xfrm>
          <a:prstGeom prst="rect">
            <a:avLst/>
          </a:prstGeom>
        </p:spPr>
      </p:pic>
      <p:sp>
        <p:nvSpPr>
          <p:cNvPr id="8" name="Text 5"/>
          <p:cNvSpPr/>
          <p:nvPr/>
        </p:nvSpPr>
        <p:spPr>
          <a:xfrm>
            <a:off x="984250" y="2525911"/>
            <a:ext cx="22695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Space Grotesk" pitchFamily="34" charset="0"/>
                <a:ea typeface="Space Grotesk" pitchFamily="34" charset="-122"/>
                <a:cs typeface="Space Grotesk" pitchFamily="34" charset="-120"/>
              </a:rPr>
              <a:t>1 · Datos confiables</a:t>
            </a:r>
            <a:endParaRPr lang="en-US" sz="1500" dirty="0"/>
          </a:p>
        </p:txBody>
      </p:sp>
      <p:sp>
        <p:nvSpPr>
          <p:cNvPr id="9" name="Text 6"/>
          <p:cNvSpPr/>
          <p:nvPr/>
        </p:nvSpPr>
        <p:spPr>
          <a:xfrm>
            <a:off x="984250" y="2830711"/>
            <a:ext cx="226955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IBM Plex Sans" pitchFamily="34" charset="0"/>
                <a:ea typeface="IBM Plex Sans" pitchFamily="34" charset="-122"/>
                <a:cs typeface="IBM Plex Sans" pitchFamily="34" charset="-120"/>
              </a:rPr>
              <a:t>un evento confirmado por paso, en cada nodo</a:t>
            </a:r>
            <a:endParaRPr lang="en-US" sz="1200" dirty="0"/>
          </a:p>
        </p:txBody>
      </p:sp>
      <p:sp>
        <p:nvSpPr>
          <p:cNvPr id="10" name="Shape 7"/>
          <p:cNvSpPr/>
          <p:nvPr/>
        </p:nvSpPr>
        <p:spPr>
          <a:xfrm>
            <a:off x="3489325" y="2027436"/>
            <a:ext cx="2540000" cy="1817191"/>
          </a:xfrm>
          <a:prstGeom prst="roundRect">
            <a:avLst>
              <a:gd name="adj" fmla="val 5416"/>
            </a:avLst>
          </a:prstGeom>
          <a:solidFill>
            <a:srgbClr val="FCFDFB"/>
          </a:solidFill>
          <a:ln w="6350">
            <a:solidFill>
              <a:srgbClr val="D2DBE0"/>
            </a:solidFill>
            <a:prstDash val="solid"/>
          </a:ln>
        </p:spPr>
      </p:sp>
      <p:sp>
        <p:nvSpPr>
          <p:cNvPr id="11" name="Text 8"/>
          <p:cNvSpPr/>
          <p:nvPr/>
        </p:nvSpPr>
        <p:spPr>
          <a:xfrm>
            <a:off x="3657600" y="2203351"/>
            <a:ext cx="774005" cy="238720"/>
          </a:xfrm>
          <a:custGeom>
            <a:avLst/>
            <a:gdLst/>
            <a:ahLst/>
            <a:cxnLst/>
            <a:rect l="l" t="t" r="r" b="b"/>
            <a:pathLst>
              <a:path w="774005" h="238720">
                <a:moveTo>
                  <a:pt x="119360" y="0"/>
                </a:moveTo>
                <a:lnTo>
                  <a:pt x="654645" y="0"/>
                </a:lnTo>
                <a:arcTo hR="119360" wR="119360" stAng="16200000" swAng="5400000"/>
                <a:lnTo>
                  <a:pt x="774005" y="119360"/>
                </a:lnTo>
                <a:arcTo hR="119360" wR="119360" stAng="0" swAng="5400000"/>
                <a:lnTo>
                  <a:pt x="119360" y="238720"/>
                </a:lnTo>
                <a:arcTo hR="119360" wR="119360" stAng="5400000" swAng="5400000"/>
                <a:lnTo>
                  <a:pt x="0" y="119360"/>
                </a:lnTo>
                <a:arcTo hR="119360" wR="119360" stAng="10800000" swAng="5400000"/>
                <a:close/>
              </a:path>
            </a:pathLst>
          </a:custGeom>
          <a:solidFill>
            <a:srgbClr val="DCEDE1"/>
          </a:solidFill>
          <a:ln/>
        </p:spPr>
        <p:txBody>
          <a:bodyPr wrap="none" lIns="0" tIns="0" rIns="0" bIns="0" rtlCol="0" anchor="ctr">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YA ESTÁ</a:t>
            </a:r>
            <a:endParaRPr lang="en-US" sz="1200" dirty="0"/>
          </a:p>
        </p:txBody>
      </p:sp>
      <p:pic>
        <p:nvPicPr>
          <p:cNvPr id="12" name="Image 1" descr="Book">    </p:cNvPr>
          <p:cNvPicPr>
            <a:picLocks noChangeAspect="1"/>
          </p:cNvPicPr>
          <p:nvPr/>
        </p:nvPicPr>
        <p:blipFill>
          <a:blip r:embed="rId2"/>
          <a:srcRect l="0" r="0" t="0" b="0"/>
          <a:stretch/>
        </p:blipFill>
        <p:spPr>
          <a:xfrm>
            <a:off x="5607050" y="2195711"/>
            <a:ext cx="254000" cy="254000"/>
          </a:xfrm>
          <a:prstGeom prst="rect">
            <a:avLst/>
          </a:prstGeom>
        </p:spPr>
      </p:pic>
      <p:sp>
        <p:nvSpPr>
          <p:cNvPr id="13" name="Text 9"/>
          <p:cNvSpPr/>
          <p:nvPr/>
        </p:nvSpPr>
        <p:spPr>
          <a:xfrm>
            <a:off x="3657600" y="2525911"/>
            <a:ext cx="2269554"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Space Grotesk" pitchFamily="34" charset="0"/>
                <a:ea typeface="Space Grotesk" pitchFamily="34" charset="-122"/>
                <a:cs typeface="Space Grotesk" pitchFamily="34" charset="-120"/>
              </a:rPr>
              <a:t>2 · La planta en un modelo</a:t>
            </a:r>
            <a:endParaRPr lang="en-US" sz="1500" dirty="0"/>
          </a:p>
        </p:txBody>
      </p:sp>
      <p:sp>
        <p:nvSpPr>
          <p:cNvPr id="14" name="Text 10"/>
          <p:cNvSpPr/>
          <p:nvPr/>
        </p:nvSpPr>
        <p:spPr>
          <a:xfrm>
            <a:off x="3657600" y="3059311"/>
            <a:ext cx="2269554"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IBM Plex Sans" pitchFamily="34" charset="0"/>
                <a:ea typeface="IBM Plex Sans" pitchFamily="34" charset="-122"/>
                <a:cs typeface="IBM Plex Sans" pitchFamily="34" charset="-120"/>
              </a:rPr>
              <a:t>33 nodos, 50 circuitos y las reglas de 13 comités, versionadas</a:t>
            </a:r>
            <a:endParaRPr lang="en-US" sz="1200" dirty="0"/>
          </a:p>
        </p:txBody>
      </p:sp>
      <p:sp>
        <p:nvSpPr>
          <p:cNvPr id="15" name="Shape 11"/>
          <p:cNvSpPr/>
          <p:nvPr/>
        </p:nvSpPr>
        <p:spPr>
          <a:xfrm>
            <a:off x="6159500" y="2024261"/>
            <a:ext cx="2546350" cy="1823541"/>
          </a:xfrm>
          <a:prstGeom prst="roundRect">
            <a:avLst>
              <a:gd name="adj" fmla="val 5572"/>
            </a:avLst>
          </a:prstGeom>
          <a:solidFill>
            <a:srgbClr val="DCEEF8"/>
          </a:solidFill>
          <a:ln/>
        </p:spPr>
      </p:sp>
      <p:sp>
        <p:nvSpPr>
          <p:cNvPr id="16" name="Text 12"/>
          <p:cNvSpPr/>
          <p:nvPr/>
        </p:nvSpPr>
        <p:spPr>
          <a:xfrm>
            <a:off x="6324600" y="2197001"/>
            <a:ext cx="1061045" cy="238720"/>
          </a:xfrm>
          <a:custGeom>
            <a:avLst/>
            <a:gdLst/>
            <a:ahLst/>
            <a:cxnLst/>
            <a:rect l="l" t="t" r="r" b="b"/>
            <a:pathLst>
              <a:path w="1061045" h="238720">
                <a:moveTo>
                  <a:pt x="119360" y="0"/>
                </a:moveTo>
                <a:lnTo>
                  <a:pt x="941685" y="0"/>
                </a:lnTo>
                <a:arcTo hR="119360" wR="119360" stAng="16200000" swAng="5400000"/>
                <a:lnTo>
                  <a:pt x="1061045" y="119360"/>
                </a:lnTo>
                <a:arcTo hR="119360" wR="119360" stAng="0" swAng="5400000"/>
                <a:lnTo>
                  <a:pt x="119360" y="238720"/>
                </a:lnTo>
                <a:arcTo hR="119360" wR="119360" stAng="5400000" swAng="5400000"/>
                <a:lnTo>
                  <a:pt x="0" y="119360"/>
                </a:lnTo>
                <a:arcTo hR="119360" wR="119360" stAng="10800000" swAng="5400000"/>
                <a:close/>
              </a:path>
            </a:pathLst>
          </a:custGeom>
          <a:solidFill>
            <a:srgbClr val="0F6FA8"/>
          </a:solidFill>
          <a:ln/>
        </p:spPr>
        <p:txBody>
          <a:bodyPr wrap="none" lIns="0" tIns="0" rIns="0" bIns="0" rtlCol="0" anchor="ctr">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EN MARCHA</a:t>
            </a:r>
            <a:endParaRPr lang="en-US" sz="1200" dirty="0"/>
          </a:p>
        </p:txBody>
      </p:sp>
      <p:pic>
        <p:nvPicPr>
          <p:cNvPr id="17" name="Image 2" descr="Link">    </p:cNvPr>
          <p:cNvPicPr>
            <a:picLocks noChangeAspect="1"/>
          </p:cNvPicPr>
          <p:nvPr/>
        </p:nvPicPr>
        <p:blipFill>
          <a:blip r:embed="rId3"/>
          <a:srcRect l="0" r="0" t="0" b="0"/>
          <a:stretch/>
        </p:blipFill>
        <p:spPr>
          <a:xfrm>
            <a:off x="8286750" y="2189361"/>
            <a:ext cx="254000" cy="254000"/>
          </a:xfrm>
          <a:prstGeom prst="rect">
            <a:avLst/>
          </a:prstGeom>
        </p:spPr>
      </p:pic>
      <p:sp>
        <p:nvSpPr>
          <p:cNvPr id="18" name="Text 13"/>
          <p:cNvSpPr/>
          <p:nvPr/>
        </p:nvSpPr>
        <p:spPr>
          <a:xfrm>
            <a:off x="6324600" y="2519561"/>
            <a:ext cx="238125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Space Grotesk" pitchFamily="34" charset="0"/>
                <a:ea typeface="Space Grotesk" pitchFamily="34" charset="-122"/>
                <a:cs typeface="Space Grotesk" pitchFamily="34" charset="-120"/>
              </a:rPr>
              <a:t>3 · Una puerta para la IA</a:t>
            </a:r>
            <a:endParaRPr lang="en-US" sz="1500" dirty="0"/>
          </a:p>
        </p:txBody>
      </p:sp>
      <p:sp>
        <p:nvSpPr>
          <p:cNvPr id="19" name="Text 14"/>
          <p:cNvSpPr/>
          <p:nvPr/>
        </p:nvSpPr>
        <p:spPr>
          <a:xfrm>
            <a:off x="6324600" y="2824361"/>
            <a:ext cx="2282635"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IBM Plex Sans" pitchFamily="34" charset="0"/>
                <a:ea typeface="IBM Plex Sans" pitchFamily="34" charset="-122"/>
                <a:cs typeface="IBM Plex Sans" pitchFamily="34" charset="-120"/>
              </a:rPr>
              <a:t>un MCP: las herramientas con las que un agente consulta la planta y propone</a:t>
            </a:r>
            <a:endParaRPr lang="en-US" sz="1200" dirty="0"/>
          </a:p>
        </p:txBody>
      </p:sp>
      <p:sp>
        <p:nvSpPr>
          <p:cNvPr id="20" name="Shape 15"/>
          <p:cNvSpPr/>
          <p:nvPr/>
        </p:nvSpPr>
        <p:spPr>
          <a:xfrm>
            <a:off x="8832850" y="2024261"/>
            <a:ext cx="2546350" cy="1823541"/>
          </a:xfrm>
          <a:prstGeom prst="roundRect">
            <a:avLst>
              <a:gd name="adj" fmla="val 5572"/>
            </a:avLst>
          </a:prstGeom>
          <a:solidFill>
            <a:srgbClr val="0E1A2B"/>
          </a:solidFill>
          <a:ln/>
        </p:spPr>
      </p:sp>
      <p:sp>
        <p:nvSpPr>
          <p:cNvPr id="21" name="Text 16"/>
          <p:cNvSpPr/>
          <p:nvPr/>
        </p:nvSpPr>
        <p:spPr>
          <a:xfrm>
            <a:off x="8997950" y="2197001"/>
            <a:ext cx="831453" cy="238720"/>
          </a:xfrm>
          <a:custGeom>
            <a:avLst/>
            <a:gdLst/>
            <a:ahLst/>
            <a:cxnLst/>
            <a:rect l="l" t="t" r="r" b="b"/>
            <a:pathLst>
              <a:path w="831453" h="238720">
                <a:moveTo>
                  <a:pt x="119360" y="0"/>
                </a:moveTo>
                <a:lnTo>
                  <a:pt x="712093" y="0"/>
                </a:lnTo>
                <a:arcTo hR="119360" wR="119360" stAng="16200000" swAng="5400000"/>
                <a:lnTo>
                  <a:pt x="831453" y="119360"/>
                </a:lnTo>
                <a:arcTo hR="119360" wR="119360" stAng="0" swAng="5400000"/>
                <a:lnTo>
                  <a:pt x="119360" y="238720"/>
                </a:lnTo>
                <a:arcTo hR="119360" wR="119360" stAng="5400000" swAng="5400000"/>
                <a:lnTo>
                  <a:pt x="0" y="119360"/>
                </a:lnTo>
                <a:arcTo hR="119360" wR="119360" stAng="10800000" swAng="5400000"/>
                <a:close/>
              </a:path>
            </a:pathLst>
          </a:custGeom>
          <a:solidFill>
            <a:srgbClr val="6CC1F2"/>
          </a:solidFill>
          <a:ln/>
        </p:spPr>
        <p:txBody>
          <a:bodyPr wrap="none" lIns="0" tIns="0" rIns="0" bIns="0" rtlCol="0" anchor="ctr">
            <a:normAutofit/>
          </a:bodyPr>
          <a:lstStyle/>
          <a:p>
            <a:pPr algn="ctr" indent="0" marL="0">
              <a:lnSpc>
                <a:spcPts val="1680"/>
              </a:lnSpc>
              <a:buNone/>
            </a:pPr>
            <a:r>
              <a:rPr lang="en-US" sz="1200" b="1" dirty="0">
                <a:solidFill>
                  <a:srgbClr val="0E1A2B"/>
                </a:solidFill>
                <a:latin typeface="IBM Plex Sans" pitchFamily="34" charset="0"/>
                <a:ea typeface="IBM Plex Sans" pitchFamily="34" charset="-122"/>
                <a:cs typeface="IBM Plex Sans" pitchFamily="34" charset="-120"/>
              </a:rPr>
              <a:t>SE SUMA</a:t>
            </a:r>
            <a:endParaRPr lang="en-US" sz="1200" dirty="0"/>
          </a:p>
        </p:txBody>
      </p:sp>
      <p:pic>
        <p:nvPicPr>
          <p:cNvPr id="22" name="Image 3" descr="Lightbulb">    </p:cNvPr>
          <p:cNvPicPr>
            <a:picLocks noChangeAspect="1"/>
          </p:cNvPicPr>
          <p:nvPr/>
        </p:nvPicPr>
        <p:blipFill>
          <a:blip r:embed="rId4"/>
          <a:srcRect l="0" r="0" t="0" b="0"/>
          <a:stretch/>
        </p:blipFill>
        <p:spPr>
          <a:xfrm>
            <a:off x="10960100" y="2189361"/>
            <a:ext cx="254000" cy="254000"/>
          </a:xfrm>
          <a:prstGeom prst="rect">
            <a:avLst/>
          </a:prstGeom>
        </p:spPr>
      </p:pic>
      <p:sp>
        <p:nvSpPr>
          <p:cNvPr id="23" name="Text 17"/>
          <p:cNvSpPr/>
          <p:nvPr/>
        </p:nvSpPr>
        <p:spPr>
          <a:xfrm>
            <a:off x="8997950" y="2519561"/>
            <a:ext cx="2282635"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CFDFB"/>
                </a:solidFill>
                <a:latin typeface="Space Grotesk" pitchFamily="34" charset="0"/>
                <a:ea typeface="Space Grotesk" pitchFamily="34" charset="-122"/>
                <a:cs typeface="Space Grotesk" pitchFamily="34" charset="-120"/>
              </a:rPr>
              <a:t>4 · Agentes, capa por capa</a:t>
            </a:r>
            <a:endParaRPr lang="en-US" sz="1500" dirty="0"/>
          </a:p>
        </p:txBody>
      </p:sp>
      <p:sp>
        <p:nvSpPr>
          <p:cNvPr id="24" name="Text 18"/>
          <p:cNvSpPr/>
          <p:nvPr/>
        </p:nvSpPr>
        <p:spPr>
          <a:xfrm>
            <a:off x="8997950" y="3052961"/>
            <a:ext cx="228263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C4CE"/>
                </a:solidFill>
                <a:latin typeface="IBM Plex Sans" pitchFamily="34" charset="0"/>
                <a:ea typeface="IBM Plex Sans" pitchFamily="34" charset="-122"/>
                <a:cs typeface="IBM Plex Sans" pitchFamily="34" charset="-120"/>
              </a:rPr>
              <a:t>primero miden, después anticipan, cuentan y corrigen</a:t>
            </a:r>
            <a:endParaRPr lang="en-US" sz="1200" dirty="0"/>
          </a:p>
        </p:txBody>
      </p:sp>
      <p:sp>
        <p:nvSpPr>
          <p:cNvPr id="25" name="Shape 19"/>
          <p:cNvSpPr/>
          <p:nvPr/>
        </p:nvSpPr>
        <p:spPr>
          <a:xfrm>
            <a:off x="815975" y="4028777"/>
            <a:ext cx="10560050" cy="731441"/>
          </a:xfrm>
          <a:prstGeom prst="roundRect">
            <a:avLst>
              <a:gd name="adj" fmla="val 13456"/>
            </a:avLst>
          </a:prstGeom>
          <a:solidFill>
            <a:srgbClr val="FCFDFB"/>
          </a:solidFill>
          <a:ln w="6350">
            <a:solidFill>
              <a:srgbClr val="D2DBE0"/>
            </a:solidFill>
            <a:prstDash val="solid"/>
          </a:ln>
        </p:spPr>
      </p:sp>
      <p:pic>
        <p:nvPicPr>
          <p:cNvPr id="26" name="Image 4" descr="Users">    </p:cNvPr>
          <p:cNvPicPr>
            <a:picLocks noChangeAspect="1"/>
          </p:cNvPicPr>
          <p:nvPr/>
        </p:nvPicPr>
        <p:blipFill>
          <a:blip r:embed="rId5"/>
          <a:srcRect l="0" r="0" t="0" b="0"/>
          <a:stretch/>
        </p:blipFill>
        <p:spPr>
          <a:xfrm>
            <a:off x="996950" y="4267498"/>
            <a:ext cx="254000" cy="254000"/>
          </a:xfrm>
          <a:prstGeom prst="rect">
            <a:avLst/>
          </a:prstGeom>
        </p:spPr>
      </p:pic>
      <p:sp>
        <p:nvSpPr>
          <p:cNvPr id="27" name="Text 20"/>
          <p:cNvSpPr/>
          <p:nvPr/>
        </p:nvSpPr>
        <p:spPr>
          <a:xfrm>
            <a:off x="1403350" y="4171652"/>
            <a:ext cx="10085451"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3202E"/>
                </a:solidFill>
                <a:latin typeface="IBM Plex Sans" pitchFamily="34" charset="0"/>
                <a:ea typeface="IBM Plex Sans" pitchFamily="34" charset="-122"/>
                <a:cs typeface="IBM Plex Sans" pitchFamily="34" charset="-120"/>
              </a:rPr>
              <a:t>Hoy</a:t>
            </a:r>
            <a:r>
              <a:rPr lang="en-US" sz="1300" dirty="0">
                <a:solidFill>
                  <a:srgbClr val="13202E"/>
                </a:solidFill>
                <a:latin typeface="IBM Plex Sans" pitchFamily="34" charset="0"/>
                <a:ea typeface="IBM Plex Sans" pitchFamily="34" charset="-122"/>
                <a:cs typeface="IBM Plex Sans" pitchFamily="34" charset="-120"/>
              </a:rPr>
              <a:t> una persona mira el tablero y decide. </a:t>
            </a:r>
            <a:r>
              <a:rPr lang="en-US" sz="1300" b="1" dirty="0">
                <a:solidFill>
                  <a:srgbClr val="13202E"/>
                </a:solidFill>
                <a:latin typeface="IBM Plex Sans" pitchFamily="34" charset="0"/>
                <a:ea typeface="IBM Plex Sans" pitchFamily="34" charset="-122"/>
                <a:cs typeface="IBM Plex Sans" pitchFamily="34" charset="-120"/>
              </a:rPr>
              <a:t>Con agentes</a:t>
            </a:r>
            <a:r>
              <a:rPr lang="en-US" sz="1300" dirty="0">
                <a:solidFill>
                  <a:srgbClr val="13202E"/>
                </a:solidFill>
                <a:latin typeface="IBM Plex Sans" pitchFamily="34" charset="0"/>
                <a:ea typeface="IBM Plex Sans" pitchFamily="34" charset="-122"/>
                <a:cs typeface="IBM Plex Sans" pitchFamily="34" charset="-120"/>
              </a:rPr>
              <a:t>, la planta entera se mira todo el tiempo y la propuesta llega antes de que se arme la cola.</a:t>
            </a:r>
            <a:endParaRPr lang="en-US" sz="1300" dirty="0"/>
          </a:p>
        </p:txBody>
      </p:sp>
      <p:sp>
        <p:nvSpPr>
          <p:cNvPr id="28" name="Text 2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Truckflow Vicentin · propuesta interna</a:t>
            </a:r>
            <a:endParaRPr lang="en-US" sz="1200" dirty="0"/>
          </a:p>
        </p:txBody>
      </p:sp>
      <p:sp>
        <p:nvSpPr>
          <p:cNvPr id="29" name="Text 22"/>
          <p:cNvSpPr/>
          <p:nvPr/>
        </p:nvSpPr>
        <p:spPr>
          <a:xfrm>
            <a:off x="10718800" y="623828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FA8"/>
                </a:solidFill>
                <a:latin typeface="IBM Plex Sans" pitchFamily="34" charset="0"/>
                <a:ea typeface="IBM Plex Sans" pitchFamily="34" charset="-122"/>
                <a:cs typeface="IBM Plex Sans" pitchFamily="34" charset="-120"/>
              </a:rPr>
              <a:t>LAS CAPAS DE AGENTES</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Space Grotesk" pitchFamily="34" charset="0"/>
                <a:ea typeface="Space Grotesk" pitchFamily="34" charset="-122"/>
                <a:cs typeface="Space Grotesk" pitchFamily="34" charset="-120"/>
              </a:rPr>
              <a:t>Cuatro capas, cada una con su técnica</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11920"/>
          <a:ext cx="10553700" cy="2516188"/>
        </p:xfrm>
        <a:graphic>
          <a:graphicData uri="http://schemas.openxmlformats.org/drawingml/2006/table">
            <a:tbl>
              <a:tblPr/>
              <a:tblGrid>
                <a:gridCol w="1583055"/>
                <a:gridCol w="1477518"/>
                <a:gridCol w="3693795"/>
                <a:gridCol w="2638425"/>
                <a:gridCol w="1160907"/>
              </a:tblGrid>
              <a:tr h="332581">
                <a:tc>
                  <a:txBody>
                    <a:bodyPr/>
                    <a:lstStyle/>
                    <a:p>
                      <a:pP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Capa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1"/>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Resuelve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Cómo funciona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Entra → sale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Estado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r>
              <a:tr h="545902">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1 · Deterministas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1"/>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qué pasa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reglas versionadas sobre el modelo de nodos: una máquina de estados por camión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eventos + movimientos → circuito, tramos, anomalías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HOY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545902">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2 · Predictivos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qué va a pasar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simulación de colas con la capacidad de cada playa; después, modelos aprendidos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estado en vivo + llegadas → espera por playa, a horas vista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indent="0" marL="0">
                        <a:lnSpc>
                          <a:spcPts val="1680"/>
                        </a:lnSpc>
                        <a:buNone/>
                      </a:pPr>
                      <a:r>
                        <a:rPr lang="en-US" sz="1200" dirty="0">
                          <a:solidFill>
                            <a:srgbClr val="0F6FA8"/>
                          </a:solidFill>
                          <a:latin typeface="IBM Plex Sans" pitchFamily="34" charset="0"/>
                          <a:ea typeface="IBM Plex Sans" pitchFamily="34" charset="-122"/>
                          <a:cs typeface="IBM Plex Sans" pitchFamily="34" charset="-120"/>
                        </a:rPr>
                        <a:t>SE SUMA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r>
              <a:tr h="545902">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3 · Comunicadores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1"/>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quién debe saberlo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modelo de lenguaje con tools MCP: redacta solo con cifras que salen de las tools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hallazgos → alertas, parte de turno, comité</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0F6FA8"/>
                          </a:solidFill>
                          <a:latin typeface="IBM Plex Sans" pitchFamily="34" charset="0"/>
                          <a:ea typeface="IBM Plex Sans" pitchFamily="34" charset="-122"/>
                          <a:cs typeface="IBM Plex Sans" pitchFamily="34" charset="-120"/>
                        </a:rPr>
                        <a:t>EN MARCHA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545902">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4 · Correctivos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qué hacer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políticas de control con límites: cupo por playa, llamado de camiones, calle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pronóstico + reglas → comando a TruckFlow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indent="0" marL="0">
                        <a:lnSpc>
                          <a:spcPts val="1680"/>
                        </a:lnSpc>
                        <a:buNone/>
                      </a:pPr>
                      <a:r>
                        <a:rPr lang="en-US" sz="1200" dirty="0">
                          <a:solidFill>
                            <a:srgbClr val="8A5200"/>
                          </a:solidFill>
                          <a:latin typeface="IBM Plex Sans" pitchFamily="34" charset="0"/>
                          <a:ea typeface="IBM Plex Sans" pitchFamily="34" charset="-122"/>
                          <a:cs typeface="IBM Plex Sans" pitchFamily="34" charset="-120"/>
                        </a:rPr>
                        <a:t>HORIZONTE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r>
            </a:tbl>
          </a:graphicData>
        </a:graphic>
      </p:graphicFrame>
      <p:sp>
        <p:nvSpPr>
          <p:cNvPr id="5" name="Shape 2"/>
          <p:cNvSpPr/>
          <p:nvPr/>
        </p:nvSpPr>
        <p:spPr>
          <a:xfrm>
            <a:off x="812800" y="4405908"/>
            <a:ext cx="10566400" cy="533400"/>
          </a:xfrm>
          <a:prstGeom prst="roundRect">
            <a:avLst>
              <a:gd name="adj" fmla="val 19048"/>
            </a:avLst>
          </a:prstGeom>
          <a:solidFill>
            <a:srgbClr val="0E1A2B"/>
          </a:solidFill>
          <a:ln/>
        </p:spPr>
      </p:sp>
      <p:pic>
        <p:nvPicPr>
          <p:cNvPr id="6" name="Image 0" descr="Database">    </p:cNvPr>
          <p:cNvPicPr>
            <a:picLocks noChangeAspect="1"/>
          </p:cNvPicPr>
          <p:nvPr/>
        </p:nvPicPr>
        <p:blipFill>
          <a:blip r:embed="rId1"/>
          <a:srcRect l="0" r="0" t="0" b="0"/>
          <a:stretch/>
        </p:blipFill>
        <p:spPr>
          <a:xfrm>
            <a:off x="990600" y="4545608"/>
            <a:ext cx="254000" cy="254000"/>
          </a:xfrm>
          <a:prstGeom prst="rect">
            <a:avLst/>
          </a:prstGeom>
        </p:spPr>
      </p:pic>
      <p:sp>
        <p:nvSpPr>
          <p:cNvPr id="7" name="Text 3"/>
          <p:cNvSpPr/>
          <p:nvPr/>
        </p:nvSpPr>
        <p:spPr>
          <a:xfrm>
            <a:off x="1371600" y="4561185"/>
            <a:ext cx="10124694"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EF2F4"/>
                </a:solidFill>
                <a:latin typeface="IBM Plex Sans" pitchFamily="34" charset="0"/>
                <a:ea typeface="IBM Plex Sans" pitchFamily="34" charset="-122"/>
                <a:cs typeface="IBM Plex Sans" pitchFamily="34" charset="-120"/>
              </a:rPr>
              <a:t>Todas leen el mismo modelo de nodos</a:t>
            </a:r>
            <a:r>
              <a:rPr lang="en-US" sz="1300" dirty="0">
                <a:solidFill>
                  <a:srgbClr val="EEF2F4"/>
                </a:solidFill>
                <a:latin typeface="IBM Plex Sans" pitchFamily="34" charset="0"/>
                <a:ea typeface="IBM Plex Sans" pitchFamily="34" charset="-122"/>
                <a:cs typeface="IBM Plex Sans" pitchFamily="34" charset="-120"/>
              </a:rPr>
              <a:t> y publican al orquestador: ninguna actúa sobre la planta sin pasar por él.</a:t>
            </a:r>
            <a:endParaRPr lang="en-US" sz="1300" dirty="0"/>
          </a:p>
        </p:txBody>
      </p:sp>
      <p:sp>
        <p:nvSpPr>
          <p:cNvPr id="8" name="Text 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Truckflow Vicentin · propuesta interna</a:t>
            </a:r>
            <a:endParaRPr lang="en-US" sz="1200" dirty="0"/>
          </a:p>
        </p:txBody>
      </p:sp>
      <p:sp>
        <p:nvSpPr>
          <p:cNvPr id="9" name="Text 5"/>
          <p:cNvSpPr/>
          <p:nvPr/>
        </p:nvSpPr>
        <p:spPr>
          <a:xfrm>
            <a:off x="10718800" y="623828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FA8"/>
                </a:solidFill>
                <a:latin typeface="IBM Plex Sans" pitchFamily="34" charset="0"/>
                <a:ea typeface="IBM Plex Sans" pitchFamily="34" charset="-122"/>
                <a:cs typeface="IBM Plex Sans" pitchFamily="34" charset="-120"/>
              </a:rPr>
              <a:t>EL ORQUESTADOR</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Space Grotesk" pitchFamily="34" charset="0"/>
                <a:ea typeface="Space Grotesk" pitchFamily="34" charset="-122"/>
                <a:cs typeface="Space Grotesk" pitchFamily="34" charset="-120"/>
              </a:rPr>
              <a:t>Un solo lugar donde se decide</a:t>
            </a:r>
            <a:endParaRPr lang="en-US" sz="3000" dirty="0"/>
          </a:p>
        </p:txBody>
      </p:sp>
      <p:sp>
        <p:nvSpPr>
          <p:cNvPr id="4" name="Shape 2"/>
          <p:cNvSpPr/>
          <p:nvPr/>
        </p:nvSpPr>
        <p:spPr>
          <a:xfrm>
            <a:off x="812800" y="1699220"/>
            <a:ext cx="5984875" cy="2570163"/>
          </a:xfrm>
          <a:prstGeom prst="roundRect">
            <a:avLst>
              <a:gd name="adj" fmla="val 3953"/>
            </a:avLst>
          </a:prstGeom>
          <a:solidFill>
            <a:srgbClr val="0E1A2B"/>
          </a:solidFill>
          <a:ln/>
        </p:spPr>
      </p:sp>
      <p:sp>
        <p:nvSpPr>
          <p:cNvPr id="5" name="Text 3"/>
          <p:cNvSpPr/>
          <p:nvPr/>
        </p:nvSpPr>
        <p:spPr>
          <a:xfrm>
            <a:off x="1016000" y="1902420"/>
            <a:ext cx="57458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CC1F2"/>
                </a:solidFill>
                <a:latin typeface="IBM Plex Sans" pitchFamily="34" charset="0"/>
                <a:ea typeface="IBM Plex Sans" pitchFamily="34" charset="-122"/>
                <a:cs typeface="IBM Plex Sans" pitchFamily="34" charset="-120"/>
              </a:rPr>
              <a:t>CÓMO FUNCIONA</a:t>
            </a:r>
            <a:endParaRPr lang="en-US" sz="1200" dirty="0"/>
          </a:p>
        </p:txBody>
      </p:sp>
      <p:sp>
        <p:nvSpPr>
          <p:cNvPr id="6" name="Text 4"/>
          <p:cNvSpPr/>
          <p:nvPr/>
        </p:nvSpPr>
        <p:spPr>
          <a:xfrm>
            <a:off x="1016000" y="2230041"/>
            <a:ext cx="574582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Estado de planta:</a:t>
            </a:r>
            <a:r>
              <a:rPr lang="en-US" sz="1200" dirty="0">
                <a:solidFill>
                  <a:srgbClr val="B8C4CE"/>
                </a:solidFill>
                <a:latin typeface="IBM Plex Sans" pitchFamily="34" charset="0"/>
                <a:ea typeface="IBM Plex Sans" pitchFamily="34" charset="-122"/>
                <a:cs typeface="IBM Plex Sans" pitchFamily="34" charset="-120"/>
              </a:rPr>
              <a:t> suscripto a los eventos de TruckFlow, mantiene dónde está cada camión contra el modelo de nodos</a:t>
            </a:r>
            <a:endParaRPr lang="en-US" sz="1200" dirty="0"/>
          </a:p>
        </p:txBody>
      </p:sp>
      <p:sp>
        <p:nvSpPr>
          <p:cNvPr id="7" name="Text 5"/>
          <p:cNvSpPr/>
          <p:nvPr/>
        </p:nvSpPr>
        <p:spPr>
          <a:xfrm>
            <a:off x="1016000" y="2770981"/>
            <a:ext cx="574582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Bidireccional:</a:t>
            </a:r>
            <a:r>
              <a:rPr lang="en-US" sz="1200" dirty="0">
                <a:solidFill>
                  <a:srgbClr val="B8C4CE"/>
                </a:solidFill>
                <a:latin typeface="IBM Plex Sans" pitchFamily="34" charset="0"/>
                <a:ea typeface="IBM Plex Sans" pitchFamily="34" charset="-122"/>
                <a:cs typeface="IBM Plex Sans" pitchFamily="34" charset="-120"/>
              </a:rPr>
              <a:t> pide escenarios a los predictivos y órdenes de cumplimiento a los correctivos, y espera la respuesta</a:t>
            </a:r>
            <a:endParaRPr lang="en-US" sz="1200" dirty="0"/>
          </a:p>
        </p:txBody>
      </p:sp>
      <p:sp>
        <p:nvSpPr>
          <p:cNvPr id="8" name="Text 6"/>
          <p:cNvSpPr/>
          <p:nvPr/>
        </p:nvSpPr>
        <p:spPr>
          <a:xfrm>
            <a:off x="1016000" y="3311922"/>
            <a:ext cx="574582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Arbitra:</a:t>
            </a:r>
            <a:r>
              <a:rPr lang="en-US" sz="1200" dirty="0">
                <a:solidFill>
                  <a:srgbClr val="B8C4CE"/>
                </a:solidFill>
                <a:latin typeface="IBM Plex Sans" pitchFamily="34" charset="0"/>
                <a:ea typeface="IBM Plex Sans" pitchFamily="34" charset="-122"/>
                <a:cs typeface="IBM Plex Sans" pitchFamily="34" charset="-120"/>
              </a:rPr>
              <a:t> si dos agentes proponen cosas opuestas, decide con las prioridades de la planta</a:t>
            </a:r>
            <a:endParaRPr lang="en-US" sz="1200" dirty="0"/>
          </a:p>
        </p:txBody>
      </p:sp>
      <p:sp>
        <p:nvSpPr>
          <p:cNvPr id="9" name="Text 7"/>
          <p:cNvSpPr/>
          <p:nvPr/>
        </p:nvSpPr>
        <p:spPr>
          <a:xfrm>
            <a:off x="1016000" y="3852863"/>
            <a:ext cx="57458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Registra:</a:t>
            </a:r>
            <a:r>
              <a:rPr lang="en-US" sz="1200" dirty="0">
                <a:solidFill>
                  <a:srgbClr val="B8C4CE"/>
                </a:solidFill>
                <a:latin typeface="IBM Plex Sans" pitchFamily="34" charset="0"/>
                <a:ea typeface="IBM Plex Sans" pitchFamily="34" charset="-122"/>
                <a:cs typeface="IBM Plex Sans" pitchFamily="34" charset="-120"/>
              </a:rPr>
              <a:t> quién propuso, quién aprobó y qué se ejecutó</a:t>
            </a:r>
            <a:endParaRPr lang="en-US" sz="1200" dirty="0"/>
          </a:p>
        </p:txBody>
      </p:sp>
      <p:sp>
        <p:nvSpPr>
          <p:cNvPr id="10" name="Shape 8"/>
          <p:cNvSpPr/>
          <p:nvPr/>
        </p:nvSpPr>
        <p:spPr>
          <a:xfrm>
            <a:off x="6978650" y="1702395"/>
            <a:ext cx="4397375" cy="2563813"/>
          </a:xfrm>
          <a:prstGeom prst="roundRect">
            <a:avLst>
              <a:gd name="adj" fmla="val 3839"/>
            </a:avLst>
          </a:prstGeom>
          <a:solidFill>
            <a:srgbClr val="FCFDFB"/>
          </a:solidFill>
          <a:ln w="6350">
            <a:solidFill>
              <a:srgbClr val="D2DBE0"/>
            </a:solidFill>
            <a:prstDash val="solid"/>
          </a:ln>
        </p:spPr>
      </p:sp>
      <p:sp>
        <p:nvSpPr>
          <p:cNvPr id="11" name="Text 9"/>
          <p:cNvSpPr/>
          <p:nvPr/>
        </p:nvSpPr>
        <p:spPr>
          <a:xfrm>
            <a:off x="7185025" y="1908770"/>
            <a:ext cx="410416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FA8"/>
                </a:solidFill>
                <a:latin typeface="IBM Plex Sans" pitchFamily="34" charset="0"/>
                <a:ea typeface="IBM Plex Sans" pitchFamily="34" charset="-122"/>
                <a:cs typeface="IBM Plex Sans" pitchFamily="34" charset="-120"/>
              </a:rPr>
              <a:t>FLUJO CON CADA CAPA</a:t>
            </a:r>
            <a:endParaRPr lang="en-US" sz="1200" dirty="0"/>
          </a:p>
        </p:txBody>
      </p:sp>
      <p:sp>
        <p:nvSpPr>
          <p:cNvPr id="12" name="Text 10"/>
          <p:cNvSpPr/>
          <p:nvPr/>
        </p:nvSpPr>
        <p:spPr>
          <a:xfrm>
            <a:off x="7185025" y="2202061"/>
            <a:ext cx="131123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E"/>
                </a:solidFill>
                <a:latin typeface="IBM Plex Sans" pitchFamily="34" charset="0"/>
                <a:ea typeface="IBM Plex Sans" pitchFamily="34" charset="-122"/>
                <a:cs typeface="IBM Plex Sans" pitchFamily="34" charset="-120"/>
              </a:rPr>
              <a:t>Deterministas</a:t>
            </a:r>
            <a:endParaRPr lang="en-US" sz="1300" dirty="0"/>
          </a:p>
        </p:txBody>
      </p:sp>
      <p:sp>
        <p:nvSpPr>
          <p:cNvPr id="13" name="Text 11"/>
          <p:cNvSpPr/>
          <p:nvPr/>
        </p:nvSpPr>
        <p:spPr>
          <a:xfrm>
            <a:off x="10082014" y="2198291"/>
            <a:ext cx="1087636" cy="238720"/>
          </a:xfrm>
          <a:custGeom>
            <a:avLst/>
            <a:gdLst/>
            <a:ahLst/>
            <a:cxnLst/>
            <a:rect l="l" t="t" r="r" b="b"/>
            <a:pathLst>
              <a:path w="1087636" h="238720">
                <a:moveTo>
                  <a:pt x="119360" y="0"/>
                </a:moveTo>
                <a:lnTo>
                  <a:pt x="968276" y="0"/>
                </a:lnTo>
                <a:arcTo hR="119360" wR="119360" stAng="16200000" swAng="5400000"/>
                <a:lnTo>
                  <a:pt x="1087636" y="119360"/>
                </a:lnTo>
                <a:arcTo hR="119360" wR="119360" stAng="0" swAng="5400000"/>
                <a:lnTo>
                  <a:pt x="119360" y="238720"/>
                </a:lnTo>
                <a:arcTo hR="119360" wR="119360" stAng="5400000" swAng="5400000"/>
                <a:lnTo>
                  <a:pt x="0" y="119360"/>
                </a:lnTo>
                <a:arcTo hR="119360" wR="119360" stAng="10800000" swAng="5400000"/>
                <a:close/>
              </a:path>
            </a:pathLst>
          </a:custGeom>
          <a:solidFill>
            <a:srgbClr val="E1E6E9"/>
          </a:solidFill>
          <a:ln/>
        </p:spPr>
        <p:txBody>
          <a:bodyPr wrap="none" lIns="0" tIns="0" rIns="0" bIns="0" rtlCol="0" anchor="ctr">
            <a:normAutofit/>
          </a:bodyPr>
          <a:lstStyle/>
          <a:p>
            <a:pPr algn="ctr"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solo publican</a:t>
            </a:r>
            <a:endParaRPr lang="en-US" sz="1200" dirty="0"/>
          </a:p>
        </p:txBody>
      </p:sp>
      <p:sp>
        <p:nvSpPr>
          <p:cNvPr id="14" name="Text 12"/>
          <p:cNvSpPr/>
          <p:nvPr/>
        </p:nvSpPr>
        <p:spPr>
          <a:xfrm>
            <a:off x="7185025" y="2516981"/>
            <a:ext cx="104715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E"/>
                </a:solidFill>
                <a:latin typeface="IBM Plex Sans" pitchFamily="34" charset="0"/>
                <a:ea typeface="IBM Plex Sans" pitchFamily="34" charset="-122"/>
                <a:cs typeface="IBM Plex Sans" pitchFamily="34" charset="-120"/>
              </a:rPr>
              <a:t>Predictivos</a:t>
            </a:r>
            <a:endParaRPr lang="en-US" sz="1300" dirty="0"/>
          </a:p>
        </p:txBody>
      </p:sp>
      <p:sp>
        <p:nvSpPr>
          <p:cNvPr id="15" name="Text 13"/>
          <p:cNvSpPr/>
          <p:nvPr/>
        </p:nvSpPr>
        <p:spPr>
          <a:xfrm>
            <a:off x="10166548" y="2513211"/>
            <a:ext cx="1003102" cy="238720"/>
          </a:xfrm>
          <a:custGeom>
            <a:avLst/>
            <a:gdLst/>
            <a:ahLst/>
            <a:cxnLst/>
            <a:rect l="l" t="t" r="r" b="b"/>
            <a:pathLst>
              <a:path w="1003102" h="238720">
                <a:moveTo>
                  <a:pt x="119360" y="0"/>
                </a:moveTo>
                <a:lnTo>
                  <a:pt x="883741" y="0"/>
                </a:lnTo>
                <a:arcTo hR="119360" wR="119360" stAng="16200000" swAng="5400000"/>
                <a:lnTo>
                  <a:pt x="1003102" y="119360"/>
                </a:lnTo>
                <a:arcTo hR="119360" wR="119360" stAng="0" swAng="5400000"/>
                <a:lnTo>
                  <a:pt x="119360" y="238720"/>
                </a:lnTo>
                <a:arcTo hR="119360" wR="119360" stAng="5400000" swAng="5400000"/>
                <a:lnTo>
                  <a:pt x="0" y="119360"/>
                </a:lnTo>
                <a:arcTo hR="119360" wR="119360" stAng="10800000" swAng="5400000"/>
                <a:close/>
              </a:path>
            </a:pathLst>
          </a:custGeom>
          <a:solidFill>
            <a:srgbClr val="0F6FA8"/>
          </a:solidFill>
          <a:ln/>
        </p:spPr>
        <p:txBody>
          <a:bodyPr wrap="none" lIns="0" tIns="0" rIns="0" bIns="0" rtlCol="0" anchor="ctr">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ida y vuelta</a:t>
            </a:r>
            <a:endParaRPr lang="en-US" sz="1200" dirty="0"/>
          </a:p>
        </p:txBody>
      </p:sp>
      <p:sp>
        <p:nvSpPr>
          <p:cNvPr id="16" name="Text 14"/>
          <p:cNvSpPr/>
          <p:nvPr/>
        </p:nvSpPr>
        <p:spPr>
          <a:xfrm>
            <a:off x="7185025" y="2831902"/>
            <a:ext cx="144827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E"/>
                </a:solidFill>
                <a:latin typeface="IBM Plex Sans" pitchFamily="34" charset="0"/>
                <a:ea typeface="IBM Plex Sans" pitchFamily="34" charset="-122"/>
                <a:cs typeface="IBM Plex Sans" pitchFamily="34" charset="-120"/>
              </a:rPr>
              <a:t>Comunicadores</a:t>
            </a:r>
            <a:endParaRPr lang="en-US" sz="1300" dirty="0"/>
          </a:p>
        </p:txBody>
      </p:sp>
      <p:sp>
        <p:nvSpPr>
          <p:cNvPr id="17" name="Text 15"/>
          <p:cNvSpPr/>
          <p:nvPr/>
        </p:nvSpPr>
        <p:spPr>
          <a:xfrm>
            <a:off x="10157222" y="2828131"/>
            <a:ext cx="1012428" cy="238720"/>
          </a:xfrm>
          <a:custGeom>
            <a:avLst/>
            <a:gdLst/>
            <a:ahLst/>
            <a:cxnLst/>
            <a:rect l="l" t="t" r="r" b="b"/>
            <a:pathLst>
              <a:path w="1012428" h="238720">
                <a:moveTo>
                  <a:pt x="119360" y="0"/>
                </a:moveTo>
                <a:lnTo>
                  <a:pt x="893068" y="0"/>
                </a:lnTo>
                <a:arcTo hR="119360" wR="119360" stAng="16200000" swAng="5400000"/>
                <a:lnTo>
                  <a:pt x="1012428" y="119360"/>
                </a:lnTo>
                <a:arcTo hR="119360" wR="119360" stAng="0" swAng="5400000"/>
                <a:lnTo>
                  <a:pt x="119360" y="238720"/>
                </a:lnTo>
                <a:arcTo hR="119360" wR="119360" stAng="5400000" swAng="5400000"/>
                <a:lnTo>
                  <a:pt x="0" y="119360"/>
                </a:lnTo>
                <a:arcTo hR="119360" wR="119360" stAng="10800000" swAng="5400000"/>
                <a:close/>
              </a:path>
            </a:pathLst>
          </a:custGeom>
          <a:solidFill>
            <a:srgbClr val="E1E6E9"/>
          </a:solidFill>
          <a:ln/>
        </p:spPr>
        <p:txBody>
          <a:bodyPr wrap="none" lIns="0" tIns="0" rIns="0" bIns="0" rtlCol="0" anchor="ctr">
            <a:normAutofit/>
          </a:bodyPr>
          <a:lstStyle/>
          <a:p>
            <a:pPr algn="ctr"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solo reciben</a:t>
            </a:r>
            <a:endParaRPr lang="en-US" sz="1200" dirty="0"/>
          </a:p>
        </p:txBody>
      </p:sp>
      <p:sp>
        <p:nvSpPr>
          <p:cNvPr id="18" name="Text 16"/>
          <p:cNvSpPr/>
          <p:nvPr/>
        </p:nvSpPr>
        <p:spPr>
          <a:xfrm>
            <a:off x="7185025" y="3146822"/>
            <a:ext cx="106275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E"/>
                </a:solidFill>
                <a:latin typeface="IBM Plex Sans" pitchFamily="34" charset="0"/>
                <a:ea typeface="IBM Plex Sans" pitchFamily="34" charset="-122"/>
                <a:cs typeface="IBM Plex Sans" pitchFamily="34" charset="-120"/>
              </a:rPr>
              <a:t>Correctivos</a:t>
            </a:r>
            <a:endParaRPr lang="en-US" sz="1300" dirty="0"/>
          </a:p>
        </p:txBody>
      </p:sp>
      <p:sp>
        <p:nvSpPr>
          <p:cNvPr id="19" name="Text 17"/>
          <p:cNvSpPr/>
          <p:nvPr/>
        </p:nvSpPr>
        <p:spPr>
          <a:xfrm>
            <a:off x="10166548" y="3143052"/>
            <a:ext cx="1003102" cy="238720"/>
          </a:xfrm>
          <a:custGeom>
            <a:avLst/>
            <a:gdLst/>
            <a:ahLst/>
            <a:cxnLst/>
            <a:rect l="l" t="t" r="r" b="b"/>
            <a:pathLst>
              <a:path w="1003102" h="238720">
                <a:moveTo>
                  <a:pt x="119360" y="0"/>
                </a:moveTo>
                <a:lnTo>
                  <a:pt x="883741" y="0"/>
                </a:lnTo>
                <a:arcTo hR="119360" wR="119360" stAng="16200000" swAng="5400000"/>
                <a:lnTo>
                  <a:pt x="1003102" y="119360"/>
                </a:lnTo>
                <a:arcTo hR="119360" wR="119360" stAng="0" swAng="5400000"/>
                <a:lnTo>
                  <a:pt x="119360" y="238720"/>
                </a:lnTo>
                <a:arcTo hR="119360" wR="119360" stAng="5400000" swAng="5400000"/>
                <a:lnTo>
                  <a:pt x="0" y="119360"/>
                </a:lnTo>
                <a:arcTo hR="119360" wR="119360" stAng="10800000" swAng="5400000"/>
                <a:close/>
              </a:path>
            </a:pathLst>
          </a:custGeom>
          <a:solidFill>
            <a:srgbClr val="0F6FA8"/>
          </a:solidFill>
          <a:ln/>
        </p:spPr>
        <p:txBody>
          <a:bodyPr wrap="none" lIns="0" tIns="0" rIns="0" bIns="0" rtlCol="0" anchor="ctr">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ida y vuelta</a:t>
            </a:r>
            <a:endParaRPr lang="en-US" sz="1200" dirty="0"/>
          </a:p>
        </p:txBody>
      </p:sp>
      <p:sp>
        <p:nvSpPr>
          <p:cNvPr id="20" name="Shape 18"/>
          <p:cNvSpPr/>
          <p:nvPr/>
        </p:nvSpPr>
        <p:spPr>
          <a:xfrm>
            <a:off x="812800" y="4447183"/>
            <a:ext cx="10566400" cy="725091"/>
          </a:xfrm>
          <a:prstGeom prst="roundRect">
            <a:avLst>
              <a:gd name="adj" fmla="val 14012"/>
            </a:avLst>
          </a:prstGeom>
          <a:solidFill>
            <a:srgbClr val="DCEEF8"/>
          </a:solidFill>
          <a:ln/>
        </p:spPr>
      </p:sp>
      <p:pic>
        <p:nvPicPr>
          <p:cNvPr id="21" name="Image 0" descr="Link">    </p:cNvPr>
          <p:cNvPicPr>
            <a:picLocks noChangeAspect="1"/>
          </p:cNvPicPr>
          <p:nvPr/>
        </p:nvPicPr>
        <p:blipFill>
          <a:blip r:embed="rId1"/>
          <a:srcRect l="0" r="0" t="0" b="0"/>
          <a:stretch/>
        </p:blipFill>
        <p:spPr>
          <a:xfrm>
            <a:off x="990600" y="4682728"/>
            <a:ext cx="254000" cy="254000"/>
          </a:xfrm>
          <a:prstGeom prst="rect">
            <a:avLst/>
          </a:prstGeom>
        </p:spPr>
      </p:pic>
      <p:sp>
        <p:nvSpPr>
          <p:cNvPr id="22" name="Text 19"/>
          <p:cNvSpPr/>
          <p:nvPr/>
        </p:nvSpPr>
        <p:spPr>
          <a:xfrm>
            <a:off x="1371600" y="4586883"/>
            <a:ext cx="10124694"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3202E"/>
                </a:solidFill>
                <a:latin typeface="IBM Plex Sans" pitchFamily="34" charset="0"/>
                <a:ea typeface="IBM Plex Sans" pitchFamily="34" charset="-122"/>
                <a:cs typeface="IBM Plex Sans" pitchFamily="34" charset="-120"/>
              </a:rPr>
              <a:t>Lo vinculamos con lo que BIMtrazer ya hace en mantenimiento con MCPs:</a:t>
            </a:r>
            <a:r>
              <a:rPr lang="en-US" sz="1300" dirty="0">
                <a:solidFill>
                  <a:srgbClr val="13202E"/>
                </a:solidFill>
                <a:latin typeface="IBM Plex Sans" pitchFamily="34" charset="0"/>
                <a:ea typeface="IBM Plex Sans" pitchFamily="34" charset="-122"/>
                <a:cs typeface="IBM Plex Sans" pitchFamily="34" charset="-120"/>
              </a:rPr>
              <a:t> esos MCPs se conectan al mismo orquestador y de ahí salen agentes nuevos.</a:t>
            </a:r>
            <a:endParaRPr lang="en-US" sz="1300" dirty="0"/>
          </a:p>
        </p:txBody>
      </p:sp>
      <p:sp>
        <p:nvSpPr>
          <p:cNvPr id="23" name="Text 20"/>
          <p:cNvSpPr/>
          <p:nvPr/>
        </p:nvSpPr>
        <p:spPr>
          <a:xfrm>
            <a:off x="812800" y="5407223"/>
            <a:ext cx="216961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FA8"/>
                </a:solidFill>
                <a:latin typeface="IBM Plex Sans" pitchFamily="34" charset="0"/>
                <a:ea typeface="IBM Plex Sans" pitchFamily="34" charset="-122"/>
                <a:cs typeface="IBM Plex Sans" pitchFamily="34" charset="-120"/>
              </a:rPr>
              <a:t>LA AUTONOMÍA SE GANA</a:t>
            </a:r>
            <a:endParaRPr lang="en-US" sz="1200" dirty="0"/>
          </a:p>
        </p:txBody>
      </p:sp>
      <p:sp>
        <p:nvSpPr>
          <p:cNvPr id="24" name="Text 21"/>
          <p:cNvSpPr/>
          <p:nvPr/>
        </p:nvSpPr>
        <p:spPr>
          <a:xfrm>
            <a:off x="2985591" y="5353248"/>
            <a:ext cx="2525514" cy="321270"/>
          </a:xfrm>
          <a:prstGeom prst="roundRect">
            <a:avLst>
              <a:gd name="adj" fmla="val 50000"/>
            </a:avLst>
          </a:prstGeom>
          <a:solidFill>
            <a:srgbClr val="FCFDFB"/>
          </a:solidFill>
          <a:ln w="6350">
            <a:solidFill>
              <a:srgbClr val="D2DBE0"/>
            </a:solidFill>
            <a:prstDash val="solid"/>
          </a:ln>
        </p:spPr>
        <p:txBody>
          <a:bodyPr wrap="none" lIns="0" tIns="0" rIns="0" bIns="0" rtlCol="0" anchor="ctr">
            <a:normAutofit/>
          </a:bodyPr>
          <a:lstStyle/>
          <a:p>
            <a:pPr algn="ctr"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propone y una persona aprueba</a:t>
            </a:r>
            <a:endParaRPr lang="en-US" sz="1200" dirty="0"/>
          </a:p>
        </p:txBody>
      </p:sp>
      <p:pic>
        <p:nvPicPr>
          <p:cNvPr id="25" name="Image 1" descr="arrow-right">    </p:cNvPr>
          <p:cNvPicPr>
            <a:picLocks noChangeAspect="1"/>
          </p:cNvPicPr>
          <p:nvPr/>
        </p:nvPicPr>
        <p:blipFill>
          <a:blip r:embed="rId2"/>
          <a:srcRect l="0" r="0" t="0" b="0"/>
          <a:stretch/>
        </p:blipFill>
        <p:spPr>
          <a:xfrm>
            <a:off x="5603180" y="5450384"/>
            <a:ext cx="228600" cy="127000"/>
          </a:xfrm>
          <a:prstGeom prst="rect">
            <a:avLst/>
          </a:prstGeom>
        </p:spPr>
      </p:pic>
      <p:sp>
        <p:nvSpPr>
          <p:cNvPr id="26" name="Text 22"/>
          <p:cNvSpPr/>
          <p:nvPr/>
        </p:nvSpPr>
        <p:spPr>
          <a:xfrm>
            <a:off x="5923855" y="5353248"/>
            <a:ext cx="2242939" cy="321270"/>
          </a:xfrm>
          <a:prstGeom prst="roundRect">
            <a:avLst>
              <a:gd name="adj" fmla="val 50000"/>
            </a:avLst>
          </a:prstGeom>
          <a:solidFill>
            <a:srgbClr val="FCFDFB"/>
          </a:solidFill>
          <a:ln w="6350">
            <a:solidFill>
              <a:srgbClr val="D2DBE0"/>
            </a:solidFill>
            <a:prstDash val="solid"/>
          </a:ln>
        </p:spPr>
        <p:txBody>
          <a:bodyPr wrap="none" lIns="0" tIns="0" rIns="0" bIns="0" rtlCol="0" anchor="ctr">
            <a:normAutofit/>
          </a:bodyPr>
          <a:lstStyle/>
          <a:p>
            <a:pPr algn="ctr"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actúa solo dentro de límites</a:t>
            </a:r>
            <a:endParaRPr lang="en-US" sz="1200" dirty="0"/>
          </a:p>
        </p:txBody>
      </p:sp>
      <p:pic>
        <p:nvPicPr>
          <p:cNvPr id="27" name="Image 2" descr="arrow-right">    </p:cNvPr>
          <p:cNvPicPr>
            <a:picLocks noChangeAspect="1"/>
          </p:cNvPicPr>
          <p:nvPr/>
        </p:nvPicPr>
        <p:blipFill>
          <a:blip r:embed="rId3"/>
          <a:srcRect l="0" r="0" t="0" b="0"/>
          <a:stretch/>
        </p:blipFill>
        <p:spPr>
          <a:xfrm>
            <a:off x="8258870" y="5450384"/>
            <a:ext cx="228600" cy="127000"/>
          </a:xfrm>
          <a:prstGeom prst="rect">
            <a:avLst/>
          </a:prstGeom>
        </p:spPr>
      </p:pic>
      <p:sp>
        <p:nvSpPr>
          <p:cNvPr id="28" name="Text 23"/>
          <p:cNvSpPr/>
          <p:nvPr/>
        </p:nvSpPr>
        <p:spPr>
          <a:xfrm>
            <a:off x="8576370" y="5356423"/>
            <a:ext cx="1183084" cy="314920"/>
          </a:xfrm>
          <a:prstGeom prst="roundRect">
            <a:avLst>
              <a:gd name="adj" fmla="val 50000"/>
            </a:avLst>
          </a:prstGeom>
          <a:solidFill>
            <a:srgbClr val="0E1A2B"/>
          </a:solidFill>
          <a:ln/>
        </p:spPr>
        <p:txBody>
          <a:bodyPr wrap="none" lIns="0" tIns="0" rIns="0" bIns="0" rtlCol="0" anchor="ctr">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actúa y avisa</a:t>
            </a:r>
            <a:endParaRPr lang="en-US" sz="1200" dirty="0"/>
          </a:p>
        </p:txBody>
      </p:sp>
      <p:sp>
        <p:nvSpPr>
          <p:cNvPr id="29" name="Text 2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Truckflow Vicentin · propuesta interna</a:t>
            </a:r>
            <a:endParaRPr lang="en-US" sz="1200" dirty="0"/>
          </a:p>
        </p:txBody>
      </p:sp>
      <p:sp>
        <p:nvSpPr>
          <p:cNvPr id="30" name="Text 25"/>
          <p:cNvSpPr/>
          <p:nvPr/>
        </p:nvSpPr>
        <p:spPr>
          <a:xfrm>
            <a:off x="10718800" y="623828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D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5638"/>
                </a:solidFill>
                <a:latin typeface="IBM Plex Sans" pitchFamily="34" charset="0"/>
                <a:ea typeface="IBM Plex Sans" pitchFamily="34" charset="-122"/>
                <a:cs typeface="IBM Plex Sans" pitchFamily="34" charset="-120"/>
              </a:rPr>
              <a:t>EL VALOR · TRANSILE DE PELLET RICARDONE → PUERTO</a:t>
            </a:r>
            <a:endParaRPr lang="en-US" sz="1200" dirty="0"/>
          </a:p>
        </p:txBody>
      </p:sp>
      <p:sp>
        <p:nvSpPr>
          <p:cNvPr id="3" name="Text 1"/>
          <p:cNvSpPr/>
          <p:nvPr>
            <p:ph type="title"/>
          </p:nvPr>
        </p:nvSpPr>
        <p:spPr>
          <a:xfrm>
            <a:off x="812800" y="110232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Space Grotesk" pitchFamily="34" charset="0"/>
                <a:ea typeface="Space Grotesk" pitchFamily="34" charset="-122"/>
                <a:cs typeface="Space Grotesk" pitchFamily="34" charset="-120"/>
              </a:rPr>
              <a:t>Menos espera: la planta paga menos y el camionero gana más</a:t>
            </a:r>
            <a:endParaRPr lang="en-US" sz="3000" dirty="0"/>
          </a:p>
        </p:txBody>
      </p:sp>
      <p:sp>
        <p:nvSpPr>
          <p:cNvPr id="4" name="Text 2"/>
          <p:cNvSpPr/>
          <p:nvPr/>
        </p:nvSpPr>
        <p:spPr>
          <a:xfrm>
            <a:off x="812800" y="2118320"/>
            <a:ext cx="61219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868"/>
                </a:solidFill>
                <a:latin typeface="IBM Plex Sans" pitchFamily="34" charset="0"/>
                <a:ea typeface="IBM Plex Sans" pitchFamily="34" charset="-122"/>
                <a:cs typeface="IBM Plex Sans" pitchFamily="34" charset="-120"/>
              </a:rPr>
              <a:t>EL OPERATIVO, HOY Y CON MENOS ESPERA EN EL PUERTO</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433241"/>
          <a:ext cx="5930900" cy="1796355"/>
        </p:xfrm>
        <a:graphic>
          <a:graphicData uri="http://schemas.openxmlformats.org/drawingml/2006/table">
            <a:tbl>
              <a:tblPr/>
              <a:tblGrid>
                <a:gridCol w="3084068"/>
                <a:gridCol w="1423416"/>
                <a:gridCol w="1423416"/>
              </a:tblGrid>
              <a:tr h="359271">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algn="r" indent="0" marL="0">
                        <a:lnSpc>
                          <a:spcPts val="1820"/>
                        </a:lnSpc>
                        <a:buNone/>
                      </a:pPr>
                      <a:r>
                        <a:rPr lang="en-US" sz="1300" b="1" dirty="0">
                          <a:solidFill>
                            <a:srgbClr val="FCFDFB"/>
                          </a:solidFill>
                          <a:latin typeface="IBM Plex Sans" pitchFamily="34" charset="0"/>
                          <a:ea typeface="IBM Plex Sans" pitchFamily="34" charset="-122"/>
                          <a:cs typeface="IBM Plex Sans" pitchFamily="34" charset="-120"/>
                        </a:rPr>
                        <a:t>Hoy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algn="r" indent="0" marL="0">
                        <a:lnSpc>
                          <a:spcPts val="1820"/>
                        </a:lnSpc>
                        <a:buNone/>
                      </a:pPr>
                      <a:r>
                        <a:rPr lang="en-US" sz="1300" b="1" dirty="0">
                          <a:solidFill>
                            <a:srgbClr val="FCFDFB"/>
                          </a:solidFill>
                          <a:latin typeface="IBM Plex Sans" pitchFamily="34" charset="0"/>
                          <a:ea typeface="IBM Plex Sans" pitchFamily="34" charset="-122"/>
                          <a:cs typeface="IBM Plex Sans" pitchFamily="34" charset="-120"/>
                        </a:rPr>
                        <a:t>Prueba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r>
              <a:tr h="35927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Camiones contratados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62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40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5927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Playa OSL + descarga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algn="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2,7 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algn="r"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1,7 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r>
              <a:tr h="35927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Ciclo por viaje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4,7 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3,6 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5927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Viajes por camión y día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B0BDB4"/>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BDB4"/>
                      </a:solidFill>
                      <a:prstDash val="solid"/>
                      <a:round/>
                      <a:headEnd type="none" w="med" len="med"/>
                      <a:tailEnd type="none" w="med" len="med"/>
                    </a:lnB>
                    <a:solidFill>
                      <a:srgbClr val="DCEDE1"/>
                    </a:solidFill>
                  </a:tcPr>
                </a:tc>
                <a:tc>
                  <a:txBody>
                    <a:bodyPr/>
                    <a:lstStyle/>
                    <a:p>
                      <a:pPr algn="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2,1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DB4"/>
                      </a:solidFill>
                      <a:prstDash val="solid"/>
                      <a:round/>
                      <a:headEnd type="none" w="med" len="med"/>
                      <a:tailEnd type="none" w="med" len="med"/>
                    </a:lnL>
                    <a:lnR w="12700" cap="flat" cmpd="sng" algn="ctr">
                      <a:solidFill>
                        <a:srgbClr val="B0BDB4"/>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BDB4"/>
                      </a:solidFill>
                      <a:prstDash val="solid"/>
                      <a:round/>
                      <a:headEnd type="none" w="med" len="med"/>
                      <a:tailEnd type="none" w="med" len="med"/>
                    </a:lnB>
                    <a:solidFill>
                      <a:srgbClr val="DCEDE1"/>
                    </a:solidFill>
                  </a:tcPr>
                </a:tc>
                <a:tc>
                  <a:txBody>
                    <a:bodyPr/>
                    <a:lstStyle/>
                    <a:p>
                      <a:pPr algn="r"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DB4"/>
                      </a:solidFill>
                      <a:prstDash val="solid"/>
                      <a:round/>
                      <a:headEnd type="none" w="med" len="med"/>
                      <a:tailEnd type="none" w="med" len="med"/>
                    </a:lnL>
                    <a:lnR w="12700" cap="flat" cmpd="sng" algn="ctr">
                      <a:solidFill>
                        <a:srgbClr val="B0BDB4"/>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BDB4"/>
                      </a:solidFill>
                      <a:prstDash val="solid"/>
                      <a:round/>
                      <a:headEnd type="none" w="med" len="med"/>
                      <a:tailEnd type="none" w="med" len="med"/>
                    </a:lnB>
                    <a:solidFill>
                      <a:srgbClr val="DCEDE1"/>
                    </a:solidFill>
                  </a:tcPr>
                </a:tc>
              </a:tr>
            </a:tbl>
          </a:graphicData>
        </a:graphic>
      </p:graphicFrame>
      <p:sp>
        <p:nvSpPr>
          <p:cNvPr id="6" name="Text 3"/>
          <p:cNvSpPr/>
          <p:nvPr/>
        </p:nvSpPr>
        <p:spPr>
          <a:xfrm>
            <a:off x="812800" y="4318496"/>
            <a:ext cx="61219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La carga en Ricardone no cambia: baja la espera en el puerto. Mismas 9.210 t, mismas horas.</a:t>
            </a:r>
            <a:endParaRPr lang="en-US" sz="1200" dirty="0"/>
          </a:p>
        </p:txBody>
      </p:sp>
      <p:sp>
        <p:nvSpPr>
          <p:cNvPr id="7" name="Text 4"/>
          <p:cNvSpPr/>
          <p:nvPr/>
        </p:nvSpPr>
        <p:spPr>
          <a:xfrm>
            <a:off x="6934200" y="2118320"/>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FA8"/>
                </a:solidFill>
                <a:latin typeface="IBM Plex Sans" pitchFamily="34" charset="0"/>
                <a:ea typeface="IBM Plex Sans" pitchFamily="34" charset="-122"/>
                <a:cs typeface="IBM Plex Sans" pitchFamily="34" charset="-120"/>
              </a:rPr>
              <a:t>SI BAJAMOS LA TARIFA POR VIAJE</a:t>
            </a:r>
            <a:endParaRPr lang="en-US" sz="12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946900" y="2433241"/>
          <a:ext cx="4432300" cy="1668165"/>
        </p:xfrm>
        <a:graphic>
          <a:graphicData uri="http://schemas.openxmlformats.org/drawingml/2006/table">
            <a:tbl>
              <a:tblPr/>
              <a:tblGrid>
                <a:gridCol w="2304796"/>
                <a:gridCol w="1063752"/>
                <a:gridCol w="1063752"/>
              </a:tblGrid>
              <a:tr h="359271">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algn="r" indent="0" marL="0">
                        <a:lnSpc>
                          <a:spcPts val="1820"/>
                        </a:lnSpc>
                        <a:buNone/>
                      </a:pPr>
                      <a:r>
                        <a:rPr lang="en-US" sz="1300" b="1" dirty="0">
                          <a:solidFill>
                            <a:srgbClr val="FCFDFB"/>
                          </a:solidFill>
                          <a:latin typeface="IBM Plex Sans" pitchFamily="34" charset="0"/>
                          <a:ea typeface="IBM Plex Sans" pitchFamily="34" charset="-122"/>
                          <a:cs typeface="IBM Plex Sans" pitchFamily="34" charset="-120"/>
                        </a:rPr>
                        <a:t>−15 %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algn="r" indent="0" marL="0">
                        <a:lnSpc>
                          <a:spcPts val="1820"/>
                        </a:lnSpc>
                        <a:buNone/>
                      </a:pPr>
                      <a:r>
                        <a:rPr lang="en-US" sz="1300" b="1" dirty="0">
                          <a:solidFill>
                            <a:srgbClr val="FCFDFB"/>
                          </a:solidFill>
                          <a:latin typeface="IBM Plex Sans" pitchFamily="34" charset="0"/>
                          <a:ea typeface="IBM Plex Sans" pitchFamily="34" charset="-122"/>
                          <a:cs typeface="IBM Plex Sans" pitchFamily="34" charset="-120"/>
                        </a:rPr>
                        <a:t>−20 %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r>
              <a:tr h="590352">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Ingreso diario del camionero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B0BDB4"/>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B0BDB4"/>
                      </a:solidFill>
                      <a:prstDash val="solid"/>
                      <a:round/>
                      <a:headEnd type="none" w="med" len="med"/>
                      <a:tailEnd type="none" w="med" len="med"/>
                    </a:lnB>
                    <a:solidFill>
                      <a:srgbClr val="DCEDE1"/>
                    </a:solidFill>
                  </a:tcPr>
                </a:tc>
                <a:tc>
                  <a:txBody>
                    <a:bodyPr/>
                    <a:lstStyle/>
                    <a:p>
                      <a:pPr algn="r"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+34 %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DB4"/>
                      </a:solidFill>
                      <a:prstDash val="solid"/>
                      <a:round/>
                      <a:headEnd type="none" w="med" len="med"/>
                      <a:tailEnd type="none" w="med" len="med"/>
                    </a:lnL>
                    <a:lnR w="12700" cap="flat" cmpd="sng" algn="ctr">
                      <a:solidFill>
                        <a:srgbClr val="B0BDB4"/>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B0BDB4"/>
                      </a:solidFill>
                      <a:prstDash val="solid"/>
                      <a:round/>
                      <a:headEnd type="none" w="med" len="med"/>
                      <a:tailEnd type="none" w="med" len="med"/>
                    </a:lnB>
                    <a:solidFill>
                      <a:srgbClr val="DCEDE1"/>
                    </a:solidFill>
                  </a:tcPr>
                </a:tc>
                <a:tc>
                  <a:txBody>
                    <a:bodyPr/>
                    <a:lstStyle/>
                    <a:p>
                      <a:pPr algn="r"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+26 %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DB4"/>
                      </a:solidFill>
                      <a:prstDash val="solid"/>
                      <a:round/>
                      <a:headEnd type="none" w="med" len="med"/>
                      <a:tailEnd type="none" w="med" len="med"/>
                    </a:lnL>
                    <a:lnR w="12700" cap="flat" cmpd="sng" algn="ctr">
                      <a:solidFill>
                        <a:srgbClr val="B0BDB4"/>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B0BDB4"/>
                      </a:solidFill>
                      <a:prstDash val="solid"/>
                      <a:round/>
                      <a:headEnd type="none" w="med" len="med"/>
                      <a:tailEnd type="none" w="med" len="med"/>
                    </a:lnB>
                    <a:solidFill>
                      <a:srgbClr val="DCEDE1"/>
                    </a:solidFill>
                  </a:tcPr>
                </a:tc>
              </a:tr>
              <a:tr h="35927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Flete que paga la planta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0BDB4"/>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−15 %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0BDB4"/>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−20 %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0BDB4"/>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5927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Ahorro por operativo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B0BDB4"/>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BDB4"/>
                      </a:solidFill>
                      <a:prstDash val="solid"/>
                      <a:round/>
                      <a:headEnd type="none" w="med" len="med"/>
                      <a:tailEnd type="none" w="med" len="med"/>
                    </a:lnB>
                    <a:solidFill>
                      <a:srgbClr val="DCEDE1"/>
                    </a:solidFill>
                  </a:tcPr>
                </a:tc>
                <a:tc>
                  <a:txBody>
                    <a:bodyPr/>
                    <a:lstStyle/>
                    <a:p>
                      <a:pPr algn="r"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$ 8,3 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DB4"/>
                      </a:solidFill>
                      <a:prstDash val="solid"/>
                      <a:round/>
                      <a:headEnd type="none" w="med" len="med"/>
                      <a:tailEnd type="none" w="med" len="med"/>
                    </a:lnL>
                    <a:lnR w="12700" cap="flat" cmpd="sng" algn="ctr">
                      <a:solidFill>
                        <a:srgbClr val="B0BDB4"/>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BDB4"/>
                      </a:solidFill>
                      <a:prstDash val="solid"/>
                      <a:round/>
                      <a:headEnd type="none" w="med" len="med"/>
                      <a:tailEnd type="none" w="med" len="med"/>
                    </a:lnB>
                    <a:solidFill>
                      <a:srgbClr val="DCEDE1"/>
                    </a:solidFill>
                  </a:tcPr>
                </a:tc>
                <a:tc>
                  <a:txBody>
                    <a:bodyPr/>
                    <a:lstStyle/>
                    <a:p>
                      <a:pPr algn="r"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$ 11,1 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DB4"/>
                      </a:solidFill>
                      <a:prstDash val="solid"/>
                      <a:round/>
                      <a:headEnd type="none" w="med" len="med"/>
                      <a:tailEnd type="none" w="med" len="med"/>
                    </a:lnL>
                    <a:lnR w="12700" cap="flat" cmpd="sng" algn="ctr">
                      <a:solidFill>
                        <a:srgbClr val="B0BDB4"/>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BDB4"/>
                      </a:solidFill>
                      <a:prstDash val="solid"/>
                      <a:round/>
                      <a:headEnd type="none" w="med" len="med"/>
                      <a:tailEnd type="none" w="med" len="med"/>
                    </a:lnB>
                    <a:solidFill>
                      <a:srgbClr val="DCEDE1"/>
                    </a:solidFill>
                  </a:tcPr>
                </a:tc>
              </a:tr>
            </a:tbl>
          </a:graphicData>
        </a:graphic>
      </p:graphicFrame>
      <p:sp>
        <p:nvSpPr>
          <p:cNvPr id="9" name="Text 5"/>
          <p:cNvSpPr/>
          <p:nvPr/>
        </p:nvSpPr>
        <p:spPr>
          <a:xfrm>
            <a:off x="6934200" y="4190305"/>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Cobra menos por viaje pero da más vueltas: gana más. Recién con −36 % quedaría igual que hoy.</a:t>
            </a:r>
            <a:endParaRPr lang="en-US" sz="1200" dirty="0"/>
          </a:p>
        </p:txBody>
      </p:sp>
      <p:sp>
        <p:nvSpPr>
          <p:cNvPr id="10" name="Shape 6"/>
          <p:cNvSpPr/>
          <p:nvPr/>
        </p:nvSpPr>
        <p:spPr>
          <a:xfrm>
            <a:off x="812800" y="4922937"/>
            <a:ext cx="5194300" cy="725091"/>
          </a:xfrm>
          <a:prstGeom prst="roundRect">
            <a:avLst>
              <a:gd name="adj" fmla="val 14012"/>
            </a:avLst>
          </a:prstGeom>
          <a:solidFill>
            <a:srgbClr val="0E1A2B"/>
          </a:solidFill>
          <a:ln/>
        </p:spPr>
      </p:sp>
      <p:pic>
        <p:nvPicPr>
          <p:cNvPr id="11" name="Image 0" descr="Chart">    </p:cNvPr>
          <p:cNvPicPr>
            <a:picLocks noChangeAspect="1"/>
          </p:cNvPicPr>
          <p:nvPr/>
        </p:nvPicPr>
        <p:blipFill>
          <a:blip r:embed="rId1"/>
          <a:srcRect l="0" r="0" t="0" b="0"/>
          <a:stretch/>
        </p:blipFill>
        <p:spPr>
          <a:xfrm>
            <a:off x="990600" y="5145782"/>
            <a:ext cx="279400" cy="279400"/>
          </a:xfrm>
          <a:prstGeom prst="rect">
            <a:avLst/>
          </a:prstGeom>
        </p:spPr>
      </p:pic>
      <p:sp>
        <p:nvSpPr>
          <p:cNvPr id="12" name="Text 7"/>
          <p:cNvSpPr/>
          <p:nvPr/>
        </p:nvSpPr>
        <p:spPr>
          <a:xfrm>
            <a:off x="1384300" y="5062637"/>
            <a:ext cx="4578350"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EF2F4"/>
                </a:solidFill>
                <a:latin typeface="IBM Plex Sans" pitchFamily="34" charset="0"/>
                <a:ea typeface="IBM Plex Sans" pitchFamily="34" charset="-122"/>
                <a:cs typeface="IBM Plex Sans" pitchFamily="34" charset="-120"/>
              </a:rPr>
              <a:t>La planta:</a:t>
            </a:r>
            <a:r>
              <a:rPr lang="en-US" sz="1300" dirty="0">
                <a:solidFill>
                  <a:srgbClr val="EEF2F4"/>
                </a:solidFill>
                <a:latin typeface="IBM Plex Sans" pitchFamily="34" charset="0"/>
                <a:ea typeface="IBM Plex Sans" pitchFamily="34" charset="-122"/>
                <a:cs typeface="IBM Plex Sans" pitchFamily="34" charset="-120"/>
              </a:rPr>
              <a:t> sobre un flete de $ 55,3 M por operativo, ahorra </a:t>
            </a:r>
            <a:r>
              <a:rPr lang="en-US" sz="1300" b="1" dirty="0">
                <a:solidFill>
                  <a:srgbClr val="F2C66D"/>
                </a:solidFill>
                <a:latin typeface="IBM Plex Sans" pitchFamily="34" charset="0"/>
                <a:ea typeface="IBM Plex Sans" pitchFamily="34" charset="-122"/>
                <a:cs typeface="IBM Plex Sans" pitchFamily="34" charset="-120"/>
              </a:rPr>
              <a:t>$ 8,3 a 11,1 M</a:t>
            </a:r>
            <a:r>
              <a:rPr lang="en-US" sz="1300" dirty="0">
                <a:solidFill>
                  <a:srgbClr val="EEF2F4"/>
                </a:solidFill>
                <a:latin typeface="IBM Plex Sans" pitchFamily="34" charset="0"/>
                <a:ea typeface="IBM Plex Sans" pitchFamily="34" charset="-122"/>
                <a:cs typeface="IBM Plex Sans" pitchFamily="34" charset="-120"/>
              </a:rPr>
              <a:t> y saca 22 camiones de las playas.</a:t>
            </a:r>
            <a:endParaRPr lang="en-US" sz="1300" dirty="0"/>
          </a:p>
        </p:txBody>
      </p:sp>
      <p:sp>
        <p:nvSpPr>
          <p:cNvPr id="13" name="Shape 8"/>
          <p:cNvSpPr/>
          <p:nvPr/>
        </p:nvSpPr>
        <p:spPr>
          <a:xfrm>
            <a:off x="6184900" y="4922937"/>
            <a:ext cx="5194300" cy="725091"/>
          </a:xfrm>
          <a:prstGeom prst="roundRect">
            <a:avLst>
              <a:gd name="adj" fmla="val 14012"/>
            </a:avLst>
          </a:prstGeom>
          <a:solidFill>
            <a:srgbClr val="DCEDE1"/>
          </a:solidFill>
          <a:ln/>
        </p:spPr>
      </p:sp>
      <p:pic>
        <p:nvPicPr>
          <p:cNvPr id="14" name="Image 1" descr="Lightbulb">    </p:cNvPr>
          <p:cNvPicPr>
            <a:picLocks noChangeAspect="1"/>
          </p:cNvPicPr>
          <p:nvPr/>
        </p:nvPicPr>
        <p:blipFill>
          <a:blip r:embed="rId2"/>
          <a:srcRect l="0" r="0" t="0" b="0"/>
          <a:stretch/>
        </p:blipFill>
        <p:spPr>
          <a:xfrm>
            <a:off x="6362700" y="5145782"/>
            <a:ext cx="279400" cy="279400"/>
          </a:xfrm>
          <a:prstGeom prst="rect">
            <a:avLst/>
          </a:prstGeom>
        </p:spPr>
      </p:pic>
      <p:sp>
        <p:nvSpPr>
          <p:cNvPr id="15" name="Text 9"/>
          <p:cNvSpPr/>
          <p:nvPr/>
        </p:nvSpPr>
        <p:spPr>
          <a:xfrm>
            <a:off x="6756400" y="5062637"/>
            <a:ext cx="4578350"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3202E"/>
                </a:solidFill>
                <a:latin typeface="IBM Plex Sans" pitchFamily="34" charset="0"/>
                <a:ea typeface="IBM Plex Sans" pitchFamily="34" charset="-122"/>
                <a:cs typeface="IBM Plex Sans" pitchFamily="34" charset="-120"/>
              </a:rPr>
              <a:t>Soja R29, mismo caso:</a:t>
            </a:r>
            <a:r>
              <a:rPr lang="en-US" sz="1300" dirty="0">
                <a:solidFill>
                  <a:srgbClr val="13202E"/>
                </a:solidFill>
                <a:latin typeface="IBM Plex Sans" pitchFamily="34" charset="0"/>
                <a:ea typeface="IBM Plex Sans" pitchFamily="34" charset="-122"/>
                <a:cs typeface="IBM Plex Sans" pitchFamily="34" charset="-120"/>
              </a:rPr>
              <a:t> 2,2 h de espera en silo; 516 viajes en la semana, </a:t>
            </a:r>
            <a:r>
              <a:rPr lang="en-US" sz="1300" b="1" dirty="0">
                <a:solidFill>
                  <a:srgbClr val="13202E"/>
                </a:solidFill>
                <a:latin typeface="IBM Plex Sans" pitchFamily="34" charset="0"/>
                <a:ea typeface="IBM Plex Sans" pitchFamily="34" charset="-122"/>
                <a:cs typeface="IBM Plex Sans" pitchFamily="34" charset="-120"/>
              </a:rPr>
              <a:t>$ 13,9 a 18,6 M</a:t>
            </a:r>
            <a:r>
              <a:rPr lang="en-US" sz="1300" dirty="0">
                <a:solidFill>
                  <a:srgbClr val="13202E"/>
                </a:solidFill>
                <a:latin typeface="IBM Plex Sans" pitchFamily="34" charset="0"/>
                <a:ea typeface="IBM Plex Sans" pitchFamily="34" charset="-122"/>
                <a:cs typeface="IBM Plex Sans" pitchFamily="34" charset="-120"/>
              </a:rPr>
              <a:t> más por semana.</a:t>
            </a:r>
            <a:endParaRPr lang="en-US" sz="1300" dirty="0"/>
          </a:p>
        </p:txBody>
      </p:sp>
      <p:sp>
        <p:nvSpPr>
          <p:cNvPr id="16" name="Text 10"/>
          <p:cNvSpPr/>
          <p:nvPr/>
        </p:nvSpPr>
        <p:spPr>
          <a:xfrm>
            <a:off x="812800" y="6238280"/>
            <a:ext cx="9906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Comité de Logística Nodo Sur 24–30/09 · flete interplanta $ 6.000/t, 30 t por viaje · la prueba es un escenario, no una medición</a:t>
            </a:r>
            <a:endParaRPr lang="en-US" sz="1200" dirty="0"/>
          </a:p>
        </p:txBody>
      </p:sp>
      <p:sp>
        <p:nvSpPr>
          <p:cNvPr id="17" name="Text 11"/>
          <p:cNvSpPr/>
          <p:nvPr/>
        </p:nvSpPr>
        <p:spPr>
          <a:xfrm>
            <a:off x="10718800" y="623828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FA8"/>
                </a:solidFill>
                <a:latin typeface="IBM Plex Sans" pitchFamily="34" charset="0"/>
                <a:ea typeface="IBM Plex Sans" pitchFamily="34" charset="-122"/>
                <a:cs typeface="IBM Plex Sans" pitchFamily="34" charset="-120"/>
              </a:rPr>
              <a:t>AUTOMATIZAR · OPERACIÓN REMOTA</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Space Grotesk" pitchFamily="34" charset="0"/>
                <a:ea typeface="Space Grotesk" pitchFamily="34" charset="-122"/>
                <a:cs typeface="Space Grotesk" pitchFamily="34" charset="-120"/>
              </a:rPr>
              <a:t>Un operador, dos o tres garitas, desde una sala</a:t>
            </a:r>
            <a:endParaRPr lang="en-US" sz="3000" dirty="0"/>
          </a:p>
        </p:txBody>
      </p:sp>
      <p:sp>
        <p:nvSpPr>
          <p:cNvPr id="4" name="Shape 2"/>
          <p:cNvSpPr/>
          <p:nvPr/>
        </p:nvSpPr>
        <p:spPr>
          <a:xfrm>
            <a:off x="815975" y="1702395"/>
            <a:ext cx="3295650" cy="2586633"/>
          </a:xfrm>
          <a:prstGeom prst="roundRect">
            <a:avLst>
              <a:gd name="adj" fmla="val 3805"/>
            </a:avLst>
          </a:prstGeom>
          <a:solidFill>
            <a:srgbClr val="FCFDFB"/>
          </a:solidFill>
          <a:ln w="6350">
            <a:solidFill>
              <a:srgbClr val="D2DBE0"/>
            </a:solidFill>
            <a:prstDash val="solid"/>
          </a:ln>
        </p:spPr>
      </p:sp>
      <p:sp>
        <p:nvSpPr>
          <p:cNvPr id="5" name="Text 3"/>
          <p:cNvSpPr/>
          <p:nvPr/>
        </p:nvSpPr>
        <p:spPr>
          <a:xfrm>
            <a:off x="996950" y="1883370"/>
            <a:ext cx="302171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868"/>
                </a:solidFill>
                <a:latin typeface="IBM Plex Sans" pitchFamily="34" charset="0"/>
                <a:ea typeface="IBM Plex Sans" pitchFamily="34" charset="-122"/>
                <a:cs typeface="IBM Plex Sans" pitchFamily="34" charset="-120"/>
              </a:rPr>
              <a:t>10 PUESTOS DE REGISTRO</a:t>
            </a:r>
            <a:endParaRPr lang="en-US" sz="1200" dirty="0"/>
          </a:p>
        </p:txBody>
      </p:sp>
      <p:sp>
        <p:nvSpPr>
          <p:cNvPr id="6" name="Text 4"/>
          <p:cNvSpPr/>
          <p:nvPr/>
        </p:nvSpPr>
        <p:spPr>
          <a:xfrm>
            <a:off x="996950" y="2172891"/>
            <a:ext cx="3021711"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Ricardone:</a:t>
            </a:r>
            <a:r>
              <a:rPr lang="en-US" sz="1200" dirty="0">
                <a:solidFill>
                  <a:srgbClr val="13202E"/>
                </a:solidFill>
                <a:latin typeface="IBM Plex Sans" pitchFamily="34" charset="0"/>
                <a:ea typeface="IBM Plex Sans" pitchFamily="34" charset="-122"/>
                <a:cs typeface="IBM Plex Sans" pitchFamily="34" charset="-120"/>
              </a:rPr>
              <a:t> ingreso, preingreso, balanza de ingreso, balanza de egreso, salida 1 y salida 2</a:t>
            </a:r>
            <a:endParaRPr lang="en-US" sz="1200" dirty="0"/>
          </a:p>
        </p:txBody>
      </p:sp>
      <p:sp>
        <p:nvSpPr>
          <p:cNvPr id="7" name="Text 5"/>
          <p:cNvSpPr/>
          <p:nvPr/>
        </p:nvSpPr>
        <p:spPr>
          <a:xfrm>
            <a:off x="996950" y="2889052"/>
            <a:ext cx="3021711"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San Lorenzo:</a:t>
            </a:r>
            <a:r>
              <a:rPr lang="en-US" sz="1200" dirty="0">
                <a:solidFill>
                  <a:srgbClr val="13202E"/>
                </a:solidFill>
                <a:latin typeface="IBM Plex Sans" pitchFamily="34" charset="0"/>
                <a:ea typeface="IBM Plex Sans" pitchFamily="34" charset="-122"/>
                <a:cs typeface="IBM Plex Sans" pitchFamily="34" charset="-120"/>
              </a:rPr>
              <a:t> ingreso, balanza de ingreso, balanza de egreso y egreso</a:t>
            </a:r>
            <a:endParaRPr lang="en-US" sz="1200" dirty="0"/>
          </a:p>
        </p:txBody>
      </p:sp>
      <p:sp>
        <p:nvSpPr>
          <p:cNvPr id="8" name="Text 6"/>
          <p:cNvSpPr/>
          <p:nvPr/>
        </p:nvSpPr>
        <p:spPr>
          <a:xfrm>
            <a:off x="996950" y="3468092"/>
            <a:ext cx="302171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Cámaras, balanza y sistema de camiones ya se cruzan: el registro se puede hacer a distancia.</a:t>
            </a:r>
            <a:endParaRPr lang="en-US" sz="1200" dirty="0"/>
          </a:p>
        </p:txBody>
      </p:sp>
      <p:sp>
        <p:nvSpPr>
          <p:cNvPr id="9" name="Text 7"/>
          <p:cNvSpPr/>
          <p:nvPr/>
        </p:nvSpPr>
        <p:spPr>
          <a:xfrm>
            <a:off x="4267200" y="1699220"/>
            <a:ext cx="73253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FA8"/>
                </a:solidFill>
                <a:latin typeface="IBM Plex Sans" pitchFamily="34" charset="0"/>
                <a:ea typeface="IBM Plex Sans" pitchFamily="34" charset="-122"/>
                <a:cs typeface="IBM Plex Sans" pitchFamily="34" charset="-120"/>
              </a:rPr>
              <a:t>PERSONAS POR TURNO PARA OPERAR LAS DOS PLANTAS</a:t>
            </a:r>
            <a:endParaRPr lang="en-US" sz="1200" dirty="0"/>
          </a:p>
        </p:txBody>
      </p:sp>
      <p:sp>
        <p:nvSpPr>
          <p:cNvPr id="10" name="Shape 8"/>
          <p:cNvSpPr/>
          <p:nvPr/>
        </p:nvSpPr>
        <p:spPr>
          <a:xfrm>
            <a:off x="4270375" y="1991916"/>
            <a:ext cx="3327400" cy="1164431"/>
          </a:xfrm>
          <a:prstGeom prst="roundRect">
            <a:avLst>
              <a:gd name="adj" fmla="val 7362"/>
            </a:avLst>
          </a:prstGeom>
          <a:solidFill>
            <a:srgbClr val="FCFDFB"/>
          </a:solidFill>
          <a:ln w="6350">
            <a:solidFill>
              <a:srgbClr val="D2DBE0"/>
            </a:solidFill>
            <a:prstDash val="solid"/>
          </a:ln>
        </p:spPr>
      </p:sp>
      <p:sp>
        <p:nvSpPr>
          <p:cNvPr id="11" name="Text 9"/>
          <p:cNvSpPr/>
          <p:nvPr/>
        </p:nvSpPr>
        <p:spPr>
          <a:xfrm>
            <a:off x="4425950" y="2122091"/>
            <a:ext cx="31067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Una persona por puesto</a:t>
            </a:r>
            <a:endParaRPr lang="en-US" sz="1200" dirty="0"/>
          </a:p>
        </p:txBody>
      </p:sp>
      <p:sp>
        <p:nvSpPr>
          <p:cNvPr id="12" name="Text 10"/>
          <p:cNvSpPr/>
          <p:nvPr/>
        </p:nvSpPr>
        <p:spPr>
          <a:xfrm>
            <a:off x="4425950" y="2360811"/>
            <a:ext cx="3106738"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3202E"/>
                </a:solidFill>
                <a:latin typeface="Space Grotesk" pitchFamily="34" charset="0"/>
                <a:ea typeface="Space Grotesk" pitchFamily="34" charset="-122"/>
                <a:cs typeface="Space Grotesk" pitchFamily="34" charset="-120"/>
              </a:rPr>
              <a:t>10</a:t>
            </a:r>
            <a:endParaRPr lang="en-US" sz="3200" dirty="0"/>
          </a:p>
        </p:txBody>
      </p:sp>
      <p:sp>
        <p:nvSpPr>
          <p:cNvPr id="13" name="Text 11"/>
          <p:cNvSpPr/>
          <p:nvPr/>
        </p:nvSpPr>
        <p:spPr>
          <a:xfrm>
            <a:off x="4425950" y="2812852"/>
            <a:ext cx="31067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30 en tres turnos</a:t>
            </a:r>
            <a:endParaRPr lang="en-US" sz="1200" dirty="0"/>
          </a:p>
        </p:txBody>
      </p:sp>
      <p:pic>
        <p:nvPicPr>
          <p:cNvPr id="14" name="Image 0" descr="arrow-right">    </p:cNvPr>
          <p:cNvPicPr>
            <a:picLocks noChangeAspect="1"/>
          </p:cNvPicPr>
          <p:nvPr/>
        </p:nvPicPr>
        <p:blipFill>
          <a:blip r:embed="rId1"/>
          <a:srcRect l="0" r="0" t="0" b="0"/>
          <a:stretch/>
        </p:blipFill>
        <p:spPr>
          <a:xfrm>
            <a:off x="7689850" y="2497931"/>
            <a:ext cx="279400" cy="152400"/>
          </a:xfrm>
          <a:prstGeom prst="rect">
            <a:avLst/>
          </a:prstGeom>
        </p:spPr>
      </p:pic>
      <p:sp>
        <p:nvSpPr>
          <p:cNvPr id="15" name="Shape 12"/>
          <p:cNvSpPr/>
          <p:nvPr/>
        </p:nvSpPr>
        <p:spPr>
          <a:xfrm>
            <a:off x="8058150" y="1988741"/>
            <a:ext cx="3321050" cy="1170781"/>
          </a:xfrm>
          <a:prstGeom prst="roundRect">
            <a:avLst>
              <a:gd name="adj" fmla="val 7593"/>
            </a:avLst>
          </a:prstGeom>
          <a:solidFill>
            <a:srgbClr val="0E1A2B"/>
          </a:solidFill>
          <a:ln/>
        </p:spPr>
      </p:sp>
      <p:sp>
        <p:nvSpPr>
          <p:cNvPr id="16" name="Text 13"/>
          <p:cNvSpPr/>
          <p:nvPr/>
        </p:nvSpPr>
        <p:spPr>
          <a:xfrm>
            <a:off x="8210550" y="2115741"/>
            <a:ext cx="31067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E"/>
                </a:solidFill>
                <a:latin typeface="IBM Plex Sans" pitchFamily="34" charset="0"/>
                <a:ea typeface="IBM Plex Sans" pitchFamily="34" charset="-122"/>
                <a:cs typeface="IBM Plex Sans" pitchFamily="34" charset="-120"/>
              </a:rPr>
              <a:t>Sala remota, 2–3 puestos c/u</a:t>
            </a:r>
            <a:endParaRPr lang="en-US" sz="1200" dirty="0"/>
          </a:p>
        </p:txBody>
      </p:sp>
      <p:sp>
        <p:nvSpPr>
          <p:cNvPr id="17" name="Text 14"/>
          <p:cNvSpPr/>
          <p:nvPr/>
        </p:nvSpPr>
        <p:spPr>
          <a:xfrm>
            <a:off x="8210550" y="2354461"/>
            <a:ext cx="3106738"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6CC1F2"/>
                </a:solidFill>
                <a:latin typeface="Space Grotesk" pitchFamily="34" charset="0"/>
                <a:ea typeface="Space Grotesk" pitchFamily="34" charset="-122"/>
                <a:cs typeface="Space Grotesk" pitchFamily="34" charset="-120"/>
              </a:rPr>
              <a:t>4–5</a:t>
            </a:r>
            <a:endParaRPr lang="en-US" sz="3200" dirty="0"/>
          </a:p>
        </p:txBody>
      </p:sp>
      <p:sp>
        <p:nvSpPr>
          <p:cNvPr id="18" name="Text 15"/>
          <p:cNvSpPr/>
          <p:nvPr/>
        </p:nvSpPr>
        <p:spPr>
          <a:xfrm>
            <a:off x="8210550" y="2806502"/>
            <a:ext cx="31067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E"/>
                </a:solidFill>
                <a:latin typeface="IBM Plex Sans" pitchFamily="34" charset="0"/>
                <a:ea typeface="IBM Plex Sans" pitchFamily="34" charset="-122"/>
                <a:cs typeface="IBM Plex Sans" pitchFamily="34" charset="-120"/>
              </a:rPr>
              <a:t>12 a 15 en tres turnos</a:t>
            </a:r>
            <a:endParaRPr lang="en-US" sz="1200" dirty="0"/>
          </a:p>
        </p:txBody>
      </p:sp>
      <p:sp>
        <p:nvSpPr>
          <p:cNvPr id="19" name="Shape 16"/>
          <p:cNvSpPr/>
          <p:nvPr/>
        </p:nvSpPr>
        <p:spPr>
          <a:xfrm>
            <a:off x="4267200" y="3235722"/>
            <a:ext cx="7112000" cy="508000"/>
          </a:xfrm>
          <a:prstGeom prst="roundRect">
            <a:avLst>
              <a:gd name="adj" fmla="val 17500"/>
            </a:avLst>
          </a:prstGeom>
          <a:solidFill>
            <a:srgbClr val="DCEDE1"/>
          </a:solidFill>
          <a:ln/>
        </p:spPr>
      </p:sp>
      <p:pic>
        <p:nvPicPr>
          <p:cNvPr id="20" name="Image 1" descr="Users">    </p:cNvPr>
          <p:cNvPicPr>
            <a:picLocks noChangeAspect="1"/>
          </p:cNvPicPr>
          <p:nvPr/>
        </p:nvPicPr>
        <p:blipFill>
          <a:blip r:embed="rId2"/>
          <a:srcRect l="0" r="0" t="0" b="0"/>
          <a:stretch/>
        </p:blipFill>
        <p:spPr>
          <a:xfrm>
            <a:off x="4419600" y="3350022"/>
            <a:ext cx="279400" cy="279400"/>
          </a:xfrm>
          <a:prstGeom prst="rect">
            <a:avLst/>
          </a:prstGeom>
        </p:spPr>
      </p:pic>
      <p:sp>
        <p:nvSpPr>
          <p:cNvPr id="21" name="Text 17"/>
          <p:cNvSpPr/>
          <p:nvPr/>
        </p:nvSpPr>
        <p:spPr>
          <a:xfrm>
            <a:off x="4813300" y="3378299"/>
            <a:ext cx="6605905"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3202E"/>
                </a:solidFill>
                <a:latin typeface="IBM Plex Sans" pitchFamily="34" charset="0"/>
                <a:ea typeface="IBM Plex Sans" pitchFamily="34" charset="-122"/>
                <a:cs typeface="IBM Plex Sans" pitchFamily="34" charset="-120"/>
              </a:rPr>
              <a:t>15 a 18 puestos por día para reubicar</a:t>
            </a:r>
            <a:r>
              <a:rPr lang="en-US" sz="1300" dirty="0">
                <a:solidFill>
                  <a:srgbClr val="13202E"/>
                </a:solidFill>
                <a:latin typeface="IBM Plex Sans" pitchFamily="34" charset="0"/>
                <a:ea typeface="IBM Plex Sans" pitchFamily="34" charset="-122"/>
                <a:cs typeface="IBM Plex Sans" pitchFamily="34" charset="-120"/>
              </a:rPr>
              <a:t> en otras tareas de la planta.</a:t>
            </a:r>
            <a:endParaRPr lang="en-US" sz="1300" dirty="0"/>
          </a:p>
        </p:txBody>
      </p:sp>
      <p:sp>
        <p:nvSpPr>
          <p:cNvPr id="22" name="Shape 18"/>
          <p:cNvSpPr/>
          <p:nvPr/>
        </p:nvSpPr>
        <p:spPr>
          <a:xfrm>
            <a:off x="815975" y="4473178"/>
            <a:ext cx="10560050" cy="1167011"/>
          </a:xfrm>
          <a:prstGeom prst="roundRect">
            <a:avLst>
              <a:gd name="adj" fmla="val 8434"/>
            </a:avLst>
          </a:prstGeom>
          <a:solidFill>
            <a:srgbClr val="FCFDFB"/>
          </a:solidFill>
          <a:ln w="6350">
            <a:solidFill>
              <a:srgbClr val="D2DBE0"/>
            </a:solidFill>
            <a:prstDash val="solid"/>
          </a:ln>
        </p:spPr>
      </p:sp>
      <p:sp>
        <p:nvSpPr>
          <p:cNvPr id="23" name="Text 19"/>
          <p:cNvSpPr/>
          <p:nvPr/>
        </p:nvSpPr>
        <p:spPr>
          <a:xfrm>
            <a:off x="996950" y="4628753"/>
            <a:ext cx="1050404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5638"/>
                </a:solidFill>
                <a:latin typeface="IBM Plex Sans" pitchFamily="34" charset="0"/>
                <a:ea typeface="IBM Plex Sans" pitchFamily="34" charset="-122"/>
                <a:cs typeface="IBM Plex Sans" pitchFamily="34" charset="-120"/>
              </a:rPr>
              <a:t>CÓMO ENTRA AL SISTEMA DE CAMIONES</a:t>
            </a:r>
            <a:endParaRPr lang="en-US" sz="1200" dirty="0"/>
          </a:p>
        </p:txBody>
      </p:sp>
      <p:sp>
        <p:nvSpPr>
          <p:cNvPr id="24" name="Text 20"/>
          <p:cNvSpPr/>
          <p:nvPr/>
        </p:nvSpPr>
        <p:spPr>
          <a:xfrm>
            <a:off x="996950" y="4930973"/>
            <a:ext cx="2263775" cy="553641"/>
          </a:xfrm>
          <a:prstGeom prst="roundRect">
            <a:avLst>
              <a:gd name="adj" fmla="val 11470"/>
            </a:avLst>
          </a:prstGeom>
          <a:solidFill>
            <a:srgbClr val="EEF2F4"/>
          </a:solidFill>
          <a:ln/>
        </p:spPr>
        <p:txBody>
          <a:bodyPr wrap="square" lIns="83001" tIns="44901" rIns="21184" bIns="19501" rtlCol="0" anchor="t">
            <a:normAutofit/>
          </a:bodyPr>
          <a:lstStyle/>
          <a:p>
            <a:pPr algn="l"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El nodo lee patente, acoplado, peso y hora</a:t>
            </a:r>
            <a:endParaRPr lang="en-US" sz="1200" dirty="0"/>
          </a:p>
        </p:txBody>
      </p:sp>
      <p:pic>
        <p:nvPicPr>
          <p:cNvPr id="25" name="Image 2" descr="arrow-right">    </p:cNvPr>
          <p:cNvPicPr>
            <a:picLocks noChangeAspect="1"/>
          </p:cNvPicPr>
          <p:nvPr/>
        </p:nvPicPr>
        <p:blipFill>
          <a:blip r:embed="rId3"/>
          <a:srcRect l="0" r="0" t="0" b="0"/>
          <a:stretch/>
        </p:blipFill>
        <p:spPr>
          <a:xfrm>
            <a:off x="3336925" y="5144294"/>
            <a:ext cx="228600" cy="127000"/>
          </a:xfrm>
          <a:prstGeom prst="rect">
            <a:avLst/>
          </a:prstGeom>
        </p:spPr>
      </p:pic>
      <p:sp>
        <p:nvSpPr>
          <p:cNvPr id="26" name="Text 21"/>
          <p:cNvSpPr/>
          <p:nvPr/>
        </p:nvSpPr>
        <p:spPr>
          <a:xfrm>
            <a:off x="3641725" y="4930973"/>
            <a:ext cx="2263775" cy="553641"/>
          </a:xfrm>
          <a:prstGeom prst="roundRect">
            <a:avLst>
              <a:gd name="adj" fmla="val 11470"/>
            </a:avLst>
          </a:prstGeom>
          <a:solidFill>
            <a:srgbClr val="EEF2F4"/>
          </a:solidFill>
          <a:ln/>
        </p:spPr>
        <p:txBody>
          <a:bodyPr wrap="square" lIns="83001" tIns="44901" rIns="21184" bIns="19501" rtlCol="0" anchor="t">
            <a:normAutofit/>
          </a:bodyPr>
          <a:lstStyle/>
          <a:p>
            <a:pPr algn="l"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Cruza con CTG, contrato y cupo</a:t>
            </a:r>
            <a:endParaRPr lang="en-US" sz="1200" dirty="0"/>
          </a:p>
        </p:txBody>
      </p:sp>
      <p:pic>
        <p:nvPicPr>
          <p:cNvPr id="27" name="Image 3" descr="arrow-right">    </p:cNvPr>
          <p:cNvPicPr>
            <a:picLocks noChangeAspect="1"/>
          </p:cNvPicPr>
          <p:nvPr/>
        </p:nvPicPr>
        <p:blipFill>
          <a:blip r:embed="rId4"/>
          <a:srcRect l="0" r="0" t="0" b="0"/>
          <a:stretch/>
        </p:blipFill>
        <p:spPr>
          <a:xfrm>
            <a:off x="5981700" y="5144294"/>
            <a:ext cx="228600" cy="127000"/>
          </a:xfrm>
          <a:prstGeom prst="rect">
            <a:avLst/>
          </a:prstGeom>
        </p:spPr>
      </p:pic>
      <p:sp>
        <p:nvSpPr>
          <p:cNvPr id="28" name="Text 22"/>
          <p:cNvSpPr/>
          <p:nvPr/>
        </p:nvSpPr>
        <p:spPr>
          <a:xfrm>
            <a:off x="6286500" y="4930973"/>
            <a:ext cx="2263775" cy="553641"/>
          </a:xfrm>
          <a:prstGeom prst="roundRect">
            <a:avLst>
              <a:gd name="adj" fmla="val 11470"/>
            </a:avLst>
          </a:prstGeom>
          <a:solidFill>
            <a:srgbClr val="EEF2F4"/>
          </a:solidFill>
          <a:ln/>
        </p:spPr>
        <p:txBody>
          <a:bodyPr wrap="square" lIns="83001" tIns="44901" rIns="21184" bIns="19501" rtlCol="0" anchor="t">
            <a:normAutofit/>
          </a:bodyPr>
          <a:lstStyle/>
          <a:p>
            <a:pPr algn="l"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Precarga el registro en el sistema de camiones</a:t>
            </a:r>
            <a:endParaRPr lang="en-US" sz="1200" dirty="0"/>
          </a:p>
        </p:txBody>
      </p:sp>
      <p:pic>
        <p:nvPicPr>
          <p:cNvPr id="29" name="Image 4" descr="arrow-right">    </p:cNvPr>
          <p:cNvPicPr>
            <a:picLocks noChangeAspect="1"/>
          </p:cNvPicPr>
          <p:nvPr/>
        </p:nvPicPr>
        <p:blipFill>
          <a:blip r:embed="rId5"/>
          <a:srcRect l="0" r="0" t="0" b="0"/>
          <a:stretch/>
        </p:blipFill>
        <p:spPr>
          <a:xfrm>
            <a:off x="8626475" y="5144294"/>
            <a:ext cx="228600" cy="127000"/>
          </a:xfrm>
          <a:prstGeom prst="rect">
            <a:avLst/>
          </a:prstGeom>
        </p:spPr>
      </p:pic>
      <p:sp>
        <p:nvSpPr>
          <p:cNvPr id="30" name="Text 23"/>
          <p:cNvSpPr/>
          <p:nvPr/>
        </p:nvSpPr>
        <p:spPr>
          <a:xfrm>
            <a:off x="8931275" y="4930973"/>
            <a:ext cx="2263775" cy="553641"/>
          </a:xfrm>
          <a:prstGeom prst="roundRect">
            <a:avLst>
              <a:gd name="adj" fmla="val 11470"/>
            </a:avLst>
          </a:prstGeom>
          <a:solidFill>
            <a:srgbClr val="0F6FA8"/>
          </a:solidFill>
          <a:ln/>
        </p:spPr>
        <p:txBody>
          <a:bodyPr wrap="square" lIns="83001" tIns="44901" rIns="21184" bIns="19501" rtlCol="0" anchor="t">
            <a:normAutofit/>
          </a:bodyPr>
          <a:lstStyle/>
          <a:p>
            <a:pPr algn="l" indent="0" marL="0">
              <a:lnSpc>
                <a:spcPts val="1680"/>
              </a:lnSpc>
              <a:buNone/>
            </a:pPr>
            <a:r>
              <a:rPr lang="en-US" sz="1200" dirty="0">
                <a:solidFill>
                  <a:srgbClr val="FCFDFB"/>
                </a:solidFill>
                <a:latin typeface="IBM Plex Sans" pitchFamily="34" charset="0"/>
                <a:ea typeface="IBM Plex Sans" pitchFamily="34" charset="-122"/>
                <a:cs typeface="IBM Plex Sans" pitchFamily="34" charset="-120"/>
              </a:rPr>
              <a:t>El operador confirma; solo tipea las excepciones</a:t>
            </a:r>
            <a:endParaRPr lang="en-US" sz="1200" dirty="0"/>
          </a:p>
        </p:txBody>
      </p:sp>
      <p:sp>
        <p:nvSpPr>
          <p:cNvPr id="31" name="Text 24"/>
          <p:cNvSpPr/>
          <p:nvPr/>
        </p:nvSpPr>
        <p:spPr>
          <a:xfrm>
            <a:off x="812800" y="6024959"/>
            <a:ext cx="91567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Puestos según el modelo de nodos · supuesto: hoy una persona por puesto y por turno, tres turnos · la dotación real a relevar con la planta</a:t>
            </a:r>
            <a:endParaRPr lang="en-US" sz="1200" dirty="0"/>
          </a:p>
        </p:txBody>
      </p:sp>
      <p:sp>
        <p:nvSpPr>
          <p:cNvPr id="32" name="Text 25"/>
          <p:cNvSpPr/>
          <p:nvPr/>
        </p:nvSpPr>
        <p:spPr>
          <a:xfrm>
            <a:off x="10718800" y="623828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FA8"/>
                </a:solidFill>
                <a:latin typeface="IBM Plex Sans" pitchFamily="34" charset="0"/>
                <a:ea typeface="IBM Plex Sans" pitchFamily="34" charset="-122"/>
                <a:cs typeface="IBM Plex Sans" pitchFamily="34" charset="-120"/>
              </a:rPr>
              <a:t>ARQUITECTURA · QUIÉN HACE QUÉ</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Space Grotesk" pitchFamily="34" charset="0"/>
                <a:ea typeface="Space Grotesk" pitchFamily="34" charset="-122"/>
                <a:cs typeface="Space Grotesk" pitchFamily="34" charset="-120"/>
              </a:rPr>
              <a:t>Una plataforma, una capa de inteligencia</a:t>
            </a:r>
            <a:endParaRPr lang="en-US" sz="3000" dirty="0"/>
          </a:p>
        </p:txBody>
      </p:sp>
      <p:sp>
        <p:nvSpPr>
          <p:cNvPr id="4" name="Shape 2"/>
          <p:cNvSpPr/>
          <p:nvPr/>
        </p:nvSpPr>
        <p:spPr>
          <a:xfrm>
            <a:off x="815975" y="1638895"/>
            <a:ext cx="5219700" cy="636191"/>
          </a:xfrm>
          <a:prstGeom prst="roundRect">
            <a:avLst>
              <a:gd name="adj" fmla="val 13475"/>
            </a:avLst>
          </a:prstGeom>
          <a:solidFill>
            <a:srgbClr val="FCFDFB"/>
          </a:solidFill>
          <a:ln w="6350">
            <a:solidFill>
              <a:srgbClr val="D2DBE0"/>
            </a:solidFill>
            <a:prstDash val="solid"/>
          </a:ln>
        </p:spPr>
      </p:sp>
      <p:pic>
        <p:nvPicPr>
          <p:cNvPr id="5" name="Image 0" descr="Users">    </p:cNvPr>
          <p:cNvPicPr>
            <a:picLocks noChangeAspect="1"/>
          </p:cNvPicPr>
          <p:nvPr/>
        </p:nvPicPr>
        <p:blipFill>
          <a:blip r:embed="rId1"/>
          <a:srcRect l="0" r="0" t="-112" b="-112"/>
          <a:stretch/>
        </p:blipFill>
        <p:spPr>
          <a:xfrm>
            <a:off x="971550" y="1842691"/>
            <a:ext cx="221754" cy="228600"/>
          </a:xfrm>
          <a:prstGeom prst="rect">
            <a:avLst/>
          </a:prstGeom>
        </p:spPr>
      </p:pic>
      <p:sp>
        <p:nvSpPr>
          <p:cNvPr id="6" name="Text 3"/>
          <p:cNvSpPr/>
          <p:nvPr/>
        </p:nvSpPr>
        <p:spPr>
          <a:xfrm>
            <a:off x="1294904" y="1743670"/>
            <a:ext cx="472275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Consumo:</a:t>
            </a:r>
            <a:r>
              <a:rPr lang="en-US" sz="1200" dirty="0">
                <a:solidFill>
                  <a:srgbClr val="13202E"/>
                </a:solidFill>
                <a:latin typeface="IBM Plex Sans" pitchFamily="34" charset="0"/>
                <a:ea typeface="IBM Plex Sans" pitchFamily="34" charset="-122"/>
                <a:cs typeface="IBM Plex Sans" pitchFamily="34" charset="-120"/>
              </a:rPr>
              <a:t> tablero en vivo, torre, informes, comités y la IA de Vicentin</a:t>
            </a:r>
            <a:endParaRPr lang="en-US" sz="1200" dirty="0"/>
          </a:p>
        </p:txBody>
      </p:sp>
      <p:sp>
        <p:nvSpPr>
          <p:cNvPr id="7" name="Shape 4"/>
          <p:cNvSpPr/>
          <p:nvPr/>
        </p:nvSpPr>
        <p:spPr>
          <a:xfrm>
            <a:off x="6156325" y="1638895"/>
            <a:ext cx="5219700" cy="636191"/>
          </a:xfrm>
          <a:prstGeom prst="roundRect">
            <a:avLst>
              <a:gd name="adj" fmla="val 13475"/>
            </a:avLst>
          </a:prstGeom>
          <a:solidFill>
            <a:srgbClr val="E1E6E9"/>
          </a:solidFill>
          <a:ln w="6350">
            <a:solidFill>
              <a:srgbClr val="C9CAC8"/>
            </a:solidFill>
            <a:prstDash val="solid"/>
          </a:ln>
        </p:spPr>
      </p:sp>
      <p:pic>
        <p:nvPicPr>
          <p:cNvPr id="8" name="Image 1" descr="Database">    </p:cNvPr>
          <p:cNvPicPr>
            <a:picLocks noChangeAspect="1"/>
          </p:cNvPicPr>
          <p:nvPr/>
        </p:nvPicPr>
        <p:blipFill>
          <a:blip r:embed="rId2"/>
          <a:srcRect l="-230" r="-230" t="0" b="0"/>
          <a:stretch/>
        </p:blipFill>
        <p:spPr>
          <a:xfrm>
            <a:off x="6311900" y="1842691"/>
            <a:ext cx="216892" cy="228600"/>
          </a:xfrm>
          <a:prstGeom prst="rect">
            <a:avLst/>
          </a:prstGeom>
        </p:spPr>
      </p:pic>
      <p:sp>
        <p:nvSpPr>
          <p:cNvPr id="9" name="Text 5"/>
          <p:cNvSpPr/>
          <p:nvPr/>
        </p:nvSpPr>
        <p:spPr>
          <a:xfrm>
            <a:off x="6630392" y="1743670"/>
            <a:ext cx="472776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Sistema de camiones:</a:t>
            </a:r>
            <a:r>
              <a:rPr lang="en-US" sz="1200" dirty="0">
                <a:solidFill>
                  <a:srgbClr val="13202E"/>
                </a:solidFill>
                <a:latin typeface="IBM Plex Sans" pitchFamily="34" charset="0"/>
                <a:ea typeface="IBM Plex Sans" pitchFamily="34" charset="-122"/>
                <a:cs typeface="IBM Plex Sans" pitchFamily="34" charset="-120"/>
              </a:rPr>
              <a:t> contrato, cupo y producto; lo complementamos</a:t>
            </a:r>
            <a:endParaRPr lang="en-US" sz="1200" dirty="0"/>
          </a:p>
        </p:txBody>
      </p:sp>
      <p:sp>
        <p:nvSpPr>
          <p:cNvPr id="10" name="Shape 6"/>
          <p:cNvSpPr/>
          <p:nvPr/>
        </p:nvSpPr>
        <p:spPr>
          <a:xfrm>
            <a:off x="812800" y="2392561"/>
            <a:ext cx="10566400" cy="1081881"/>
          </a:xfrm>
          <a:prstGeom prst="roundRect">
            <a:avLst>
              <a:gd name="adj" fmla="val 9391"/>
            </a:avLst>
          </a:prstGeom>
          <a:solidFill>
            <a:srgbClr val="0E1A2B"/>
          </a:solidFill>
          <a:ln/>
        </p:spPr>
      </p:sp>
      <p:sp>
        <p:nvSpPr>
          <p:cNvPr id="11" name="Text 7"/>
          <p:cNvSpPr/>
          <p:nvPr/>
        </p:nvSpPr>
        <p:spPr>
          <a:xfrm>
            <a:off x="990600" y="2544961"/>
            <a:ext cx="1111151" cy="238720"/>
          </a:xfrm>
          <a:custGeom>
            <a:avLst/>
            <a:gdLst/>
            <a:ahLst/>
            <a:cxnLst/>
            <a:rect l="l" t="t" r="r" b="b"/>
            <a:pathLst>
              <a:path w="1111151" h="238720">
                <a:moveTo>
                  <a:pt x="119360" y="0"/>
                </a:moveTo>
                <a:lnTo>
                  <a:pt x="991791" y="0"/>
                </a:lnTo>
                <a:arcTo hR="119360" wR="119360" stAng="16200000" swAng="5400000"/>
                <a:lnTo>
                  <a:pt x="1111151" y="119360"/>
                </a:lnTo>
                <a:arcTo hR="119360" wR="119360" stAng="0" swAng="5400000"/>
                <a:lnTo>
                  <a:pt x="119360" y="238720"/>
                </a:lnTo>
                <a:arcTo hR="119360" wR="119360" stAng="5400000" swAng="5400000"/>
                <a:lnTo>
                  <a:pt x="0" y="119360"/>
                </a:lnTo>
                <a:arcTo hR="119360" wR="119360" stAng="10800000" swAng="5400000"/>
                <a:close/>
              </a:path>
            </a:pathLst>
          </a:custGeom>
          <a:solidFill>
            <a:srgbClr val="6CC1F2"/>
          </a:solidFill>
          <a:ln/>
        </p:spPr>
        <p:txBody>
          <a:bodyPr wrap="none" lIns="0" tIns="0" rIns="0" bIns="0" rtlCol="0" anchor="ctr">
            <a:normAutofit/>
          </a:bodyPr>
          <a:lstStyle/>
          <a:p>
            <a:pPr algn="ctr" indent="0" marL="0">
              <a:lnSpc>
                <a:spcPts val="1680"/>
              </a:lnSpc>
              <a:buNone/>
            </a:pPr>
            <a:r>
              <a:rPr lang="en-US" sz="1200" b="1" spc="50" kern="0" dirty="0">
                <a:solidFill>
                  <a:srgbClr val="0E1A2B"/>
                </a:solidFill>
                <a:latin typeface="IBM Plex Sans" pitchFamily="34" charset="0"/>
                <a:ea typeface="IBM Plex Sans" pitchFamily="34" charset="-122"/>
                <a:cs typeface="IBM Plex Sans" pitchFamily="34" charset="-120"/>
              </a:rPr>
              <a:t>BIMTRAZER</a:t>
            </a:r>
            <a:endParaRPr lang="en-US" sz="1200" dirty="0"/>
          </a:p>
        </p:txBody>
      </p:sp>
      <p:sp>
        <p:nvSpPr>
          <p:cNvPr id="12" name="Text 8"/>
          <p:cNvSpPr/>
          <p:nvPr/>
        </p:nvSpPr>
        <p:spPr>
          <a:xfrm>
            <a:off x="990600" y="2834481"/>
            <a:ext cx="1962150"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CFDFB"/>
                </a:solidFill>
                <a:latin typeface="Space Grotesk" pitchFamily="34" charset="0"/>
                <a:ea typeface="Space Grotesk" pitchFamily="34" charset="-122"/>
                <a:cs typeface="Space Grotesk" pitchFamily="34" charset="-120"/>
              </a:rPr>
              <a:t>Capa de inteligencia</a:t>
            </a:r>
            <a:endParaRPr lang="en-US" sz="1600" dirty="0"/>
          </a:p>
        </p:txBody>
      </p:sp>
      <p:sp>
        <p:nvSpPr>
          <p:cNvPr id="13" name="Text 9"/>
          <p:cNvSpPr/>
          <p:nvPr/>
        </p:nvSpPr>
        <p:spPr>
          <a:xfrm>
            <a:off x="3048000" y="2544961"/>
            <a:ext cx="2675434" cy="356791"/>
          </a:xfrm>
          <a:prstGeom prst="roundRect">
            <a:avLst>
              <a:gd name="adj" fmla="val 17798"/>
            </a:avLst>
          </a:prstGeom>
          <a:solidFill>
            <a:srgbClr val="1C2C40"/>
          </a:solidFill>
          <a:ln/>
        </p:spPr>
        <p:txBody>
          <a:bodyPr wrap="square" lIns="83001" tIns="44901" rIns="8834" bIns="19501"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Modelo de nodos</a:t>
            </a:r>
            <a:endParaRPr lang="en-US" sz="1200" dirty="0"/>
          </a:p>
        </p:txBody>
      </p:sp>
      <p:sp>
        <p:nvSpPr>
          <p:cNvPr id="14" name="Text 10"/>
          <p:cNvSpPr/>
          <p:nvPr/>
        </p:nvSpPr>
        <p:spPr>
          <a:xfrm>
            <a:off x="5786934" y="2544961"/>
            <a:ext cx="2675434" cy="356791"/>
          </a:xfrm>
          <a:prstGeom prst="roundRect">
            <a:avLst>
              <a:gd name="adj" fmla="val 17798"/>
            </a:avLst>
          </a:prstGeom>
          <a:solidFill>
            <a:srgbClr val="1C2C40"/>
          </a:solidFill>
          <a:ln/>
        </p:spPr>
        <p:txBody>
          <a:bodyPr wrap="square" lIns="83001" tIns="44901" rIns="8834" bIns="19501"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Reglas y ETL</a:t>
            </a:r>
            <a:r>
              <a:rPr lang="en-US" sz="1200" dirty="0">
                <a:solidFill>
                  <a:srgbClr val="FCFDFB"/>
                </a:solidFill>
                <a:latin typeface="IBM Plex Sans" pitchFamily="34" charset="0"/>
                <a:ea typeface="IBM Plex Sans" pitchFamily="34" charset="-122"/>
                <a:cs typeface="IBM Plex Sans" pitchFamily="34" charset="-120"/>
              </a:rPr>
              <a:t> versionados</a:t>
            </a:r>
            <a:endParaRPr lang="en-US" sz="1200" dirty="0"/>
          </a:p>
        </p:txBody>
      </p:sp>
      <p:sp>
        <p:nvSpPr>
          <p:cNvPr id="15" name="Text 11"/>
          <p:cNvSpPr/>
          <p:nvPr/>
        </p:nvSpPr>
        <p:spPr>
          <a:xfrm>
            <a:off x="8525867" y="2544961"/>
            <a:ext cx="2675533" cy="356791"/>
          </a:xfrm>
          <a:prstGeom prst="roundRect">
            <a:avLst>
              <a:gd name="adj" fmla="val 17798"/>
            </a:avLst>
          </a:prstGeom>
          <a:solidFill>
            <a:srgbClr val="1C2C40"/>
          </a:solidFill>
          <a:ln/>
        </p:spPr>
        <p:txBody>
          <a:bodyPr wrap="square" lIns="83001" tIns="44901" rIns="8832" bIns="19501"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Estado en vivo</a:t>
            </a:r>
            <a:endParaRPr lang="en-US" sz="1200" dirty="0"/>
          </a:p>
        </p:txBody>
      </p:sp>
      <p:sp>
        <p:nvSpPr>
          <p:cNvPr id="16" name="Text 12"/>
          <p:cNvSpPr/>
          <p:nvPr/>
        </p:nvSpPr>
        <p:spPr>
          <a:xfrm>
            <a:off x="3048000" y="2965252"/>
            <a:ext cx="2675434" cy="356791"/>
          </a:xfrm>
          <a:prstGeom prst="roundRect">
            <a:avLst>
              <a:gd name="adj" fmla="val 17798"/>
            </a:avLst>
          </a:prstGeom>
          <a:solidFill>
            <a:srgbClr val="1C2C40"/>
          </a:solidFill>
          <a:ln/>
        </p:spPr>
        <p:txBody>
          <a:bodyPr wrap="square" lIns="83001" tIns="44901" rIns="8834" bIns="19501"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Agentes</a:t>
            </a:r>
            <a:r>
              <a:rPr lang="en-US" sz="1200" dirty="0">
                <a:solidFill>
                  <a:srgbClr val="FCFDFB"/>
                </a:solidFill>
                <a:latin typeface="IBM Plex Sans" pitchFamily="34" charset="0"/>
                <a:ea typeface="IBM Plex Sans" pitchFamily="34" charset="-122"/>
                <a:cs typeface="IBM Plex Sans" pitchFamily="34" charset="-120"/>
              </a:rPr>
              <a:t>, capas 1 a 4</a:t>
            </a:r>
            <a:endParaRPr lang="en-US" sz="1200" dirty="0"/>
          </a:p>
        </p:txBody>
      </p:sp>
      <p:sp>
        <p:nvSpPr>
          <p:cNvPr id="17" name="Text 13"/>
          <p:cNvSpPr/>
          <p:nvPr/>
        </p:nvSpPr>
        <p:spPr>
          <a:xfrm>
            <a:off x="5786934" y="2965252"/>
            <a:ext cx="2675434" cy="356791"/>
          </a:xfrm>
          <a:prstGeom prst="roundRect">
            <a:avLst>
              <a:gd name="adj" fmla="val 17798"/>
            </a:avLst>
          </a:prstGeom>
          <a:solidFill>
            <a:srgbClr val="1C2C40"/>
          </a:solidFill>
          <a:ln/>
        </p:spPr>
        <p:txBody>
          <a:bodyPr wrap="square" lIns="83001" tIns="44901" rIns="8834" bIns="19501"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Orquestador</a:t>
            </a:r>
            <a:endParaRPr lang="en-US" sz="1200" dirty="0"/>
          </a:p>
        </p:txBody>
      </p:sp>
      <p:sp>
        <p:nvSpPr>
          <p:cNvPr id="18" name="Text 14"/>
          <p:cNvSpPr/>
          <p:nvPr/>
        </p:nvSpPr>
        <p:spPr>
          <a:xfrm>
            <a:off x="8525867" y="2965252"/>
            <a:ext cx="2675533" cy="356791"/>
          </a:xfrm>
          <a:prstGeom prst="roundRect">
            <a:avLst>
              <a:gd name="adj" fmla="val 17798"/>
            </a:avLst>
          </a:prstGeom>
          <a:solidFill>
            <a:srgbClr val="1C2C40"/>
          </a:solidFill>
          <a:ln/>
        </p:spPr>
        <p:txBody>
          <a:bodyPr wrap="square" lIns="83001" tIns="44901" rIns="8832" bIns="19501" rtlCol="0" anchor="t">
            <a:normAutofit/>
          </a:bodyPr>
          <a:lstStyle/>
          <a:p>
            <a:pPr algn="l"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MCP</a:t>
            </a:r>
            <a:r>
              <a:rPr lang="en-US" sz="1200" dirty="0">
                <a:solidFill>
                  <a:srgbClr val="FCFDFB"/>
                </a:solidFill>
                <a:latin typeface="IBM Plex Sans" pitchFamily="34" charset="0"/>
                <a:ea typeface="IBM Plex Sans" pitchFamily="34" charset="-122"/>
                <a:cs typeface="IBM Plex Sans" pitchFamily="34" charset="-120"/>
              </a:rPr>
              <a:t> con usuario y rol</a:t>
            </a:r>
            <a:endParaRPr lang="en-US" sz="1200" dirty="0"/>
          </a:p>
        </p:txBody>
      </p:sp>
      <p:pic>
        <p:nvPicPr>
          <p:cNvPr id="19" name="Image 2" descr="arrow-up">    </p:cNvPr>
          <p:cNvPicPr>
            <a:picLocks noChangeAspect="1"/>
          </p:cNvPicPr>
          <p:nvPr/>
        </p:nvPicPr>
        <p:blipFill>
          <a:blip r:embed="rId3"/>
          <a:srcRect l="0" r="0" t="0" b="0"/>
          <a:stretch/>
        </p:blipFill>
        <p:spPr>
          <a:xfrm>
            <a:off x="965200" y="3614142"/>
            <a:ext cx="152400" cy="279400"/>
          </a:xfrm>
          <a:prstGeom prst="rect">
            <a:avLst/>
          </a:prstGeom>
        </p:spPr>
      </p:pic>
      <p:sp>
        <p:nvSpPr>
          <p:cNvPr id="20" name="Text 15"/>
          <p:cNvSpPr/>
          <p:nvPr/>
        </p:nvSpPr>
        <p:spPr>
          <a:xfrm>
            <a:off x="1219200" y="3647182"/>
            <a:ext cx="44834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API de eventos:</a:t>
            </a:r>
            <a:r>
              <a:rPr lang="en-US" sz="1200" dirty="0">
                <a:solidFill>
                  <a:srgbClr val="13202E"/>
                </a:solidFill>
                <a:latin typeface="IBM Plex Sans" pitchFamily="34" charset="0"/>
                <a:ea typeface="IBM Plex Sans" pitchFamily="34" charset="-122"/>
                <a:cs typeface="IBM Plex Sans" pitchFamily="34" charset="-120"/>
              </a:rPr>
              <a:t> cada paso confirmado, en tiempo real</a:t>
            </a:r>
            <a:endParaRPr lang="en-US" sz="1200" dirty="0"/>
          </a:p>
        </p:txBody>
      </p:sp>
      <p:pic>
        <p:nvPicPr>
          <p:cNvPr id="21" name="Image 3" descr="arrow-down">    </p:cNvPr>
          <p:cNvPicPr>
            <a:picLocks noChangeAspect="1"/>
          </p:cNvPicPr>
          <p:nvPr/>
        </p:nvPicPr>
        <p:blipFill>
          <a:blip r:embed="rId4"/>
          <a:srcRect l="0" r="0" t="0" b="0"/>
          <a:stretch/>
        </p:blipFill>
        <p:spPr>
          <a:xfrm>
            <a:off x="6305550" y="3614142"/>
            <a:ext cx="152400" cy="279400"/>
          </a:xfrm>
          <a:prstGeom prst="rect">
            <a:avLst/>
          </a:prstGeom>
        </p:spPr>
      </p:pic>
      <p:sp>
        <p:nvSpPr>
          <p:cNvPr id="22" name="Text 16"/>
          <p:cNvSpPr/>
          <p:nvPr/>
        </p:nvSpPr>
        <p:spPr>
          <a:xfrm>
            <a:off x="6559550" y="3647182"/>
            <a:ext cx="518886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API de comandos:</a:t>
            </a:r>
            <a:r>
              <a:rPr lang="en-US" sz="1200" dirty="0">
                <a:solidFill>
                  <a:srgbClr val="13202E"/>
                </a:solidFill>
                <a:latin typeface="IBM Plex Sans" pitchFamily="34" charset="0"/>
                <a:ea typeface="IBM Plex Sans" pitchFamily="34" charset="-122"/>
                <a:cs typeface="IBM Plex Sans" pitchFamily="34" charset="-120"/>
              </a:rPr>
              <a:t> barrera, semáforo, llamado; con aprobación</a:t>
            </a:r>
            <a:endParaRPr lang="en-US" sz="1200" dirty="0"/>
          </a:p>
        </p:txBody>
      </p:sp>
      <p:sp>
        <p:nvSpPr>
          <p:cNvPr id="23" name="Shape 17"/>
          <p:cNvSpPr/>
          <p:nvPr/>
        </p:nvSpPr>
        <p:spPr>
          <a:xfrm>
            <a:off x="815975" y="4036417"/>
            <a:ext cx="10560050" cy="1088231"/>
          </a:xfrm>
          <a:prstGeom prst="roundRect">
            <a:avLst>
              <a:gd name="adj" fmla="val 9044"/>
            </a:avLst>
          </a:prstGeom>
          <a:solidFill>
            <a:srgbClr val="FCFDFB"/>
          </a:solidFill>
          <a:ln w="6350">
            <a:solidFill>
              <a:srgbClr val="D2DBE0"/>
            </a:solidFill>
            <a:prstDash val="solid"/>
          </a:ln>
        </p:spPr>
      </p:sp>
      <p:sp>
        <p:nvSpPr>
          <p:cNvPr id="24" name="Text 18"/>
          <p:cNvSpPr/>
          <p:nvPr/>
        </p:nvSpPr>
        <p:spPr>
          <a:xfrm>
            <a:off x="996950" y="4191992"/>
            <a:ext cx="994966" cy="238720"/>
          </a:xfrm>
          <a:custGeom>
            <a:avLst/>
            <a:gdLst/>
            <a:ahLst/>
            <a:cxnLst/>
            <a:rect l="l" t="t" r="r" b="b"/>
            <a:pathLst>
              <a:path w="994966" h="238720">
                <a:moveTo>
                  <a:pt x="119360" y="0"/>
                </a:moveTo>
                <a:lnTo>
                  <a:pt x="875605" y="0"/>
                </a:lnTo>
                <a:arcTo hR="119360" wR="119360" stAng="16200000" swAng="5400000"/>
                <a:lnTo>
                  <a:pt x="994966" y="119360"/>
                </a:lnTo>
                <a:arcTo hR="119360" wR="119360" stAng="0" swAng="5400000"/>
                <a:lnTo>
                  <a:pt x="119360" y="238720"/>
                </a:lnTo>
                <a:arcTo hR="119360" wR="119360" stAng="5400000" swAng="5400000"/>
                <a:lnTo>
                  <a:pt x="0" y="119360"/>
                </a:lnTo>
                <a:arcTo hR="119360" wR="119360" stAng="10800000" swAng="5400000"/>
                <a:close/>
              </a:path>
            </a:pathLst>
          </a:custGeom>
          <a:solidFill>
            <a:srgbClr val="E1E6E9"/>
          </a:solidFill>
          <a:ln/>
        </p:spPr>
        <p:txBody>
          <a:bodyPr wrap="none" lIns="0" tIns="0" rIns="0" bIns="0" rtlCol="0" anchor="ctr">
            <a:normAutofit/>
          </a:bodyPr>
          <a:lstStyle/>
          <a:p>
            <a:pPr algn="ctr" indent="0" marL="0">
              <a:lnSpc>
                <a:spcPts val="1680"/>
              </a:lnSpc>
              <a:buNone/>
            </a:pPr>
            <a:r>
              <a:rPr lang="en-US" sz="1200" b="1" spc="50" kern="0" dirty="0">
                <a:solidFill>
                  <a:srgbClr val="4A5868"/>
                </a:solidFill>
                <a:latin typeface="IBM Plex Sans" pitchFamily="34" charset="0"/>
                <a:ea typeface="IBM Plex Sans" pitchFamily="34" charset="-122"/>
                <a:cs typeface="IBM Plex Sans" pitchFamily="34" charset="-120"/>
              </a:rPr>
              <a:t>ENESIMAL</a:t>
            </a:r>
            <a:endParaRPr lang="en-US" sz="1200" dirty="0"/>
          </a:p>
        </p:txBody>
      </p:sp>
      <p:sp>
        <p:nvSpPr>
          <p:cNvPr id="25" name="Text 19"/>
          <p:cNvSpPr/>
          <p:nvPr/>
        </p:nvSpPr>
        <p:spPr>
          <a:xfrm>
            <a:off x="996950" y="4481513"/>
            <a:ext cx="1962150"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E"/>
                </a:solidFill>
                <a:latin typeface="Space Grotesk" pitchFamily="34" charset="0"/>
                <a:ea typeface="Space Grotesk" pitchFamily="34" charset="-122"/>
                <a:cs typeface="Space Grotesk" pitchFamily="34" charset="-120"/>
              </a:rPr>
              <a:t>Plataforma TruckFlow</a:t>
            </a:r>
            <a:endParaRPr lang="en-US" sz="1600" dirty="0"/>
          </a:p>
        </p:txBody>
      </p:sp>
      <p:sp>
        <p:nvSpPr>
          <p:cNvPr id="26" name="Text 20"/>
          <p:cNvSpPr/>
          <p:nvPr/>
        </p:nvSpPr>
        <p:spPr>
          <a:xfrm>
            <a:off x="3054350" y="4191992"/>
            <a:ext cx="2671167" cy="356791"/>
          </a:xfrm>
          <a:prstGeom prst="roundRect">
            <a:avLst>
              <a:gd name="adj" fmla="val 17798"/>
            </a:avLst>
          </a:prstGeom>
          <a:solidFill>
            <a:srgbClr val="EEF2F4"/>
          </a:solidFill>
          <a:ln/>
        </p:spPr>
        <p:txBody>
          <a:bodyPr wrap="square" lIns="83001" tIns="44901" rIns="8962" bIns="19501"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Lectura de patentes</a:t>
            </a:r>
            <a:endParaRPr lang="en-US" sz="1200" dirty="0"/>
          </a:p>
        </p:txBody>
      </p:sp>
      <p:sp>
        <p:nvSpPr>
          <p:cNvPr id="27" name="Text 21"/>
          <p:cNvSpPr/>
          <p:nvPr/>
        </p:nvSpPr>
        <p:spPr>
          <a:xfrm>
            <a:off x="5789017" y="4191992"/>
            <a:ext cx="2671266" cy="356791"/>
          </a:xfrm>
          <a:prstGeom prst="roundRect">
            <a:avLst>
              <a:gd name="adj" fmla="val 17798"/>
            </a:avLst>
          </a:prstGeom>
          <a:solidFill>
            <a:srgbClr val="EEF2F4"/>
          </a:solidFill>
          <a:ln/>
        </p:spPr>
        <p:txBody>
          <a:bodyPr wrap="square" lIns="83001" tIns="44901" rIns="8959" bIns="19501"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Edge</a:t>
            </a:r>
            <a:r>
              <a:rPr lang="en-US" sz="1200" dirty="0">
                <a:solidFill>
                  <a:srgbClr val="13202E"/>
                </a:solidFill>
                <a:latin typeface="IBM Plex Sans" pitchFamily="34" charset="0"/>
                <a:ea typeface="IBM Plex Sans" pitchFamily="34" charset="-122"/>
                <a:cs typeface="IBM Plex Sans" pitchFamily="34" charset="-120"/>
              </a:rPr>
              <a:t> por nodo</a:t>
            </a:r>
            <a:endParaRPr lang="en-US" sz="1200" dirty="0"/>
          </a:p>
        </p:txBody>
      </p:sp>
      <p:sp>
        <p:nvSpPr>
          <p:cNvPr id="28" name="Text 22"/>
          <p:cNvSpPr/>
          <p:nvPr/>
        </p:nvSpPr>
        <p:spPr>
          <a:xfrm>
            <a:off x="8523784" y="4191992"/>
            <a:ext cx="2671167" cy="356791"/>
          </a:xfrm>
          <a:prstGeom prst="roundRect">
            <a:avLst>
              <a:gd name="adj" fmla="val 17798"/>
            </a:avLst>
          </a:prstGeom>
          <a:solidFill>
            <a:srgbClr val="EEF2F4"/>
          </a:solidFill>
          <a:ln/>
        </p:spPr>
        <p:txBody>
          <a:bodyPr wrap="square" lIns="83001" tIns="44901" rIns="8962" bIns="19501"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Microservicios</a:t>
            </a:r>
            <a:r>
              <a:rPr lang="en-US" sz="1200" dirty="0">
                <a:solidFill>
                  <a:srgbClr val="13202E"/>
                </a:solidFill>
                <a:latin typeface="IBM Plex Sans" pitchFamily="34" charset="0"/>
                <a:ea typeface="IBM Plex Sans" pitchFamily="34" charset="-122"/>
                <a:cs typeface="IBM Plex Sans" pitchFamily="34" charset="-120"/>
              </a:rPr>
              <a:t> de eventos</a:t>
            </a:r>
            <a:endParaRPr lang="en-US" sz="1200" dirty="0"/>
          </a:p>
        </p:txBody>
      </p:sp>
      <p:sp>
        <p:nvSpPr>
          <p:cNvPr id="29" name="Text 23"/>
          <p:cNvSpPr/>
          <p:nvPr/>
        </p:nvSpPr>
        <p:spPr>
          <a:xfrm>
            <a:off x="3054350" y="4612283"/>
            <a:ext cx="2671167" cy="356791"/>
          </a:xfrm>
          <a:prstGeom prst="roundRect">
            <a:avLst>
              <a:gd name="adj" fmla="val 17798"/>
            </a:avLst>
          </a:prstGeom>
          <a:solidFill>
            <a:srgbClr val="EEF2F4"/>
          </a:solidFill>
          <a:ln/>
        </p:spPr>
        <p:txBody>
          <a:bodyPr wrap="square" lIns="83001" tIns="44901" rIns="8962" bIns="19501"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Integración PLC</a:t>
            </a:r>
            <a:endParaRPr lang="en-US" sz="1200" dirty="0"/>
          </a:p>
        </p:txBody>
      </p:sp>
      <p:sp>
        <p:nvSpPr>
          <p:cNvPr id="30" name="Text 24"/>
          <p:cNvSpPr/>
          <p:nvPr/>
        </p:nvSpPr>
        <p:spPr>
          <a:xfrm>
            <a:off x="5789017" y="4612283"/>
            <a:ext cx="2671266" cy="356791"/>
          </a:xfrm>
          <a:prstGeom prst="roundRect">
            <a:avLst>
              <a:gd name="adj" fmla="val 17798"/>
            </a:avLst>
          </a:prstGeom>
          <a:solidFill>
            <a:srgbClr val="EEF2F4"/>
          </a:solidFill>
          <a:ln/>
        </p:spPr>
        <p:txBody>
          <a:bodyPr wrap="square" lIns="83001" tIns="44901" rIns="8959" bIns="19501"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Balanzas</a:t>
            </a:r>
            <a:r>
              <a:rPr lang="en-US" sz="1200" dirty="0">
                <a:solidFill>
                  <a:srgbClr val="13202E"/>
                </a:solidFill>
                <a:latin typeface="IBM Plex Sans" pitchFamily="34" charset="0"/>
                <a:ea typeface="IBM Plex Sans" pitchFamily="34" charset="-122"/>
                <a:cs typeface="IBM Plex Sans" pitchFamily="34" charset="-120"/>
              </a:rPr>
              <a:t> y fotocélulas</a:t>
            </a:r>
            <a:endParaRPr lang="en-US" sz="1200" dirty="0"/>
          </a:p>
        </p:txBody>
      </p:sp>
      <p:sp>
        <p:nvSpPr>
          <p:cNvPr id="31" name="Text 25"/>
          <p:cNvSpPr/>
          <p:nvPr/>
        </p:nvSpPr>
        <p:spPr>
          <a:xfrm>
            <a:off x="8523784" y="4612283"/>
            <a:ext cx="2671167" cy="356791"/>
          </a:xfrm>
          <a:prstGeom prst="roundRect">
            <a:avLst>
              <a:gd name="adj" fmla="val 17798"/>
            </a:avLst>
          </a:prstGeom>
          <a:solidFill>
            <a:srgbClr val="EEF2F4"/>
          </a:solidFill>
          <a:ln/>
        </p:spPr>
        <p:txBody>
          <a:bodyPr wrap="square" lIns="83001" tIns="44901" rIns="8962" bIns="19501" rtlCol="0" anchor="t">
            <a:normAutofit/>
          </a:bodyPr>
          <a:lstStyle/>
          <a:p>
            <a:pPr algn="l" indent="0" marL="0">
              <a:lnSpc>
                <a:spcPts val="1680"/>
              </a:lnSpc>
              <a:buNone/>
            </a:pPr>
            <a:r>
              <a:rPr lang="en-US" sz="1200" b="1" dirty="0">
                <a:solidFill>
                  <a:srgbClr val="13202E"/>
                </a:solidFill>
                <a:latin typeface="IBM Plex Sans" pitchFamily="34" charset="0"/>
                <a:ea typeface="IBM Plex Sans" pitchFamily="34" charset="-122"/>
                <a:cs typeface="IBM Plex Sans" pitchFamily="34" charset="-120"/>
              </a:rPr>
              <a:t>Operación</a:t>
            </a:r>
            <a:r>
              <a:rPr lang="en-US" sz="1200" dirty="0">
                <a:solidFill>
                  <a:srgbClr val="13202E"/>
                </a:solidFill>
                <a:latin typeface="IBM Plex Sans" pitchFamily="34" charset="0"/>
                <a:ea typeface="IBM Plex Sans" pitchFamily="34" charset="-122"/>
                <a:cs typeface="IBM Plex Sans" pitchFamily="34" charset="-120"/>
              </a:rPr>
              <a:t> de la plataforma</a:t>
            </a:r>
            <a:endParaRPr lang="en-US" sz="1200" dirty="0"/>
          </a:p>
        </p:txBody>
      </p:sp>
      <p:sp>
        <p:nvSpPr>
          <p:cNvPr id="32" name="Text 2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Dos equipos, dos interfaces: nadie duplica lo del otro · Truckflow Vicentin · propuesta interna</a:t>
            </a:r>
            <a:endParaRPr lang="en-US" sz="1200" dirty="0"/>
          </a:p>
        </p:txBody>
      </p:sp>
      <p:sp>
        <p:nvSpPr>
          <p:cNvPr id="33" name="Text 27"/>
          <p:cNvSpPr/>
          <p:nvPr/>
        </p:nvSpPr>
        <p:spPr>
          <a:xfrm>
            <a:off x="10718800" y="623828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FA8"/>
                </a:solidFill>
                <a:latin typeface="IBM Plex Sans" pitchFamily="34" charset="0"/>
                <a:ea typeface="IBM Plex Sans" pitchFamily="34" charset="-122"/>
                <a:cs typeface="IBM Plex Sans" pitchFamily="34" charset="-120"/>
              </a:rPr>
              <a:t>CÓMO AVANZAMOS</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Space Grotesk" pitchFamily="34" charset="0"/>
                <a:ea typeface="Space Grotesk" pitchFamily="34" charset="-122"/>
                <a:cs typeface="Space Grotesk" pitchFamily="34" charset="-120"/>
              </a:rPr>
              <a:t>Un proyecto por fases, sobre lo que ya está</a:t>
            </a:r>
            <a:endParaRPr lang="en-US" sz="3000" dirty="0"/>
          </a:p>
        </p:txBody>
      </p:sp>
      <p:sp>
        <p:nvSpPr>
          <p:cNvPr id="4" name="Shape 2"/>
          <p:cNvSpPr/>
          <p:nvPr/>
        </p:nvSpPr>
        <p:spPr>
          <a:xfrm>
            <a:off x="815975" y="1702395"/>
            <a:ext cx="2005310" cy="2111970"/>
          </a:xfrm>
          <a:prstGeom prst="roundRect">
            <a:avLst>
              <a:gd name="adj" fmla="val 4908"/>
            </a:avLst>
          </a:prstGeom>
          <a:solidFill>
            <a:srgbClr val="FCFDFB"/>
          </a:solidFill>
          <a:ln w="6350">
            <a:solidFill>
              <a:srgbClr val="D2DBE0"/>
            </a:solidFill>
            <a:prstDash val="solid"/>
          </a:ln>
        </p:spPr>
      </p:sp>
      <p:sp>
        <p:nvSpPr>
          <p:cNvPr id="5" name="Text 3"/>
          <p:cNvSpPr/>
          <p:nvPr/>
        </p:nvSpPr>
        <p:spPr>
          <a:xfrm>
            <a:off x="996950" y="1883370"/>
            <a:ext cx="200124"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A8FD0"/>
                </a:solidFill>
                <a:latin typeface="Space Grotesk" pitchFamily="34" charset="0"/>
                <a:ea typeface="Space Grotesk" pitchFamily="34" charset="-122"/>
                <a:cs typeface="Space Grotesk" pitchFamily="34" charset="-120"/>
              </a:rPr>
              <a:t>1</a:t>
            </a:r>
            <a:endParaRPr lang="en-US" sz="2600" dirty="0"/>
          </a:p>
        </p:txBody>
      </p:sp>
      <p:pic>
        <p:nvPicPr>
          <p:cNvPr id="6" name="Image 0" descr="Cloud">    </p:cNvPr>
          <p:cNvPicPr>
            <a:picLocks noChangeAspect="1"/>
          </p:cNvPicPr>
          <p:nvPr/>
        </p:nvPicPr>
        <p:blipFill>
          <a:blip r:embed="rId1"/>
          <a:srcRect l="0" r="0" t="0" b="0"/>
          <a:stretch/>
        </p:blipFill>
        <p:spPr>
          <a:xfrm>
            <a:off x="2360910" y="1908770"/>
            <a:ext cx="279400" cy="279400"/>
          </a:xfrm>
          <a:prstGeom prst="rect">
            <a:avLst/>
          </a:prstGeom>
        </p:spPr>
      </p:pic>
      <p:sp>
        <p:nvSpPr>
          <p:cNvPr id="7" name="Text 4"/>
          <p:cNvSpPr/>
          <p:nvPr/>
        </p:nvSpPr>
        <p:spPr>
          <a:xfrm>
            <a:off x="996950" y="2302470"/>
            <a:ext cx="16941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Space Grotesk" pitchFamily="34" charset="0"/>
                <a:ea typeface="Space Grotesk" pitchFamily="34" charset="-122"/>
                <a:cs typeface="Space Grotesk" pitchFamily="34" charset="-120"/>
              </a:rPr>
              <a:t>Base en la nube</a:t>
            </a:r>
            <a:endParaRPr lang="en-US" sz="1500" dirty="0"/>
          </a:p>
        </p:txBody>
      </p:sp>
      <p:sp>
        <p:nvSpPr>
          <p:cNvPr id="8" name="Text 5"/>
          <p:cNvSpPr/>
          <p:nvPr/>
        </p:nvSpPr>
        <p:spPr>
          <a:xfrm>
            <a:off x="996950" y="3394670"/>
            <a:ext cx="1028601" cy="238720"/>
          </a:xfrm>
          <a:custGeom>
            <a:avLst/>
            <a:gdLst/>
            <a:ahLst/>
            <a:cxnLst/>
            <a:rect l="l" t="t" r="r" b="b"/>
            <a:pathLst>
              <a:path w="1028601" h="238720">
                <a:moveTo>
                  <a:pt x="119360" y="0"/>
                </a:moveTo>
                <a:lnTo>
                  <a:pt x="909241" y="0"/>
                </a:lnTo>
                <a:arcTo hR="119360" wR="119360" stAng="16200000" swAng="5400000"/>
                <a:lnTo>
                  <a:pt x="1028601" y="119360"/>
                </a:lnTo>
                <a:arcTo hR="119360" wR="119360" stAng="0" swAng="5400000"/>
                <a:lnTo>
                  <a:pt x="119360" y="238720"/>
                </a:lnTo>
                <a:arcTo hR="119360" wR="119360" stAng="5400000" swAng="5400000"/>
                <a:lnTo>
                  <a:pt x="0" y="119360"/>
                </a:lnTo>
                <a:arcTo hR="119360" wR="119360" stAng="10800000" swAng="5400000"/>
                <a:close/>
              </a:path>
            </a:pathLst>
          </a:custGeom>
          <a:solidFill>
            <a:srgbClr val="DCEEF8"/>
          </a:solidFill>
          <a:ln/>
        </p:spPr>
        <p:txBody>
          <a:bodyPr wrap="none" lIns="0" tIns="0" rIns="0" bIns="0" rtlCol="0" anchor="ctr">
            <a:normAutofit/>
          </a:bodyPr>
          <a:lstStyle/>
          <a:p>
            <a:pPr algn="ctr" indent="0" marL="0">
              <a:lnSpc>
                <a:spcPts val="1680"/>
              </a:lnSpc>
              <a:buNone/>
            </a:pPr>
            <a:r>
              <a:rPr lang="en-US" sz="1200" b="1" dirty="0">
                <a:solidFill>
                  <a:srgbClr val="0F6FA8"/>
                </a:solidFill>
                <a:latin typeface="IBM Plex Sans" pitchFamily="34" charset="0"/>
                <a:ea typeface="IBM Plex Sans" pitchFamily="34" charset="-122"/>
                <a:cs typeface="IBM Plex Sans" pitchFamily="34" charset="-120"/>
              </a:rPr>
              <a:t>BIMTRAZER</a:t>
            </a:r>
            <a:endParaRPr lang="en-US" sz="1200" dirty="0"/>
          </a:p>
        </p:txBody>
      </p:sp>
      <p:sp>
        <p:nvSpPr>
          <p:cNvPr id="9" name="Shape 6"/>
          <p:cNvSpPr/>
          <p:nvPr/>
        </p:nvSpPr>
        <p:spPr>
          <a:xfrm>
            <a:off x="2954635" y="1702395"/>
            <a:ext cx="2005409" cy="2111970"/>
          </a:xfrm>
          <a:prstGeom prst="roundRect">
            <a:avLst>
              <a:gd name="adj" fmla="val 4908"/>
            </a:avLst>
          </a:prstGeom>
          <a:solidFill>
            <a:srgbClr val="FCFDFB"/>
          </a:solidFill>
          <a:ln w="6350">
            <a:solidFill>
              <a:srgbClr val="D2DBE0"/>
            </a:solidFill>
            <a:prstDash val="solid"/>
          </a:ln>
        </p:spPr>
      </p:sp>
      <p:sp>
        <p:nvSpPr>
          <p:cNvPr id="10" name="Text 7"/>
          <p:cNvSpPr/>
          <p:nvPr/>
        </p:nvSpPr>
        <p:spPr>
          <a:xfrm>
            <a:off x="3135610" y="1883370"/>
            <a:ext cx="246955"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A8FD0"/>
                </a:solidFill>
                <a:latin typeface="Space Grotesk" pitchFamily="34" charset="0"/>
                <a:ea typeface="Space Grotesk" pitchFamily="34" charset="-122"/>
                <a:cs typeface="Space Grotesk" pitchFamily="34" charset="-120"/>
              </a:rPr>
              <a:t>2</a:t>
            </a:r>
            <a:endParaRPr lang="en-US" sz="2600" dirty="0"/>
          </a:p>
        </p:txBody>
      </p:sp>
      <p:pic>
        <p:nvPicPr>
          <p:cNvPr id="11" name="Image 1" descr="Database">    </p:cNvPr>
          <p:cNvPicPr>
            <a:picLocks noChangeAspect="1"/>
          </p:cNvPicPr>
          <p:nvPr/>
        </p:nvPicPr>
        <p:blipFill>
          <a:blip r:embed="rId2"/>
          <a:srcRect l="0" r="0" t="0" b="0"/>
          <a:stretch/>
        </p:blipFill>
        <p:spPr>
          <a:xfrm>
            <a:off x="4499670" y="1908770"/>
            <a:ext cx="279400" cy="279400"/>
          </a:xfrm>
          <a:prstGeom prst="rect">
            <a:avLst/>
          </a:prstGeom>
        </p:spPr>
      </p:pic>
      <p:sp>
        <p:nvSpPr>
          <p:cNvPr id="12" name="Text 8"/>
          <p:cNvSpPr/>
          <p:nvPr/>
        </p:nvSpPr>
        <p:spPr>
          <a:xfrm>
            <a:off x="3135610" y="2302470"/>
            <a:ext cx="1694259"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Space Grotesk" pitchFamily="34" charset="0"/>
                <a:ea typeface="Space Grotesk" pitchFamily="34" charset="-122"/>
                <a:cs typeface="Space Grotesk" pitchFamily="34" charset="-120"/>
              </a:rPr>
              <a:t>Sistema de camiones</a:t>
            </a:r>
            <a:endParaRPr lang="en-US" sz="1500" dirty="0"/>
          </a:p>
        </p:txBody>
      </p:sp>
      <p:sp>
        <p:nvSpPr>
          <p:cNvPr id="13" name="Text 9"/>
          <p:cNvSpPr/>
          <p:nvPr/>
        </p:nvSpPr>
        <p:spPr>
          <a:xfrm>
            <a:off x="3135610" y="3394670"/>
            <a:ext cx="883940" cy="238720"/>
          </a:xfrm>
          <a:custGeom>
            <a:avLst/>
            <a:gdLst/>
            <a:ahLst/>
            <a:cxnLst/>
            <a:rect l="l" t="t" r="r" b="b"/>
            <a:pathLst>
              <a:path w="883940" h="238720">
                <a:moveTo>
                  <a:pt x="119360" y="0"/>
                </a:moveTo>
                <a:lnTo>
                  <a:pt x="764580" y="0"/>
                </a:lnTo>
                <a:arcTo hR="119360" wR="119360" stAng="16200000" swAng="5400000"/>
                <a:lnTo>
                  <a:pt x="883940" y="119360"/>
                </a:lnTo>
                <a:arcTo hR="119360" wR="119360" stAng="0" swAng="5400000"/>
                <a:lnTo>
                  <a:pt x="119360" y="238720"/>
                </a:lnTo>
                <a:arcTo hR="119360" wR="119360" stAng="5400000" swAng="5400000"/>
                <a:lnTo>
                  <a:pt x="0" y="119360"/>
                </a:lnTo>
                <a:arcTo hR="119360" wR="119360" stAng="10800000" swAng="5400000"/>
                <a:close/>
              </a:path>
            </a:pathLst>
          </a:custGeom>
          <a:solidFill>
            <a:srgbClr val="DCEEF8"/>
          </a:solidFill>
          <a:ln/>
        </p:spPr>
        <p:txBody>
          <a:bodyPr wrap="none" lIns="0" tIns="0" rIns="0" bIns="0" rtlCol="0" anchor="ctr">
            <a:normAutofit/>
          </a:bodyPr>
          <a:lstStyle/>
          <a:p>
            <a:pPr algn="ctr" indent="0" marL="0">
              <a:lnSpc>
                <a:spcPts val="1680"/>
              </a:lnSpc>
              <a:buNone/>
            </a:pPr>
            <a:r>
              <a:rPr lang="en-US" sz="1200" b="1" dirty="0">
                <a:solidFill>
                  <a:srgbClr val="0F6FA8"/>
                </a:solidFill>
                <a:latin typeface="IBM Plex Sans" pitchFamily="34" charset="0"/>
                <a:ea typeface="IBM Plex Sans" pitchFamily="34" charset="-122"/>
                <a:cs typeface="IBM Plex Sans" pitchFamily="34" charset="-120"/>
              </a:rPr>
              <a:t>VICENTIN</a:t>
            </a:r>
            <a:endParaRPr lang="en-US" sz="1200" dirty="0"/>
          </a:p>
        </p:txBody>
      </p:sp>
      <p:sp>
        <p:nvSpPr>
          <p:cNvPr id="14" name="Shape 10"/>
          <p:cNvSpPr/>
          <p:nvPr/>
        </p:nvSpPr>
        <p:spPr>
          <a:xfrm>
            <a:off x="5090220" y="1699220"/>
            <a:ext cx="1998960" cy="2118320"/>
          </a:xfrm>
          <a:prstGeom prst="roundRect">
            <a:avLst>
              <a:gd name="adj" fmla="val 5083"/>
            </a:avLst>
          </a:prstGeom>
          <a:solidFill>
            <a:srgbClr val="DCEEF8"/>
          </a:solidFill>
          <a:ln/>
        </p:spPr>
      </p:sp>
      <p:sp>
        <p:nvSpPr>
          <p:cNvPr id="15" name="Text 11"/>
          <p:cNvSpPr/>
          <p:nvPr/>
        </p:nvSpPr>
        <p:spPr>
          <a:xfrm>
            <a:off x="5268020" y="1877020"/>
            <a:ext cx="251619"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0F6FA8"/>
                </a:solidFill>
                <a:latin typeface="Space Grotesk" pitchFamily="34" charset="0"/>
                <a:ea typeface="Space Grotesk" pitchFamily="34" charset="-122"/>
                <a:cs typeface="Space Grotesk" pitchFamily="34" charset="-120"/>
              </a:rPr>
              <a:t>3</a:t>
            </a:r>
            <a:endParaRPr lang="en-US" sz="2600" dirty="0"/>
          </a:p>
        </p:txBody>
      </p:sp>
      <p:pic>
        <p:nvPicPr>
          <p:cNvPr id="16" name="Image 2" descr="Lightbulb">    </p:cNvPr>
          <p:cNvPicPr>
            <a:picLocks noChangeAspect="1"/>
          </p:cNvPicPr>
          <p:nvPr/>
        </p:nvPicPr>
        <p:blipFill>
          <a:blip r:embed="rId3"/>
          <a:srcRect l="0" r="0" t="0" b="0"/>
          <a:stretch/>
        </p:blipFill>
        <p:spPr>
          <a:xfrm>
            <a:off x="6631980" y="1902420"/>
            <a:ext cx="279400" cy="279400"/>
          </a:xfrm>
          <a:prstGeom prst="rect">
            <a:avLst/>
          </a:prstGeom>
        </p:spPr>
      </p:pic>
      <p:sp>
        <p:nvSpPr>
          <p:cNvPr id="17" name="Text 12"/>
          <p:cNvSpPr/>
          <p:nvPr/>
        </p:nvSpPr>
        <p:spPr>
          <a:xfrm>
            <a:off x="5268020" y="2296120"/>
            <a:ext cx="169416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Space Grotesk" pitchFamily="34" charset="0"/>
                <a:ea typeface="Space Grotesk" pitchFamily="34" charset="-122"/>
                <a:cs typeface="Space Grotesk" pitchFamily="34" charset="-120"/>
              </a:rPr>
              <a:t>Capas de agentes y orquestador</a:t>
            </a:r>
            <a:endParaRPr lang="en-US" sz="1500" dirty="0"/>
          </a:p>
        </p:txBody>
      </p:sp>
      <p:sp>
        <p:nvSpPr>
          <p:cNvPr id="18" name="Text 13"/>
          <p:cNvSpPr/>
          <p:nvPr/>
        </p:nvSpPr>
        <p:spPr>
          <a:xfrm>
            <a:off x="5268020" y="3401020"/>
            <a:ext cx="1028601" cy="238720"/>
          </a:xfrm>
          <a:custGeom>
            <a:avLst/>
            <a:gdLst/>
            <a:ahLst/>
            <a:cxnLst/>
            <a:rect l="l" t="t" r="r" b="b"/>
            <a:pathLst>
              <a:path w="1028601" h="238720">
                <a:moveTo>
                  <a:pt x="119360" y="0"/>
                </a:moveTo>
                <a:lnTo>
                  <a:pt x="909241" y="0"/>
                </a:lnTo>
                <a:arcTo hR="119360" wR="119360" stAng="16200000" swAng="5400000"/>
                <a:lnTo>
                  <a:pt x="1028601" y="119360"/>
                </a:lnTo>
                <a:arcTo hR="119360" wR="119360" stAng="0" swAng="5400000"/>
                <a:lnTo>
                  <a:pt x="119360" y="238720"/>
                </a:lnTo>
                <a:arcTo hR="119360" wR="119360" stAng="5400000" swAng="5400000"/>
                <a:lnTo>
                  <a:pt x="0" y="119360"/>
                </a:lnTo>
                <a:arcTo hR="119360" wR="119360" stAng="10800000" swAng="5400000"/>
                <a:close/>
              </a:path>
            </a:pathLst>
          </a:custGeom>
          <a:solidFill>
            <a:srgbClr val="0F6FA8"/>
          </a:solidFill>
          <a:ln/>
        </p:spPr>
        <p:txBody>
          <a:bodyPr wrap="none" lIns="0" tIns="0" rIns="0" bIns="0" rtlCol="0" anchor="ctr">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BIMTRAZER</a:t>
            </a:r>
            <a:endParaRPr lang="en-US" sz="1200" dirty="0"/>
          </a:p>
        </p:txBody>
      </p:sp>
      <p:sp>
        <p:nvSpPr>
          <p:cNvPr id="19" name="Shape 14"/>
          <p:cNvSpPr/>
          <p:nvPr/>
        </p:nvSpPr>
        <p:spPr>
          <a:xfrm>
            <a:off x="7219355" y="1702395"/>
            <a:ext cx="2005310" cy="2111970"/>
          </a:xfrm>
          <a:prstGeom prst="roundRect">
            <a:avLst>
              <a:gd name="adj" fmla="val 4908"/>
            </a:avLst>
          </a:prstGeom>
          <a:solidFill>
            <a:srgbClr val="FCFDFB"/>
          </a:solidFill>
          <a:ln w="6350">
            <a:solidFill>
              <a:srgbClr val="D2DBE0"/>
            </a:solidFill>
            <a:prstDash val="solid"/>
          </a:ln>
        </p:spPr>
      </p:sp>
      <p:sp>
        <p:nvSpPr>
          <p:cNvPr id="20" name="Text 15"/>
          <p:cNvSpPr/>
          <p:nvPr/>
        </p:nvSpPr>
        <p:spPr>
          <a:xfrm>
            <a:off x="7400330" y="1883370"/>
            <a:ext cx="260846"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A8FD0"/>
                </a:solidFill>
                <a:latin typeface="Space Grotesk" pitchFamily="34" charset="0"/>
                <a:ea typeface="Space Grotesk" pitchFamily="34" charset="-122"/>
                <a:cs typeface="Space Grotesk" pitchFamily="34" charset="-120"/>
              </a:rPr>
              <a:t>4</a:t>
            </a:r>
            <a:endParaRPr lang="en-US" sz="2600" dirty="0"/>
          </a:p>
        </p:txBody>
      </p:sp>
      <p:pic>
        <p:nvPicPr>
          <p:cNvPr id="21" name="Image 3" descr="Wrench">    </p:cNvPr>
          <p:cNvPicPr>
            <a:picLocks noChangeAspect="1"/>
          </p:cNvPicPr>
          <p:nvPr/>
        </p:nvPicPr>
        <p:blipFill>
          <a:blip r:embed="rId4"/>
          <a:srcRect l="0" r="0" t="0" b="0"/>
          <a:stretch/>
        </p:blipFill>
        <p:spPr>
          <a:xfrm>
            <a:off x="8764290" y="1908770"/>
            <a:ext cx="279400" cy="279400"/>
          </a:xfrm>
          <a:prstGeom prst="rect">
            <a:avLst/>
          </a:prstGeom>
        </p:spPr>
      </p:pic>
      <p:sp>
        <p:nvSpPr>
          <p:cNvPr id="22" name="Text 16"/>
          <p:cNvSpPr/>
          <p:nvPr/>
        </p:nvSpPr>
        <p:spPr>
          <a:xfrm>
            <a:off x="7400330" y="2302470"/>
            <a:ext cx="1694160" cy="9398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Space Grotesk" pitchFamily="34" charset="0"/>
                <a:ea typeface="Space Grotesk" pitchFamily="34" charset="-122"/>
                <a:cs typeface="Space Grotesk" pitchFamily="34" charset="-120"/>
              </a:rPr>
              <a:t>Integración TruckFlow: eventos y comandos</a:t>
            </a:r>
            <a:endParaRPr lang="en-US" sz="1500" dirty="0"/>
          </a:p>
        </p:txBody>
      </p:sp>
      <p:sp>
        <p:nvSpPr>
          <p:cNvPr id="23" name="Text 17"/>
          <p:cNvSpPr/>
          <p:nvPr/>
        </p:nvSpPr>
        <p:spPr>
          <a:xfrm>
            <a:off x="7400330" y="3394670"/>
            <a:ext cx="918766" cy="238720"/>
          </a:xfrm>
          <a:custGeom>
            <a:avLst/>
            <a:gdLst/>
            <a:ahLst/>
            <a:cxnLst/>
            <a:rect l="l" t="t" r="r" b="b"/>
            <a:pathLst>
              <a:path w="918766" h="238720">
                <a:moveTo>
                  <a:pt x="119360" y="0"/>
                </a:moveTo>
                <a:lnTo>
                  <a:pt x="799405" y="0"/>
                </a:lnTo>
                <a:arcTo hR="119360" wR="119360" stAng="16200000" swAng="5400000"/>
                <a:lnTo>
                  <a:pt x="918766" y="119360"/>
                </a:lnTo>
                <a:arcTo hR="119360" wR="119360" stAng="0" swAng="5400000"/>
                <a:lnTo>
                  <a:pt x="119360" y="238720"/>
                </a:lnTo>
                <a:arcTo hR="119360" wR="119360" stAng="5400000" swAng="5400000"/>
                <a:lnTo>
                  <a:pt x="0" y="119360"/>
                </a:lnTo>
                <a:arcTo hR="119360" wR="119360" stAng="10800000" swAng="5400000"/>
                <a:close/>
              </a:path>
            </a:pathLst>
          </a:custGeom>
          <a:solidFill>
            <a:srgbClr val="E1E6E9"/>
          </a:solidFill>
          <a:ln/>
        </p:spPr>
        <p:txBody>
          <a:bodyPr wrap="none" lIns="0" tIns="0" rIns="0" bIns="0" rtlCol="0" anchor="ctr">
            <a:normAutofit/>
          </a:bodyPr>
          <a:lstStyle/>
          <a:p>
            <a:pPr algn="ctr" indent="0" marL="0">
              <a:lnSpc>
                <a:spcPts val="1680"/>
              </a:lnSpc>
              <a:buNone/>
            </a:pPr>
            <a:r>
              <a:rPr lang="en-US" sz="1200" b="1" dirty="0">
                <a:solidFill>
                  <a:srgbClr val="4A5868"/>
                </a:solidFill>
                <a:latin typeface="IBM Plex Sans" pitchFamily="34" charset="0"/>
                <a:ea typeface="IBM Plex Sans" pitchFamily="34" charset="-122"/>
                <a:cs typeface="IBM Plex Sans" pitchFamily="34" charset="-120"/>
              </a:rPr>
              <a:t>ENESIMAL</a:t>
            </a:r>
            <a:endParaRPr lang="en-US" sz="1200" dirty="0"/>
          </a:p>
        </p:txBody>
      </p:sp>
      <p:sp>
        <p:nvSpPr>
          <p:cNvPr id="24" name="Shape 18"/>
          <p:cNvSpPr/>
          <p:nvPr/>
        </p:nvSpPr>
        <p:spPr>
          <a:xfrm>
            <a:off x="9361190" y="1705570"/>
            <a:ext cx="2011660" cy="2105620"/>
          </a:xfrm>
          <a:prstGeom prst="roundRect">
            <a:avLst>
              <a:gd name="adj" fmla="val 4735"/>
            </a:avLst>
          </a:prstGeom>
          <a:solidFill>
            <a:srgbClr val="FBE9C8"/>
          </a:solidFill>
          <a:ln w="12700">
            <a:solidFill>
              <a:srgbClr val="C27C0E"/>
            </a:solidFill>
            <a:prstDash val="dash"/>
          </a:ln>
        </p:spPr>
      </p:sp>
      <p:sp>
        <p:nvSpPr>
          <p:cNvPr id="25" name="Text 19"/>
          <p:cNvSpPr/>
          <p:nvPr/>
        </p:nvSpPr>
        <p:spPr>
          <a:xfrm>
            <a:off x="9545340" y="1922760"/>
            <a:ext cx="119098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200"/>
                </a:solidFill>
                <a:latin typeface="IBM Plex Sans" pitchFamily="34" charset="0"/>
                <a:ea typeface="IBM Plex Sans" pitchFamily="34" charset="-122"/>
                <a:cs typeface="IBM Plex Sans" pitchFamily="34" charset="-120"/>
              </a:rPr>
              <a:t>HORIZONTE</a:t>
            </a:r>
            <a:endParaRPr lang="en-US" sz="1200" dirty="0"/>
          </a:p>
        </p:txBody>
      </p:sp>
      <p:pic>
        <p:nvPicPr>
          <p:cNvPr id="26" name="Image 4" descr="Lightning">    </p:cNvPr>
          <p:cNvPicPr>
            <a:picLocks noChangeAspect="1"/>
          </p:cNvPicPr>
          <p:nvPr/>
        </p:nvPicPr>
        <p:blipFill>
          <a:blip r:embed="rId5"/>
          <a:srcRect l="0" r="0" t="0" b="0"/>
          <a:stretch/>
        </p:blipFill>
        <p:spPr>
          <a:xfrm>
            <a:off x="10909300" y="1889720"/>
            <a:ext cx="279400" cy="279400"/>
          </a:xfrm>
          <a:prstGeom prst="rect">
            <a:avLst/>
          </a:prstGeom>
        </p:spPr>
      </p:pic>
      <p:sp>
        <p:nvSpPr>
          <p:cNvPr id="27" name="Text 20"/>
          <p:cNvSpPr/>
          <p:nvPr/>
        </p:nvSpPr>
        <p:spPr>
          <a:xfrm>
            <a:off x="9545340" y="2258020"/>
            <a:ext cx="1694160" cy="7112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Space Grotesk" pitchFamily="34" charset="0"/>
                <a:ea typeface="Space Grotesk" pitchFamily="34" charset="-122"/>
                <a:cs typeface="Space Grotesk" pitchFamily="34" charset="-120"/>
              </a:rPr>
              <a:t>Correctivos: el orquestador actúa</a:t>
            </a:r>
            <a:endParaRPr lang="en-US" sz="1500" dirty="0"/>
          </a:p>
        </p:txBody>
      </p:sp>
      <p:sp>
        <p:nvSpPr>
          <p:cNvPr id="28" name="Shape 21"/>
          <p:cNvSpPr/>
          <p:nvPr/>
        </p:nvSpPr>
        <p:spPr>
          <a:xfrm>
            <a:off x="815975" y="3998516"/>
            <a:ext cx="10560050" cy="1192411"/>
          </a:xfrm>
          <a:prstGeom prst="roundRect">
            <a:avLst>
              <a:gd name="adj" fmla="val 8254"/>
            </a:avLst>
          </a:prstGeom>
          <a:solidFill>
            <a:srgbClr val="FCFDFB"/>
          </a:solidFill>
          <a:ln w="6350">
            <a:solidFill>
              <a:srgbClr val="D2DBE0"/>
            </a:solidFill>
            <a:prstDash val="solid"/>
          </a:ln>
        </p:spPr>
      </p:sp>
      <p:sp>
        <p:nvSpPr>
          <p:cNvPr id="29" name="Text 22"/>
          <p:cNvSpPr/>
          <p:nvPr/>
        </p:nvSpPr>
        <p:spPr>
          <a:xfrm>
            <a:off x="1022350" y="4179491"/>
            <a:ext cx="104517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5638"/>
                </a:solidFill>
                <a:latin typeface="IBM Plex Sans" pitchFamily="34" charset="0"/>
                <a:ea typeface="IBM Plex Sans" pitchFamily="34" charset="-122"/>
                <a:cs typeface="IBM Plex Sans" pitchFamily="34" charset="-120"/>
              </a:rPr>
              <a:t>POR QUÉ ES BARATO</a:t>
            </a:r>
            <a:endParaRPr lang="en-US" sz="1200" dirty="0"/>
          </a:p>
        </p:txBody>
      </p:sp>
      <p:pic>
        <p:nvPicPr>
          <p:cNvPr id="30" name="Image 5" descr="Check">    </p:cNvPr>
          <p:cNvPicPr>
            <a:picLocks noChangeAspect="1"/>
          </p:cNvPicPr>
          <p:nvPr/>
        </p:nvPicPr>
        <p:blipFill>
          <a:blip r:embed="rId6"/>
          <a:srcRect l="0" r="0" t="0" b="0"/>
          <a:stretch/>
        </p:blipFill>
        <p:spPr>
          <a:xfrm>
            <a:off x="1022350" y="4499471"/>
            <a:ext cx="203200" cy="203200"/>
          </a:xfrm>
          <a:prstGeom prst="rect">
            <a:avLst/>
          </a:prstGeom>
        </p:spPr>
      </p:pic>
      <p:sp>
        <p:nvSpPr>
          <p:cNvPr id="31" name="Text 23"/>
          <p:cNvSpPr/>
          <p:nvPr/>
        </p:nvSpPr>
        <p:spPr>
          <a:xfrm>
            <a:off x="1301750" y="4494411"/>
            <a:ext cx="26163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Infraestructura instalada y paga</a:t>
            </a:r>
            <a:endParaRPr lang="en-US" sz="1200" dirty="0"/>
          </a:p>
        </p:txBody>
      </p:sp>
      <p:pic>
        <p:nvPicPr>
          <p:cNvPr id="32" name="Image 6" descr="Check">    </p:cNvPr>
          <p:cNvPicPr>
            <a:picLocks noChangeAspect="1"/>
          </p:cNvPicPr>
          <p:nvPr/>
        </p:nvPicPr>
        <p:blipFill>
          <a:blip r:embed="rId7"/>
          <a:srcRect l="0" r="0" t="0" b="0"/>
          <a:stretch/>
        </p:blipFill>
        <p:spPr>
          <a:xfrm>
            <a:off x="4434384" y="4499471"/>
            <a:ext cx="203200" cy="203200"/>
          </a:xfrm>
          <a:prstGeom prst="rect">
            <a:avLst/>
          </a:prstGeom>
        </p:spPr>
      </p:pic>
      <p:sp>
        <p:nvSpPr>
          <p:cNvPr id="33" name="Text 24"/>
          <p:cNvSpPr/>
          <p:nvPr/>
        </p:nvSpPr>
        <p:spPr>
          <a:xfrm>
            <a:off x="4713784" y="4494411"/>
            <a:ext cx="27986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Sin obra ni reemplazo de sistemas</a:t>
            </a:r>
            <a:endParaRPr lang="en-US" sz="1200" dirty="0"/>
          </a:p>
        </p:txBody>
      </p:sp>
      <p:pic>
        <p:nvPicPr>
          <p:cNvPr id="34" name="Image 7" descr="Check">    </p:cNvPr>
          <p:cNvPicPr>
            <a:picLocks noChangeAspect="1"/>
          </p:cNvPicPr>
          <p:nvPr/>
        </p:nvPicPr>
        <p:blipFill>
          <a:blip r:embed="rId8"/>
          <a:srcRect l="0" r="0" t="0" b="0"/>
          <a:stretch/>
        </p:blipFill>
        <p:spPr>
          <a:xfrm>
            <a:off x="7846417" y="4499471"/>
            <a:ext cx="203200" cy="203200"/>
          </a:xfrm>
          <a:prstGeom prst="rect">
            <a:avLst/>
          </a:prstGeom>
        </p:spPr>
      </p:pic>
      <p:sp>
        <p:nvSpPr>
          <p:cNvPr id="35" name="Text 25"/>
          <p:cNvSpPr/>
          <p:nvPr/>
        </p:nvSpPr>
        <p:spPr>
          <a:xfrm>
            <a:off x="8125817" y="4494411"/>
            <a:ext cx="29501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Por fases, cada una con valor propio</a:t>
            </a:r>
            <a:endParaRPr lang="en-US" sz="1200" dirty="0"/>
          </a:p>
        </p:txBody>
      </p:sp>
      <p:pic>
        <p:nvPicPr>
          <p:cNvPr id="36" name="Image 8" descr="Check">    </p:cNvPr>
          <p:cNvPicPr>
            <a:picLocks noChangeAspect="1"/>
          </p:cNvPicPr>
          <p:nvPr/>
        </p:nvPicPr>
        <p:blipFill>
          <a:blip r:embed="rId9"/>
          <a:srcRect l="0" r="0" t="0" b="0"/>
          <a:stretch/>
        </p:blipFill>
        <p:spPr>
          <a:xfrm>
            <a:off x="1022350" y="4801691"/>
            <a:ext cx="203200" cy="203200"/>
          </a:xfrm>
          <a:prstGeom prst="rect">
            <a:avLst/>
          </a:prstGeom>
        </p:spPr>
      </p:pic>
      <p:sp>
        <p:nvSpPr>
          <p:cNvPr id="37" name="Text 26"/>
          <p:cNvSpPr/>
          <p:nvPr/>
        </p:nvSpPr>
        <p:spPr>
          <a:xfrm>
            <a:off x="1301750" y="4796631"/>
            <a:ext cx="31326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Parte entra en las 20 h/mes de evolutivo</a:t>
            </a:r>
            <a:endParaRPr lang="en-US" sz="1200" dirty="0"/>
          </a:p>
        </p:txBody>
      </p:sp>
      <p:pic>
        <p:nvPicPr>
          <p:cNvPr id="38" name="Image 9" descr="Check">    </p:cNvPr>
          <p:cNvPicPr>
            <a:picLocks noChangeAspect="1"/>
          </p:cNvPicPr>
          <p:nvPr/>
        </p:nvPicPr>
        <p:blipFill>
          <a:blip r:embed="rId10"/>
          <a:srcRect l="0" r="0" t="0" b="0"/>
          <a:stretch/>
        </p:blipFill>
        <p:spPr>
          <a:xfrm>
            <a:off x="4434384" y="4801691"/>
            <a:ext cx="203200" cy="203200"/>
          </a:xfrm>
          <a:prstGeom prst="rect">
            <a:avLst/>
          </a:prstGeom>
        </p:spPr>
      </p:pic>
      <p:sp>
        <p:nvSpPr>
          <p:cNvPr id="39" name="Text 27"/>
          <p:cNvSpPr/>
          <p:nvPr/>
        </p:nvSpPr>
        <p:spPr>
          <a:xfrm>
            <a:off x="4713784" y="4796631"/>
            <a:ext cx="22511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Nube e IA se pagan por uso</a:t>
            </a:r>
            <a:endParaRPr lang="en-US" sz="1200" dirty="0"/>
          </a:p>
        </p:txBody>
      </p:sp>
      <p:pic>
        <p:nvPicPr>
          <p:cNvPr id="40" name="Image 10" descr="Check">    </p:cNvPr>
          <p:cNvPicPr>
            <a:picLocks noChangeAspect="1"/>
          </p:cNvPicPr>
          <p:nvPr/>
        </p:nvPicPr>
        <p:blipFill>
          <a:blip r:embed="rId11"/>
          <a:srcRect l="0" r="0" t="0" b="0"/>
          <a:stretch/>
        </p:blipFill>
        <p:spPr>
          <a:xfrm>
            <a:off x="7846417" y="4801691"/>
            <a:ext cx="203200" cy="203200"/>
          </a:xfrm>
          <a:prstGeom prst="rect">
            <a:avLst/>
          </a:prstGeom>
        </p:spPr>
      </p:pic>
      <p:sp>
        <p:nvSpPr>
          <p:cNvPr id="41" name="Text 28"/>
          <p:cNvSpPr/>
          <p:nvPr/>
        </p:nvSpPr>
        <p:spPr>
          <a:xfrm>
            <a:off x="8125817" y="4796631"/>
            <a:ext cx="2944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E"/>
                </a:solidFill>
                <a:latin typeface="IBM Plex Sans" pitchFamily="34" charset="0"/>
                <a:ea typeface="IBM Plex Sans" pitchFamily="34" charset="-122"/>
                <a:cs typeface="IBM Plex Sans" pitchFamily="34" charset="-120"/>
              </a:rPr>
              <a:t>Lo que ya está no se paga dos veces</a:t>
            </a:r>
            <a:endParaRPr lang="en-US" sz="1200" dirty="0"/>
          </a:p>
        </p:txBody>
      </p:sp>
      <p:sp>
        <p:nvSpPr>
          <p:cNvPr id="42" name="Text 29"/>
          <p:cNvSpPr/>
          <p:nvPr/>
        </p:nvSpPr>
        <p:spPr>
          <a:xfrm>
            <a:off x="10718800" y="623828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A2B"/>
        </a:solidFill>
      </p:bgPr>
    </p:bg>
    <p:spTree>
      <p:nvGrpSpPr>
        <p:cNvPr id="1" name=""/>
        <p:cNvGrpSpPr/>
        <p:nvPr/>
      </p:nvGrpSpPr>
      <p:grpSpPr>
        <a:xfrm>
          <a:off x="0" y="0"/>
          <a:ext cx="0" cy="0"/>
          <a:chOff x="0" y="0"/>
          <a:chExt cx="0" cy="0"/>
        </a:xfrm>
      </p:grpSpPr>
      <p:pic>
        <p:nvPicPr>
          <p:cNvPr id="2" name="Image 0" descr="BIMtrazer">    </p:cNvPr>
          <p:cNvPicPr>
            <a:picLocks noChangeAspect="1"/>
          </p:cNvPicPr>
          <p:nvPr/>
        </p:nvPicPr>
        <p:blipFill>
          <a:blip r:embed="rId1"/>
          <a:srcRect l="0" r="0" t="-63" b="-63"/>
          <a:stretch/>
        </p:blipFill>
        <p:spPr>
          <a:xfrm>
            <a:off x="812800" y="812800"/>
            <a:ext cx="1079500" cy="508000"/>
          </a:xfrm>
          <a:prstGeom prst="rect">
            <a:avLst/>
          </a:prstGeom>
        </p:spPr>
      </p:pic>
      <p:sp>
        <p:nvSpPr>
          <p:cNvPr id="3" name="Shape 0"/>
          <p:cNvSpPr/>
          <p:nvPr/>
        </p:nvSpPr>
        <p:spPr>
          <a:xfrm>
            <a:off x="2146300" y="812800"/>
            <a:ext cx="12700" cy="508000"/>
          </a:xfrm>
          <a:prstGeom prst="rect">
            <a:avLst/>
          </a:prstGeom>
          <a:solidFill>
            <a:srgbClr val="3A4A60"/>
          </a:solidFill>
          <a:ln/>
        </p:spPr>
      </p:sp>
      <p:pic>
        <p:nvPicPr>
          <p:cNvPr id="4" name="Image 1" descr="Nueva Vicentin Argentina">    </p:cNvPr>
          <p:cNvPicPr>
            <a:picLocks noChangeAspect="1"/>
          </p:cNvPicPr>
          <p:nvPr/>
        </p:nvPicPr>
        <p:blipFill>
          <a:blip r:embed="rId2"/>
          <a:srcRect l="-167" r="-167" t="0" b="0"/>
          <a:stretch/>
        </p:blipFill>
        <p:spPr>
          <a:xfrm>
            <a:off x="2413000" y="812800"/>
            <a:ext cx="952500" cy="508000"/>
          </a:xfrm>
          <a:prstGeom prst="rect">
            <a:avLst/>
          </a:prstGeom>
        </p:spPr>
      </p:pic>
      <p:sp>
        <p:nvSpPr>
          <p:cNvPr id="5" name="Text 1"/>
          <p:cNvSpPr/>
          <p:nvPr/>
        </p:nvSpPr>
        <p:spPr>
          <a:xfrm>
            <a:off x="812800" y="2018605"/>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6CC1F2"/>
                </a:solidFill>
                <a:latin typeface="IBM Plex Sans" pitchFamily="34" charset="0"/>
                <a:ea typeface="IBM Plex Sans" pitchFamily="34" charset="-122"/>
                <a:cs typeface="IBM Plex Sans" pitchFamily="34" charset="-120"/>
              </a:rPr>
              <a:t>PRÓXIMO PASO</a:t>
            </a:r>
            <a:endParaRPr lang="en-US" sz="1300" dirty="0"/>
          </a:p>
        </p:txBody>
      </p:sp>
      <p:sp>
        <p:nvSpPr>
          <p:cNvPr id="6" name="Text 2"/>
          <p:cNvSpPr/>
          <p:nvPr>
            <p:ph type="title"/>
          </p:nvPr>
        </p:nvSpPr>
        <p:spPr>
          <a:xfrm>
            <a:off x="812800" y="2402086"/>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i="0" dirty="0">
                <a:solidFill>
                  <a:srgbClr val="F4F6F3"/>
                </a:solidFill>
                <a:latin typeface="Space Grotesk" pitchFamily="34" charset="0"/>
                <a:ea typeface="Space Grotesk" pitchFamily="34" charset="-122"/>
                <a:cs typeface="Space Grotesk" pitchFamily="34" charset="-120"/>
              </a:rPr>
              <a:t>Decidir llevarle esta propuesta a Vicentin</a:t>
            </a:r>
            <a:endParaRPr lang="en-US" sz="4000" dirty="0"/>
          </a:p>
        </p:txBody>
      </p:sp>
      <p:sp>
        <p:nvSpPr>
          <p:cNvPr id="7" name="Text 3"/>
          <p:cNvSpPr/>
          <p:nvPr/>
        </p:nvSpPr>
        <p:spPr>
          <a:xfrm>
            <a:off x="812800" y="3648571"/>
            <a:ext cx="248539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6CC1F2"/>
                </a:solidFill>
                <a:latin typeface="Space Grotesk" pitchFamily="34" charset="0"/>
                <a:ea typeface="Space Grotesk" pitchFamily="34" charset="-122"/>
                <a:cs typeface="Space Grotesk" pitchFamily="34" charset="-120"/>
              </a:rPr>
              <a:t>1</a:t>
            </a:r>
            <a:endParaRPr lang="en-US" sz="2400" dirty="0"/>
          </a:p>
        </p:txBody>
      </p:sp>
      <p:sp>
        <p:nvSpPr>
          <p:cNvPr id="8" name="Text 4"/>
          <p:cNvSpPr/>
          <p:nvPr/>
        </p:nvSpPr>
        <p:spPr>
          <a:xfrm>
            <a:off x="812800" y="4138712"/>
            <a:ext cx="248539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2DBE0"/>
                </a:solidFill>
                <a:latin typeface="IBM Plex Sans" pitchFamily="34" charset="0"/>
                <a:ea typeface="IBM Plex Sans" pitchFamily="34" charset="-122"/>
                <a:cs typeface="IBM Plex Sans" pitchFamily="34" charset="-120"/>
              </a:rPr>
              <a:t>Acceso: que Vicentin nos habilite el sistema de camiones y las balanzas</a:t>
            </a:r>
            <a:endParaRPr lang="en-US" sz="1400" dirty="0"/>
          </a:p>
        </p:txBody>
      </p:sp>
      <p:sp>
        <p:nvSpPr>
          <p:cNvPr id="9" name="Text 5"/>
          <p:cNvSpPr/>
          <p:nvPr/>
        </p:nvSpPr>
        <p:spPr>
          <a:xfrm>
            <a:off x="3530600" y="3648571"/>
            <a:ext cx="248539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6CC1F2"/>
                </a:solidFill>
                <a:latin typeface="Space Grotesk" pitchFamily="34" charset="0"/>
                <a:ea typeface="Space Grotesk" pitchFamily="34" charset="-122"/>
                <a:cs typeface="Space Grotesk" pitchFamily="34" charset="-120"/>
              </a:rPr>
              <a:t>2</a:t>
            </a:r>
            <a:endParaRPr lang="en-US" sz="2400" dirty="0"/>
          </a:p>
        </p:txBody>
      </p:sp>
      <p:sp>
        <p:nvSpPr>
          <p:cNvPr id="10" name="Text 6"/>
          <p:cNvSpPr/>
          <p:nvPr/>
        </p:nvSpPr>
        <p:spPr>
          <a:xfrm>
            <a:off x="3530600" y="4138712"/>
            <a:ext cx="248539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2DBE0"/>
                </a:solidFill>
                <a:latin typeface="IBM Plex Sans" pitchFamily="34" charset="0"/>
                <a:ea typeface="IBM Plex Sans" pitchFamily="34" charset="-122"/>
                <a:cs typeface="IBM Plex Sans" pitchFamily="34" charset="-120"/>
              </a:rPr>
              <a:t>Demo en vivo: la planta y sus playas con datos del día</a:t>
            </a:r>
            <a:endParaRPr lang="en-US" sz="1400" dirty="0"/>
          </a:p>
        </p:txBody>
      </p:sp>
      <p:sp>
        <p:nvSpPr>
          <p:cNvPr id="11" name="Text 7"/>
          <p:cNvSpPr/>
          <p:nvPr/>
        </p:nvSpPr>
        <p:spPr>
          <a:xfrm>
            <a:off x="6248400" y="3648571"/>
            <a:ext cx="248539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6CC1F2"/>
                </a:solidFill>
                <a:latin typeface="Space Grotesk" pitchFamily="34" charset="0"/>
                <a:ea typeface="Space Grotesk" pitchFamily="34" charset="-122"/>
                <a:cs typeface="Space Grotesk" pitchFamily="34" charset="-120"/>
              </a:rPr>
              <a:t>3</a:t>
            </a:r>
            <a:endParaRPr lang="en-US" sz="2400" dirty="0"/>
          </a:p>
        </p:txBody>
      </p:sp>
      <p:sp>
        <p:nvSpPr>
          <p:cNvPr id="12" name="Text 8"/>
          <p:cNvSpPr/>
          <p:nvPr/>
        </p:nvSpPr>
        <p:spPr>
          <a:xfrm>
            <a:off x="6248400" y="4138712"/>
            <a:ext cx="248539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2DBE0"/>
                </a:solidFill>
                <a:latin typeface="IBM Plex Sans" pitchFamily="34" charset="0"/>
                <a:ea typeface="IBM Plex Sans" pitchFamily="34" charset="-122"/>
                <a:cs typeface="IBM Plex Sans" pitchFamily="34" charset="-120"/>
              </a:rPr>
              <a:t>La base y las capas de agentes: qué hacen y qué aportan</a:t>
            </a:r>
            <a:endParaRPr lang="en-US" sz="1400" dirty="0"/>
          </a:p>
        </p:txBody>
      </p:sp>
      <p:sp>
        <p:nvSpPr>
          <p:cNvPr id="13" name="Text 9"/>
          <p:cNvSpPr/>
          <p:nvPr/>
        </p:nvSpPr>
        <p:spPr>
          <a:xfrm>
            <a:off x="8966200" y="3648571"/>
            <a:ext cx="248539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6CC1F2"/>
                </a:solidFill>
                <a:latin typeface="Space Grotesk" pitchFamily="34" charset="0"/>
                <a:ea typeface="Space Grotesk" pitchFamily="34" charset="-122"/>
                <a:cs typeface="Space Grotesk" pitchFamily="34" charset="-120"/>
              </a:rPr>
              <a:t>4</a:t>
            </a:r>
            <a:endParaRPr lang="en-US" sz="2400" dirty="0"/>
          </a:p>
        </p:txBody>
      </p:sp>
      <p:sp>
        <p:nvSpPr>
          <p:cNvPr id="14" name="Text 10"/>
          <p:cNvSpPr/>
          <p:nvPr/>
        </p:nvSpPr>
        <p:spPr>
          <a:xfrm>
            <a:off x="8966200" y="4138712"/>
            <a:ext cx="2485390"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2DBE0"/>
                </a:solidFill>
                <a:latin typeface="IBM Plex Sans" pitchFamily="34" charset="0"/>
                <a:ea typeface="IBM Plex Sans" pitchFamily="34" charset="-122"/>
                <a:cs typeface="IBM Plex Sans" pitchFamily="34" charset="-120"/>
              </a:rPr>
              <a:t>Gobernanza de agentes: roles, aprobaciones, límites por acción y registro de cada decisión</a:t>
            </a:r>
            <a:endParaRPr lang="en-US" sz="1400" dirty="0"/>
          </a:p>
        </p:txBody>
      </p:sp>
      <p:sp>
        <p:nvSpPr>
          <p:cNvPr id="15" name="Text 11"/>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0"/>
                </a:solidFill>
                <a:latin typeface="IBM Plex Sans" pitchFamily="34" charset="0"/>
                <a:ea typeface="IBM Plex Sans" pitchFamily="34" charset="-122"/>
                <a:cs typeface="IBM Plex Sans" pitchFamily="34" charset="-120"/>
              </a:rPr>
              <a:t>BIMtrazer · TruckFlow · Septiembre 2026</a:t>
            </a:r>
            <a:endParaRPr lang="en-US" sz="1200" dirty="0"/>
          </a:p>
        </p:txBody>
      </p:sp>
    </p:spTree>
  </p:cSld>
  <p:clrMapOvr>
    <a:masterClrMapping/>
  </p:clrMapOvr>
</p:sld>
</file>

<file path=ppt/theme/theme1.xml><?xml version="1.0" encoding="utf-8"?>
<a:theme xmlns:a="http://schemas.openxmlformats.org/drawingml/2006/main" name="Ingeniería logística del Nodo Sur">
  <a:themeElements>
    <a:clrScheme name="Ingeniería logística del Nodo Sur">
      <a:dk1>
        <a:srgbClr val="13202E"/>
      </a:dk1>
      <a:lt1>
        <a:srgbClr val="EEF2F4"/>
      </a:lt1>
      <a:dk2>
        <a:srgbClr val="4A5560"/>
      </a:dk2>
      <a:lt2>
        <a:srgbClr val="D8DDE0"/>
      </a:lt2>
      <a:accent1>
        <a:srgbClr val="0F6FA8"/>
      </a:accent1>
      <a:accent2>
        <a:srgbClr val="0B5638"/>
      </a:accent2>
      <a:accent3>
        <a:srgbClr val="6CC1F2"/>
      </a:accent3>
      <a:accent4>
        <a:srgbClr val="8A5200"/>
      </a:accent4>
      <a:accent5>
        <a:srgbClr val="FBE9C8"/>
      </a:accent5>
      <a:accent6>
        <a:srgbClr val="1A8FD0"/>
      </a:accent6>
      <a:hlink>
        <a:srgbClr val="0563C1"/>
      </a:hlink>
      <a:folHlink>
        <a:srgbClr val="954F72"/>
      </a:folHlink>
    </a:clrScheme>
    <a:fontScheme name="Ingeniería logística del Nodo Sur">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Ingeniería logística del Nodo Sur</dc:title>
  <dc:subject/>
  <dc:creator/>
  <cp:lastModifiedBy/>
  <cp:revision>1</cp:revision>
  <dcterms:created xsi:type="dcterms:W3CDTF">2026-10-02T14:55:38Z</dcterms:created>
  <dcterms:modified xsi:type="dcterms:W3CDTF">2026-10-02T14:55:38Z</dcterms:modified>
</cp:coreProperties>
</file>