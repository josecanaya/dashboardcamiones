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Comité de Seguridad Nodo Sur, semana 24 al 30/09. Ricardone arriba, puerto San Lorenzo abajo.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Descargas controladas: ingresos al puerto del Excel 24–30/09 con volcable declarado y lectura de la cámara de la calle (636); 1 en otra calle (AD745GM). Vueltas a Ricardone: el camión llegó al puerto, salió sin pasar por un volcable y volvió a entrar a Ricardone; confirmado con el Excel (sin operación en la primera visita, o con una operación que la cámara del volcable no vio).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HGC160: pre-ingreso 28/09 23:18, calada 29/09 01:05, puerto 01:40 a 02:55 sin pasar por un volcable. Volvió a Ricardone el 30/09 05:49, caló otra vez a las 07:41 y descargó en el volcable 5 a las 08:40. El Excel registra DOS ingresos al puerto en el volcable 5: 28/09 23:23–29/09 02:56 (34.220 kg) y 30/09 05:55–09:02 (34.320 kg). Las cámaras de los volcables solo lo vieron en el segundo. Vale confirmar si el primero fue una descarga real o un rechazo.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AC293WB: calada 28/09 00:08, puerto de 00:23 a 03:55 (balanza 03:07, balanza de salida 03:52) sin pasar por un volcable. Volvió a Ricardone a las 10:24 y salió a las 11:08 sin calar; descargó en el volcable 3 a las 15:42. El Excel registra dos ingresos al puerto: volcable 5 27/09 23:33–28/09 03:58 (35.060 kg) y volcable 3 28/09 10:30–16:00 (35.420 kg). La cámara del volcable 5 no lo leyó en la primera.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AI082AP: calada 13:05, puerto 13:34 a 13:58 sin descargar, ingreso a Ricardone 15:04, caladas 17:31 y 18:05, volcable 3 a las 19:47. El Excel tiene una sola operación en el puerto: volcable 3, 18:04–20:02 (38.700 kg). La primera visita no tiene operación.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OKO733: calada 13:32, puerto 13:56 a 14:32 sin descargar, ingreso a Ricardone 15:32, segunda calada 15:49 y volcable 5 a las 17:00. El Excel tiene una sola operación: volcable 5, 15:37–17:14 (30.240 kg). La primera visita no tiene operación.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AG847TB (las capturas están en el archivo AG479TB): calada 09:58, puerto 10:26 a 10:54 con balanza de ingreso 10:29 y balanza de salida 10:42, sin volcable. Volvió a Ricardone 12:01, caló 13:19 y descargó en el volcable 5 a las 14:06. El Excel tiene una sola operación: volcable 5, 12:06–14:24 (30.260 kg).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KNP563 (las capturas están en el archivo KNP653): calada 03:08, puerto 03:34 a 03:54 sin descargar, ingreso a Ricardone 12:36, segunda calada 15:48, calado en el puerto 16:24 y volcable 2 a las 16:52. El Excel tiene una sola operación: volcable 2, 12:41–17:14 (31.120 kg).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Descargas controladas: 636 ingresos al puerto 24–30/09 con volcable declarado en el Excel y lectura de la cámara de la calle; 635 en la calle declarada (99,8 %). La semana anterior: 1.108, 99,2 %.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KEB002: el Excel lo registra como EGRESO de la Terminal con cáscara de soja pelleteada (ingreso 29/09 13:58, salida 30/09 13:42, 30.460 kg). Las cámaras lo leyeron en el pre-ingreso de Ricardone el 29/09 y el 30/09 lo vieron calado dos veces en el puerto y pasando cuatro veces por las calles 2 y 3. En la captura de las 11:52 se ve una pala cargadora junto al camión en la calle 2. Vale confirmar si la carga de cáscara se hace en las calles de descarga.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EEW075, transile de soja silo → puerto: carga en S8 línea 2 a las 04:44, calada 05:05, balanza del puerto 05:24, calle 3 a las 05:26 y a las 05:29 lo leen a la vez las cámaras de las calles 3 y 4. Puede ser una lectura cruzada entre calles vecinas: vale confirmar en qué calle descargó. En el Excel la carga del silo está (salida de Ricardone 05:06) y el ingreso al puerto no figura.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Regla: egreso Ricardone → ingreso San Lorenzo entre 30 min y 2 h, y sin lectura en la calada del puerto hasta la salida. Solo grano (soja y transile). Quedan fuera tres camiones de metanol (26/09) y uno de productos varios (30/09). Las semanas del 11/09 y 18/09 hubo 33 y 25 casos, casi todos alrededor de la medianoche; esta semana no se repitió ese patrón.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Método: cada patente, sus cámaras en orden de la semana 24–30/09, y cada par consecutivo se compara con el orden de los 50 circuitos del modelo de nodos (docs/propuesta-en-vivo/modelo-nodos-nodo-sur). Aparecen además pasos del transile que el modelo todavía no tiene (salida → Playa 3 en 97 camiones, volcables 1 y 2 → volcable silo Keppler) y circuitos internos del puerto (Renova, OSL); son huecos del modelo, no anomalías.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Casos con lámina propia en cada comité de seguridad (10/06 al 02/10), sin contar las tablas de demoras interplanta (33 el 11/09, 25 el 18/09, 6 esta semana). Fuente: PDF de cada comité y Excel Historico anomalias (29/06–05/08). Clasificación propuesta, a validar: doble ciclo incluye doble ingreso, doble o triple calado y recalado; volver a Ricardone incluye después de descargar y sin descargar.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3225800" y="1013420"/>
            <a:ext cx="8153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200" dirty="0">
                <a:solidFill>
                  <a:srgbClr val="1B2420"/>
                </a:solidFill>
                <a:latin typeface="Domine" pitchFamily="34" charset="0"/>
                <a:ea typeface="Domine" pitchFamily="34" charset="-122"/>
                <a:cs typeface="Domin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3225800" y="1756370"/>
            <a:ext cx="8153400" cy="428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3225800" y="1013420"/>
            <a:ext cx="81534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200" dirty="0">
                <a:solidFill>
                  <a:srgbClr val="1B2420"/>
                </a:solidFill>
                <a:latin typeface="Domine" pitchFamily="34" charset="0"/>
                <a:ea typeface="Domine" pitchFamily="34" charset="-122"/>
                <a:cs typeface="Domin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3225800" y="1756370"/>
            <a:ext cx="8153400" cy="42888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jpeg"/><Relationship Id="rId5" Type="http://schemas.openxmlformats.org/officeDocument/2006/relationships/image" Target="../media/image-4-5.jpeg"/><Relationship Id="rId6" Type="http://schemas.openxmlformats.org/officeDocument/2006/relationships/image" Target="../media/image-4-6.jpeg"/><Relationship Id="rId7" Type="http://schemas.openxmlformats.org/officeDocument/2006/relationships/image" Target="../media/image-4-7.jpe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jpeg"/><Relationship Id="rId5" Type="http://schemas.openxmlformats.org/officeDocument/2006/relationships/image" Target="../media/image-5-5.jpeg"/><Relationship Id="rId6" Type="http://schemas.openxmlformats.org/officeDocument/2006/relationships/image" Target="../media/image-5-6.jpeg"/><Relationship Id="rId7" Type="http://schemas.openxmlformats.org/officeDocument/2006/relationships/image" Target="../media/image-5-7.jpe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jpeg"/><Relationship Id="rId5" Type="http://schemas.openxmlformats.org/officeDocument/2006/relationships/image" Target="../media/image-6-5.jpeg"/><Relationship Id="rId6" Type="http://schemas.openxmlformats.org/officeDocument/2006/relationships/image" Target="../media/image-6-6.jpeg"/><Relationship Id="rId7" Type="http://schemas.openxmlformats.org/officeDocument/2006/relationships/image" Target="../media/image-6-7.jpe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jpeg"/><Relationship Id="rId5" Type="http://schemas.openxmlformats.org/officeDocument/2006/relationships/image" Target="../media/image-7-5.jpeg"/><Relationship Id="rId6" Type="http://schemas.openxmlformats.org/officeDocument/2006/relationships/image" Target="../media/image-7-6.jpeg"/><Relationship Id="rId7" Type="http://schemas.openxmlformats.org/officeDocument/2006/relationships/image" Target="../media/image-7-7.jpe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jpeg"/><Relationship Id="rId5" Type="http://schemas.openxmlformats.org/officeDocument/2006/relationships/image" Target="../media/image-8-5.jpeg"/><Relationship Id="rId6" Type="http://schemas.openxmlformats.org/officeDocument/2006/relationships/image" Target="../media/image-8-6.jpeg"/><Relationship Id="rId7" Type="http://schemas.openxmlformats.org/officeDocument/2006/relationships/image" Target="../media/image-8-7.jpe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jpeg"/><Relationship Id="rId5" Type="http://schemas.openxmlformats.org/officeDocument/2006/relationships/image" Target="../media/image-9-5.jpeg"/><Relationship Id="rId6" Type="http://schemas.openxmlformats.org/officeDocument/2006/relationships/image" Target="../media/image-9-6.jpeg"/><Relationship Id="rId7" Type="http://schemas.openxmlformats.org/officeDocument/2006/relationships/image" Target="../media/image-9-7.jpe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jpeg"/><Relationship Id="rId5" Type="http://schemas.openxmlformats.org/officeDocument/2006/relationships/image" Target="../media/image-12-5.jpeg"/><Relationship Id="rId6" Type="http://schemas.openxmlformats.org/officeDocument/2006/relationships/image" Target="../media/image-12-6.jpeg"/><Relationship Id="rId7" Type="http://schemas.openxmlformats.org/officeDocument/2006/relationships/image" Target="../media/image-12-7.jpe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jpeg"/><Relationship Id="rId5" Type="http://schemas.openxmlformats.org/officeDocument/2006/relationships/image" Target="../media/image-13-5.jpeg"/><Relationship Id="rId6" Type="http://schemas.openxmlformats.org/officeDocument/2006/relationships/image" Target="../media/image-13-6.jpeg"/><Relationship Id="rId7" Type="http://schemas.openxmlformats.org/officeDocument/2006/relationships/image" Target="../media/image-13-7.jpe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56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5638"/>
              </a:gs>
              <a:gs pos="60000">
                <a:srgbClr val="0E4A33"/>
              </a:gs>
              <a:gs pos="100000">
                <a:srgbClr val="2E1B4E"/>
              </a:gs>
            </a:gsLst>
            <a:lin ang="4200000" scaled="0"/>
          </a:gradFill>
          <a:ln/>
        </p:spPr>
      </p:sp>
      <p:pic>
        <p:nvPicPr>
          <p:cNvPr id="3" name="Image 0" descr="Vista aérea de la planta Ricardone">    </p:cNvPr>
          <p:cNvPicPr>
            <a:picLocks noChangeAspect="1"/>
          </p:cNvPicPr>
          <p:nvPr/>
        </p:nvPicPr>
        <p:blipFill>
          <a:blip r:embed="rId1"/>
          <a:srcRect l="1921" r="1921" t="0" b="0"/>
          <a:stretch/>
        </p:blipFill>
        <p:spPr>
          <a:xfrm>
            <a:off x="5715000" y="0"/>
            <a:ext cx="6477000" cy="3403600"/>
          </a:xfrm>
          <a:prstGeom prst="rect">
            <a:avLst/>
          </a:prstGeom>
        </p:spPr>
      </p:pic>
      <p:pic>
        <p:nvPicPr>
          <p:cNvPr id="4" name="Image 1" descr="Vista aérea del puerto San Lorenzo">    </p:cNvPr>
          <p:cNvPicPr>
            <a:picLocks noChangeAspect="1"/>
          </p:cNvPicPr>
          <p:nvPr/>
        </p:nvPicPr>
        <p:blipFill>
          <a:blip r:embed="rId2"/>
          <a:srcRect l="1921" r="1921" t="0" b="0"/>
          <a:stretch/>
        </p:blipFill>
        <p:spPr>
          <a:xfrm>
            <a:off x="5715000" y="3454400"/>
            <a:ext cx="6477000" cy="34036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715000" y="0"/>
            <a:ext cx="2921000" cy="6858000"/>
          </a:xfrm>
          <a:prstGeom prst="rect">
            <a:avLst/>
          </a:prstGeom>
          <a:gradFill rotWithShape="1">
            <a:gsLst>
              <a:gs pos="0">
                <a:srgbClr val="0B5638"/>
              </a:gs>
              <a:gs pos="45000">
                <a:srgbClr val="0B5638">
                  <a:alpha val="55000"/>
                </a:srgbClr>
              </a:gs>
              <a:gs pos="100000">
                <a:srgbClr val="0B5638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6" name="Shape 2"/>
          <p:cNvSpPr/>
          <p:nvPr/>
        </p:nvSpPr>
        <p:spPr>
          <a:xfrm>
            <a:off x="5715000" y="3403600"/>
            <a:ext cx="6477000" cy="50800"/>
          </a:xfrm>
          <a:prstGeom prst="rect">
            <a:avLst/>
          </a:prstGeom>
          <a:solidFill>
            <a:srgbClr val="9CCBAE"/>
          </a:solidFill>
          <a:ln/>
        </p:spPr>
      </p:sp>
      <p:sp>
        <p:nvSpPr>
          <p:cNvPr id="7" name="Text 3"/>
          <p:cNvSpPr/>
          <p:nvPr/>
        </p:nvSpPr>
        <p:spPr>
          <a:xfrm>
            <a:off x="9601200" y="2844800"/>
            <a:ext cx="2336800" cy="381000"/>
          </a:xfrm>
          <a:prstGeom prst="roundRect">
            <a:avLst>
              <a:gd name="adj" fmla="val 16667"/>
            </a:avLst>
          </a:prstGeom>
          <a:solidFill>
            <a:srgbClr val="0E281C">
              <a:alpha val="82000"/>
            </a:srgbClr>
          </a:solidFill>
          <a:ln/>
        </p:spPr>
        <p:txBody>
          <a:bodyPr wrap="square" lIns="3810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1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PLANTA RICARDONE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9601200" y="2844800"/>
            <a:ext cx="2336800" cy="381000"/>
          </a:xfrm>
          <a:custGeom>
            <a:avLst/>
            <a:gdLst/>
            <a:ahLst/>
            <a:cxnLst/>
            <a:rect l="l" t="t" r="r" b="b"/>
            <a:pathLst>
              <a:path w="2336800" h="381000">
                <a:moveTo>
                  <a:pt x="63500" y="381000"/>
                </a:moveTo>
                <a:lnTo>
                  <a:pt x="63500" y="381000"/>
                </a:lnTo>
                <a:arcTo hR="63500" wR="63500" stAng="5400000" swAng="5400000"/>
                <a:lnTo>
                  <a:pt x="0" y="63500"/>
                </a:lnTo>
                <a:arcTo hR="63500" wR="63500" stAng="10800000" swAng="5400000"/>
                <a:lnTo>
                  <a:pt x="63500" y="0"/>
                </a:lnTo>
                <a:arcTo hR="63500" wR="25400" stAng="16200000" swAng="-5400000"/>
                <a:lnTo>
                  <a:pt x="38100" y="317500"/>
                </a:lnTo>
                <a:arcTo hR="63500" wR="25400" stAng="10800000" swAng="-5400000"/>
                <a:close/>
              </a:path>
            </a:pathLst>
          </a:custGeom>
          <a:solidFill>
            <a:srgbClr val="7CC3EC"/>
          </a:solidFill>
          <a:ln/>
        </p:spPr>
      </p:sp>
      <p:sp>
        <p:nvSpPr>
          <p:cNvPr id="9" name="Text 5"/>
          <p:cNvSpPr/>
          <p:nvPr/>
        </p:nvSpPr>
        <p:spPr>
          <a:xfrm>
            <a:off x="9601200" y="6299200"/>
            <a:ext cx="2336800" cy="381000"/>
          </a:xfrm>
          <a:prstGeom prst="roundRect">
            <a:avLst>
              <a:gd name="adj" fmla="val 16667"/>
            </a:avLst>
          </a:prstGeom>
          <a:solidFill>
            <a:srgbClr val="1E1234">
              <a:alpha val="82000"/>
            </a:srgbClr>
          </a:solidFill>
          <a:ln/>
        </p:spPr>
        <p:txBody>
          <a:bodyPr wrap="square" lIns="3810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1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PUERTO SAN LORENZO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9601200" y="6299200"/>
            <a:ext cx="2336800" cy="381000"/>
          </a:xfrm>
          <a:custGeom>
            <a:avLst/>
            <a:gdLst/>
            <a:ahLst/>
            <a:cxnLst/>
            <a:rect l="l" t="t" r="r" b="b"/>
            <a:pathLst>
              <a:path w="2336800" h="381000">
                <a:moveTo>
                  <a:pt x="63500" y="381000"/>
                </a:moveTo>
                <a:lnTo>
                  <a:pt x="63500" y="381000"/>
                </a:lnTo>
                <a:arcTo hR="63500" wR="63500" stAng="5400000" swAng="5400000"/>
                <a:lnTo>
                  <a:pt x="0" y="63500"/>
                </a:lnTo>
                <a:arcTo hR="63500" wR="63500" stAng="10800000" swAng="5400000"/>
                <a:lnTo>
                  <a:pt x="63500" y="0"/>
                </a:lnTo>
                <a:arcTo hR="63500" wR="25400" stAng="16200000" swAng="-5400000"/>
                <a:lnTo>
                  <a:pt x="38100" y="317500"/>
                </a:lnTo>
                <a:arcTo hR="63500" wR="25400" stAng="10800000" swAng="-5400000"/>
                <a:close/>
              </a:path>
            </a:pathLst>
          </a:custGeom>
          <a:solidFill>
            <a:srgbClr val="F2A65A"/>
          </a:solidFill>
          <a:ln/>
        </p:spPr>
      </p:sp>
      <p:pic>
        <p:nvPicPr>
          <p:cNvPr id="11" name="Image 2" descr="Nueva Vicentin Argentina">    </p:cNvPr>
          <p:cNvPicPr>
            <a:picLocks noChangeAspect="1"/>
          </p:cNvPicPr>
          <p:nvPr/>
        </p:nvPicPr>
        <p:blipFill>
          <a:blip r:embed="rId3"/>
          <a:srcRect l="-167" r="-167" t="0" b="0"/>
          <a:stretch/>
        </p:blipFill>
        <p:spPr>
          <a:xfrm>
            <a:off x="812800" y="609600"/>
            <a:ext cx="1524000" cy="812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2800" y="1797348"/>
            <a:ext cx="457835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9CCBA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SEGURIDAD · RICARDONE Y SAN LORENZO</a:t>
            </a:r>
            <a:endParaRPr lang="en-US" sz="1400" dirty="0"/>
          </a:p>
        </p:txBody>
      </p:sp>
      <p:sp>
        <p:nvSpPr>
          <p:cNvPr id="13" name="Text 8"/>
          <p:cNvSpPr/>
          <p:nvPr>
            <p:ph type="title"/>
          </p:nvPr>
        </p:nvSpPr>
        <p:spPr>
          <a:xfrm>
            <a:off x="812800" y="2185888"/>
            <a:ext cx="4709160" cy="2201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712"/>
              </a:lnSpc>
              <a:buNone/>
            </a:pPr>
            <a:r>
              <a:rPr lang="en-US" sz="5600" b="1" i="0" dirty="0">
                <a:solidFill>
                  <a:srgbClr val="F1F6F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Comité de Seguridad Nodo Sur</a:t>
            </a:r>
            <a:endParaRPr lang="en-US" sz="5600" dirty="0"/>
          </a:p>
        </p:txBody>
      </p:sp>
      <p:sp>
        <p:nvSpPr>
          <p:cNvPr id="14" name="Shape 9"/>
          <p:cNvSpPr/>
          <p:nvPr/>
        </p:nvSpPr>
        <p:spPr>
          <a:xfrm>
            <a:off x="812800" y="4501753"/>
            <a:ext cx="1016000" cy="50800"/>
          </a:xfrm>
          <a:prstGeom prst="roundRect">
            <a:avLst>
              <a:gd name="adj" fmla="val 50000"/>
            </a:avLst>
          </a:prstGeom>
          <a:solidFill>
            <a:srgbClr val="9CCBAE"/>
          </a:solidFill>
          <a:ln/>
        </p:spPr>
      </p:sp>
      <p:sp>
        <p:nvSpPr>
          <p:cNvPr id="15" name="Text 10"/>
          <p:cNvSpPr/>
          <p:nvPr/>
        </p:nvSpPr>
        <p:spPr>
          <a:xfrm>
            <a:off x="812800" y="4692253"/>
            <a:ext cx="45783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D6E4D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Semana del 24 al 30 de septiembre de 2026</a:t>
            </a:r>
            <a:endParaRPr lang="en-US" sz="2000" dirty="0"/>
          </a:p>
        </p:txBody>
      </p:sp>
      <p:pic>
        <p:nvPicPr>
          <p:cNvPr id="16" name="Image 3" descr="Bimtrazer">    </p:cNvPr>
          <p:cNvPicPr>
            <a:picLocks noChangeAspect="1"/>
          </p:cNvPicPr>
          <p:nvPr/>
        </p:nvPicPr>
        <p:blipFill>
          <a:blip r:embed="rId4"/>
          <a:srcRect l="0" r="0" t="-392" b="-392"/>
          <a:stretch/>
        </p:blipFill>
        <p:spPr>
          <a:xfrm>
            <a:off x="812800" y="5727700"/>
            <a:ext cx="1206500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711200"/>
            <a:ext cx="10883392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0B563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La semana en números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407120"/>
            <a:ext cx="2508250" cy="3418880"/>
          </a:xfrm>
          <a:prstGeom prst="roundRect">
            <a:avLst>
              <a:gd name="adj" fmla="val 6076"/>
            </a:avLst>
          </a:prstGeom>
          <a:solidFill>
            <a:srgbClr val="E4EFE8"/>
          </a:solidFill>
          <a:ln/>
        </p:spPr>
      </p:sp>
      <p:sp>
        <p:nvSpPr>
          <p:cNvPr id="4" name="Text 2"/>
          <p:cNvSpPr/>
          <p:nvPr/>
        </p:nvSpPr>
        <p:spPr>
          <a:xfrm>
            <a:off x="1066800" y="1686520"/>
            <a:ext cx="2060257" cy="6654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0B563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636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066800" y="2453580"/>
            <a:ext cx="2060257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descargas controladas · 99,8 % en su calle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498850" y="1407120"/>
            <a:ext cx="2508250" cy="3418880"/>
          </a:xfrm>
          <a:prstGeom prst="roundRect">
            <a:avLst>
              <a:gd name="adj" fmla="val 6076"/>
            </a:avLst>
          </a:prstGeom>
          <a:solidFill>
            <a:srgbClr val="FBE9E4"/>
          </a:solidFill>
          <a:ln/>
        </p:spPr>
      </p:sp>
      <p:sp>
        <p:nvSpPr>
          <p:cNvPr id="7" name="Text 5"/>
          <p:cNvSpPr/>
          <p:nvPr/>
        </p:nvSpPr>
        <p:spPr>
          <a:xfrm>
            <a:off x="3752850" y="1686520"/>
            <a:ext cx="2060257" cy="6654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B83A2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6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752850" y="2453580"/>
            <a:ext cx="206025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volvieron a Ricardone sin descargar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84900" y="1407120"/>
            <a:ext cx="2508250" cy="3418880"/>
          </a:xfrm>
          <a:prstGeom prst="roundRect">
            <a:avLst>
              <a:gd name="adj" fmla="val 6076"/>
            </a:avLst>
          </a:prstGeom>
          <a:solidFill>
            <a:srgbClr val="FDEEDD"/>
          </a:solidFill>
          <a:ln/>
        </p:spPr>
      </p:sp>
      <p:sp>
        <p:nvSpPr>
          <p:cNvPr id="10" name="Text 8"/>
          <p:cNvSpPr/>
          <p:nvPr/>
        </p:nvSpPr>
        <p:spPr>
          <a:xfrm>
            <a:off x="6438900" y="1686520"/>
            <a:ext cx="2060257" cy="6654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A8560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6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438900" y="2453580"/>
            <a:ext cx="2060257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demoras de más de 30 min entre plantas sin calado en el puerto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70950" y="1407120"/>
            <a:ext cx="2508250" cy="3418880"/>
          </a:xfrm>
          <a:prstGeom prst="roundRect">
            <a:avLst>
              <a:gd name="adj" fmla="val 6076"/>
            </a:avLst>
          </a:prstGeom>
          <a:solidFill>
            <a:srgbClr val="ECE8F3"/>
          </a:solidFill>
          <a:ln/>
        </p:spPr>
      </p:sp>
      <p:sp>
        <p:nvSpPr>
          <p:cNvPr id="13" name="Text 11"/>
          <p:cNvSpPr/>
          <p:nvPr/>
        </p:nvSpPr>
        <p:spPr>
          <a:xfrm>
            <a:off x="9124950" y="1686520"/>
            <a:ext cx="2060257" cy="6654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dirty="0">
                <a:solidFill>
                  <a:srgbClr val="2E1B4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2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9124950" y="2453580"/>
            <a:ext cx="2060257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recorridos raros en las calles del puerto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9150" y="5060950"/>
            <a:ext cx="10553700" cy="673100"/>
          </a:xfrm>
          <a:prstGeom prst="roundRect">
            <a:avLst>
              <a:gd name="adj" fmla="val 17925"/>
            </a:avLst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pic>
        <p:nvPicPr>
          <p:cNvPr id="16" name="Image 0" descr="Sear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9500" y="5245100"/>
            <a:ext cx="304800" cy="3048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536700" y="5273080"/>
            <a:ext cx="986307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HGC160 y AC293WB:</a:t>
            </a:r>
            <a:r>
              <a:rPr lang="en-US" sz="14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el Excel registra dos descargas completas en el puerto; las cámaras vieron una sola.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12800" y="6192540"/>
            <a:ext cx="36421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Comité de Seguridad · 24 al 30/09/2026 · 2</a:t>
            </a:r>
            <a:endParaRPr lang="en-US" sz="1200" dirty="0"/>
          </a:p>
        </p:txBody>
      </p:sp>
      <p:pic>
        <p:nvPicPr>
          <p:cNvPr id="19" name="Image 1" descr="Nueva Vicentin Argentina">    </p:cNvPr>
          <p:cNvPicPr>
            <a:picLocks noChangeAspect="1"/>
          </p:cNvPicPr>
          <p:nvPr/>
        </p:nvPicPr>
        <p:blipFill>
          <a:blip r:embed="rId2"/>
          <a:srcRect l="-167" r="-167" t="0" b="0"/>
          <a:stretch/>
        </p:blipFill>
        <p:spPr>
          <a:xfrm>
            <a:off x="9893300" y="6172200"/>
            <a:ext cx="476250" cy="254000"/>
          </a:xfrm>
          <a:prstGeom prst="rect">
            <a:avLst/>
          </a:prstGeom>
        </p:spPr>
      </p:pic>
      <p:pic>
        <p:nvPicPr>
          <p:cNvPr id="20" name="Image 2" descr="Bimtrazer">    </p:cNvPr>
          <p:cNvPicPr>
            <a:picLocks noChangeAspect="1"/>
          </p:cNvPicPr>
          <p:nvPr/>
        </p:nvPicPr>
        <p:blipFill>
          <a:blip r:embed="rId3"/>
          <a:srcRect l="0" r="0" t="-63" b="-63"/>
          <a:stretch/>
        </p:blipFill>
        <p:spPr>
          <a:xfrm>
            <a:off x="10623550" y="6121400"/>
            <a:ext cx="75565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69765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8C7BB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01</a:t>
            </a:r>
            <a:endParaRPr lang="en-US" sz="10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268365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BFBF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Fueron al puerto y volvieron a Ricardone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4055765"/>
            <a:ext cx="9156700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DCD5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El circuito de grano termina en San Lorenzo. Estos camiones llegaron al puerto, salieron sin descargar y volvieron a entrar a Ricardone.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6192540"/>
            <a:ext cx="36483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E3D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Comité de Seguridad · 24 al 30/09/2026 · 3</a:t>
            </a:r>
            <a:endParaRPr lang="en-US" sz="1200" dirty="0"/>
          </a:p>
        </p:txBody>
      </p:sp>
      <p:pic>
        <p:nvPicPr>
          <p:cNvPr id="6" name="Image 0" descr="Nueva Vicentin Argentina">    </p:cNvPr>
          <p:cNvPicPr>
            <a:picLocks noChangeAspect="1"/>
          </p:cNvPicPr>
          <p:nvPr/>
        </p:nvPicPr>
        <p:blipFill>
          <a:blip r:embed="rId1"/>
          <a:srcRect l="-167" r="-167" t="0" b="0"/>
          <a:stretch/>
        </p:blipFill>
        <p:spPr>
          <a:xfrm>
            <a:off x="9893300" y="6172200"/>
            <a:ext cx="476250" cy="254000"/>
          </a:xfrm>
          <a:prstGeom prst="rect">
            <a:avLst/>
          </a:prstGeom>
        </p:spPr>
      </p:pic>
      <p:pic>
        <p:nvPicPr>
          <p:cNvPr id="7" name="Image 1" descr="Bimtrazer">    </p:cNvPr>
          <p:cNvPicPr>
            <a:picLocks noChangeAspect="1"/>
          </p:cNvPicPr>
          <p:nvPr/>
        </p:nvPicPr>
        <p:blipFill>
          <a:blip r:embed="rId2"/>
          <a:srcRect l="0" r="0" t="-63" b="-63"/>
          <a:stretch/>
        </p:blipFill>
        <p:spPr>
          <a:xfrm>
            <a:off x="10623550" y="6121400"/>
            <a:ext cx="75565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5500" y="898426"/>
            <a:ext cx="2133600" cy="810220"/>
          </a:xfrm>
          <a:prstGeom prst="roundRect">
            <a:avLst>
              <a:gd name="adj" fmla="val 9405"/>
            </a:avLst>
          </a:prstGeom>
          <a:solidFill>
            <a:srgbClr val="FFFFFF"/>
          </a:solidFill>
          <a:ln w="25400">
            <a:solidFill>
              <a:srgbClr val="1B24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8200" y="911126"/>
            <a:ext cx="2108200" cy="139700"/>
          </a:xfrm>
          <a:custGeom>
            <a:avLst/>
            <a:gdLst/>
            <a:ahLst/>
            <a:cxnLst/>
            <a:rect l="l" t="t" r="r" b="b"/>
            <a:pathLst>
              <a:path w="2108200" h="139700">
                <a:moveTo>
                  <a:pt x="0" y="63500"/>
                </a:moveTo>
                <a:arcTo hR="63500" wR="63500" stAng="10800000" swAng="5400000"/>
                <a:lnTo>
                  <a:pt x="2044700" y="0"/>
                </a:lnTo>
                <a:arcTo hR="63500" wR="63500" stAng="16200000" swAng="5400000"/>
                <a:lnTo>
                  <a:pt x="2108200" y="139700"/>
                </a:lnTo>
                <a:lnTo>
                  <a:pt x="0" y="139700"/>
                </a:lnTo>
                <a:close/>
              </a:path>
            </a:pathLst>
          </a:custGeom>
          <a:solidFill>
            <a:srgbClr val="1F3F8C"/>
          </a:solidFill>
          <a:ln/>
        </p:spPr>
      </p:sp>
      <p:sp>
        <p:nvSpPr>
          <p:cNvPr id="4" name="Text 2"/>
          <p:cNvSpPr/>
          <p:nvPr/>
        </p:nvSpPr>
        <p:spPr>
          <a:xfrm>
            <a:off x="806577" y="1076226"/>
            <a:ext cx="217144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b="1" spc="100" kern="0" dirty="0">
                <a:solidFill>
                  <a:srgbClr val="1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HGC160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25800" y="711200"/>
            <a:ext cx="83980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28 AL 30/09 · SOJA</a:t>
            </a:r>
            <a:endParaRPr lang="en-US" sz="1200" dirty="0"/>
          </a:p>
        </p:txBody>
      </p:sp>
      <p:sp>
        <p:nvSpPr>
          <p:cNvPr id="6" name="Text 4"/>
          <p:cNvSpPr/>
          <p:nvPr>
            <p:ph type="title"/>
          </p:nvPr>
        </p:nvSpPr>
        <p:spPr>
          <a:xfrm>
            <a:off x="3225800" y="1013420"/>
            <a:ext cx="8398002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i="0" dirty="0">
                <a:solidFill>
                  <a:srgbClr val="1B242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Salió del puerto sin descargar y descargó al día siguiente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25800" y="1423591"/>
            <a:ext cx="2988270" cy="472380"/>
          </a:xfrm>
          <a:prstGeom prst="roundRect">
            <a:avLst>
              <a:gd name="adj" fmla="val 50000"/>
            </a:avLst>
          </a:prstGeom>
          <a:solidFill>
            <a:srgbClr val="FBE9E4"/>
          </a:solidFill>
          <a:ln/>
        </p:spPr>
      </p:sp>
      <p:sp>
        <p:nvSpPr>
          <p:cNvPr id="8" name="Text 6"/>
          <p:cNvSpPr/>
          <p:nvPr/>
        </p:nvSpPr>
        <p:spPr>
          <a:xfrm>
            <a:off x="3378200" y="1499791"/>
            <a:ext cx="812105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83A2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75 min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28405" y="1569641"/>
            <a:ext cx="1888263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 el puerto sin descargar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15670" y="1423591"/>
            <a:ext cx="2608858" cy="472380"/>
          </a:xfrm>
          <a:prstGeom prst="roundRect">
            <a:avLst>
              <a:gd name="adj" fmla="val 50000"/>
            </a:avLst>
          </a:prstGeom>
          <a:solidFill>
            <a:srgbClr val="FDEEDD"/>
          </a:solidFill>
          <a:ln/>
        </p:spPr>
      </p:sp>
      <p:sp>
        <p:nvSpPr>
          <p:cNvPr id="11" name="Text 9"/>
          <p:cNvSpPr/>
          <p:nvPr/>
        </p:nvSpPr>
        <p:spPr>
          <a:xfrm>
            <a:off x="6468070" y="1499791"/>
            <a:ext cx="1127820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8560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29 h 45 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33990" y="1569641"/>
            <a:ext cx="1188938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hasta descargar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2086471"/>
            <a:ext cx="2094111" cy="1244402"/>
          </a:xfrm>
          <a:prstGeom prst="roundRect">
            <a:avLst>
              <a:gd name="adj" fmla="val 10206"/>
            </a:avLst>
          </a:prstGeom>
          <a:solidFill>
            <a:srgbClr val="E3F1FA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" y="2175371"/>
            <a:ext cx="19999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RICARDONE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5350" y="2458541"/>
            <a:ext cx="932755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2F8F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5041" y="2541091"/>
            <a:ext cx="52407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01:05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65808" y="2802632"/>
            <a:ext cx="591741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Calada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91605" y="2458541"/>
            <a:ext cx="932755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2F8F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20702" y="2541091"/>
            <a:ext cx="52526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01:28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60992" y="2802632"/>
            <a:ext cx="593884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Egreso</a:t>
            </a:r>
            <a:endParaRPr lang="en-US" sz="1200" dirty="0"/>
          </a:p>
        </p:txBody>
      </p:sp>
      <p:pic>
        <p:nvPicPr>
          <p:cNvPr id="21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70411" y="2746772"/>
            <a:ext cx="279400" cy="1651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3313311" y="2086471"/>
            <a:ext cx="3064867" cy="1244402"/>
          </a:xfrm>
          <a:prstGeom prst="roundRect">
            <a:avLst>
              <a:gd name="adj" fmla="val 10206"/>
            </a:avLst>
          </a:prstGeom>
          <a:solidFill>
            <a:srgbClr val="FDEEDD"/>
          </a:solidFill>
          <a:ln/>
        </p:spPr>
      </p:sp>
      <p:sp>
        <p:nvSpPr>
          <p:cNvPr id="23" name="Text 20"/>
          <p:cNvSpPr/>
          <p:nvPr/>
        </p:nvSpPr>
        <p:spPr>
          <a:xfrm>
            <a:off x="3389511" y="2175371"/>
            <a:ext cx="29998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 LORENZO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395861" y="2458541"/>
            <a:ext cx="919956" cy="614561"/>
          </a:xfrm>
          <a:prstGeom prst="roundRect">
            <a:avLst>
              <a:gd name="adj" fmla="val 13432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21187" y="2541091"/>
            <a:ext cx="52010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01:40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535690" y="2802632"/>
            <a:ext cx="640199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Ingreso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379317" y="2458541"/>
            <a:ext cx="920055" cy="614561"/>
          </a:xfrm>
          <a:prstGeom prst="roundRect">
            <a:avLst>
              <a:gd name="adj" fmla="val 13432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00377" y="2541091"/>
            <a:ext cx="52873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01:58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501991" y="2802632"/>
            <a:ext cx="674608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Balanza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366048" y="2461716"/>
            <a:ext cx="926405" cy="608211"/>
          </a:xfrm>
          <a:prstGeom prst="roundRect">
            <a:avLst>
              <a:gd name="adj" fmla="val 13051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71430" y="2547441"/>
            <a:ext cx="56634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02:55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532259" y="2808982"/>
            <a:ext cx="593884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Egreso</a:t>
            </a:r>
            <a:endParaRPr lang="en-US" sz="1200" dirty="0"/>
          </a:p>
        </p:txBody>
      </p:sp>
      <p:pic>
        <p:nvPicPr>
          <p:cNvPr id="3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41678" y="2746772"/>
            <a:ext cx="279400" cy="165100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6784578" y="2086471"/>
            <a:ext cx="2094111" cy="1244402"/>
          </a:xfrm>
          <a:prstGeom prst="roundRect">
            <a:avLst>
              <a:gd name="adj" fmla="val 10206"/>
            </a:avLst>
          </a:prstGeom>
          <a:solidFill>
            <a:srgbClr val="E3F1FA"/>
          </a:solidFill>
          <a:ln/>
        </p:spPr>
      </p:sp>
      <p:sp>
        <p:nvSpPr>
          <p:cNvPr id="35" name="Text 31"/>
          <p:cNvSpPr/>
          <p:nvPr/>
        </p:nvSpPr>
        <p:spPr>
          <a:xfrm>
            <a:off x="6860778" y="2175371"/>
            <a:ext cx="19999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RICARDONE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6870303" y="2461716"/>
            <a:ext cx="926405" cy="783431"/>
          </a:xfrm>
          <a:prstGeom prst="roundRect">
            <a:avLst>
              <a:gd name="adj" fmla="val 10132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075587" y="2547441"/>
            <a:ext cx="56663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05:49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6892528" y="2808982"/>
            <a:ext cx="881955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Ingreso 30/09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7866559" y="2461716"/>
            <a:ext cx="926405" cy="783431"/>
          </a:xfrm>
          <a:prstGeom prst="roundRect">
            <a:avLst>
              <a:gd name="adj" fmla="val 10132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8098234" y="2547441"/>
            <a:ext cx="51385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07:41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7913588" y="2808982"/>
            <a:ext cx="832247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2.ª calada</a:t>
            </a:r>
            <a:endParaRPr lang="en-US" sz="1200" dirty="0"/>
          </a:p>
        </p:txBody>
      </p:sp>
      <p:pic>
        <p:nvPicPr>
          <p:cNvPr id="42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942189" y="2746772"/>
            <a:ext cx="279400" cy="165100"/>
          </a:xfrm>
          <a:prstGeom prst="rect">
            <a:avLst/>
          </a:prstGeom>
        </p:spPr>
      </p:pic>
      <p:sp>
        <p:nvSpPr>
          <p:cNvPr id="43" name="Shape 38"/>
          <p:cNvSpPr/>
          <p:nvPr/>
        </p:nvSpPr>
        <p:spPr>
          <a:xfrm>
            <a:off x="9285089" y="2086471"/>
            <a:ext cx="2094111" cy="1244402"/>
          </a:xfrm>
          <a:prstGeom prst="roundRect">
            <a:avLst>
              <a:gd name="adj" fmla="val 10206"/>
            </a:avLst>
          </a:prstGeom>
          <a:solidFill>
            <a:srgbClr val="FDEEDD"/>
          </a:solidFill>
          <a:ln/>
        </p:spPr>
      </p:sp>
      <p:sp>
        <p:nvSpPr>
          <p:cNvPr id="44" name="Text 39"/>
          <p:cNvSpPr/>
          <p:nvPr/>
        </p:nvSpPr>
        <p:spPr>
          <a:xfrm>
            <a:off x="9361289" y="2175371"/>
            <a:ext cx="19999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 LORENZO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9367639" y="2458541"/>
            <a:ext cx="932755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9577983" y="2541091"/>
            <a:ext cx="56276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08:40</a:t>
            </a:r>
            <a:endParaRPr lang="en-US" sz="1400" dirty="0"/>
          </a:p>
        </p:txBody>
      </p:sp>
      <p:sp>
        <p:nvSpPr>
          <p:cNvPr id="47" name="Text 42"/>
          <p:cNvSpPr/>
          <p:nvPr/>
        </p:nvSpPr>
        <p:spPr>
          <a:xfrm>
            <a:off x="9387949" y="2802632"/>
            <a:ext cx="892135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Volcable 5</a:t>
            </a:r>
            <a:endParaRPr lang="en-US" sz="1200" dirty="0"/>
          </a:p>
        </p:txBody>
      </p:sp>
      <p:sp>
        <p:nvSpPr>
          <p:cNvPr id="48" name="Shape 43"/>
          <p:cNvSpPr/>
          <p:nvPr/>
        </p:nvSpPr>
        <p:spPr>
          <a:xfrm>
            <a:off x="10363895" y="2458541"/>
            <a:ext cx="932755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10595273" y="2541091"/>
            <a:ext cx="52070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09:01</a:t>
            </a:r>
            <a:endParaRPr lang="en-US" sz="1400" dirty="0"/>
          </a:p>
        </p:txBody>
      </p:sp>
      <p:sp>
        <p:nvSpPr>
          <p:cNvPr id="50" name="Text 45"/>
          <p:cNvSpPr/>
          <p:nvPr/>
        </p:nvSpPr>
        <p:spPr>
          <a:xfrm>
            <a:off x="10533281" y="2802632"/>
            <a:ext cx="593884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Egreso</a:t>
            </a:r>
            <a:endParaRPr lang="en-US" sz="1200" dirty="0"/>
          </a:p>
        </p:txBody>
      </p:sp>
      <p:pic>
        <p:nvPicPr>
          <p:cNvPr id="51" name="Image 3" descr="Cámara 29/09 01:05 · Calada">    </p:cNvPr>
          <p:cNvPicPr>
            <a:picLocks noChangeAspect="1"/>
          </p:cNvPicPr>
          <p:nvPr/>
        </p:nvPicPr>
        <p:blipFill>
          <a:blip r:embed="rId4"/>
          <a:srcRect l="0" r="0" t="31" b="31"/>
          <a:stretch/>
        </p:blipFill>
        <p:spPr>
          <a:xfrm>
            <a:off x="812800" y="3521373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2" name="Text 46"/>
          <p:cNvSpPr/>
          <p:nvPr/>
        </p:nvSpPr>
        <p:spPr>
          <a:xfrm>
            <a:off x="812800" y="5096173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29/09 01:05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Calada</a:t>
            </a:r>
            <a:endParaRPr lang="en-US" sz="1200" dirty="0"/>
          </a:p>
        </p:txBody>
      </p:sp>
      <p:pic>
        <p:nvPicPr>
          <p:cNvPr id="53" name="Image 4" descr="Cámara 02:55 · Egreso puerto">    </p:cNvPr>
          <p:cNvPicPr>
            <a:picLocks noChangeAspect="1"/>
          </p:cNvPicPr>
          <p:nvPr/>
        </p:nvPicPr>
        <p:blipFill>
          <a:blip r:embed="rId5"/>
          <a:srcRect l="0" r="0" t="31" b="31"/>
          <a:stretch/>
        </p:blipFill>
        <p:spPr>
          <a:xfrm>
            <a:off x="3486150" y="3521373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4" name="Text 47"/>
          <p:cNvSpPr/>
          <p:nvPr/>
        </p:nvSpPr>
        <p:spPr>
          <a:xfrm>
            <a:off x="3486150" y="5096173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02:55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Egreso puerto</a:t>
            </a:r>
            <a:endParaRPr lang="en-US" sz="1200" dirty="0"/>
          </a:p>
        </p:txBody>
      </p:sp>
      <p:pic>
        <p:nvPicPr>
          <p:cNvPr id="55" name="Image 5" descr="Cámara 30/09 05:49 · Ingreso Ricardone">    </p:cNvPr>
          <p:cNvPicPr>
            <a:picLocks noChangeAspect="1"/>
          </p:cNvPicPr>
          <p:nvPr/>
        </p:nvPicPr>
        <p:blipFill>
          <a:blip r:embed="rId6"/>
          <a:srcRect l="0" r="0" t="31" b="31"/>
          <a:stretch/>
        </p:blipFill>
        <p:spPr>
          <a:xfrm>
            <a:off x="6159500" y="3521373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6" name="Text 48"/>
          <p:cNvSpPr/>
          <p:nvPr/>
        </p:nvSpPr>
        <p:spPr>
          <a:xfrm>
            <a:off x="6159500" y="5096173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30/09 05:49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Ingreso Ricardone</a:t>
            </a:r>
            <a:endParaRPr lang="en-US" sz="1200" dirty="0"/>
          </a:p>
        </p:txBody>
      </p:sp>
      <p:pic>
        <p:nvPicPr>
          <p:cNvPr id="57" name="Image 6" descr="Cámara 30/09 08:40 · Volcable 5">    </p:cNvPr>
          <p:cNvPicPr>
            <a:picLocks noChangeAspect="1"/>
          </p:cNvPicPr>
          <p:nvPr/>
        </p:nvPicPr>
        <p:blipFill>
          <a:blip r:embed="rId7"/>
          <a:srcRect l="0" r="0" t="31" b="31"/>
          <a:stretch/>
        </p:blipFill>
        <p:spPr>
          <a:xfrm>
            <a:off x="8832850" y="3521373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8" name="Text 49"/>
          <p:cNvSpPr/>
          <p:nvPr/>
        </p:nvSpPr>
        <p:spPr>
          <a:xfrm>
            <a:off x="8832850" y="5096173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30/09 08:40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Volcable 5</a:t>
            </a:r>
            <a:endParaRPr lang="en-US" sz="1200" dirty="0"/>
          </a:p>
        </p:txBody>
      </p:sp>
      <p:sp>
        <p:nvSpPr>
          <p:cNvPr id="59" name="Text 50"/>
          <p:cNvSpPr/>
          <p:nvPr/>
        </p:nvSpPr>
        <p:spPr>
          <a:xfrm>
            <a:off x="812800" y="6192540"/>
            <a:ext cx="36480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Comité de Seguridad · 24 al 30/09/2026 · 4</a:t>
            </a:r>
            <a:endParaRPr lang="en-US" sz="1200" dirty="0"/>
          </a:p>
        </p:txBody>
      </p:sp>
      <p:pic>
        <p:nvPicPr>
          <p:cNvPr id="60" name="Image 7" descr="Nueva Vicentin Argentina">    </p:cNvPr>
          <p:cNvPicPr>
            <a:picLocks noChangeAspect="1"/>
          </p:cNvPicPr>
          <p:nvPr/>
        </p:nvPicPr>
        <p:blipFill>
          <a:blip r:embed="rId8"/>
          <a:srcRect l="-167" r="-167" t="0" b="0"/>
          <a:stretch/>
        </p:blipFill>
        <p:spPr>
          <a:xfrm>
            <a:off x="9893300" y="6172200"/>
            <a:ext cx="476250" cy="254000"/>
          </a:xfrm>
          <a:prstGeom prst="rect">
            <a:avLst/>
          </a:prstGeom>
        </p:spPr>
      </p:pic>
      <p:pic>
        <p:nvPicPr>
          <p:cNvPr id="61" name="Image 8" descr="Bimtrazer">    </p:cNvPr>
          <p:cNvPicPr>
            <a:picLocks noChangeAspect="1"/>
          </p:cNvPicPr>
          <p:nvPr/>
        </p:nvPicPr>
        <p:blipFill>
          <a:blip r:embed="rId9"/>
          <a:srcRect l="0" r="0" t="-63" b="-63"/>
          <a:stretch/>
        </p:blipFill>
        <p:spPr>
          <a:xfrm>
            <a:off x="10623550" y="6121400"/>
            <a:ext cx="75565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5500" y="1059061"/>
            <a:ext cx="2133600" cy="810220"/>
          </a:xfrm>
          <a:prstGeom prst="roundRect">
            <a:avLst>
              <a:gd name="adj" fmla="val 9405"/>
            </a:avLst>
          </a:prstGeom>
          <a:solidFill>
            <a:srgbClr val="FFFFFF"/>
          </a:solidFill>
          <a:ln w="25400">
            <a:solidFill>
              <a:srgbClr val="1B24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8200" y="1071761"/>
            <a:ext cx="2108200" cy="139700"/>
          </a:xfrm>
          <a:custGeom>
            <a:avLst/>
            <a:gdLst/>
            <a:ahLst/>
            <a:cxnLst/>
            <a:rect l="l" t="t" r="r" b="b"/>
            <a:pathLst>
              <a:path w="2108200" h="139700">
                <a:moveTo>
                  <a:pt x="0" y="63500"/>
                </a:moveTo>
                <a:arcTo hR="63500" wR="63500" stAng="10800000" swAng="5400000"/>
                <a:lnTo>
                  <a:pt x="2044700" y="0"/>
                </a:lnTo>
                <a:arcTo hR="63500" wR="63500" stAng="16200000" swAng="5400000"/>
                <a:lnTo>
                  <a:pt x="2108200" y="139700"/>
                </a:lnTo>
                <a:lnTo>
                  <a:pt x="0" y="139700"/>
                </a:lnTo>
                <a:close/>
              </a:path>
            </a:pathLst>
          </a:custGeom>
          <a:solidFill>
            <a:srgbClr val="1F3F8C"/>
          </a:solidFill>
          <a:ln/>
        </p:spPr>
      </p:sp>
      <p:sp>
        <p:nvSpPr>
          <p:cNvPr id="4" name="Text 2"/>
          <p:cNvSpPr/>
          <p:nvPr/>
        </p:nvSpPr>
        <p:spPr>
          <a:xfrm>
            <a:off x="806577" y="1236861"/>
            <a:ext cx="217144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b="1" spc="100" kern="0" dirty="0">
                <a:solidFill>
                  <a:srgbClr val="1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AC293WB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25800" y="711200"/>
            <a:ext cx="83980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27 Y 28/09 · SOJA</a:t>
            </a:r>
            <a:endParaRPr lang="en-US" sz="1200" dirty="0"/>
          </a:p>
        </p:txBody>
      </p:sp>
      <p:sp>
        <p:nvSpPr>
          <p:cNvPr id="6" name="Text 4"/>
          <p:cNvSpPr/>
          <p:nvPr>
            <p:ph type="title"/>
          </p:nvPr>
        </p:nvSpPr>
        <p:spPr>
          <a:xfrm>
            <a:off x="3225800" y="1013420"/>
            <a:ext cx="8398002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i="0" dirty="0">
                <a:solidFill>
                  <a:srgbClr val="1B242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Esperó 3 horas y media en el puerto, salió sin descargar y volvió sin calar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25800" y="1744861"/>
            <a:ext cx="3173611" cy="472380"/>
          </a:xfrm>
          <a:prstGeom prst="roundRect">
            <a:avLst>
              <a:gd name="adj" fmla="val 50000"/>
            </a:avLst>
          </a:prstGeom>
          <a:solidFill>
            <a:srgbClr val="FBE9E4"/>
          </a:solidFill>
          <a:ln/>
        </p:spPr>
      </p:sp>
      <p:sp>
        <p:nvSpPr>
          <p:cNvPr id="8" name="Text 6"/>
          <p:cNvSpPr/>
          <p:nvPr/>
        </p:nvSpPr>
        <p:spPr>
          <a:xfrm>
            <a:off x="3378200" y="1821061"/>
            <a:ext cx="997446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83A2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3 h 32 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413746" y="1890911"/>
            <a:ext cx="1888263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 el puerto sin descargar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01011" y="1744861"/>
            <a:ext cx="2513509" cy="472380"/>
          </a:xfrm>
          <a:prstGeom prst="roundRect">
            <a:avLst>
              <a:gd name="adj" fmla="val 50000"/>
            </a:avLst>
          </a:prstGeom>
          <a:solidFill>
            <a:srgbClr val="FDEEDD"/>
          </a:solidFill>
          <a:ln/>
        </p:spPr>
      </p:sp>
      <p:sp>
        <p:nvSpPr>
          <p:cNvPr id="11" name="Text 9"/>
          <p:cNvSpPr/>
          <p:nvPr/>
        </p:nvSpPr>
        <p:spPr>
          <a:xfrm>
            <a:off x="6653411" y="1821061"/>
            <a:ext cx="1032470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8560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11 h 47 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723981" y="1890911"/>
            <a:ext cx="1188938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hasta descargar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2407741"/>
            <a:ext cx="2094111" cy="1244402"/>
          </a:xfrm>
          <a:prstGeom prst="roundRect">
            <a:avLst>
              <a:gd name="adj" fmla="val 10206"/>
            </a:avLst>
          </a:prstGeom>
          <a:solidFill>
            <a:srgbClr val="E3F1FA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" y="2496641"/>
            <a:ext cx="19999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RICARDONE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5350" y="2779812"/>
            <a:ext cx="932755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2F8F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6686" y="2862362"/>
            <a:ext cx="56078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00:08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65808" y="3123902"/>
            <a:ext cx="591741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Calada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91605" y="2779812"/>
            <a:ext cx="932755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2F8F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23281" y="2862362"/>
            <a:ext cx="52010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00:14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60992" y="3123902"/>
            <a:ext cx="593884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Egreso</a:t>
            </a:r>
            <a:endParaRPr lang="en-US" sz="1200" dirty="0"/>
          </a:p>
        </p:txBody>
      </p:sp>
      <p:pic>
        <p:nvPicPr>
          <p:cNvPr id="21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70411" y="3068042"/>
            <a:ext cx="279400" cy="1651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3313311" y="2407741"/>
            <a:ext cx="3064867" cy="1244402"/>
          </a:xfrm>
          <a:prstGeom prst="roundRect">
            <a:avLst>
              <a:gd name="adj" fmla="val 10206"/>
            </a:avLst>
          </a:prstGeom>
          <a:solidFill>
            <a:srgbClr val="FDEEDD"/>
          </a:solidFill>
          <a:ln/>
        </p:spPr>
      </p:sp>
      <p:sp>
        <p:nvSpPr>
          <p:cNvPr id="23" name="Text 20"/>
          <p:cNvSpPr/>
          <p:nvPr/>
        </p:nvSpPr>
        <p:spPr>
          <a:xfrm>
            <a:off x="3389511" y="2496641"/>
            <a:ext cx="29998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 LORENZO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395861" y="2779812"/>
            <a:ext cx="919956" cy="614561"/>
          </a:xfrm>
          <a:prstGeom prst="roundRect">
            <a:avLst>
              <a:gd name="adj" fmla="val 13432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00152" y="2862362"/>
            <a:ext cx="56207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00:23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535690" y="3123902"/>
            <a:ext cx="640199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Ingreso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379317" y="2779812"/>
            <a:ext cx="920055" cy="614561"/>
          </a:xfrm>
          <a:prstGeom prst="roundRect">
            <a:avLst>
              <a:gd name="adj" fmla="val 13432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87677" y="2862362"/>
            <a:ext cx="55403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03:07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501991" y="3123902"/>
            <a:ext cx="674608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Balanza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366048" y="2782987"/>
            <a:ext cx="926405" cy="608211"/>
          </a:xfrm>
          <a:prstGeom prst="roundRect">
            <a:avLst>
              <a:gd name="adj" fmla="val 13051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69049" y="2868712"/>
            <a:ext cx="57110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03:55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532259" y="3130252"/>
            <a:ext cx="593884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Egreso</a:t>
            </a:r>
            <a:endParaRPr lang="en-US" sz="1200" dirty="0"/>
          </a:p>
        </p:txBody>
      </p:sp>
      <p:pic>
        <p:nvPicPr>
          <p:cNvPr id="3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41678" y="3068042"/>
            <a:ext cx="279400" cy="165100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6784578" y="2407741"/>
            <a:ext cx="2094111" cy="1244402"/>
          </a:xfrm>
          <a:prstGeom prst="roundRect">
            <a:avLst>
              <a:gd name="adj" fmla="val 10206"/>
            </a:avLst>
          </a:prstGeom>
          <a:solidFill>
            <a:srgbClr val="E3F1FA"/>
          </a:solidFill>
          <a:ln/>
        </p:spPr>
      </p:sp>
      <p:sp>
        <p:nvSpPr>
          <p:cNvPr id="35" name="Text 31"/>
          <p:cNvSpPr/>
          <p:nvPr/>
        </p:nvSpPr>
        <p:spPr>
          <a:xfrm>
            <a:off x="6860778" y="2496641"/>
            <a:ext cx="19999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RICARDONE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6870303" y="2782987"/>
            <a:ext cx="926405" cy="783431"/>
          </a:xfrm>
          <a:prstGeom prst="roundRect">
            <a:avLst>
              <a:gd name="adj" fmla="val 10132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097613" y="2868712"/>
            <a:ext cx="52258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10:24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7013406" y="3130252"/>
            <a:ext cx="640199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Ingreso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7866559" y="2782987"/>
            <a:ext cx="926405" cy="783431"/>
          </a:xfrm>
          <a:prstGeom prst="roundRect">
            <a:avLst>
              <a:gd name="adj" fmla="val 10132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8113018" y="2868712"/>
            <a:ext cx="48428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11:08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7888784" y="3130252"/>
            <a:ext cx="881955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Egreso sin calar</a:t>
            </a:r>
            <a:endParaRPr lang="en-US" sz="1200" dirty="0"/>
          </a:p>
        </p:txBody>
      </p:sp>
      <p:pic>
        <p:nvPicPr>
          <p:cNvPr id="42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942189" y="3068042"/>
            <a:ext cx="279400" cy="165100"/>
          </a:xfrm>
          <a:prstGeom prst="rect">
            <a:avLst/>
          </a:prstGeom>
        </p:spPr>
      </p:pic>
      <p:sp>
        <p:nvSpPr>
          <p:cNvPr id="43" name="Shape 38"/>
          <p:cNvSpPr/>
          <p:nvPr/>
        </p:nvSpPr>
        <p:spPr>
          <a:xfrm>
            <a:off x="9285089" y="2407741"/>
            <a:ext cx="2094111" cy="1244402"/>
          </a:xfrm>
          <a:prstGeom prst="roundRect">
            <a:avLst>
              <a:gd name="adj" fmla="val 10206"/>
            </a:avLst>
          </a:prstGeom>
          <a:solidFill>
            <a:srgbClr val="FDEEDD"/>
          </a:solidFill>
          <a:ln/>
        </p:spPr>
      </p:sp>
      <p:sp>
        <p:nvSpPr>
          <p:cNvPr id="44" name="Text 39"/>
          <p:cNvSpPr/>
          <p:nvPr/>
        </p:nvSpPr>
        <p:spPr>
          <a:xfrm>
            <a:off x="9361289" y="2496641"/>
            <a:ext cx="19999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 LORENZO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9367639" y="2779812"/>
            <a:ext cx="932755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9596834" y="2862362"/>
            <a:ext cx="52506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14:46</a:t>
            </a:r>
            <a:endParaRPr lang="en-US" sz="1400" dirty="0"/>
          </a:p>
        </p:txBody>
      </p:sp>
      <p:sp>
        <p:nvSpPr>
          <p:cNvPr id="47" name="Text 42"/>
          <p:cNvSpPr/>
          <p:nvPr/>
        </p:nvSpPr>
        <p:spPr>
          <a:xfrm>
            <a:off x="9496663" y="3123902"/>
            <a:ext cx="674608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Balanza</a:t>
            </a:r>
            <a:endParaRPr lang="en-US" sz="1200" dirty="0"/>
          </a:p>
        </p:txBody>
      </p:sp>
      <p:sp>
        <p:nvSpPr>
          <p:cNvPr id="48" name="Shape 43"/>
          <p:cNvSpPr/>
          <p:nvPr/>
        </p:nvSpPr>
        <p:spPr>
          <a:xfrm>
            <a:off x="10363895" y="2779812"/>
            <a:ext cx="932755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10593685" y="2862362"/>
            <a:ext cx="52387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15:42</a:t>
            </a:r>
            <a:endParaRPr lang="en-US" sz="1400" dirty="0"/>
          </a:p>
        </p:txBody>
      </p:sp>
      <p:sp>
        <p:nvSpPr>
          <p:cNvPr id="50" name="Text 45"/>
          <p:cNvSpPr/>
          <p:nvPr/>
        </p:nvSpPr>
        <p:spPr>
          <a:xfrm>
            <a:off x="10385157" y="3123902"/>
            <a:ext cx="890230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Volcable 3</a:t>
            </a:r>
            <a:endParaRPr lang="en-US" sz="1200" dirty="0"/>
          </a:p>
        </p:txBody>
      </p:sp>
      <p:pic>
        <p:nvPicPr>
          <p:cNvPr id="51" name="Image 3" descr="Cámara 28/09 00:08 · Calada">    </p:cNvPr>
          <p:cNvPicPr>
            <a:picLocks noChangeAspect="1"/>
          </p:cNvPicPr>
          <p:nvPr/>
        </p:nvPicPr>
        <p:blipFill>
          <a:blip r:embed="rId4"/>
          <a:srcRect l="0" r="0" t="31" b="31"/>
          <a:stretch/>
        </p:blipFill>
        <p:spPr>
          <a:xfrm>
            <a:off x="812800" y="3842643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2" name="Text 46"/>
          <p:cNvSpPr/>
          <p:nvPr/>
        </p:nvSpPr>
        <p:spPr>
          <a:xfrm>
            <a:off x="812800" y="5417443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28/09 00:08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Calada</a:t>
            </a:r>
            <a:endParaRPr lang="en-US" sz="1200" dirty="0"/>
          </a:p>
        </p:txBody>
      </p:sp>
      <p:pic>
        <p:nvPicPr>
          <p:cNvPr id="53" name="Image 4" descr="Cámara 03:55 · Egreso puerto">    </p:cNvPr>
          <p:cNvPicPr>
            <a:picLocks noChangeAspect="1"/>
          </p:cNvPicPr>
          <p:nvPr/>
        </p:nvPicPr>
        <p:blipFill>
          <a:blip r:embed="rId5"/>
          <a:srcRect l="0" r="0" t="31" b="31"/>
          <a:stretch/>
        </p:blipFill>
        <p:spPr>
          <a:xfrm>
            <a:off x="3486150" y="3842643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4" name="Text 47"/>
          <p:cNvSpPr/>
          <p:nvPr/>
        </p:nvSpPr>
        <p:spPr>
          <a:xfrm>
            <a:off x="3486150" y="5417443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03:55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Egreso puerto</a:t>
            </a:r>
            <a:endParaRPr lang="en-US" sz="1200" dirty="0"/>
          </a:p>
        </p:txBody>
      </p:sp>
      <p:pic>
        <p:nvPicPr>
          <p:cNvPr id="55" name="Image 5" descr="Cámara 10:24 · Ingreso Ricardone">    </p:cNvPr>
          <p:cNvPicPr>
            <a:picLocks noChangeAspect="1"/>
          </p:cNvPicPr>
          <p:nvPr/>
        </p:nvPicPr>
        <p:blipFill>
          <a:blip r:embed="rId6"/>
          <a:srcRect l="0" r="0" t="31" b="31"/>
          <a:stretch/>
        </p:blipFill>
        <p:spPr>
          <a:xfrm>
            <a:off x="6159500" y="3842643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6" name="Text 48"/>
          <p:cNvSpPr/>
          <p:nvPr/>
        </p:nvSpPr>
        <p:spPr>
          <a:xfrm>
            <a:off x="6159500" y="5417443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10:24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Ingreso Ricardone</a:t>
            </a:r>
            <a:endParaRPr lang="en-US" sz="1200" dirty="0"/>
          </a:p>
        </p:txBody>
      </p:sp>
      <p:pic>
        <p:nvPicPr>
          <p:cNvPr id="57" name="Image 6" descr="Cámara 15:42 · Volcable 3">    </p:cNvPr>
          <p:cNvPicPr>
            <a:picLocks noChangeAspect="1"/>
          </p:cNvPicPr>
          <p:nvPr/>
        </p:nvPicPr>
        <p:blipFill>
          <a:blip r:embed="rId7"/>
          <a:srcRect l="0" r="0" t="31" b="31"/>
          <a:stretch/>
        </p:blipFill>
        <p:spPr>
          <a:xfrm>
            <a:off x="8832850" y="3842643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8" name="Text 49"/>
          <p:cNvSpPr/>
          <p:nvPr/>
        </p:nvSpPr>
        <p:spPr>
          <a:xfrm>
            <a:off x="8832850" y="5417443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15:42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Volcable 3</a:t>
            </a:r>
            <a:endParaRPr lang="en-US" sz="1200" dirty="0"/>
          </a:p>
        </p:txBody>
      </p:sp>
      <p:sp>
        <p:nvSpPr>
          <p:cNvPr id="59" name="Text 50"/>
          <p:cNvSpPr/>
          <p:nvPr/>
        </p:nvSpPr>
        <p:spPr>
          <a:xfrm>
            <a:off x="812800" y="6192540"/>
            <a:ext cx="365021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Comité de Seguridad · 24 al 30/09/2026 · 5</a:t>
            </a:r>
            <a:endParaRPr lang="en-US" sz="1200" dirty="0"/>
          </a:p>
        </p:txBody>
      </p:sp>
      <p:pic>
        <p:nvPicPr>
          <p:cNvPr id="60" name="Image 7" descr="Nueva Vicentin Argentina">    </p:cNvPr>
          <p:cNvPicPr>
            <a:picLocks noChangeAspect="1"/>
          </p:cNvPicPr>
          <p:nvPr/>
        </p:nvPicPr>
        <p:blipFill>
          <a:blip r:embed="rId8"/>
          <a:srcRect l="-167" r="-167" t="0" b="0"/>
          <a:stretch/>
        </p:blipFill>
        <p:spPr>
          <a:xfrm>
            <a:off x="9893300" y="6172200"/>
            <a:ext cx="476250" cy="254000"/>
          </a:xfrm>
          <a:prstGeom prst="rect">
            <a:avLst/>
          </a:prstGeom>
        </p:spPr>
      </p:pic>
      <p:pic>
        <p:nvPicPr>
          <p:cNvPr id="61" name="Image 8" descr="Bimtrazer">    </p:cNvPr>
          <p:cNvPicPr>
            <a:picLocks noChangeAspect="1"/>
          </p:cNvPicPr>
          <p:nvPr/>
        </p:nvPicPr>
        <p:blipFill>
          <a:blip r:embed="rId9"/>
          <a:srcRect l="0" r="0" t="-63" b="-63"/>
          <a:stretch/>
        </p:blipFill>
        <p:spPr>
          <a:xfrm>
            <a:off x="10623550" y="6121400"/>
            <a:ext cx="75565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5500" y="898426"/>
            <a:ext cx="2133600" cy="810220"/>
          </a:xfrm>
          <a:prstGeom prst="roundRect">
            <a:avLst>
              <a:gd name="adj" fmla="val 9405"/>
            </a:avLst>
          </a:prstGeom>
          <a:solidFill>
            <a:srgbClr val="FFFFFF"/>
          </a:solidFill>
          <a:ln w="25400">
            <a:solidFill>
              <a:srgbClr val="1B24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8200" y="911126"/>
            <a:ext cx="2108200" cy="139700"/>
          </a:xfrm>
          <a:custGeom>
            <a:avLst/>
            <a:gdLst/>
            <a:ahLst/>
            <a:cxnLst/>
            <a:rect l="l" t="t" r="r" b="b"/>
            <a:pathLst>
              <a:path w="2108200" h="139700">
                <a:moveTo>
                  <a:pt x="0" y="63500"/>
                </a:moveTo>
                <a:arcTo hR="63500" wR="63500" stAng="10800000" swAng="5400000"/>
                <a:lnTo>
                  <a:pt x="2044700" y="0"/>
                </a:lnTo>
                <a:arcTo hR="63500" wR="63500" stAng="16200000" swAng="5400000"/>
                <a:lnTo>
                  <a:pt x="2108200" y="139700"/>
                </a:lnTo>
                <a:lnTo>
                  <a:pt x="0" y="139700"/>
                </a:lnTo>
                <a:close/>
              </a:path>
            </a:pathLst>
          </a:custGeom>
          <a:solidFill>
            <a:srgbClr val="1F3F8C"/>
          </a:solidFill>
          <a:ln/>
        </p:spPr>
      </p:sp>
      <p:sp>
        <p:nvSpPr>
          <p:cNvPr id="4" name="Text 2"/>
          <p:cNvSpPr/>
          <p:nvPr/>
        </p:nvSpPr>
        <p:spPr>
          <a:xfrm>
            <a:off x="806577" y="1076226"/>
            <a:ext cx="217144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b="1" spc="100" kern="0" dirty="0">
                <a:solidFill>
                  <a:srgbClr val="1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AI082AP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25800" y="711200"/>
            <a:ext cx="83980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24/09 · SOJA</a:t>
            </a:r>
            <a:endParaRPr lang="en-US" sz="1200" dirty="0"/>
          </a:p>
        </p:txBody>
      </p:sp>
      <p:sp>
        <p:nvSpPr>
          <p:cNvPr id="6" name="Text 4"/>
          <p:cNvSpPr/>
          <p:nvPr>
            <p:ph type="title"/>
          </p:nvPr>
        </p:nvSpPr>
        <p:spPr>
          <a:xfrm>
            <a:off x="3225800" y="1013420"/>
            <a:ext cx="896620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i="0" dirty="0">
                <a:solidFill>
                  <a:srgbClr val="1B242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Salió del puerto a los 24 minutos y volvió a calar dos veces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25800" y="1423591"/>
            <a:ext cx="3006328" cy="472380"/>
          </a:xfrm>
          <a:prstGeom prst="roundRect">
            <a:avLst>
              <a:gd name="adj" fmla="val 50000"/>
            </a:avLst>
          </a:prstGeom>
          <a:solidFill>
            <a:srgbClr val="FBE9E4"/>
          </a:solidFill>
          <a:ln/>
        </p:spPr>
      </p:sp>
      <p:sp>
        <p:nvSpPr>
          <p:cNvPr id="8" name="Text 6"/>
          <p:cNvSpPr/>
          <p:nvPr/>
        </p:nvSpPr>
        <p:spPr>
          <a:xfrm>
            <a:off x="3378200" y="1499791"/>
            <a:ext cx="830163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83A2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24 min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46463" y="1569641"/>
            <a:ext cx="1888263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 el puerto sin descargar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33728" y="1423591"/>
            <a:ext cx="2471638" cy="472380"/>
          </a:xfrm>
          <a:prstGeom prst="roundRect">
            <a:avLst>
              <a:gd name="adj" fmla="val 50000"/>
            </a:avLst>
          </a:prstGeom>
          <a:solidFill>
            <a:srgbClr val="FDEEDD"/>
          </a:solidFill>
          <a:ln/>
        </p:spPr>
      </p:sp>
      <p:sp>
        <p:nvSpPr>
          <p:cNvPr id="11" name="Text 9"/>
          <p:cNvSpPr/>
          <p:nvPr/>
        </p:nvSpPr>
        <p:spPr>
          <a:xfrm>
            <a:off x="6486128" y="1499791"/>
            <a:ext cx="990600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8560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5 h 49 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14828" y="1569641"/>
            <a:ext cx="1188938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hasta descargar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2086471"/>
            <a:ext cx="1899940" cy="1069181"/>
          </a:xfrm>
          <a:prstGeom prst="roundRect">
            <a:avLst>
              <a:gd name="adj" fmla="val 11878"/>
            </a:avLst>
          </a:prstGeom>
          <a:solidFill>
            <a:srgbClr val="E3F1FA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" y="2175371"/>
            <a:ext cx="17999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RICARDONE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5350" y="2458541"/>
            <a:ext cx="835620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2F8F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4638" y="2541091"/>
            <a:ext cx="52774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13:05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17290" y="2802632"/>
            <a:ext cx="591741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Calada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794470" y="2458541"/>
            <a:ext cx="835720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2F8F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96678" y="2541091"/>
            <a:ext cx="48210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13:12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15339" y="2802632"/>
            <a:ext cx="593884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Egreso</a:t>
            </a:r>
            <a:endParaRPr lang="en-US" sz="1200" dirty="0"/>
          </a:p>
        </p:txBody>
      </p:sp>
      <p:pic>
        <p:nvPicPr>
          <p:cNvPr id="21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76240" y="2659162"/>
            <a:ext cx="279400" cy="1651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3119140" y="2086471"/>
            <a:ext cx="2773660" cy="1069181"/>
          </a:xfrm>
          <a:prstGeom prst="roundRect">
            <a:avLst>
              <a:gd name="adj" fmla="val 11878"/>
            </a:avLst>
          </a:prstGeom>
          <a:solidFill>
            <a:srgbClr val="FDEEDD"/>
          </a:solidFill>
          <a:ln/>
        </p:spPr>
      </p:sp>
      <p:sp>
        <p:nvSpPr>
          <p:cNvPr id="23" name="Text 20"/>
          <p:cNvSpPr/>
          <p:nvPr/>
        </p:nvSpPr>
        <p:spPr>
          <a:xfrm>
            <a:off x="3195340" y="2175371"/>
            <a:ext cx="26998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 LORENZO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201690" y="2458541"/>
            <a:ext cx="822920" cy="614561"/>
          </a:xfrm>
          <a:prstGeom prst="roundRect">
            <a:avLst>
              <a:gd name="adj" fmla="val 13432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374827" y="2541091"/>
            <a:ext cx="52734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13:34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293001" y="2802632"/>
            <a:ext cx="640199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Ingreso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088110" y="2458541"/>
            <a:ext cx="823020" cy="614561"/>
          </a:xfrm>
          <a:prstGeom prst="roundRect">
            <a:avLst>
              <a:gd name="adj" fmla="val 13432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263926" y="2541091"/>
            <a:ext cx="52208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13:42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162266" y="2802632"/>
            <a:ext cx="674608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Balanza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977805" y="2461716"/>
            <a:ext cx="829270" cy="608211"/>
          </a:xfrm>
          <a:prstGeom prst="roundRect">
            <a:avLst>
              <a:gd name="adj" fmla="val 13051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51636" y="2547441"/>
            <a:ext cx="53240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13:58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095498" y="2808982"/>
            <a:ext cx="593884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Egreso</a:t>
            </a:r>
            <a:endParaRPr lang="en-US" sz="1200" dirty="0"/>
          </a:p>
        </p:txBody>
      </p:sp>
      <p:pic>
        <p:nvPicPr>
          <p:cNvPr id="3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56300" y="2659162"/>
            <a:ext cx="279400" cy="165100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6299200" y="2086471"/>
            <a:ext cx="2773660" cy="1069181"/>
          </a:xfrm>
          <a:prstGeom prst="roundRect">
            <a:avLst>
              <a:gd name="adj" fmla="val 11878"/>
            </a:avLst>
          </a:prstGeom>
          <a:solidFill>
            <a:srgbClr val="E3F1FA"/>
          </a:solidFill>
          <a:ln/>
        </p:spPr>
      </p:sp>
      <p:sp>
        <p:nvSpPr>
          <p:cNvPr id="35" name="Text 31"/>
          <p:cNvSpPr/>
          <p:nvPr/>
        </p:nvSpPr>
        <p:spPr>
          <a:xfrm>
            <a:off x="6375400" y="2175371"/>
            <a:ext cx="26998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RICARDONE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6384925" y="2461716"/>
            <a:ext cx="820837" cy="608211"/>
          </a:xfrm>
          <a:prstGeom prst="roundRect">
            <a:avLst>
              <a:gd name="adj" fmla="val 13051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557963" y="2547441"/>
            <a:ext cx="52546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15:04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6475244" y="2808982"/>
            <a:ext cx="640199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Ingreso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7275612" y="2461716"/>
            <a:ext cx="820837" cy="608211"/>
          </a:xfrm>
          <a:prstGeom prst="roundRect">
            <a:avLst>
              <a:gd name="adj" fmla="val 13051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7471172" y="2547441"/>
            <a:ext cx="48051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17:31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7285137" y="2808982"/>
            <a:ext cx="801688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2.ª calada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8166298" y="2461716"/>
            <a:ext cx="820837" cy="608211"/>
          </a:xfrm>
          <a:prstGeom prst="roundRect">
            <a:avLst>
              <a:gd name="adj" fmla="val 13051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337748" y="2547441"/>
            <a:ext cx="52873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18:05</a:t>
            </a:r>
            <a:endParaRPr lang="en-US" sz="1400" dirty="0"/>
          </a:p>
        </p:txBody>
      </p:sp>
      <p:sp>
        <p:nvSpPr>
          <p:cNvPr id="44" name="Text 40"/>
          <p:cNvSpPr/>
          <p:nvPr/>
        </p:nvSpPr>
        <p:spPr>
          <a:xfrm>
            <a:off x="8175823" y="2808982"/>
            <a:ext cx="801688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3.ª calada</a:t>
            </a:r>
            <a:endParaRPr lang="en-US" sz="1200" dirty="0"/>
          </a:p>
        </p:txBody>
      </p:sp>
      <p:pic>
        <p:nvPicPr>
          <p:cNvPr id="4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136360" y="2659162"/>
            <a:ext cx="279400" cy="165100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9479260" y="2086471"/>
            <a:ext cx="1899940" cy="1069181"/>
          </a:xfrm>
          <a:prstGeom prst="roundRect">
            <a:avLst>
              <a:gd name="adj" fmla="val 11878"/>
            </a:avLst>
          </a:prstGeom>
          <a:solidFill>
            <a:srgbClr val="FDEEDD"/>
          </a:solidFill>
          <a:ln/>
        </p:spPr>
      </p:sp>
      <p:sp>
        <p:nvSpPr>
          <p:cNvPr id="47" name="Text 42"/>
          <p:cNvSpPr/>
          <p:nvPr/>
        </p:nvSpPr>
        <p:spPr>
          <a:xfrm>
            <a:off x="9555460" y="2175371"/>
            <a:ext cx="17999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 LORENZO</a:t>
            </a:r>
            <a:endParaRPr lang="en-US" sz="1200" dirty="0"/>
          </a:p>
        </p:txBody>
      </p:sp>
      <p:sp>
        <p:nvSpPr>
          <p:cNvPr id="48" name="Shape 43"/>
          <p:cNvSpPr/>
          <p:nvPr/>
        </p:nvSpPr>
        <p:spPr>
          <a:xfrm>
            <a:off x="9561810" y="2458541"/>
            <a:ext cx="835620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9745266" y="2541091"/>
            <a:ext cx="5194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19:47</a:t>
            </a:r>
            <a:endParaRPr lang="en-US" sz="1400" dirty="0"/>
          </a:p>
        </p:txBody>
      </p:sp>
      <p:sp>
        <p:nvSpPr>
          <p:cNvPr id="50" name="Text 45"/>
          <p:cNvSpPr/>
          <p:nvPr/>
        </p:nvSpPr>
        <p:spPr>
          <a:xfrm>
            <a:off x="9568160" y="2802632"/>
            <a:ext cx="822821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Volcable 3</a:t>
            </a:r>
            <a:endParaRPr lang="en-US" sz="1200" dirty="0"/>
          </a:p>
        </p:txBody>
      </p:sp>
      <p:sp>
        <p:nvSpPr>
          <p:cNvPr id="51" name="Shape 46"/>
          <p:cNvSpPr/>
          <p:nvPr/>
        </p:nvSpPr>
        <p:spPr>
          <a:xfrm>
            <a:off x="10460930" y="2458541"/>
            <a:ext cx="835720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10627320" y="2541091"/>
            <a:ext cx="55374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20:02</a:t>
            </a:r>
            <a:endParaRPr lang="en-US" sz="1400" dirty="0"/>
          </a:p>
        </p:txBody>
      </p:sp>
      <p:sp>
        <p:nvSpPr>
          <p:cNvPr id="53" name="Text 48"/>
          <p:cNvSpPr/>
          <p:nvPr/>
        </p:nvSpPr>
        <p:spPr>
          <a:xfrm>
            <a:off x="10581799" y="2802632"/>
            <a:ext cx="593884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Egreso</a:t>
            </a:r>
            <a:endParaRPr lang="en-US" sz="1200" dirty="0"/>
          </a:p>
        </p:txBody>
      </p:sp>
      <p:pic>
        <p:nvPicPr>
          <p:cNvPr id="54" name="Image 3" descr="Cámara 13:05 · Calada">    </p:cNvPr>
          <p:cNvPicPr>
            <a:picLocks noChangeAspect="1"/>
          </p:cNvPicPr>
          <p:nvPr/>
        </p:nvPicPr>
        <p:blipFill>
          <a:blip r:embed="rId4"/>
          <a:srcRect l="0" r="0" t="31" b="31"/>
          <a:stretch/>
        </p:blipFill>
        <p:spPr>
          <a:xfrm>
            <a:off x="812800" y="3346152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5" name="Text 49"/>
          <p:cNvSpPr/>
          <p:nvPr/>
        </p:nvSpPr>
        <p:spPr>
          <a:xfrm>
            <a:off x="812800" y="4920952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13:05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Calada</a:t>
            </a:r>
            <a:endParaRPr lang="en-US" sz="1200" dirty="0"/>
          </a:p>
        </p:txBody>
      </p:sp>
      <p:pic>
        <p:nvPicPr>
          <p:cNvPr id="56" name="Image 4" descr="Cámara 13:58 · Egreso puerto">    </p:cNvPr>
          <p:cNvPicPr>
            <a:picLocks noChangeAspect="1"/>
          </p:cNvPicPr>
          <p:nvPr/>
        </p:nvPicPr>
        <p:blipFill>
          <a:blip r:embed="rId5"/>
          <a:srcRect l="0" r="0" t="31" b="31"/>
          <a:stretch/>
        </p:blipFill>
        <p:spPr>
          <a:xfrm>
            <a:off x="3486150" y="3346152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7" name="Text 50"/>
          <p:cNvSpPr/>
          <p:nvPr/>
        </p:nvSpPr>
        <p:spPr>
          <a:xfrm>
            <a:off x="3486150" y="4920952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13:58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Egreso puerto</a:t>
            </a:r>
            <a:endParaRPr lang="en-US" sz="1200" dirty="0"/>
          </a:p>
        </p:txBody>
      </p:sp>
      <p:pic>
        <p:nvPicPr>
          <p:cNvPr id="58" name="Image 5" descr="Cámara 15:04 · Ingreso Ricardone">    </p:cNvPr>
          <p:cNvPicPr>
            <a:picLocks noChangeAspect="1"/>
          </p:cNvPicPr>
          <p:nvPr/>
        </p:nvPicPr>
        <p:blipFill>
          <a:blip r:embed="rId6"/>
          <a:srcRect l="0" r="0" t="31" b="31"/>
          <a:stretch/>
        </p:blipFill>
        <p:spPr>
          <a:xfrm>
            <a:off x="6159500" y="3346152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9" name="Text 51"/>
          <p:cNvSpPr/>
          <p:nvPr/>
        </p:nvSpPr>
        <p:spPr>
          <a:xfrm>
            <a:off x="6159500" y="4920952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15:04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Ingreso Ricardone</a:t>
            </a:r>
            <a:endParaRPr lang="en-US" sz="1200" dirty="0"/>
          </a:p>
        </p:txBody>
      </p:sp>
      <p:pic>
        <p:nvPicPr>
          <p:cNvPr id="60" name="Image 6" descr="Cámara 19:47 · Volcable 3">    </p:cNvPr>
          <p:cNvPicPr>
            <a:picLocks noChangeAspect="1"/>
          </p:cNvPicPr>
          <p:nvPr/>
        </p:nvPicPr>
        <p:blipFill>
          <a:blip r:embed="rId7"/>
          <a:srcRect l="0" r="0" t="31" b="31"/>
          <a:stretch/>
        </p:blipFill>
        <p:spPr>
          <a:xfrm>
            <a:off x="8832850" y="3346152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61" name="Text 52"/>
          <p:cNvSpPr/>
          <p:nvPr/>
        </p:nvSpPr>
        <p:spPr>
          <a:xfrm>
            <a:off x="8832850" y="4920952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19:47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Volcable 3</a:t>
            </a:r>
            <a:endParaRPr lang="en-US" sz="1200" dirty="0"/>
          </a:p>
        </p:txBody>
      </p:sp>
      <p:sp>
        <p:nvSpPr>
          <p:cNvPr id="62" name="Text 53"/>
          <p:cNvSpPr/>
          <p:nvPr/>
        </p:nvSpPr>
        <p:spPr>
          <a:xfrm>
            <a:off x="812800" y="6192540"/>
            <a:ext cx="36470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Comité de Seguridad · 24 al 30/09/2026 · 6</a:t>
            </a:r>
            <a:endParaRPr lang="en-US" sz="1200" dirty="0"/>
          </a:p>
        </p:txBody>
      </p:sp>
      <p:pic>
        <p:nvPicPr>
          <p:cNvPr id="63" name="Image 7" descr="Nueva Vicentin Argentina">    </p:cNvPr>
          <p:cNvPicPr>
            <a:picLocks noChangeAspect="1"/>
          </p:cNvPicPr>
          <p:nvPr/>
        </p:nvPicPr>
        <p:blipFill>
          <a:blip r:embed="rId8"/>
          <a:srcRect l="-167" r="-167" t="0" b="0"/>
          <a:stretch/>
        </p:blipFill>
        <p:spPr>
          <a:xfrm>
            <a:off x="9893300" y="6172200"/>
            <a:ext cx="476250" cy="254000"/>
          </a:xfrm>
          <a:prstGeom prst="rect">
            <a:avLst/>
          </a:prstGeom>
        </p:spPr>
      </p:pic>
      <p:pic>
        <p:nvPicPr>
          <p:cNvPr id="64" name="Image 8" descr="Bimtrazer">    </p:cNvPr>
          <p:cNvPicPr>
            <a:picLocks noChangeAspect="1"/>
          </p:cNvPicPr>
          <p:nvPr/>
        </p:nvPicPr>
        <p:blipFill>
          <a:blip r:embed="rId9"/>
          <a:srcRect l="0" r="0" t="-63" b="-63"/>
          <a:stretch/>
        </p:blipFill>
        <p:spPr>
          <a:xfrm>
            <a:off x="10623550" y="6121400"/>
            <a:ext cx="75565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5500" y="898426"/>
            <a:ext cx="2133600" cy="810220"/>
          </a:xfrm>
          <a:prstGeom prst="roundRect">
            <a:avLst>
              <a:gd name="adj" fmla="val 9405"/>
            </a:avLst>
          </a:prstGeom>
          <a:solidFill>
            <a:srgbClr val="FFFFFF"/>
          </a:solidFill>
          <a:ln w="25400">
            <a:solidFill>
              <a:srgbClr val="1B24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8200" y="911126"/>
            <a:ext cx="2108200" cy="139700"/>
          </a:xfrm>
          <a:custGeom>
            <a:avLst/>
            <a:gdLst/>
            <a:ahLst/>
            <a:cxnLst/>
            <a:rect l="l" t="t" r="r" b="b"/>
            <a:pathLst>
              <a:path w="2108200" h="139700">
                <a:moveTo>
                  <a:pt x="0" y="63500"/>
                </a:moveTo>
                <a:arcTo hR="63500" wR="63500" stAng="10800000" swAng="5400000"/>
                <a:lnTo>
                  <a:pt x="2044700" y="0"/>
                </a:lnTo>
                <a:arcTo hR="63500" wR="63500" stAng="16200000" swAng="5400000"/>
                <a:lnTo>
                  <a:pt x="2108200" y="139700"/>
                </a:lnTo>
                <a:lnTo>
                  <a:pt x="0" y="139700"/>
                </a:lnTo>
                <a:close/>
              </a:path>
            </a:pathLst>
          </a:custGeom>
          <a:solidFill>
            <a:srgbClr val="1F3F8C"/>
          </a:solidFill>
          <a:ln/>
        </p:spPr>
      </p:sp>
      <p:sp>
        <p:nvSpPr>
          <p:cNvPr id="4" name="Text 2"/>
          <p:cNvSpPr/>
          <p:nvPr/>
        </p:nvSpPr>
        <p:spPr>
          <a:xfrm>
            <a:off x="806577" y="1076226"/>
            <a:ext cx="217144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b="1" spc="100" kern="0" dirty="0">
                <a:solidFill>
                  <a:srgbClr val="1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OKO733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25800" y="711200"/>
            <a:ext cx="83980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25/09 · SOJA</a:t>
            </a:r>
            <a:endParaRPr lang="en-US" sz="1200" dirty="0"/>
          </a:p>
        </p:txBody>
      </p:sp>
      <p:sp>
        <p:nvSpPr>
          <p:cNvPr id="6" name="Text 4"/>
          <p:cNvSpPr/>
          <p:nvPr>
            <p:ph type="title"/>
          </p:nvPr>
        </p:nvSpPr>
        <p:spPr>
          <a:xfrm>
            <a:off x="3225800" y="1013420"/>
            <a:ext cx="8398002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i="0" dirty="0">
                <a:solidFill>
                  <a:srgbClr val="1B242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Fue al puerto, salió sin descargar y volvió a calar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25800" y="1423591"/>
            <a:ext cx="3012976" cy="472380"/>
          </a:xfrm>
          <a:prstGeom prst="roundRect">
            <a:avLst>
              <a:gd name="adj" fmla="val 50000"/>
            </a:avLst>
          </a:prstGeom>
          <a:solidFill>
            <a:srgbClr val="FBE9E4"/>
          </a:solidFill>
          <a:ln/>
        </p:spPr>
      </p:sp>
      <p:sp>
        <p:nvSpPr>
          <p:cNvPr id="8" name="Text 6"/>
          <p:cNvSpPr/>
          <p:nvPr/>
        </p:nvSpPr>
        <p:spPr>
          <a:xfrm>
            <a:off x="3378200" y="1499791"/>
            <a:ext cx="836811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83A2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36 min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53111" y="1569641"/>
            <a:ext cx="1888263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 el puerto sin descargar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40376" y="1423591"/>
            <a:ext cx="2478782" cy="472380"/>
          </a:xfrm>
          <a:prstGeom prst="roundRect">
            <a:avLst>
              <a:gd name="adj" fmla="val 50000"/>
            </a:avLst>
          </a:prstGeom>
          <a:solidFill>
            <a:srgbClr val="FDEEDD"/>
          </a:solidFill>
          <a:ln/>
        </p:spPr>
      </p:sp>
      <p:sp>
        <p:nvSpPr>
          <p:cNvPr id="11" name="Text 9"/>
          <p:cNvSpPr/>
          <p:nvPr/>
        </p:nvSpPr>
        <p:spPr>
          <a:xfrm>
            <a:off x="6492776" y="1499791"/>
            <a:ext cx="997744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8560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2 h 28 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528620" y="1569641"/>
            <a:ext cx="1188938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hasta descargar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2086471"/>
            <a:ext cx="2094111" cy="1069181"/>
          </a:xfrm>
          <a:prstGeom prst="roundRect">
            <a:avLst>
              <a:gd name="adj" fmla="val 11878"/>
            </a:avLst>
          </a:prstGeom>
          <a:solidFill>
            <a:srgbClr val="E3F1FA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" y="2175371"/>
            <a:ext cx="19999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RICARDONE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5350" y="2458541"/>
            <a:ext cx="932755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2F8F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942" y="2541091"/>
            <a:ext cx="52427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13:32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65808" y="2802632"/>
            <a:ext cx="591741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Calada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91605" y="2458541"/>
            <a:ext cx="932755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2F8F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19809" y="2541091"/>
            <a:ext cx="52705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13:45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60992" y="2802632"/>
            <a:ext cx="593884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Egreso</a:t>
            </a:r>
            <a:endParaRPr lang="en-US" sz="1200" dirty="0"/>
          </a:p>
        </p:txBody>
      </p:sp>
      <p:pic>
        <p:nvPicPr>
          <p:cNvPr id="21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70411" y="2659162"/>
            <a:ext cx="279400" cy="1651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3313311" y="2086471"/>
            <a:ext cx="3064867" cy="1069181"/>
          </a:xfrm>
          <a:prstGeom prst="roundRect">
            <a:avLst>
              <a:gd name="adj" fmla="val 11878"/>
            </a:avLst>
          </a:prstGeom>
          <a:solidFill>
            <a:srgbClr val="FDEEDD"/>
          </a:solidFill>
          <a:ln/>
        </p:spPr>
      </p:sp>
      <p:sp>
        <p:nvSpPr>
          <p:cNvPr id="23" name="Text 20"/>
          <p:cNvSpPr/>
          <p:nvPr/>
        </p:nvSpPr>
        <p:spPr>
          <a:xfrm>
            <a:off x="3389511" y="2175371"/>
            <a:ext cx="29998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 LORENZO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395861" y="2458541"/>
            <a:ext cx="919956" cy="614561"/>
          </a:xfrm>
          <a:prstGeom prst="roundRect">
            <a:avLst>
              <a:gd name="adj" fmla="val 13432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15928" y="2541091"/>
            <a:ext cx="53052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13:56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535690" y="2802632"/>
            <a:ext cx="640199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Ingreso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379317" y="2458541"/>
            <a:ext cx="920055" cy="614561"/>
          </a:xfrm>
          <a:prstGeom prst="roundRect">
            <a:avLst>
              <a:gd name="adj" fmla="val 13432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22304" y="2541091"/>
            <a:ext cx="48478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14:19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501991" y="2802632"/>
            <a:ext cx="674608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Balanza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366048" y="2461716"/>
            <a:ext cx="926405" cy="608211"/>
          </a:xfrm>
          <a:prstGeom prst="roundRect">
            <a:avLst>
              <a:gd name="adj" fmla="val 13051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93259" y="2547441"/>
            <a:ext cx="52268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14:32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532259" y="2808982"/>
            <a:ext cx="593884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Egreso</a:t>
            </a:r>
            <a:endParaRPr lang="en-US" sz="1200" dirty="0"/>
          </a:p>
        </p:txBody>
      </p:sp>
      <p:pic>
        <p:nvPicPr>
          <p:cNvPr id="3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41678" y="2659162"/>
            <a:ext cx="279400" cy="165100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6784578" y="2086471"/>
            <a:ext cx="2094111" cy="1069181"/>
          </a:xfrm>
          <a:prstGeom prst="roundRect">
            <a:avLst>
              <a:gd name="adj" fmla="val 11878"/>
            </a:avLst>
          </a:prstGeom>
          <a:solidFill>
            <a:srgbClr val="E3F1FA"/>
          </a:solidFill>
          <a:ln/>
        </p:spPr>
      </p:sp>
      <p:sp>
        <p:nvSpPr>
          <p:cNvPr id="35" name="Text 31"/>
          <p:cNvSpPr/>
          <p:nvPr/>
        </p:nvSpPr>
        <p:spPr>
          <a:xfrm>
            <a:off x="6860778" y="2175371"/>
            <a:ext cx="19999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RICARDONE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6870303" y="2461716"/>
            <a:ext cx="926405" cy="608211"/>
          </a:xfrm>
          <a:prstGeom prst="roundRect">
            <a:avLst>
              <a:gd name="adj" fmla="val 13051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095827" y="2547441"/>
            <a:ext cx="52605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15:32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7013406" y="2808982"/>
            <a:ext cx="640199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Ingreso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7866559" y="2461716"/>
            <a:ext cx="926405" cy="608211"/>
          </a:xfrm>
          <a:prstGeom prst="roundRect">
            <a:avLst>
              <a:gd name="adj" fmla="val 13051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8091091" y="2547441"/>
            <a:ext cx="52814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15:49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7913588" y="2808982"/>
            <a:ext cx="832247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2.ª calada</a:t>
            </a:r>
            <a:endParaRPr lang="en-US" sz="1200" dirty="0"/>
          </a:p>
        </p:txBody>
      </p:sp>
      <p:pic>
        <p:nvPicPr>
          <p:cNvPr id="42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942189" y="2659162"/>
            <a:ext cx="279400" cy="165100"/>
          </a:xfrm>
          <a:prstGeom prst="rect">
            <a:avLst/>
          </a:prstGeom>
        </p:spPr>
      </p:pic>
      <p:sp>
        <p:nvSpPr>
          <p:cNvPr id="43" name="Shape 38"/>
          <p:cNvSpPr/>
          <p:nvPr/>
        </p:nvSpPr>
        <p:spPr>
          <a:xfrm>
            <a:off x="9285089" y="2086471"/>
            <a:ext cx="2094111" cy="1069181"/>
          </a:xfrm>
          <a:prstGeom prst="roundRect">
            <a:avLst>
              <a:gd name="adj" fmla="val 11878"/>
            </a:avLst>
          </a:prstGeom>
          <a:solidFill>
            <a:srgbClr val="FDEEDD"/>
          </a:solidFill>
          <a:ln/>
        </p:spPr>
      </p:sp>
      <p:sp>
        <p:nvSpPr>
          <p:cNvPr id="44" name="Text 39"/>
          <p:cNvSpPr/>
          <p:nvPr/>
        </p:nvSpPr>
        <p:spPr>
          <a:xfrm>
            <a:off x="9361289" y="2175371"/>
            <a:ext cx="19999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 LORENZO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9367639" y="2458541"/>
            <a:ext cx="932755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9601994" y="2541091"/>
            <a:ext cx="51474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17:00</a:t>
            </a:r>
            <a:endParaRPr lang="en-US" sz="1400" dirty="0"/>
          </a:p>
        </p:txBody>
      </p:sp>
      <p:sp>
        <p:nvSpPr>
          <p:cNvPr id="47" name="Text 42"/>
          <p:cNvSpPr/>
          <p:nvPr/>
        </p:nvSpPr>
        <p:spPr>
          <a:xfrm>
            <a:off x="9387949" y="2802632"/>
            <a:ext cx="892135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Volcable 5</a:t>
            </a:r>
            <a:endParaRPr lang="en-US" sz="1200" dirty="0"/>
          </a:p>
        </p:txBody>
      </p:sp>
      <p:sp>
        <p:nvSpPr>
          <p:cNvPr id="48" name="Shape 43"/>
          <p:cNvSpPr/>
          <p:nvPr/>
        </p:nvSpPr>
        <p:spPr>
          <a:xfrm>
            <a:off x="10363895" y="2458541"/>
            <a:ext cx="932755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10616208" y="2541091"/>
            <a:ext cx="47892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17:14</a:t>
            </a:r>
            <a:endParaRPr lang="en-US" sz="1400" dirty="0"/>
          </a:p>
        </p:txBody>
      </p:sp>
      <p:sp>
        <p:nvSpPr>
          <p:cNvPr id="50" name="Text 45"/>
          <p:cNvSpPr/>
          <p:nvPr/>
        </p:nvSpPr>
        <p:spPr>
          <a:xfrm>
            <a:off x="10533281" y="2802632"/>
            <a:ext cx="593884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Egreso</a:t>
            </a:r>
            <a:endParaRPr lang="en-US" sz="1200" dirty="0"/>
          </a:p>
        </p:txBody>
      </p:sp>
      <p:pic>
        <p:nvPicPr>
          <p:cNvPr id="51" name="Image 3" descr="Cámara 13:32 · Calada">    </p:cNvPr>
          <p:cNvPicPr>
            <a:picLocks noChangeAspect="1"/>
          </p:cNvPicPr>
          <p:nvPr/>
        </p:nvPicPr>
        <p:blipFill>
          <a:blip r:embed="rId4"/>
          <a:srcRect l="0" r="0" t="31" b="31"/>
          <a:stretch/>
        </p:blipFill>
        <p:spPr>
          <a:xfrm>
            <a:off x="812800" y="3346152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2" name="Text 46"/>
          <p:cNvSpPr/>
          <p:nvPr/>
        </p:nvSpPr>
        <p:spPr>
          <a:xfrm>
            <a:off x="812800" y="4920952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13:32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Calada</a:t>
            </a:r>
            <a:endParaRPr lang="en-US" sz="1200" dirty="0"/>
          </a:p>
        </p:txBody>
      </p:sp>
      <p:pic>
        <p:nvPicPr>
          <p:cNvPr id="53" name="Image 4" descr="Cámara 14:32 · Egreso puerto">    </p:cNvPr>
          <p:cNvPicPr>
            <a:picLocks noChangeAspect="1"/>
          </p:cNvPicPr>
          <p:nvPr/>
        </p:nvPicPr>
        <p:blipFill>
          <a:blip r:embed="rId5"/>
          <a:srcRect l="0" r="0" t="31" b="31"/>
          <a:stretch/>
        </p:blipFill>
        <p:spPr>
          <a:xfrm>
            <a:off x="3486150" y="3346152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4" name="Text 47"/>
          <p:cNvSpPr/>
          <p:nvPr/>
        </p:nvSpPr>
        <p:spPr>
          <a:xfrm>
            <a:off x="3486150" y="4920952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14:32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Egreso puerto</a:t>
            </a:r>
            <a:endParaRPr lang="en-US" sz="1200" dirty="0"/>
          </a:p>
        </p:txBody>
      </p:sp>
      <p:pic>
        <p:nvPicPr>
          <p:cNvPr id="55" name="Image 5" descr="Cámara 15:32 · Ingreso Ricardone">    </p:cNvPr>
          <p:cNvPicPr>
            <a:picLocks noChangeAspect="1"/>
          </p:cNvPicPr>
          <p:nvPr/>
        </p:nvPicPr>
        <p:blipFill>
          <a:blip r:embed="rId6"/>
          <a:srcRect l="0" r="0" t="31" b="31"/>
          <a:stretch/>
        </p:blipFill>
        <p:spPr>
          <a:xfrm>
            <a:off x="6159500" y="3346152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6" name="Text 48"/>
          <p:cNvSpPr/>
          <p:nvPr/>
        </p:nvSpPr>
        <p:spPr>
          <a:xfrm>
            <a:off x="6159500" y="4920952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15:32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Ingreso Ricardone</a:t>
            </a:r>
            <a:endParaRPr lang="en-US" sz="1200" dirty="0"/>
          </a:p>
        </p:txBody>
      </p:sp>
      <p:pic>
        <p:nvPicPr>
          <p:cNvPr id="57" name="Image 6" descr="Cámara 17:00 · Volcable 5">    </p:cNvPr>
          <p:cNvPicPr>
            <a:picLocks noChangeAspect="1"/>
          </p:cNvPicPr>
          <p:nvPr/>
        </p:nvPicPr>
        <p:blipFill>
          <a:blip r:embed="rId7"/>
          <a:srcRect l="0" r="0" t="31" b="31"/>
          <a:stretch/>
        </p:blipFill>
        <p:spPr>
          <a:xfrm>
            <a:off x="8832850" y="3346152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8" name="Text 49"/>
          <p:cNvSpPr/>
          <p:nvPr/>
        </p:nvSpPr>
        <p:spPr>
          <a:xfrm>
            <a:off x="8832850" y="4920952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17:00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Volcable 5</a:t>
            </a:r>
            <a:endParaRPr lang="en-US" sz="1200" dirty="0"/>
          </a:p>
        </p:txBody>
      </p:sp>
      <p:sp>
        <p:nvSpPr>
          <p:cNvPr id="59" name="Text 50"/>
          <p:cNvSpPr/>
          <p:nvPr/>
        </p:nvSpPr>
        <p:spPr>
          <a:xfrm>
            <a:off x="812800" y="6192540"/>
            <a:ext cx="36429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Comité de Seguridad · 24 al 30/09/2026 · 7</a:t>
            </a:r>
            <a:endParaRPr lang="en-US" sz="1200" dirty="0"/>
          </a:p>
        </p:txBody>
      </p:sp>
      <p:pic>
        <p:nvPicPr>
          <p:cNvPr id="60" name="Image 7" descr="Nueva Vicentin Argentina">    </p:cNvPr>
          <p:cNvPicPr>
            <a:picLocks noChangeAspect="1"/>
          </p:cNvPicPr>
          <p:nvPr/>
        </p:nvPicPr>
        <p:blipFill>
          <a:blip r:embed="rId8"/>
          <a:srcRect l="-167" r="-167" t="0" b="0"/>
          <a:stretch/>
        </p:blipFill>
        <p:spPr>
          <a:xfrm>
            <a:off x="9893300" y="6172200"/>
            <a:ext cx="476250" cy="254000"/>
          </a:xfrm>
          <a:prstGeom prst="rect">
            <a:avLst/>
          </a:prstGeom>
        </p:spPr>
      </p:pic>
      <p:pic>
        <p:nvPicPr>
          <p:cNvPr id="61" name="Image 8" descr="Bimtrazer">    </p:cNvPr>
          <p:cNvPicPr>
            <a:picLocks noChangeAspect="1"/>
          </p:cNvPicPr>
          <p:nvPr/>
        </p:nvPicPr>
        <p:blipFill>
          <a:blip r:embed="rId9"/>
          <a:srcRect l="0" r="0" t="-63" b="-63"/>
          <a:stretch/>
        </p:blipFill>
        <p:spPr>
          <a:xfrm>
            <a:off x="10623550" y="6121400"/>
            <a:ext cx="75565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5500" y="1059061"/>
            <a:ext cx="2133600" cy="810220"/>
          </a:xfrm>
          <a:prstGeom prst="roundRect">
            <a:avLst>
              <a:gd name="adj" fmla="val 9405"/>
            </a:avLst>
          </a:prstGeom>
          <a:solidFill>
            <a:srgbClr val="FFFFFF"/>
          </a:solidFill>
          <a:ln w="25400">
            <a:solidFill>
              <a:srgbClr val="1B24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8200" y="1071761"/>
            <a:ext cx="2108200" cy="139700"/>
          </a:xfrm>
          <a:custGeom>
            <a:avLst/>
            <a:gdLst/>
            <a:ahLst/>
            <a:cxnLst/>
            <a:rect l="l" t="t" r="r" b="b"/>
            <a:pathLst>
              <a:path w="2108200" h="139700">
                <a:moveTo>
                  <a:pt x="0" y="63500"/>
                </a:moveTo>
                <a:arcTo hR="63500" wR="63500" stAng="10800000" swAng="5400000"/>
                <a:lnTo>
                  <a:pt x="2044700" y="0"/>
                </a:lnTo>
                <a:arcTo hR="63500" wR="63500" stAng="16200000" swAng="5400000"/>
                <a:lnTo>
                  <a:pt x="2108200" y="139700"/>
                </a:lnTo>
                <a:lnTo>
                  <a:pt x="0" y="139700"/>
                </a:lnTo>
                <a:close/>
              </a:path>
            </a:pathLst>
          </a:custGeom>
          <a:solidFill>
            <a:srgbClr val="1F3F8C"/>
          </a:solidFill>
          <a:ln/>
        </p:spPr>
      </p:sp>
      <p:sp>
        <p:nvSpPr>
          <p:cNvPr id="4" name="Text 2"/>
          <p:cNvSpPr/>
          <p:nvPr/>
        </p:nvSpPr>
        <p:spPr>
          <a:xfrm>
            <a:off x="806577" y="1236861"/>
            <a:ext cx="217144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b="1" spc="100" kern="0" dirty="0">
                <a:solidFill>
                  <a:srgbClr val="1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AG847TB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25800" y="711200"/>
            <a:ext cx="83980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26/09 · SOJA</a:t>
            </a:r>
            <a:endParaRPr lang="en-US" sz="1200" dirty="0"/>
          </a:p>
        </p:txBody>
      </p:sp>
      <p:sp>
        <p:nvSpPr>
          <p:cNvPr id="6" name="Text 4"/>
          <p:cNvSpPr/>
          <p:nvPr>
            <p:ph type="title"/>
          </p:nvPr>
        </p:nvSpPr>
        <p:spPr>
          <a:xfrm>
            <a:off x="3225800" y="1013420"/>
            <a:ext cx="8398002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i="0" dirty="0">
                <a:solidFill>
                  <a:srgbClr val="1B242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Pasó por las dos balanzas del puerto sin descargar y volvió a calar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25800" y="1744861"/>
            <a:ext cx="3008114" cy="472380"/>
          </a:xfrm>
          <a:prstGeom prst="roundRect">
            <a:avLst>
              <a:gd name="adj" fmla="val 50000"/>
            </a:avLst>
          </a:prstGeom>
          <a:solidFill>
            <a:srgbClr val="FBE9E4"/>
          </a:solidFill>
          <a:ln/>
        </p:spPr>
      </p:sp>
      <p:sp>
        <p:nvSpPr>
          <p:cNvPr id="8" name="Text 6"/>
          <p:cNvSpPr/>
          <p:nvPr/>
        </p:nvSpPr>
        <p:spPr>
          <a:xfrm>
            <a:off x="3378200" y="1821061"/>
            <a:ext cx="831949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83A2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28 min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48249" y="1890911"/>
            <a:ext cx="1888263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 el puerto sin descargar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35514" y="1744861"/>
            <a:ext cx="2438698" cy="472380"/>
          </a:xfrm>
          <a:prstGeom prst="roundRect">
            <a:avLst>
              <a:gd name="adj" fmla="val 50000"/>
            </a:avLst>
          </a:prstGeom>
          <a:solidFill>
            <a:srgbClr val="FDEEDD"/>
          </a:solidFill>
          <a:ln/>
        </p:spPr>
      </p:sp>
      <p:sp>
        <p:nvSpPr>
          <p:cNvPr id="11" name="Text 9"/>
          <p:cNvSpPr/>
          <p:nvPr/>
        </p:nvSpPr>
        <p:spPr>
          <a:xfrm>
            <a:off x="6487914" y="1821061"/>
            <a:ext cx="957659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8560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3 h 12 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83673" y="1890911"/>
            <a:ext cx="1188938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hasta descargar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2407741"/>
            <a:ext cx="2094111" cy="1244402"/>
          </a:xfrm>
          <a:prstGeom prst="roundRect">
            <a:avLst>
              <a:gd name="adj" fmla="val 10206"/>
            </a:avLst>
          </a:prstGeom>
          <a:solidFill>
            <a:srgbClr val="E3F1FA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" y="2496641"/>
            <a:ext cx="19999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RICARDONE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5350" y="2779812"/>
            <a:ext cx="932755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2F8F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2420" y="2862362"/>
            <a:ext cx="56931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09:58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65808" y="3123902"/>
            <a:ext cx="591741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Calada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91605" y="2779812"/>
            <a:ext cx="932755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2F8F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42232" y="2862362"/>
            <a:ext cx="48220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10:14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60992" y="3123902"/>
            <a:ext cx="593884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Egreso</a:t>
            </a:r>
            <a:endParaRPr lang="en-US" sz="1200" dirty="0"/>
          </a:p>
        </p:txBody>
      </p:sp>
      <p:pic>
        <p:nvPicPr>
          <p:cNvPr id="21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70411" y="3068042"/>
            <a:ext cx="279400" cy="1651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3313311" y="2407741"/>
            <a:ext cx="3064867" cy="1244402"/>
          </a:xfrm>
          <a:prstGeom prst="roundRect">
            <a:avLst>
              <a:gd name="adj" fmla="val 10206"/>
            </a:avLst>
          </a:prstGeom>
          <a:solidFill>
            <a:srgbClr val="FDEEDD"/>
          </a:solidFill>
          <a:ln/>
        </p:spPr>
      </p:sp>
      <p:sp>
        <p:nvSpPr>
          <p:cNvPr id="23" name="Text 20"/>
          <p:cNvSpPr/>
          <p:nvPr/>
        </p:nvSpPr>
        <p:spPr>
          <a:xfrm>
            <a:off x="3389511" y="2496641"/>
            <a:ext cx="29998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 LORENZO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395861" y="2779812"/>
            <a:ext cx="915789" cy="789781"/>
          </a:xfrm>
          <a:prstGeom prst="roundRect">
            <a:avLst>
              <a:gd name="adj" fmla="val 10452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617416" y="2862362"/>
            <a:ext cx="52337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10:26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533606" y="3123902"/>
            <a:ext cx="640199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Ingreso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378325" y="2782987"/>
            <a:ext cx="922139" cy="783431"/>
          </a:xfrm>
          <a:prstGeom prst="roundRect">
            <a:avLst>
              <a:gd name="adj" fmla="val 10132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605536" y="2868712"/>
            <a:ext cx="51841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10:42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400550" y="3130252"/>
            <a:ext cx="877689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Balanza salida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370314" y="2782987"/>
            <a:ext cx="922139" cy="783431"/>
          </a:xfrm>
          <a:prstGeom prst="roundRect">
            <a:avLst>
              <a:gd name="adj" fmla="val 10132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93655" y="2868712"/>
            <a:ext cx="52615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10:54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534442" y="3130252"/>
            <a:ext cx="593884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Egreso</a:t>
            </a:r>
            <a:endParaRPr lang="en-US" sz="1200" dirty="0"/>
          </a:p>
        </p:txBody>
      </p:sp>
      <p:pic>
        <p:nvPicPr>
          <p:cNvPr id="3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41678" y="3068042"/>
            <a:ext cx="279400" cy="165100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6784578" y="2407741"/>
            <a:ext cx="2094111" cy="1244402"/>
          </a:xfrm>
          <a:prstGeom prst="roundRect">
            <a:avLst>
              <a:gd name="adj" fmla="val 10206"/>
            </a:avLst>
          </a:prstGeom>
          <a:solidFill>
            <a:srgbClr val="E3F1FA"/>
          </a:solidFill>
          <a:ln/>
        </p:spPr>
      </p:sp>
      <p:sp>
        <p:nvSpPr>
          <p:cNvPr id="35" name="Text 31"/>
          <p:cNvSpPr/>
          <p:nvPr/>
        </p:nvSpPr>
        <p:spPr>
          <a:xfrm>
            <a:off x="6860778" y="2496641"/>
            <a:ext cx="19999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RICARDONE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6870303" y="2782987"/>
            <a:ext cx="926405" cy="608211"/>
          </a:xfrm>
          <a:prstGeom prst="roundRect">
            <a:avLst>
              <a:gd name="adj" fmla="val 13051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119640" y="2868712"/>
            <a:ext cx="47843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12:01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7013406" y="3130252"/>
            <a:ext cx="640199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Ingreso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7866559" y="2782987"/>
            <a:ext cx="926405" cy="608211"/>
          </a:xfrm>
          <a:prstGeom prst="roundRect">
            <a:avLst>
              <a:gd name="adj" fmla="val 13051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8111927" y="2868712"/>
            <a:ext cx="48637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13:19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7913588" y="3130252"/>
            <a:ext cx="832247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2.ª calada</a:t>
            </a:r>
            <a:endParaRPr lang="en-US" sz="1200" dirty="0"/>
          </a:p>
        </p:txBody>
      </p:sp>
      <p:pic>
        <p:nvPicPr>
          <p:cNvPr id="42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942189" y="3068042"/>
            <a:ext cx="279400" cy="165100"/>
          </a:xfrm>
          <a:prstGeom prst="rect">
            <a:avLst/>
          </a:prstGeom>
        </p:spPr>
      </p:pic>
      <p:sp>
        <p:nvSpPr>
          <p:cNvPr id="43" name="Shape 38"/>
          <p:cNvSpPr/>
          <p:nvPr/>
        </p:nvSpPr>
        <p:spPr>
          <a:xfrm>
            <a:off x="9285089" y="2407741"/>
            <a:ext cx="2094111" cy="1244402"/>
          </a:xfrm>
          <a:prstGeom prst="roundRect">
            <a:avLst>
              <a:gd name="adj" fmla="val 10206"/>
            </a:avLst>
          </a:prstGeom>
          <a:solidFill>
            <a:srgbClr val="FDEEDD"/>
          </a:solidFill>
          <a:ln/>
        </p:spPr>
      </p:sp>
      <p:sp>
        <p:nvSpPr>
          <p:cNvPr id="44" name="Text 39"/>
          <p:cNvSpPr/>
          <p:nvPr/>
        </p:nvSpPr>
        <p:spPr>
          <a:xfrm>
            <a:off x="9361289" y="2496641"/>
            <a:ext cx="19999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 LORENZO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9367639" y="2779812"/>
            <a:ext cx="932755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9597926" y="2862362"/>
            <a:ext cx="52298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14:06</a:t>
            </a:r>
            <a:endParaRPr lang="en-US" sz="1400" dirty="0"/>
          </a:p>
        </p:txBody>
      </p:sp>
      <p:sp>
        <p:nvSpPr>
          <p:cNvPr id="47" name="Text 42"/>
          <p:cNvSpPr/>
          <p:nvPr/>
        </p:nvSpPr>
        <p:spPr>
          <a:xfrm>
            <a:off x="9387949" y="3123902"/>
            <a:ext cx="892135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Volcable 5</a:t>
            </a:r>
            <a:endParaRPr lang="en-US" sz="1200" dirty="0"/>
          </a:p>
        </p:txBody>
      </p:sp>
      <p:sp>
        <p:nvSpPr>
          <p:cNvPr id="48" name="Shape 43"/>
          <p:cNvSpPr/>
          <p:nvPr/>
        </p:nvSpPr>
        <p:spPr>
          <a:xfrm>
            <a:off x="10363895" y="2779812"/>
            <a:ext cx="932755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10613628" y="2862362"/>
            <a:ext cx="48408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14:21</a:t>
            </a:r>
            <a:endParaRPr lang="en-US" sz="1400" dirty="0"/>
          </a:p>
        </p:txBody>
      </p:sp>
      <p:sp>
        <p:nvSpPr>
          <p:cNvPr id="50" name="Text 45"/>
          <p:cNvSpPr/>
          <p:nvPr/>
        </p:nvSpPr>
        <p:spPr>
          <a:xfrm>
            <a:off x="10533281" y="3123902"/>
            <a:ext cx="593884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Egreso</a:t>
            </a:r>
            <a:endParaRPr lang="en-US" sz="1200" dirty="0"/>
          </a:p>
        </p:txBody>
      </p:sp>
      <p:pic>
        <p:nvPicPr>
          <p:cNvPr id="51" name="Image 3" descr="Cámara 09:58 · Calada">    </p:cNvPr>
          <p:cNvPicPr>
            <a:picLocks noChangeAspect="1"/>
          </p:cNvPicPr>
          <p:nvPr/>
        </p:nvPicPr>
        <p:blipFill>
          <a:blip r:embed="rId4"/>
          <a:srcRect l="0" r="0" t="31" b="31"/>
          <a:stretch/>
        </p:blipFill>
        <p:spPr>
          <a:xfrm>
            <a:off x="812800" y="3842643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2" name="Text 46"/>
          <p:cNvSpPr/>
          <p:nvPr/>
        </p:nvSpPr>
        <p:spPr>
          <a:xfrm>
            <a:off x="812800" y="5417443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09:58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Calada</a:t>
            </a:r>
            <a:endParaRPr lang="en-US" sz="1200" dirty="0"/>
          </a:p>
        </p:txBody>
      </p:sp>
      <p:pic>
        <p:nvPicPr>
          <p:cNvPr id="53" name="Image 4" descr="Cámara 10:42 · Balanza de salida">    </p:cNvPr>
          <p:cNvPicPr>
            <a:picLocks noChangeAspect="1"/>
          </p:cNvPicPr>
          <p:nvPr/>
        </p:nvPicPr>
        <p:blipFill>
          <a:blip r:embed="rId5"/>
          <a:srcRect l="0" r="0" t="31" b="31"/>
          <a:stretch/>
        </p:blipFill>
        <p:spPr>
          <a:xfrm>
            <a:off x="3486150" y="3842643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4" name="Text 47"/>
          <p:cNvSpPr/>
          <p:nvPr/>
        </p:nvSpPr>
        <p:spPr>
          <a:xfrm>
            <a:off x="3486150" y="5417443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10:42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Balanza de salida</a:t>
            </a:r>
            <a:endParaRPr lang="en-US" sz="1200" dirty="0"/>
          </a:p>
        </p:txBody>
      </p:sp>
      <p:pic>
        <p:nvPicPr>
          <p:cNvPr id="55" name="Image 5" descr="Cámara 12:01 · Ingreso Ricardone">    </p:cNvPr>
          <p:cNvPicPr>
            <a:picLocks noChangeAspect="1"/>
          </p:cNvPicPr>
          <p:nvPr/>
        </p:nvPicPr>
        <p:blipFill>
          <a:blip r:embed="rId6"/>
          <a:srcRect l="0" r="0" t="31" b="31"/>
          <a:stretch/>
        </p:blipFill>
        <p:spPr>
          <a:xfrm>
            <a:off x="6159500" y="3842643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6" name="Text 48"/>
          <p:cNvSpPr/>
          <p:nvPr/>
        </p:nvSpPr>
        <p:spPr>
          <a:xfrm>
            <a:off x="6159500" y="5417443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12:01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Ingreso Ricardone</a:t>
            </a:r>
            <a:endParaRPr lang="en-US" sz="1200" dirty="0"/>
          </a:p>
        </p:txBody>
      </p:sp>
      <p:pic>
        <p:nvPicPr>
          <p:cNvPr id="57" name="Image 6" descr="Cámara 14:06 · Volcable 5">    </p:cNvPr>
          <p:cNvPicPr>
            <a:picLocks noChangeAspect="1"/>
          </p:cNvPicPr>
          <p:nvPr/>
        </p:nvPicPr>
        <p:blipFill>
          <a:blip r:embed="rId7"/>
          <a:srcRect l="0" r="0" t="31" b="31"/>
          <a:stretch/>
        </p:blipFill>
        <p:spPr>
          <a:xfrm>
            <a:off x="8832850" y="3842643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8" name="Text 49"/>
          <p:cNvSpPr/>
          <p:nvPr/>
        </p:nvSpPr>
        <p:spPr>
          <a:xfrm>
            <a:off x="8832850" y="5417443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14:06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Volcable 5</a:t>
            </a:r>
            <a:endParaRPr lang="en-US" sz="1200" dirty="0"/>
          </a:p>
        </p:txBody>
      </p:sp>
      <p:sp>
        <p:nvSpPr>
          <p:cNvPr id="59" name="Text 50"/>
          <p:cNvSpPr/>
          <p:nvPr/>
        </p:nvSpPr>
        <p:spPr>
          <a:xfrm>
            <a:off x="812800" y="6192540"/>
            <a:ext cx="365152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Comité de Seguridad · 24 al 30/09/2026 · 8</a:t>
            </a:r>
            <a:endParaRPr lang="en-US" sz="1200" dirty="0"/>
          </a:p>
        </p:txBody>
      </p:sp>
      <p:pic>
        <p:nvPicPr>
          <p:cNvPr id="60" name="Image 7" descr="Nueva Vicentin Argentina">    </p:cNvPr>
          <p:cNvPicPr>
            <a:picLocks noChangeAspect="1"/>
          </p:cNvPicPr>
          <p:nvPr/>
        </p:nvPicPr>
        <p:blipFill>
          <a:blip r:embed="rId8"/>
          <a:srcRect l="-167" r="-167" t="0" b="0"/>
          <a:stretch/>
        </p:blipFill>
        <p:spPr>
          <a:xfrm>
            <a:off x="9893300" y="6172200"/>
            <a:ext cx="476250" cy="254000"/>
          </a:xfrm>
          <a:prstGeom prst="rect">
            <a:avLst/>
          </a:prstGeom>
        </p:spPr>
      </p:pic>
      <p:pic>
        <p:nvPicPr>
          <p:cNvPr id="61" name="Image 8" descr="Bimtrazer">    </p:cNvPr>
          <p:cNvPicPr>
            <a:picLocks noChangeAspect="1"/>
          </p:cNvPicPr>
          <p:nvPr/>
        </p:nvPicPr>
        <p:blipFill>
          <a:blip r:embed="rId9"/>
          <a:srcRect l="0" r="0" t="-63" b="-63"/>
          <a:stretch/>
        </p:blipFill>
        <p:spPr>
          <a:xfrm>
            <a:off x="10623550" y="6121400"/>
            <a:ext cx="75565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5500" y="1059061"/>
            <a:ext cx="2133600" cy="810220"/>
          </a:xfrm>
          <a:prstGeom prst="roundRect">
            <a:avLst>
              <a:gd name="adj" fmla="val 9405"/>
            </a:avLst>
          </a:prstGeom>
          <a:solidFill>
            <a:srgbClr val="FFFFFF"/>
          </a:solidFill>
          <a:ln w="25400">
            <a:solidFill>
              <a:srgbClr val="1B24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8200" y="1071761"/>
            <a:ext cx="2108200" cy="139700"/>
          </a:xfrm>
          <a:custGeom>
            <a:avLst/>
            <a:gdLst/>
            <a:ahLst/>
            <a:cxnLst/>
            <a:rect l="l" t="t" r="r" b="b"/>
            <a:pathLst>
              <a:path w="2108200" h="139700">
                <a:moveTo>
                  <a:pt x="0" y="63500"/>
                </a:moveTo>
                <a:arcTo hR="63500" wR="63500" stAng="10800000" swAng="5400000"/>
                <a:lnTo>
                  <a:pt x="2044700" y="0"/>
                </a:lnTo>
                <a:arcTo hR="63500" wR="63500" stAng="16200000" swAng="5400000"/>
                <a:lnTo>
                  <a:pt x="2108200" y="139700"/>
                </a:lnTo>
                <a:lnTo>
                  <a:pt x="0" y="139700"/>
                </a:lnTo>
                <a:close/>
              </a:path>
            </a:pathLst>
          </a:custGeom>
          <a:solidFill>
            <a:srgbClr val="1F3F8C"/>
          </a:solidFill>
          <a:ln/>
        </p:spPr>
      </p:sp>
      <p:sp>
        <p:nvSpPr>
          <p:cNvPr id="4" name="Text 2"/>
          <p:cNvSpPr/>
          <p:nvPr/>
        </p:nvSpPr>
        <p:spPr>
          <a:xfrm>
            <a:off x="806577" y="1236861"/>
            <a:ext cx="217144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b="1" spc="100" kern="0" dirty="0">
                <a:solidFill>
                  <a:srgbClr val="1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KNP563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25800" y="711200"/>
            <a:ext cx="83980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27/09 · SOJA</a:t>
            </a:r>
            <a:endParaRPr lang="en-US" sz="1200" dirty="0"/>
          </a:p>
        </p:txBody>
      </p:sp>
      <p:sp>
        <p:nvSpPr>
          <p:cNvPr id="6" name="Text 4"/>
          <p:cNvSpPr/>
          <p:nvPr>
            <p:ph type="title"/>
          </p:nvPr>
        </p:nvSpPr>
        <p:spPr>
          <a:xfrm>
            <a:off x="3225800" y="1013420"/>
            <a:ext cx="8398002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i="0" dirty="0">
                <a:solidFill>
                  <a:srgbClr val="1B242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Salió del puerto a los 20 minutos y descargó 13 horas después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25800" y="1744861"/>
            <a:ext cx="3031728" cy="472380"/>
          </a:xfrm>
          <a:prstGeom prst="roundRect">
            <a:avLst>
              <a:gd name="adj" fmla="val 50000"/>
            </a:avLst>
          </a:prstGeom>
          <a:solidFill>
            <a:srgbClr val="FBE9E4"/>
          </a:solidFill>
          <a:ln/>
        </p:spPr>
      </p:sp>
      <p:sp>
        <p:nvSpPr>
          <p:cNvPr id="8" name="Text 6"/>
          <p:cNvSpPr/>
          <p:nvPr/>
        </p:nvSpPr>
        <p:spPr>
          <a:xfrm>
            <a:off x="3378200" y="1821061"/>
            <a:ext cx="855563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83A2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20 min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71863" y="1890911"/>
            <a:ext cx="1888263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 el puerto sin descargar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59128" y="1744861"/>
            <a:ext cx="2566095" cy="472380"/>
          </a:xfrm>
          <a:prstGeom prst="roundRect">
            <a:avLst>
              <a:gd name="adj" fmla="val 50000"/>
            </a:avLst>
          </a:prstGeom>
          <a:solidFill>
            <a:srgbClr val="FDEEDD"/>
          </a:solidFill>
          <a:ln/>
        </p:spPr>
      </p:sp>
      <p:sp>
        <p:nvSpPr>
          <p:cNvPr id="11" name="Text 9"/>
          <p:cNvSpPr/>
          <p:nvPr/>
        </p:nvSpPr>
        <p:spPr>
          <a:xfrm>
            <a:off x="6511528" y="1821061"/>
            <a:ext cx="1085056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8560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12 h 58 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34684" y="1890911"/>
            <a:ext cx="1188938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hasta descargar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2407741"/>
            <a:ext cx="2094111" cy="1069181"/>
          </a:xfrm>
          <a:prstGeom prst="roundRect">
            <a:avLst>
              <a:gd name="adj" fmla="val 11878"/>
            </a:avLst>
          </a:prstGeom>
          <a:solidFill>
            <a:srgbClr val="E3F1FA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" y="2496641"/>
            <a:ext cx="19999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RICARDONE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5350" y="2779812"/>
            <a:ext cx="932755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2F8F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7877" y="2862362"/>
            <a:ext cx="55850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00:32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1700" y="3123902"/>
            <a:ext cx="920055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Pre-ingreso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91605" y="2779812"/>
            <a:ext cx="932755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2F8F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01155" y="2862362"/>
            <a:ext cx="56435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03:08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062063" y="3123902"/>
            <a:ext cx="591741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Calada</a:t>
            </a:r>
            <a:endParaRPr lang="en-US" sz="1200" dirty="0"/>
          </a:p>
        </p:txBody>
      </p:sp>
      <p:pic>
        <p:nvPicPr>
          <p:cNvPr id="21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70411" y="2980432"/>
            <a:ext cx="279400" cy="1651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3313311" y="2407741"/>
            <a:ext cx="3064867" cy="1069181"/>
          </a:xfrm>
          <a:prstGeom prst="roundRect">
            <a:avLst>
              <a:gd name="adj" fmla="val 11878"/>
            </a:avLst>
          </a:prstGeom>
          <a:solidFill>
            <a:srgbClr val="FDEEDD"/>
          </a:solidFill>
          <a:ln/>
        </p:spPr>
      </p:sp>
      <p:sp>
        <p:nvSpPr>
          <p:cNvPr id="23" name="Text 20"/>
          <p:cNvSpPr/>
          <p:nvPr/>
        </p:nvSpPr>
        <p:spPr>
          <a:xfrm>
            <a:off x="3389511" y="2496641"/>
            <a:ext cx="29998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 LORENZO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395861" y="2779812"/>
            <a:ext cx="919956" cy="614561"/>
          </a:xfrm>
          <a:prstGeom prst="roundRect">
            <a:avLst>
              <a:gd name="adj" fmla="val 13432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598565" y="2862362"/>
            <a:ext cx="56534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03:34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535690" y="3123902"/>
            <a:ext cx="640199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Ingreso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379317" y="2779812"/>
            <a:ext cx="920055" cy="614561"/>
          </a:xfrm>
          <a:prstGeom prst="roundRect">
            <a:avLst>
              <a:gd name="adj" fmla="val 13432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85891" y="2862362"/>
            <a:ext cx="557609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03:37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501991" y="3123902"/>
            <a:ext cx="674608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Balanza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366048" y="2782987"/>
            <a:ext cx="926405" cy="608211"/>
          </a:xfrm>
          <a:prstGeom prst="roundRect">
            <a:avLst>
              <a:gd name="adj" fmla="val 13051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70736" y="2868712"/>
            <a:ext cx="56773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03:54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532259" y="3130252"/>
            <a:ext cx="593884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Egreso</a:t>
            </a:r>
            <a:endParaRPr lang="en-US" sz="1200" dirty="0"/>
          </a:p>
        </p:txBody>
      </p:sp>
      <p:pic>
        <p:nvPicPr>
          <p:cNvPr id="3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41678" y="2980432"/>
            <a:ext cx="279400" cy="165100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6784578" y="2407741"/>
            <a:ext cx="2094111" cy="1069181"/>
          </a:xfrm>
          <a:prstGeom prst="roundRect">
            <a:avLst>
              <a:gd name="adj" fmla="val 11878"/>
            </a:avLst>
          </a:prstGeom>
          <a:solidFill>
            <a:srgbClr val="E3F1FA"/>
          </a:solidFill>
          <a:ln/>
        </p:spPr>
      </p:sp>
      <p:sp>
        <p:nvSpPr>
          <p:cNvPr id="35" name="Text 31"/>
          <p:cNvSpPr/>
          <p:nvPr/>
        </p:nvSpPr>
        <p:spPr>
          <a:xfrm>
            <a:off x="6860778" y="2496641"/>
            <a:ext cx="19999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RICARDONE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6870303" y="2782987"/>
            <a:ext cx="926405" cy="608211"/>
          </a:xfrm>
          <a:prstGeom prst="roundRect">
            <a:avLst>
              <a:gd name="adj" fmla="val 13051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7097415" y="2868712"/>
            <a:ext cx="52288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12:36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7013406" y="3130252"/>
            <a:ext cx="640199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Ingreso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7866559" y="2782987"/>
            <a:ext cx="926405" cy="608211"/>
          </a:xfrm>
          <a:prstGeom prst="roundRect">
            <a:avLst>
              <a:gd name="adj" fmla="val 13051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8089999" y="2868712"/>
            <a:ext cx="53022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15:48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7913588" y="3130252"/>
            <a:ext cx="832247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2.ª calada</a:t>
            </a:r>
            <a:endParaRPr lang="en-US" sz="1200" dirty="0"/>
          </a:p>
        </p:txBody>
      </p:sp>
      <p:pic>
        <p:nvPicPr>
          <p:cNvPr id="42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942189" y="2980432"/>
            <a:ext cx="279400" cy="165100"/>
          </a:xfrm>
          <a:prstGeom prst="rect">
            <a:avLst/>
          </a:prstGeom>
        </p:spPr>
      </p:pic>
      <p:sp>
        <p:nvSpPr>
          <p:cNvPr id="43" name="Shape 38"/>
          <p:cNvSpPr/>
          <p:nvPr/>
        </p:nvSpPr>
        <p:spPr>
          <a:xfrm>
            <a:off x="9285089" y="2407741"/>
            <a:ext cx="2094111" cy="1069181"/>
          </a:xfrm>
          <a:prstGeom prst="roundRect">
            <a:avLst>
              <a:gd name="adj" fmla="val 11878"/>
            </a:avLst>
          </a:prstGeom>
          <a:solidFill>
            <a:srgbClr val="FDEEDD"/>
          </a:solidFill>
          <a:ln/>
        </p:spPr>
      </p:sp>
      <p:sp>
        <p:nvSpPr>
          <p:cNvPr id="44" name="Text 39"/>
          <p:cNvSpPr/>
          <p:nvPr/>
        </p:nvSpPr>
        <p:spPr>
          <a:xfrm>
            <a:off x="9361289" y="2496641"/>
            <a:ext cx="19999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 LORENZO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9367639" y="2779812"/>
            <a:ext cx="932755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9596735" y="2862362"/>
            <a:ext cx="52536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16:24</a:t>
            </a:r>
            <a:endParaRPr lang="en-US" sz="1400" dirty="0"/>
          </a:p>
        </p:txBody>
      </p:sp>
      <p:sp>
        <p:nvSpPr>
          <p:cNvPr id="47" name="Text 42"/>
          <p:cNvSpPr/>
          <p:nvPr/>
        </p:nvSpPr>
        <p:spPr>
          <a:xfrm>
            <a:off x="9537015" y="3123902"/>
            <a:ext cx="594003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Calado</a:t>
            </a:r>
            <a:endParaRPr lang="en-US" sz="1200" dirty="0"/>
          </a:p>
        </p:txBody>
      </p:sp>
      <p:sp>
        <p:nvSpPr>
          <p:cNvPr id="48" name="Shape 43"/>
          <p:cNvSpPr/>
          <p:nvPr/>
        </p:nvSpPr>
        <p:spPr>
          <a:xfrm>
            <a:off x="10363895" y="2779812"/>
            <a:ext cx="932755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10592991" y="2862362"/>
            <a:ext cx="52526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16:52</a:t>
            </a:r>
            <a:endParaRPr lang="en-US" sz="1400" dirty="0"/>
          </a:p>
        </p:txBody>
      </p:sp>
      <p:sp>
        <p:nvSpPr>
          <p:cNvPr id="50" name="Text 45"/>
          <p:cNvSpPr/>
          <p:nvPr/>
        </p:nvSpPr>
        <p:spPr>
          <a:xfrm>
            <a:off x="10388253" y="3123902"/>
            <a:ext cx="884039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Volcable 2</a:t>
            </a:r>
            <a:endParaRPr lang="en-US" sz="1200" dirty="0"/>
          </a:p>
        </p:txBody>
      </p:sp>
      <p:pic>
        <p:nvPicPr>
          <p:cNvPr id="51" name="Image 3" descr="Cámara 03:08 · Calada">    </p:cNvPr>
          <p:cNvPicPr>
            <a:picLocks noChangeAspect="1"/>
          </p:cNvPicPr>
          <p:nvPr/>
        </p:nvPicPr>
        <p:blipFill>
          <a:blip r:embed="rId4"/>
          <a:srcRect l="0" r="0" t="31" b="31"/>
          <a:stretch/>
        </p:blipFill>
        <p:spPr>
          <a:xfrm>
            <a:off x="812800" y="3667423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2" name="Text 46"/>
          <p:cNvSpPr/>
          <p:nvPr/>
        </p:nvSpPr>
        <p:spPr>
          <a:xfrm>
            <a:off x="812800" y="5242223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03:08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Calada</a:t>
            </a:r>
            <a:endParaRPr lang="en-US" sz="1200" dirty="0"/>
          </a:p>
        </p:txBody>
      </p:sp>
      <p:pic>
        <p:nvPicPr>
          <p:cNvPr id="53" name="Image 4" descr="Cámara 03:54 · Egreso puerto">    </p:cNvPr>
          <p:cNvPicPr>
            <a:picLocks noChangeAspect="1"/>
          </p:cNvPicPr>
          <p:nvPr/>
        </p:nvPicPr>
        <p:blipFill>
          <a:blip r:embed="rId5"/>
          <a:srcRect l="0" r="0" t="31" b="31"/>
          <a:stretch/>
        </p:blipFill>
        <p:spPr>
          <a:xfrm>
            <a:off x="3486150" y="3667423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4" name="Text 47"/>
          <p:cNvSpPr/>
          <p:nvPr/>
        </p:nvSpPr>
        <p:spPr>
          <a:xfrm>
            <a:off x="3486150" y="5242223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03:54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Egreso puerto</a:t>
            </a:r>
            <a:endParaRPr lang="en-US" sz="1200" dirty="0"/>
          </a:p>
        </p:txBody>
      </p:sp>
      <p:pic>
        <p:nvPicPr>
          <p:cNvPr id="55" name="Image 5" descr="Cámara 12:36 · Ingreso Ricardone">    </p:cNvPr>
          <p:cNvPicPr>
            <a:picLocks noChangeAspect="1"/>
          </p:cNvPicPr>
          <p:nvPr/>
        </p:nvPicPr>
        <p:blipFill>
          <a:blip r:embed="rId6"/>
          <a:srcRect l="0" r="0" t="31" b="31"/>
          <a:stretch/>
        </p:blipFill>
        <p:spPr>
          <a:xfrm>
            <a:off x="6159500" y="3667423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6" name="Text 48"/>
          <p:cNvSpPr/>
          <p:nvPr/>
        </p:nvSpPr>
        <p:spPr>
          <a:xfrm>
            <a:off x="6159500" y="5242223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12:36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Ingreso Ricardone</a:t>
            </a:r>
            <a:endParaRPr lang="en-US" sz="1200" dirty="0"/>
          </a:p>
        </p:txBody>
      </p:sp>
      <p:pic>
        <p:nvPicPr>
          <p:cNvPr id="57" name="Image 6" descr="Cámara 16:52 · Volcable 2">    </p:cNvPr>
          <p:cNvPicPr>
            <a:picLocks noChangeAspect="1"/>
          </p:cNvPicPr>
          <p:nvPr/>
        </p:nvPicPr>
        <p:blipFill>
          <a:blip r:embed="rId7"/>
          <a:srcRect l="0" r="0" t="31" b="31"/>
          <a:stretch/>
        </p:blipFill>
        <p:spPr>
          <a:xfrm>
            <a:off x="8832850" y="3667423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8" name="Text 49"/>
          <p:cNvSpPr/>
          <p:nvPr/>
        </p:nvSpPr>
        <p:spPr>
          <a:xfrm>
            <a:off x="8832850" y="5242223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16:52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Volcable 2</a:t>
            </a:r>
            <a:endParaRPr lang="en-US" sz="1200" dirty="0"/>
          </a:p>
        </p:txBody>
      </p:sp>
      <p:sp>
        <p:nvSpPr>
          <p:cNvPr id="59" name="Text 50"/>
          <p:cNvSpPr/>
          <p:nvPr/>
        </p:nvSpPr>
        <p:spPr>
          <a:xfrm>
            <a:off x="812800" y="6192540"/>
            <a:ext cx="364736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Comité de Seguridad · 24 al 30/09/2026 · 9</a:t>
            </a:r>
            <a:endParaRPr lang="en-US" sz="1200" dirty="0"/>
          </a:p>
        </p:txBody>
      </p:sp>
      <p:pic>
        <p:nvPicPr>
          <p:cNvPr id="60" name="Image 7" descr="Nueva Vicentin Argentina">    </p:cNvPr>
          <p:cNvPicPr>
            <a:picLocks noChangeAspect="1"/>
          </p:cNvPicPr>
          <p:nvPr/>
        </p:nvPicPr>
        <p:blipFill>
          <a:blip r:embed="rId8"/>
          <a:srcRect l="-167" r="-167" t="0" b="0"/>
          <a:stretch/>
        </p:blipFill>
        <p:spPr>
          <a:xfrm>
            <a:off x="9893300" y="6172200"/>
            <a:ext cx="476250" cy="254000"/>
          </a:xfrm>
          <a:prstGeom prst="rect">
            <a:avLst/>
          </a:prstGeom>
        </p:spPr>
      </p:pic>
      <p:pic>
        <p:nvPicPr>
          <p:cNvPr id="61" name="Image 8" descr="Bimtrazer">    </p:cNvPr>
          <p:cNvPicPr>
            <a:picLocks noChangeAspect="1"/>
          </p:cNvPicPr>
          <p:nvPr/>
        </p:nvPicPr>
        <p:blipFill>
          <a:blip r:embed="rId9"/>
          <a:srcRect l="0" r="0" t="-63" b="-63"/>
          <a:stretch/>
        </p:blipFill>
        <p:spPr>
          <a:xfrm>
            <a:off x="10623550" y="6121400"/>
            <a:ext cx="75565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69765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8C7BB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02</a:t>
            </a:r>
            <a:endParaRPr lang="en-US" sz="10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268365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BFBF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Calles del puerto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4055765"/>
            <a:ext cx="9156700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DCD5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Sobre 636 descargas con volcable declarado y lectura de cámara, una sola terminó en otra calle. Se suman dos recorridos que no son de una descarga normal.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6192540"/>
            <a:ext cx="37195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E3D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Comité de Seguridad · 24 al 30/09/2026 · 10</a:t>
            </a:r>
            <a:endParaRPr lang="en-US" sz="1200" dirty="0"/>
          </a:p>
        </p:txBody>
      </p:sp>
      <p:pic>
        <p:nvPicPr>
          <p:cNvPr id="6" name="Image 0" descr="Nueva Vicentin Argentina">    </p:cNvPr>
          <p:cNvPicPr>
            <a:picLocks noChangeAspect="1"/>
          </p:cNvPicPr>
          <p:nvPr/>
        </p:nvPicPr>
        <p:blipFill>
          <a:blip r:embed="rId1"/>
          <a:srcRect l="-167" r="-167" t="0" b="0"/>
          <a:stretch/>
        </p:blipFill>
        <p:spPr>
          <a:xfrm>
            <a:off x="9893300" y="6172200"/>
            <a:ext cx="476250" cy="254000"/>
          </a:xfrm>
          <a:prstGeom prst="rect">
            <a:avLst/>
          </a:prstGeom>
        </p:spPr>
      </p:pic>
      <p:pic>
        <p:nvPicPr>
          <p:cNvPr id="7" name="Image 1" descr="Bimtrazer">    </p:cNvPr>
          <p:cNvPicPr>
            <a:picLocks noChangeAspect="1"/>
          </p:cNvPicPr>
          <p:nvPr/>
        </p:nvPicPr>
        <p:blipFill>
          <a:blip r:embed="rId2"/>
          <a:srcRect l="0" r="0" t="-63" b="-63"/>
          <a:stretch/>
        </p:blipFill>
        <p:spPr>
          <a:xfrm>
            <a:off x="10623550" y="6121400"/>
            <a:ext cx="75565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CALLE DE DESCARGA · PUERTO SAN LORENZO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088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0B563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Calles: otra calle y dos calles en la misma visita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2800" y="1843980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9150" y="1837630"/>
            <a:ext cx="0" cy="257175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5200" y="1964630"/>
          <a:ext cx="10274300" cy="2330450"/>
        </p:xfrm>
        <a:graphic>
          <a:graphicData uri="http://schemas.openxmlformats.org/drawingml/2006/table">
            <a:tbl>
              <a:tblPr/>
              <a:tblGrid>
                <a:gridCol w="1541145"/>
                <a:gridCol w="1130173"/>
                <a:gridCol w="2671318"/>
                <a:gridCol w="4931664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Patente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Fecha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Excel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Cámara de la calle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AD745GM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24/09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B5638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Soja · Volcable 5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83A2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Calle 4 · 00:10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D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HYC360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26/09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B5638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Soja · Volcable 5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83A2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Calle 1 · 10:19, luego calle 5 · 10:32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EEW075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24/09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B5638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Transile de soja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83A2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Calle 3 · 05:26, calles 3 y 4 · 05:29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D"/>
                    </a:solidFill>
                  </a:tcPr>
                </a:tc>
              </a:tr>
              <a:tr h="6794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KEB002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30/09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B5638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Despacho de cáscara pelleteada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83A2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Calle 2 · 11:52, calle 3 · 12:42, calle 2 · 13:13, calle 3 · 13:34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4637980"/>
            <a:ext cx="1088339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AD745GM descargó en la calle 4 con el volcable 5 declarado. HYC360 pasó por la calle 1, que casi no se usa. EEW075 y KEB002 tienen lámina propia.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2800" y="6192540"/>
            <a:ext cx="36820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Comité de Seguridad · 24 al 30/09/2026 · 11</a:t>
            </a:r>
            <a:endParaRPr lang="en-US" sz="1200" dirty="0"/>
          </a:p>
        </p:txBody>
      </p:sp>
      <p:pic>
        <p:nvPicPr>
          <p:cNvPr id="9" name="Image 0" descr="Nueva Vicentin Argentina">    </p:cNvPr>
          <p:cNvPicPr>
            <a:picLocks noChangeAspect="1"/>
          </p:cNvPicPr>
          <p:nvPr/>
        </p:nvPicPr>
        <p:blipFill>
          <a:blip r:embed="rId1"/>
          <a:srcRect l="-167" r="-167" t="0" b="0"/>
          <a:stretch/>
        </p:blipFill>
        <p:spPr>
          <a:xfrm>
            <a:off x="9893300" y="6172200"/>
            <a:ext cx="476250" cy="254000"/>
          </a:xfrm>
          <a:prstGeom prst="rect">
            <a:avLst/>
          </a:prstGeom>
        </p:spPr>
      </p:pic>
      <p:pic>
        <p:nvPicPr>
          <p:cNvPr id="10" name="Image 1" descr="Bimtrazer">    </p:cNvPr>
          <p:cNvPicPr>
            <a:picLocks noChangeAspect="1"/>
          </p:cNvPicPr>
          <p:nvPr/>
        </p:nvPicPr>
        <p:blipFill>
          <a:blip r:embed="rId2"/>
          <a:srcRect l="0" r="0" t="-63" b="-63"/>
          <a:stretch/>
        </p:blipFill>
        <p:spPr>
          <a:xfrm>
            <a:off x="10623550" y="6121400"/>
            <a:ext cx="75565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5500" y="1059061"/>
            <a:ext cx="2133600" cy="810220"/>
          </a:xfrm>
          <a:prstGeom prst="roundRect">
            <a:avLst>
              <a:gd name="adj" fmla="val 9405"/>
            </a:avLst>
          </a:prstGeom>
          <a:solidFill>
            <a:srgbClr val="FFFFFF"/>
          </a:solidFill>
          <a:ln w="25400">
            <a:solidFill>
              <a:srgbClr val="1B24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8200" y="1071761"/>
            <a:ext cx="2108200" cy="139700"/>
          </a:xfrm>
          <a:custGeom>
            <a:avLst/>
            <a:gdLst/>
            <a:ahLst/>
            <a:cxnLst/>
            <a:rect l="l" t="t" r="r" b="b"/>
            <a:pathLst>
              <a:path w="2108200" h="139700">
                <a:moveTo>
                  <a:pt x="0" y="63500"/>
                </a:moveTo>
                <a:arcTo hR="63500" wR="63500" stAng="10800000" swAng="5400000"/>
                <a:lnTo>
                  <a:pt x="2044700" y="0"/>
                </a:lnTo>
                <a:arcTo hR="63500" wR="63500" stAng="16200000" swAng="5400000"/>
                <a:lnTo>
                  <a:pt x="2108200" y="139700"/>
                </a:lnTo>
                <a:lnTo>
                  <a:pt x="0" y="139700"/>
                </a:lnTo>
                <a:close/>
              </a:path>
            </a:pathLst>
          </a:custGeom>
          <a:solidFill>
            <a:srgbClr val="1F3F8C"/>
          </a:solidFill>
          <a:ln/>
        </p:spPr>
      </p:sp>
      <p:sp>
        <p:nvSpPr>
          <p:cNvPr id="4" name="Text 2"/>
          <p:cNvSpPr/>
          <p:nvPr/>
        </p:nvSpPr>
        <p:spPr>
          <a:xfrm>
            <a:off x="806577" y="1236861"/>
            <a:ext cx="217144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b="1" spc="100" kern="0" dirty="0">
                <a:solidFill>
                  <a:srgbClr val="1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KEB002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25800" y="711200"/>
            <a:ext cx="83980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29 Y 30/09 · DESPACHO CÁSCARA DE SOJA</a:t>
            </a:r>
            <a:endParaRPr lang="en-US" sz="1200" dirty="0"/>
          </a:p>
        </p:txBody>
      </p:sp>
      <p:sp>
        <p:nvSpPr>
          <p:cNvPr id="6" name="Text 4"/>
          <p:cNvSpPr/>
          <p:nvPr>
            <p:ph type="title"/>
          </p:nvPr>
        </p:nvSpPr>
        <p:spPr>
          <a:xfrm>
            <a:off x="3225800" y="1013420"/>
            <a:ext cx="8398002" cy="667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i="0" dirty="0">
                <a:solidFill>
                  <a:srgbClr val="1B242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Camión de despacho que cargó en las calles de descarga del puerto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25800" y="1744861"/>
            <a:ext cx="2454573" cy="472380"/>
          </a:xfrm>
          <a:prstGeom prst="roundRect">
            <a:avLst>
              <a:gd name="adj" fmla="val 50000"/>
            </a:avLst>
          </a:prstGeom>
          <a:solidFill>
            <a:srgbClr val="FBE9E4"/>
          </a:solidFill>
          <a:ln/>
        </p:spPr>
      </p:sp>
      <p:sp>
        <p:nvSpPr>
          <p:cNvPr id="8" name="Text 6"/>
          <p:cNvSpPr/>
          <p:nvPr/>
        </p:nvSpPr>
        <p:spPr>
          <a:xfrm>
            <a:off x="3378200" y="1821061"/>
            <a:ext cx="181868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83A2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98168" y="1890911"/>
            <a:ext cx="1987699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pasadas por las calles 2 y 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781973" y="1744861"/>
            <a:ext cx="1957685" cy="472380"/>
          </a:xfrm>
          <a:prstGeom prst="roundRect">
            <a:avLst>
              <a:gd name="adj" fmla="val 50000"/>
            </a:avLst>
          </a:prstGeom>
          <a:solidFill>
            <a:srgbClr val="FDEEDD"/>
          </a:solidFill>
          <a:ln/>
        </p:spPr>
      </p:sp>
      <p:sp>
        <p:nvSpPr>
          <p:cNvPr id="11" name="Text 9"/>
          <p:cNvSpPr/>
          <p:nvPr/>
        </p:nvSpPr>
        <p:spPr>
          <a:xfrm>
            <a:off x="5934373" y="1821061"/>
            <a:ext cx="188020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8560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60492" y="1890911"/>
            <a:ext cx="1477566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caladas en el puerto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2407741"/>
            <a:ext cx="1741091" cy="1244402"/>
          </a:xfrm>
          <a:prstGeom prst="roundRect">
            <a:avLst>
              <a:gd name="adj" fmla="val 10206"/>
            </a:avLst>
          </a:prstGeom>
          <a:solidFill>
            <a:srgbClr val="E3F1FA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" y="2496641"/>
            <a:ext cx="16394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RICARDONE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5350" y="2779812"/>
            <a:ext cx="756245" cy="777081"/>
          </a:xfrm>
          <a:prstGeom prst="roundRect">
            <a:avLst>
              <a:gd name="adj" fmla="val 10916"/>
            </a:avLst>
          </a:prstGeom>
          <a:solidFill>
            <a:srgbClr val="FFFFFF"/>
          </a:solidFill>
          <a:ln w="12700">
            <a:solidFill>
              <a:srgbClr val="2F8F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1284" y="2862362"/>
            <a:ext cx="109517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29/09 13:52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123902"/>
            <a:ext cx="718145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Pre-ingreso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715095" y="2779812"/>
            <a:ext cx="756245" cy="777081"/>
          </a:xfrm>
          <a:prstGeom prst="roundRect">
            <a:avLst>
              <a:gd name="adj" fmla="val 10916"/>
            </a:avLst>
          </a:prstGeom>
          <a:solidFill>
            <a:srgbClr val="FFFFFF"/>
          </a:solidFill>
          <a:ln w="12700">
            <a:solidFill>
              <a:srgbClr val="2F8F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39218" y="2862362"/>
            <a:ext cx="55870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07:38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734145" y="3123902"/>
            <a:ext cx="718145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Egreso 30/09</a:t>
            </a:r>
            <a:endParaRPr lang="en-US" sz="1200" dirty="0"/>
          </a:p>
        </p:txBody>
      </p:sp>
      <p:pic>
        <p:nvPicPr>
          <p:cNvPr id="21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617391" y="3068042"/>
            <a:ext cx="279400" cy="1651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2960291" y="2407741"/>
            <a:ext cx="2535337" cy="1244402"/>
          </a:xfrm>
          <a:prstGeom prst="roundRect">
            <a:avLst>
              <a:gd name="adj" fmla="val 10206"/>
            </a:avLst>
          </a:prstGeom>
          <a:solidFill>
            <a:srgbClr val="FDEEDD"/>
          </a:solidFill>
          <a:ln/>
        </p:spPr>
      </p:sp>
      <p:sp>
        <p:nvSpPr>
          <p:cNvPr id="23" name="Text 20"/>
          <p:cNvSpPr/>
          <p:nvPr/>
        </p:nvSpPr>
        <p:spPr>
          <a:xfrm>
            <a:off x="3036491" y="2496641"/>
            <a:ext cx="24544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 LORENZO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042841" y="2779812"/>
            <a:ext cx="747713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164780" y="2862362"/>
            <a:ext cx="554633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07:52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096548" y="3123902"/>
            <a:ext cx="640199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Ingreso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854053" y="2779812"/>
            <a:ext cx="747812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969941" y="2862362"/>
            <a:ext cx="56673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08:05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930958" y="3123902"/>
            <a:ext cx="594003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Calado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665365" y="2779812"/>
            <a:ext cx="747713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822130" y="2862362"/>
            <a:ext cx="48488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11:26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4701917" y="3123902"/>
            <a:ext cx="674608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Balanza</a:t>
            </a:r>
            <a:endParaRPr lang="en-US" sz="1200" dirty="0"/>
          </a:p>
        </p:txBody>
      </p:sp>
      <p:pic>
        <p:nvPicPr>
          <p:cNvPr id="3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559127" y="3068042"/>
            <a:ext cx="279400" cy="165100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5902027" y="2407741"/>
            <a:ext cx="2535436" cy="1244402"/>
          </a:xfrm>
          <a:prstGeom prst="roundRect">
            <a:avLst>
              <a:gd name="adj" fmla="val 10206"/>
            </a:avLst>
          </a:prstGeom>
          <a:solidFill>
            <a:srgbClr val="FDEEDD"/>
          </a:solidFill>
          <a:ln/>
        </p:spPr>
      </p:sp>
      <p:sp>
        <p:nvSpPr>
          <p:cNvPr id="35" name="Text 31"/>
          <p:cNvSpPr/>
          <p:nvPr/>
        </p:nvSpPr>
        <p:spPr>
          <a:xfrm>
            <a:off x="5978227" y="2496641"/>
            <a:ext cx="24545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 LORENZO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5987752" y="2782987"/>
            <a:ext cx="741363" cy="608211"/>
          </a:xfrm>
          <a:prstGeom prst="roundRect">
            <a:avLst>
              <a:gd name="adj" fmla="val 13051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141839" y="2868712"/>
            <a:ext cx="48389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11:52</a:t>
            </a:r>
            <a:endParaRPr lang="en-US" sz="1400" dirty="0"/>
          </a:p>
        </p:txBody>
      </p:sp>
      <p:sp>
        <p:nvSpPr>
          <p:cNvPr id="38" name="Text 34"/>
          <p:cNvSpPr/>
          <p:nvPr/>
        </p:nvSpPr>
        <p:spPr>
          <a:xfrm>
            <a:off x="6065788" y="3130252"/>
            <a:ext cx="585192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Calle 2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6798965" y="2782987"/>
            <a:ext cx="741462" cy="608211"/>
          </a:xfrm>
          <a:prstGeom prst="roundRect">
            <a:avLst>
              <a:gd name="adj" fmla="val 13051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936680" y="2868712"/>
            <a:ext cx="51673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12:42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6874004" y="3130252"/>
            <a:ext cx="591383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Calle 3</a:t>
            </a:r>
            <a:endParaRPr lang="en-US" sz="1200" dirty="0"/>
          </a:p>
        </p:txBody>
      </p:sp>
      <p:sp>
        <p:nvSpPr>
          <p:cNvPr id="42" name="Shape 38"/>
          <p:cNvSpPr/>
          <p:nvPr/>
        </p:nvSpPr>
        <p:spPr>
          <a:xfrm>
            <a:off x="7610277" y="2782987"/>
            <a:ext cx="741462" cy="608211"/>
          </a:xfrm>
          <a:prstGeom prst="roundRect">
            <a:avLst>
              <a:gd name="adj" fmla="val 13051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7762677" y="2868712"/>
            <a:ext cx="487462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13:13</a:t>
            </a:r>
            <a:endParaRPr lang="en-US" sz="1400" dirty="0"/>
          </a:p>
        </p:txBody>
      </p:sp>
      <p:sp>
        <p:nvSpPr>
          <p:cNvPr id="44" name="Text 40"/>
          <p:cNvSpPr/>
          <p:nvPr/>
        </p:nvSpPr>
        <p:spPr>
          <a:xfrm>
            <a:off x="7688411" y="3130252"/>
            <a:ext cx="585192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Calle 2</a:t>
            </a:r>
            <a:endParaRPr lang="en-US" sz="1200" dirty="0"/>
          </a:p>
        </p:txBody>
      </p:sp>
      <p:pic>
        <p:nvPicPr>
          <p:cNvPr id="45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500963" y="3068042"/>
            <a:ext cx="279400" cy="165100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8843863" y="2407741"/>
            <a:ext cx="2535337" cy="1244402"/>
          </a:xfrm>
          <a:prstGeom prst="roundRect">
            <a:avLst>
              <a:gd name="adj" fmla="val 10206"/>
            </a:avLst>
          </a:prstGeom>
          <a:solidFill>
            <a:srgbClr val="FDEEDD"/>
          </a:solidFill>
          <a:ln/>
        </p:spPr>
      </p:sp>
      <p:sp>
        <p:nvSpPr>
          <p:cNvPr id="47" name="Text 42"/>
          <p:cNvSpPr/>
          <p:nvPr/>
        </p:nvSpPr>
        <p:spPr>
          <a:xfrm>
            <a:off x="8920063" y="2496641"/>
            <a:ext cx="24544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 LORENZO</a:t>
            </a:r>
            <a:endParaRPr lang="en-US" sz="1200" dirty="0"/>
          </a:p>
        </p:txBody>
      </p:sp>
      <p:sp>
        <p:nvSpPr>
          <p:cNvPr id="48" name="Shape 43"/>
          <p:cNvSpPr/>
          <p:nvPr/>
        </p:nvSpPr>
        <p:spPr>
          <a:xfrm>
            <a:off x="8929588" y="2782987"/>
            <a:ext cx="745629" cy="783431"/>
          </a:xfrm>
          <a:prstGeom prst="roundRect">
            <a:avLst>
              <a:gd name="adj" fmla="val 10645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9063038" y="2868712"/>
            <a:ext cx="52953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13:25</a:t>
            </a:r>
            <a:endParaRPr lang="en-US" sz="1400" dirty="0"/>
          </a:p>
        </p:txBody>
      </p:sp>
      <p:sp>
        <p:nvSpPr>
          <p:cNvPr id="50" name="Text 45"/>
          <p:cNvSpPr/>
          <p:nvPr/>
        </p:nvSpPr>
        <p:spPr>
          <a:xfrm>
            <a:off x="8951813" y="3130252"/>
            <a:ext cx="701179" cy="375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2.º calado</a:t>
            </a:r>
            <a:endParaRPr lang="en-US" sz="1200" dirty="0"/>
          </a:p>
        </p:txBody>
      </p:sp>
      <p:sp>
        <p:nvSpPr>
          <p:cNvPr id="51" name="Shape 46"/>
          <p:cNvSpPr/>
          <p:nvPr/>
        </p:nvSpPr>
        <p:spPr>
          <a:xfrm>
            <a:off x="9745067" y="2782987"/>
            <a:ext cx="745629" cy="783431"/>
          </a:xfrm>
          <a:prstGeom prst="roundRect">
            <a:avLst>
              <a:gd name="adj" fmla="val 10645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9879608" y="2868712"/>
            <a:ext cx="527348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13:34</a:t>
            </a:r>
            <a:endParaRPr lang="en-US" sz="1400" dirty="0"/>
          </a:p>
        </p:txBody>
      </p:sp>
      <p:sp>
        <p:nvSpPr>
          <p:cNvPr id="53" name="Text 48"/>
          <p:cNvSpPr/>
          <p:nvPr/>
        </p:nvSpPr>
        <p:spPr>
          <a:xfrm>
            <a:off x="9822190" y="3130252"/>
            <a:ext cx="591383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Calle 3</a:t>
            </a:r>
            <a:endParaRPr lang="en-US" sz="1200" dirty="0"/>
          </a:p>
        </p:txBody>
      </p:sp>
      <p:sp>
        <p:nvSpPr>
          <p:cNvPr id="54" name="Shape 49"/>
          <p:cNvSpPr/>
          <p:nvPr/>
        </p:nvSpPr>
        <p:spPr>
          <a:xfrm>
            <a:off x="10557371" y="2779812"/>
            <a:ext cx="739279" cy="789781"/>
          </a:xfrm>
          <a:prstGeom prst="roundRect">
            <a:avLst>
              <a:gd name="adj" fmla="val 11166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10688538" y="2862362"/>
            <a:ext cx="52774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13:50</a:t>
            </a:r>
            <a:endParaRPr lang="en-US" sz="1400" dirty="0"/>
          </a:p>
        </p:txBody>
      </p:sp>
      <p:sp>
        <p:nvSpPr>
          <p:cNvPr id="56" name="Text 51"/>
          <p:cNvSpPr/>
          <p:nvPr/>
        </p:nvSpPr>
        <p:spPr>
          <a:xfrm>
            <a:off x="10630019" y="3123902"/>
            <a:ext cx="593884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Egreso</a:t>
            </a:r>
            <a:endParaRPr lang="en-US" sz="1200" dirty="0"/>
          </a:p>
        </p:txBody>
      </p:sp>
      <p:pic>
        <p:nvPicPr>
          <p:cNvPr id="57" name="Image 3" descr="Cámara 08:05 · Calado puerto">    </p:cNvPr>
          <p:cNvPicPr>
            <a:picLocks noChangeAspect="1"/>
          </p:cNvPicPr>
          <p:nvPr/>
        </p:nvPicPr>
        <p:blipFill>
          <a:blip r:embed="rId4"/>
          <a:srcRect l="0" r="0" t="31" b="31"/>
          <a:stretch/>
        </p:blipFill>
        <p:spPr>
          <a:xfrm>
            <a:off x="812800" y="3842643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8" name="Text 52"/>
          <p:cNvSpPr/>
          <p:nvPr/>
        </p:nvSpPr>
        <p:spPr>
          <a:xfrm>
            <a:off x="812800" y="5417443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08:05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Calado puerto</a:t>
            </a:r>
            <a:endParaRPr lang="en-US" sz="1200" dirty="0"/>
          </a:p>
        </p:txBody>
      </p:sp>
      <p:pic>
        <p:nvPicPr>
          <p:cNvPr id="59" name="Image 4" descr="Cámara 11:52 · Calle 2">    </p:cNvPr>
          <p:cNvPicPr>
            <a:picLocks noChangeAspect="1"/>
          </p:cNvPicPr>
          <p:nvPr/>
        </p:nvPicPr>
        <p:blipFill>
          <a:blip r:embed="rId5"/>
          <a:srcRect l="0" r="0" t="31" b="31"/>
          <a:stretch/>
        </p:blipFill>
        <p:spPr>
          <a:xfrm>
            <a:off x="3486150" y="3842643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60" name="Text 53"/>
          <p:cNvSpPr/>
          <p:nvPr/>
        </p:nvSpPr>
        <p:spPr>
          <a:xfrm>
            <a:off x="3486150" y="5417443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11:52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Calle 2</a:t>
            </a:r>
            <a:endParaRPr lang="en-US" sz="1200" dirty="0"/>
          </a:p>
        </p:txBody>
      </p:sp>
      <p:pic>
        <p:nvPicPr>
          <p:cNvPr id="61" name="Image 5" descr="Cámara 12:42 · Calle 3">    </p:cNvPr>
          <p:cNvPicPr>
            <a:picLocks noChangeAspect="1"/>
          </p:cNvPicPr>
          <p:nvPr/>
        </p:nvPicPr>
        <p:blipFill>
          <a:blip r:embed="rId6"/>
          <a:srcRect l="0" r="0" t="31" b="31"/>
          <a:stretch/>
        </p:blipFill>
        <p:spPr>
          <a:xfrm>
            <a:off x="6159500" y="3842643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62" name="Text 54"/>
          <p:cNvSpPr/>
          <p:nvPr/>
        </p:nvSpPr>
        <p:spPr>
          <a:xfrm>
            <a:off x="6159500" y="5417443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12:42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Calle 3</a:t>
            </a:r>
            <a:endParaRPr lang="en-US" sz="1200" dirty="0"/>
          </a:p>
        </p:txBody>
      </p:sp>
      <p:pic>
        <p:nvPicPr>
          <p:cNvPr id="63" name="Image 6" descr="Cámara 13:34 · Calle 3">    </p:cNvPr>
          <p:cNvPicPr>
            <a:picLocks noChangeAspect="1"/>
          </p:cNvPicPr>
          <p:nvPr/>
        </p:nvPicPr>
        <p:blipFill>
          <a:blip r:embed="rId7"/>
          <a:srcRect l="0" r="0" t="31" b="31"/>
          <a:stretch/>
        </p:blipFill>
        <p:spPr>
          <a:xfrm>
            <a:off x="8832850" y="3842643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64" name="Text 55"/>
          <p:cNvSpPr/>
          <p:nvPr/>
        </p:nvSpPr>
        <p:spPr>
          <a:xfrm>
            <a:off x="8832850" y="5417443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13:34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Calle 3</a:t>
            </a:r>
            <a:endParaRPr lang="en-US" sz="1200" dirty="0"/>
          </a:p>
        </p:txBody>
      </p:sp>
      <p:sp>
        <p:nvSpPr>
          <p:cNvPr id="65" name="Text 56"/>
          <p:cNvSpPr/>
          <p:nvPr/>
        </p:nvSpPr>
        <p:spPr>
          <a:xfrm>
            <a:off x="812800" y="6192540"/>
            <a:ext cx="37165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Comité de Seguridad · 24 al 30/09/2026 · 12</a:t>
            </a:r>
            <a:endParaRPr lang="en-US" sz="1200" dirty="0"/>
          </a:p>
        </p:txBody>
      </p:sp>
      <p:pic>
        <p:nvPicPr>
          <p:cNvPr id="66" name="Image 7" descr="Nueva Vicentin Argentina">    </p:cNvPr>
          <p:cNvPicPr>
            <a:picLocks noChangeAspect="1"/>
          </p:cNvPicPr>
          <p:nvPr/>
        </p:nvPicPr>
        <p:blipFill>
          <a:blip r:embed="rId8"/>
          <a:srcRect l="-167" r="-167" t="0" b="0"/>
          <a:stretch/>
        </p:blipFill>
        <p:spPr>
          <a:xfrm>
            <a:off x="9893300" y="6172200"/>
            <a:ext cx="476250" cy="254000"/>
          </a:xfrm>
          <a:prstGeom prst="rect">
            <a:avLst/>
          </a:prstGeom>
        </p:spPr>
      </p:pic>
      <p:pic>
        <p:nvPicPr>
          <p:cNvPr id="67" name="Image 8" descr="Bimtrazer">    </p:cNvPr>
          <p:cNvPicPr>
            <a:picLocks noChangeAspect="1"/>
          </p:cNvPicPr>
          <p:nvPr/>
        </p:nvPicPr>
        <p:blipFill>
          <a:blip r:embed="rId9"/>
          <a:srcRect l="0" r="0" t="-63" b="-63"/>
          <a:stretch/>
        </p:blipFill>
        <p:spPr>
          <a:xfrm>
            <a:off x="10623550" y="6121400"/>
            <a:ext cx="75565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5500" y="898426"/>
            <a:ext cx="2133600" cy="810220"/>
          </a:xfrm>
          <a:prstGeom prst="roundRect">
            <a:avLst>
              <a:gd name="adj" fmla="val 9405"/>
            </a:avLst>
          </a:prstGeom>
          <a:solidFill>
            <a:srgbClr val="FFFFFF"/>
          </a:solidFill>
          <a:ln w="25400">
            <a:solidFill>
              <a:srgbClr val="1B24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8200" y="911126"/>
            <a:ext cx="2108200" cy="139700"/>
          </a:xfrm>
          <a:custGeom>
            <a:avLst/>
            <a:gdLst/>
            <a:ahLst/>
            <a:cxnLst/>
            <a:rect l="l" t="t" r="r" b="b"/>
            <a:pathLst>
              <a:path w="2108200" h="139700">
                <a:moveTo>
                  <a:pt x="0" y="63500"/>
                </a:moveTo>
                <a:arcTo hR="63500" wR="63500" stAng="10800000" swAng="5400000"/>
                <a:lnTo>
                  <a:pt x="2044700" y="0"/>
                </a:lnTo>
                <a:arcTo hR="63500" wR="63500" stAng="16200000" swAng="5400000"/>
                <a:lnTo>
                  <a:pt x="2108200" y="139700"/>
                </a:lnTo>
                <a:lnTo>
                  <a:pt x="0" y="139700"/>
                </a:lnTo>
                <a:close/>
              </a:path>
            </a:pathLst>
          </a:custGeom>
          <a:solidFill>
            <a:srgbClr val="1F3F8C"/>
          </a:solidFill>
          <a:ln/>
        </p:spPr>
      </p:sp>
      <p:sp>
        <p:nvSpPr>
          <p:cNvPr id="4" name="Text 2"/>
          <p:cNvSpPr/>
          <p:nvPr/>
        </p:nvSpPr>
        <p:spPr>
          <a:xfrm>
            <a:off x="806577" y="1076226"/>
            <a:ext cx="217144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480"/>
              </a:lnSpc>
              <a:buNone/>
            </a:pPr>
            <a:r>
              <a:rPr lang="en-US" sz="3200" b="1" spc="100" kern="0" dirty="0">
                <a:solidFill>
                  <a:srgbClr val="1B2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EEW075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225800" y="711200"/>
            <a:ext cx="83980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24/09 · TRANSILE DE SOJA</a:t>
            </a:r>
            <a:endParaRPr lang="en-US" sz="1200" dirty="0"/>
          </a:p>
        </p:txBody>
      </p:sp>
      <p:sp>
        <p:nvSpPr>
          <p:cNvPr id="6" name="Text 4"/>
          <p:cNvSpPr/>
          <p:nvPr>
            <p:ph type="title"/>
          </p:nvPr>
        </p:nvSpPr>
        <p:spPr>
          <a:xfrm>
            <a:off x="3225800" y="1013420"/>
            <a:ext cx="8398002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i="0" dirty="0">
                <a:solidFill>
                  <a:srgbClr val="1B242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Leído por las cámaras de dos calles en el mismo segundo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25800" y="1423591"/>
            <a:ext cx="2826445" cy="472380"/>
          </a:xfrm>
          <a:prstGeom prst="roundRect">
            <a:avLst>
              <a:gd name="adj" fmla="val 50000"/>
            </a:avLst>
          </a:prstGeom>
          <a:solidFill>
            <a:srgbClr val="FBE9E4"/>
          </a:solidFill>
          <a:ln/>
        </p:spPr>
      </p:sp>
      <p:sp>
        <p:nvSpPr>
          <p:cNvPr id="8" name="Text 6"/>
          <p:cNvSpPr/>
          <p:nvPr/>
        </p:nvSpPr>
        <p:spPr>
          <a:xfrm>
            <a:off x="3378200" y="1499791"/>
            <a:ext cx="676771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B83A2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05:29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93071" y="1569641"/>
            <a:ext cx="1860977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 las calles 3 y 4 a la vez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53845" y="1423591"/>
            <a:ext cx="3438227" cy="472380"/>
          </a:xfrm>
          <a:prstGeom prst="roundRect">
            <a:avLst>
              <a:gd name="adj" fmla="val 50000"/>
            </a:avLst>
          </a:prstGeom>
          <a:solidFill>
            <a:srgbClr val="FDEEDD"/>
          </a:solidFill>
          <a:ln/>
        </p:spPr>
      </p:sp>
      <p:sp>
        <p:nvSpPr>
          <p:cNvPr id="11" name="Text 9"/>
          <p:cNvSpPr/>
          <p:nvPr/>
        </p:nvSpPr>
        <p:spPr>
          <a:xfrm>
            <a:off x="6306245" y="1499791"/>
            <a:ext cx="696913" cy="3453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A8560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3 min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41257" y="1569641"/>
            <a:ext cx="2470367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entre las dos lecturas de la calle 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2800" y="2086471"/>
            <a:ext cx="3429000" cy="1269802"/>
          </a:xfrm>
          <a:prstGeom prst="roundRect">
            <a:avLst>
              <a:gd name="adj" fmla="val 10002"/>
            </a:avLst>
          </a:prstGeom>
          <a:solidFill>
            <a:srgbClr val="E3F1FA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" y="2175371"/>
            <a:ext cx="33748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RICARDONE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5350" y="2458541"/>
            <a:ext cx="1045567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2F8FC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62447" y="2541091"/>
            <a:ext cx="56207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04:44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95948" y="2802632"/>
            <a:ext cx="844272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Carga silo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004417" y="2458541"/>
            <a:ext cx="1045666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2F8FC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71613" y="2541091"/>
            <a:ext cx="56197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05:00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89897" y="2802632"/>
            <a:ext cx="674608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Balanza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113584" y="2458541"/>
            <a:ext cx="1045666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2F8FC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77803" y="2541091"/>
            <a:ext cx="568027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05:05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40497" y="2802632"/>
            <a:ext cx="591741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Calada</a:t>
            </a:r>
            <a:endParaRPr lang="en-US" sz="1200" dirty="0"/>
          </a:p>
        </p:txBody>
      </p:sp>
      <p:pic>
        <p:nvPicPr>
          <p:cNvPr id="24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05300" y="2759472"/>
            <a:ext cx="279400" cy="16510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4648200" y="2086471"/>
            <a:ext cx="3429000" cy="1269802"/>
          </a:xfrm>
          <a:prstGeom prst="roundRect">
            <a:avLst>
              <a:gd name="adj" fmla="val 10002"/>
            </a:avLst>
          </a:prstGeom>
          <a:solidFill>
            <a:srgbClr val="FDEEDD"/>
          </a:solidFill>
          <a:ln/>
        </p:spPr>
      </p:sp>
      <p:sp>
        <p:nvSpPr>
          <p:cNvPr id="26" name="Text 23"/>
          <p:cNvSpPr/>
          <p:nvPr/>
        </p:nvSpPr>
        <p:spPr>
          <a:xfrm>
            <a:off x="4724400" y="2175371"/>
            <a:ext cx="33748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 LORENZO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730750" y="2458541"/>
            <a:ext cx="1037134" cy="614561"/>
          </a:xfrm>
          <a:prstGeom prst="roundRect">
            <a:avLst>
              <a:gd name="adj" fmla="val 13432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91497" y="2541091"/>
            <a:ext cx="56644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05:24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911963" y="2802632"/>
            <a:ext cx="674608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Balanza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834559" y="2461716"/>
            <a:ext cx="1043583" cy="608211"/>
          </a:xfrm>
          <a:prstGeom prst="roundRect">
            <a:avLst>
              <a:gd name="adj" fmla="val 13051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098084" y="2547441"/>
            <a:ext cx="567234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05:26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060609" y="2808982"/>
            <a:ext cx="591383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Calle 3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947991" y="2461716"/>
            <a:ext cx="1043484" cy="608211"/>
          </a:xfrm>
          <a:prstGeom prst="roundRect">
            <a:avLst>
              <a:gd name="adj" fmla="val 13051"/>
            </a:avLst>
          </a:prstGeom>
          <a:solidFill>
            <a:srgbClr val="FFFFFF"/>
          </a:solidFill>
          <a:ln w="19050">
            <a:solidFill>
              <a:srgbClr val="B83A2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211616" y="2547441"/>
            <a:ext cx="567035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05:29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977836" y="2808982"/>
            <a:ext cx="983694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B83A26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Calles 3 y 4</a:t>
            </a:r>
            <a:endParaRPr lang="en-US" sz="1200" dirty="0"/>
          </a:p>
        </p:txBody>
      </p:sp>
      <p:pic>
        <p:nvPicPr>
          <p:cNvPr id="36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40700" y="2759472"/>
            <a:ext cx="279400" cy="165100"/>
          </a:xfrm>
          <a:prstGeom prst="rect">
            <a:avLst/>
          </a:prstGeom>
        </p:spPr>
      </p:pic>
      <p:sp>
        <p:nvSpPr>
          <p:cNvPr id="37" name="Shape 33"/>
          <p:cNvSpPr/>
          <p:nvPr/>
        </p:nvSpPr>
        <p:spPr>
          <a:xfrm>
            <a:off x="8483600" y="2086471"/>
            <a:ext cx="1244600" cy="1269802"/>
          </a:xfrm>
          <a:prstGeom prst="roundRect">
            <a:avLst>
              <a:gd name="adj" fmla="val 10204"/>
            </a:avLst>
          </a:prstGeom>
          <a:solidFill>
            <a:srgbClr val="FDEEDD"/>
          </a:solidFill>
          <a:ln/>
        </p:spPr>
      </p:sp>
      <p:sp>
        <p:nvSpPr>
          <p:cNvPr id="38" name="Text 34"/>
          <p:cNvSpPr/>
          <p:nvPr/>
        </p:nvSpPr>
        <p:spPr>
          <a:xfrm>
            <a:off x="8559800" y="2175371"/>
            <a:ext cx="11430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SAN LORENZO</a:t>
            </a:r>
            <a:endParaRPr lang="en-US" sz="1200" dirty="0"/>
          </a:p>
        </p:txBody>
      </p:sp>
      <p:sp>
        <p:nvSpPr>
          <p:cNvPr id="39" name="Shape 35"/>
          <p:cNvSpPr/>
          <p:nvPr/>
        </p:nvSpPr>
        <p:spPr>
          <a:xfrm>
            <a:off x="8566150" y="2671862"/>
            <a:ext cx="1079500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E07B1F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8851305" y="2754412"/>
            <a:ext cx="559991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05:37</a:t>
            </a:r>
            <a:endParaRPr lang="en-US" sz="1400" dirty="0"/>
          </a:p>
        </p:txBody>
      </p:sp>
      <p:sp>
        <p:nvSpPr>
          <p:cNvPr id="41" name="Text 37"/>
          <p:cNvSpPr/>
          <p:nvPr/>
        </p:nvSpPr>
        <p:spPr>
          <a:xfrm>
            <a:off x="8808958" y="3015952"/>
            <a:ext cx="593884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Egreso</a:t>
            </a:r>
            <a:endParaRPr lang="en-US" sz="1200" dirty="0"/>
          </a:p>
        </p:txBody>
      </p:sp>
      <p:pic>
        <p:nvPicPr>
          <p:cNvPr id="42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791700" y="2759472"/>
            <a:ext cx="279400" cy="165100"/>
          </a:xfrm>
          <a:prstGeom prst="rect">
            <a:avLst/>
          </a:prstGeom>
        </p:spPr>
      </p:pic>
      <p:sp>
        <p:nvSpPr>
          <p:cNvPr id="43" name="Shape 38"/>
          <p:cNvSpPr/>
          <p:nvPr/>
        </p:nvSpPr>
        <p:spPr>
          <a:xfrm>
            <a:off x="10134600" y="2086471"/>
            <a:ext cx="1244600" cy="1269802"/>
          </a:xfrm>
          <a:prstGeom prst="roundRect">
            <a:avLst>
              <a:gd name="adj" fmla="val 10204"/>
            </a:avLst>
          </a:prstGeom>
          <a:solidFill>
            <a:srgbClr val="E3F1FA"/>
          </a:solidFill>
          <a:ln/>
        </p:spPr>
      </p:sp>
      <p:sp>
        <p:nvSpPr>
          <p:cNvPr id="44" name="Text 39"/>
          <p:cNvSpPr/>
          <p:nvPr/>
        </p:nvSpPr>
        <p:spPr>
          <a:xfrm>
            <a:off x="10210800" y="2175371"/>
            <a:ext cx="1143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RICARDONE</a:t>
            </a:r>
            <a:endParaRPr lang="en-US" sz="1200" dirty="0"/>
          </a:p>
        </p:txBody>
      </p:sp>
      <p:sp>
        <p:nvSpPr>
          <p:cNvPr id="45" name="Shape 40"/>
          <p:cNvSpPr/>
          <p:nvPr/>
        </p:nvSpPr>
        <p:spPr>
          <a:xfrm>
            <a:off x="10217150" y="2458541"/>
            <a:ext cx="1079500" cy="601861"/>
          </a:xfrm>
          <a:prstGeom prst="roundRect">
            <a:avLst>
              <a:gd name="adj" fmla="val 13716"/>
            </a:avLst>
          </a:prstGeom>
          <a:solidFill>
            <a:srgbClr val="FFFFFF"/>
          </a:solidFill>
          <a:ln w="12700">
            <a:solidFill>
              <a:srgbClr val="2F8FCB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10498832" y="2541091"/>
            <a:ext cx="566936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6E9F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05:46</a:t>
            </a:r>
            <a:endParaRPr lang="en-US" sz="1400" dirty="0"/>
          </a:p>
        </p:txBody>
      </p:sp>
      <p:sp>
        <p:nvSpPr>
          <p:cNvPr id="47" name="Text 42"/>
          <p:cNvSpPr/>
          <p:nvPr/>
        </p:nvSpPr>
        <p:spPr>
          <a:xfrm>
            <a:off x="10436751" y="2802632"/>
            <a:ext cx="640199" cy="200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38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Ingreso</a:t>
            </a:r>
            <a:endParaRPr lang="en-US" sz="1200" dirty="0"/>
          </a:p>
        </p:txBody>
      </p:sp>
      <p:pic>
        <p:nvPicPr>
          <p:cNvPr id="48" name="Image 3" descr="Cámara 04:44 · Carga en silo">    </p:cNvPr>
          <p:cNvPicPr>
            <a:picLocks noChangeAspect="1"/>
          </p:cNvPicPr>
          <p:nvPr/>
        </p:nvPicPr>
        <p:blipFill>
          <a:blip r:embed="rId4"/>
          <a:srcRect l="0" r="0" t="31" b="31"/>
          <a:stretch/>
        </p:blipFill>
        <p:spPr>
          <a:xfrm>
            <a:off x="812800" y="3546773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49" name="Text 43"/>
          <p:cNvSpPr/>
          <p:nvPr/>
        </p:nvSpPr>
        <p:spPr>
          <a:xfrm>
            <a:off x="812800" y="5121573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04:44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Carga en silo</a:t>
            </a:r>
            <a:endParaRPr lang="en-US" sz="1200" dirty="0"/>
          </a:p>
        </p:txBody>
      </p:sp>
      <p:pic>
        <p:nvPicPr>
          <p:cNvPr id="50" name="Image 4" descr="Cámara 05:26 · Calle 3">    </p:cNvPr>
          <p:cNvPicPr>
            <a:picLocks noChangeAspect="1"/>
          </p:cNvPicPr>
          <p:nvPr/>
        </p:nvPicPr>
        <p:blipFill>
          <a:blip r:embed="rId5"/>
          <a:srcRect l="0" r="0" t="31" b="31"/>
          <a:stretch/>
        </p:blipFill>
        <p:spPr>
          <a:xfrm>
            <a:off x="3486150" y="3546773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1" name="Text 44"/>
          <p:cNvSpPr/>
          <p:nvPr/>
        </p:nvSpPr>
        <p:spPr>
          <a:xfrm>
            <a:off x="3486150" y="5121573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05:26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Calle 3</a:t>
            </a:r>
            <a:endParaRPr lang="en-US" sz="1200" dirty="0"/>
          </a:p>
        </p:txBody>
      </p:sp>
      <p:pic>
        <p:nvPicPr>
          <p:cNvPr id="52" name="Image 5" descr="Cámara 05:29 · Calle 4">    </p:cNvPr>
          <p:cNvPicPr>
            <a:picLocks noChangeAspect="1"/>
          </p:cNvPicPr>
          <p:nvPr/>
        </p:nvPicPr>
        <p:blipFill>
          <a:blip r:embed="rId6"/>
          <a:srcRect l="0" r="0" t="31" b="31"/>
          <a:stretch/>
        </p:blipFill>
        <p:spPr>
          <a:xfrm>
            <a:off x="6159500" y="3546773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3" name="Text 45"/>
          <p:cNvSpPr/>
          <p:nvPr/>
        </p:nvSpPr>
        <p:spPr>
          <a:xfrm>
            <a:off x="6159500" y="5121573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05:29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Calle 4</a:t>
            </a:r>
            <a:endParaRPr lang="en-US" sz="1200" dirty="0"/>
          </a:p>
        </p:txBody>
      </p:sp>
      <p:pic>
        <p:nvPicPr>
          <p:cNvPr id="54" name="Image 6" descr="Cámara 05:37 · Egreso puerto">    </p:cNvPr>
          <p:cNvPicPr>
            <a:picLocks noChangeAspect="1"/>
          </p:cNvPicPr>
          <p:nvPr/>
        </p:nvPicPr>
        <p:blipFill>
          <a:blip r:embed="rId7"/>
          <a:srcRect l="0" r="0" t="31" b="31"/>
          <a:stretch/>
        </p:blipFill>
        <p:spPr>
          <a:xfrm>
            <a:off x="8832850" y="3546773"/>
            <a:ext cx="2546350" cy="1498600"/>
          </a:xfrm>
          <a:prstGeom prst="roundRect">
            <a:avLst>
              <a:gd name="adj" fmla="val 5932"/>
            </a:avLst>
          </a:prstGeom>
        </p:spPr>
      </p:pic>
      <p:sp>
        <p:nvSpPr>
          <p:cNvPr id="55" name="Text 46"/>
          <p:cNvSpPr/>
          <p:nvPr/>
        </p:nvSpPr>
        <p:spPr>
          <a:xfrm>
            <a:off x="8832850" y="5121573"/>
            <a:ext cx="26227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05:37</a:t>
            </a: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· Egreso puerto</a:t>
            </a:r>
            <a:endParaRPr lang="en-US" sz="1200" dirty="0"/>
          </a:p>
        </p:txBody>
      </p:sp>
      <p:sp>
        <p:nvSpPr>
          <p:cNvPr id="56" name="Text 47"/>
          <p:cNvSpPr/>
          <p:nvPr/>
        </p:nvSpPr>
        <p:spPr>
          <a:xfrm>
            <a:off x="812800" y="6192540"/>
            <a:ext cx="37227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Comité de Seguridad · 24 al 30/09/2026 · 13</a:t>
            </a:r>
            <a:endParaRPr lang="en-US" sz="1200" dirty="0"/>
          </a:p>
        </p:txBody>
      </p:sp>
      <p:pic>
        <p:nvPicPr>
          <p:cNvPr id="57" name="Image 7" descr="Nueva Vicentin Argentina">    </p:cNvPr>
          <p:cNvPicPr>
            <a:picLocks noChangeAspect="1"/>
          </p:cNvPicPr>
          <p:nvPr/>
        </p:nvPicPr>
        <p:blipFill>
          <a:blip r:embed="rId8"/>
          <a:srcRect l="-167" r="-167" t="0" b="0"/>
          <a:stretch/>
        </p:blipFill>
        <p:spPr>
          <a:xfrm>
            <a:off x="9893300" y="6172200"/>
            <a:ext cx="476250" cy="254000"/>
          </a:xfrm>
          <a:prstGeom prst="rect">
            <a:avLst/>
          </a:prstGeom>
        </p:spPr>
      </p:pic>
      <p:pic>
        <p:nvPicPr>
          <p:cNvPr id="58" name="Image 8" descr="Bimtrazer">    </p:cNvPr>
          <p:cNvPicPr>
            <a:picLocks noChangeAspect="1"/>
          </p:cNvPicPr>
          <p:nvPr/>
        </p:nvPicPr>
        <p:blipFill>
          <a:blip r:embed="rId9"/>
          <a:srcRect l="0" r="0" t="-63" b="-63"/>
          <a:stretch/>
        </p:blipFill>
        <p:spPr>
          <a:xfrm>
            <a:off x="10623550" y="6121400"/>
            <a:ext cx="75565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E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490365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8C7BB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03</a:t>
            </a:r>
            <a:endParaRPr lang="en-US" sz="10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988965"/>
            <a:ext cx="1088339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BFBF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Demoras entre plantas sin calado en el puerto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4335165"/>
            <a:ext cx="9156700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DCD5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Más de 30 minutos entre la salida de Ricardone y la entrada al puerto (el viaje normal es de 12), sin pasar después por la calada de San Lorenzo.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6192540"/>
            <a:ext cx="37224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E3D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Comité de Seguridad · 24 al 30/09/2026 · 14</a:t>
            </a:r>
            <a:endParaRPr lang="en-US" sz="1200" dirty="0"/>
          </a:p>
        </p:txBody>
      </p:sp>
      <p:pic>
        <p:nvPicPr>
          <p:cNvPr id="6" name="Image 0" descr="Nueva Vicentin Argentina">    </p:cNvPr>
          <p:cNvPicPr>
            <a:picLocks noChangeAspect="1"/>
          </p:cNvPicPr>
          <p:nvPr/>
        </p:nvPicPr>
        <p:blipFill>
          <a:blip r:embed="rId1"/>
          <a:srcRect l="-167" r="-167" t="0" b="0"/>
          <a:stretch/>
        </p:blipFill>
        <p:spPr>
          <a:xfrm>
            <a:off x="9893300" y="6172200"/>
            <a:ext cx="476250" cy="254000"/>
          </a:xfrm>
          <a:prstGeom prst="rect">
            <a:avLst/>
          </a:prstGeom>
        </p:spPr>
      </p:pic>
      <p:pic>
        <p:nvPicPr>
          <p:cNvPr id="7" name="Image 1" descr="Bimtrazer">    </p:cNvPr>
          <p:cNvPicPr>
            <a:picLocks noChangeAspect="1"/>
          </p:cNvPicPr>
          <p:nvPr/>
        </p:nvPicPr>
        <p:blipFill>
          <a:blip r:embed="rId2"/>
          <a:srcRect l="0" r="0" t="-63" b="-63"/>
          <a:stretch/>
        </p:blipFill>
        <p:spPr>
          <a:xfrm>
            <a:off x="10623550" y="6121400"/>
            <a:ext cx="75565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192540"/>
            <a:ext cx="37247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Comité de Seguridad · 24 al 30/09/2026 · 15</a:t>
            </a:r>
            <a:endParaRPr lang="en-US" sz="1200" dirty="0"/>
          </a:p>
        </p:txBody>
      </p:sp>
      <p:pic>
        <p:nvPicPr>
          <p:cNvPr id="3" name="Image 0" descr="Nueva Vicentin Argentina">    </p:cNvPr>
          <p:cNvPicPr>
            <a:picLocks noChangeAspect="1"/>
          </p:cNvPicPr>
          <p:nvPr/>
        </p:nvPicPr>
        <p:blipFill>
          <a:blip r:embed="rId1"/>
          <a:srcRect l="-167" r="-167" t="0" b="0"/>
          <a:stretch/>
        </p:blipFill>
        <p:spPr>
          <a:xfrm>
            <a:off x="9893300" y="6172200"/>
            <a:ext cx="476250" cy="254000"/>
          </a:xfrm>
          <a:prstGeom prst="rect">
            <a:avLst/>
          </a:prstGeom>
        </p:spPr>
      </p:pic>
      <p:pic>
        <p:nvPicPr>
          <p:cNvPr id="4" name="Image 1" descr="Bimtrazer">    </p:cNvPr>
          <p:cNvPicPr>
            <a:picLocks noChangeAspect="1"/>
          </p:cNvPicPr>
          <p:nvPr/>
        </p:nvPicPr>
        <p:blipFill>
          <a:blip r:embed="rId2"/>
          <a:srcRect l="0" r="0" t="-63" b="-63"/>
          <a:stretch/>
        </p:blipFill>
        <p:spPr>
          <a:xfrm>
            <a:off x="10623550" y="6121400"/>
            <a:ext cx="755650" cy="355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12800" y="7112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A8560C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INTERPLANTA · RICARDONE → SAN LORENZO</a:t>
            </a:r>
            <a:endParaRPr lang="en-US" sz="1300" dirty="0"/>
          </a:p>
        </p:txBody>
      </p:sp>
      <p:sp>
        <p:nvSpPr>
          <p:cNvPr id="6" name="Text 2"/>
          <p:cNvSpPr/>
          <p:nvPr>
            <p:ph type="title"/>
          </p:nvPr>
        </p:nvSpPr>
        <p:spPr>
          <a:xfrm>
            <a:off x="812800" y="1149350"/>
            <a:ext cx="10883392" cy="901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0B563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Seis camiones tardaron más de 30 minutos y no pasaron por la calada del puerto</a:t>
            </a:r>
            <a:endParaRPr lang="en-US" sz="3000" dirty="0"/>
          </a:p>
        </p:txBody>
      </p:sp>
      <p:sp>
        <p:nvSpPr>
          <p:cNvPr id="7" name="Shape 3"/>
          <p:cNvSpPr/>
          <p:nvPr/>
        </p:nvSpPr>
        <p:spPr>
          <a:xfrm>
            <a:off x="812800" y="2184400"/>
            <a:ext cx="10566400" cy="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19150" y="2178050"/>
            <a:ext cx="0" cy="3105150"/>
          </a:xfrm>
          <a:prstGeom prst="line">
            <a:avLst/>
          </a:prstGeom>
          <a:noFill/>
          <a:ln w="12700">
            <a:solidFill>
              <a:srgbClr val="141413">
                <a:alpha val="22000"/>
              </a:srgbClr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5200" y="2292350"/>
          <a:ext cx="10274300" cy="2889250"/>
        </p:xfrm>
        <a:graphic>
          <a:graphicData uri="http://schemas.openxmlformats.org/drawingml/2006/table">
            <a:tbl>
              <a:tblPr/>
              <a:tblGrid>
                <a:gridCol w="1438402"/>
                <a:gridCol w="1643888"/>
                <a:gridCol w="2054860"/>
                <a:gridCol w="2876804"/>
                <a:gridCol w="2260346"/>
              </a:tblGrid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Día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Salida Ric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Patente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Carga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Demora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24/09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12:50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SYB408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Soja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83A2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40 min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BA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D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24/09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12:53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RXV065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Transile soja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83A2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38 min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24/09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12:56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KLW300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Soja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83A2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36 min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D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24/09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13:00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FDH917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Transile soja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83A2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35 min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29/09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09:49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RAW481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Transile soja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83A2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37 min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DD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30/09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12:44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VJG112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B2420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Transile pellet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83A26"/>
                          </a:solidFill>
                          <a:latin typeface="Public Sans" pitchFamily="34" charset="0"/>
                          <a:ea typeface="Public Sans" pitchFamily="34" charset="-122"/>
                          <a:cs typeface="Public Sans" pitchFamily="34" charset="-120"/>
                        </a:rPr>
                        <a:t>75 min</a:t>
                      </a:r>
                      <a:endParaRPr lang="en-US" sz="1500" dirty="0">
                        <a:latin typeface="Public Sans" charset="0"/>
                        <a:ea typeface="Public Sans" charset="0"/>
                        <a:cs typeface="Public Sans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BEB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8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8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812800" y="5283200"/>
            <a:ext cx="1088339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Cuatro salieron de Ricardone el 24/09 entre las 12:50 y las 13:00 y entraron juntos al puerto a las 13:30: parece una espera en la entrada más que un desvío. VJG112 tardó 75 minutos el 30/09.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E1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69765"/>
            <a:ext cx="1088339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b="1" dirty="0">
                <a:solidFill>
                  <a:srgbClr val="8C7BB0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04</a:t>
            </a:r>
            <a:endParaRPr lang="en-US" sz="100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3268365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000" b="1" i="0" dirty="0">
                <a:solidFill>
                  <a:srgbClr val="FBFBF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Otros caminos fuera del modelo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4055765"/>
            <a:ext cx="9156700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65"/>
              </a:lnSpc>
              <a:buNone/>
            </a:pPr>
            <a:r>
              <a:rPr lang="en-US" sz="1700" dirty="0">
                <a:solidFill>
                  <a:srgbClr val="DCD5EA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Cruzamos cada recorrido de la semana con el modelo de nodos de la planta: estos son los pasos que no aparecen en ningún circuito.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6192540"/>
            <a:ext cx="37214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FE3D7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Comité de Seguridad · 24 al 30/09/2026 · 16</a:t>
            </a:r>
            <a:endParaRPr lang="en-US" sz="1200" dirty="0"/>
          </a:p>
        </p:txBody>
      </p:sp>
      <p:pic>
        <p:nvPicPr>
          <p:cNvPr id="6" name="Image 0" descr="Nueva Vicentin Argentina">    </p:cNvPr>
          <p:cNvPicPr>
            <a:picLocks noChangeAspect="1"/>
          </p:cNvPicPr>
          <p:nvPr/>
        </p:nvPicPr>
        <p:blipFill>
          <a:blip r:embed="rId1"/>
          <a:srcRect l="-167" r="-167" t="0" b="0"/>
          <a:stretch/>
        </p:blipFill>
        <p:spPr>
          <a:xfrm>
            <a:off x="9893300" y="6172200"/>
            <a:ext cx="476250" cy="254000"/>
          </a:xfrm>
          <a:prstGeom prst="rect">
            <a:avLst/>
          </a:prstGeom>
        </p:spPr>
      </p:pic>
      <p:pic>
        <p:nvPicPr>
          <p:cNvPr id="7" name="Image 1" descr="Bimtrazer">    </p:cNvPr>
          <p:cNvPicPr>
            <a:picLocks noChangeAspect="1"/>
          </p:cNvPicPr>
          <p:nvPr/>
        </p:nvPicPr>
        <p:blipFill>
          <a:blip r:embed="rId2"/>
          <a:srcRect l="0" r="0" t="-63" b="-63"/>
          <a:stretch/>
        </p:blipFill>
        <p:spPr>
          <a:xfrm>
            <a:off x="10623550" y="6121400"/>
            <a:ext cx="75565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2E1B4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MODELO DE NODOS · NODO SUR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088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0B563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Pasos que no figuran en ningún circuito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19150" y="1843980"/>
            <a:ext cx="5194300" cy="1597422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6000" y="2015430"/>
            <a:ext cx="57209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A8560C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24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607046" y="2244030"/>
            <a:ext cx="421314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 la calada volvieron al pre-ingreso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660551"/>
            <a:ext cx="494461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mayoría en 5 a 10 minutos y sin recalar. Puede ser una vuelta a Playa 1 a esperar turno de balanza.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8550" y="1843980"/>
            <a:ext cx="5194300" cy="1597422"/>
          </a:xfrm>
          <a:prstGeom prst="roundRect">
            <a:avLst>
              <a:gd name="adj" fmla="val 7553"/>
            </a:avLst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75400" y="2015430"/>
            <a:ext cx="2946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B83A2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733580" y="2244030"/>
            <a:ext cx="4575693" cy="512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Descargaron girasol y volvieron al pre-ingreso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75400" y="2807791"/>
            <a:ext cx="494461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SAI142 y JFB974 (24/09): volcable 1 y, 3 horas después, de nuevo en el pre-ingreso sin egreso leído.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9150" y="3606502"/>
            <a:ext cx="5194300" cy="1450181"/>
          </a:xfrm>
          <a:prstGeom prst="roundRect">
            <a:avLst>
              <a:gd name="adj" fmla="val 8320"/>
            </a:avLst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6000" y="3777952"/>
            <a:ext cx="290612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B83A26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370112" y="4006552"/>
            <a:ext cx="417099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Salieron y volvieron directo a calada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4423073"/>
            <a:ext cx="494461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ROL445, IWX998 y GIN200: egreso de Ricardone y después calada, sin pasar por el pre-ingreso.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8550" y="3606502"/>
            <a:ext cx="5194300" cy="1450181"/>
          </a:xfrm>
          <a:prstGeom prst="roundRect">
            <a:avLst>
              <a:gd name="adj" fmla="val 8320"/>
            </a:avLst>
          </a:prstGeom>
          <a:solidFill>
            <a:srgbClr val="FFFFFF"/>
          </a:solidFill>
          <a:ln w="12700">
            <a:solidFill>
              <a:srgbClr val="D3DA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5400" y="3777952"/>
            <a:ext cx="29468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2E1B4E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733580" y="4006552"/>
            <a:ext cx="463292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Del volcable del puerto volvieron a entrar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75400" y="4423073"/>
            <a:ext cx="494461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ROS380 (25/09) y KWN857 (30/09): volcable y luego otra vez el ingreso del puerto.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2800" y="5291634"/>
            <a:ext cx="113792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2E1B4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Para revisar antes de sumarlos como regla.</a:t>
            </a:r>
            <a:r>
              <a:rPr lang="en-US" sz="1300" dirty="0">
                <a:solidFill>
                  <a:srgbClr val="2E1B4E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No se cuentan los pasos propios del transile (Playa 3, silos) ni camiones internos sin Excel.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6192540"/>
            <a:ext cx="37173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Comité de Seguridad · 24 al 30/09/2026 · 17</a:t>
            </a:r>
            <a:endParaRPr lang="en-US" sz="1200" dirty="0"/>
          </a:p>
        </p:txBody>
      </p:sp>
      <p:pic>
        <p:nvPicPr>
          <p:cNvPr id="22" name="Image 0" descr="Nueva Vicentin Argentina">    </p:cNvPr>
          <p:cNvPicPr>
            <a:picLocks noChangeAspect="1"/>
          </p:cNvPicPr>
          <p:nvPr/>
        </p:nvPicPr>
        <p:blipFill>
          <a:blip r:embed="rId1"/>
          <a:srcRect l="-167" r="-167" t="0" b="0"/>
          <a:stretch/>
        </p:blipFill>
        <p:spPr>
          <a:xfrm>
            <a:off x="9893300" y="6172200"/>
            <a:ext cx="476250" cy="254000"/>
          </a:xfrm>
          <a:prstGeom prst="rect">
            <a:avLst/>
          </a:prstGeom>
        </p:spPr>
      </p:pic>
      <p:pic>
        <p:nvPicPr>
          <p:cNvPr id="23" name="Image 1" descr="Bimtrazer">    </p:cNvPr>
          <p:cNvPicPr>
            <a:picLocks noChangeAspect="1"/>
          </p:cNvPicPr>
          <p:nvPr/>
        </p:nvPicPr>
        <p:blipFill>
          <a:blip r:embed="rId2"/>
          <a:srcRect l="0" r="0" t="-63" b="-63"/>
          <a:stretch/>
        </p:blipFill>
        <p:spPr>
          <a:xfrm>
            <a:off x="10623550" y="6121400"/>
            <a:ext cx="75565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50" kern="0" dirty="0">
                <a:solidFill>
                  <a:srgbClr val="0B5638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HISTÓRICO · 10/06 AL 02/10</a:t>
            </a:r>
            <a:endParaRPr lang="en-US" sz="13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70880"/>
            <a:ext cx="10883392" cy="463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i="0" dirty="0">
                <a:solidFill>
                  <a:srgbClr val="0B5638"/>
                </a:solidFill>
                <a:latin typeface="Domine" pitchFamily="18" charset="0"/>
                <a:ea typeface="Domine" pitchFamily="18" charset="-122"/>
                <a:cs typeface="Domine" pitchFamily="18" charset="-120"/>
              </a:rPr>
              <a:t>94 anomalías presentadas desde junio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12800" y="1837630"/>
            <a:ext cx="580796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Casos por comité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2713" y="4087118"/>
            <a:ext cx="15567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2800" y="4368998"/>
            <a:ext cx="355600" cy="381000"/>
          </a:xfrm>
          <a:custGeom>
            <a:avLst/>
            <a:gdLst/>
            <a:ahLst/>
            <a:cxnLst/>
            <a:rect l="l" t="t" r="r" b="b"/>
            <a:pathLst>
              <a:path w="355600" h="381000">
                <a:moveTo>
                  <a:pt x="50800" y="0"/>
                </a:moveTo>
                <a:lnTo>
                  <a:pt x="304800" y="0"/>
                </a:lnTo>
                <a:arcTo hR="50800" wR="50800" stAng="16200000" swAng="5400000"/>
                <a:lnTo>
                  <a:pt x="355600" y="381000"/>
                </a:lnTo>
                <a:lnTo>
                  <a:pt x="0" y="38100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0B5638"/>
          </a:solidFill>
          <a:ln/>
        </p:spPr>
      </p:sp>
      <p:sp>
        <p:nvSpPr>
          <p:cNvPr id="7" name="Text 5"/>
          <p:cNvSpPr/>
          <p:nvPr/>
        </p:nvSpPr>
        <p:spPr>
          <a:xfrm>
            <a:off x="808434" y="4800798"/>
            <a:ext cx="36433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10/6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15839" y="3515618"/>
            <a:ext cx="16232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19200" y="3797498"/>
            <a:ext cx="355600" cy="952500"/>
          </a:xfrm>
          <a:custGeom>
            <a:avLst/>
            <a:gdLst/>
            <a:ahLst/>
            <a:cxnLst/>
            <a:rect l="l" t="t" r="r" b="b"/>
            <a:pathLst>
              <a:path w="355600" h="952500">
                <a:moveTo>
                  <a:pt x="50800" y="0"/>
                </a:moveTo>
                <a:lnTo>
                  <a:pt x="304800" y="0"/>
                </a:lnTo>
                <a:arcTo hR="50800" wR="50800" stAng="16200000" swAng="5400000"/>
                <a:lnTo>
                  <a:pt x="355600" y="952500"/>
                </a:lnTo>
                <a:lnTo>
                  <a:pt x="0" y="95250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0B5638"/>
          </a:solidFill>
          <a:ln/>
        </p:spPr>
      </p:sp>
      <p:sp>
        <p:nvSpPr>
          <p:cNvPr id="10" name="Text 8"/>
          <p:cNvSpPr/>
          <p:nvPr/>
        </p:nvSpPr>
        <p:spPr>
          <a:xfrm>
            <a:off x="1211511" y="4800798"/>
            <a:ext cx="3708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18/6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723827" y="3706118"/>
            <a:ext cx="15914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25600" y="3987998"/>
            <a:ext cx="355600" cy="762000"/>
          </a:xfrm>
          <a:custGeom>
            <a:avLst/>
            <a:gdLst/>
            <a:ahLst/>
            <a:cxnLst/>
            <a:rect l="l" t="t" r="r" b="b"/>
            <a:pathLst>
              <a:path w="355600" h="762000">
                <a:moveTo>
                  <a:pt x="50800" y="0"/>
                </a:moveTo>
                <a:lnTo>
                  <a:pt x="304800" y="0"/>
                </a:lnTo>
                <a:arcTo hR="50800" wR="50800" stAng="16200000" swAng="5400000"/>
                <a:lnTo>
                  <a:pt x="355600" y="762000"/>
                </a:lnTo>
                <a:lnTo>
                  <a:pt x="0" y="76200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0B5638"/>
          </a:solidFill>
          <a:ln/>
        </p:spPr>
      </p:sp>
      <p:sp>
        <p:nvSpPr>
          <p:cNvPr id="13" name="Text 11"/>
          <p:cNvSpPr/>
          <p:nvPr/>
        </p:nvSpPr>
        <p:spPr>
          <a:xfrm>
            <a:off x="1635919" y="4800798"/>
            <a:ext cx="39350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24/6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31913" y="4087118"/>
            <a:ext cx="15567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32000" y="4368998"/>
            <a:ext cx="355600" cy="381000"/>
          </a:xfrm>
          <a:custGeom>
            <a:avLst/>
            <a:gdLst/>
            <a:ahLst/>
            <a:cxnLst/>
            <a:rect l="l" t="t" r="r" b="b"/>
            <a:pathLst>
              <a:path w="355600" h="381000">
                <a:moveTo>
                  <a:pt x="50800" y="0"/>
                </a:moveTo>
                <a:lnTo>
                  <a:pt x="304800" y="0"/>
                </a:lnTo>
                <a:arcTo hR="50800" wR="50800" stAng="16200000" swAng="5400000"/>
                <a:lnTo>
                  <a:pt x="355600" y="381000"/>
                </a:lnTo>
                <a:lnTo>
                  <a:pt x="0" y="38100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0B5638"/>
          </a:solidFill>
          <a:ln/>
        </p:spPr>
      </p:sp>
      <p:sp>
        <p:nvSpPr>
          <p:cNvPr id="16" name="Text 14"/>
          <p:cNvSpPr/>
          <p:nvPr/>
        </p:nvSpPr>
        <p:spPr>
          <a:xfrm>
            <a:off x="2062559" y="4800798"/>
            <a:ext cx="29448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8/7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35039" y="3515618"/>
            <a:ext cx="16232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38400" y="3797498"/>
            <a:ext cx="355600" cy="952500"/>
          </a:xfrm>
          <a:custGeom>
            <a:avLst/>
            <a:gdLst/>
            <a:ahLst/>
            <a:cxnLst/>
            <a:rect l="l" t="t" r="r" b="b"/>
            <a:pathLst>
              <a:path w="355600" h="952500">
                <a:moveTo>
                  <a:pt x="50800" y="0"/>
                </a:moveTo>
                <a:lnTo>
                  <a:pt x="304800" y="0"/>
                </a:lnTo>
                <a:arcTo hR="50800" wR="50800" stAng="16200000" swAng="5400000"/>
                <a:lnTo>
                  <a:pt x="355600" y="952500"/>
                </a:lnTo>
                <a:lnTo>
                  <a:pt x="0" y="95250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0B5638"/>
          </a:solidFill>
          <a:ln/>
        </p:spPr>
      </p:sp>
      <p:sp>
        <p:nvSpPr>
          <p:cNvPr id="19" name="Text 17"/>
          <p:cNvSpPr/>
          <p:nvPr/>
        </p:nvSpPr>
        <p:spPr>
          <a:xfrm>
            <a:off x="2433439" y="4800798"/>
            <a:ext cx="3655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15/7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41737" y="2944118"/>
            <a:ext cx="16162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844800" y="3225998"/>
            <a:ext cx="355600" cy="1524000"/>
          </a:xfrm>
          <a:custGeom>
            <a:avLst/>
            <a:gdLst/>
            <a:ahLst/>
            <a:cxnLst/>
            <a:rect l="l" t="t" r="r" b="b"/>
            <a:pathLst>
              <a:path w="355600" h="1524000">
                <a:moveTo>
                  <a:pt x="50800" y="0"/>
                </a:moveTo>
                <a:lnTo>
                  <a:pt x="304800" y="0"/>
                </a:lnTo>
                <a:arcTo hR="50800" wR="50800" stAng="16200000" swAng="5400000"/>
                <a:lnTo>
                  <a:pt x="355600" y="1524000"/>
                </a:lnTo>
                <a:lnTo>
                  <a:pt x="0" y="152400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0B5638"/>
          </a:solidFill>
          <a:ln/>
        </p:spPr>
      </p:sp>
      <p:sp>
        <p:nvSpPr>
          <p:cNvPr id="22" name="Text 20"/>
          <p:cNvSpPr/>
          <p:nvPr/>
        </p:nvSpPr>
        <p:spPr>
          <a:xfrm>
            <a:off x="2856706" y="4800798"/>
            <a:ext cx="3825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23/7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14998" y="2563118"/>
            <a:ext cx="22790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51200" y="2844998"/>
            <a:ext cx="355600" cy="1905000"/>
          </a:xfrm>
          <a:custGeom>
            <a:avLst/>
            <a:gdLst/>
            <a:ahLst/>
            <a:cxnLst/>
            <a:rect l="l" t="t" r="r" b="b"/>
            <a:pathLst>
              <a:path w="355600" h="1905000">
                <a:moveTo>
                  <a:pt x="50800" y="0"/>
                </a:moveTo>
                <a:lnTo>
                  <a:pt x="304800" y="0"/>
                </a:lnTo>
                <a:arcTo hR="50800" wR="50800" stAng="16200000" swAng="5400000"/>
                <a:lnTo>
                  <a:pt x="355600" y="1905000"/>
                </a:lnTo>
                <a:lnTo>
                  <a:pt x="0" y="190500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0B5638"/>
          </a:solidFill>
          <a:ln/>
        </p:spPr>
      </p:sp>
      <p:sp>
        <p:nvSpPr>
          <p:cNvPr id="25" name="Text 23"/>
          <p:cNvSpPr/>
          <p:nvPr/>
        </p:nvSpPr>
        <p:spPr>
          <a:xfrm>
            <a:off x="3247192" y="4800798"/>
            <a:ext cx="3636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31/7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721398" y="2563118"/>
            <a:ext cx="22790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0" y="2844998"/>
            <a:ext cx="355600" cy="1905000"/>
          </a:xfrm>
          <a:custGeom>
            <a:avLst/>
            <a:gdLst/>
            <a:ahLst/>
            <a:cxnLst/>
            <a:rect l="l" t="t" r="r" b="b"/>
            <a:pathLst>
              <a:path w="355600" h="1905000">
                <a:moveTo>
                  <a:pt x="50800" y="0"/>
                </a:moveTo>
                <a:lnTo>
                  <a:pt x="304800" y="0"/>
                </a:lnTo>
                <a:arcTo hR="50800" wR="50800" stAng="16200000" swAng="5400000"/>
                <a:lnTo>
                  <a:pt x="355600" y="1905000"/>
                </a:lnTo>
                <a:lnTo>
                  <a:pt x="0" y="190500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0B5638"/>
          </a:solidFill>
          <a:ln/>
        </p:spPr>
      </p:sp>
      <p:sp>
        <p:nvSpPr>
          <p:cNvPr id="28" name="Text 26"/>
          <p:cNvSpPr/>
          <p:nvPr/>
        </p:nvSpPr>
        <p:spPr>
          <a:xfrm>
            <a:off x="3688159" y="4800798"/>
            <a:ext cx="29448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7/8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60937" y="2944118"/>
            <a:ext cx="16162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8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064000" y="3225998"/>
            <a:ext cx="355600" cy="1524000"/>
          </a:xfrm>
          <a:custGeom>
            <a:avLst/>
            <a:gdLst/>
            <a:ahLst/>
            <a:cxnLst/>
            <a:rect l="l" t="t" r="r" b="b"/>
            <a:pathLst>
              <a:path w="355600" h="1524000">
                <a:moveTo>
                  <a:pt x="50800" y="0"/>
                </a:moveTo>
                <a:lnTo>
                  <a:pt x="304800" y="0"/>
                </a:lnTo>
                <a:arcTo hR="50800" wR="50800" stAng="16200000" swAng="5400000"/>
                <a:lnTo>
                  <a:pt x="355600" y="1524000"/>
                </a:lnTo>
                <a:lnTo>
                  <a:pt x="0" y="152400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0B5638"/>
          </a:solidFill>
          <a:ln/>
        </p:spPr>
      </p:sp>
      <p:sp>
        <p:nvSpPr>
          <p:cNvPr id="31" name="Text 29"/>
          <p:cNvSpPr/>
          <p:nvPr/>
        </p:nvSpPr>
        <p:spPr>
          <a:xfrm>
            <a:off x="4055824" y="4800798"/>
            <a:ext cx="3719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14/8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34198" y="2563118"/>
            <a:ext cx="22790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470400" y="2844998"/>
            <a:ext cx="355600" cy="1905000"/>
          </a:xfrm>
          <a:custGeom>
            <a:avLst/>
            <a:gdLst/>
            <a:ahLst/>
            <a:cxnLst/>
            <a:rect l="l" t="t" r="r" b="b"/>
            <a:pathLst>
              <a:path w="355600" h="1905000">
                <a:moveTo>
                  <a:pt x="50800" y="0"/>
                </a:moveTo>
                <a:lnTo>
                  <a:pt x="304800" y="0"/>
                </a:lnTo>
                <a:arcTo hR="50800" wR="50800" stAng="16200000" swAng="5400000"/>
                <a:lnTo>
                  <a:pt x="355600" y="1905000"/>
                </a:lnTo>
                <a:lnTo>
                  <a:pt x="0" y="190500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0B5638"/>
          </a:solidFill>
          <a:ln/>
        </p:spPr>
      </p:sp>
      <p:sp>
        <p:nvSpPr>
          <p:cNvPr id="34" name="Text 32"/>
          <p:cNvSpPr/>
          <p:nvPr/>
        </p:nvSpPr>
        <p:spPr>
          <a:xfrm>
            <a:off x="4500563" y="4800798"/>
            <a:ext cx="29517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4/9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75027" y="3706118"/>
            <a:ext cx="15914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876800" y="3987998"/>
            <a:ext cx="355600" cy="762000"/>
          </a:xfrm>
          <a:custGeom>
            <a:avLst/>
            <a:gdLst/>
            <a:ahLst/>
            <a:cxnLst/>
            <a:rect l="l" t="t" r="r" b="b"/>
            <a:pathLst>
              <a:path w="355600" h="762000">
                <a:moveTo>
                  <a:pt x="50800" y="0"/>
                </a:moveTo>
                <a:lnTo>
                  <a:pt x="304800" y="0"/>
                </a:lnTo>
                <a:arcTo hR="50800" wR="50800" stAng="16200000" swAng="5400000"/>
                <a:lnTo>
                  <a:pt x="355600" y="762000"/>
                </a:lnTo>
                <a:lnTo>
                  <a:pt x="0" y="76200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0B5638"/>
          </a:solidFill>
          <a:ln/>
        </p:spPr>
      </p:sp>
      <p:sp>
        <p:nvSpPr>
          <p:cNvPr id="37" name="Text 35"/>
          <p:cNvSpPr/>
          <p:nvPr/>
        </p:nvSpPr>
        <p:spPr>
          <a:xfrm>
            <a:off x="4891008" y="4800798"/>
            <a:ext cx="32718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11/9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83907" y="3134618"/>
            <a:ext cx="15418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283200" y="3416498"/>
            <a:ext cx="355600" cy="1333500"/>
          </a:xfrm>
          <a:custGeom>
            <a:avLst/>
            <a:gdLst/>
            <a:ahLst/>
            <a:cxnLst/>
            <a:rect l="l" t="t" r="r" b="b"/>
            <a:pathLst>
              <a:path w="355600" h="1333500">
                <a:moveTo>
                  <a:pt x="50800" y="0"/>
                </a:moveTo>
                <a:lnTo>
                  <a:pt x="304800" y="0"/>
                </a:lnTo>
                <a:arcTo hR="50800" wR="50800" stAng="16200000" swAng="5400000"/>
                <a:lnTo>
                  <a:pt x="355600" y="1333500"/>
                </a:lnTo>
                <a:lnTo>
                  <a:pt x="0" y="133350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0B5638"/>
          </a:solidFill>
          <a:ln/>
        </p:spPr>
      </p:sp>
      <p:sp>
        <p:nvSpPr>
          <p:cNvPr id="40" name="Text 38"/>
          <p:cNvSpPr/>
          <p:nvPr/>
        </p:nvSpPr>
        <p:spPr>
          <a:xfrm>
            <a:off x="5275382" y="4800798"/>
            <a:ext cx="3712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18/9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787529" y="2753618"/>
            <a:ext cx="15964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9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689600" y="3035498"/>
            <a:ext cx="355600" cy="1714500"/>
          </a:xfrm>
          <a:custGeom>
            <a:avLst/>
            <a:gdLst/>
            <a:ahLst/>
            <a:cxnLst/>
            <a:rect l="l" t="t" r="r" b="b"/>
            <a:pathLst>
              <a:path w="355600" h="1714500">
                <a:moveTo>
                  <a:pt x="50800" y="0"/>
                </a:moveTo>
                <a:lnTo>
                  <a:pt x="304800" y="0"/>
                </a:lnTo>
                <a:arcTo hR="50800" wR="50800" stAng="16200000" swAng="5400000"/>
                <a:lnTo>
                  <a:pt x="355600" y="1714500"/>
                </a:lnTo>
                <a:lnTo>
                  <a:pt x="0" y="171450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0B5638"/>
          </a:solidFill>
          <a:ln/>
        </p:spPr>
      </p:sp>
      <p:sp>
        <p:nvSpPr>
          <p:cNvPr id="43" name="Text 41"/>
          <p:cNvSpPr/>
          <p:nvPr/>
        </p:nvSpPr>
        <p:spPr>
          <a:xfrm>
            <a:off x="5698331" y="4800798"/>
            <a:ext cx="3889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28/9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159798" y="2563118"/>
            <a:ext cx="22790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096000" y="2844998"/>
            <a:ext cx="355600" cy="1905000"/>
          </a:xfrm>
          <a:custGeom>
            <a:avLst/>
            <a:gdLst/>
            <a:ahLst/>
            <a:cxnLst/>
            <a:rect l="l" t="t" r="r" b="b"/>
            <a:pathLst>
              <a:path w="355600" h="1905000">
                <a:moveTo>
                  <a:pt x="50800" y="0"/>
                </a:moveTo>
                <a:lnTo>
                  <a:pt x="304800" y="0"/>
                </a:lnTo>
                <a:arcTo hR="50800" wR="50800" stAng="16200000" swAng="5400000"/>
                <a:lnTo>
                  <a:pt x="355600" y="1905000"/>
                </a:lnTo>
                <a:lnTo>
                  <a:pt x="0" y="190500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B83A26"/>
          </a:solidFill>
          <a:ln/>
        </p:spPr>
      </p:sp>
      <p:sp>
        <p:nvSpPr>
          <p:cNvPr id="46" name="Text 44"/>
          <p:cNvSpPr/>
          <p:nvPr/>
        </p:nvSpPr>
        <p:spPr>
          <a:xfrm>
            <a:off x="6094016" y="4800798"/>
            <a:ext cx="3595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2/10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07200" y="1837630"/>
            <a:ext cx="470916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23"/>
              </a:lnSpc>
              <a:buNone/>
            </a:pPr>
            <a:r>
              <a:rPr lang="en-US" sz="1231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Las que más se repiten</a:t>
            </a:r>
            <a:endParaRPr lang="en-US" sz="1231" dirty="0"/>
          </a:p>
        </p:txBody>
      </p:sp>
      <p:sp>
        <p:nvSpPr>
          <p:cNvPr id="48" name="Text 46"/>
          <p:cNvSpPr/>
          <p:nvPr/>
        </p:nvSpPr>
        <p:spPr>
          <a:xfrm>
            <a:off x="6807200" y="2161381"/>
            <a:ext cx="215836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Doble ciclo o doble ingreso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004300" y="2157512"/>
            <a:ext cx="1651000" cy="190500"/>
          </a:xfrm>
          <a:custGeom>
            <a:avLst/>
            <a:gdLst/>
            <a:ahLst/>
            <a:cxnLst/>
            <a:rect l="l" t="t" r="r" b="b"/>
            <a:pathLst>
              <a:path w="1651000" h="190500">
                <a:moveTo>
                  <a:pt x="0" y="0"/>
                </a:moveTo>
                <a:lnTo>
                  <a:pt x="1612900" y="0"/>
                </a:lnTo>
                <a:arcTo hR="38100" wR="38100" stAng="16200000" swAng="5400000"/>
                <a:lnTo>
                  <a:pt x="1651000" y="152400"/>
                </a:lnTo>
                <a:arcTo hR="38100" wR="38100" stAng="0" swAng="5400000"/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0B5638"/>
          </a:solidFill>
          <a:ln/>
        </p:spPr>
      </p:sp>
      <p:sp>
        <p:nvSpPr>
          <p:cNvPr id="50" name="Text 48"/>
          <p:cNvSpPr/>
          <p:nvPr/>
        </p:nvSpPr>
        <p:spPr>
          <a:xfrm>
            <a:off x="10756900" y="2137271"/>
            <a:ext cx="268387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34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807200" y="2439789"/>
            <a:ext cx="215836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Volvió a Ricardone desde el puerto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9004300" y="2527399"/>
            <a:ext cx="1066800" cy="190500"/>
          </a:xfrm>
          <a:custGeom>
            <a:avLst/>
            <a:gdLst/>
            <a:ahLst/>
            <a:cxnLst/>
            <a:rect l="l" t="t" r="r" b="b"/>
            <a:pathLst>
              <a:path w="1066800" h="190500">
                <a:moveTo>
                  <a:pt x="0" y="0"/>
                </a:moveTo>
                <a:lnTo>
                  <a:pt x="1028700" y="0"/>
                </a:lnTo>
                <a:arcTo hR="38100" wR="38100" stAng="16200000" swAng="5400000"/>
                <a:lnTo>
                  <a:pt x="1066800" y="152400"/>
                </a:lnTo>
                <a:arcTo hR="38100" wR="38100" stAng="0" swAng="5400000"/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B83A26"/>
          </a:solidFill>
          <a:ln/>
        </p:spPr>
      </p:sp>
      <p:sp>
        <p:nvSpPr>
          <p:cNvPr id="53" name="Text 51"/>
          <p:cNvSpPr/>
          <p:nvPr/>
        </p:nvSpPr>
        <p:spPr>
          <a:xfrm>
            <a:off x="10172700" y="2507059"/>
            <a:ext cx="260548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22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807200" y="2901057"/>
            <a:ext cx="215836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Primer ingreso por el puerto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9004300" y="2897188"/>
            <a:ext cx="533400" cy="190500"/>
          </a:xfrm>
          <a:custGeom>
            <a:avLst/>
            <a:gdLst/>
            <a:ahLst/>
            <a:cxnLst/>
            <a:rect l="l" t="t" r="r" b="b"/>
            <a:pathLst>
              <a:path w="533400" h="190500">
                <a:moveTo>
                  <a:pt x="0" y="0"/>
                </a:moveTo>
                <a:lnTo>
                  <a:pt x="495300" y="0"/>
                </a:lnTo>
                <a:arcTo hR="38100" wR="38100" stAng="16200000" swAng="5400000"/>
                <a:lnTo>
                  <a:pt x="533400" y="152400"/>
                </a:lnTo>
                <a:arcTo hR="38100" wR="38100" stAng="0" swAng="5400000"/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1C6E9F"/>
          </a:solidFill>
          <a:ln/>
        </p:spPr>
      </p:sp>
      <p:sp>
        <p:nvSpPr>
          <p:cNvPr id="56" name="Text 54"/>
          <p:cNvSpPr/>
          <p:nvPr/>
        </p:nvSpPr>
        <p:spPr>
          <a:xfrm>
            <a:off x="9639300" y="2876947"/>
            <a:ext cx="192187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11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807200" y="3207544"/>
            <a:ext cx="215836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Descarga en otra calle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9004300" y="3203674"/>
            <a:ext cx="482600" cy="190500"/>
          </a:xfrm>
          <a:custGeom>
            <a:avLst/>
            <a:gdLst/>
            <a:ahLst/>
            <a:cxnLst/>
            <a:rect l="l" t="t" r="r" b="b"/>
            <a:pathLst>
              <a:path w="482600" h="190500">
                <a:moveTo>
                  <a:pt x="0" y="0"/>
                </a:moveTo>
                <a:lnTo>
                  <a:pt x="444500" y="0"/>
                </a:lnTo>
                <a:arcTo hR="38100" wR="38100" stAng="16200000" swAng="5400000"/>
                <a:lnTo>
                  <a:pt x="482600" y="152400"/>
                </a:lnTo>
                <a:arcTo hR="38100" wR="38100" stAng="0" swAng="5400000"/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A8560C"/>
          </a:solidFill>
          <a:ln/>
        </p:spPr>
      </p:sp>
      <p:sp>
        <p:nvSpPr>
          <p:cNvPr id="59" name="Text 57"/>
          <p:cNvSpPr/>
          <p:nvPr/>
        </p:nvSpPr>
        <p:spPr>
          <a:xfrm>
            <a:off x="9588500" y="3183434"/>
            <a:ext cx="227905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10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6807200" y="3514030"/>
            <a:ext cx="2158365" cy="208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Vuelta al pre-ingreso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9004300" y="3510161"/>
            <a:ext cx="241300" cy="190500"/>
          </a:xfrm>
          <a:custGeom>
            <a:avLst/>
            <a:gdLst/>
            <a:ahLst/>
            <a:cxnLst/>
            <a:rect l="l" t="t" r="r" b="b"/>
            <a:pathLst>
              <a:path w="241300" h="190500">
                <a:moveTo>
                  <a:pt x="0" y="0"/>
                </a:moveTo>
                <a:lnTo>
                  <a:pt x="203200" y="0"/>
                </a:lnTo>
                <a:arcTo hR="38100" wR="38100" stAng="16200000" swAng="5400000"/>
                <a:lnTo>
                  <a:pt x="241300" y="152400"/>
                </a:lnTo>
                <a:arcTo hR="38100" wR="38100" stAng="0" swAng="5400000"/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7B8A83"/>
          </a:solidFill>
          <a:ln/>
        </p:spPr>
      </p:sp>
      <p:sp>
        <p:nvSpPr>
          <p:cNvPr id="62" name="Text 60"/>
          <p:cNvSpPr/>
          <p:nvPr/>
        </p:nvSpPr>
        <p:spPr>
          <a:xfrm>
            <a:off x="9347200" y="3489920"/>
            <a:ext cx="162322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6807200" y="3792538"/>
            <a:ext cx="215836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Cambio de punto de descarga (Celda 16, silos)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9004300" y="3880048"/>
            <a:ext cx="241300" cy="190500"/>
          </a:xfrm>
          <a:custGeom>
            <a:avLst/>
            <a:gdLst/>
            <a:ahLst/>
            <a:cxnLst/>
            <a:rect l="l" t="t" r="r" b="b"/>
            <a:pathLst>
              <a:path w="241300" h="190500">
                <a:moveTo>
                  <a:pt x="0" y="0"/>
                </a:moveTo>
                <a:lnTo>
                  <a:pt x="203200" y="0"/>
                </a:lnTo>
                <a:arcTo hR="38100" wR="38100" stAng="16200000" swAng="5400000"/>
                <a:lnTo>
                  <a:pt x="241300" y="152400"/>
                </a:lnTo>
                <a:arcTo hR="38100" wR="38100" stAng="0" swAng="5400000"/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7B8A83"/>
          </a:solidFill>
          <a:ln/>
        </p:spPr>
      </p:sp>
      <p:sp>
        <p:nvSpPr>
          <p:cNvPr id="65" name="Text 63"/>
          <p:cNvSpPr/>
          <p:nvPr/>
        </p:nvSpPr>
        <p:spPr>
          <a:xfrm>
            <a:off x="9347200" y="3859808"/>
            <a:ext cx="162322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6807200" y="4225826"/>
            <a:ext cx="215836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Otros (calle interna, líquidos, despacho)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9004300" y="4313337"/>
            <a:ext cx="241300" cy="190500"/>
          </a:xfrm>
          <a:custGeom>
            <a:avLst/>
            <a:gdLst/>
            <a:ahLst/>
            <a:cxnLst/>
            <a:rect l="l" t="t" r="r" b="b"/>
            <a:pathLst>
              <a:path w="241300" h="190500">
                <a:moveTo>
                  <a:pt x="0" y="0"/>
                </a:moveTo>
                <a:lnTo>
                  <a:pt x="203200" y="0"/>
                </a:lnTo>
                <a:arcTo hR="38100" wR="38100" stAng="16200000" swAng="5400000"/>
                <a:lnTo>
                  <a:pt x="241300" y="152400"/>
                </a:lnTo>
                <a:arcTo hR="38100" wR="38100" stAng="0" swAng="5400000"/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7B8A83"/>
          </a:solidFill>
          <a:ln/>
        </p:spPr>
      </p:sp>
      <p:sp>
        <p:nvSpPr>
          <p:cNvPr id="68" name="Text 66"/>
          <p:cNvSpPr/>
          <p:nvPr/>
        </p:nvSpPr>
        <p:spPr>
          <a:xfrm>
            <a:off x="9347200" y="4293096"/>
            <a:ext cx="162322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5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6807200" y="4659114"/>
            <a:ext cx="2158365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Transile sin lectura en el puerto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9004300" y="4746625"/>
            <a:ext cx="95250" cy="190500"/>
          </a:xfrm>
          <a:custGeom>
            <a:avLst/>
            <a:gdLst/>
            <a:ahLst/>
            <a:cxnLst/>
            <a:rect l="l" t="t" r="r" b="b"/>
            <a:pathLst>
              <a:path w="95250" h="190500">
                <a:moveTo>
                  <a:pt x="0" y="0"/>
                </a:moveTo>
                <a:lnTo>
                  <a:pt x="57150" y="0"/>
                </a:lnTo>
                <a:arcTo hR="38100" wR="38100" stAng="16200000" swAng="5400000"/>
                <a:lnTo>
                  <a:pt x="95250" y="152400"/>
                </a:lnTo>
                <a:arcTo hR="38100" wR="38100" stAng="0" swAng="5400000"/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7B8A83"/>
          </a:solidFill>
          <a:ln/>
        </p:spPr>
      </p:sp>
      <p:sp>
        <p:nvSpPr>
          <p:cNvPr id="71" name="Text 69"/>
          <p:cNvSpPr/>
          <p:nvPr/>
        </p:nvSpPr>
        <p:spPr>
          <a:xfrm>
            <a:off x="9201150" y="4726384"/>
            <a:ext cx="155674" cy="256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2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812800" y="5242719"/>
            <a:ext cx="1088339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Doble ciclo</a:t>
            </a:r>
            <a:r>
              <a:rPr lang="en-US" sz="14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 sigue siendo la más frecuente (34). En los dos últimos comités pasó al frente </a:t>
            </a:r>
            <a:r>
              <a:rPr lang="en-US" sz="1400" b="1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la vuelta a Ricardone desde el puerto</a:t>
            </a:r>
            <a:r>
              <a:rPr lang="en-US" sz="1400" dirty="0">
                <a:solidFill>
                  <a:srgbClr val="1B2420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: 9 de 19 casos.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812800" y="6192540"/>
            <a:ext cx="372594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F5A55"/>
                </a:solidFill>
                <a:latin typeface="Public Sans" pitchFamily="34" charset="0"/>
                <a:ea typeface="Public Sans" pitchFamily="34" charset="-122"/>
                <a:cs typeface="Public Sans" pitchFamily="34" charset="-120"/>
              </a:rPr>
              <a:t>Comité de Seguridad · 24 al 30/09/2026 · 18</a:t>
            </a:r>
            <a:endParaRPr lang="en-US" sz="1200" dirty="0"/>
          </a:p>
        </p:txBody>
      </p:sp>
      <p:pic>
        <p:nvPicPr>
          <p:cNvPr id="74" name="Image 0" descr="Nueva Vicentin Argentina">    </p:cNvPr>
          <p:cNvPicPr>
            <a:picLocks noChangeAspect="1"/>
          </p:cNvPicPr>
          <p:nvPr/>
        </p:nvPicPr>
        <p:blipFill>
          <a:blip r:embed="rId1"/>
          <a:srcRect l="-167" r="-167" t="0" b="0"/>
          <a:stretch/>
        </p:blipFill>
        <p:spPr>
          <a:xfrm>
            <a:off x="9893300" y="6172200"/>
            <a:ext cx="476250" cy="254000"/>
          </a:xfrm>
          <a:prstGeom prst="rect">
            <a:avLst/>
          </a:prstGeom>
        </p:spPr>
      </p:pic>
      <p:pic>
        <p:nvPicPr>
          <p:cNvPr id="75" name="Image 1" descr="Bimtrazer">    </p:cNvPr>
          <p:cNvPicPr>
            <a:picLocks noChangeAspect="1"/>
          </p:cNvPicPr>
          <p:nvPr/>
        </p:nvPicPr>
        <p:blipFill>
          <a:blip r:embed="rId2"/>
          <a:srcRect l="0" r="0" t="-63" b="-63"/>
          <a:stretch/>
        </p:blipFill>
        <p:spPr>
          <a:xfrm>
            <a:off x="10623550" y="6121400"/>
            <a:ext cx="755650" cy="355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mité de Seguridad · Semana 24–30 sep">
  <a:themeElements>
    <a:clrScheme name="Comité de Seguridad · Semana 24–30 sep">
      <a:dk1>
        <a:srgbClr val="1B2420"/>
      </a:dk1>
      <a:lt1>
        <a:srgbClr val="FBFBF8"/>
      </a:lt1>
      <a:dk2>
        <a:srgbClr val="535A56"/>
      </a:dk2>
      <a:lt2>
        <a:srgbClr val="E5E6E2"/>
      </a:lt2>
      <a:accent1>
        <a:srgbClr val="B83A26"/>
      </a:accent1>
      <a:accent2>
        <a:srgbClr val="A8560C"/>
      </a:accent2>
      <a:accent3>
        <a:srgbClr val="1C6E9F"/>
      </a:accent3>
      <a:accent4>
        <a:srgbClr val="0B5638"/>
      </a:accent4>
      <a:accent5>
        <a:srgbClr val="2E1B4E"/>
      </a:accent5>
      <a:accent6>
        <a:srgbClr val="1F3F8C"/>
      </a:accent6>
      <a:hlink>
        <a:srgbClr val="0563C1"/>
      </a:hlink>
      <a:folHlink>
        <a:srgbClr val="954F72"/>
      </a:folHlink>
    </a:clrScheme>
    <a:fontScheme name="Comité de Seguridad · Semana 24–30 sep">
      <a:majorFont>
        <a:latin typeface="Domin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ublic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Comité de Seguridad · Semana 24–30 sep</dc:title>
  <dc:subject/>
  <dc:creator/>
  <cp:lastModifiedBy/>
  <cp:revision>1</cp:revision>
  <dcterms:created xsi:type="dcterms:W3CDTF">2026-10-02T14:54:49Z</dcterms:created>
  <dcterms:modified xsi:type="dcterms:W3CDTF">2026-10-02T14:54:49Z</dcterms:modified>
</cp:coreProperties>
</file>