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El universo son los camiones del Excel de Movimientos por Contrato de Ricardone y Terminal Embarque, del 1 al 30 de septiembre: 12.146 camiones.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98 % de los camiones fue leído por al menos una cámara y 92 % en 3 o más puntos de control de su recorrido (por ejemplo ingreso, calada y salida). La lectura por punto es 75 %: 83 % de día (6 a 18 h) y 67 % de noche.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Semanas de lunes a domingo; cada camión cuenta en la semana de su salida. La última semana va del 28 al 30 de septiembre. "En 3 o más puntos" = leído por cámaras de al menos 3 puntos de control distintos de su recorrido. Identificados 28–30: 97,5 %.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Camiones = los que tenían que pasar por ese punto según su circuito, del 1 al 30 de septiembre. Total, día y noche = porcentaje que leyó alguna cámara frontal del punto. En los puntos con varias calles (calada, balanzas) se cuenta leído si lo leyó cualquiera de sus cámaras. La recepción en Silo Chief descarga en S7, igual que Keppler. Tolva silo Chief corresponde a la soja que sale de silos al puerto (R29), que aparece desde la semana del 21/09.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Camiones por calle del volcable: C1 1.121, C2 1.904, C3 1.445, C4 433, C5 2.563. No se incluyen la calada del puerto (todavía no se puede saber qué camión debe ir a calado líquido) ni la cámara SLZTK400 de Renova, que es de apoyo. De día, todas las calles del volcable leen entre 89 y 99 %. Balanza de egreso por semana: 41 %, 50 %, 20 %, 6 % y 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Ninguna cámara sostiene 100 % un día completo; sí lo alcanzan en turnos puntuales (Egreso SL e Ingreso Ricardone el 20/09 de día). Los turnos de 98–99 % con más de 200 camiones muestran que la cámara puede hacerlo y que la medición no limita por debajo de ese nivel; el margen por errores de patente en el Excel o camiones que no pasaron por el punto es de 1 a 2 puntos como mucho. Volcable 1 es el punto que más días pasó el 95 % entero (5 de 16 días) porque casi no cae de noche (92 %). La brecha principal es la noche: 83 % de día contra 67 % de noche.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Turnos de día (6 a 18 h) y de noche (18 a 6 h) con al menos 10 camiones esperados en el nodo. Volcable 1 tuvo 7 turnos al 100 % (5 de día y 2 de noche): 11/09 día 34, 10/09 noche 28, 26/09 día 27, 26/09 noche 23, entre otros. Mejores turnos sin llegar al 100 %: Playa 3 90 de 91; Salida 163 de 169; Calada 141 de 147; Tolva silo Chief 54 de 58; Volcable 2 11 de 12; Balanza ingreso SL 230 de 232; Volcables SL 68 de 69; Ingreso SL 252 de 260; Líquidos 18 de 19; Carga OSL 28 de 30; Balanza egreso SL 184 de 214.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Puerto San Lorenzo, en orden de urgencia. 1 y 2: balanza de egreso, la calle 2 cayó de unas 500 lecturas por día a menos de 160 desde el 14/09 y la calle 1 envió 840 lecturas en el mes contra 6.527 de la calle 2. 3 a 5: volcable de noche, calle 5 29 % (día 95 %), calle 2 50 % (día 89 %), calle 1 58 % (día 89 %). 6: balanza de ingreso, noche 70 % contra 86 % de día. 7: ingreso, 81 % y noche 78 %. 8: Carga OSL, noche 50 % contra 70 % de día. 9: líquidos, 69 % parejo de día y de noche, apunta a encuadre y enfoque. 10 a 12: ajuste fino y control preventivo; traseras (ingreso, balanzas, salida, Renova) con muchas patentes ilegibles, limpieza de lente y encuadre. Los tiempos de cada parada los define el equipo de planta; la lámina fija el orden.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Ricardone, en orden de urgencia. 1 a 3: cámaras que casi no envían lecturas: RicCal05 y RicCal06 (56 y 124 lecturas en el mes), RicB1Egreso (88 contra 5.163 de B2) y RicB2Ingreso (399 contra 4.048 de B1). 4 y 5: Ingreso (noche 64 %, día 93 %) y Salida (noche 65 %, día 84 %); de noche las fallas de lectura de patente casi se triplican (Ingreso 1.160 contra 436; Salida 1.112 contra 356). 6: Tolva silo Chief, noche 45 % y la línea 1 envió solo 27 lecturas. 7: Playa 3, noche 52 % contra 79 %. 8: Volcable 2, 73 %. 9: resto de las balanzas, ingreso 70 % y egreso 83 %. 10: descarga S7, noche 71 % y la línea 2 con 135 lecturas. 11 y 12: enfoque, limpieza y control preventivo; traseras de ingreso, salida y preingreso. Los tiempos los define el equipo de planta; la lámina fija el orden.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Preingreso es el nodo que mejor combina nivel de lectura y volumen: 90 % sobre 11.087 camiones, con dato todos los días. Volcable 1 lee más (93 %) pero tiene días con muy pocos camiones. En el mes hubo un solo día bajo el umbral de 85 %: el 03/09 (78 %), que se habría marcado; el 12/09 y el 22/09 quedaron cerca (87 % y 86 %). Con la alerta diaria, la caída de la balanza de egreso del puerto del 14/09 se habría avisado ese mismo día. Mantenimiento recomendado: limpieza de lentes y control de enfoque e iluminación una vez por mes; recalibración del lector con el proveedor cada tres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total: 95 % de día y 90 % de noche, ponderado por los camiones de septiembre (48.857 pasos de día y 52.004 de noche), da 92 % para el conjunto de las cámaras. Hoy: 83 % de día, 67 % de noche y 75 % en total. El cronograma de calibración apunta primero a los puntos que más camiones dejan sin leer.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8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389334"/>
          </a:xfrm>
          <a:prstGeom prst="rect">
            <a:avLst/>
          </a:prstGeom>
          <a:noFill/>
          <a:ln/>
        </p:spPr>
        <p:txBody>
          <a:bodyPr wrap="square" lIns="0" tIns="0" rIns="0" bIns="0" rtlCol="0" anchor="t"/>
          <a:lstStyle>
            <a:lvl1pPr algn="l" indent="0" marL="0">
              <a:lnSpc>
                <a:spcPct val="115000"/>
              </a:lnSpc>
              <a:buNone/>
              <a:defRPr lang="en-US" sz="2643" dirty="0">
                <a:solidFill>
                  <a:srgbClr val="14281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43" dirty="0"/>
          </a:p>
        </p:txBody>
      </p:sp>
      <p:sp>
        <p:nvSpPr>
          <p:cNvPr id="3" name="Text Placeholder 2"/>
          <p:cNvSpPr/>
          <p:nvPr>
            <p:ph idx="101" type="body"/>
          </p:nvPr>
        </p:nvSpPr>
        <p:spPr>
          <a:xfrm>
            <a:off x="812800" y="1796455"/>
            <a:ext cx="10566400" cy="4248745"/>
          </a:xfrm>
          <a:prstGeom prst="rect">
            <a:avLst/>
          </a:prstGeom>
          <a:noFill/>
          <a:ln/>
        </p:spPr>
        <p:txBody>
          <a:bodyPr wrap="square" lIns="0" tIns="0" rIns="0" bIns="0" rtlCol="0" anchor="t"/>
          <a:lstStyle>
            <a:lvl1pPr algn="l" indent="0" marL="0">
              <a:lnSpc>
                <a:spcPct val="140000"/>
              </a:lnSpc>
              <a:buNone/>
              <a:defRPr lang="en-US" sz="1600" dirty="0">
                <a:solidFill>
                  <a:srgbClr val="14281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8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389334"/>
          </a:xfrm>
          <a:prstGeom prst="rect">
            <a:avLst/>
          </a:prstGeom>
          <a:noFill/>
          <a:ln/>
        </p:spPr>
        <p:txBody>
          <a:bodyPr wrap="square" lIns="0" tIns="0" rIns="0" bIns="0" rtlCol="0" anchor="t"/>
          <a:lstStyle>
            <a:lvl1pPr algn="l" indent="0" marL="0">
              <a:lnSpc>
                <a:spcPct val="115000"/>
              </a:lnSpc>
              <a:buNone/>
              <a:defRPr lang="en-US" sz="2643" dirty="0">
                <a:solidFill>
                  <a:srgbClr val="14281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43" dirty="0"/>
          </a:p>
        </p:txBody>
      </p:sp>
      <p:sp>
        <p:nvSpPr>
          <p:cNvPr id="3" name="Text Placeholder 2"/>
          <p:cNvSpPr/>
          <p:nvPr>
            <p:ph idx="101" type="body"/>
          </p:nvPr>
        </p:nvSpPr>
        <p:spPr>
          <a:xfrm>
            <a:off x="812800" y="1796455"/>
            <a:ext cx="10566400" cy="4248745"/>
          </a:xfrm>
          <a:prstGeom prst="rect">
            <a:avLst/>
          </a:prstGeom>
          <a:noFill/>
          <a:ln/>
        </p:spPr>
        <p:txBody>
          <a:bodyPr wrap="square" lIns="0" tIns="0" rIns="0" bIns="0" rtlCol="0" anchor="t"/>
          <a:lstStyle>
            <a:lvl1pPr algn="l" indent="0" marL="0">
              <a:lnSpc>
                <a:spcPct val="140000"/>
              </a:lnSpc>
              <a:buNone/>
              <a:defRPr lang="en-US" sz="1600" dirty="0">
                <a:solidFill>
                  <a:srgbClr val="14281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webp"/><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webp"/><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563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6333" r="6333" t="0" b="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B5638">
                  <a:alpha val="74000"/>
                </a:srgbClr>
              </a:gs>
              <a:gs pos="55000">
                <a:srgbClr val="0E4A33">
                  <a:alpha val="50000"/>
                </a:srgbClr>
              </a:gs>
              <a:gs pos="100000">
                <a:srgbClr val="2E1B4E">
                  <a:alpha val="64000"/>
                </a:srgbClr>
              </a:gs>
            </a:gsLst>
            <a:lin ang="1800000" scaled="0"/>
          </a:gradFill>
          <a:ln/>
        </p:spPr>
      </p:sp>
      <p:pic>
        <p:nvPicPr>
          <p:cNvPr id="4" name="Image 1" descr="Nueva Vicentin Argentina">    </p:cNvPr>
          <p:cNvPicPr>
            <a:picLocks noChangeAspect="1"/>
          </p:cNvPicPr>
          <p:nvPr/>
        </p:nvPicPr>
        <p:blipFill>
          <a:blip r:embed="rId2"/>
          <a:srcRect l="0" r="0" t="-56" b="-56"/>
          <a:stretch/>
        </p:blipFill>
        <p:spPr>
          <a:xfrm>
            <a:off x="812800" y="711200"/>
            <a:ext cx="1778000" cy="952500"/>
          </a:xfrm>
          <a:prstGeom prst="rect">
            <a:avLst/>
          </a:prstGeom>
        </p:spPr>
      </p:pic>
      <p:pic>
        <p:nvPicPr>
          <p:cNvPr id="5" name="Image 2" descr="Bimtrazer">    </p:cNvPr>
          <p:cNvPicPr>
            <a:picLocks noChangeAspect="1"/>
          </p:cNvPicPr>
          <p:nvPr/>
        </p:nvPicPr>
        <p:blipFill>
          <a:blip r:embed="rId3"/>
          <a:srcRect l="0" r="0" t="-440" b="-440"/>
          <a:stretch/>
        </p:blipFill>
        <p:spPr>
          <a:xfrm>
            <a:off x="9906000" y="812800"/>
            <a:ext cx="1473200" cy="698500"/>
          </a:xfrm>
          <a:prstGeom prst="rect">
            <a:avLst/>
          </a:prstGeom>
        </p:spPr>
      </p:pic>
      <p:sp>
        <p:nvSpPr>
          <p:cNvPr id="6" name="Text 1"/>
          <p:cNvSpPr/>
          <p:nvPr/>
        </p:nvSpPr>
        <p:spPr>
          <a:xfrm>
            <a:off x="812800" y="24054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9CCBAE"/>
                </a:solidFill>
                <a:latin typeface="IBM Plex Sans" pitchFamily="34" charset="0"/>
                <a:ea typeface="IBM Plex Sans" pitchFamily="34" charset="-122"/>
                <a:cs typeface="IBM Plex Sans" pitchFamily="34" charset="-120"/>
              </a:rPr>
              <a:t>LOGÍSTICA · RICARDONE Y PUERTO SAN LORENZO</a:t>
            </a:r>
            <a:endParaRPr lang="en-US" sz="1400" dirty="0"/>
          </a:p>
        </p:txBody>
      </p:sp>
      <p:sp>
        <p:nvSpPr>
          <p:cNvPr id="7" name="Text 2"/>
          <p:cNvSpPr/>
          <p:nvPr>
            <p:ph type="title"/>
          </p:nvPr>
        </p:nvSpPr>
        <p:spPr>
          <a:xfrm>
            <a:off x="812800" y="2832100"/>
            <a:ext cx="98107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1F6F2"/>
                </a:solidFill>
                <a:latin typeface="IBM Plex Sans" pitchFamily="34" charset="0"/>
                <a:ea typeface="IBM Plex Sans" pitchFamily="34" charset="-122"/>
                <a:cs typeface="IBM Plex Sans" pitchFamily="34" charset="-120"/>
              </a:rPr>
              <a:t>Reconocimiento de camiones por cámara</a:t>
            </a:r>
            <a:endParaRPr lang="en-US" sz="6000" dirty="0"/>
          </a:p>
        </p:txBody>
      </p:sp>
      <p:sp>
        <p:nvSpPr>
          <p:cNvPr id="8" name="Text 3"/>
          <p:cNvSpPr/>
          <p:nvPr/>
        </p:nvSpPr>
        <p:spPr>
          <a:xfrm>
            <a:off x="812800" y="461010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6E4DA"/>
                </a:solidFill>
                <a:latin typeface="IBM Plex Sans" pitchFamily="34" charset="0"/>
                <a:ea typeface="IBM Plex Sans" pitchFamily="34" charset="-122"/>
                <a:cs typeface="IBM Plex Sans" pitchFamily="34" charset="-120"/>
              </a:rPr>
              <a:t>Septiembre 2026 · del 1 al 30 de septiembre</a:t>
            </a:r>
            <a:endParaRPr lang="en-US" sz="2000" dirty="0"/>
          </a:p>
        </p:txBody>
      </p:sp>
      <p:sp>
        <p:nvSpPr>
          <p:cNvPr id="9" name="Shape 4"/>
          <p:cNvSpPr/>
          <p:nvPr/>
        </p:nvSpPr>
        <p:spPr>
          <a:xfrm>
            <a:off x="812800" y="5118100"/>
            <a:ext cx="1016000" cy="50800"/>
          </a:xfrm>
          <a:prstGeom prst="roundRect">
            <a:avLst>
              <a:gd name="adj" fmla="val 50000"/>
            </a:avLst>
          </a:prstGeom>
          <a:solidFill>
            <a:srgbClr val="9CCBAE"/>
          </a:solidFill>
          <a:ln/>
        </p:spPr>
      </p:sp>
      <p:sp>
        <p:nvSpPr>
          <p:cNvPr id="10" name="Text 5"/>
          <p:cNvSpPr/>
          <p:nvPr/>
        </p:nvSpPr>
        <p:spPr>
          <a:xfrm>
            <a:off x="812800" y="5346700"/>
            <a:ext cx="850265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9D8CE"/>
                </a:solidFill>
                <a:latin typeface="IBM Plex Sans" pitchFamily="34" charset="0"/>
                <a:ea typeface="IBM Plex Sans" pitchFamily="34" charset="-122"/>
                <a:cs typeface="IBM Plex Sans" pitchFamily="34" charset="-120"/>
              </a:rPr>
              <a:t>Cuántos de los camiones que ingresaron a planta identificaron las cámaras a lo largo de su recorrido. Propuesta de Bimtrazer para NVA.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1954907" cy="289520"/>
          </a:xfrm>
          <a:custGeom>
            <a:avLst/>
            <a:gdLst/>
            <a:ahLst/>
            <a:cxnLst/>
            <a:rect l="l" t="t" r="r" b="b"/>
            <a:pathLst>
              <a:path w="1954907" h="289520">
                <a:moveTo>
                  <a:pt x="144760" y="0"/>
                </a:moveTo>
                <a:lnTo>
                  <a:pt x="1810147" y="0"/>
                </a:lnTo>
                <a:arcTo hR="144760" wR="144760" stAng="16200000" swAng="5400000"/>
                <a:lnTo>
                  <a:pt x="1954907"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RESULTADO DEL MES</a:t>
            </a:r>
            <a:endParaRPr lang="en-US" sz="1200" dirty="0"/>
          </a:p>
        </p:txBody>
      </p:sp>
      <p:sp>
        <p:nvSpPr>
          <p:cNvPr id="3" name="Text 1"/>
          <p:cNvSpPr/>
          <p:nvPr>
            <p:ph type="title"/>
          </p:nvPr>
        </p:nvSpPr>
        <p:spPr>
          <a:xfrm>
            <a:off x="812800" y="1102320"/>
            <a:ext cx="1137920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Casi todo camión que entra a planta queda identificado</a:t>
            </a:r>
            <a:endParaRPr lang="en-US" sz="3200" dirty="0"/>
          </a:p>
        </p:txBody>
      </p:sp>
      <p:sp>
        <p:nvSpPr>
          <p:cNvPr id="4" name="Shape 2"/>
          <p:cNvSpPr/>
          <p:nvPr/>
        </p:nvSpPr>
        <p:spPr>
          <a:xfrm>
            <a:off x="815975" y="1857276"/>
            <a:ext cx="3380284" cy="2337792"/>
          </a:xfrm>
          <a:prstGeom prst="roundRect">
            <a:avLst>
              <a:gd name="adj" fmla="val 4210"/>
            </a:avLst>
          </a:prstGeom>
          <a:solidFill>
            <a:srgbClr val="FCFDFB"/>
          </a:solidFill>
          <a:ln w="6350">
            <a:solidFill>
              <a:srgbClr val="D3E2D7"/>
            </a:solidFill>
            <a:prstDash val="solid"/>
          </a:ln>
        </p:spPr>
      </p:sp>
      <p:sp>
        <p:nvSpPr>
          <p:cNvPr id="5" name="Text 3"/>
          <p:cNvSpPr/>
          <p:nvPr/>
        </p:nvSpPr>
        <p:spPr>
          <a:xfrm>
            <a:off x="1073150" y="2089051"/>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A5D52"/>
                </a:solidFill>
                <a:latin typeface="IBM Plex Sans" pitchFamily="34" charset="0"/>
                <a:ea typeface="IBM Plex Sans" pitchFamily="34" charset="-122"/>
                <a:cs typeface="IBM Plex Sans" pitchFamily="34" charset="-120"/>
              </a:rPr>
              <a:t>IDENTIFICADOS POR CÁMARA</a:t>
            </a:r>
            <a:endParaRPr lang="en-US" sz="1200" dirty="0"/>
          </a:p>
        </p:txBody>
      </p:sp>
      <p:sp>
        <p:nvSpPr>
          <p:cNvPr id="6" name="Text 4"/>
          <p:cNvSpPr/>
          <p:nvPr/>
        </p:nvSpPr>
        <p:spPr>
          <a:xfrm>
            <a:off x="1073150" y="2378571"/>
            <a:ext cx="295191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B5638"/>
                </a:solidFill>
                <a:latin typeface="IBM Plex Sans" pitchFamily="34" charset="0"/>
                <a:ea typeface="IBM Plex Sans" pitchFamily="34" charset="-122"/>
                <a:cs typeface="IBM Plex Sans" pitchFamily="34" charset="-120"/>
              </a:rPr>
              <a:t>98 %</a:t>
            </a:r>
            <a:endParaRPr lang="en-US" sz="6000" dirty="0"/>
          </a:p>
        </p:txBody>
      </p:sp>
      <p:sp>
        <p:nvSpPr>
          <p:cNvPr id="7" name="Text 5"/>
          <p:cNvSpPr/>
          <p:nvPr/>
        </p:nvSpPr>
        <p:spPr>
          <a:xfrm>
            <a:off x="1073150" y="3216771"/>
            <a:ext cx="295191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D52"/>
                </a:solidFill>
                <a:latin typeface="IBM Plex Sans" pitchFamily="34" charset="0"/>
                <a:ea typeface="IBM Plex Sans" pitchFamily="34" charset="-122"/>
                <a:cs typeface="IBM Plex Sans" pitchFamily="34" charset="-120"/>
              </a:rPr>
              <a:t>11.948 de 12.146 camiones leídos al menos por una cámara de su recorrido</a:t>
            </a:r>
            <a:endParaRPr lang="en-US" sz="1400" dirty="0"/>
          </a:p>
        </p:txBody>
      </p:sp>
      <p:sp>
        <p:nvSpPr>
          <p:cNvPr id="8" name="Shape 6"/>
          <p:cNvSpPr/>
          <p:nvPr/>
        </p:nvSpPr>
        <p:spPr>
          <a:xfrm>
            <a:off x="4405809" y="1857276"/>
            <a:ext cx="3380284" cy="2337792"/>
          </a:xfrm>
          <a:prstGeom prst="roundRect">
            <a:avLst>
              <a:gd name="adj" fmla="val 4210"/>
            </a:avLst>
          </a:prstGeom>
          <a:solidFill>
            <a:srgbClr val="FCFDFB"/>
          </a:solidFill>
          <a:ln w="6350">
            <a:solidFill>
              <a:srgbClr val="D3E2D7"/>
            </a:solidFill>
            <a:prstDash val="solid"/>
          </a:ln>
        </p:spPr>
      </p:sp>
      <p:sp>
        <p:nvSpPr>
          <p:cNvPr id="9" name="Text 7"/>
          <p:cNvSpPr/>
          <p:nvPr/>
        </p:nvSpPr>
        <p:spPr>
          <a:xfrm>
            <a:off x="4662984" y="2089051"/>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A5D52"/>
                </a:solidFill>
                <a:latin typeface="IBM Plex Sans" pitchFamily="34" charset="0"/>
                <a:ea typeface="IBM Plex Sans" pitchFamily="34" charset="-122"/>
                <a:cs typeface="IBM Plex Sans" pitchFamily="34" charset="-120"/>
              </a:rPr>
              <a:t>SEGUIDOS EN SU RECORRIDO</a:t>
            </a:r>
            <a:endParaRPr lang="en-US" sz="1200" dirty="0"/>
          </a:p>
        </p:txBody>
      </p:sp>
      <p:sp>
        <p:nvSpPr>
          <p:cNvPr id="10" name="Text 8"/>
          <p:cNvSpPr/>
          <p:nvPr/>
        </p:nvSpPr>
        <p:spPr>
          <a:xfrm>
            <a:off x="4662984" y="2378571"/>
            <a:ext cx="295191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B5638"/>
                </a:solidFill>
                <a:latin typeface="IBM Plex Sans" pitchFamily="34" charset="0"/>
                <a:ea typeface="IBM Plex Sans" pitchFamily="34" charset="-122"/>
                <a:cs typeface="IBM Plex Sans" pitchFamily="34" charset="-120"/>
              </a:rPr>
              <a:t>92 %</a:t>
            </a:r>
            <a:endParaRPr lang="en-US" sz="6000" dirty="0"/>
          </a:p>
        </p:txBody>
      </p:sp>
      <p:sp>
        <p:nvSpPr>
          <p:cNvPr id="11" name="Text 9"/>
          <p:cNvSpPr/>
          <p:nvPr/>
        </p:nvSpPr>
        <p:spPr>
          <a:xfrm>
            <a:off x="4662984" y="3216771"/>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D52"/>
                </a:solidFill>
                <a:latin typeface="IBM Plex Sans" pitchFamily="34" charset="0"/>
                <a:ea typeface="IBM Plex Sans" pitchFamily="34" charset="-122"/>
                <a:cs typeface="IBM Plex Sans" pitchFamily="34" charset="-120"/>
              </a:rPr>
              <a:t>11.204 camiones leídos en 3 o más puntos de control distintos</a:t>
            </a:r>
            <a:endParaRPr lang="en-US" sz="1400" dirty="0"/>
          </a:p>
        </p:txBody>
      </p:sp>
      <p:sp>
        <p:nvSpPr>
          <p:cNvPr id="12" name="Shape 10"/>
          <p:cNvSpPr/>
          <p:nvPr/>
        </p:nvSpPr>
        <p:spPr>
          <a:xfrm>
            <a:off x="7995642" y="1857276"/>
            <a:ext cx="3380284" cy="2337792"/>
          </a:xfrm>
          <a:prstGeom prst="roundRect">
            <a:avLst>
              <a:gd name="adj" fmla="val 4210"/>
            </a:avLst>
          </a:prstGeom>
          <a:solidFill>
            <a:srgbClr val="FCFDFB"/>
          </a:solidFill>
          <a:ln w="6350">
            <a:solidFill>
              <a:srgbClr val="D3E2D7"/>
            </a:solidFill>
            <a:prstDash val="solid"/>
          </a:ln>
        </p:spPr>
      </p:sp>
      <p:sp>
        <p:nvSpPr>
          <p:cNvPr id="13" name="Text 11"/>
          <p:cNvSpPr/>
          <p:nvPr/>
        </p:nvSpPr>
        <p:spPr>
          <a:xfrm>
            <a:off x="8252817" y="2089051"/>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4A5D52"/>
                </a:solidFill>
                <a:latin typeface="IBM Plex Sans" pitchFamily="34" charset="0"/>
                <a:ea typeface="IBM Plex Sans" pitchFamily="34" charset="-122"/>
                <a:cs typeface="IBM Plex Sans" pitchFamily="34" charset="-120"/>
              </a:rPr>
              <a:t>LECTURA POR PUNTO</a:t>
            </a:r>
            <a:endParaRPr lang="en-US" sz="1200" dirty="0"/>
          </a:p>
        </p:txBody>
      </p:sp>
      <p:sp>
        <p:nvSpPr>
          <p:cNvPr id="14" name="Text 12"/>
          <p:cNvSpPr/>
          <p:nvPr/>
        </p:nvSpPr>
        <p:spPr>
          <a:xfrm>
            <a:off x="8252817" y="2378571"/>
            <a:ext cx="295191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2E1B4E"/>
                </a:solidFill>
                <a:latin typeface="IBM Plex Sans" pitchFamily="34" charset="0"/>
                <a:ea typeface="IBM Plex Sans" pitchFamily="34" charset="-122"/>
                <a:cs typeface="IBM Plex Sans" pitchFamily="34" charset="-120"/>
              </a:rPr>
              <a:t>75 %</a:t>
            </a:r>
            <a:endParaRPr lang="en-US" sz="6000" dirty="0"/>
          </a:p>
        </p:txBody>
      </p:sp>
      <p:sp>
        <p:nvSpPr>
          <p:cNvPr id="15" name="Text 13"/>
          <p:cNvSpPr/>
          <p:nvPr/>
        </p:nvSpPr>
        <p:spPr>
          <a:xfrm>
            <a:off x="8252817" y="3216771"/>
            <a:ext cx="295191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D52"/>
                </a:solidFill>
                <a:latin typeface="IBM Plex Sans" pitchFamily="34" charset="0"/>
                <a:ea typeface="IBM Plex Sans" pitchFamily="34" charset="-122"/>
                <a:cs typeface="IBM Plex Sans" pitchFamily="34" charset="-120"/>
              </a:rPr>
              <a:t>Cada punto leyó 75 de cada 100 camiones que pasaron: 83 % de día y 67 % de noche</a:t>
            </a:r>
            <a:endParaRPr lang="en-US" sz="1400" dirty="0"/>
          </a:p>
        </p:txBody>
      </p:sp>
      <p:sp>
        <p:nvSpPr>
          <p:cNvPr id="16" name="Text 14"/>
          <p:cNvSpPr/>
          <p:nvPr/>
        </p:nvSpPr>
        <p:spPr>
          <a:xfrm>
            <a:off x="812800" y="4503043"/>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D52"/>
                </a:solidFill>
                <a:latin typeface="IBM Plex Sans" pitchFamily="34" charset="0"/>
                <a:ea typeface="IBM Plex Sans" pitchFamily="34" charset="-122"/>
                <a:cs typeface="IBM Plex Sans" pitchFamily="34" charset="-120"/>
              </a:rPr>
              <a:t>Ricardone y Puerto San Lorenzo, del 1 al 30 de septiembre. Se evaluaron 12.146 camiones del Excel de Movimientos por Contrato contra los puntos de control que marca su circuito.</a:t>
            </a:r>
            <a:endParaRPr lang="en-US" sz="1600" dirty="0"/>
          </a:p>
        </p:txBody>
      </p:sp>
      <p:pic>
        <p:nvPicPr>
          <p:cNvPr id="17"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8"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9" name="Text 15"/>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Reconocimiento de cámaras · septiembre 2026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1840409" cy="289520"/>
          </a:xfrm>
          <a:custGeom>
            <a:avLst/>
            <a:gdLst/>
            <a:ahLst/>
            <a:cxnLst/>
            <a:rect l="l" t="t" r="r" b="b"/>
            <a:pathLst>
              <a:path w="1840409" h="289520">
                <a:moveTo>
                  <a:pt x="144760" y="0"/>
                </a:moveTo>
                <a:lnTo>
                  <a:pt x="1695648" y="0"/>
                </a:lnTo>
                <a:arcTo hR="144760" wR="144760" stAng="16200000" swAng="5400000"/>
                <a:lnTo>
                  <a:pt x="1840409"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SEMANA A SEMANA</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El nivel de identificación se sostuvo todo el mes</a:t>
            </a:r>
            <a:endParaRPr lang="en-US" sz="3200" dirty="0"/>
          </a:p>
        </p:txBody>
      </p:sp>
      <p:sp>
        <p:nvSpPr>
          <p:cNvPr id="4" name="Shape 2"/>
          <p:cNvSpPr/>
          <p:nvPr/>
        </p:nvSpPr>
        <p:spPr>
          <a:xfrm>
            <a:off x="815975" y="1857276"/>
            <a:ext cx="2005310" cy="2492871"/>
          </a:xfrm>
          <a:prstGeom prst="roundRect">
            <a:avLst>
              <a:gd name="adj" fmla="val 4908"/>
            </a:avLst>
          </a:prstGeom>
          <a:solidFill>
            <a:srgbClr val="FCFDFB"/>
          </a:solidFill>
          <a:ln w="6350">
            <a:solidFill>
              <a:srgbClr val="D3E2D7"/>
            </a:solidFill>
            <a:prstDash val="solid"/>
          </a:ln>
        </p:spPr>
      </p:sp>
      <p:sp>
        <p:nvSpPr>
          <p:cNvPr id="5" name="Text 3"/>
          <p:cNvSpPr/>
          <p:nvPr/>
        </p:nvSpPr>
        <p:spPr>
          <a:xfrm>
            <a:off x="996950" y="2038251"/>
            <a:ext cx="16941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1 al 6 de sep.</a:t>
            </a:r>
            <a:endParaRPr lang="en-US" sz="1500" dirty="0"/>
          </a:p>
        </p:txBody>
      </p:sp>
      <p:sp>
        <p:nvSpPr>
          <p:cNvPr id="6" name="Text 4"/>
          <p:cNvSpPr/>
          <p:nvPr/>
        </p:nvSpPr>
        <p:spPr>
          <a:xfrm>
            <a:off x="996950" y="2419251"/>
            <a:ext cx="1694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3.131 camiones</a:t>
            </a:r>
            <a:endParaRPr lang="en-US" sz="1300" dirty="0"/>
          </a:p>
        </p:txBody>
      </p:sp>
      <p:sp>
        <p:nvSpPr>
          <p:cNvPr id="7" name="Text 5"/>
          <p:cNvSpPr/>
          <p:nvPr/>
        </p:nvSpPr>
        <p:spPr>
          <a:xfrm>
            <a:off x="996950" y="2764631"/>
            <a:ext cx="169416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B5638"/>
                </a:solidFill>
                <a:latin typeface="IBM Plex Sans" pitchFamily="34" charset="0"/>
                <a:ea typeface="IBM Plex Sans" pitchFamily="34" charset="-122"/>
                <a:cs typeface="IBM Plex Sans" pitchFamily="34" charset="-120"/>
              </a:rPr>
              <a:t>98 %</a:t>
            </a:r>
            <a:endParaRPr lang="en-US" sz="3600" dirty="0"/>
          </a:p>
        </p:txBody>
      </p:sp>
      <p:sp>
        <p:nvSpPr>
          <p:cNvPr id="8" name="Text 6"/>
          <p:cNvSpPr/>
          <p:nvPr/>
        </p:nvSpPr>
        <p:spPr>
          <a:xfrm>
            <a:off x="996950" y="3247231"/>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identificados</a:t>
            </a:r>
            <a:endParaRPr lang="en-US" sz="1200" dirty="0"/>
          </a:p>
        </p:txBody>
      </p:sp>
      <p:sp>
        <p:nvSpPr>
          <p:cNvPr id="9" name="Text 7"/>
          <p:cNvSpPr/>
          <p:nvPr/>
        </p:nvSpPr>
        <p:spPr>
          <a:xfrm>
            <a:off x="996950" y="3574852"/>
            <a:ext cx="16941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E1B4E"/>
                </a:solidFill>
                <a:latin typeface="IBM Plex Sans" pitchFamily="34" charset="0"/>
                <a:ea typeface="IBM Plex Sans" pitchFamily="34" charset="-122"/>
                <a:cs typeface="IBM Plex Sans" pitchFamily="34" charset="-120"/>
              </a:rPr>
              <a:t>92 %</a:t>
            </a:r>
            <a:endParaRPr lang="en-US" sz="2800" dirty="0"/>
          </a:p>
        </p:txBody>
      </p:sp>
      <p:sp>
        <p:nvSpPr>
          <p:cNvPr id="10" name="Text 8"/>
          <p:cNvSpPr/>
          <p:nvPr/>
        </p:nvSpPr>
        <p:spPr>
          <a:xfrm>
            <a:off x="996950" y="395585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en 3 o más puntos</a:t>
            </a:r>
            <a:endParaRPr lang="en-US" sz="1200" dirty="0"/>
          </a:p>
        </p:txBody>
      </p:sp>
      <p:sp>
        <p:nvSpPr>
          <p:cNvPr id="11" name="Shape 9"/>
          <p:cNvSpPr/>
          <p:nvPr/>
        </p:nvSpPr>
        <p:spPr>
          <a:xfrm>
            <a:off x="2954635" y="1857276"/>
            <a:ext cx="2005310" cy="2492871"/>
          </a:xfrm>
          <a:prstGeom prst="roundRect">
            <a:avLst>
              <a:gd name="adj" fmla="val 4908"/>
            </a:avLst>
          </a:prstGeom>
          <a:solidFill>
            <a:srgbClr val="FCFDFB"/>
          </a:solidFill>
          <a:ln w="6350">
            <a:solidFill>
              <a:srgbClr val="D3E2D7"/>
            </a:solidFill>
            <a:prstDash val="solid"/>
          </a:ln>
        </p:spPr>
      </p:sp>
      <p:sp>
        <p:nvSpPr>
          <p:cNvPr id="12" name="Text 10"/>
          <p:cNvSpPr/>
          <p:nvPr/>
        </p:nvSpPr>
        <p:spPr>
          <a:xfrm>
            <a:off x="3135610" y="2038251"/>
            <a:ext cx="16941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7 al 13 de sep.</a:t>
            </a:r>
            <a:endParaRPr lang="en-US" sz="1500" dirty="0"/>
          </a:p>
        </p:txBody>
      </p:sp>
      <p:sp>
        <p:nvSpPr>
          <p:cNvPr id="13" name="Text 11"/>
          <p:cNvSpPr/>
          <p:nvPr/>
        </p:nvSpPr>
        <p:spPr>
          <a:xfrm>
            <a:off x="3135610" y="2419251"/>
            <a:ext cx="1694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3.482 camiones</a:t>
            </a:r>
            <a:endParaRPr lang="en-US" sz="1300" dirty="0"/>
          </a:p>
        </p:txBody>
      </p:sp>
      <p:sp>
        <p:nvSpPr>
          <p:cNvPr id="14" name="Text 12"/>
          <p:cNvSpPr/>
          <p:nvPr/>
        </p:nvSpPr>
        <p:spPr>
          <a:xfrm>
            <a:off x="3135610" y="2764631"/>
            <a:ext cx="169416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B5638"/>
                </a:solidFill>
                <a:latin typeface="IBM Plex Sans" pitchFamily="34" charset="0"/>
                <a:ea typeface="IBM Plex Sans" pitchFamily="34" charset="-122"/>
                <a:cs typeface="IBM Plex Sans" pitchFamily="34" charset="-120"/>
              </a:rPr>
              <a:t>98 %</a:t>
            </a:r>
            <a:endParaRPr lang="en-US" sz="3600" dirty="0"/>
          </a:p>
        </p:txBody>
      </p:sp>
      <p:sp>
        <p:nvSpPr>
          <p:cNvPr id="15" name="Text 13"/>
          <p:cNvSpPr/>
          <p:nvPr/>
        </p:nvSpPr>
        <p:spPr>
          <a:xfrm>
            <a:off x="3135610" y="3247231"/>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identificados</a:t>
            </a:r>
            <a:endParaRPr lang="en-US" sz="1200" dirty="0"/>
          </a:p>
        </p:txBody>
      </p:sp>
      <p:sp>
        <p:nvSpPr>
          <p:cNvPr id="16" name="Text 14"/>
          <p:cNvSpPr/>
          <p:nvPr/>
        </p:nvSpPr>
        <p:spPr>
          <a:xfrm>
            <a:off x="3135610" y="3574852"/>
            <a:ext cx="16941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E1B4E"/>
                </a:solidFill>
                <a:latin typeface="IBM Plex Sans" pitchFamily="34" charset="0"/>
                <a:ea typeface="IBM Plex Sans" pitchFamily="34" charset="-122"/>
                <a:cs typeface="IBM Plex Sans" pitchFamily="34" charset="-120"/>
              </a:rPr>
              <a:t>94 %</a:t>
            </a:r>
            <a:endParaRPr lang="en-US" sz="2800" dirty="0"/>
          </a:p>
        </p:txBody>
      </p:sp>
      <p:sp>
        <p:nvSpPr>
          <p:cNvPr id="17" name="Text 15"/>
          <p:cNvSpPr/>
          <p:nvPr/>
        </p:nvSpPr>
        <p:spPr>
          <a:xfrm>
            <a:off x="3135610" y="395585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en 3 o más puntos</a:t>
            </a:r>
            <a:endParaRPr lang="en-US" sz="1200" dirty="0"/>
          </a:p>
        </p:txBody>
      </p:sp>
      <p:sp>
        <p:nvSpPr>
          <p:cNvPr id="18" name="Shape 16"/>
          <p:cNvSpPr/>
          <p:nvPr/>
        </p:nvSpPr>
        <p:spPr>
          <a:xfrm>
            <a:off x="5093295" y="1857276"/>
            <a:ext cx="2005310" cy="2492871"/>
          </a:xfrm>
          <a:prstGeom prst="roundRect">
            <a:avLst>
              <a:gd name="adj" fmla="val 4908"/>
            </a:avLst>
          </a:prstGeom>
          <a:solidFill>
            <a:srgbClr val="FCFDFB"/>
          </a:solidFill>
          <a:ln w="6350">
            <a:solidFill>
              <a:srgbClr val="D3E2D7"/>
            </a:solidFill>
            <a:prstDash val="solid"/>
          </a:ln>
        </p:spPr>
      </p:sp>
      <p:sp>
        <p:nvSpPr>
          <p:cNvPr id="19" name="Text 17"/>
          <p:cNvSpPr/>
          <p:nvPr/>
        </p:nvSpPr>
        <p:spPr>
          <a:xfrm>
            <a:off x="5274270" y="2038251"/>
            <a:ext cx="16941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14 al 20 de sep.</a:t>
            </a:r>
            <a:endParaRPr lang="en-US" sz="1500" dirty="0"/>
          </a:p>
        </p:txBody>
      </p:sp>
      <p:sp>
        <p:nvSpPr>
          <p:cNvPr id="20" name="Text 18"/>
          <p:cNvSpPr/>
          <p:nvPr/>
        </p:nvSpPr>
        <p:spPr>
          <a:xfrm>
            <a:off x="5274270" y="2419251"/>
            <a:ext cx="1694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2.975 camiones</a:t>
            </a:r>
            <a:endParaRPr lang="en-US" sz="1300" dirty="0"/>
          </a:p>
        </p:txBody>
      </p:sp>
      <p:sp>
        <p:nvSpPr>
          <p:cNvPr id="21" name="Text 19"/>
          <p:cNvSpPr/>
          <p:nvPr/>
        </p:nvSpPr>
        <p:spPr>
          <a:xfrm>
            <a:off x="5274270" y="2764631"/>
            <a:ext cx="169416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B5638"/>
                </a:solidFill>
                <a:latin typeface="IBM Plex Sans" pitchFamily="34" charset="0"/>
                <a:ea typeface="IBM Plex Sans" pitchFamily="34" charset="-122"/>
                <a:cs typeface="IBM Plex Sans" pitchFamily="34" charset="-120"/>
              </a:rPr>
              <a:t>99 %</a:t>
            </a:r>
            <a:endParaRPr lang="en-US" sz="3600" dirty="0"/>
          </a:p>
        </p:txBody>
      </p:sp>
      <p:sp>
        <p:nvSpPr>
          <p:cNvPr id="22" name="Text 20"/>
          <p:cNvSpPr/>
          <p:nvPr/>
        </p:nvSpPr>
        <p:spPr>
          <a:xfrm>
            <a:off x="5274270" y="3247231"/>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identificados</a:t>
            </a:r>
            <a:endParaRPr lang="en-US" sz="1200" dirty="0"/>
          </a:p>
        </p:txBody>
      </p:sp>
      <p:sp>
        <p:nvSpPr>
          <p:cNvPr id="23" name="Text 21"/>
          <p:cNvSpPr/>
          <p:nvPr/>
        </p:nvSpPr>
        <p:spPr>
          <a:xfrm>
            <a:off x="5274270" y="3574852"/>
            <a:ext cx="16941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E1B4E"/>
                </a:solidFill>
                <a:latin typeface="IBM Plex Sans" pitchFamily="34" charset="0"/>
                <a:ea typeface="IBM Plex Sans" pitchFamily="34" charset="-122"/>
                <a:cs typeface="IBM Plex Sans" pitchFamily="34" charset="-120"/>
              </a:rPr>
              <a:t>93 %</a:t>
            </a:r>
            <a:endParaRPr lang="en-US" sz="2800" dirty="0"/>
          </a:p>
        </p:txBody>
      </p:sp>
      <p:sp>
        <p:nvSpPr>
          <p:cNvPr id="24" name="Text 22"/>
          <p:cNvSpPr/>
          <p:nvPr/>
        </p:nvSpPr>
        <p:spPr>
          <a:xfrm>
            <a:off x="5274270" y="395585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en 3 o más puntos</a:t>
            </a:r>
            <a:endParaRPr lang="en-US" sz="1200" dirty="0"/>
          </a:p>
        </p:txBody>
      </p:sp>
      <p:sp>
        <p:nvSpPr>
          <p:cNvPr id="25" name="Shape 23"/>
          <p:cNvSpPr/>
          <p:nvPr/>
        </p:nvSpPr>
        <p:spPr>
          <a:xfrm>
            <a:off x="7231955" y="1857276"/>
            <a:ext cx="2005310" cy="2492871"/>
          </a:xfrm>
          <a:prstGeom prst="roundRect">
            <a:avLst>
              <a:gd name="adj" fmla="val 4908"/>
            </a:avLst>
          </a:prstGeom>
          <a:solidFill>
            <a:srgbClr val="FCFDFB"/>
          </a:solidFill>
          <a:ln w="6350">
            <a:solidFill>
              <a:srgbClr val="D3E2D7"/>
            </a:solidFill>
            <a:prstDash val="solid"/>
          </a:ln>
        </p:spPr>
      </p:sp>
      <p:sp>
        <p:nvSpPr>
          <p:cNvPr id="26" name="Text 24"/>
          <p:cNvSpPr/>
          <p:nvPr/>
        </p:nvSpPr>
        <p:spPr>
          <a:xfrm>
            <a:off x="7412930" y="2038251"/>
            <a:ext cx="16941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21 al 27 de sep.</a:t>
            </a:r>
            <a:endParaRPr lang="en-US" sz="1500" dirty="0"/>
          </a:p>
        </p:txBody>
      </p:sp>
      <p:sp>
        <p:nvSpPr>
          <p:cNvPr id="27" name="Text 25"/>
          <p:cNvSpPr/>
          <p:nvPr/>
        </p:nvSpPr>
        <p:spPr>
          <a:xfrm>
            <a:off x="7412930" y="2419251"/>
            <a:ext cx="1694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1.604 camiones</a:t>
            </a:r>
            <a:endParaRPr lang="en-US" sz="1300" dirty="0"/>
          </a:p>
        </p:txBody>
      </p:sp>
      <p:sp>
        <p:nvSpPr>
          <p:cNvPr id="28" name="Text 26"/>
          <p:cNvSpPr/>
          <p:nvPr/>
        </p:nvSpPr>
        <p:spPr>
          <a:xfrm>
            <a:off x="7412930" y="2764631"/>
            <a:ext cx="169416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B5638"/>
                </a:solidFill>
                <a:latin typeface="IBM Plex Sans" pitchFamily="34" charset="0"/>
                <a:ea typeface="IBM Plex Sans" pitchFamily="34" charset="-122"/>
                <a:cs typeface="IBM Plex Sans" pitchFamily="34" charset="-120"/>
              </a:rPr>
              <a:t>99 %</a:t>
            </a:r>
            <a:endParaRPr lang="en-US" sz="3600" dirty="0"/>
          </a:p>
        </p:txBody>
      </p:sp>
      <p:sp>
        <p:nvSpPr>
          <p:cNvPr id="29" name="Text 27"/>
          <p:cNvSpPr/>
          <p:nvPr/>
        </p:nvSpPr>
        <p:spPr>
          <a:xfrm>
            <a:off x="7412930" y="3247231"/>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identificados</a:t>
            </a:r>
            <a:endParaRPr lang="en-US" sz="1200" dirty="0"/>
          </a:p>
        </p:txBody>
      </p:sp>
      <p:sp>
        <p:nvSpPr>
          <p:cNvPr id="30" name="Text 28"/>
          <p:cNvSpPr/>
          <p:nvPr/>
        </p:nvSpPr>
        <p:spPr>
          <a:xfrm>
            <a:off x="7412930" y="3574852"/>
            <a:ext cx="16941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E1B4E"/>
                </a:solidFill>
                <a:latin typeface="IBM Plex Sans" pitchFamily="34" charset="0"/>
                <a:ea typeface="IBM Plex Sans" pitchFamily="34" charset="-122"/>
                <a:cs typeface="IBM Plex Sans" pitchFamily="34" charset="-120"/>
              </a:rPr>
              <a:t>90 %</a:t>
            </a:r>
            <a:endParaRPr lang="en-US" sz="2800" dirty="0"/>
          </a:p>
        </p:txBody>
      </p:sp>
      <p:sp>
        <p:nvSpPr>
          <p:cNvPr id="31" name="Text 29"/>
          <p:cNvSpPr/>
          <p:nvPr/>
        </p:nvSpPr>
        <p:spPr>
          <a:xfrm>
            <a:off x="7412930" y="395585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en 3 o más puntos</a:t>
            </a:r>
            <a:endParaRPr lang="en-US" sz="1200" dirty="0"/>
          </a:p>
        </p:txBody>
      </p:sp>
      <p:sp>
        <p:nvSpPr>
          <p:cNvPr id="32" name="Shape 30"/>
          <p:cNvSpPr/>
          <p:nvPr/>
        </p:nvSpPr>
        <p:spPr>
          <a:xfrm>
            <a:off x="9370616" y="1857276"/>
            <a:ext cx="2005310" cy="2492871"/>
          </a:xfrm>
          <a:prstGeom prst="roundRect">
            <a:avLst>
              <a:gd name="adj" fmla="val 4908"/>
            </a:avLst>
          </a:prstGeom>
          <a:solidFill>
            <a:srgbClr val="FCFDFB"/>
          </a:solidFill>
          <a:ln w="6350">
            <a:solidFill>
              <a:srgbClr val="D3E2D7"/>
            </a:solidFill>
            <a:prstDash val="solid"/>
          </a:ln>
        </p:spPr>
      </p:sp>
      <p:sp>
        <p:nvSpPr>
          <p:cNvPr id="33" name="Text 31"/>
          <p:cNvSpPr/>
          <p:nvPr/>
        </p:nvSpPr>
        <p:spPr>
          <a:xfrm>
            <a:off x="9551591" y="2038251"/>
            <a:ext cx="16941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28 al 30 de sep.</a:t>
            </a:r>
            <a:endParaRPr lang="en-US" sz="1500" dirty="0"/>
          </a:p>
        </p:txBody>
      </p:sp>
      <p:sp>
        <p:nvSpPr>
          <p:cNvPr id="34" name="Text 32"/>
          <p:cNvSpPr/>
          <p:nvPr/>
        </p:nvSpPr>
        <p:spPr>
          <a:xfrm>
            <a:off x="9551591" y="2419251"/>
            <a:ext cx="1694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954 camiones</a:t>
            </a:r>
            <a:endParaRPr lang="en-US" sz="1300" dirty="0"/>
          </a:p>
        </p:txBody>
      </p:sp>
      <p:sp>
        <p:nvSpPr>
          <p:cNvPr id="35" name="Text 33"/>
          <p:cNvSpPr/>
          <p:nvPr/>
        </p:nvSpPr>
        <p:spPr>
          <a:xfrm>
            <a:off x="9551591" y="2764631"/>
            <a:ext cx="169416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B5638"/>
                </a:solidFill>
                <a:latin typeface="IBM Plex Sans" pitchFamily="34" charset="0"/>
                <a:ea typeface="IBM Plex Sans" pitchFamily="34" charset="-122"/>
                <a:cs typeface="IBM Plex Sans" pitchFamily="34" charset="-120"/>
              </a:rPr>
              <a:t>98 %</a:t>
            </a:r>
            <a:endParaRPr lang="en-US" sz="3600" dirty="0"/>
          </a:p>
        </p:txBody>
      </p:sp>
      <p:sp>
        <p:nvSpPr>
          <p:cNvPr id="36" name="Text 34"/>
          <p:cNvSpPr/>
          <p:nvPr/>
        </p:nvSpPr>
        <p:spPr>
          <a:xfrm>
            <a:off x="9551591" y="3247231"/>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identificados</a:t>
            </a:r>
            <a:endParaRPr lang="en-US" sz="1200" dirty="0"/>
          </a:p>
        </p:txBody>
      </p:sp>
      <p:sp>
        <p:nvSpPr>
          <p:cNvPr id="37" name="Text 35"/>
          <p:cNvSpPr/>
          <p:nvPr/>
        </p:nvSpPr>
        <p:spPr>
          <a:xfrm>
            <a:off x="9551591" y="3574852"/>
            <a:ext cx="16941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E1B4E"/>
                </a:solidFill>
                <a:latin typeface="IBM Plex Sans" pitchFamily="34" charset="0"/>
                <a:ea typeface="IBM Plex Sans" pitchFamily="34" charset="-122"/>
                <a:cs typeface="IBM Plex Sans" pitchFamily="34" charset="-120"/>
              </a:rPr>
              <a:t>88 %</a:t>
            </a:r>
            <a:endParaRPr lang="en-US" sz="2800" dirty="0"/>
          </a:p>
        </p:txBody>
      </p:sp>
      <p:sp>
        <p:nvSpPr>
          <p:cNvPr id="38" name="Text 36"/>
          <p:cNvSpPr/>
          <p:nvPr/>
        </p:nvSpPr>
        <p:spPr>
          <a:xfrm>
            <a:off x="9551591" y="395585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en 3 o más puntos</a:t>
            </a:r>
            <a:endParaRPr lang="en-US" sz="1200" dirty="0"/>
          </a:p>
        </p:txBody>
      </p:sp>
      <p:sp>
        <p:nvSpPr>
          <p:cNvPr id="39" name="Text 37"/>
          <p:cNvSpPr/>
          <p:nvPr/>
        </p:nvSpPr>
        <p:spPr>
          <a:xfrm>
            <a:off x="812800" y="4658122"/>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D52"/>
                </a:solidFill>
                <a:latin typeface="IBM Plex Sans" pitchFamily="34" charset="0"/>
                <a:ea typeface="IBM Plex Sans" pitchFamily="34" charset="-122"/>
                <a:cs typeface="IBM Plex Sans" pitchFamily="34" charset="-120"/>
              </a:rPr>
              <a:t>Todas las semanas, 97 de cada 100 camiones o más quedaron registrados por las cámaras. La semana del 7 al 13 fue la mejor del mes.</a:t>
            </a:r>
            <a:endParaRPr lang="en-US" sz="1600" dirty="0"/>
          </a:p>
        </p:txBody>
      </p:sp>
      <p:pic>
        <p:nvPicPr>
          <p:cNvPr id="40"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41"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42" name="Text 38"/>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Reconocimiento de cámaras · septiembre 2026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0505"/>
            <a:ext cx="3241973" cy="289520"/>
          </a:xfrm>
          <a:custGeom>
            <a:avLst/>
            <a:gdLst/>
            <a:ahLst/>
            <a:cxnLst/>
            <a:rect l="l" t="t" r="r" b="b"/>
            <a:pathLst>
              <a:path w="3241973" h="289520">
                <a:moveTo>
                  <a:pt x="144760" y="0"/>
                </a:moveTo>
                <a:lnTo>
                  <a:pt x="3097213" y="0"/>
                </a:lnTo>
                <a:arcTo hR="144760" wR="144760" stAng="16200000" swAng="5400000"/>
                <a:lnTo>
                  <a:pt x="3241973"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RICARDONE · CÁMARA POR CÁMARA</a:t>
            </a:r>
            <a:endParaRPr lang="en-US" sz="1200" dirty="0"/>
          </a:p>
        </p:txBody>
      </p:sp>
      <p:sp>
        <p:nvSpPr>
          <p:cNvPr id="3" name="Text 1"/>
          <p:cNvSpPr/>
          <p:nvPr>
            <p:ph type="title"/>
          </p:nvPr>
        </p:nvSpPr>
        <p:spPr>
          <a:xfrm>
            <a:off x="812800" y="1100931"/>
            <a:ext cx="10883392" cy="414734"/>
          </a:xfrm>
          <a:prstGeom prst="rect">
            <a:avLst/>
          </a:prstGeom>
          <a:noFill/>
          <a:ln/>
        </p:spPr>
        <p:txBody>
          <a:bodyPr wrap="square" lIns="0" tIns="0" rIns="0" bIns="0" rtlCol="0" anchor="t">
            <a:normAutofit/>
          </a:bodyPr>
          <a:lstStyle/>
          <a:p>
            <a:pPr algn="l" indent="0" marL="0">
              <a:lnSpc>
                <a:spcPts val="3070"/>
              </a:lnSpc>
              <a:buNone/>
            </a:pPr>
            <a:r>
              <a:rPr lang="en-US" sz="2791" b="1" i="0" dirty="0">
                <a:solidFill>
                  <a:srgbClr val="14281E"/>
                </a:solidFill>
                <a:latin typeface="IBM Plex Sans" pitchFamily="34" charset="0"/>
                <a:ea typeface="IBM Plex Sans" pitchFamily="34" charset="-122"/>
                <a:cs typeface="IBM Plex Sans" pitchFamily="34" charset="-120"/>
              </a:rPr>
              <a:t>Volcable 1 y Preingreso, arriba del 90 %</a:t>
            </a:r>
            <a:endParaRPr lang="en-US" sz="2791"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166"/>
          <a:ext cx="10553700" cy="4135834"/>
        </p:xfrm>
        <a:graphic>
          <a:graphicData uri="http://schemas.openxmlformats.org/drawingml/2006/table">
            <a:tbl>
              <a:tblPr/>
              <a:tblGrid>
                <a:gridCol w="2321814"/>
                <a:gridCol w="2955036"/>
                <a:gridCol w="1477518"/>
                <a:gridCol w="1266444"/>
                <a:gridCol w="1266444"/>
                <a:gridCol w="1266444"/>
              </a:tblGrid>
              <a:tr h="344587">
                <a:tc>
                  <a:txBody>
                    <a:bodyPr/>
                    <a:lstStyle/>
                    <a:p>
                      <a:pPr indent="0" marL="0">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Punto</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indent="0" marL="0">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Cámaras</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Camiones</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Total</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Día</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Noche</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r>
              <a:tr h="344587">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Ingreso</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RicIngCamFrente</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9.558</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78 %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93 %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B3261E"/>
                          </a:solidFill>
                          <a:latin typeface="IBM Plex Sans" pitchFamily="34" charset="0"/>
                          <a:ea typeface="IBM Plex Sans" pitchFamily="34" charset="-122"/>
                          <a:cs typeface="IBM Plex Sans" pitchFamily="34" charset="-120"/>
                        </a:rPr>
                        <a:t>64 %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44587">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Preingreso</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RicPreIngInFr, RicPreIngEgFr</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11.087</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90 %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94 %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87 %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4587">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Calada</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RicCal01 a 06, RicCalLiq</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11.090</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82 %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85 %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80 %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4686">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Balanza ingreso</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RicB1, B2 y B3 Ingreso</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3.624</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70 %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71 %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68 %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44686">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Playa 3</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RicS6Playa3</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3.319</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67 %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79 %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B3261E"/>
                          </a:solidFill>
                          <a:latin typeface="IBM Plex Sans" pitchFamily="34" charset="0"/>
                          <a:ea typeface="IBM Plex Sans" pitchFamily="34" charset="-122"/>
                          <a:cs typeface="IBM Plex Sans" pitchFamily="34" charset="-120"/>
                        </a:rPr>
                        <a:t>52 %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44686">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Descarga S7 (Keppler y Chief)</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RicS7 Desc. línea 1 y 2, Carga</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252</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83 %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95 %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71 %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4686">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Tolva silo Chief</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RicS8 Carga línea 1 y 2</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605</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739"/>
                        </a:lnSpc>
                        <a:buNone/>
                      </a:pPr>
                      <a:r>
                        <a:rPr lang="en-US" sz="1242" dirty="0">
                          <a:solidFill>
                            <a:srgbClr val="B3261E"/>
                          </a:solidFill>
                          <a:latin typeface="IBM Plex Sans" pitchFamily="34" charset="0"/>
                          <a:ea typeface="IBM Plex Sans" pitchFamily="34" charset="-122"/>
                          <a:cs typeface="IBM Plex Sans" pitchFamily="34" charset="-120"/>
                        </a:rPr>
                        <a:t>61 %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76 %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739"/>
                        </a:lnSpc>
                        <a:buNone/>
                      </a:pPr>
                      <a:r>
                        <a:rPr lang="en-US" sz="1242" dirty="0">
                          <a:solidFill>
                            <a:srgbClr val="B3261E"/>
                          </a:solidFill>
                          <a:latin typeface="IBM Plex Sans" pitchFamily="34" charset="0"/>
                          <a:ea typeface="IBM Plex Sans" pitchFamily="34" charset="-122"/>
                          <a:cs typeface="IBM Plex Sans" pitchFamily="34" charset="-120"/>
                        </a:rPr>
                        <a:t>45 %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r>
              <a:tr h="344686">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Volcable 1</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RicVolcable1</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997</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93 %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94 %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92 %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4686">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Volcable 2</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RicVolcable2</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385</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73 %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78 %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67 %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44686">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Balanza egreso</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RicB1, B2 y B3 Egreso</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3.624</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83 %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87 %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79 %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4686">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Salida</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RicEgrCamFrente</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14281E"/>
                          </a:solidFill>
                          <a:latin typeface="IBM Plex Sans" pitchFamily="34" charset="0"/>
                          <a:ea typeface="IBM Plex Sans" pitchFamily="34" charset="-122"/>
                          <a:cs typeface="IBM Plex Sans" pitchFamily="34" charset="-120"/>
                        </a:rPr>
                        <a:t>9.151</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74 %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0B5638"/>
                          </a:solidFill>
                          <a:latin typeface="IBM Plex Sans" pitchFamily="34" charset="0"/>
                          <a:ea typeface="IBM Plex Sans" pitchFamily="34" charset="-122"/>
                          <a:cs typeface="IBM Plex Sans" pitchFamily="34" charset="-120"/>
                        </a:rPr>
                        <a:t>84 %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739"/>
                        </a:lnSpc>
                        <a:buNone/>
                      </a:pPr>
                      <a:r>
                        <a:rPr lang="en-US" sz="1242" dirty="0">
                          <a:solidFill>
                            <a:srgbClr val="8A5A00"/>
                          </a:solidFill>
                          <a:latin typeface="IBM Plex Sans" pitchFamily="34" charset="0"/>
                          <a:ea typeface="IBM Plex Sans" pitchFamily="34" charset="-122"/>
                          <a:cs typeface="IBM Plex Sans" pitchFamily="34" charset="-120"/>
                        </a:rPr>
                        <a:t>65 %</a:t>
                      </a:r>
                      <a:endParaRPr lang="en-US" sz="1242" dirty="0">
                        <a:latin typeface="IBM Plex Sans" charset="0"/>
                        <a:ea typeface="IBM Plex Sans" charset="0"/>
                        <a:cs typeface="IBM Plex Sans" charset="0"/>
                      </a:endParaRPr>
                    </a:p>
                  </a:txBody>
                  <a:tcPr marL="55215" marR="55215" marT="55215" marB="55215"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bl>
          </a:graphicData>
        </a:graphic>
      </p:graphicFrame>
      <p:pic>
        <p:nvPicPr>
          <p:cNvPr id="5"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6"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7" name="Text 2"/>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Verde 80 % o más · ocre 65 a 79 % · rojo menos de 65 % · la fila toma el color del total · Día 6 a 18 h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4119265" cy="289520"/>
          </a:xfrm>
          <a:custGeom>
            <a:avLst/>
            <a:gdLst/>
            <a:ahLst/>
            <a:cxnLst/>
            <a:rect l="l" t="t" r="r" b="b"/>
            <a:pathLst>
              <a:path w="4119265" h="289520">
                <a:moveTo>
                  <a:pt x="144760" y="0"/>
                </a:moveTo>
                <a:lnTo>
                  <a:pt x="3974505" y="0"/>
                </a:lnTo>
                <a:arcTo hR="144760" wR="144760" stAng="16200000" swAng="5400000"/>
                <a:lnTo>
                  <a:pt x="4119265"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PUERTO SAN LORENZO · CÁMARA POR CÁMARA</a:t>
            </a:r>
            <a:endParaRPr lang="en-US" sz="1200" dirty="0"/>
          </a:p>
        </p:txBody>
      </p:sp>
      <p:sp>
        <p:nvSpPr>
          <p:cNvPr id="3" name="Text 1"/>
          <p:cNvSpPr/>
          <p:nvPr>
            <p:ph type="title"/>
          </p:nvPr>
        </p:nvSpPr>
        <p:spPr>
          <a:xfrm>
            <a:off x="812800" y="1102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81E"/>
                </a:solidFill>
                <a:latin typeface="IBM Plex Sans" pitchFamily="34" charset="0"/>
                <a:ea typeface="IBM Plex Sans" pitchFamily="34" charset="-122"/>
                <a:cs typeface="IBM Plex Sans" pitchFamily="34" charset="-120"/>
              </a:rPr>
              <a:t>Egreso firme; balanza de egreso, a corregir</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9341"/>
          <a:ext cx="6997700" cy="2660650"/>
        </p:xfrm>
        <a:graphic>
          <a:graphicData uri="http://schemas.openxmlformats.org/drawingml/2006/table">
            <a:tbl>
              <a:tblPr/>
              <a:tblGrid>
                <a:gridCol w="1539494"/>
                <a:gridCol w="1889379"/>
                <a:gridCol w="1049655"/>
                <a:gridCol w="839724"/>
                <a:gridCol w="839724"/>
                <a:gridCol w="839724"/>
              </a:tblGrid>
              <a:tr h="332581">
                <a:tc>
                  <a:txBody>
                    <a:bodyPr/>
                    <a:lstStyle/>
                    <a:p>
                      <a:pP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Punto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Cámaras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algn="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Camiones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algn="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Total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algn="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algn="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Noche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Ingreso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SLZIngCamFrente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8.322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81 %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85 %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78 %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ingreso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SLZBalIngFte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10.116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78 %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86 %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Carga OSL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RenCargFte, RenDescFte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763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64 %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SLZVolcableC1 a C5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7.466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71 %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94 %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53 %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Líquidos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SLZBalLiq 1a a 2b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273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69 %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66 %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egreso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SLZBalSC1Fte, SC2Fte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10.116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31 %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46 %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17 %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Egreso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SLZSalidaC1Fte, C2Fte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10.113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86 %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89 %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84 %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bl>
          </a:graphicData>
        </a:graphic>
      </p:graphicFrame>
      <p:sp>
        <p:nvSpPr>
          <p:cNvPr id="5" name="Shape 2"/>
          <p:cNvSpPr/>
          <p:nvPr/>
        </p:nvSpPr>
        <p:spPr>
          <a:xfrm>
            <a:off x="8080375" y="1699816"/>
            <a:ext cx="3295650" cy="2933898"/>
          </a:xfrm>
          <a:prstGeom prst="roundRect">
            <a:avLst>
              <a:gd name="adj" fmla="val 3355"/>
            </a:avLst>
          </a:prstGeom>
          <a:solidFill>
            <a:srgbClr val="FCFDFB"/>
          </a:solidFill>
          <a:ln w="6350">
            <a:solidFill>
              <a:srgbClr val="D3E2D7"/>
            </a:solidFill>
            <a:prstDash val="solid"/>
          </a:ln>
        </p:spPr>
      </p:sp>
      <p:sp>
        <p:nvSpPr>
          <p:cNvPr id="6" name="Text 3"/>
          <p:cNvSpPr/>
          <p:nvPr/>
        </p:nvSpPr>
        <p:spPr>
          <a:xfrm>
            <a:off x="8286750" y="1880791"/>
            <a:ext cx="296938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E1B4E"/>
                </a:solidFill>
                <a:latin typeface="IBM Plex Sans" pitchFamily="34" charset="0"/>
                <a:ea typeface="IBM Plex Sans" pitchFamily="34" charset="-122"/>
                <a:cs typeface="IBM Plex Sans" pitchFamily="34" charset="-120"/>
              </a:rPr>
              <a:t>Calles del volcable</a:t>
            </a:r>
            <a:endParaRPr lang="en-US" sz="1400" dirty="0"/>
          </a:p>
        </p:txBody>
      </p:sp>
      <p:sp>
        <p:nvSpPr>
          <p:cNvPr id="7" name="Text 4"/>
          <p:cNvSpPr/>
          <p:nvPr/>
        </p:nvSpPr>
        <p:spPr>
          <a:xfrm>
            <a:off x="8286750" y="2170311"/>
            <a:ext cx="2969387"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La calle sale del Excel (VOLCABLE PTO)</a:t>
            </a:r>
            <a:endParaRPr lang="en-US" sz="12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8299450" y="2457252"/>
          <a:ext cx="2882900" cy="1995487"/>
        </p:xfrm>
        <a:graphic>
          <a:graphicData uri="http://schemas.openxmlformats.org/drawingml/2006/table">
            <a:tbl>
              <a:tblPr/>
              <a:tblGrid>
                <a:gridCol w="807212"/>
                <a:gridCol w="691896"/>
                <a:gridCol w="691896"/>
                <a:gridCol w="691896"/>
              </a:tblGrid>
              <a:tr h="332581">
                <a:tc>
                  <a:txBody>
                    <a:bodyPr/>
                    <a:lstStyle/>
                    <a:p>
                      <a:pP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Calle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algn="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Total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algn="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algn="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Noche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72 %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89 %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58 %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67 %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89 %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84 %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96 %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77 %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95 %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99 %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92 %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59 %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95 %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algn="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29 %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r>
            </a:tbl>
          </a:graphicData>
        </a:graphic>
      </p:graphicFrame>
      <p:pic>
        <p:nvPicPr>
          <p:cNvPr id="9"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0"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1" name="Text 5"/>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Verde 80 % o más · ocre 65 a 79 % · rojo menos de 65 % · la fila toma el color del total · Día 6 a 18 h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02866"/>
            <a:ext cx="2842121" cy="289520"/>
          </a:xfrm>
          <a:custGeom>
            <a:avLst/>
            <a:gdLst/>
            <a:ahLst/>
            <a:cxnLst/>
            <a:rect l="l" t="t" r="r" b="b"/>
            <a:pathLst>
              <a:path w="2842121" h="289520">
                <a:moveTo>
                  <a:pt x="144760" y="0"/>
                </a:moveTo>
                <a:lnTo>
                  <a:pt x="2697361" y="0"/>
                </a:lnTo>
                <a:arcTo hR="144760" wR="144760" stAng="16200000" swAng="5400000"/>
                <a:lnTo>
                  <a:pt x="2842121"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¿SE PUEDE LLEGAR A 98–99 %?</a:t>
            </a:r>
            <a:endParaRPr lang="en-US" sz="1200" dirty="0"/>
          </a:p>
        </p:txBody>
      </p:sp>
      <p:sp>
        <p:nvSpPr>
          <p:cNvPr id="3" name="Text 1"/>
          <p:cNvSpPr/>
          <p:nvPr>
            <p:ph type="title"/>
          </p:nvPr>
        </p:nvSpPr>
        <p:spPr>
          <a:xfrm>
            <a:off x="812800" y="1085652"/>
            <a:ext cx="10883392" cy="762695"/>
          </a:xfrm>
          <a:prstGeom prst="rect">
            <a:avLst/>
          </a:prstGeom>
          <a:noFill/>
          <a:ln/>
        </p:spPr>
        <p:txBody>
          <a:bodyPr wrap="square" lIns="0" tIns="0" rIns="0" bIns="0" rtlCol="0" anchor="t">
            <a:normAutofit/>
          </a:bodyPr>
          <a:lstStyle/>
          <a:p>
            <a:pPr algn="l" indent="0" marL="0">
              <a:lnSpc>
                <a:spcPts val="2907"/>
              </a:lnSpc>
              <a:buNone/>
            </a:pPr>
            <a:r>
              <a:rPr lang="en-US" sz="2643" b="1" i="0" dirty="0">
                <a:solidFill>
                  <a:srgbClr val="14281E"/>
                </a:solidFill>
                <a:latin typeface="IBM Plex Sans" pitchFamily="34" charset="0"/>
                <a:ea typeface="IBM Plex Sans" pitchFamily="34" charset="-122"/>
                <a:cs typeface="IBM Plex Sans" pitchFamily="34" charset="-120"/>
              </a:rPr>
              <a:t>Las cámaras ya leyeron 98–99 % en turnos de día con mucho volumen</a:t>
            </a:r>
            <a:endParaRPr lang="en-US" sz="2643" dirty="0"/>
          </a:p>
        </p:txBody>
      </p:sp>
      <p:sp>
        <p:nvSpPr>
          <p:cNvPr id="4" name="Text 2"/>
          <p:cNvSpPr/>
          <p:nvPr/>
        </p:nvSpPr>
        <p:spPr>
          <a:xfrm>
            <a:off x="812800" y="2051546"/>
            <a:ext cx="65405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E1B4E"/>
                </a:solidFill>
                <a:latin typeface="IBM Plex Sans" pitchFamily="34" charset="0"/>
                <a:ea typeface="IBM Plex Sans" pitchFamily="34" charset="-122"/>
                <a:cs typeface="IBM Plex Sans" pitchFamily="34" charset="-120"/>
              </a:rPr>
              <a:t>Mejores turnos del mes</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394446"/>
          <a:ext cx="6337300" cy="3657600"/>
        </p:xfrm>
        <a:graphic>
          <a:graphicData uri="http://schemas.openxmlformats.org/drawingml/2006/table">
            <a:tbl>
              <a:tblPr/>
              <a:tblGrid>
                <a:gridCol w="2915158"/>
                <a:gridCol w="1394206"/>
                <a:gridCol w="1013968"/>
                <a:gridCol w="1013968"/>
              </a:tblGrid>
              <a:tr h="346075">
                <a:tc>
                  <a:txBody>
                    <a:bodyPr/>
                    <a:lstStyle/>
                    <a:p>
                      <a:pP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Punto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BCB7"/>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5BCB7"/>
                      </a:solidFill>
                      <a:prstDash val="solid"/>
                      <a:round/>
                      <a:headEnd type="none" w="med" len="med"/>
                      <a:tailEnd type="none" w="med" len="med"/>
                    </a:lnB>
                    <a:solidFill>
                      <a:srgbClr val="E3ECE5"/>
                    </a:solidFill>
                  </a:tcPr>
                </a:tc>
                <a:tc>
                  <a:txBody>
                    <a:bodyPr/>
                    <a:lstStyle/>
                    <a:p>
                      <a:pP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Turno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BCB7"/>
                      </a:solidFill>
                      <a:prstDash val="solid"/>
                      <a:round/>
                      <a:headEnd type="none" w="med" len="med"/>
                      <a:tailEnd type="none" w="med" len="med"/>
                    </a:lnL>
                    <a:lnR w="12700" cap="flat" cmpd="sng" algn="ctr">
                      <a:solidFill>
                        <a:srgbClr val="B5BCB7"/>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5BCB7"/>
                      </a:solidFill>
                      <a:prstDash val="solid"/>
                      <a:round/>
                      <a:headEnd type="none" w="med" len="med"/>
                      <a:tailEnd type="none" w="med" len="med"/>
                    </a:lnB>
                    <a:solidFill>
                      <a:srgbClr val="E3ECE5"/>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Leídos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BCB7"/>
                      </a:solidFill>
                      <a:prstDash val="solid"/>
                      <a:round/>
                      <a:headEnd type="none" w="med" len="med"/>
                      <a:tailEnd type="none" w="med" len="med"/>
                    </a:lnL>
                    <a:lnR w="12700" cap="flat" cmpd="sng" algn="ctr">
                      <a:solidFill>
                        <a:srgbClr val="B5BCB7"/>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5BCB7"/>
                      </a:solidFill>
                      <a:prstDash val="solid"/>
                      <a:round/>
                      <a:headEnd type="none" w="med" len="med"/>
                      <a:tailEnd type="none" w="med" len="med"/>
                    </a:lnB>
                    <a:solidFill>
                      <a:srgbClr val="E3ECE5"/>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BCB7"/>
                      </a:solidFill>
                      <a:prstDash val="solid"/>
                      <a:round/>
                      <a:headEnd type="none" w="med" len="med"/>
                      <a:tailEnd type="none" w="med" len="med"/>
                    </a:lnL>
                    <a:lnR w="12700" cap="flat" cmpd="sng" algn="ctr">
                      <a:solidFill>
                        <a:srgbClr val="B5BCB7"/>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5BCB7"/>
                      </a:solidFill>
                      <a:prstDash val="solid"/>
                      <a:round/>
                      <a:headEnd type="none" w="med" len="med"/>
                      <a:tailEnd type="none" w="med" len="med"/>
                    </a:lnB>
                    <a:solidFill>
                      <a:srgbClr val="E3ECE5"/>
                    </a:solidFill>
                  </a:tcPr>
                </a:tc>
              </a:tr>
              <a:tr h="56832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Balanza ingreso · San Lorenzo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BCB7"/>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16/09 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BCB7"/>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230 de 232</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BCB7"/>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BCB7"/>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56832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Preingreso · Ricardone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07/09 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algn="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199 de 202</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Playa 3 · Ricardone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30/09 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90 de 91</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56832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Volcables · San Lorenzo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16/09 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algn="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205 de 209</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r>
              <a:tr h="56832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Volcable 1 · Ricardone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10/09 día completo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54 de 55</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Calle 4 volcable · San Lorenzo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mes, de 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algn="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Egreso · San Lorenzo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20/09 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46 de 46</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100 %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bl>
          </a:graphicData>
        </a:graphic>
      </p:graphicFrame>
      <p:sp>
        <p:nvSpPr>
          <p:cNvPr id="6" name="Shape 3"/>
          <p:cNvSpPr/>
          <p:nvPr/>
        </p:nvSpPr>
        <p:spPr>
          <a:xfrm>
            <a:off x="7416800" y="2051546"/>
            <a:ext cx="3962400" cy="1325166"/>
          </a:xfrm>
          <a:prstGeom prst="roundRect">
            <a:avLst>
              <a:gd name="adj" fmla="val 7667"/>
            </a:avLst>
          </a:prstGeom>
          <a:solidFill>
            <a:srgbClr val="0B5638"/>
          </a:solidFill>
          <a:ln/>
        </p:spPr>
      </p:sp>
      <p:sp>
        <p:nvSpPr>
          <p:cNvPr id="7" name="Text 4"/>
          <p:cNvSpPr/>
          <p:nvPr/>
        </p:nvSpPr>
        <p:spPr>
          <a:xfrm>
            <a:off x="7620000" y="2229346"/>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9CCBAE"/>
                </a:solidFill>
                <a:latin typeface="IBM Plex Sans" pitchFamily="34" charset="0"/>
                <a:ea typeface="IBM Plex Sans" pitchFamily="34" charset="-122"/>
                <a:cs typeface="IBM Plex Sans" pitchFamily="34" charset="-120"/>
              </a:rPr>
              <a:t>META INMEDIATA</a:t>
            </a:r>
            <a:endParaRPr lang="en-US" sz="1200" dirty="0"/>
          </a:p>
        </p:txBody>
      </p:sp>
      <p:sp>
        <p:nvSpPr>
          <p:cNvPr id="8" name="Text 5"/>
          <p:cNvSpPr/>
          <p:nvPr/>
        </p:nvSpPr>
        <p:spPr>
          <a:xfrm>
            <a:off x="7620000" y="2480766"/>
            <a:ext cx="366268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1F6F2"/>
                </a:solidFill>
                <a:latin typeface="IBM Plex Sans" pitchFamily="34" charset="0"/>
                <a:ea typeface="IBM Plex Sans" pitchFamily="34" charset="-122"/>
                <a:cs typeface="IBM Plex Sans" pitchFamily="34" charset="-120"/>
              </a:rPr>
              <a:t>95 %</a:t>
            </a:r>
            <a:endParaRPr lang="en-US" sz="3600" dirty="0"/>
          </a:p>
        </p:txBody>
      </p:sp>
      <p:sp>
        <p:nvSpPr>
          <p:cNvPr id="9" name="Text 6"/>
          <p:cNvSpPr/>
          <p:nvPr/>
        </p:nvSpPr>
        <p:spPr>
          <a:xfrm>
            <a:off x="7620000" y="2976066"/>
            <a:ext cx="366268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6E4DA"/>
                </a:solidFill>
                <a:latin typeface="IBM Plex Sans" pitchFamily="34" charset="0"/>
                <a:ea typeface="IBM Plex Sans" pitchFamily="34" charset="-122"/>
                <a:cs typeface="IBM Plex Sans" pitchFamily="34" charset="-120"/>
              </a:rPr>
              <a:t>por punto, de día</a:t>
            </a:r>
            <a:endParaRPr lang="en-US" sz="1300" dirty="0"/>
          </a:p>
        </p:txBody>
      </p:sp>
      <p:sp>
        <p:nvSpPr>
          <p:cNvPr id="10" name="Shape 7"/>
          <p:cNvSpPr/>
          <p:nvPr/>
        </p:nvSpPr>
        <p:spPr>
          <a:xfrm>
            <a:off x="7416800" y="3503712"/>
            <a:ext cx="3962400" cy="1325166"/>
          </a:xfrm>
          <a:prstGeom prst="roundRect">
            <a:avLst>
              <a:gd name="adj" fmla="val 7667"/>
            </a:avLst>
          </a:prstGeom>
          <a:solidFill>
            <a:srgbClr val="2E1B4E"/>
          </a:solidFill>
          <a:ln/>
        </p:spPr>
      </p:sp>
      <p:sp>
        <p:nvSpPr>
          <p:cNvPr id="11" name="Text 8"/>
          <p:cNvSpPr/>
          <p:nvPr/>
        </p:nvSpPr>
        <p:spPr>
          <a:xfrm>
            <a:off x="7620000" y="3681512"/>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7B8EC"/>
                </a:solidFill>
                <a:latin typeface="IBM Plex Sans" pitchFamily="34" charset="0"/>
                <a:ea typeface="IBM Plex Sans" pitchFamily="34" charset="-122"/>
                <a:cs typeface="IBM Plex Sans" pitchFamily="34" charset="-120"/>
              </a:rPr>
              <a:t>META CON LA NOCHE RESUELTA</a:t>
            </a:r>
            <a:endParaRPr lang="en-US" sz="1200" dirty="0"/>
          </a:p>
        </p:txBody>
      </p:sp>
      <p:sp>
        <p:nvSpPr>
          <p:cNvPr id="12" name="Text 9"/>
          <p:cNvSpPr/>
          <p:nvPr/>
        </p:nvSpPr>
        <p:spPr>
          <a:xfrm>
            <a:off x="7620000" y="3932932"/>
            <a:ext cx="366268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1F6F2"/>
                </a:solidFill>
                <a:latin typeface="IBM Plex Sans" pitchFamily="34" charset="0"/>
                <a:ea typeface="IBM Plex Sans" pitchFamily="34" charset="-122"/>
                <a:cs typeface="IBM Plex Sans" pitchFamily="34" charset="-120"/>
              </a:rPr>
              <a:t>98 %</a:t>
            </a:r>
            <a:endParaRPr lang="en-US" sz="3600" dirty="0"/>
          </a:p>
        </p:txBody>
      </p:sp>
      <p:sp>
        <p:nvSpPr>
          <p:cNvPr id="13" name="Text 10"/>
          <p:cNvSpPr/>
          <p:nvPr/>
        </p:nvSpPr>
        <p:spPr>
          <a:xfrm>
            <a:off x="7620000" y="4428232"/>
            <a:ext cx="366268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CD3F2"/>
                </a:solidFill>
                <a:latin typeface="IBM Plex Sans" pitchFamily="34" charset="0"/>
                <a:ea typeface="IBM Plex Sans" pitchFamily="34" charset="-122"/>
                <a:cs typeface="IBM Plex Sans" pitchFamily="34" charset="-120"/>
              </a:rPr>
              <a:t>por punto, día y noche</a:t>
            </a:r>
            <a:endParaRPr lang="en-US" sz="1300" dirty="0"/>
          </a:p>
        </p:txBody>
      </p:sp>
      <p:sp>
        <p:nvSpPr>
          <p:cNvPr id="14" name="Text 11"/>
          <p:cNvSpPr/>
          <p:nvPr/>
        </p:nvSpPr>
        <p:spPr>
          <a:xfrm>
            <a:off x="7416800" y="4955877"/>
            <a:ext cx="408127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Para sostenerlo: iluminación nocturna, reparar las cámaras que casi no reportan y controlar los días en que un punto cae.</a:t>
            </a:r>
            <a:endParaRPr lang="en-US" sz="1300" dirty="0"/>
          </a:p>
        </p:txBody>
      </p:sp>
      <p:pic>
        <p:nvPicPr>
          <p:cNvPr id="15"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6"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7" name="Text 12"/>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Reconocimiento de cámaras · septiembre 2026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1999456" cy="289520"/>
          </a:xfrm>
          <a:custGeom>
            <a:avLst/>
            <a:gdLst/>
            <a:ahLst/>
            <a:cxnLst/>
            <a:rect l="l" t="t" r="r" b="b"/>
            <a:pathLst>
              <a:path w="1999456" h="289520">
                <a:moveTo>
                  <a:pt x="144760" y="0"/>
                </a:moveTo>
                <a:lnTo>
                  <a:pt x="1854696" y="0"/>
                </a:lnTo>
                <a:arcTo hR="144760" wR="144760" stAng="16200000" swAng="5400000"/>
                <a:lnTo>
                  <a:pt x="1999456"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MOMENTOS AL 100 %</a:t>
            </a:r>
            <a:endParaRPr lang="en-US" sz="1200" dirty="0"/>
          </a:p>
        </p:txBody>
      </p:sp>
      <p:sp>
        <p:nvSpPr>
          <p:cNvPr id="3" name="Text 1"/>
          <p:cNvSpPr/>
          <p:nvPr>
            <p:ph type="title"/>
          </p:nvPr>
        </p:nvSpPr>
        <p:spPr>
          <a:xfrm>
            <a:off x="812800" y="1102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14281E"/>
                </a:solidFill>
                <a:latin typeface="IBM Plex Sans" pitchFamily="34" charset="0"/>
                <a:ea typeface="IBM Plex Sans" pitchFamily="34" charset="-122"/>
                <a:cs typeface="IBM Plex Sans" pitchFamily="34" charset="-120"/>
              </a:rPr>
              <a:t>7 de 18 nodos ya leyeron el 100 % en algún turno</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5168900" cy="3990975"/>
        </p:xfrm>
        <a:graphic>
          <a:graphicData uri="http://schemas.openxmlformats.org/drawingml/2006/table">
            <a:tbl>
              <a:tblPr/>
              <a:tblGrid>
                <a:gridCol w="1964182"/>
                <a:gridCol w="3204718"/>
              </a:tblGrid>
              <a:tr h="332581">
                <a:tc>
                  <a:txBody>
                    <a:bodyPr/>
                    <a:lstStyle/>
                    <a:p>
                      <a:pP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Ricardone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Cuándo leyó el 100 %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7 turnos · día entero 26/09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Ingreso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20/09 día · 42 de 42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Preingreso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13/09 día · 23 de 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Descarga S7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02 y 04/09 día · 25 y 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egreso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06 y 19/09 día · 10 y 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ingreso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06 y 19/09 día · 10 y 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Playa 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99 % · 30/09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Salida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96 % · 21/09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Calada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96 % · 26/09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Tolva silo Chief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93 % · 21/09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92 % · 09/09 noche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10300" y="1628080"/>
          <a:ext cx="5168900" cy="2660650"/>
        </p:xfrm>
        <a:graphic>
          <a:graphicData uri="http://schemas.openxmlformats.org/drawingml/2006/table">
            <a:tbl>
              <a:tblPr/>
              <a:tblGrid>
                <a:gridCol w="1964182"/>
                <a:gridCol w="3204718"/>
              </a:tblGrid>
              <a:tr h="332581">
                <a:tc>
                  <a:txBody>
                    <a:bodyPr/>
                    <a:lstStyle/>
                    <a:p>
                      <a:pP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Puerto San Lorenzo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Cuándo leyó el 100 %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Egreso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20/09 día · 46 de 46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ingreso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99 % · 16/09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99 % · 25/09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Ingreso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97 % · 11/09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Líquidos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95 % · 04/09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Carga OSL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93 % · 15/09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32581">
                <a:tc>
                  <a:txBody>
                    <a:bodyPr/>
                    <a:lstStyle/>
                    <a:p>
                      <a:pPr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egreso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Máx. 86 % · 09/09 día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bl>
          </a:graphicData>
        </a:graphic>
      </p:graphicFrame>
      <p:sp>
        <p:nvSpPr>
          <p:cNvPr id="6" name="Shape 2"/>
          <p:cNvSpPr/>
          <p:nvPr/>
        </p:nvSpPr>
        <p:spPr>
          <a:xfrm>
            <a:off x="6197600" y="4441130"/>
            <a:ext cx="5181600" cy="972641"/>
          </a:xfrm>
          <a:prstGeom prst="roundRect">
            <a:avLst>
              <a:gd name="adj" fmla="val 7834"/>
            </a:avLst>
          </a:prstGeom>
          <a:solidFill>
            <a:srgbClr val="0B5638"/>
          </a:solidFill>
          <a:ln/>
        </p:spPr>
      </p:sp>
      <p:sp>
        <p:nvSpPr>
          <p:cNvPr id="7" name="Text 3"/>
          <p:cNvSpPr/>
          <p:nvPr/>
        </p:nvSpPr>
        <p:spPr>
          <a:xfrm>
            <a:off x="6375400" y="4580830"/>
            <a:ext cx="497078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1F6F2"/>
                </a:solidFill>
                <a:latin typeface="IBM Plex Sans" pitchFamily="34" charset="0"/>
                <a:ea typeface="IBM Plex Sans" pitchFamily="34" charset="-122"/>
                <a:cs typeface="IBM Plex Sans" pitchFamily="34" charset="-120"/>
              </a:rPr>
              <a:t>Volcable 1 leyó los 50 camiones del 26/09</a:t>
            </a:r>
            <a:endParaRPr lang="en-US" sz="1300" dirty="0"/>
          </a:p>
        </p:txBody>
      </p:sp>
      <p:sp>
        <p:nvSpPr>
          <p:cNvPr id="8" name="Text 4"/>
          <p:cNvSpPr/>
          <p:nvPr/>
        </p:nvSpPr>
        <p:spPr>
          <a:xfrm>
            <a:off x="6375400" y="4862711"/>
            <a:ext cx="497078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6E4DA"/>
                </a:solidFill>
                <a:latin typeface="IBM Plex Sans" pitchFamily="34" charset="0"/>
                <a:ea typeface="IBM Plex Sans" pitchFamily="34" charset="-122"/>
                <a:cs typeface="IBM Plex Sans" pitchFamily="34" charset="-120"/>
              </a:rPr>
              <a:t>Es el único nodo con 100 % de noche (10/09 y 26/09) y en un día entero.</a:t>
            </a:r>
            <a:endParaRPr lang="en-US" sz="1200" dirty="0"/>
          </a:p>
        </p:txBody>
      </p:sp>
      <p:pic>
        <p:nvPicPr>
          <p:cNvPr id="9"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0"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1" name="Text 5"/>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Turnos de 10 camiones o más · fila verde = llegó al 100 % · resto = su mejor turno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06934"/>
            <a:ext cx="2415183" cy="289520"/>
          </a:xfrm>
          <a:custGeom>
            <a:avLst/>
            <a:gdLst/>
            <a:ahLst/>
            <a:cxnLst/>
            <a:rect l="l" t="t" r="r" b="b"/>
            <a:pathLst>
              <a:path w="2415183" h="289520">
                <a:moveTo>
                  <a:pt x="144760" y="0"/>
                </a:moveTo>
                <a:lnTo>
                  <a:pt x="2270423" y="0"/>
                </a:lnTo>
                <a:arcTo hR="144760" wR="144760" stAng="16200000" swAng="5400000"/>
                <a:lnTo>
                  <a:pt x="2415183"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RUTA DE CALIBRACIÓN · 1</a:t>
            </a:r>
            <a:endParaRPr lang="en-US" sz="1200" dirty="0"/>
          </a:p>
        </p:txBody>
      </p:sp>
      <p:sp>
        <p:nvSpPr>
          <p:cNvPr id="3" name="Text 1"/>
          <p:cNvSpPr/>
          <p:nvPr/>
        </p:nvSpPr>
        <p:spPr>
          <a:xfrm>
            <a:off x="3329583" y="745034"/>
            <a:ext cx="164758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Puerto San Lorenzo</a:t>
            </a:r>
            <a:endParaRPr lang="en-US" sz="1200" dirty="0"/>
          </a:p>
        </p:txBody>
      </p:sp>
      <p:sp>
        <p:nvSpPr>
          <p:cNvPr id="4" name="Text 2"/>
          <p:cNvSpPr/>
          <p:nvPr>
            <p:ph type="title"/>
          </p:nvPr>
        </p:nvSpPr>
        <p:spPr>
          <a:xfrm>
            <a:off x="812800" y="1081088"/>
            <a:ext cx="10883392" cy="323552"/>
          </a:xfrm>
          <a:prstGeom prst="rect">
            <a:avLst/>
          </a:prstGeom>
          <a:noFill/>
          <a:ln/>
        </p:spPr>
        <p:txBody>
          <a:bodyPr wrap="square" lIns="0" tIns="0" rIns="0" bIns="0" rtlCol="0" anchor="t">
            <a:normAutofit/>
          </a:bodyPr>
          <a:lstStyle/>
          <a:p>
            <a:pPr algn="l" indent="0" marL="0">
              <a:lnSpc>
                <a:spcPts val="2375"/>
              </a:lnSpc>
              <a:buNone/>
            </a:pPr>
            <a:r>
              <a:rPr lang="en-US" sz="2159" b="1" i="0" dirty="0">
                <a:solidFill>
                  <a:srgbClr val="14281E"/>
                </a:solidFill>
                <a:latin typeface="IBM Plex Sans" pitchFamily="34" charset="0"/>
                <a:ea typeface="IBM Plex Sans" pitchFamily="34" charset="-122"/>
                <a:cs typeface="IBM Plex Sans" pitchFamily="34" charset="-120"/>
              </a:rPr>
              <a:t>Recorrido cámara por cámara, en orden de urgencia</a:t>
            </a:r>
            <a:endParaRPr lang="en-US" sz="2159" dirty="0"/>
          </a:p>
        </p:txBody>
      </p:sp>
      <p:sp>
        <p:nvSpPr>
          <p:cNvPr id="5" name="Text 3"/>
          <p:cNvSpPr/>
          <p:nvPr/>
        </p:nvSpPr>
        <p:spPr>
          <a:xfrm>
            <a:off x="889000" y="1502668"/>
            <a:ext cx="35318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Cámara · punto</a:t>
            </a:r>
            <a:endParaRPr lang="en-US" sz="1200" dirty="0"/>
          </a:p>
        </p:txBody>
      </p:sp>
      <p:sp>
        <p:nvSpPr>
          <p:cNvPr id="6" name="Text 4"/>
          <p:cNvSpPr/>
          <p:nvPr/>
        </p:nvSpPr>
        <p:spPr>
          <a:xfrm>
            <a:off x="4318000" y="1502668"/>
            <a:ext cx="18202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Orden de recorrido →</a:t>
            </a:r>
            <a:endParaRPr lang="en-US" sz="1200" dirty="0"/>
          </a:p>
        </p:txBody>
      </p:sp>
      <p:sp>
        <p:nvSpPr>
          <p:cNvPr id="7" name="Shape 5"/>
          <p:cNvSpPr/>
          <p:nvPr/>
        </p:nvSpPr>
        <p:spPr>
          <a:xfrm>
            <a:off x="812800" y="1750516"/>
            <a:ext cx="10566400" cy="305991"/>
          </a:xfrm>
          <a:prstGeom prst="roundRect">
            <a:avLst>
              <a:gd name="adj" fmla="val 16602"/>
            </a:avLst>
          </a:prstGeom>
          <a:solidFill>
            <a:srgbClr val="FCFDFB"/>
          </a:solidFill>
          <a:ln/>
        </p:spPr>
      </p:sp>
      <p:sp>
        <p:nvSpPr>
          <p:cNvPr id="8" name="Text 6"/>
          <p:cNvSpPr/>
          <p:nvPr/>
        </p:nvSpPr>
        <p:spPr>
          <a:xfrm>
            <a:off x="889000" y="1796852"/>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SLZBalSC2Fte </a:t>
            </a:r>
            <a:r>
              <a:rPr lang="en-US" sz="1200" dirty="0">
                <a:solidFill>
                  <a:srgbClr val="6A7A70"/>
                </a:solidFill>
                <a:latin typeface="IBM Plex Sans" pitchFamily="34" charset="0"/>
                <a:ea typeface="IBM Plex Sans" pitchFamily="34" charset="-122"/>
                <a:cs typeface="IBM Plex Sans" pitchFamily="34" charset="-120"/>
              </a:rPr>
              <a:t>· Balanza egreso C2</a:t>
            </a:r>
            <a:endParaRPr lang="en-US" sz="1200" dirty="0"/>
          </a:p>
        </p:txBody>
      </p:sp>
      <p:sp>
        <p:nvSpPr>
          <p:cNvPr id="9" name="Text 7"/>
          <p:cNvSpPr/>
          <p:nvPr/>
        </p:nvSpPr>
        <p:spPr>
          <a:xfrm>
            <a:off x="4318000" y="1771452"/>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B3261E"/>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1</a:t>
            </a:r>
            <a:endParaRPr lang="en-US" sz="1200" dirty="0"/>
          </a:p>
        </p:txBody>
      </p:sp>
      <p:sp>
        <p:nvSpPr>
          <p:cNvPr id="10" name="Text 8"/>
          <p:cNvSpPr/>
          <p:nvPr/>
        </p:nvSpPr>
        <p:spPr>
          <a:xfrm>
            <a:off x="5181600" y="1796852"/>
            <a:ext cx="2976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Mantenimiento · encuadre · enfoque</a:t>
            </a:r>
            <a:endParaRPr lang="en-US" sz="1200" dirty="0"/>
          </a:p>
        </p:txBody>
      </p:sp>
      <p:sp>
        <p:nvSpPr>
          <p:cNvPr id="11" name="Shape 9"/>
          <p:cNvSpPr/>
          <p:nvPr/>
        </p:nvSpPr>
        <p:spPr>
          <a:xfrm>
            <a:off x="812800" y="2094607"/>
            <a:ext cx="10566400" cy="306090"/>
          </a:xfrm>
          <a:prstGeom prst="roundRect">
            <a:avLst>
              <a:gd name="adj" fmla="val 16596"/>
            </a:avLst>
          </a:prstGeom>
          <a:solidFill>
            <a:srgbClr val="FCFDFB"/>
          </a:solidFill>
          <a:ln/>
        </p:spPr>
      </p:sp>
      <p:sp>
        <p:nvSpPr>
          <p:cNvPr id="12" name="Text 10"/>
          <p:cNvSpPr/>
          <p:nvPr/>
        </p:nvSpPr>
        <p:spPr>
          <a:xfrm>
            <a:off x="889000" y="2140942"/>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SLZBalSC1Fte </a:t>
            </a:r>
            <a:r>
              <a:rPr lang="en-US" sz="1200" dirty="0">
                <a:solidFill>
                  <a:srgbClr val="6A7A70"/>
                </a:solidFill>
                <a:latin typeface="IBM Plex Sans" pitchFamily="34" charset="0"/>
                <a:ea typeface="IBM Plex Sans" pitchFamily="34" charset="-122"/>
                <a:cs typeface="IBM Plex Sans" pitchFamily="34" charset="-120"/>
              </a:rPr>
              <a:t>· Balanza egreso C1</a:t>
            </a:r>
            <a:endParaRPr lang="en-US" sz="1200" dirty="0"/>
          </a:p>
        </p:txBody>
      </p:sp>
      <p:sp>
        <p:nvSpPr>
          <p:cNvPr id="13" name="Text 11"/>
          <p:cNvSpPr/>
          <p:nvPr/>
        </p:nvSpPr>
        <p:spPr>
          <a:xfrm>
            <a:off x="4318000" y="2115641"/>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B3261E"/>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2</a:t>
            </a:r>
            <a:endParaRPr lang="en-US" sz="1200" dirty="0"/>
          </a:p>
        </p:txBody>
      </p:sp>
      <p:sp>
        <p:nvSpPr>
          <p:cNvPr id="14" name="Text 12"/>
          <p:cNvSpPr/>
          <p:nvPr/>
        </p:nvSpPr>
        <p:spPr>
          <a:xfrm>
            <a:off x="5181600" y="2140942"/>
            <a:ext cx="21555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Mantenimiento · encuadre</a:t>
            </a:r>
            <a:endParaRPr lang="en-US" sz="1200" dirty="0"/>
          </a:p>
        </p:txBody>
      </p:sp>
      <p:sp>
        <p:nvSpPr>
          <p:cNvPr id="15" name="Shape 13"/>
          <p:cNvSpPr/>
          <p:nvPr/>
        </p:nvSpPr>
        <p:spPr>
          <a:xfrm>
            <a:off x="812800" y="2438797"/>
            <a:ext cx="10566400" cy="305991"/>
          </a:xfrm>
          <a:prstGeom prst="roundRect">
            <a:avLst>
              <a:gd name="adj" fmla="val 16602"/>
            </a:avLst>
          </a:prstGeom>
          <a:solidFill>
            <a:srgbClr val="FCFDFB"/>
          </a:solidFill>
          <a:ln/>
        </p:spPr>
      </p:sp>
      <p:sp>
        <p:nvSpPr>
          <p:cNvPr id="16" name="Text 14"/>
          <p:cNvSpPr/>
          <p:nvPr/>
        </p:nvSpPr>
        <p:spPr>
          <a:xfrm>
            <a:off x="889000" y="2485132"/>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SLZVolcableC5 </a:t>
            </a:r>
            <a:r>
              <a:rPr lang="en-US" sz="1200" dirty="0">
                <a:solidFill>
                  <a:srgbClr val="6A7A70"/>
                </a:solidFill>
                <a:latin typeface="IBM Plex Sans" pitchFamily="34" charset="0"/>
                <a:ea typeface="IBM Plex Sans" pitchFamily="34" charset="-122"/>
                <a:cs typeface="IBM Plex Sans" pitchFamily="34" charset="-120"/>
              </a:rPr>
              <a:t>· Volcable calle 5</a:t>
            </a:r>
            <a:endParaRPr lang="en-US" sz="1200" dirty="0"/>
          </a:p>
        </p:txBody>
      </p:sp>
      <p:sp>
        <p:nvSpPr>
          <p:cNvPr id="17" name="Text 15"/>
          <p:cNvSpPr/>
          <p:nvPr/>
        </p:nvSpPr>
        <p:spPr>
          <a:xfrm>
            <a:off x="4318000" y="2459732"/>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B3261E"/>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3</a:t>
            </a:r>
            <a:endParaRPr lang="en-US" sz="1200" dirty="0"/>
          </a:p>
        </p:txBody>
      </p:sp>
      <p:sp>
        <p:nvSpPr>
          <p:cNvPr id="18" name="Text 16"/>
          <p:cNvSpPr/>
          <p:nvPr/>
        </p:nvSpPr>
        <p:spPr>
          <a:xfrm>
            <a:off x="5181600" y="2485132"/>
            <a:ext cx="9777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Iluminación</a:t>
            </a:r>
            <a:endParaRPr lang="en-US" sz="1200" dirty="0"/>
          </a:p>
        </p:txBody>
      </p:sp>
      <p:sp>
        <p:nvSpPr>
          <p:cNvPr id="19" name="Shape 17"/>
          <p:cNvSpPr/>
          <p:nvPr/>
        </p:nvSpPr>
        <p:spPr>
          <a:xfrm>
            <a:off x="812800" y="2782888"/>
            <a:ext cx="10566400" cy="306090"/>
          </a:xfrm>
          <a:prstGeom prst="roundRect">
            <a:avLst>
              <a:gd name="adj" fmla="val 16596"/>
            </a:avLst>
          </a:prstGeom>
          <a:solidFill>
            <a:srgbClr val="FCFDFB"/>
          </a:solidFill>
          <a:ln/>
        </p:spPr>
      </p:sp>
      <p:sp>
        <p:nvSpPr>
          <p:cNvPr id="20" name="Text 18"/>
          <p:cNvSpPr/>
          <p:nvPr/>
        </p:nvSpPr>
        <p:spPr>
          <a:xfrm>
            <a:off x="889000" y="2829223"/>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SLZVolcableC2 </a:t>
            </a:r>
            <a:r>
              <a:rPr lang="en-US" sz="1200" dirty="0">
                <a:solidFill>
                  <a:srgbClr val="6A7A70"/>
                </a:solidFill>
                <a:latin typeface="IBM Plex Sans" pitchFamily="34" charset="0"/>
                <a:ea typeface="IBM Plex Sans" pitchFamily="34" charset="-122"/>
                <a:cs typeface="IBM Plex Sans" pitchFamily="34" charset="-120"/>
              </a:rPr>
              <a:t>· Volcable calle 2</a:t>
            </a:r>
            <a:endParaRPr lang="en-US" sz="1200" dirty="0"/>
          </a:p>
        </p:txBody>
      </p:sp>
      <p:sp>
        <p:nvSpPr>
          <p:cNvPr id="21" name="Text 19"/>
          <p:cNvSpPr/>
          <p:nvPr/>
        </p:nvSpPr>
        <p:spPr>
          <a:xfrm>
            <a:off x="4318000" y="2803922"/>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B3261E"/>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4</a:t>
            </a:r>
            <a:endParaRPr lang="en-US" sz="1200" dirty="0"/>
          </a:p>
        </p:txBody>
      </p:sp>
      <p:sp>
        <p:nvSpPr>
          <p:cNvPr id="22" name="Text 20"/>
          <p:cNvSpPr/>
          <p:nvPr/>
        </p:nvSpPr>
        <p:spPr>
          <a:xfrm>
            <a:off x="5181600" y="2829223"/>
            <a:ext cx="17992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Iluminación · enfoque</a:t>
            </a:r>
            <a:endParaRPr lang="en-US" sz="1200" dirty="0"/>
          </a:p>
        </p:txBody>
      </p:sp>
      <p:sp>
        <p:nvSpPr>
          <p:cNvPr id="23" name="Shape 21"/>
          <p:cNvSpPr/>
          <p:nvPr/>
        </p:nvSpPr>
        <p:spPr>
          <a:xfrm>
            <a:off x="812800" y="3127077"/>
            <a:ext cx="10566400" cy="305991"/>
          </a:xfrm>
          <a:prstGeom prst="roundRect">
            <a:avLst>
              <a:gd name="adj" fmla="val 16602"/>
            </a:avLst>
          </a:prstGeom>
          <a:solidFill>
            <a:srgbClr val="FCFDFB"/>
          </a:solidFill>
          <a:ln/>
        </p:spPr>
      </p:sp>
      <p:sp>
        <p:nvSpPr>
          <p:cNvPr id="24" name="Text 22"/>
          <p:cNvSpPr/>
          <p:nvPr/>
        </p:nvSpPr>
        <p:spPr>
          <a:xfrm>
            <a:off x="889000" y="3173413"/>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SLZVolcableC1 </a:t>
            </a:r>
            <a:r>
              <a:rPr lang="en-US" sz="1200" dirty="0">
                <a:solidFill>
                  <a:srgbClr val="6A7A70"/>
                </a:solidFill>
                <a:latin typeface="IBM Plex Sans" pitchFamily="34" charset="0"/>
                <a:ea typeface="IBM Plex Sans" pitchFamily="34" charset="-122"/>
                <a:cs typeface="IBM Plex Sans" pitchFamily="34" charset="-120"/>
              </a:rPr>
              <a:t>· Volcable calle 1</a:t>
            </a:r>
            <a:endParaRPr lang="en-US" sz="1200" dirty="0"/>
          </a:p>
        </p:txBody>
      </p:sp>
      <p:sp>
        <p:nvSpPr>
          <p:cNvPr id="25" name="Text 23"/>
          <p:cNvSpPr/>
          <p:nvPr/>
        </p:nvSpPr>
        <p:spPr>
          <a:xfrm>
            <a:off x="4318000" y="3148013"/>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B3261E"/>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5</a:t>
            </a:r>
            <a:endParaRPr lang="en-US" sz="1200" dirty="0"/>
          </a:p>
        </p:txBody>
      </p:sp>
      <p:sp>
        <p:nvSpPr>
          <p:cNvPr id="26" name="Text 24"/>
          <p:cNvSpPr/>
          <p:nvPr/>
        </p:nvSpPr>
        <p:spPr>
          <a:xfrm>
            <a:off x="5181600" y="3173413"/>
            <a:ext cx="9777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Iluminación</a:t>
            </a:r>
            <a:endParaRPr lang="en-US" sz="1200" dirty="0"/>
          </a:p>
        </p:txBody>
      </p:sp>
      <p:sp>
        <p:nvSpPr>
          <p:cNvPr id="27" name="Shape 25"/>
          <p:cNvSpPr/>
          <p:nvPr/>
        </p:nvSpPr>
        <p:spPr>
          <a:xfrm>
            <a:off x="812800" y="3471168"/>
            <a:ext cx="10566400" cy="306090"/>
          </a:xfrm>
          <a:prstGeom prst="roundRect">
            <a:avLst>
              <a:gd name="adj" fmla="val 16596"/>
            </a:avLst>
          </a:prstGeom>
          <a:solidFill>
            <a:srgbClr val="FCFDFB"/>
          </a:solidFill>
          <a:ln/>
        </p:spPr>
      </p:sp>
      <p:sp>
        <p:nvSpPr>
          <p:cNvPr id="28" name="Text 26"/>
          <p:cNvSpPr/>
          <p:nvPr/>
        </p:nvSpPr>
        <p:spPr>
          <a:xfrm>
            <a:off x="889000" y="3517503"/>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SLZBalIngFte </a:t>
            </a:r>
            <a:r>
              <a:rPr lang="en-US" sz="1200" dirty="0">
                <a:solidFill>
                  <a:srgbClr val="6A7A70"/>
                </a:solidFill>
                <a:latin typeface="IBM Plex Sans" pitchFamily="34" charset="0"/>
                <a:ea typeface="IBM Plex Sans" pitchFamily="34" charset="-122"/>
                <a:cs typeface="IBM Plex Sans" pitchFamily="34" charset="-120"/>
              </a:rPr>
              <a:t>· Balanza ingreso</a:t>
            </a:r>
            <a:endParaRPr lang="en-US" sz="1200" dirty="0"/>
          </a:p>
        </p:txBody>
      </p:sp>
      <p:sp>
        <p:nvSpPr>
          <p:cNvPr id="29" name="Text 27"/>
          <p:cNvSpPr/>
          <p:nvPr/>
        </p:nvSpPr>
        <p:spPr>
          <a:xfrm>
            <a:off x="4318000" y="3492202"/>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8A5A00"/>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6</a:t>
            </a:r>
            <a:endParaRPr lang="en-US" sz="1200" dirty="0"/>
          </a:p>
        </p:txBody>
      </p:sp>
      <p:sp>
        <p:nvSpPr>
          <p:cNvPr id="30" name="Text 28"/>
          <p:cNvSpPr/>
          <p:nvPr/>
        </p:nvSpPr>
        <p:spPr>
          <a:xfrm>
            <a:off x="5181600" y="3517503"/>
            <a:ext cx="17992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Iluminación · enfoque</a:t>
            </a:r>
            <a:endParaRPr lang="en-US" sz="1200" dirty="0"/>
          </a:p>
        </p:txBody>
      </p:sp>
      <p:sp>
        <p:nvSpPr>
          <p:cNvPr id="31" name="Shape 29"/>
          <p:cNvSpPr/>
          <p:nvPr/>
        </p:nvSpPr>
        <p:spPr>
          <a:xfrm>
            <a:off x="812800" y="3815358"/>
            <a:ext cx="10566400" cy="305991"/>
          </a:xfrm>
          <a:prstGeom prst="roundRect">
            <a:avLst>
              <a:gd name="adj" fmla="val 16602"/>
            </a:avLst>
          </a:prstGeom>
          <a:solidFill>
            <a:srgbClr val="FCFDFB"/>
          </a:solidFill>
          <a:ln/>
        </p:spPr>
      </p:sp>
      <p:sp>
        <p:nvSpPr>
          <p:cNvPr id="32" name="Text 30"/>
          <p:cNvSpPr/>
          <p:nvPr/>
        </p:nvSpPr>
        <p:spPr>
          <a:xfrm>
            <a:off x="889000" y="3861693"/>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SLZIngCamFrente </a:t>
            </a:r>
            <a:r>
              <a:rPr lang="en-US" sz="1200" dirty="0">
                <a:solidFill>
                  <a:srgbClr val="6A7A70"/>
                </a:solidFill>
                <a:latin typeface="IBM Plex Sans" pitchFamily="34" charset="0"/>
                <a:ea typeface="IBM Plex Sans" pitchFamily="34" charset="-122"/>
                <a:cs typeface="IBM Plex Sans" pitchFamily="34" charset="-120"/>
              </a:rPr>
              <a:t>· Ingreso</a:t>
            </a:r>
            <a:endParaRPr lang="en-US" sz="1200" dirty="0"/>
          </a:p>
        </p:txBody>
      </p:sp>
      <p:sp>
        <p:nvSpPr>
          <p:cNvPr id="33" name="Text 31"/>
          <p:cNvSpPr/>
          <p:nvPr/>
        </p:nvSpPr>
        <p:spPr>
          <a:xfrm>
            <a:off x="4318000" y="3836293"/>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8A5A00"/>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7</a:t>
            </a:r>
            <a:endParaRPr lang="en-US" sz="1200" dirty="0"/>
          </a:p>
        </p:txBody>
      </p:sp>
      <p:sp>
        <p:nvSpPr>
          <p:cNvPr id="34" name="Text 32"/>
          <p:cNvSpPr/>
          <p:nvPr/>
        </p:nvSpPr>
        <p:spPr>
          <a:xfrm>
            <a:off x="5181600" y="3861693"/>
            <a:ext cx="23352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Mantenimiento · iluminación</a:t>
            </a:r>
            <a:endParaRPr lang="en-US" sz="1200" dirty="0"/>
          </a:p>
        </p:txBody>
      </p:sp>
      <p:sp>
        <p:nvSpPr>
          <p:cNvPr id="35" name="Shape 33"/>
          <p:cNvSpPr/>
          <p:nvPr/>
        </p:nvSpPr>
        <p:spPr>
          <a:xfrm>
            <a:off x="812800" y="4159448"/>
            <a:ext cx="10566400" cy="306090"/>
          </a:xfrm>
          <a:prstGeom prst="roundRect">
            <a:avLst>
              <a:gd name="adj" fmla="val 16596"/>
            </a:avLst>
          </a:prstGeom>
          <a:solidFill>
            <a:srgbClr val="FCFDFB"/>
          </a:solidFill>
          <a:ln/>
        </p:spPr>
      </p:sp>
      <p:sp>
        <p:nvSpPr>
          <p:cNvPr id="36" name="Text 34"/>
          <p:cNvSpPr/>
          <p:nvPr/>
        </p:nvSpPr>
        <p:spPr>
          <a:xfrm>
            <a:off x="889000" y="4205784"/>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RenCargFte, RenDescFte </a:t>
            </a:r>
            <a:r>
              <a:rPr lang="en-US" sz="1200" dirty="0">
                <a:solidFill>
                  <a:srgbClr val="6A7A70"/>
                </a:solidFill>
                <a:latin typeface="IBM Plex Sans" pitchFamily="34" charset="0"/>
                <a:ea typeface="IBM Plex Sans" pitchFamily="34" charset="-122"/>
                <a:cs typeface="IBM Plex Sans" pitchFamily="34" charset="-120"/>
              </a:rPr>
              <a:t>· Carga OSL</a:t>
            </a:r>
            <a:endParaRPr lang="en-US" sz="1200" dirty="0"/>
          </a:p>
        </p:txBody>
      </p:sp>
      <p:sp>
        <p:nvSpPr>
          <p:cNvPr id="37" name="Text 35"/>
          <p:cNvSpPr/>
          <p:nvPr/>
        </p:nvSpPr>
        <p:spPr>
          <a:xfrm>
            <a:off x="4318000" y="4180483"/>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8A5A00"/>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8</a:t>
            </a:r>
            <a:endParaRPr lang="en-US" sz="1200" dirty="0"/>
          </a:p>
        </p:txBody>
      </p:sp>
      <p:sp>
        <p:nvSpPr>
          <p:cNvPr id="38" name="Text 36"/>
          <p:cNvSpPr/>
          <p:nvPr/>
        </p:nvSpPr>
        <p:spPr>
          <a:xfrm>
            <a:off x="5181600" y="4205784"/>
            <a:ext cx="18941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Iluminación · encuadre</a:t>
            </a:r>
            <a:endParaRPr lang="en-US" sz="1200" dirty="0"/>
          </a:p>
        </p:txBody>
      </p:sp>
      <p:sp>
        <p:nvSpPr>
          <p:cNvPr id="39" name="Shape 37"/>
          <p:cNvSpPr/>
          <p:nvPr/>
        </p:nvSpPr>
        <p:spPr>
          <a:xfrm>
            <a:off x="812800" y="4503638"/>
            <a:ext cx="10566400" cy="305991"/>
          </a:xfrm>
          <a:prstGeom prst="roundRect">
            <a:avLst>
              <a:gd name="adj" fmla="val 16602"/>
            </a:avLst>
          </a:prstGeom>
          <a:solidFill>
            <a:srgbClr val="FCFDFB"/>
          </a:solidFill>
          <a:ln/>
        </p:spPr>
      </p:sp>
      <p:sp>
        <p:nvSpPr>
          <p:cNvPr id="40" name="Text 38"/>
          <p:cNvSpPr/>
          <p:nvPr/>
        </p:nvSpPr>
        <p:spPr>
          <a:xfrm>
            <a:off x="889000" y="4549973"/>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SLZBalLiq 1a a 2b </a:t>
            </a:r>
            <a:r>
              <a:rPr lang="en-US" sz="1200" dirty="0">
                <a:solidFill>
                  <a:srgbClr val="6A7A70"/>
                </a:solidFill>
                <a:latin typeface="IBM Plex Sans" pitchFamily="34" charset="0"/>
                <a:ea typeface="IBM Plex Sans" pitchFamily="34" charset="-122"/>
                <a:cs typeface="IBM Plex Sans" pitchFamily="34" charset="-120"/>
              </a:rPr>
              <a:t>· Líquidos</a:t>
            </a:r>
            <a:endParaRPr lang="en-US" sz="1200" dirty="0"/>
          </a:p>
        </p:txBody>
      </p:sp>
      <p:sp>
        <p:nvSpPr>
          <p:cNvPr id="41" name="Text 39"/>
          <p:cNvSpPr/>
          <p:nvPr/>
        </p:nvSpPr>
        <p:spPr>
          <a:xfrm>
            <a:off x="4318000" y="4524573"/>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8A5A00"/>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9</a:t>
            </a:r>
            <a:endParaRPr lang="en-US" sz="1200" dirty="0"/>
          </a:p>
        </p:txBody>
      </p:sp>
      <p:sp>
        <p:nvSpPr>
          <p:cNvPr id="42" name="Text 40"/>
          <p:cNvSpPr/>
          <p:nvPr/>
        </p:nvSpPr>
        <p:spPr>
          <a:xfrm>
            <a:off x="5181600" y="4549973"/>
            <a:ext cx="15982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Encuadre · enfoque</a:t>
            </a:r>
            <a:endParaRPr lang="en-US" sz="1200" dirty="0"/>
          </a:p>
        </p:txBody>
      </p:sp>
      <p:sp>
        <p:nvSpPr>
          <p:cNvPr id="43" name="Shape 41"/>
          <p:cNvSpPr/>
          <p:nvPr/>
        </p:nvSpPr>
        <p:spPr>
          <a:xfrm>
            <a:off x="812800" y="4847729"/>
            <a:ext cx="10566400" cy="306090"/>
          </a:xfrm>
          <a:prstGeom prst="roundRect">
            <a:avLst>
              <a:gd name="adj" fmla="val 16596"/>
            </a:avLst>
          </a:prstGeom>
          <a:solidFill>
            <a:srgbClr val="FCFDFB"/>
          </a:solidFill>
          <a:ln/>
        </p:spPr>
      </p:sp>
      <p:sp>
        <p:nvSpPr>
          <p:cNvPr id="44" name="Text 42"/>
          <p:cNvSpPr/>
          <p:nvPr/>
        </p:nvSpPr>
        <p:spPr>
          <a:xfrm>
            <a:off x="889000" y="4894064"/>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SLZSalidaC1Fte, C2Fte </a:t>
            </a:r>
            <a:r>
              <a:rPr lang="en-US" sz="1200" dirty="0">
                <a:solidFill>
                  <a:srgbClr val="6A7A70"/>
                </a:solidFill>
                <a:latin typeface="IBM Plex Sans" pitchFamily="34" charset="0"/>
                <a:ea typeface="IBM Plex Sans" pitchFamily="34" charset="-122"/>
                <a:cs typeface="IBM Plex Sans" pitchFamily="34" charset="-120"/>
              </a:rPr>
              <a:t>· Egreso</a:t>
            </a:r>
            <a:endParaRPr lang="en-US" sz="1200" dirty="0"/>
          </a:p>
        </p:txBody>
      </p:sp>
      <p:sp>
        <p:nvSpPr>
          <p:cNvPr id="45" name="Text 43"/>
          <p:cNvSpPr/>
          <p:nvPr/>
        </p:nvSpPr>
        <p:spPr>
          <a:xfrm>
            <a:off x="4318000" y="4868763"/>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0B5638"/>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10</a:t>
            </a:r>
            <a:endParaRPr lang="en-US" sz="1200" dirty="0"/>
          </a:p>
        </p:txBody>
      </p:sp>
      <p:sp>
        <p:nvSpPr>
          <p:cNvPr id="46" name="Text 44"/>
          <p:cNvSpPr/>
          <p:nvPr/>
        </p:nvSpPr>
        <p:spPr>
          <a:xfrm>
            <a:off x="5181600" y="4894064"/>
            <a:ext cx="15167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Enfoque · limpieza</a:t>
            </a:r>
            <a:endParaRPr lang="en-US" sz="1200" dirty="0"/>
          </a:p>
        </p:txBody>
      </p:sp>
      <p:sp>
        <p:nvSpPr>
          <p:cNvPr id="47" name="Shape 45"/>
          <p:cNvSpPr/>
          <p:nvPr/>
        </p:nvSpPr>
        <p:spPr>
          <a:xfrm>
            <a:off x="812800" y="5191919"/>
            <a:ext cx="10566400" cy="305991"/>
          </a:xfrm>
          <a:prstGeom prst="roundRect">
            <a:avLst>
              <a:gd name="adj" fmla="val 16602"/>
            </a:avLst>
          </a:prstGeom>
          <a:solidFill>
            <a:srgbClr val="FCFDFB"/>
          </a:solidFill>
          <a:ln/>
        </p:spPr>
      </p:sp>
      <p:sp>
        <p:nvSpPr>
          <p:cNvPr id="48" name="Text 46"/>
          <p:cNvSpPr/>
          <p:nvPr/>
        </p:nvSpPr>
        <p:spPr>
          <a:xfrm>
            <a:off x="889000" y="5238254"/>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SLZVolcableC3, C4 </a:t>
            </a:r>
            <a:r>
              <a:rPr lang="en-US" sz="1200" dirty="0">
                <a:solidFill>
                  <a:srgbClr val="6A7A70"/>
                </a:solidFill>
                <a:latin typeface="IBM Plex Sans" pitchFamily="34" charset="0"/>
                <a:ea typeface="IBM Plex Sans" pitchFamily="34" charset="-122"/>
                <a:cs typeface="IBM Plex Sans" pitchFamily="34" charset="-120"/>
              </a:rPr>
              <a:t>· Volcable calles 3 y 4</a:t>
            </a:r>
            <a:endParaRPr lang="en-US" sz="1200" dirty="0"/>
          </a:p>
        </p:txBody>
      </p:sp>
      <p:sp>
        <p:nvSpPr>
          <p:cNvPr id="49" name="Text 47"/>
          <p:cNvSpPr/>
          <p:nvPr/>
        </p:nvSpPr>
        <p:spPr>
          <a:xfrm>
            <a:off x="4318000" y="5212854"/>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0B5638"/>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11</a:t>
            </a:r>
            <a:endParaRPr lang="en-US" sz="1200" dirty="0"/>
          </a:p>
        </p:txBody>
      </p:sp>
      <p:sp>
        <p:nvSpPr>
          <p:cNvPr id="50" name="Text 48"/>
          <p:cNvSpPr/>
          <p:nvPr/>
        </p:nvSpPr>
        <p:spPr>
          <a:xfrm>
            <a:off x="5181600" y="5238254"/>
            <a:ext cx="20934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Limpieza · iluminación C3</a:t>
            </a:r>
            <a:endParaRPr lang="en-US" sz="1200" dirty="0"/>
          </a:p>
        </p:txBody>
      </p:sp>
      <p:sp>
        <p:nvSpPr>
          <p:cNvPr id="51" name="Shape 49"/>
          <p:cNvSpPr/>
          <p:nvPr/>
        </p:nvSpPr>
        <p:spPr>
          <a:xfrm>
            <a:off x="812800" y="5536009"/>
            <a:ext cx="10566400" cy="305991"/>
          </a:xfrm>
          <a:prstGeom prst="roundRect">
            <a:avLst>
              <a:gd name="adj" fmla="val 16602"/>
            </a:avLst>
          </a:prstGeom>
          <a:solidFill>
            <a:srgbClr val="FCFDFB"/>
          </a:solidFill>
          <a:ln/>
        </p:spPr>
      </p:sp>
      <p:sp>
        <p:nvSpPr>
          <p:cNvPr id="52" name="Text 50"/>
          <p:cNvSpPr/>
          <p:nvPr/>
        </p:nvSpPr>
        <p:spPr>
          <a:xfrm>
            <a:off x="889000" y="5582345"/>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SLZCalado, SLZTK400, traseras</a:t>
            </a:r>
            <a:endParaRPr lang="en-US" sz="1200" dirty="0"/>
          </a:p>
        </p:txBody>
      </p:sp>
      <p:sp>
        <p:nvSpPr>
          <p:cNvPr id="53" name="Text 51"/>
          <p:cNvSpPr/>
          <p:nvPr/>
        </p:nvSpPr>
        <p:spPr>
          <a:xfrm>
            <a:off x="4318000" y="5556945"/>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0B5638"/>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12</a:t>
            </a:r>
            <a:endParaRPr lang="en-US" sz="1200" dirty="0"/>
          </a:p>
        </p:txBody>
      </p:sp>
      <p:sp>
        <p:nvSpPr>
          <p:cNvPr id="54" name="Text 52"/>
          <p:cNvSpPr/>
          <p:nvPr/>
        </p:nvSpPr>
        <p:spPr>
          <a:xfrm>
            <a:off x="5181600" y="5582345"/>
            <a:ext cx="16472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Limpieza · encuadre</a:t>
            </a:r>
            <a:endParaRPr lang="en-US" sz="1200" dirty="0"/>
          </a:p>
        </p:txBody>
      </p:sp>
      <p:pic>
        <p:nvPicPr>
          <p:cNvPr id="55"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56"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57" name="Text 53"/>
          <p:cNvSpPr/>
          <p:nvPr/>
        </p:nvSpPr>
        <p:spPr>
          <a:xfrm>
            <a:off x="1517650" y="6235700"/>
            <a:ext cx="91567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Rojo = urgencia alta · ocre = media · verde = baja · Mantenimiento = equipo, alimentación y red · Iluminación = IR y exposición nocturna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06934"/>
            <a:ext cx="2415183" cy="289520"/>
          </a:xfrm>
          <a:custGeom>
            <a:avLst/>
            <a:gdLst/>
            <a:ahLst/>
            <a:cxnLst/>
            <a:rect l="l" t="t" r="r" b="b"/>
            <a:pathLst>
              <a:path w="2415183" h="289520">
                <a:moveTo>
                  <a:pt x="144760" y="0"/>
                </a:moveTo>
                <a:lnTo>
                  <a:pt x="2270423" y="0"/>
                </a:lnTo>
                <a:arcTo hR="144760" wR="144760" stAng="16200000" swAng="5400000"/>
                <a:lnTo>
                  <a:pt x="2415183"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RUTA DE CALIBRACIÓN · 2</a:t>
            </a:r>
            <a:endParaRPr lang="en-US" sz="1200" dirty="0"/>
          </a:p>
        </p:txBody>
      </p:sp>
      <p:sp>
        <p:nvSpPr>
          <p:cNvPr id="3" name="Text 1"/>
          <p:cNvSpPr/>
          <p:nvPr/>
        </p:nvSpPr>
        <p:spPr>
          <a:xfrm>
            <a:off x="3329583" y="745034"/>
            <a:ext cx="8611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Ricardone</a:t>
            </a:r>
            <a:endParaRPr lang="en-US" sz="1200" dirty="0"/>
          </a:p>
        </p:txBody>
      </p:sp>
      <p:sp>
        <p:nvSpPr>
          <p:cNvPr id="4" name="Text 2"/>
          <p:cNvSpPr/>
          <p:nvPr>
            <p:ph type="title"/>
          </p:nvPr>
        </p:nvSpPr>
        <p:spPr>
          <a:xfrm>
            <a:off x="812800" y="1081088"/>
            <a:ext cx="10883392" cy="323552"/>
          </a:xfrm>
          <a:prstGeom prst="rect">
            <a:avLst/>
          </a:prstGeom>
          <a:noFill/>
          <a:ln/>
        </p:spPr>
        <p:txBody>
          <a:bodyPr wrap="square" lIns="0" tIns="0" rIns="0" bIns="0" rtlCol="0" anchor="t">
            <a:normAutofit/>
          </a:bodyPr>
          <a:lstStyle/>
          <a:p>
            <a:pPr algn="l" indent="0" marL="0">
              <a:lnSpc>
                <a:spcPts val="2375"/>
              </a:lnSpc>
              <a:buNone/>
            </a:pPr>
            <a:r>
              <a:rPr lang="en-US" sz="2159" b="1" i="0" dirty="0">
                <a:solidFill>
                  <a:srgbClr val="14281E"/>
                </a:solidFill>
                <a:latin typeface="IBM Plex Sans" pitchFamily="34" charset="0"/>
                <a:ea typeface="IBM Plex Sans" pitchFamily="34" charset="-122"/>
                <a:cs typeface="IBM Plex Sans" pitchFamily="34" charset="-120"/>
              </a:rPr>
              <a:t>Recorrido cámara por cámara, en orden de urgencia</a:t>
            </a:r>
            <a:endParaRPr lang="en-US" sz="2159" dirty="0"/>
          </a:p>
        </p:txBody>
      </p:sp>
      <p:sp>
        <p:nvSpPr>
          <p:cNvPr id="5" name="Text 3"/>
          <p:cNvSpPr/>
          <p:nvPr/>
        </p:nvSpPr>
        <p:spPr>
          <a:xfrm>
            <a:off x="889000" y="1502668"/>
            <a:ext cx="35318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Cámara · punto</a:t>
            </a:r>
            <a:endParaRPr lang="en-US" sz="1200" dirty="0"/>
          </a:p>
        </p:txBody>
      </p:sp>
      <p:sp>
        <p:nvSpPr>
          <p:cNvPr id="6" name="Text 4"/>
          <p:cNvSpPr/>
          <p:nvPr/>
        </p:nvSpPr>
        <p:spPr>
          <a:xfrm>
            <a:off x="4318000" y="1502668"/>
            <a:ext cx="18202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D52"/>
                </a:solidFill>
                <a:latin typeface="IBM Plex Sans" pitchFamily="34" charset="0"/>
                <a:ea typeface="IBM Plex Sans" pitchFamily="34" charset="-122"/>
                <a:cs typeface="IBM Plex Sans" pitchFamily="34" charset="-120"/>
              </a:rPr>
              <a:t>Orden de recorrido →</a:t>
            </a:r>
            <a:endParaRPr lang="en-US" sz="1200" dirty="0"/>
          </a:p>
        </p:txBody>
      </p:sp>
      <p:sp>
        <p:nvSpPr>
          <p:cNvPr id="7" name="Shape 5"/>
          <p:cNvSpPr/>
          <p:nvPr/>
        </p:nvSpPr>
        <p:spPr>
          <a:xfrm>
            <a:off x="812800" y="1750516"/>
            <a:ext cx="10566400" cy="305991"/>
          </a:xfrm>
          <a:prstGeom prst="roundRect">
            <a:avLst>
              <a:gd name="adj" fmla="val 16602"/>
            </a:avLst>
          </a:prstGeom>
          <a:solidFill>
            <a:srgbClr val="FCFDFB"/>
          </a:solidFill>
          <a:ln/>
        </p:spPr>
      </p:sp>
      <p:sp>
        <p:nvSpPr>
          <p:cNvPr id="8" name="Text 6"/>
          <p:cNvSpPr/>
          <p:nvPr/>
        </p:nvSpPr>
        <p:spPr>
          <a:xfrm>
            <a:off x="889000" y="1796852"/>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RicCal05, RicCal06 </a:t>
            </a:r>
            <a:r>
              <a:rPr lang="en-US" sz="1200" dirty="0">
                <a:solidFill>
                  <a:srgbClr val="6A7A70"/>
                </a:solidFill>
                <a:latin typeface="IBM Plex Sans" pitchFamily="34" charset="0"/>
                <a:ea typeface="IBM Plex Sans" pitchFamily="34" charset="-122"/>
                <a:cs typeface="IBM Plex Sans" pitchFamily="34" charset="-120"/>
              </a:rPr>
              <a:t>· Calada calles 5 y 6</a:t>
            </a:r>
            <a:endParaRPr lang="en-US" sz="1200" dirty="0"/>
          </a:p>
        </p:txBody>
      </p:sp>
      <p:sp>
        <p:nvSpPr>
          <p:cNvPr id="9" name="Text 7"/>
          <p:cNvSpPr/>
          <p:nvPr/>
        </p:nvSpPr>
        <p:spPr>
          <a:xfrm>
            <a:off x="4318000" y="1771452"/>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B3261E"/>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1</a:t>
            </a:r>
            <a:endParaRPr lang="en-US" sz="1200" dirty="0"/>
          </a:p>
        </p:txBody>
      </p:sp>
      <p:sp>
        <p:nvSpPr>
          <p:cNvPr id="10" name="Text 8"/>
          <p:cNvSpPr/>
          <p:nvPr/>
        </p:nvSpPr>
        <p:spPr>
          <a:xfrm>
            <a:off x="5181600" y="1796852"/>
            <a:ext cx="21555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Mantenimiento · encuadre</a:t>
            </a:r>
            <a:endParaRPr lang="en-US" sz="1200" dirty="0"/>
          </a:p>
        </p:txBody>
      </p:sp>
      <p:sp>
        <p:nvSpPr>
          <p:cNvPr id="11" name="Shape 9"/>
          <p:cNvSpPr/>
          <p:nvPr/>
        </p:nvSpPr>
        <p:spPr>
          <a:xfrm>
            <a:off x="812800" y="2094607"/>
            <a:ext cx="10566400" cy="306090"/>
          </a:xfrm>
          <a:prstGeom prst="roundRect">
            <a:avLst>
              <a:gd name="adj" fmla="val 16596"/>
            </a:avLst>
          </a:prstGeom>
          <a:solidFill>
            <a:srgbClr val="FCFDFB"/>
          </a:solidFill>
          <a:ln/>
        </p:spPr>
      </p:sp>
      <p:sp>
        <p:nvSpPr>
          <p:cNvPr id="12" name="Text 10"/>
          <p:cNvSpPr/>
          <p:nvPr/>
        </p:nvSpPr>
        <p:spPr>
          <a:xfrm>
            <a:off x="889000" y="2140942"/>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RicB1Egreso </a:t>
            </a:r>
            <a:r>
              <a:rPr lang="en-US" sz="1200" dirty="0">
                <a:solidFill>
                  <a:srgbClr val="6A7A70"/>
                </a:solidFill>
                <a:latin typeface="IBM Plex Sans" pitchFamily="34" charset="0"/>
                <a:ea typeface="IBM Plex Sans" pitchFamily="34" charset="-122"/>
                <a:cs typeface="IBM Plex Sans" pitchFamily="34" charset="-120"/>
              </a:rPr>
              <a:t>· Balanza egreso B1</a:t>
            </a:r>
            <a:endParaRPr lang="en-US" sz="1200" dirty="0"/>
          </a:p>
        </p:txBody>
      </p:sp>
      <p:sp>
        <p:nvSpPr>
          <p:cNvPr id="13" name="Text 11"/>
          <p:cNvSpPr/>
          <p:nvPr/>
        </p:nvSpPr>
        <p:spPr>
          <a:xfrm>
            <a:off x="4318000" y="2115641"/>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B3261E"/>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2</a:t>
            </a:r>
            <a:endParaRPr lang="en-US" sz="1200" dirty="0"/>
          </a:p>
        </p:txBody>
      </p:sp>
      <p:sp>
        <p:nvSpPr>
          <p:cNvPr id="14" name="Text 12"/>
          <p:cNvSpPr/>
          <p:nvPr/>
        </p:nvSpPr>
        <p:spPr>
          <a:xfrm>
            <a:off x="5181600" y="2140942"/>
            <a:ext cx="1239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Mantenimiento</a:t>
            </a:r>
            <a:endParaRPr lang="en-US" sz="1200" dirty="0"/>
          </a:p>
        </p:txBody>
      </p:sp>
      <p:sp>
        <p:nvSpPr>
          <p:cNvPr id="15" name="Shape 13"/>
          <p:cNvSpPr/>
          <p:nvPr/>
        </p:nvSpPr>
        <p:spPr>
          <a:xfrm>
            <a:off x="812800" y="2438797"/>
            <a:ext cx="10566400" cy="305991"/>
          </a:xfrm>
          <a:prstGeom prst="roundRect">
            <a:avLst>
              <a:gd name="adj" fmla="val 16602"/>
            </a:avLst>
          </a:prstGeom>
          <a:solidFill>
            <a:srgbClr val="FCFDFB"/>
          </a:solidFill>
          <a:ln/>
        </p:spPr>
      </p:sp>
      <p:sp>
        <p:nvSpPr>
          <p:cNvPr id="16" name="Text 14"/>
          <p:cNvSpPr/>
          <p:nvPr/>
        </p:nvSpPr>
        <p:spPr>
          <a:xfrm>
            <a:off x="889000" y="2485132"/>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RicB2Ingreso </a:t>
            </a:r>
            <a:r>
              <a:rPr lang="en-US" sz="1200" dirty="0">
                <a:solidFill>
                  <a:srgbClr val="6A7A70"/>
                </a:solidFill>
                <a:latin typeface="IBM Plex Sans" pitchFamily="34" charset="0"/>
                <a:ea typeface="IBM Plex Sans" pitchFamily="34" charset="-122"/>
                <a:cs typeface="IBM Plex Sans" pitchFamily="34" charset="-120"/>
              </a:rPr>
              <a:t>· Balanza ingreso B2</a:t>
            </a:r>
            <a:endParaRPr lang="en-US" sz="1200" dirty="0"/>
          </a:p>
        </p:txBody>
      </p:sp>
      <p:sp>
        <p:nvSpPr>
          <p:cNvPr id="17" name="Text 15"/>
          <p:cNvSpPr/>
          <p:nvPr/>
        </p:nvSpPr>
        <p:spPr>
          <a:xfrm>
            <a:off x="4318000" y="2459732"/>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B3261E"/>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3</a:t>
            </a:r>
            <a:endParaRPr lang="en-US" sz="1200" dirty="0"/>
          </a:p>
        </p:txBody>
      </p:sp>
      <p:sp>
        <p:nvSpPr>
          <p:cNvPr id="18" name="Text 16"/>
          <p:cNvSpPr/>
          <p:nvPr/>
        </p:nvSpPr>
        <p:spPr>
          <a:xfrm>
            <a:off x="5181600" y="2485132"/>
            <a:ext cx="20606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Mantenimiento · enfoque</a:t>
            </a:r>
            <a:endParaRPr lang="en-US" sz="1200" dirty="0"/>
          </a:p>
        </p:txBody>
      </p:sp>
      <p:sp>
        <p:nvSpPr>
          <p:cNvPr id="19" name="Shape 17"/>
          <p:cNvSpPr/>
          <p:nvPr/>
        </p:nvSpPr>
        <p:spPr>
          <a:xfrm>
            <a:off x="812800" y="2782888"/>
            <a:ext cx="10566400" cy="306090"/>
          </a:xfrm>
          <a:prstGeom prst="roundRect">
            <a:avLst>
              <a:gd name="adj" fmla="val 16596"/>
            </a:avLst>
          </a:prstGeom>
          <a:solidFill>
            <a:srgbClr val="FCFDFB"/>
          </a:solidFill>
          <a:ln/>
        </p:spPr>
      </p:sp>
      <p:sp>
        <p:nvSpPr>
          <p:cNvPr id="20" name="Text 18"/>
          <p:cNvSpPr/>
          <p:nvPr/>
        </p:nvSpPr>
        <p:spPr>
          <a:xfrm>
            <a:off x="889000" y="2829223"/>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RicIngCamFrente </a:t>
            </a:r>
            <a:r>
              <a:rPr lang="en-US" sz="1200" dirty="0">
                <a:solidFill>
                  <a:srgbClr val="6A7A70"/>
                </a:solidFill>
                <a:latin typeface="IBM Plex Sans" pitchFamily="34" charset="0"/>
                <a:ea typeface="IBM Plex Sans" pitchFamily="34" charset="-122"/>
                <a:cs typeface="IBM Plex Sans" pitchFamily="34" charset="-120"/>
              </a:rPr>
              <a:t>· Ingreso</a:t>
            </a:r>
            <a:endParaRPr lang="en-US" sz="1200" dirty="0"/>
          </a:p>
        </p:txBody>
      </p:sp>
      <p:sp>
        <p:nvSpPr>
          <p:cNvPr id="21" name="Text 19"/>
          <p:cNvSpPr/>
          <p:nvPr/>
        </p:nvSpPr>
        <p:spPr>
          <a:xfrm>
            <a:off x="4318000" y="2803922"/>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B3261E"/>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4</a:t>
            </a:r>
            <a:endParaRPr lang="en-US" sz="1200" dirty="0"/>
          </a:p>
        </p:txBody>
      </p:sp>
      <p:sp>
        <p:nvSpPr>
          <p:cNvPr id="22" name="Text 20"/>
          <p:cNvSpPr/>
          <p:nvPr/>
        </p:nvSpPr>
        <p:spPr>
          <a:xfrm>
            <a:off x="5181600" y="2829223"/>
            <a:ext cx="23352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Mantenimiento · iluminación</a:t>
            </a:r>
            <a:endParaRPr lang="en-US" sz="1200" dirty="0"/>
          </a:p>
        </p:txBody>
      </p:sp>
      <p:sp>
        <p:nvSpPr>
          <p:cNvPr id="23" name="Shape 21"/>
          <p:cNvSpPr/>
          <p:nvPr/>
        </p:nvSpPr>
        <p:spPr>
          <a:xfrm>
            <a:off x="812800" y="3127077"/>
            <a:ext cx="10566400" cy="305991"/>
          </a:xfrm>
          <a:prstGeom prst="roundRect">
            <a:avLst>
              <a:gd name="adj" fmla="val 16602"/>
            </a:avLst>
          </a:prstGeom>
          <a:solidFill>
            <a:srgbClr val="FCFDFB"/>
          </a:solidFill>
          <a:ln/>
        </p:spPr>
      </p:sp>
      <p:sp>
        <p:nvSpPr>
          <p:cNvPr id="24" name="Text 22"/>
          <p:cNvSpPr/>
          <p:nvPr/>
        </p:nvSpPr>
        <p:spPr>
          <a:xfrm>
            <a:off x="889000" y="3173413"/>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RicEgrCamFrente </a:t>
            </a:r>
            <a:r>
              <a:rPr lang="en-US" sz="1200" dirty="0">
                <a:solidFill>
                  <a:srgbClr val="6A7A70"/>
                </a:solidFill>
                <a:latin typeface="IBM Plex Sans" pitchFamily="34" charset="0"/>
                <a:ea typeface="IBM Plex Sans" pitchFamily="34" charset="-122"/>
                <a:cs typeface="IBM Plex Sans" pitchFamily="34" charset="-120"/>
              </a:rPr>
              <a:t>· Salida</a:t>
            </a:r>
            <a:endParaRPr lang="en-US" sz="1200" dirty="0"/>
          </a:p>
        </p:txBody>
      </p:sp>
      <p:sp>
        <p:nvSpPr>
          <p:cNvPr id="25" name="Text 23"/>
          <p:cNvSpPr/>
          <p:nvPr/>
        </p:nvSpPr>
        <p:spPr>
          <a:xfrm>
            <a:off x="4318000" y="3148013"/>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B3261E"/>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5</a:t>
            </a:r>
            <a:endParaRPr lang="en-US" sz="1200" dirty="0"/>
          </a:p>
        </p:txBody>
      </p:sp>
      <p:sp>
        <p:nvSpPr>
          <p:cNvPr id="26" name="Text 24"/>
          <p:cNvSpPr/>
          <p:nvPr/>
        </p:nvSpPr>
        <p:spPr>
          <a:xfrm>
            <a:off x="5181600" y="3173413"/>
            <a:ext cx="17992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Iluminación · enfoque</a:t>
            </a:r>
            <a:endParaRPr lang="en-US" sz="1200" dirty="0"/>
          </a:p>
        </p:txBody>
      </p:sp>
      <p:sp>
        <p:nvSpPr>
          <p:cNvPr id="27" name="Shape 25"/>
          <p:cNvSpPr/>
          <p:nvPr/>
        </p:nvSpPr>
        <p:spPr>
          <a:xfrm>
            <a:off x="812800" y="3471168"/>
            <a:ext cx="10566400" cy="306090"/>
          </a:xfrm>
          <a:prstGeom prst="roundRect">
            <a:avLst>
              <a:gd name="adj" fmla="val 16596"/>
            </a:avLst>
          </a:prstGeom>
          <a:solidFill>
            <a:srgbClr val="FCFDFB"/>
          </a:solidFill>
          <a:ln/>
        </p:spPr>
      </p:sp>
      <p:sp>
        <p:nvSpPr>
          <p:cNvPr id="28" name="Text 26"/>
          <p:cNvSpPr/>
          <p:nvPr/>
        </p:nvSpPr>
        <p:spPr>
          <a:xfrm>
            <a:off x="889000" y="3517503"/>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RicS8CargaLinea1, L2 </a:t>
            </a:r>
            <a:r>
              <a:rPr lang="en-US" sz="1200" dirty="0">
                <a:solidFill>
                  <a:srgbClr val="6A7A70"/>
                </a:solidFill>
                <a:latin typeface="IBM Plex Sans" pitchFamily="34" charset="0"/>
                <a:ea typeface="IBM Plex Sans" pitchFamily="34" charset="-122"/>
                <a:cs typeface="IBM Plex Sans" pitchFamily="34" charset="-120"/>
              </a:rPr>
              <a:t>· Tolva silo Chief</a:t>
            </a:r>
            <a:endParaRPr lang="en-US" sz="1200" dirty="0"/>
          </a:p>
        </p:txBody>
      </p:sp>
      <p:sp>
        <p:nvSpPr>
          <p:cNvPr id="29" name="Text 27"/>
          <p:cNvSpPr/>
          <p:nvPr/>
        </p:nvSpPr>
        <p:spPr>
          <a:xfrm>
            <a:off x="4318000" y="3492202"/>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B3261E"/>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6</a:t>
            </a:r>
            <a:endParaRPr lang="en-US" sz="1200" dirty="0"/>
          </a:p>
        </p:txBody>
      </p:sp>
      <p:sp>
        <p:nvSpPr>
          <p:cNvPr id="30" name="Text 28"/>
          <p:cNvSpPr/>
          <p:nvPr/>
        </p:nvSpPr>
        <p:spPr>
          <a:xfrm>
            <a:off x="5181600" y="3517503"/>
            <a:ext cx="25797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Mantenimiento L1 · iluminación</a:t>
            </a:r>
            <a:endParaRPr lang="en-US" sz="1200" dirty="0"/>
          </a:p>
        </p:txBody>
      </p:sp>
      <p:sp>
        <p:nvSpPr>
          <p:cNvPr id="31" name="Shape 29"/>
          <p:cNvSpPr/>
          <p:nvPr/>
        </p:nvSpPr>
        <p:spPr>
          <a:xfrm>
            <a:off x="812800" y="3815358"/>
            <a:ext cx="10566400" cy="305991"/>
          </a:xfrm>
          <a:prstGeom prst="roundRect">
            <a:avLst>
              <a:gd name="adj" fmla="val 16602"/>
            </a:avLst>
          </a:prstGeom>
          <a:solidFill>
            <a:srgbClr val="FCFDFB"/>
          </a:solidFill>
          <a:ln/>
        </p:spPr>
      </p:sp>
      <p:sp>
        <p:nvSpPr>
          <p:cNvPr id="32" name="Text 30"/>
          <p:cNvSpPr/>
          <p:nvPr/>
        </p:nvSpPr>
        <p:spPr>
          <a:xfrm>
            <a:off x="889000" y="3861693"/>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RicS6Playa3 </a:t>
            </a:r>
            <a:r>
              <a:rPr lang="en-US" sz="1200" dirty="0">
                <a:solidFill>
                  <a:srgbClr val="6A7A70"/>
                </a:solidFill>
                <a:latin typeface="IBM Plex Sans" pitchFamily="34" charset="0"/>
                <a:ea typeface="IBM Plex Sans" pitchFamily="34" charset="-122"/>
                <a:cs typeface="IBM Plex Sans" pitchFamily="34" charset="-120"/>
              </a:rPr>
              <a:t>· Playa 3</a:t>
            </a:r>
            <a:endParaRPr lang="en-US" sz="1200" dirty="0"/>
          </a:p>
        </p:txBody>
      </p:sp>
      <p:sp>
        <p:nvSpPr>
          <p:cNvPr id="33" name="Text 31"/>
          <p:cNvSpPr/>
          <p:nvPr/>
        </p:nvSpPr>
        <p:spPr>
          <a:xfrm>
            <a:off x="4318000" y="3836293"/>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8A5A00"/>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7</a:t>
            </a:r>
            <a:endParaRPr lang="en-US" sz="1200" dirty="0"/>
          </a:p>
        </p:txBody>
      </p:sp>
      <p:sp>
        <p:nvSpPr>
          <p:cNvPr id="34" name="Text 32"/>
          <p:cNvSpPr/>
          <p:nvPr/>
        </p:nvSpPr>
        <p:spPr>
          <a:xfrm>
            <a:off x="5181600" y="3861693"/>
            <a:ext cx="18941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Iluminación · encuadre</a:t>
            </a:r>
            <a:endParaRPr lang="en-US" sz="1200" dirty="0"/>
          </a:p>
        </p:txBody>
      </p:sp>
      <p:sp>
        <p:nvSpPr>
          <p:cNvPr id="35" name="Shape 33"/>
          <p:cNvSpPr/>
          <p:nvPr/>
        </p:nvSpPr>
        <p:spPr>
          <a:xfrm>
            <a:off x="812800" y="4159448"/>
            <a:ext cx="10566400" cy="306090"/>
          </a:xfrm>
          <a:prstGeom prst="roundRect">
            <a:avLst>
              <a:gd name="adj" fmla="val 16596"/>
            </a:avLst>
          </a:prstGeom>
          <a:solidFill>
            <a:srgbClr val="FCFDFB"/>
          </a:solidFill>
          <a:ln/>
        </p:spPr>
      </p:sp>
      <p:sp>
        <p:nvSpPr>
          <p:cNvPr id="36" name="Text 34"/>
          <p:cNvSpPr/>
          <p:nvPr/>
        </p:nvSpPr>
        <p:spPr>
          <a:xfrm>
            <a:off x="889000" y="4205784"/>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RicVolcable2 </a:t>
            </a:r>
            <a:r>
              <a:rPr lang="en-US" sz="1200" dirty="0">
                <a:solidFill>
                  <a:srgbClr val="6A7A70"/>
                </a:solidFill>
                <a:latin typeface="IBM Plex Sans" pitchFamily="34" charset="0"/>
                <a:ea typeface="IBM Plex Sans" pitchFamily="34" charset="-122"/>
                <a:cs typeface="IBM Plex Sans" pitchFamily="34" charset="-120"/>
              </a:rPr>
              <a:t>· Volcable 2</a:t>
            </a:r>
            <a:endParaRPr lang="en-US" sz="1200" dirty="0"/>
          </a:p>
        </p:txBody>
      </p:sp>
      <p:sp>
        <p:nvSpPr>
          <p:cNvPr id="37" name="Text 35"/>
          <p:cNvSpPr/>
          <p:nvPr/>
        </p:nvSpPr>
        <p:spPr>
          <a:xfrm>
            <a:off x="4318000" y="4180483"/>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8A5A00"/>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8</a:t>
            </a:r>
            <a:endParaRPr lang="en-US" sz="1200" dirty="0"/>
          </a:p>
        </p:txBody>
      </p:sp>
      <p:sp>
        <p:nvSpPr>
          <p:cNvPr id="38" name="Text 36"/>
          <p:cNvSpPr/>
          <p:nvPr/>
        </p:nvSpPr>
        <p:spPr>
          <a:xfrm>
            <a:off x="5181600" y="4205784"/>
            <a:ext cx="15982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Enfoque · encuadre</a:t>
            </a:r>
            <a:endParaRPr lang="en-US" sz="1200" dirty="0"/>
          </a:p>
        </p:txBody>
      </p:sp>
      <p:sp>
        <p:nvSpPr>
          <p:cNvPr id="39" name="Shape 37"/>
          <p:cNvSpPr/>
          <p:nvPr/>
        </p:nvSpPr>
        <p:spPr>
          <a:xfrm>
            <a:off x="812800" y="4503638"/>
            <a:ext cx="10566400" cy="305991"/>
          </a:xfrm>
          <a:prstGeom prst="roundRect">
            <a:avLst>
              <a:gd name="adj" fmla="val 16602"/>
            </a:avLst>
          </a:prstGeom>
          <a:solidFill>
            <a:srgbClr val="FCFDFB"/>
          </a:solidFill>
          <a:ln/>
        </p:spPr>
      </p:sp>
      <p:sp>
        <p:nvSpPr>
          <p:cNvPr id="40" name="Text 38"/>
          <p:cNvSpPr/>
          <p:nvPr/>
        </p:nvSpPr>
        <p:spPr>
          <a:xfrm>
            <a:off x="889000" y="4549973"/>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RicB1/B3 Ing., B2/B3 Egr. </a:t>
            </a:r>
            <a:r>
              <a:rPr lang="en-US" sz="1200" dirty="0">
                <a:solidFill>
                  <a:srgbClr val="6A7A70"/>
                </a:solidFill>
                <a:latin typeface="IBM Plex Sans" pitchFamily="34" charset="0"/>
                <a:ea typeface="IBM Plex Sans" pitchFamily="34" charset="-122"/>
                <a:cs typeface="IBM Plex Sans" pitchFamily="34" charset="-120"/>
              </a:rPr>
              <a:t>· Balanzas</a:t>
            </a:r>
            <a:endParaRPr lang="en-US" sz="1200" dirty="0"/>
          </a:p>
        </p:txBody>
      </p:sp>
      <p:sp>
        <p:nvSpPr>
          <p:cNvPr id="41" name="Text 39"/>
          <p:cNvSpPr/>
          <p:nvPr/>
        </p:nvSpPr>
        <p:spPr>
          <a:xfrm>
            <a:off x="4318000" y="4524573"/>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8A5A00"/>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9</a:t>
            </a:r>
            <a:endParaRPr lang="en-US" sz="1200" dirty="0"/>
          </a:p>
        </p:txBody>
      </p:sp>
      <p:sp>
        <p:nvSpPr>
          <p:cNvPr id="42" name="Text 40"/>
          <p:cNvSpPr/>
          <p:nvPr/>
        </p:nvSpPr>
        <p:spPr>
          <a:xfrm>
            <a:off x="5181600" y="4549973"/>
            <a:ext cx="15167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Enfoque · limpieza</a:t>
            </a:r>
            <a:endParaRPr lang="en-US" sz="1200" dirty="0"/>
          </a:p>
        </p:txBody>
      </p:sp>
      <p:sp>
        <p:nvSpPr>
          <p:cNvPr id="43" name="Shape 41"/>
          <p:cNvSpPr/>
          <p:nvPr/>
        </p:nvSpPr>
        <p:spPr>
          <a:xfrm>
            <a:off x="812800" y="4847729"/>
            <a:ext cx="10566400" cy="306090"/>
          </a:xfrm>
          <a:prstGeom prst="roundRect">
            <a:avLst>
              <a:gd name="adj" fmla="val 16596"/>
            </a:avLst>
          </a:prstGeom>
          <a:solidFill>
            <a:srgbClr val="FCFDFB"/>
          </a:solidFill>
          <a:ln/>
        </p:spPr>
      </p:sp>
      <p:sp>
        <p:nvSpPr>
          <p:cNvPr id="44" name="Text 42"/>
          <p:cNvSpPr/>
          <p:nvPr/>
        </p:nvSpPr>
        <p:spPr>
          <a:xfrm>
            <a:off x="889000" y="4894064"/>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RicS7 Desc. L1, L2, Carga </a:t>
            </a:r>
            <a:r>
              <a:rPr lang="en-US" sz="1200" dirty="0">
                <a:solidFill>
                  <a:srgbClr val="6A7A70"/>
                </a:solidFill>
                <a:latin typeface="IBM Plex Sans" pitchFamily="34" charset="0"/>
                <a:ea typeface="IBM Plex Sans" pitchFamily="34" charset="-122"/>
                <a:cs typeface="IBM Plex Sans" pitchFamily="34" charset="-120"/>
              </a:rPr>
              <a:t>· Descarga S7</a:t>
            </a:r>
            <a:endParaRPr lang="en-US" sz="1200" dirty="0"/>
          </a:p>
        </p:txBody>
      </p:sp>
      <p:sp>
        <p:nvSpPr>
          <p:cNvPr id="45" name="Text 43"/>
          <p:cNvSpPr/>
          <p:nvPr/>
        </p:nvSpPr>
        <p:spPr>
          <a:xfrm>
            <a:off x="4318000" y="4868763"/>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8A5A00"/>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10</a:t>
            </a:r>
            <a:endParaRPr lang="en-US" sz="1200" dirty="0"/>
          </a:p>
        </p:txBody>
      </p:sp>
      <p:sp>
        <p:nvSpPr>
          <p:cNvPr id="46" name="Text 44"/>
          <p:cNvSpPr/>
          <p:nvPr/>
        </p:nvSpPr>
        <p:spPr>
          <a:xfrm>
            <a:off x="5181600" y="4894064"/>
            <a:ext cx="21386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Iluminación · encuadre L2</a:t>
            </a:r>
            <a:endParaRPr lang="en-US" sz="1200" dirty="0"/>
          </a:p>
        </p:txBody>
      </p:sp>
      <p:sp>
        <p:nvSpPr>
          <p:cNvPr id="47" name="Shape 45"/>
          <p:cNvSpPr/>
          <p:nvPr/>
        </p:nvSpPr>
        <p:spPr>
          <a:xfrm>
            <a:off x="812800" y="5191919"/>
            <a:ext cx="10566400" cy="305991"/>
          </a:xfrm>
          <a:prstGeom prst="roundRect">
            <a:avLst>
              <a:gd name="adj" fmla="val 16602"/>
            </a:avLst>
          </a:prstGeom>
          <a:solidFill>
            <a:srgbClr val="FCFDFB"/>
          </a:solidFill>
          <a:ln/>
        </p:spPr>
      </p:sp>
      <p:sp>
        <p:nvSpPr>
          <p:cNvPr id="48" name="Text 46"/>
          <p:cNvSpPr/>
          <p:nvPr/>
        </p:nvSpPr>
        <p:spPr>
          <a:xfrm>
            <a:off x="889000" y="5238254"/>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RicCal01 a 04, RicCalLiq </a:t>
            </a:r>
            <a:r>
              <a:rPr lang="en-US" sz="1200" dirty="0">
                <a:solidFill>
                  <a:srgbClr val="6A7A70"/>
                </a:solidFill>
                <a:latin typeface="IBM Plex Sans" pitchFamily="34" charset="0"/>
                <a:ea typeface="IBM Plex Sans" pitchFamily="34" charset="-122"/>
                <a:cs typeface="IBM Plex Sans" pitchFamily="34" charset="-120"/>
              </a:rPr>
              <a:t>· Calada</a:t>
            </a:r>
            <a:endParaRPr lang="en-US" sz="1200" dirty="0"/>
          </a:p>
        </p:txBody>
      </p:sp>
      <p:sp>
        <p:nvSpPr>
          <p:cNvPr id="49" name="Text 47"/>
          <p:cNvSpPr/>
          <p:nvPr/>
        </p:nvSpPr>
        <p:spPr>
          <a:xfrm>
            <a:off x="4318000" y="5212854"/>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0B5638"/>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11</a:t>
            </a:r>
            <a:endParaRPr lang="en-US" sz="1200" dirty="0"/>
          </a:p>
        </p:txBody>
      </p:sp>
      <p:sp>
        <p:nvSpPr>
          <p:cNvPr id="50" name="Text 48"/>
          <p:cNvSpPr/>
          <p:nvPr/>
        </p:nvSpPr>
        <p:spPr>
          <a:xfrm>
            <a:off x="5181600" y="5238254"/>
            <a:ext cx="15167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Enfoque · limpieza</a:t>
            </a:r>
            <a:endParaRPr lang="en-US" sz="1200" dirty="0"/>
          </a:p>
        </p:txBody>
      </p:sp>
      <p:sp>
        <p:nvSpPr>
          <p:cNvPr id="51" name="Shape 49"/>
          <p:cNvSpPr/>
          <p:nvPr/>
        </p:nvSpPr>
        <p:spPr>
          <a:xfrm>
            <a:off x="812800" y="5536009"/>
            <a:ext cx="10566400" cy="305991"/>
          </a:xfrm>
          <a:prstGeom prst="roundRect">
            <a:avLst>
              <a:gd name="adj" fmla="val 16602"/>
            </a:avLst>
          </a:prstGeom>
          <a:solidFill>
            <a:srgbClr val="FCFDFB"/>
          </a:solidFill>
          <a:ln/>
        </p:spPr>
      </p:sp>
      <p:sp>
        <p:nvSpPr>
          <p:cNvPr id="52" name="Text 50"/>
          <p:cNvSpPr/>
          <p:nvPr/>
        </p:nvSpPr>
        <p:spPr>
          <a:xfrm>
            <a:off x="889000" y="5582345"/>
            <a:ext cx="3531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Preingreso, Volcable 1, traseras</a:t>
            </a:r>
            <a:endParaRPr lang="en-US" sz="1200" dirty="0"/>
          </a:p>
        </p:txBody>
      </p:sp>
      <p:sp>
        <p:nvSpPr>
          <p:cNvPr id="53" name="Text 51"/>
          <p:cNvSpPr/>
          <p:nvPr/>
        </p:nvSpPr>
        <p:spPr>
          <a:xfrm>
            <a:off x="4318000" y="5556945"/>
            <a:ext cx="762000" cy="264120"/>
          </a:xfrm>
          <a:custGeom>
            <a:avLst/>
            <a:gdLst/>
            <a:ahLst/>
            <a:cxnLst/>
            <a:rect l="l" t="t" r="r" b="b"/>
            <a:pathLst>
              <a:path w="762000" h="264120">
                <a:moveTo>
                  <a:pt x="38100" y="0"/>
                </a:moveTo>
                <a:lnTo>
                  <a:pt x="723900" y="0"/>
                </a:lnTo>
                <a:arcTo hR="38100" wR="38100" stAng="16200000" swAng="5400000"/>
                <a:lnTo>
                  <a:pt x="762000" y="226020"/>
                </a:lnTo>
                <a:arcTo hR="38100" wR="38100" stAng="0" swAng="5400000"/>
                <a:lnTo>
                  <a:pt x="38100" y="264120"/>
                </a:lnTo>
                <a:arcTo hR="38100" wR="38100" stAng="5400000" swAng="5400000"/>
                <a:lnTo>
                  <a:pt x="0" y="38100"/>
                </a:lnTo>
                <a:arcTo hR="38100" wR="38100" stAng="10800000" swAng="5400000"/>
                <a:close/>
              </a:path>
            </a:pathLst>
          </a:custGeom>
          <a:solidFill>
            <a:srgbClr val="0B5638"/>
          </a:solidFill>
          <a:ln/>
        </p:spPr>
        <p:txBody>
          <a:bodyPr wrap="square" lIns="0" tIns="25400" rIns="0" bIns="0" rtlCol="0" anchor="t">
            <a:normAutofit/>
          </a:bodyPr>
          <a:lstStyle/>
          <a:p>
            <a:pPr algn="ctr" indent="0" marL="0">
              <a:lnSpc>
                <a:spcPts val="1680"/>
              </a:lnSpc>
              <a:buNone/>
            </a:pPr>
            <a:r>
              <a:rPr lang="en-US" sz="1200" b="1" dirty="0">
                <a:solidFill>
                  <a:srgbClr val="FCFDFB"/>
                </a:solidFill>
                <a:latin typeface="IBM Plex Sans" pitchFamily="34" charset="0"/>
                <a:ea typeface="IBM Plex Sans" pitchFamily="34" charset="-122"/>
                <a:cs typeface="IBM Plex Sans" pitchFamily="34" charset="-120"/>
              </a:rPr>
              <a:t>12</a:t>
            </a:r>
            <a:endParaRPr lang="en-US" sz="1200" dirty="0"/>
          </a:p>
        </p:txBody>
      </p:sp>
      <p:sp>
        <p:nvSpPr>
          <p:cNvPr id="54" name="Text 52"/>
          <p:cNvSpPr/>
          <p:nvPr/>
        </p:nvSpPr>
        <p:spPr>
          <a:xfrm>
            <a:off x="5181600" y="5582345"/>
            <a:ext cx="14564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Limpieza · control</a:t>
            </a:r>
            <a:endParaRPr lang="en-US" sz="1200" dirty="0"/>
          </a:p>
        </p:txBody>
      </p:sp>
      <p:pic>
        <p:nvPicPr>
          <p:cNvPr id="55"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56"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57" name="Text 53"/>
          <p:cNvSpPr/>
          <p:nvPr/>
        </p:nvSpPr>
        <p:spPr>
          <a:xfrm>
            <a:off x="1517650" y="6235700"/>
            <a:ext cx="91567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Rojo = urgencia alta · ocre = media · verde = baja · Mantenimiento = equipo, alimentación y red · Iluminación = IR y exposición nocturna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3724473" cy="289520"/>
          </a:xfrm>
          <a:custGeom>
            <a:avLst/>
            <a:gdLst/>
            <a:ahLst/>
            <a:cxnLst/>
            <a:rect l="l" t="t" r="r" b="b"/>
            <a:pathLst>
              <a:path w="3724473" h="289520">
                <a:moveTo>
                  <a:pt x="144760" y="0"/>
                </a:moveTo>
                <a:lnTo>
                  <a:pt x="3579713" y="0"/>
                </a:lnTo>
                <a:arcTo hR="144760" wR="144760" stAng="16200000" swAng="5400000"/>
                <a:lnTo>
                  <a:pt x="3724473"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PROPUESTA · MONITOREO DE LA LECTURA</a:t>
            </a:r>
            <a:endParaRPr lang="en-US" sz="1200" dirty="0"/>
          </a:p>
        </p:txBody>
      </p:sp>
      <p:sp>
        <p:nvSpPr>
          <p:cNvPr id="3" name="Text 1"/>
          <p:cNvSpPr/>
          <p:nvPr>
            <p:ph type="title"/>
          </p:nvPr>
        </p:nvSpPr>
        <p:spPr>
          <a:xfrm>
            <a:off x="812800" y="11023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1" i="0" dirty="0">
                <a:solidFill>
                  <a:srgbClr val="14281E"/>
                </a:solidFill>
                <a:latin typeface="IBM Plex Sans" pitchFamily="34" charset="0"/>
                <a:ea typeface="IBM Plex Sans" pitchFamily="34" charset="-122"/>
                <a:cs typeface="IBM Plex Sans" pitchFamily="34" charset="-120"/>
              </a:rPr>
              <a:t>Preingreso Ricardone: 90 % de lectura sostenido día a día</a:t>
            </a:r>
            <a:endParaRPr lang="en-US" sz="2400" dirty="0"/>
          </a:p>
        </p:txBody>
      </p:sp>
      <p:sp>
        <p:nvSpPr>
          <p:cNvPr id="4" name="Text 2"/>
          <p:cNvSpPr/>
          <p:nvPr/>
        </p:nvSpPr>
        <p:spPr>
          <a:xfrm>
            <a:off x="812800" y="1615380"/>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 de camiones leídos por día · septiembre</a:t>
            </a:r>
            <a:endParaRPr lang="en-US" sz="1200" dirty="0"/>
          </a:p>
        </p:txBody>
      </p:sp>
      <p:sp>
        <p:nvSpPr>
          <p:cNvPr id="5" name="Text 3"/>
          <p:cNvSpPr/>
          <p:nvPr/>
        </p:nvSpPr>
        <p:spPr>
          <a:xfrm>
            <a:off x="812800" y="1920180"/>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100</a:t>
            </a:r>
            <a:endParaRPr lang="en-US" sz="1200" dirty="0"/>
          </a:p>
        </p:txBody>
      </p:sp>
      <p:sp>
        <p:nvSpPr>
          <p:cNvPr id="6" name="Text 4"/>
          <p:cNvSpPr/>
          <p:nvPr/>
        </p:nvSpPr>
        <p:spPr>
          <a:xfrm>
            <a:off x="812800" y="2618680"/>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90</a:t>
            </a:r>
            <a:endParaRPr lang="en-US" sz="1200" dirty="0"/>
          </a:p>
        </p:txBody>
      </p:sp>
      <p:sp>
        <p:nvSpPr>
          <p:cNvPr id="7" name="Text 5"/>
          <p:cNvSpPr/>
          <p:nvPr/>
        </p:nvSpPr>
        <p:spPr>
          <a:xfrm>
            <a:off x="812800" y="3317180"/>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80</a:t>
            </a:r>
            <a:endParaRPr lang="en-US" sz="1200" dirty="0"/>
          </a:p>
        </p:txBody>
      </p:sp>
      <p:sp>
        <p:nvSpPr>
          <p:cNvPr id="8" name="Text 6"/>
          <p:cNvSpPr/>
          <p:nvPr/>
        </p:nvSpPr>
        <p:spPr>
          <a:xfrm>
            <a:off x="812800" y="4015680"/>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70</a:t>
            </a:r>
            <a:endParaRPr lang="en-US" sz="1200" dirty="0"/>
          </a:p>
        </p:txBody>
      </p:sp>
      <p:sp>
        <p:nvSpPr>
          <p:cNvPr id="9" name="Text 7"/>
          <p:cNvSpPr/>
          <p:nvPr/>
        </p:nvSpPr>
        <p:spPr>
          <a:xfrm>
            <a:off x="812800" y="4714180"/>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60</a:t>
            </a:r>
            <a:endParaRPr lang="en-US" sz="1200" dirty="0"/>
          </a:p>
        </p:txBody>
      </p:sp>
      <p:pic>
        <p:nvPicPr>
          <p:cNvPr id="10" name="Image 0" descr="Gráfico de área: porcentaje diario de camiones leídos en Preingreso Ricardone durante septiembre, entre 78 y 95 por ciento, con umbral de alerta en 85 por ciento">    </p:cNvPr>
          <p:cNvPicPr>
            <a:picLocks noChangeAspect="1"/>
          </p:cNvPicPr>
          <p:nvPr/>
        </p:nvPicPr>
        <p:blipFill>
          <a:blip r:embed="rId1"/>
          <a:srcRect l="0" r="0" t="-12" b="-12"/>
          <a:stretch/>
        </p:blipFill>
        <p:spPr>
          <a:xfrm>
            <a:off x="1257300" y="1996380"/>
            <a:ext cx="6985000" cy="2794000"/>
          </a:xfrm>
          <a:prstGeom prst="rect">
            <a:avLst/>
          </a:prstGeom>
        </p:spPr>
      </p:pic>
      <p:sp>
        <p:nvSpPr>
          <p:cNvPr id="11" name="Text 8"/>
          <p:cNvSpPr/>
          <p:nvPr/>
        </p:nvSpPr>
        <p:spPr>
          <a:xfrm>
            <a:off x="6280150" y="27964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3261E"/>
                </a:solidFill>
                <a:latin typeface="IBM Plex Sans" pitchFamily="34" charset="0"/>
                <a:ea typeface="IBM Plex Sans" pitchFamily="34" charset="-122"/>
                <a:cs typeface="IBM Plex Sans" pitchFamily="34" charset="-120"/>
              </a:rPr>
              <a:t>Umbral de alerta 85 %</a:t>
            </a:r>
            <a:endParaRPr lang="en-US" sz="1200" dirty="0"/>
          </a:p>
        </p:txBody>
      </p:sp>
      <p:sp>
        <p:nvSpPr>
          <p:cNvPr id="12" name="Text 9"/>
          <p:cNvSpPr/>
          <p:nvPr/>
        </p:nvSpPr>
        <p:spPr>
          <a:xfrm>
            <a:off x="1892300" y="3418780"/>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3261E"/>
                </a:solidFill>
                <a:latin typeface="IBM Plex Sans" pitchFamily="34" charset="0"/>
                <a:ea typeface="IBM Plex Sans" pitchFamily="34" charset="-122"/>
                <a:cs typeface="IBM Plex Sans" pitchFamily="34" charset="-120"/>
              </a:rPr>
              <a:t>03/09 · 78 %</a:t>
            </a:r>
            <a:endParaRPr lang="en-US" sz="1200" dirty="0"/>
          </a:p>
        </p:txBody>
      </p:sp>
      <p:sp>
        <p:nvSpPr>
          <p:cNvPr id="13" name="Text 10"/>
          <p:cNvSpPr/>
          <p:nvPr/>
        </p:nvSpPr>
        <p:spPr>
          <a:xfrm>
            <a:off x="1104900" y="484118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1</a:t>
            </a:r>
            <a:endParaRPr lang="en-US" sz="1200" dirty="0"/>
          </a:p>
        </p:txBody>
      </p:sp>
      <p:sp>
        <p:nvSpPr>
          <p:cNvPr id="14" name="Text 11"/>
          <p:cNvSpPr/>
          <p:nvPr/>
        </p:nvSpPr>
        <p:spPr>
          <a:xfrm>
            <a:off x="2076450" y="484118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5</a:t>
            </a:r>
            <a:endParaRPr lang="en-US" sz="1200" dirty="0"/>
          </a:p>
        </p:txBody>
      </p:sp>
      <p:sp>
        <p:nvSpPr>
          <p:cNvPr id="15" name="Text 12"/>
          <p:cNvSpPr/>
          <p:nvPr/>
        </p:nvSpPr>
        <p:spPr>
          <a:xfrm>
            <a:off x="3111500" y="484118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9</a:t>
            </a:r>
            <a:endParaRPr lang="en-US" sz="1200" dirty="0"/>
          </a:p>
        </p:txBody>
      </p:sp>
      <p:sp>
        <p:nvSpPr>
          <p:cNvPr id="16" name="Text 13"/>
          <p:cNvSpPr/>
          <p:nvPr/>
        </p:nvSpPr>
        <p:spPr>
          <a:xfrm>
            <a:off x="4146550" y="484118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13</a:t>
            </a:r>
            <a:endParaRPr lang="en-US" sz="1200" dirty="0"/>
          </a:p>
        </p:txBody>
      </p:sp>
      <p:sp>
        <p:nvSpPr>
          <p:cNvPr id="17" name="Text 14"/>
          <p:cNvSpPr/>
          <p:nvPr/>
        </p:nvSpPr>
        <p:spPr>
          <a:xfrm>
            <a:off x="5181600" y="484118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17</a:t>
            </a:r>
            <a:endParaRPr lang="en-US" sz="1200" dirty="0"/>
          </a:p>
        </p:txBody>
      </p:sp>
      <p:sp>
        <p:nvSpPr>
          <p:cNvPr id="18" name="Text 15"/>
          <p:cNvSpPr/>
          <p:nvPr/>
        </p:nvSpPr>
        <p:spPr>
          <a:xfrm>
            <a:off x="6216650" y="484118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21</a:t>
            </a:r>
            <a:endParaRPr lang="en-US" sz="1200" dirty="0"/>
          </a:p>
        </p:txBody>
      </p:sp>
      <p:sp>
        <p:nvSpPr>
          <p:cNvPr id="19" name="Text 16"/>
          <p:cNvSpPr/>
          <p:nvPr/>
        </p:nvSpPr>
        <p:spPr>
          <a:xfrm>
            <a:off x="7181850" y="484118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26</a:t>
            </a:r>
            <a:endParaRPr lang="en-US" sz="1200" dirty="0"/>
          </a:p>
        </p:txBody>
      </p:sp>
      <p:sp>
        <p:nvSpPr>
          <p:cNvPr id="20" name="Text 17"/>
          <p:cNvSpPr/>
          <p:nvPr/>
        </p:nvSpPr>
        <p:spPr>
          <a:xfrm>
            <a:off x="8026400" y="4841180"/>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70"/>
                </a:solidFill>
                <a:latin typeface="IBM Plex Sans" pitchFamily="34" charset="0"/>
                <a:ea typeface="IBM Plex Sans" pitchFamily="34" charset="-122"/>
                <a:cs typeface="IBM Plex Sans" pitchFamily="34" charset="-120"/>
              </a:rPr>
              <a:t>30</a:t>
            </a:r>
            <a:endParaRPr lang="en-US" sz="1200" dirty="0"/>
          </a:p>
        </p:txBody>
      </p:sp>
      <p:sp>
        <p:nvSpPr>
          <p:cNvPr id="21" name="Text 18"/>
          <p:cNvSpPr/>
          <p:nvPr/>
        </p:nvSpPr>
        <p:spPr>
          <a:xfrm>
            <a:off x="8559800" y="1615380"/>
            <a:ext cx="290398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E1B4E"/>
                </a:solidFill>
                <a:latin typeface="IBM Plex Sans" pitchFamily="34" charset="0"/>
                <a:ea typeface="IBM Plex Sans" pitchFamily="34" charset="-122"/>
                <a:cs typeface="IBM Plex Sans" pitchFamily="34" charset="-120"/>
              </a:rPr>
              <a:t>Cuándo se dispara una alerta</a:t>
            </a:r>
            <a:endParaRPr lang="en-US" sz="1500" dirty="0"/>
          </a:p>
        </p:txBody>
      </p:sp>
      <p:sp>
        <p:nvSpPr>
          <p:cNvPr id="22" name="Shape 19"/>
          <p:cNvSpPr/>
          <p:nvPr/>
        </p:nvSpPr>
        <p:spPr>
          <a:xfrm>
            <a:off x="8562975" y="1948755"/>
            <a:ext cx="2813050" cy="872331"/>
          </a:xfrm>
          <a:prstGeom prst="roundRect">
            <a:avLst>
              <a:gd name="adj" fmla="val 8371"/>
            </a:avLst>
          </a:prstGeom>
          <a:solidFill>
            <a:srgbClr val="FCFDFB"/>
          </a:solidFill>
          <a:ln w="6350">
            <a:solidFill>
              <a:srgbClr val="D3E2D7"/>
            </a:solidFill>
            <a:prstDash val="solid"/>
          </a:ln>
        </p:spPr>
      </p:sp>
      <p:sp>
        <p:nvSpPr>
          <p:cNvPr id="23" name="Text 20"/>
          <p:cNvSpPr/>
          <p:nvPr/>
        </p:nvSpPr>
        <p:spPr>
          <a:xfrm>
            <a:off x="8693150" y="2053530"/>
            <a:ext cx="262928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Al instante</a:t>
            </a:r>
            <a:endParaRPr lang="en-US" sz="1200" dirty="0"/>
          </a:p>
        </p:txBody>
      </p:sp>
      <p:sp>
        <p:nvSpPr>
          <p:cNvPr id="24" name="Text 21"/>
          <p:cNvSpPr/>
          <p:nvPr/>
        </p:nvSpPr>
        <p:spPr>
          <a:xfrm>
            <a:off x="8693150" y="2304951"/>
            <a:ext cx="262928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2 horas sin lecturas con camiones en planta</a:t>
            </a:r>
            <a:endParaRPr lang="en-US" sz="1200" dirty="0"/>
          </a:p>
        </p:txBody>
      </p:sp>
      <p:sp>
        <p:nvSpPr>
          <p:cNvPr id="25" name="Shape 22"/>
          <p:cNvSpPr/>
          <p:nvPr/>
        </p:nvSpPr>
        <p:spPr>
          <a:xfrm>
            <a:off x="8562975" y="2929037"/>
            <a:ext cx="2813050" cy="872331"/>
          </a:xfrm>
          <a:prstGeom prst="roundRect">
            <a:avLst>
              <a:gd name="adj" fmla="val 8371"/>
            </a:avLst>
          </a:prstGeom>
          <a:solidFill>
            <a:srgbClr val="FCFDFB"/>
          </a:solidFill>
          <a:ln w="6350">
            <a:solidFill>
              <a:srgbClr val="D3E2D7"/>
            </a:solidFill>
            <a:prstDash val="solid"/>
          </a:ln>
        </p:spPr>
      </p:sp>
      <p:sp>
        <p:nvSpPr>
          <p:cNvPr id="26" name="Text 23"/>
          <p:cNvSpPr/>
          <p:nvPr/>
        </p:nvSpPr>
        <p:spPr>
          <a:xfrm>
            <a:off x="8693150" y="3033812"/>
            <a:ext cx="262928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En el día</a:t>
            </a:r>
            <a:endParaRPr lang="en-US" sz="1200" dirty="0"/>
          </a:p>
        </p:txBody>
      </p:sp>
      <p:sp>
        <p:nvSpPr>
          <p:cNvPr id="27" name="Text 24"/>
          <p:cNvSpPr/>
          <p:nvPr/>
        </p:nvSpPr>
        <p:spPr>
          <a:xfrm>
            <a:off x="8693150" y="3285232"/>
            <a:ext cx="262928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Lectura bajo 85 % o menos de la mitad de las lecturas habituales</a:t>
            </a:r>
            <a:endParaRPr lang="en-US" sz="1200" dirty="0"/>
          </a:p>
        </p:txBody>
      </p:sp>
      <p:sp>
        <p:nvSpPr>
          <p:cNvPr id="28" name="Shape 25"/>
          <p:cNvSpPr/>
          <p:nvPr/>
        </p:nvSpPr>
        <p:spPr>
          <a:xfrm>
            <a:off x="8562975" y="3909318"/>
            <a:ext cx="2813050" cy="872331"/>
          </a:xfrm>
          <a:prstGeom prst="roundRect">
            <a:avLst>
              <a:gd name="adj" fmla="val 8371"/>
            </a:avLst>
          </a:prstGeom>
          <a:solidFill>
            <a:srgbClr val="FCFDFB"/>
          </a:solidFill>
          <a:ln w="6350">
            <a:solidFill>
              <a:srgbClr val="D3E2D7"/>
            </a:solidFill>
            <a:prstDash val="solid"/>
          </a:ln>
        </p:spPr>
      </p:sp>
      <p:sp>
        <p:nvSpPr>
          <p:cNvPr id="29" name="Text 26"/>
          <p:cNvSpPr/>
          <p:nvPr/>
        </p:nvSpPr>
        <p:spPr>
          <a:xfrm>
            <a:off x="8693150" y="4014093"/>
            <a:ext cx="262928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Cada semana</a:t>
            </a:r>
            <a:endParaRPr lang="en-US" sz="1200" dirty="0"/>
          </a:p>
        </p:txBody>
      </p:sp>
      <p:sp>
        <p:nvSpPr>
          <p:cNvPr id="30" name="Text 27"/>
          <p:cNvSpPr/>
          <p:nvPr/>
        </p:nvSpPr>
        <p:spPr>
          <a:xfrm>
            <a:off x="8693150" y="4265513"/>
            <a:ext cx="262928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D52"/>
                </a:solidFill>
                <a:latin typeface="IBM Plex Sans" pitchFamily="34" charset="0"/>
                <a:ea typeface="IBM Plex Sans" pitchFamily="34" charset="-122"/>
                <a:cs typeface="IBM Plex Sans" pitchFamily="34" charset="-120"/>
              </a:rPr>
              <a:t>Informe por cámara y turno en la reunión de logística</a:t>
            </a:r>
            <a:endParaRPr lang="en-US" sz="1200" dirty="0"/>
          </a:p>
        </p:txBody>
      </p:sp>
      <p:pic>
        <p:nvPicPr>
          <p:cNvPr id="31" name="Image 1" descr="Nueva Vicentin Argentina">    </p:cNvPr>
          <p:cNvPicPr>
            <a:picLocks noChangeAspect="1"/>
          </p:cNvPicPr>
          <p:nvPr/>
        </p:nvPicPr>
        <p:blipFill>
          <a:blip r:embed="rId2"/>
          <a:srcRect l="-167" r="-167" t="0" b="0"/>
          <a:stretch/>
        </p:blipFill>
        <p:spPr>
          <a:xfrm>
            <a:off x="812800" y="6197600"/>
            <a:ext cx="571500" cy="304800"/>
          </a:xfrm>
          <a:prstGeom prst="rect">
            <a:avLst/>
          </a:prstGeom>
        </p:spPr>
      </p:pic>
      <p:pic>
        <p:nvPicPr>
          <p:cNvPr id="32" name="Image 2" descr="Bimtrazer">    </p:cNvPr>
          <p:cNvPicPr>
            <a:picLocks noChangeAspect="1"/>
          </p:cNvPicPr>
          <p:nvPr/>
        </p:nvPicPr>
        <p:blipFill>
          <a:blip r:embed="rId3"/>
          <a:srcRect l="0" r="0" t="-63" b="-63"/>
          <a:stretch/>
        </p:blipFill>
        <p:spPr>
          <a:xfrm>
            <a:off x="10731500" y="6197600"/>
            <a:ext cx="647700" cy="304800"/>
          </a:xfrm>
          <a:prstGeom prst="rect">
            <a:avLst/>
          </a:prstGeom>
        </p:spPr>
      </p:pic>
      <p:sp>
        <p:nvSpPr>
          <p:cNvPr id="33" name="Text 28"/>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Preingreso Ricardone · 11.087 camiones en el mes · día del mes en el eje horizontal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563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6333" r="6333" t="0" b="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B5638">
                  <a:alpha val="90000"/>
                </a:srgbClr>
              </a:gs>
              <a:gs pos="55000">
                <a:srgbClr val="0E4A33">
                  <a:alpha val="84000"/>
                </a:srgbClr>
              </a:gs>
              <a:gs pos="100000">
                <a:srgbClr val="2E1B4E">
                  <a:alpha val="90000"/>
                </a:srgbClr>
              </a:gs>
            </a:gsLst>
            <a:lin ang="1800000" scaled="0"/>
          </a:gradFill>
          <a:ln/>
        </p:spPr>
      </p:sp>
      <p:sp>
        <p:nvSpPr>
          <p:cNvPr id="4" name="Text 1"/>
          <p:cNvSpPr/>
          <p:nvPr/>
        </p:nvSpPr>
        <p:spPr>
          <a:xfrm>
            <a:off x="812800" y="711200"/>
            <a:ext cx="10883392" cy="239713"/>
          </a:xfrm>
          <a:prstGeom prst="rect">
            <a:avLst/>
          </a:prstGeom>
          <a:noFill/>
          <a:ln/>
        </p:spPr>
        <p:txBody>
          <a:bodyPr wrap="square" lIns="0" tIns="0" rIns="0" bIns="0" rtlCol="0" anchor="t">
            <a:normAutofit/>
          </a:bodyPr>
          <a:lstStyle/>
          <a:p>
            <a:pPr algn="l" indent="0" marL="0">
              <a:lnSpc>
                <a:spcPts val="1721"/>
              </a:lnSpc>
              <a:buNone/>
            </a:pPr>
            <a:r>
              <a:rPr lang="en-US" sz="1229" b="1" spc="150" kern="0" dirty="0">
                <a:solidFill>
                  <a:srgbClr val="9CCBAE"/>
                </a:solidFill>
                <a:latin typeface="IBM Plex Sans" pitchFamily="34" charset="0"/>
                <a:ea typeface="IBM Plex Sans" pitchFamily="34" charset="-122"/>
                <a:cs typeface="IBM Plex Sans" pitchFamily="34" charset="-120"/>
              </a:rPr>
              <a:t>OBJETIVOS FINALES</a:t>
            </a:r>
            <a:endParaRPr lang="en-US" sz="1229" dirty="0"/>
          </a:p>
        </p:txBody>
      </p:sp>
      <p:sp>
        <p:nvSpPr>
          <p:cNvPr id="5" name="Text 2"/>
          <p:cNvSpPr/>
          <p:nvPr>
            <p:ph type="title"/>
          </p:nvPr>
        </p:nvSpPr>
        <p:spPr>
          <a:xfrm>
            <a:off x="812800" y="1027113"/>
            <a:ext cx="10464800" cy="891480"/>
          </a:xfrm>
          <a:prstGeom prst="rect">
            <a:avLst/>
          </a:prstGeom>
          <a:noFill/>
          <a:ln/>
        </p:spPr>
        <p:txBody>
          <a:bodyPr wrap="square" lIns="0" tIns="0" rIns="0" bIns="0" rtlCol="0" anchor="t">
            <a:normAutofit/>
          </a:bodyPr>
          <a:lstStyle/>
          <a:p>
            <a:pPr algn="l" indent="0" marL="0">
              <a:lnSpc>
                <a:spcPts val="3403"/>
              </a:lnSpc>
              <a:buNone/>
            </a:pPr>
            <a:r>
              <a:rPr lang="en-US" sz="3094" b="1" i="0" dirty="0">
                <a:solidFill>
                  <a:srgbClr val="F1F6F2"/>
                </a:solidFill>
                <a:latin typeface="IBM Plex Sans" pitchFamily="34" charset="0"/>
                <a:ea typeface="IBM Plex Sans" pitchFamily="34" charset="-122"/>
                <a:cs typeface="IBM Plex Sans" pitchFamily="34" charset="-120"/>
              </a:rPr>
              <a:t>95 % de día y 90 % de noche, sumando todas las cámaras</a:t>
            </a:r>
            <a:endParaRPr lang="en-US" sz="3094" dirty="0"/>
          </a:p>
        </p:txBody>
      </p:sp>
      <p:sp>
        <p:nvSpPr>
          <p:cNvPr id="6" name="Shape 3"/>
          <p:cNvSpPr/>
          <p:nvPr/>
        </p:nvSpPr>
        <p:spPr>
          <a:xfrm>
            <a:off x="815975" y="2201168"/>
            <a:ext cx="3380284" cy="1574205"/>
          </a:xfrm>
          <a:prstGeom prst="roundRect">
            <a:avLst>
              <a:gd name="adj" fmla="val 6252"/>
            </a:avLst>
          </a:prstGeom>
          <a:solidFill>
            <a:srgbClr val="0E4A33"/>
          </a:solidFill>
          <a:ln w="6350">
            <a:solidFill>
              <a:srgbClr val="3A8F63"/>
            </a:solidFill>
            <a:prstDash val="solid"/>
          </a:ln>
        </p:spPr>
      </p:sp>
      <p:sp>
        <p:nvSpPr>
          <p:cNvPr id="7" name="Text 4"/>
          <p:cNvSpPr/>
          <p:nvPr/>
        </p:nvSpPr>
        <p:spPr>
          <a:xfrm>
            <a:off x="1073150" y="2407543"/>
            <a:ext cx="2951912" cy="213122"/>
          </a:xfrm>
          <a:prstGeom prst="rect">
            <a:avLst/>
          </a:prstGeom>
          <a:noFill/>
          <a:ln/>
        </p:spPr>
        <p:txBody>
          <a:bodyPr wrap="square" lIns="0" tIns="0" rIns="0" bIns="0" rtlCol="0" anchor="t">
            <a:normAutofit/>
          </a:bodyPr>
          <a:lstStyle/>
          <a:p>
            <a:pPr algn="l" indent="0" marL="0">
              <a:lnSpc>
                <a:spcPts val="1524"/>
              </a:lnSpc>
              <a:buNone/>
            </a:pPr>
            <a:r>
              <a:rPr lang="en-US" sz="1089" b="1" spc="50" kern="0" dirty="0">
                <a:solidFill>
                  <a:srgbClr val="9CCBAE"/>
                </a:solidFill>
                <a:latin typeface="IBM Plex Sans" pitchFamily="34" charset="0"/>
                <a:ea typeface="IBM Plex Sans" pitchFamily="34" charset="-122"/>
                <a:cs typeface="IBM Plex Sans" pitchFamily="34" charset="-120"/>
              </a:rPr>
              <a:t>DE DÍA</a:t>
            </a:r>
            <a:endParaRPr lang="en-US" sz="1089" dirty="0"/>
          </a:p>
        </p:txBody>
      </p:sp>
      <p:sp>
        <p:nvSpPr>
          <p:cNvPr id="8" name="Text 5"/>
          <p:cNvSpPr/>
          <p:nvPr/>
        </p:nvSpPr>
        <p:spPr>
          <a:xfrm>
            <a:off x="1073150" y="2671465"/>
            <a:ext cx="2951912" cy="644525"/>
          </a:xfrm>
          <a:prstGeom prst="rect">
            <a:avLst/>
          </a:prstGeom>
          <a:noFill/>
          <a:ln/>
        </p:spPr>
        <p:txBody>
          <a:bodyPr wrap="square" lIns="0" tIns="0" rIns="0" bIns="0" rtlCol="0" anchor="t">
            <a:normAutofit/>
          </a:bodyPr>
          <a:lstStyle/>
          <a:p>
            <a:pPr algn="l" indent="0" marL="0">
              <a:lnSpc>
                <a:spcPts val="4913"/>
              </a:lnSpc>
              <a:buNone/>
            </a:pPr>
            <a:r>
              <a:rPr lang="en-US" sz="4913" b="1" dirty="0">
                <a:solidFill>
                  <a:srgbClr val="F1F6F2"/>
                </a:solidFill>
                <a:latin typeface="IBM Plex Sans" pitchFamily="34" charset="0"/>
                <a:ea typeface="IBM Plex Sans" pitchFamily="34" charset="-122"/>
                <a:cs typeface="IBM Plex Sans" pitchFamily="34" charset="-120"/>
              </a:rPr>
              <a:t>95 %</a:t>
            </a:r>
            <a:endParaRPr lang="en-US" sz="4913" dirty="0"/>
          </a:p>
        </p:txBody>
      </p:sp>
      <p:sp>
        <p:nvSpPr>
          <p:cNvPr id="9" name="Text 6"/>
          <p:cNvSpPr/>
          <p:nvPr/>
        </p:nvSpPr>
        <p:spPr>
          <a:xfrm>
            <a:off x="1073150" y="3366790"/>
            <a:ext cx="2951912" cy="227608"/>
          </a:xfrm>
          <a:prstGeom prst="rect">
            <a:avLst/>
          </a:prstGeom>
          <a:noFill/>
          <a:ln/>
        </p:spPr>
        <p:txBody>
          <a:bodyPr wrap="square" lIns="0" tIns="0" rIns="0" bIns="0" rtlCol="0" anchor="t">
            <a:normAutofit/>
          </a:bodyPr>
          <a:lstStyle/>
          <a:p>
            <a:pPr algn="l" indent="0" marL="0">
              <a:lnSpc>
                <a:spcPts val="1623"/>
              </a:lnSpc>
              <a:buNone/>
            </a:pPr>
            <a:r>
              <a:rPr lang="en-US" sz="1159" dirty="0">
                <a:solidFill>
                  <a:srgbClr val="C9D8CE"/>
                </a:solidFill>
                <a:latin typeface="IBM Plex Sans" pitchFamily="34" charset="0"/>
                <a:ea typeface="IBM Plex Sans" pitchFamily="34" charset="-122"/>
                <a:cs typeface="IBM Plex Sans" pitchFamily="34" charset="-120"/>
              </a:rPr>
              <a:t>hoy 83 %</a:t>
            </a:r>
            <a:endParaRPr lang="en-US" sz="1159" dirty="0"/>
          </a:p>
        </p:txBody>
      </p:sp>
      <p:sp>
        <p:nvSpPr>
          <p:cNvPr id="10" name="Shape 7"/>
          <p:cNvSpPr/>
          <p:nvPr/>
        </p:nvSpPr>
        <p:spPr>
          <a:xfrm>
            <a:off x="4405809" y="2201168"/>
            <a:ext cx="3380284" cy="1574205"/>
          </a:xfrm>
          <a:prstGeom prst="roundRect">
            <a:avLst>
              <a:gd name="adj" fmla="val 6252"/>
            </a:avLst>
          </a:prstGeom>
          <a:solidFill>
            <a:srgbClr val="2A1A47"/>
          </a:solidFill>
          <a:ln w="6350">
            <a:solidFill>
              <a:srgbClr val="6B55A3"/>
            </a:solidFill>
            <a:prstDash val="solid"/>
          </a:ln>
        </p:spPr>
      </p:sp>
      <p:sp>
        <p:nvSpPr>
          <p:cNvPr id="11" name="Text 8"/>
          <p:cNvSpPr/>
          <p:nvPr/>
        </p:nvSpPr>
        <p:spPr>
          <a:xfrm>
            <a:off x="4662984" y="2407543"/>
            <a:ext cx="2951912" cy="213122"/>
          </a:xfrm>
          <a:prstGeom prst="rect">
            <a:avLst/>
          </a:prstGeom>
          <a:noFill/>
          <a:ln/>
        </p:spPr>
        <p:txBody>
          <a:bodyPr wrap="square" lIns="0" tIns="0" rIns="0" bIns="0" rtlCol="0" anchor="t">
            <a:normAutofit/>
          </a:bodyPr>
          <a:lstStyle/>
          <a:p>
            <a:pPr algn="l" indent="0" marL="0">
              <a:lnSpc>
                <a:spcPts val="1524"/>
              </a:lnSpc>
              <a:buNone/>
            </a:pPr>
            <a:r>
              <a:rPr lang="en-US" sz="1089" b="1" spc="50" kern="0" dirty="0">
                <a:solidFill>
                  <a:srgbClr val="C7B8EC"/>
                </a:solidFill>
                <a:latin typeface="IBM Plex Sans" pitchFamily="34" charset="0"/>
                <a:ea typeface="IBM Plex Sans" pitchFamily="34" charset="-122"/>
                <a:cs typeface="IBM Plex Sans" pitchFamily="34" charset="-120"/>
              </a:rPr>
              <a:t>DE NOCHE</a:t>
            </a:r>
            <a:endParaRPr lang="en-US" sz="1089" dirty="0"/>
          </a:p>
        </p:txBody>
      </p:sp>
      <p:sp>
        <p:nvSpPr>
          <p:cNvPr id="12" name="Text 9"/>
          <p:cNvSpPr/>
          <p:nvPr/>
        </p:nvSpPr>
        <p:spPr>
          <a:xfrm>
            <a:off x="4662984" y="2671465"/>
            <a:ext cx="2951912" cy="644525"/>
          </a:xfrm>
          <a:prstGeom prst="rect">
            <a:avLst/>
          </a:prstGeom>
          <a:noFill/>
          <a:ln/>
        </p:spPr>
        <p:txBody>
          <a:bodyPr wrap="square" lIns="0" tIns="0" rIns="0" bIns="0" rtlCol="0" anchor="t">
            <a:normAutofit/>
          </a:bodyPr>
          <a:lstStyle/>
          <a:p>
            <a:pPr algn="l" indent="0" marL="0">
              <a:lnSpc>
                <a:spcPts val="4913"/>
              </a:lnSpc>
              <a:buNone/>
            </a:pPr>
            <a:r>
              <a:rPr lang="en-US" sz="4913" b="1" dirty="0">
                <a:solidFill>
                  <a:srgbClr val="F1F6F2"/>
                </a:solidFill>
                <a:latin typeface="IBM Plex Sans" pitchFamily="34" charset="0"/>
                <a:ea typeface="IBM Plex Sans" pitchFamily="34" charset="-122"/>
                <a:cs typeface="IBM Plex Sans" pitchFamily="34" charset="-120"/>
              </a:rPr>
              <a:t>90 %</a:t>
            </a:r>
            <a:endParaRPr lang="en-US" sz="4913" dirty="0"/>
          </a:p>
        </p:txBody>
      </p:sp>
      <p:sp>
        <p:nvSpPr>
          <p:cNvPr id="13" name="Text 10"/>
          <p:cNvSpPr/>
          <p:nvPr/>
        </p:nvSpPr>
        <p:spPr>
          <a:xfrm>
            <a:off x="4662984" y="3366790"/>
            <a:ext cx="2951912" cy="227608"/>
          </a:xfrm>
          <a:prstGeom prst="rect">
            <a:avLst/>
          </a:prstGeom>
          <a:noFill/>
          <a:ln/>
        </p:spPr>
        <p:txBody>
          <a:bodyPr wrap="square" lIns="0" tIns="0" rIns="0" bIns="0" rtlCol="0" anchor="t">
            <a:normAutofit/>
          </a:bodyPr>
          <a:lstStyle/>
          <a:p>
            <a:pPr algn="l" indent="0" marL="0">
              <a:lnSpc>
                <a:spcPts val="1623"/>
              </a:lnSpc>
              <a:buNone/>
            </a:pPr>
            <a:r>
              <a:rPr lang="en-US" sz="1159" dirty="0">
                <a:solidFill>
                  <a:srgbClr val="DCD3F2"/>
                </a:solidFill>
                <a:latin typeface="IBM Plex Sans" pitchFamily="34" charset="0"/>
                <a:ea typeface="IBM Plex Sans" pitchFamily="34" charset="-122"/>
                <a:cs typeface="IBM Plex Sans" pitchFamily="34" charset="-120"/>
              </a:rPr>
              <a:t>hoy 67 %</a:t>
            </a:r>
            <a:endParaRPr lang="en-US" sz="1159" dirty="0"/>
          </a:p>
        </p:txBody>
      </p:sp>
      <p:sp>
        <p:nvSpPr>
          <p:cNvPr id="14" name="Shape 11"/>
          <p:cNvSpPr/>
          <p:nvPr/>
        </p:nvSpPr>
        <p:spPr>
          <a:xfrm>
            <a:off x="7992467" y="2197993"/>
            <a:ext cx="3386634" cy="1580555"/>
          </a:xfrm>
          <a:prstGeom prst="roundRect">
            <a:avLst>
              <a:gd name="adj" fmla="val 6428"/>
            </a:avLst>
          </a:prstGeom>
          <a:solidFill>
            <a:srgbClr val="F1F6F2"/>
          </a:solidFill>
          <a:ln/>
        </p:spPr>
      </p:sp>
      <p:sp>
        <p:nvSpPr>
          <p:cNvPr id="15" name="Text 12"/>
          <p:cNvSpPr/>
          <p:nvPr/>
        </p:nvSpPr>
        <p:spPr>
          <a:xfrm>
            <a:off x="8246467" y="2401193"/>
            <a:ext cx="2964993" cy="215404"/>
          </a:xfrm>
          <a:prstGeom prst="rect">
            <a:avLst/>
          </a:prstGeom>
          <a:noFill/>
          <a:ln/>
        </p:spPr>
        <p:txBody>
          <a:bodyPr wrap="square" lIns="0" tIns="0" rIns="0" bIns="0" rtlCol="0" anchor="t">
            <a:normAutofit/>
          </a:bodyPr>
          <a:lstStyle/>
          <a:p>
            <a:pPr algn="l" indent="0" marL="0">
              <a:lnSpc>
                <a:spcPts val="1524"/>
              </a:lnSpc>
              <a:buNone/>
            </a:pPr>
            <a:r>
              <a:rPr lang="en-US" sz="1089" b="1" spc="50" kern="0" dirty="0">
                <a:solidFill>
                  <a:srgbClr val="0B5638"/>
                </a:solidFill>
                <a:latin typeface="IBM Plex Sans" pitchFamily="34" charset="0"/>
                <a:ea typeface="IBM Plex Sans" pitchFamily="34" charset="-122"/>
                <a:cs typeface="IBM Plex Sans" pitchFamily="34" charset="-120"/>
              </a:rPr>
              <a:t>TODAS LAS CÁMARAS</a:t>
            </a:r>
            <a:endParaRPr lang="en-US" sz="1089" dirty="0"/>
          </a:p>
        </p:txBody>
      </p:sp>
      <p:sp>
        <p:nvSpPr>
          <p:cNvPr id="16" name="Text 13"/>
          <p:cNvSpPr/>
          <p:nvPr/>
        </p:nvSpPr>
        <p:spPr>
          <a:xfrm>
            <a:off x="8246467" y="2667397"/>
            <a:ext cx="2964993" cy="652363"/>
          </a:xfrm>
          <a:prstGeom prst="rect">
            <a:avLst/>
          </a:prstGeom>
          <a:noFill/>
          <a:ln/>
        </p:spPr>
        <p:txBody>
          <a:bodyPr wrap="square" lIns="0" tIns="0" rIns="0" bIns="0" rtlCol="0" anchor="t">
            <a:normAutofit/>
          </a:bodyPr>
          <a:lstStyle/>
          <a:p>
            <a:pPr algn="l" indent="0" marL="0">
              <a:lnSpc>
                <a:spcPts val="4969"/>
              </a:lnSpc>
              <a:buNone/>
            </a:pPr>
            <a:r>
              <a:rPr lang="en-US" sz="4969" b="1" dirty="0">
                <a:solidFill>
                  <a:srgbClr val="0B5638"/>
                </a:solidFill>
                <a:latin typeface="IBM Plex Sans" pitchFamily="34" charset="0"/>
                <a:ea typeface="IBM Plex Sans" pitchFamily="34" charset="-122"/>
                <a:cs typeface="IBM Plex Sans" pitchFamily="34" charset="-120"/>
              </a:rPr>
              <a:t>92 %</a:t>
            </a:r>
            <a:endParaRPr lang="en-US" sz="4969" dirty="0"/>
          </a:p>
        </p:txBody>
      </p:sp>
      <p:sp>
        <p:nvSpPr>
          <p:cNvPr id="17" name="Text 14"/>
          <p:cNvSpPr/>
          <p:nvPr/>
        </p:nvSpPr>
        <p:spPr>
          <a:xfrm>
            <a:off x="8246467" y="3370560"/>
            <a:ext cx="2964993" cy="230188"/>
          </a:xfrm>
          <a:prstGeom prst="rect">
            <a:avLst/>
          </a:prstGeom>
          <a:noFill/>
          <a:ln/>
        </p:spPr>
        <p:txBody>
          <a:bodyPr wrap="square" lIns="0" tIns="0" rIns="0" bIns="0" rtlCol="0" anchor="t">
            <a:normAutofit/>
          </a:bodyPr>
          <a:lstStyle/>
          <a:p>
            <a:pPr algn="l" indent="0" marL="0">
              <a:lnSpc>
                <a:spcPts val="1623"/>
              </a:lnSpc>
              <a:buNone/>
            </a:pPr>
            <a:r>
              <a:rPr lang="en-US" sz="1159" dirty="0">
                <a:solidFill>
                  <a:srgbClr val="4A5D52"/>
                </a:solidFill>
                <a:latin typeface="IBM Plex Sans" pitchFamily="34" charset="0"/>
                <a:ea typeface="IBM Plex Sans" pitchFamily="34" charset="-122"/>
                <a:cs typeface="IBM Plex Sans" pitchFamily="34" charset="-120"/>
              </a:rPr>
              <a:t>hoy 75 %</a:t>
            </a:r>
            <a:endParaRPr lang="en-US" sz="1159" dirty="0"/>
          </a:p>
        </p:txBody>
      </p:sp>
      <p:sp>
        <p:nvSpPr>
          <p:cNvPr id="18" name="Text 15"/>
          <p:cNvSpPr/>
          <p:nvPr/>
        </p:nvSpPr>
        <p:spPr>
          <a:xfrm>
            <a:off x="812800" y="4083348"/>
            <a:ext cx="11379200" cy="521295"/>
          </a:xfrm>
          <a:prstGeom prst="rect">
            <a:avLst/>
          </a:prstGeom>
          <a:noFill/>
          <a:ln/>
        </p:spPr>
        <p:txBody>
          <a:bodyPr wrap="square" lIns="0" tIns="0" rIns="0" bIns="0" rtlCol="0" anchor="t">
            <a:normAutofit/>
          </a:bodyPr>
          <a:lstStyle/>
          <a:p>
            <a:pPr algn="l" indent="0" marL="0">
              <a:lnSpc>
                <a:spcPts val="2016"/>
              </a:lnSpc>
              <a:buNone/>
            </a:pPr>
            <a:r>
              <a:rPr lang="en-US" sz="1440" dirty="0">
                <a:solidFill>
                  <a:srgbClr val="D6E4DA"/>
                </a:solidFill>
                <a:latin typeface="IBM Plex Sans" pitchFamily="34" charset="0"/>
                <a:ea typeface="IBM Plex Sans" pitchFamily="34" charset="-122"/>
                <a:cs typeface="IBM Plex Sans" pitchFamily="34" charset="-120"/>
              </a:rPr>
              <a:t>Con eso, prácticamente todo camión queda identificado (hoy 98 %) y seguido en 3 o más puntos de su recorrido (hoy 92 %).</a:t>
            </a:r>
            <a:endParaRPr lang="en-US" sz="1440" dirty="0"/>
          </a:p>
        </p:txBody>
      </p:sp>
      <p:pic>
        <p:nvPicPr>
          <p:cNvPr id="19" name="Image 1" descr="Nueva Vicentin Argentina">    </p:cNvPr>
          <p:cNvPicPr>
            <a:picLocks noChangeAspect="1"/>
          </p:cNvPicPr>
          <p:nvPr/>
        </p:nvPicPr>
        <p:blipFill>
          <a:blip r:embed="rId2"/>
          <a:srcRect l="0" r="0" t="-116" b="-116"/>
          <a:stretch/>
        </p:blipFill>
        <p:spPr>
          <a:xfrm>
            <a:off x="812800" y="5140821"/>
            <a:ext cx="1397000" cy="749300"/>
          </a:xfrm>
          <a:prstGeom prst="rect">
            <a:avLst/>
          </a:prstGeom>
        </p:spPr>
      </p:pic>
      <p:pic>
        <p:nvPicPr>
          <p:cNvPr id="20" name="Image 2" descr="Bimtrazer">    </p:cNvPr>
          <p:cNvPicPr>
            <a:picLocks noChangeAspect="1"/>
          </p:cNvPicPr>
          <p:nvPr/>
        </p:nvPicPr>
        <p:blipFill>
          <a:blip r:embed="rId3"/>
          <a:srcRect l="0" r="0" t="0" b="0"/>
          <a:stretch/>
        </p:blipFill>
        <p:spPr>
          <a:xfrm>
            <a:off x="10109200" y="5216922"/>
            <a:ext cx="1270000" cy="596900"/>
          </a:xfrm>
          <a:prstGeom prst="rect">
            <a:avLst/>
          </a:prstGeom>
        </p:spPr>
      </p:pic>
    </p:spTree>
  </p:cSld>
  <p:clrMapOvr>
    <a:masterClrMapping/>
  </p:clrMapOvr>
</p:sld>
</file>

<file path=ppt/theme/theme1.xml><?xml version="1.0" encoding="utf-8"?>
<a:theme xmlns:a="http://schemas.openxmlformats.org/drawingml/2006/main" name="Reconocimiento de cámaras · Septiembre">
  <a:themeElements>
    <a:clrScheme name="Reconocimiento de cámaras · Septiembre">
      <a:dk1>
        <a:srgbClr val="14281E"/>
      </a:dk1>
      <a:lt1>
        <a:srgbClr val="F5F8F4"/>
      </a:lt1>
      <a:dk2>
        <a:srgbClr val="4C5C54"/>
      </a:dk2>
      <a:lt2>
        <a:srgbClr val="DFE3DF"/>
      </a:lt2>
      <a:accent1>
        <a:srgbClr val="0B5638"/>
      </a:accent1>
      <a:accent2>
        <a:srgbClr val="2E1B4E"/>
      </a:accent2>
      <a:accent3>
        <a:srgbClr val="B3261E"/>
      </a:accent3>
      <a:accent4>
        <a:srgbClr val="8A5A00"/>
      </a:accent4>
      <a:accent5>
        <a:srgbClr val="9CCBAE"/>
      </a:accent5>
      <a:accent6>
        <a:srgbClr val="0E4A33"/>
      </a:accent6>
      <a:hlink>
        <a:srgbClr val="0563C1"/>
      </a:hlink>
      <a:folHlink>
        <a:srgbClr val="954F72"/>
      </a:folHlink>
    </a:clrScheme>
    <a:fontScheme name="Reconocimiento de cámaras · Septiembr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Reconocimiento de cámaras · Septiembre</dc:title>
  <dc:subject/>
  <dc:creator/>
  <cp:lastModifiedBy/>
  <cp:revision>1</cp:revision>
  <dcterms:created xsi:type="dcterms:W3CDTF">2026-10-02T14:55:07Z</dcterms:created>
  <dcterms:modified xsi:type="dcterms:W3CDTF">2026-10-02T14:55:07Z</dcterms:modified>
</cp:coreProperties>
</file>