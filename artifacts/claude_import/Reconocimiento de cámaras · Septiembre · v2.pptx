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webp" ContentType="image/webp"/>
  <Override PartName="/ppt/media/image-11-1.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El universo son los camiones del Excel de Movimientos por Contrato de Ricardone y Terminal Embarque, del 1 al 30 de septiembre: 12.146 camiones.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98 % de los camiones fue leído por al menos una cámara y 92 % en 3 o más puntos de control de su recorrido (por ejemplo ingreso, calada y salida). La lectura por punto es 75 %: 83 % de día (6 a 18 h) y 67 % de noche.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Semanas de lunes a domingo; cada camión cuenta en la semana de su salida. La última semana va del 28 al 30 de septiembre. "En 3 o más puntos" = leído por cámaras de al menos 3 puntos de control distintos de su recorrido. Identificados 28–30: 97,5 %.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Camiones = los que tenían que pasar por ese punto según su circuito, del 1 al 30 de septiembre. Total, día y noche = porcentaje que leyó alguna cámara frontal del punto. En los puntos con varias calles (calada, balanzas) se cuenta leído si lo leyó cualquiera de sus cámaras. La recepción en Silo Chief descarga en S7, igual que Keppler. Tolva silo Chief corresponde a la soja que sale de silos al puerto (R29), que aparece desde la semana del 21/09.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Camiones por calle del volcable: C1 1.121, C2 1.904, C3 1.445, C4 433, C5 2.563. No se incluyen la calada del puerto (todavía no se puede saber qué camión debe ir a calado líquido) ni la cámara SLZTK400 de Renova, que es de apoyo. De día, todas las calles del volcable leen entre 89 y 99 %. Balanza de egreso por semana: 41 %, 50 %, 20 %, 6 % y 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Ninguna cámara sostiene 100 % un día completo; sí lo alcanzan en turnos puntuales (Egreso SL e Ingreso Ricardone el 20/09 de día). Los turnos de 98–99 % con más de 200 camiones muestran que la cámara puede hacerlo y que la medición no limita por debajo de ese nivel; el margen por errores de patente en el Excel o camiones que no pasaron por el punto es de 1 a 2 puntos como mucho. Volcable 1 es el punto que más días pasó el 95 % entero (5 de 16 días) porque casi no cae de noche (92 %). La brecha principal es la noche: 83 % de día contra 67 % de noche.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Turnos de día (6 a 18 h) y de noche (18 a 6 h) con al menos 10 camiones esperados en el nodo. Volcable 1 tuvo 7 turnos al 100 % (5 de día y 2 de noche): 11/09 día 34, 10/09 noche 28, 26/09 día 27, 26/09 noche 23, entre otros. Mejores turnos sin llegar al 100 %: Playa 3 90 de 91; Salida 163 de 169; Calada 141 de 147; Tolva silo Chief 54 de 58; Volcable 2 11 de 12; Balanza ingreso SL 230 de 232; Volcables SL 68 de 69; Ingreso SL 252 de 260; Líquidos 18 de 19; Carga OSL 28 de 30; Balanza egreso SL 184 de 214.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Puerto San Lorenzo, en orden de urgencia. 1 y 2: balanza de egreso, la calle 2 cayó de unas 500 lecturas por día a menos de 160 desde el 14/09 y la calle 1 envió 840 lecturas en el mes contra 6.527 de la calle 2. 3 a 5: volcable de noche, calle 5 29 % (día 95 %), calle 2 50 % (día 89 %), calle 1 58 % (día 89 %). 6: balanza de ingreso, noche 70 % contra 86 % de día. 7: ingreso, 81 % y noche 78 %. 8: Carga OSL, noche 50 % contra 70 % de día. 9: líquidos, 69 % parejo de día y de noche, apunta a encuadre y enfoque. 10 a 12: ajuste fino y control preventivo; traseras (ingreso, balanzas, salida, Renova) con muchas patentes ilegibles, limpieza de lente y encuadre. Los tiempos de cada parada los define el equipo de planta; la lámina fija el orden.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Ricardone, en orden de urgencia. 1 a 3: cámaras que casi no envían lecturas: RicCal05 y RicCal06 (56 y 124 lecturas en el mes), RicB1Egreso (88 contra 5.163 de B2) y RicB2Ingreso (399 contra 4.048 de B1). 4 y 5: Ingreso (noche 64 %, día 93 %) y Salida (noche 65 %, día 84 %); de noche las fallas de lectura de patente casi se triplican (Ingreso 1.160 contra 436; Salida 1.112 contra 356). 6: Tolva silo Chief, noche 45 % y la línea 1 envió solo 27 lecturas. 7: Playa 3, noche 52 % contra 79 %. 8: Volcable 2, 73 %. 9: resto de las balanzas, ingreso 70 % y egreso 83 %. 10: descarga S7, noche 71 % y la línea 2 con 135 lecturas. 11 y 12: enfoque, limpieza y control preventivo; traseras de ingreso, salida y preingreso. Los tiempos los define el equipo de planta; la lámina fija el orden.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Preingreso es el nodo que mejor combina nivel de lectura y volumen: 90 % sobre 11.087 camiones, con dato todos los días. Volcable 1 lee más (93 %) pero tiene días con muy pocos camiones. En el mes hubo un solo día bajo el umbral de 85 %: el 03/09 (78 %), que se habría marcado; el 12/09 y el 22/09 quedaron cerca (87 % y 86 %). Con la alerta diaria, la caída de la balanza de egreso del puerto del 14/09 se habría avisado ese mismo día. Mantenimiento recomendado: limpieza de lentes y control de enfoque e iluminación una vez por mes; recalibración del lector con el proveedor cada tres meses.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total: 95 % de día y 90 % de noche, ponderado por los camiones de septiembre (48.857 pasos de día y 52.004 de noche), da 92 % para el conjunto de las cámaras. Hoy: 83 % de día, 67 % de noche y 75 % en total. El cronograma de calibración apunta primero a los puntos que más camiones dejan sin leer.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8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389334"/>
          </a:xfrm>
          <a:prstGeom prst="rect">
            <a:avLst/>
          </a:prstGeom>
          <a:noFill/>
          <a:ln/>
        </p:spPr>
        <p:txBody>
          <a:bodyPr wrap="square" lIns="0" tIns="0" rIns="0" bIns="0" rtlCol="0" anchor="t"/>
          <a:lstStyle>
            <a:lvl1pPr algn="l" indent="0" marL="0">
              <a:lnSpc>
                <a:spcPct val="115000"/>
              </a:lnSpc>
              <a:buNone/>
              <a:defRPr lang="en-US" sz="2643" dirty="0">
                <a:solidFill>
                  <a:srgbClr val="14281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643" dirty="0"/>
          </a:p>
        </p:txBody>
      </p:sp>
      <p:sp>
        <p:nvSpPr>
          <p:cNvPr id="3" name="Text Placeholder 2"/>
          <p:cNvSpPr/>
          <p:nvPr>
            <p:ph idx="101" type="body"/>
          </p:nvPr>
        </p:nvSpPr>
        <p:spPr>
          <a:xfrm>
            <a:off x="812800" y="1796455"/>
            <a:ext cx="10566400" cy="4248745"/>
          </a:xfrm>
          <a:prstGeom prst="rect">
            <a:avLst/>
          </a:prstGeom>
          <a:noFill/>
          <a:ln/>
        </p:spPr>
        <p:txBody>
          <a:bodyPr wrap="square" lIns="0" tIns="0" rIns="0" bIns="0" rtlCol="0" anchor="t"/>
          <a:lstStyle>
            <a:lvl1pPr algn="l" indent="0" marL="0">
              <a:lnSpc>
                <a:spcPct val="140000"/>
              </a:lnSpc>
              <a:buNone/>
              <a:defRPr lang="en-US" sz="1600" dirty="0">
                <a:solidFill>
                  <a:srgbClr val="14281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8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389334"/>
          </a:xfrm>
          <a:prstGeom prst="rect">
            <a:avLst/>
          </a:prstGeom>
          <a:noFill/>
          <a:ln/>
        </p:spPr>
        <p:txBody>
          <a:bodyPr wrap="square" lIns="0" tIns="0" rIns="0" bIns="0" rtlCol="0" anchor="t"/>
          <a:lstStyle>
            <a:lvl1pPr algn="l" indent="0" marL="0">
              <a:lnSpc>
                <a:spcPct val="115000"/>
              </a:lnSpc>
              <a:buNone/>
              <a:defRPr lang="en-US" sz="2643" dirty="0">
                <a:solidFill>
                  <a:srgbClr val="14281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643" dirty="0"/>
          </a:p>
        </p:txBody>
      </p:sp>
      <p:sp>
        <p:nvSpPr>
          <p:cNvPr id="3" name="Text Placeholder 2"/>
          <p:cNvSpPr/>
          <p:nvPr>
            <p:ph idx="101" type="body"/>
          </p:nvPr>
        </p:nvSpPr>
        <p:spPr>
          <a:xfrm>
            <a:off x="812800" y="1796455"/>
            <a:ext cx="10566400" cy="4248745"/>
          </a:xfrm>
          <a:prstGeom prst="rect">
            <a:avLst/>
          </a:prstGeom>
          <a:noFill/>
          <a:ln/>
        </p:spPr>
        <p:txBody>
          <a:bodyPr wrap="square" lIns="0" tIns="0" rIns="0" bIns="0" rtlCol="0" anchor="t"/>
          <a:lstStyle>
            <a:lvl1pPr algn="l" indent="0" marL="0">
              <a:lnSpc>
                <a:spcPct val="140000"/>
              </a:lnSpc>
              <a:buNone/>
              <a:defRPr lang="en-US" sz="1600" dirty="0">
                <a:solidFill>
                  <a:srgbClr val="14281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webp"/><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webp"/><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563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6333" r="6333" t="0" b="0"/>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0B5638">
                  <a:alpha val="74000"/>
                </a:srgbClr>
              </a:gs>
              <a:gs pos="55000">
                <a:srgbClr val="0E4A33">
                  <a:alpha val="50000"/>
                </a:srgbClr>
              </a:gs>
              <a:gs pos="100000">
                <a:srgbClr val="2E1B4E">
                  <a:alpha val="64000"/>
                </a:srgbClr>
              </a:gs>
            </a:gsLst>
            <a:lin ang="1800000" scaled="0"/>
          </a:gradFill>
          <a:ln/>
        </p:spPr>
        <p:txBody>
          <a:bodyPr/>
          <a:p/>
        </p:txBody>
      </p:sp>
      <p:pic>
        <p:nvPicPr>
          <p:cNvPr id="4" name="Image 1" descr="Nueva Vicentin Argentina">    </p:cNvPr>
          <p:cNvPicPr>
            <a:picLocks noChangeAspect="1"/>
          </p:cNvPicPr>
          <p:nvPr/>
        </p:nvPicPr>
        <p:blipFill>
          <a:blip r:embed="rId2"/>
          <a:srcRect l="0" r="0" t="-56" b="-56"/>
          <a:stretch/>
        </p:blipFill>
        <p:spPr>
          <a:xfrm>
            <a:off x="812800" y="711200"/>
            <a:ext cx="1778000" cy="952500"/>
          </a:xfrm>
          <a:prstGeom prst="rect">
            <a:avLst/>
          </a:prstGeom>
        </p:spPr>
      </p:pic>
      <p:pic>
        <p:nvPicPr>
          <p:cNvPr id="5" name="Image 2" descr="Bimtrazer">    </p:cNvPr>
          <p:cNvPicPr>
            <a:picLocks noChangeAspect="1"/>
          </p:cNvPicPr>
          <p:nvPr/>
        </p:nvPicPr>
        <p:blipFill>
          <a:blip r:embed="rId3"/>
          <a:srcRect l="0" r="0" t="-440" b="-440"/>
          <a:stretch/>
        </p:blipFill>
        <p:spPr>
          <a:xfrm>
            <a:off x="9906000" y="812800"/>
            <a:ext cx="1473200" cy="698500"/>
          </a:xfrm>
          <a:prstGeom prst="rect">
            <a:avLst/>
          </a:prstGeom>
        </p:spPr>
      </p:pic>
      <p:sp>
        <p:nvSpPr>
          <p:cNvPr id="6" name="Text 1"/>
          <p:cNvSpPr/>
          <p:nvPr/>
        </p:nvSpPr>
        <p:spPr>
          <a:xfrm>
            <a:off x="812800" y="24054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9CCBAE"/>
                </a:solidFill>
                <a:latin typeface="IBM Plex Sans" pitchFamily="34" charset="0"/>
                <a:ea typeface="IBM Plex Sans" pitchFamily="34" charset="-122"/>
                <a:cs typeface="IBM Plex Sans" pitchFamily="34" charset="-120"/>
              </a:rPr>
              <a:t>LOGÍSTICA · RICARDONE Y PUERTO SAN LORENZO</a:t>
            </a:r>
            <a:endParaRPr lang="en-US" sz="1400" dirty="0"/>
          </a:p>
        </p:txBody>
      </p:sp>
      <p:sp>
        <p:nvSpPr>
          <p:cNvPr id="7" name="Text 2"/>
          <p:cNvSpPr/>
          <p:nvPr>
            <p:ph type="title"/>
          </p:nvPr>
        </p:nvSpPr>
        <p:spPr>
          <a:xfrm>
            <a:off x="812800" y="2832100"/>
            <a:ext cx="9810750"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1F6F2"/>
                </a:solidFill>
                <a:latin typeface="IBM Plex Sans" pitchFamily="34" charset="0"/>
                <a:ea typeface="IBM Plex Sans" pitchFamily="34" charset="-122"/>
                <a:cs typeface="IBM Plex Sans" pitchFamily="34" charset="-120"/>
              </a:rPr>
              <a:t>Reconocimiento de camiones por cámara</a:t>
            </a:r>
            <a:endParaRPr lang="en-US" sz="6000" dirty="0"/>
          </a:p>
        </p:txBody>
      </p:sp>
      <p:sp>
        <p:nvSpPr>
          <p:cNvPr id="8" name="Text 3"/>
          <p:cNvSpPr/>
          <p:nvPr/>
        </p:nvSpPr>
        <p:spPr>
          <a:xfrm>
            <a:off x="812800" y="4610100"/>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D6E4DA"/>
                </a:solidFill>
                <a:latin typeface="IBM Plex Sans" pitchFamily="34" charset="0"/>
                <a:ea typeface="IBM Plex Sans" pitchFamily="34" charset="-122"/>
                <a:cs typeface="IBM Plex Sans" pitchFamily="34" charset="-120"/>
              </a:rPr>
              <a:t>Septiembre 2026 · del 1 al 30 de septiembre</a:t>
            </a:r>
            <a:endParaRPr lang="en-US" sz="2000" dirty="0"/>
          </a:p>
        </p:txBody>
      </p:sp>
      <p:sp>
        <p:nvSpPr>
          <p:cNvPr id="9" name="Shape 4"/>
          <p:cNvSpPr/>
          <p:nvPr/>
        </p:nvSpPr>
        <p:spPr>
          <a:xfrm>
            <a:off x="812800" y="5118100"/>
            <a:ext cx="1016000" cy="50800"/>
          </a:xfrm>
          <a:prstGeom prst="roundRect">
            <a:avLst>
              <a:gd name="adj" fmla="val 50000"/>
            </a:avLst>
          </a:prstGeom>
          <a:solidFill>
            <a:srgbClr val="9CCBAE"/>
          </a:solidFill>
          <a:ln/>
        </p:spPr>
        <p:txBody>
          <a:bodyPr/>
          <a:p/>
        </p:txBody>
      </p:sp>
      <p:sp>
        <p:nvSpPr>
          <p:cNvPr id="10" name="Text 5"/>
          <p:cNvSpPr/>
          <p:nvPr/>
        </p:nvSpPr>
        <p:spPr>
          <a:xfrm>
            <a:off x="812800" y="5346700"/>
            <a:ext cx="850265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C9D8CE"/>
                </a:solidFill>
                <a:latin typeface="IBM Plex Sans" pitchFamily="34" charset="0"/>
                <a:ea typeface="IBM Plex Sans" pitchFamily="34" charset="-122"/>
                <a:cs typeface="IBM Plex Sans" pitchFamily="34" charset="-120"/>
              </a:rPr>
              <a:t>Cuántos de los camiones que ingresaron a planta identificaron las cámaras a lo largo de su recorrido. Propuesta de Bimtrazer para NVA.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4"/>
        </a:solidFill>
      </p:bgPr>
    </p:bg>
    <p:spTree>
      <p:nvGrpSpPr>
        <p:cNvPr id="1" name=""/>
        <p:cNvGrpSpPr/>
        <p:nvPr/>
      </p:nvGrpSpPr>
      <p:grpSpPr>
        <a:xfrm>
          <a:off x="0" y="0"/>
          <a:ext cx="0" cy="0"/>
          <a:chOff x="0" y="0"/>
          <a:chExt cx="0" cy="0"/>
        </a:xfrm>
      </p:grpSpPr>
      <p:sp>
        <p:nvSpPr>
          <p:cNvPr id="3" name="Text 1"/>
          <p:cNvSpPr/>
          <p:nvPr>
            <p:ph type="title"/>
          </p:nvPr>
        </p:nvSpPr>
        <p:spPr>
          <a:xfrm>
            <a:off x="812800" y="1102320"/>
            <a:ext cx="1137920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81E"/>
                </a:solidFill>
                <a:latin typeface="IBM Plex Sans" pitchFamily="34" charset="0"/>
                <a:ea typeface="IBM Plex Sans" pitchFamily="34" charset="-122"/>
                <a:cs typeface="IBM Plex Sans" pitchFamily="34" charset="-120"/>
              </a:rPr>
              <a:t>Casi todo camión que entra a planta queda identificado</a:t>
            </a:r>
            <a:endParaRPr lang="en-US" sz="3200" dirty="0"/>
          </a:p>
        </p:txBody>
      </p:sp>
      <p:sp>
        <p:nvSpPr>
          <p:cNvPr id="4" name="Shape 2"/>
          <p:cNvSpPr/>
          <p:nvPr/>
        </p:nvSpPr>
        <p:spPr>
          <a:xfrm>
            <a:off x="815975" y="1857276"/>
            <a:ext cx="3380284" cy="2337792"/>
          </a:xfrm>
          <a:prstGeom prst="roundRect">
            <a:avLst>
              <a:gd name="adj" fmla="val 4210"/>
            </a:avLst>
          </a:prstGeom>
          <a:solidFill>
            <a:srgbClr val="FCFDFB"/>
          </a:solidFill>
          <a:ln w="6350">
            <a:solidFill>
              <a:srgbClr val="D3E2D7"/>
            </a:solidFill>
            <a:prstDash val="solid"/>
          </a:ln>
        </p:spPr>
        <p:txBody>
          <a:bodyPr/>
          <a:p/>
        </p:txBody>
      </p:sp>
      <p:sp>
        <p:nvSpPr>
          <p:cNvPr id="5" name="Text 3"/>
          <p:cNvSpPr/>
          <p:nvPr/>
        </p:nvSpPr>
        <p:spPr>
          <a:xfrm>
            <a:off x="1073150" y="2089051"/>
            <a:ext cx="295191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4A5D52"/>
                </a:solidFill>
                <a:latin typeface="IBM Plex Sans" pitchFamily="34" charset="0"/>
                <a:ea typeface="IBM Plex Sans" pitchFamily="34" charset="-122"/>
                <a:cs typeface="IBM Plex Sans" pitchFamily="34" charset="-120"/>
              </a:rPr>
              <a:t>IDENTIFICADOS POR CÁMARA</a:t>
            </a:r>
            <a:endParaRPr lang="en-US" sz="1200" dirty="0"/>
          </a:p>
        </p:txBody>
      </p:sp>
      <p:sp>
        <p:nvSpPr>
          <p:cNvPr id="6" name="Text 4"/>
          <p:cNvSpPr/>
          <p:nvPr/>
        </p:nvSpPr>
        <p:spPr>
          <a:xfrm>
            <a:off x="1073150" y="2378571"/>
            <a:ext cx="295191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0B5638"/>
                </a:solidFill>
                <a:latin typeface="IBM Plex Sans" pitchFamily="34" charset="0"/>
                <a:ea typeface="IBM Plex Sans" pitchFamily="34" charset="-122"/>
                <a:cs typeface="IBM Plex Sans" pitchFamily="34" charset="-120"/>
              </a:rPr>
              <a:t>98 %</a:t>
            </a:r>
            <a:endParaRPr lang="en-US" sz="6000" dirty="0"/>
          </a:p>
        </p:txBody>
      </p:sp>
      <p:sp>
        <p:nvSpPr>
          <p:cNvPr id="7" name="Text 5"/>
          <p:cNvSpPr/>
          <p:nvPr/>
        </p:nvSpPr>
        <p:spPr>
          <a:xfrm>
            <a:off x="1073150" y="3216771"/>
            <a:ext cx="2951912"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D52"/>
                </a:solidFill>
                <a:latin typeface="IBM Plex Sans" pitchFamily="34" charset="0"/>
                <a:ea typeface="IBM Plex Sans" pitchFamily="34" charset="-122"/>
                <a:cs typeface="IBM Plex Sans" pitchFamily="34" charset="-120"/>
              </a:rPr>
              <a:t>11.948 de 12.146 camiones leídos al menos por una cámara de su recorrido</a:t>
            </a:r>
            <a:endParaRPr lang="en-US" sz="1400" dirty="0"/>
          </a:p>
        </p:txBody>
      </p:sp>
      <p:sp>
        <p:nvSpPr>
          <p:cNvPr id="8" name="Shape 6"/>
          <p:cNvSpPr/>
          <p:nvPr/>
        </p:nvSpPr>
        <p:spPr>
          <a:xfrm>
            <a:off x="4405809" y="1857276"/>
            <a:ext cx="3380284" cy="2337792"/>
          </a:xfrm>
          <a:prstGeom prst="roundRect">
            <a:avLst>
              <a:gd name="adj" fmla="val 4210"/>
            </a:avLst>
          </a:prstGeom>
          <a:solidFill>
            <a:srgbClr val="FCFDFB"/>
          </a:solidFill>
          <a:ln w="6350">
            <a:solidFill>
              <a:srgbClr val="D3E2D7"/>
            </a:solidFill>
            <a:prstDash val="solid"/>
          </a:ln>
        </p:spPr>
        <p:txBody>
          <a:bodyPr/>
          <a:p/>
        </p:txBody>
      </p:sp>
      <p:sp>
        <p:nvSpPr>
          <p:cNvPr id="9" name="Text 7"/>
          <p:cNvSpPr/>
          <p:nvPr/>
        </p:nvSpPr>
        <p:spPr>
          <a:xfrm>
            <a:off x="4662984" y="2089051"/>
            <a:ext cx="295191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4A5D52"/>
                </a:solidFill>
                <a:latin typeface="IBM Plex Sans" pitchFamily="34" charset="0"/>
                <a:ea typeface="IBM Plex Sans" pitchFamily="34" charset="-122"/>
                <a:cs typeface="IBM Plex Sans" pitchFamily="34" charset="-120"/>
              </a:rPr>
              <a:t>SEGUIDOS EN SU RECORRIDO</a:t>
            </a:r>
            <a:endParaRPr lang="en-US" sz="1200" dirty="0"/>
          </a:p>
        </p:txBody>
      </p:sp>
      <p:sp>
        <p:nvSpPr>
          <p:cNvPr id="10" name="Text 8"/>
          <p:cNvSpPr/>
          <p:nvPr/>
        </p:nvSpPr>
        <p:spPr>
          <a:xfrm>
            <a:off x="4662984" y="2378571"/>
            <a:ext cx="295191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0B5638"/>
                </a:solidFill>
                <a:latin typeface="IBM Plex Sans" pitchFamily="34" charset="0"/>
                <a:ea typeface="IBM Plex Sans" pitchFamily="34" charset="-122"/>
                <a:cs typeface="IBM Plex Sans" pitchFamily="34" charset="-120"/>
              </a:rPr>
              <a:t>92 %</a:t>
            </a:r>
            <a:endParaRPr lang="en-US" sz="6000" dirty="0"/>
          </a:p>
        </p:txBody>
      </p:sp>
      <p:sp>
        <p:nvSpPr>
          <p:cNvPr id="11" name="Text 9"/>
          <p:cNvSpPr/>
          <p:nvPr/>
        </p:nvSpPr>
        <p:spPr>
          <a:xfrm>
            <a:off x="4662984" y="3216771"/>
            <a:ext cx="295191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D52"/>
                </a:solidFill>
                <a:latin typeface="IBM Plex Sans" pitchFamily="34" charset="0"/>
                <a:ea typeface="IBM Plex Sans" pitchFamily="34" charset="-122"/>
                <a:cs typeface="IBM Plex Sans" pitchFamily="34" charset="-120"/>
              </a:rPr>
              <a:t>11.204 camiones leídos en 3 o más puntos de control distintos</a:t>
            </a:r>
            <a:endParaRPr lang="en-US" sz="1400" dirty="0"/>
          </a:p>
        </p:txBody>
      </p:sp>
      <p:sp>
        <p:nvSpPr>
          <p:cNvPr id="12" name="Shape 10"/>
          <p:cNvSpPr/>
          <p:nvPr/>
        </p:nvSpPr>
        <p:spPr>
          <a:xfrm>
            <a:off x="7995642" y="1857276"/>
            <a:ext cx="3380284" cy="2337792"/>
          </a:xfrm>
          <a:prstGeom prst="roundRect">
            <a:avLst>
              <a:gd name="adj" fmla="val 4210"/>
            </a:avLst>
          </a:prstGeom>
          <a:solidFill>
            <a:srgbClr val="FCFDFB"/>
          </a:solidFill>
          <a:ln w="6350">
            <a:solidFill>
              <a:srgbClr val="D3E2D7"/>
            </a:solidFill>
            <a:prstDash val="solid"/>
          </a:ln>
        </p:spPr>
        <p:txBody>
          <a:bodyPr/>
          <a:p/>
        </p:txBody>
      </p:sp>
      <p:sp>
        <p:nvSpPr>
          <p:cNvPr id="13" name="Text 11"/>
          <p:cNvSpPr/>
          <p:nvPr/>
        </p:nvSpPr>
        <p:spPr>
          <a:xfrm>
            <a:off x="8252817" y="2089051"/>
            <a:ext cx="295191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4A5D52"/>
                </a:solidFill>
                <a:latin typeface="IBM Plex Sans" pitchFamily="34" charset="0"/>
                <a:ea typeface="IBM Plex Sans" pitchFamily="34" charset="-122"/>
                <a:cs typeface="IBM Plex Sans" pitchFamily="34" charset="-120"/>
              </a:rPr>
              <a:t>LECTURA POR PUNTO</a:t>
            </a:r>
            <a:endParaRPr lang="en-US" sz="1200" dirty="0"/>
          </a:p>
        </p:txBody>
      </p:sp>
      <p:sp>
        <p:nvSpPr>
          <p:cNvPr id="14" name="Text 12"/>
          <p:cNvSpPr/>
          <p:nvPr/>
        </p:nvSpPr>
        <p:spPr>
          <a:xfrm>
            <a:off x="8252817" y="2378571"/>
            <a:ext cx="295191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2E1B4E"/>
                </a:solidFill>
                <a:latin typeface="IBM Plex Sans" pitchFamily="34" charset="0"/>
                <a:ea typeface="IBM Plex Sans" pitchFamily="34" charset="-122"/>
                <a:cs typeface="IBM Plex Sans" pitchFamily="34" charset="-120"/>
              </a:rPr>
              <a:t>75 %</a:t>
            </a:r>
            <a:endParaRPr lang="en-US" sz="6000" dirty="0"/>
          </a:p>
        </p:txBody>
      </p:sp>
      <p:sp>
        <p:nvSpPr>
          <p:cNvPr id="15" name="Text 13"/>
          <p:cNvSpPr/>
          <p:nvPr/>
        </p:nvSpPr>
        <p:spPr>
          <a:xfrm>
            <a:off x="8252817" y="3216771"/>
            <a:ext cx="2951912"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D52"/>
                </a:solidFill>
                <a:latin typeface="IBM Plex Sans" pitchFamily="34" charset="0"/>
                <a:ea typeface="IBM Plex Sans" pitchFamily="34" charset="-122"/>
                <a:cs typeface="IBM Plex Sans" pitchFamily="34" charset="-120"/>
              </a:rPr>
              <a:t>Cada punto leyó 75 de cada 100 camiones que pasaron: 83 % de día y 67 % de noche</a:t>
            </a:r>
            <a:endParaRPr lang="en-US" sz="1400" dirty="0"/>
          </a:p>
        </p:txBody>
      </p:sp>
      <p:sp>
        <p:nvSpPr>
          <p:cNvPr id="16" name="Text 14"/>
          <p:cNvSpPr/>
          <p:nvPr/>
        </p:nvSpPr>
        <p:spPr>
          <a:xfrm>
            <a:off x="812800" y="4503043"/>
            <a:ext cx="981075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D52"/>
                </a:solidFill>
                <a:latin typeface="IBM Plex Sans" pitchFamily="34" charset="0"/>
                <a:ea typeface="IBM Plex Sans" pitchFamily="34" charset="-122"/>
                <a:cs typeface="IBM Plex Sans" pitchFamily="34" charset="-120"/>
              </a:rPr>
              <a:t>Ricardone y Puerto San Lorenzo, del 1 al 30 de septiembre. Se evaluaron 12.146 camiones del Excel de Movimientos por Contrato contra los puntos de control que marca su circuito.</a:t>
            </a:r>
            <a:endParaRPr lang="en-US" sz="1600" dirty="0"/>
          </a:p>
        </p:txBody>
      </p:sp>
      <p:pic>
        <p:nvPicPr>
          <p:cNvPr id="17"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18"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
        <p:nvSpPr>
          <p:cNvPr id="19" name="Text 15"/>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Reconocimiento de cámaras · septiembre 2026 · 2</a:t>
            </a:r>
            <a:endParaRPr lang="en-US" sz="1200" dirty="0"/>
          </a:p>
        </p:txBody>
      </p:sp>
      <p:sp>
        <p:nvSpPr>
          <p:cNvPr id="20" name="Rounded Rectangle 19"/>
          <p:cNvSpPr/>
          <p:nvPr/>
        </p:nvSpPr>
        <p:spPr>
          <a:xfrm>
            <a:off x="812800" y="711200"/>
            <a:ext cx="2000627" cy="289520"/>
          </a:xfrm>
          <a:prstGeom prst="roundRect">
            <a:avLst>
              <a:gd name="adj" fmla="val 18000"/>
            </a:avLst>
          </a:prstGeom>
          <a:solidFill>
            <a:srgbClr val="2E1B4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r>
              <a:rPr sz="950" b="1">
                <a:solidFill>
                  <a:srgbClr val="FFFFFF"/>
                </a:solidFill>
                <a:latin typeface="IBM Plex Sans"/>
              </a:rPr>
              <a:t>RESULTADO DEL MES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4"/>
        </a:solidFill>
      </p:bgPr>
    </p:bg>
    <p:spTree>
      <p:nvGrpSpPr>
        <p:cNvPr id="1" name=""/>
        <p:cNvGrpSpPr/>
        <p:nvPr/>
      </p:nvGrpSpPr>
      <p:grpSpPr>
        <a:xfrm>
          <a:off x="0" y="0"/>
          <a:ext cx="0" cy="0"/>
          <a:chOff x="0" y="0"/>
          <a:chExt cx="0" cy="0"/>
        </a:xfrm>
      </p:grpSpPr>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81E"/>
                </a:solidFill>
                <a:latin typeface="IBM Plex Sans" pitchFamily="34" charset="0"/>
                <a:ea typeface="IBM Plex Sans" pitchFamily="34" charset="-122"/>
                <a:cs typeface="IBM Plex Sans" pitchFamily="34" charset="-120"/>
              </a:rPr>
              <a:t>El nivel de identificación se sostuvo todo el mes</a:t>
            </a:r>
            <a:endParaRPr lang="en-US" sz="3200" dirty="0"/>
          </a:p>
        </p:txBody>
      </p:sp>
      <p:sp>
        <p:nvSpPr>
          <p:cNvPr id="4" name="Shape 2"/>
          <p:cNvSpPr/>
          <p:nvPr/>
        </p:nvSpPr>
        <p:spPr>
          <a:xfrm>
            <a:off x="815975" y="1857276"/>
            <a:ext cx="2005310" cy="2492871"/>
          </a:xfrm>
          <a:prstGeom prst="roundRect">
            <a:avLst>
              <a:gd name="adj" fmla="val 4908"/>
            </a:avLst>
          </a:prstGeom>
          <a:solidFill>
            <a:srgbClr val="FCFDFB"/>
          </a:solidFill>
          <a:ln w="6350">
            <a:solidFill>
              <a:srgbClr val="D3E2D7"/>
            </a:solidFill>
            <a:prstDash val="solid"/>
          </a:ln>
        </p:spPr>
        <p:txBody>
          <a:bodyPr/>
          <a:p/>
        </p:txBody>
      </p:sp>
      <p:sp>
        <p:nvSpPr>
          <p:cNvPr id="5" name="Text 3"/>
          <p:cNvSpPr/>
          <p:nvPr/>
        </p:nvSpPr>
        <p:spPr>
          <a:xfrm>
            <a:off x="996950" y="2038251"/>
            <a:ext cx="16941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81E"/>
                </a:solidFill>
                <a:latin typeface="IBM Plex Sans" pitchFamily="34" charset="0"/>
                <a:ea typeface="IBM Plex Sans" pitchFamily="34" charset="-122"/>
                <a:cs typeface="IBM Plex Sans" pitchFamily="34" charset="-120"/>
              </a:rPr>
              <a:t>1 al 6 de sep.</a:t>
            </a:r>
            <a:endParaRPr lang="en-US" sz="1500" dirty="0"/>
          </a:p>
        </p:txBody>
      </p:sp>
      <p:sp>
        <p:nvSpPr>
          <p:cNvPr id="6" name="Text 4"/>
          <p:cNvSpPr/>
          <p:nvPr/>
        </p:nvSpPr>
        <p:spPr>
          <a:xfrm>
            <a:off x="996950" y="2419251"/>
            <a:ext cx="1694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3.131 camiones</a:t>
            </a:r>
            <a:endParaRPr lang="en-US" sz="1300" dirty="0"/>
          </a:p>
        </p:txBody>
      </p:sp>
      <p:sp>
        <p:nvSpPr>
          <p:cNvPr id="7" name="Text 5"/>
          <p:cNvSpPr/>
          <p:nvPr/>
        </p:nvSpPr>
        <p:spPr>
          <a:xfrm>
            <a:off x="996950" y="2764631"/>
            <a:ext cx="169416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0B5638"/>
                </a:solidFill>
                <a:latin typeface="IBM Plex Sans" pitchFamily="34" charset="0"/>
                <a:ea typeface="IBM Plex Sans" pitchFamily="34" charset="-122"/>
                <a:cs typeface="IBM Plex Sans" pitchFamily="34" charset="-120"/>
              </a:rPr>
              <a:t>98 %</a:t>
            </a:r>
            <a:endParaRPr lang="en-US" sz="3600" dirty="0"/>
          </a:p>
        </p:txBody>
      </p:sp>
      <p:sp>
        <p:nvSpPr>
          <p:cNvPr id="8" name="Text 6"/>
          <p:cNvSpPr/>
          <p:nvPr/>
        </p:nvSpPr>
        <p:spPr>
          <a:xfrm>
            <a:off x="996950" y="3247231"/>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identificados</a:t>
            </a:r>
            <a:endParaRPr lang="en-US" sz="1200" dirty="0"/>
          </a:p>
        </p:txBody>
      </p:sp>
      <p:sp>
        <p:nvSpPr>
          <p:cNvPr id="9" name="Text 7"/>
          <p:cNvSpPr/>
          <p:nvPr/>
        </p:nvSpPr>
        <p:spPr>
          <a:xfrm>
            <a:off x="996950" y="3574852"/>
            <a:ext cx="169416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2E1B4E"/>
                </a:solidFill>
                <a:latin typeface="IBM Plex Sans" pitchFamily="34" charset="0"/>
                <a:ea typeface="IBM Plex Sans" pitchFamily="34" charset="-122"/>
                <a:cs typeface="IBM Plex Sans" pitchFamily="34" charset="-120"/>
              </a:rPr>
              <a:t>92 %</a:t>
            </a:r>
            <a:endParaRPr lang="en-US" sz="2800" dirty="0"/>
          </a:p>
        </p:txBody>
      </p:sp>
      <p:sp>
        <p:nvSpPr>
          <p:cNvPr id="10" name="Text 8"/>
          <p:cNvSpPr/>
          <p:nvPr/>
        </p:nvSpPr>
        <p:spPr>
          <a:xfrm>
            <a:off x="996950" y="3955852"/>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en 3 o más puntos</a:t>
            </a:r>
            <a:endParaRPr lang="en-US" sz="1200" dirty="0"/>
          </a:p>
        </p:txBody>
      </p:sp>
      <p:sp>
        <p:nvSpPr>
          <p:cNvPr id="11" name="Shape 9"/>
          <p:cNvSpPr/>
          <p:nvPr/>
        </p:nvSpPr>
        <p:spPr>
          <a:xfrm>
            <a:off x="2954635" y="1857276"/>
            <a:ext cx="2005310" cy="2492871"/>
          </a:xfrm>
          <a:prstGeom prst="roundRect">
            <a:avLst>
              <a:gd name="adj" fmla="val 4908"/>
            </a:avLst>
          </a:prstGeom>
          <a:solidFill>
            <a:srgbClr val="FCFDFB"/>
          </a:solidFill>
          <a:ln w="6350">
            <a:solidFill>
              <a:srgbClr val="D3E2D7"/>
            </a:solidFill>
            <a:prstDash val="solid"/>
          </a:ln>
        </p:spPr>
        <p:txBody>
          <a:bodyPr/>
          <a:p/>
        </p:txBody>
      </p:sp>
      <p:sp>
        <p:nvSpPr>
          <p:cNvPr id="12" name="Text 10"/>
          <p:cNvSpPr/>
          <p:nvPr/>
        </p:nvSpPr>
        <p:spPr>
          <a:xfrm>
            <a:off x="3135610" y="2038251"/>
            <a:ext cx="16941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81E"/>
                </a:solidFill>
                <a:latin typeface="IBM Plex Sans" pitchFamily="34" charset="0"/>
                <a:ea typeface="IBM Plex Sans" pitchFamily="34" charset="-122"/>
                <a:cs typeface="IBM Plex Sans" pitchFamily="34" charset="-120"/>
              </a:rPr>
              <a:t>7 al 13 de sep.</a:t>
            </a:r>
            <a:endParaRPr lang="en-US" sz="1500" dirty="0"/>
          </a:p>
        </p:txBody>
      </p:sp>
      <p:sp>
        <p:nvSpPr>
          <p:cNvPr id="13" name="Text 11"/>
          <p:cNvSpPr/>
          <p:nvPr/>
        </p:nvSpPr>
        <p:spPr>
          <a:xfrm>
            <a:off x="3135610" y="2419251"/>
            <a:ext cx="1694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3.482 camiones</a:t>
            </a:r>
            <a:endParaRPr lang="en-US" sz="1300" dirty="0"/>
          </a:p>
        </p:txBody>
      </p:sp>
      <p:sp>
        <p:nvSpPr>
          <p:cNvPr id="14" name="Text 12"/>
          <p:cNvSpPr/>
          <p:nvPr/>
        </p:nvSpPr>
        <p:spPr>
          <a:xfrm>
            <a:off x="3135610" y="2764631"/>
            <a:ext cx="169416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0B5638"/>
                </a:solidFill>
                <a:latin typeface="IBM Plex Sans" pitchFamily="34" charset="0"/>
                <a:ea typeface="IBM Plex Sans" pitchFamily="34" charset="-122"/>
                <a:cs typeface="IBM Plex Sans" pitchFamily="34" charset="-120"/>
              </a:rPr>
              <a:t>98 %</a:t>
            </a:r>
            <a:endParaRPr lang="en-US" sz="3600" dirty="0"/>
          </a:p>
        </p:txBody>
      </p:sp>
      <p:sp>
        <p:nvSpPr>
          <p:cNvPr id="15" name="Text 13"/>
          <p:cNvSpPr/>
          <p:nvPr/>
        </p:nvSpPr>
        <p:spPr>
          <a:xfrm>
            <a:off x="3135610" y="3247231"/>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identificados</a:t>
            </a:r>
            <a:endParaRPr lang="en-US" sz="1200" dirty="0"/>
          </a:p>
        </p:txBody>
      </p:sp>
      <p:sp>
        <p:nvSpPr>
          <p:cNvPr id="16" name="Text 14"/>
          <p:cNvSpPr/>
          <p:nvPr/>
        </p:nvSpPr>
        <p:spPr>
          <a:xfrm>
            <a:off x="3135610" y="3574852"/>
            <a:ext cx="169416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2E1B4E"/>
                </a:solidFill>
                <a:latin typeface="IBM Plex Sans" pitchFamily="34" charset="0"/>
                <a:ea typeface="IBM Plex Sans" pitchFamily="34" charset="-122"/>
                <a:cs typeface="IBM Plex Sans" pitchFamily="34" charset="-120"/>
              </a:rPr>
              <a:t>94 %</a:t>
            </a:r>
            <a:endParaRPr lang="en-US" sz="2800" dirty="0"/>
          </a:p>
        </p:txBody>
      </p:sp>
      <p:sp>
        <p:nvSpPr>
          <p:cNvPr id="17" name="Text 15"/>
          <p:cNvSpPr/>
          <p:nvPr/>
        </p:nvSpPr>
        <p:spPr>
          <a:xfrm>
            <a:off x="3135610" y="3955852"/>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en 3 o más puntos</a:t>
            </a:r>
            <a:endParaRPr lang="en-US" sz="1200" dirty="0"/>
          </a:p>
        </p:txBody>
      </p:sp>
      <p:sp>
        <p:nvSpPr>
          <p:cNvPr id="18" name="Shape 16"/>
          <p:cNvSpPr/>
          <p:nvPr/>
        </p:nvSpPr>
        <p:spPr>
          <a:xfrm>
            <a:off x="5093295" y="1857276"/>
            <a:ext cx="2005310" cy="2492871"/>
          </a:xfrm>
          <a:prstGeom prst="roundRect">
            <a:avLst>
              <a:gd name="adj" fmla="val 4908"/>
            </a:avLst>
          </a:prstGeom>
          <a:solidFill>
            <a:srgbClr val="FCFDFB"/>
          </a:solidFill>
          <a:ln w="6350">
            <a:solidFill>
              <a:srgbClr val="D3E2D7"/>
            </a:solidFill>
            <a:prstDash val="solid"/>
          </a:ln>
        </p:spPr>
        <p:txBody>
          <a:bodyPr/>
          <a:p/>
        </p:txBody>
      </p:sp>
      <p:sp>
        <p:nvSpPr>
          <p:cNvPr id="19" name="Text 17"/>
          <p:cNvSpPr/>
          <p:nvPr/>
        </p:nvSpPr>
        <p:spPr>
          <a:xfrm>
            <a:off x="5274270" y="2038251"/>
            <a:ext cx="16941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81E"/>
                </a:solidFill>
                <a:latin typeface="IBM Plex Sans" pitchFamily="34" charset="0"/>
                <a:ea typeface="IBM Plex Sans" pitchFamily="34" charset="-122"/>
                <a:cs typeface="IBM Plex Sans" pitchFamily="34" charset="-120"/>
              </a:rPr>
              <a:t>14 al 20 de sep.</a:t>
            </a:r>
            <a:endParaRPr lang="en-US" sz="1500" dirty="0"/>
          </a:p>
        </p:txBody>
      </p:sp>
      <p:sp>
        <p:nvSpPr>
          <p:cNvPr id="20" name="Text 18"/>
          <p:cNvSpPr/>
          <p:nvPr/>
        </p:nvSpPr>
        <p:spPr>
          <a:xfrm>
            <a:off x="5274270" y="2419251"/>
            <a:ext cx="1694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2.975 camiones</a:t>
            </a:r>
            <a:endParaRPr lang="en-US" sz="1300" dirty="0"/>
          </a:p>
        </p:txBody>
      </p:sp>
      <p:sp>
        <p:nvSpPr>
          <p:cNvPr id="21" name="Text 19"/>
          <p:cNvSpPr/>
          <p:nvPr/>
        </p:nvSpPr>
        <p:spPr>
          <a:xfrm>
            <a:off x="5274270" y="2764631"/>
            <a:ext cx="169416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0B5638"/>
                </a:solidFill>
                <a:latin typeface="IBM Plex Sans" pitchFamily="34" charset="0"/>
                <a:ea typeface="IBM Plex Sans" pitchFamily="34" charset="-122"/>
                <a:cs typeface="IBM Plex Sans" pitchFamily="34" charset="-120"/>
              </a:rPr>
              <a:t>99 %</a:t>
            </a:r>
            <a:endParaRPr lang="en-US" sz="3600" dirty="0"/>
          </a:p>
        </p:txBody>
      </p:sp>
      <p:sp>
        <p:nvSpPr>
          <p:cNvPr id="22" name="Text 20"/>
          <p:cNvSpPr/>
          <p:nvPr/>
        </p:nvSpPr>
        <p:spPr>
          <a:xfrm>
            <a:off x="5274270" y="3247231"/>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identificados</a:t>
            </a:r>
            <a:endParaRPr lang="en-US" sz="1200" dirty="0"/>
          </a:p>
        </p:txBody>
      </p:sp>
      <p:sp>
        <p:nvSpPr>
          <p:cNvPr id="23" name="Text 21"/>
          <p:cNvSpPr/>
          <p:nvPr/>
        </p:nvSpPr>
        <p:spPr>
          <a:xfrm>
            <a:off x="5274270" y="3574852"/>
            <a:ext cx="169416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2E1B4E"/>
                </a:solidFill>
                <a:latin typeface="IBM Plex Sans" pitchFamily="34" charset="0"/>
                <a:ea typeface="IBM Plex Sans" pitchFamily="34" charset="-122"/>
                <a:cs typeface="IBM Plex Sans" pitchFamily="34" charset="-120"/>
              </a:rPr>
              <a:t>93 %</a:t>
            </a:r>
            <a:endParaRPr lang="en-US" sz="2800" dirty="0"/>
          </a:p>
        </p:txBody>
      </p:sp>
      <p:sp>
        <p:nvSpPr>
          <p:cNvPr id="24" name="Text 22"/>
          <p:cNvSpPr/>
          <p:nvPr/>
        </p:nvSpPr>
        <p:spPr>
          <a:xfrm>
            <a:off x="5274270" y="3955852"/>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en 3 o más puntos</a:t>
            </a:r>
            <a:endParaRPr lang="en-US" sz="1200" dirty="0"/>
          </a:p>
        </p:txBody>
      </p:sp>
      <p:sp>
        <p:nvSpPr>
          <p:cNvPr id="25" name="Shape 23"/>
          <p:cNvSpPr/>
          <p:nvPr/>
        </p:nvSpPr>
        <p:spPr>
          <a:xfrm>
            <a:off x="7231955" y="1857276"/>
            <a:ext cx="2005310" cy="2492871"/>
          </a:xfrm>
          <a:prstGeom prst="roundRect">
            <a:avLst>
              <a:gd name="adj" fmla="val 4908"/>
            </a:avLst>
          </a:prstGeom>
          <a:solidFill>
            <a:srgbClr val="FCFDFB"/>
          </a:solidFill>
          <a:ln w="6350">
            <a:solidFill>
              <a:srgbClr val="D3E2D7"/>
            </a:solidFill>
            <a:prstDash val="solid"/>
          </a:ln>
        </p:spPr>
        <p:txBody>
          <a:bodyPr/>
          <a:p/>
        </p:txBody>
      </p:sp>
      <p:sp>
        <p:nvSpPr>
          <p:cNvPr id="26" name="Text 24"/>
          <p:cNvSpPr/>
          <p:nvPr/>
        </p:nvSpPr>
        <p:spPr>
          <a:xfrm>
            <a:off x="7412930" y="2038251"/>
            <a:ext cx="16941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81E"/>
                </a:solidFill>
                <a:latin typeface="IBM Plex Sans" pitchFamily="34" charset="0"/>
                <a:ea typeface="IBM Plex Sans" pitchFamily="34" charset="-122"/>
                <a:cs typeface="IBM Plex Sans" pitchFamily="34" charset="-120"/>
              </a:rPr>
              <a:t>21 al 27 de sep.</a:t>
            </a:r>
            <a:endParaRPr lang="en-US" sz="1500" dirty="0"/>
          </a:p>
        </p:txBody>
      </p:sp>
      <p:sp>
        <p:nvSpPr>
          <p:cNvPr id="27" name="Text 25"/>
          <p:cNvSpPr/>
          <p:nvPr/>
        </p:nvSpPr>
        <p:spPr>
          <a:xfrm>
            <a:off x="7412930" y="2419251"/>
            <a:ext cx="1694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1.604 camiones</a:t>
            </a:r>
            <a:endParaRPr lang="en-US" sz="1300" dirty="0"/>
          </a:p>
        </p:txBody>
      </p:sp>
      <p:sp>
        <p:nvSpPr>
          <p:cNvPr id="28" name="Text 26"/>
          <p:cNvSpPr/>
          <p:nvPr/>
        </p:nvSpPr>
        <p:spPr>
          <a:xfrm>
            <a:off x="7412930" y="2764631"/>
            <a:ext cx="169416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0B5638"/>
                </a:solidFill>
                <a:latin typeface="IBM Plex Sans" pitchFamily="34" charset="0"/>
                <a:ea typeface="IBM Plex Sans" pitchFamily="34" charset="-122"/>
                <a:cs typeface="IBM Plex Sans" pitchFamily="34" charset="-120"/>
              </a:rPr>
              <a:t>99 %</a:t>
            </a:r>
            <a:endParaRPr lang="en-US" sz="3600" dirty="0"/>
          </a:p>
        </p:txBody>
      </p:sp>
      <p:sp>
        <p:nvSpPr>
          <p:cNvPr id="29" name="Text 27"/>
          <p:cNvSpPr/>
          <p:nvPr/>
        </p:nvSpPr>
        <p:spPr>
          <a:xfrm>
            <a:off x="7412930" y="3247231"/>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identificados</a:t>
            </a:r>
            <a:endParaRPr lang="en-US" sz="1200" dirty="0"/>
          </a:p>
        </p:txBody>
      </p:sp>
      <p:sp>
        <p:nvSpPr>
          <p:cNvPr id="30" name="Text 28"/>
          <p:cNvSpPr/>
          <p:nvPr/>
        </p:nvSpPr>
        <p:spPr>
          <a:xfrm>
            <a:off x="7412930" y="3574852"/>
            <a:ext cx="169416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2E1B4E"/>
                </a:solidFill>
                <a:latin typeface="IBM Plex Sans" pitchFamily="34" charset="0"/>
                <a:ea typeface="IBM Plex Sans" pitchFamily="34" charset="-122"/>
                <a:cs typeface="IBM Plex Sans" pitchFamily="34" charset="-120"/>
              </a:rPr>
              <a:t>90 %</a:t>
            </a:r>
            <a:endParaRPr lang="en-US" sz="2800" dirty="0"/>
          </a:p>
        </p:txBody>
      </p:sp>
      <p:sp>
        <p:nvSpPr>
          <p:cNvPr id="31" name="Text 29"/>
          <p:cNvSpPr/>
          <p:nvPr/>
        </p:nvSpPr>
        <p:spPr>
          <a:xfrm>
            <a:off x="7412930" y="3955852"/>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en 3 o más puntos</a:t>
            </a:r>
            <a:endParaRPr lang="en-US" sz="1200" dirty="0"/>
          </a:p>
        </p:txBody>
      </p:sp>
      <p:sp>
        <p:nvSpPr>
          <p:cNvPr id="32" name="Shape 30"/>
          <p:cNvSpPr/>
          <p:nvPr/>
        </p:nvSpPr>
        <p:spPr>
          <a:xfrm>
            <a:off x="9370616" y="1857276"/>
            <a:ext cx="2005310" cy="2492871"/>
          </a:xfrm>
          <a:prstGeom prst="roundRect">
            <a:avLst>
              <a:gd name="adj" fmla="val 4908"/>
            </a:avLst>
          </a:prstGeom>
          <a:solidFill>
            <a:srgbClr val="FCFDFB"/>
          </a:solidFill>
          <a:ln w="6350">
            <a:solidFill>
              <a:srgbClr val="D3E2D7"/>
            </a:solidFill>
            <a:prstDash val="solid"/>
          </a:ln>
        </p:spPr>
        <p:txBody>
          <a:bodyPr/>
          <a:p/>
        </p:txBody>
      </p:sp>
      <p:sp>
        <p:nvSpPr>
          <p:cNvPr id="33" name="Text 31"/>
          <p:cNvSpPr/>
          <p:nvPr/>
        </p:nvSpPr>
        <p:spPr>
          <a:xfrm>
            <a:off x="9551591" y="2038251"/>
            <a:ext cx="16941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81E"/>
                </a:solidFill>
                <a:latin typeface="IBM Plex Sans" pitchFamily="34" charset="0"/>
                <a:ea typeface="IBM Plex Sans" pitchFamily="34" charset="-122"/>
                <a:cs typeface="IBM Plex Sans" pitchFamily="34" charset="-120"/>
              </a:rPr>
              <a:t>28 al 30 de sep.</a:t>
            </a:r>
            <a:endParaRPr lang="en-US" sz="1500" dirty="0"/>
          </a:p>
        </p:txBody>
      </p:sp>
      <p:sp>
        <p:nvSpPr>
          <p:cNvPr id="34" name="Text 32"/>
          <p:cNvSpPr/>
          <p:nvPr/>
        </p:nvSpPr>
        <p:spPr>
          <a:xfrm>
            <a:off x="9551591" y="2419251"/>
            <a:ext cx="1694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954 camiones</a:t>
            </a:r>
            <a:endParaRPr lang="en-US" sz="1300" dirty="0"/>
          </a:p>
        </p:txBody>
      </p:sp>
      <p:sp>
        <p:nvSpPr>
          <p:cNvPr id="35" name="Text 33"/>
          <p:cNvSpPr/>
          <p:nvPr/>
        </p:nvSpPr>
        <p:spPr>
          <a:xfrm>
            <a:off x="9551591" y="2764631"/>
            <a:ext cx="169416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0B5638"/>
                </a:solidFill>
                <a:latin typeface="IBM Plex Sans" pitchFamily="34" charset="0"/>
                <a:ea typeface="IBM Plex Sans" pitchFamily="34" charset="-122"/>
                <a:cs typeface="IBM Plex Sans" pitchFamily="34" charset="-120"/>
              </a:rPr>
              <a:t>98 %</a:t>
            </a:r>
            <a:endParaRPr lang="en-US" sz="3600" dirty="0"/>
          </a:p>
        </p:txBody>
      </p:sp>
      <p:sp>
        <p:nvSpPr>
          <p:cNvPr id="36" name="Text 34"/>
          <p:cNvSpPr/>
          <p:nvPr/>
        </p:nvSpPr>
        <p:spPr>
          <a:xfrm>
            <a:off x="9551591" y="3247231"/>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identificados</a:t>
            </a:r>
            <a:endParaRPr lang="en-US" sz="1200" dirty="0"/>
          </a:p>
        </p:txBody>
      </p:sp>
      <p:sp>
        <p:nvSpPr>
          <p:cNvPr id="37" name="Text 35"/>
          <p:cNvSpPr/>
          <p:nvPr/>
        </p:nvSpPr>
        <p:spPr>
          <a:xfrm>
            <a:off x="9551591" y="3574852"/>
            <a:ext cx="169416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2E1B4E"/>
                </a:solidFill>
                <a:latin typeface="IBM Plex Sans" pitchFamily="34" charset="0"/>
                <a:ea typeface="IBM Plex Sans" pitchFamily="34" charset="-122"/>
                <a:cs typeface="IBM Plex Sans" pitchFamily="34" charset="-120"/>
              </a:rPr>
              <a:t>88 %</a:t>
            </a:r>
            <a:endParaRPr lang="en-US" sz="2800" dirty="0"/>
          </a:p>
        </p:txBody>
      </p:sp>
      <p:sp>
        <p:nvSpPr>
          <p:cNvPr id="38" name="Text 36"/>
          <p:cNvSpPr/>
          <p:nvPr/>
        </p:nvSpPr>
        <p:spPr>
          <a:xfrm>
            <a:off x="9551591" y="3955852"/>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en 3 o más puntos</a:t>
            </a:r>
            <a:endParaRPr lang="en-US" sz="1200" dirty="0"/>
          </a:p>
        </p:txBody>
      </p:sp>
      <p:sp>
        <p:nvSpPr>
          <p:cNvPr id="39" name="Text 37"/>
          <p:cNvSpPr/>
          <p:nvPr/>
        </p:nvSpPr>
        <p:spPr>
          <a:xfrm>
            <a:off x="812800" y="4658122"/>
            <a:ext cx="981075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D52"/>
                </a:solidFill>
                <a:latin typeface="IBM Plex Sans" pitchFamily="34" charset="0"/>
                <a:ea typeface="IBM Plex Sans" pitchFamily="34" charset="-122"/>
                <a:cs typeface="IBM Plex Sans" pitchFamily="34" charset="-120"/>
              </a:rPr>
              <a:t>Todas las semanas, 97 de cada 100 camiones o más quedaron registrados por las cámaras. La semana del 7 al 13 fue la mejor del mes.</a:t>
            </a:r>
            <a:endParaRPr lang="en-US" sz="1600" dirty="0"/>
          </a:p>
        </p:txBody>
      </p:sp>
      <p:pic>
        <p:nvPicPr>
          <p:cNvPr id="40"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41"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
        <p:nvSpPr>
          <p:cNvPr id="42" name="Text 38"/>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Reconocimiento de cámaras · septiembre 2026 · 3</a:t>
            </a:r>
            <a:endParaRPr lang="en-US" sz="1200" dirty="0"/>
          </a:p>
        </p:txBody>
      </p:sp>
      <p:sp>
        <p:nvSpPr>
          <p:cNvPr id="43" name="Rounded Rectangle 42"/>
          <p:cNvSpPr/>
          <p:nvPr/>
        </p:nvSpPr>
        <p:spPr>
          <a:xfrm>
            <a:off x="812800" y="711200"/>
            <a:ext cx="1886129" cy="289520"/>
          </a:xfrm>
          <a:prstGeom prst="roundRect">
            <a:avLst>
              <a:gd name="adj" fmla="val 18000"/>
            </a:avLst>
          </a:prstGeom>
          <a:solidFill>
            <a:srgbClr val="2E1B4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r>
              <a:rPr sz="950" b="1">
                <a:solidFill>
                  <a:srgbClr val="FFFFFF"/>
                </a:solidFill>
                <a:latin typeface="IBM Plex Sans"/>
              </a:rPr>
              <a:t>SEMANA A SEMANA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4"/>
        </a:solidFill>
      </p:bgPr>
    </p:bg>
    <p:spTree>
      <p:nvGrpSpPr>
        <p:cNvPr id="1" name=""/>
        <p:cNvGrpSpPr/>
        <p:nvPr/>
      </p:nvGrpSpPr>
      <p:grpSpPr>
        <a:xfrm>
          <a:off x="0" y="0"/>
          <a:ext cx="0" cy="0"/>
          <a:chOff x="0" y="0"/>
          <a:chExt cx="0" cy="0"/>
        </a:xfrm>
      </p:grpSpPr>
      <p:sp>
        <p:nvSpPr>
          <p:cNvPr id="3" name="Text 1"/>
          <p:cNvSpPr/>
          <p:nvPr>
            <p:ph type="title"/>
          </p:nvPr>
        </p:nvSpPr>
        <p:spPr>
          <a:xfrm>
            <a:off x="812800" y="1100931"/>
            <a:ext cx="10883392" cy="414734"/>
          </a:xfrm>
          <a:prstGeom prst="rect">
            <a:avLst/>
          </a:prstGeom>
          <a:noFill/>
          <a:ln/>
        </p:spPr>
        <p:txBody>
          <a:bodyPr wrap="square" lIns="0" tIns="0" rIns="0" bIns="0" rtlCol="0" anchor="t">
            <a:normAutofit/>
          </a:bodyPr>
          <a:lstStyle/>
          <a:p>
            <a:pPr algn="l" indent="0" marL="0">
              <a:lnSpc>
                <a:spcPts val="3070"/>
              </a:lnSpc>
              <a:buNone/>
            </a:pPr>
            <a:r>
              <a:rPr lang="en-US" sz="2791" b="1" i="0" dirty="0">
                <a:solidFill>
                  <a:srgbClr val="14281E"/>
                </a:solidFill>
                <a:latin typeface="IBM Plex Sans" pitchFamily="34" charset="0"/>
                <a:ea typeface="IBM Plex Sans" pitchFamily="34" charset="-122"/>
                <a:cs typeface="IBM Plex Sans" pitchFamily="34" charset="-120"/>
              </a:rPr>
              <a:t>Volcable 1 y Preingreso, arriba del 90 %</a:t>
            </a:r>
            <a:endParaRPr lang="en-US" sz="2791"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06166"/>
          <a:ext cx="10553700" cy="4135834"/>
        </p:xfrm>
        <a:graphic>
          <a:graphicData uri="http://schemas.openxmlformats.org/drawingml/2006/table">
            <a:tbl>
              <a:tblPr/>
              <a:tblGrid>
                <a:gridCol w="2321814"/>
                <a:gridCol w="2955036"/>
                <a:gridCol w="1477518"/>
                <a:gridCol w="1266444"/>
                <a:gridCol w="1266444"/>
                <a:gridCol w="1266444"/>
              </a:tblGrid>
              <a:tr h="344587">
                <a:tc>
                  <a:txBody>
                    <a:bodyPr/>
                    <a:lstStyle/>
                    <a:p>
                      <a:pPr indent="0" marL="0">
                        <a:lnSpc>
                          <a:spcPts val="1739"/>
                        </a:lnSpc>
                        <a:buNone/>
                      </a:pPr>
                      <a:r>
                        <a:rPr lang="en-US" sz="1242" b="1" dirty="0">
                          <a:solidFill>
                            <a:srgbClr val="14281E"/>
                          </a:solidFill>
                          <a:latin typeface="IBM Plex Sans" pitchFamily="34" charset="0"/>
                          <a:ea typeface="IBM Plex Sans" pitchFamily="34" charset="-122"/>
                          <a:cs typeface="IBM Plex Sans" pitchFamily="34" charset="-120"/>
                        </a:rPr>
                        <a:t>Punto</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4C6C3"/>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indent="0" marL="0">
                        <a:lnSpc>
                          <a:spcPts val="1739"/>
                        </a:lnSpc>
                        <a:buNone/>
                      </a:pPr>
                      <a:r>
                        <a:rPr lang="en-US" sz="1242" b="1" dirty="0">
                          <a:solidFill>
                            <a:srgbClr val="14281E"/>
                          </a:solidFill>
                          <a:latin typeface="IBM Plex Sans" pitchFamily="34" charset="0"/>
                          <a:ea typeface="IBM Plex Sans" pitchFamily="34" charset="-122"/>
                          <a:cs typeface="IBM Plex Sans" pitchFamily="34" charset="-120"/>
                        </a:rPr>
                        <a:t>Cámaras</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r" indent="0" marL="0">
                        <a:lnSpc>
                          <a:spcPts val="1739"/>
                        </a:lnSpc>
                        <a:buNone/>
                      </a:pPr>
                      <a:r>
                        <a:rPr lang="en-US" sz="1242" b="1" dirty="0">
                          <a:solidFill>
                            <a:srgbClr val="14281E"/>
                          </a:solidFill>
                          <a:latin typeface="IBM Plex Sans" pitchFamily="34" charset="0"/>
                          <a:ea typeface="IBM Plex Sans" pitchFamily="34" charset="-122"/>
                          <a:cs typeface="IBM Plex Sans" pitchFamily="34" charset="-120"/>
                        </a:rPr>
                        <a:t>Camiones</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r" indent="0" marL="0">
                        <a:lnSpc>
                          <a:spcPts val="1739"/>
                        </a:lnSpc>
                        <a:buNone/>
                      </a:pPr>
                      <a:r>
                        <a:rPr lang="en-US" sz="1242" b="1" dirty="0">
                          <a:solidFill>
                            <a:srgbClr val="14281E"/>
                          </a:solidFill>
                          <a:latin typeface="IBM Plex Sans" pitchFamily="34" charset="0"/>
                          <a:ea typeface="IBM Plex Sans" pitchFamily="34" charset="-122"/>
                          <a:cs typeface="IBM Plex Sans" pitchFamily="34" charset="-120"/>
                        </a:rPr>
                        <a:t>Total</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r" indent="0" marL="0">
                        <a:lnSpc>
                          <a:spcPts val="1739"/>
                        </a:lnSpc>
                        <a:buNone/>
                      </a:pPr>
                      <a:r>
                        <a:rPr lang="en-US" sz="1242" b="1" dirty="0">
                          <a:solidFill>
                            <a:srgbClr val="14281E"/>
                          </a:solidFill>
                          <a:latin typeface="IBM Plex Sans" pitchFamily="34" charset="0"/>
                          <a:ea typeface="IBM Plex Sans" pitchFamily="34" charset="-122"/>
                          <a:cs typeface="IBM Plex Sans" pitchFamily="34" charset="-120"/>
                        </a:rPr>
                        <a:t>Día</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r" indent="0" marL="0">
                        <a:lnSpc>
                          <a:spcPts val="1739"/>
                        </a:lnSpc>
                        <a:buNone/>
                      </a:pPr>
                      <a:r>
                        <a:rPr lang="en-US" sz="1242" b="1" dirty="0">
                          <a:solidFill>
                            <a:srgbClr val="14281E"/>
                          </a:solidFill>
                          <a:latin typeface="IBM Plex Sans" pitchFamily="34" charset="0"/>
                          <a:ea typeface="IBM Plex Sans" pitchFamily="34" charset="-122"/>
                          <a:cs typeface="IBM Plex Sans" pitchFamily="34" charset="-120"/>
                        </a:rPr>
                        <a:t>Noche</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r>
              <a:tr h="344587">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Ingreso</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4C6C3"/>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RicIngCamFrente</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9.558</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8A5A00"/>
                          </a:solidFill>
                          <a:latin typeface="IBM Plex Sans" pitchFamily="34" charset="0"/>
                          <a:ea typeface="IBM Plex Sans" pitchFamily="34" charset="-122"/>
                          <a:cs typeface="IBM Plex Sans" pitchFamily="34" charset="-120"/>
                        </a:rPr>
                        <a:t>78 %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0B5638"/>
                          </a:solidFill>
                          <a:latin typeface="IBM Plex Sans" pitchFamily="34" charset="0"/>
                          <a:ea typeface="IBM Plex Sans" pitchFamily="34" charset="-122"/>
                          <a:cs typeface="IBM Plex Sans" pitchFamily="34" charset="-120"/>
                        </a:rPr>
                        <a:t>93 %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B3261E"/>
                          </a:solidFill>
                          <a:latin typeface="IBM Plex Sans" pitchFamily="34" charset="0"/>
                          <a:ea typeface="IBM Plex Sans" pitchFamily="34" charset="-122"/>
                          <a:cs typeface="IBM Plex Sans" pitchFamily="34" charset="-120"/>
                        </a:rPr>
                        <a:t>64 %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r>
              <a:tr h="344587">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Preingreso</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RicPreIngInFr, RicPreIngEgFr</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11.087</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0B5638"/>
                          </a:solidFill>
                          <a:latin typeface="IBM Plex Sans" pitchFamily="34" charset="0"/>
                          <a:ea typeface="IBM Plex Sans" pitchFamily="34" charset="-122"/>
                          <a:cs typeface="IBM Plex Sans" pitchFamily="34" charset="-120"/>
                        </a:rPr>
                        <a:t>90 %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0B5638"/>
                          </a:solidFill>
                          <a:latin typeface="IBM Plex Sans" pitchFamily="34" charset="0"/>
                          <a:ea typeface="IBM Plex Sans" pitchFamily="34" charset="-122"/>
                          <a:cs typeface="IBM Plex Sans" pitchFamily="34" charset="-120"/>
                        </a:rPr>
                        <a:t>94 %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0B5638"/>
                          </a:solidFill>
                          <a:latin typeface="IBM Plex Sans" pitchFamily="34" charset="0"/>
                          <a:ea typeface="IBM Plex Sans" pitchFamily="34" charset="-122"/>
                          <a:cs typeface="IBM Plex Sans" pitchFamily="34" charset="-120"/>
                        </a:rPr>
                        <a:t>87 %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44587">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Calada</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RicCal01 a 06, RicCalLiq</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11.090</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0B5638"/>
                          </a:solidFill>
                          <a:latin typeface="IBM Plex Sans" pitchFamily="34" charset="0"/>
                          <a:ea typeface="IBM Plex Sans" pitchFamily="34" charset="-122"/>
                          <a:cs typeface="IBM Plex Sans" pitchFamily="34" charset="-120"/>
                        </a:rPr>
                        <a:t>82 %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0B5638"/>
                          </a:solidFill>
                          <a:latin typeface="IBM Plex Sans" pitchFamily="34" charset="0"/>
                          <a:ea typeface="IBM Plex Sans" pitchFamily="34" charset="-122"/>
                          <a:cs typeface="IBM Plex Sans" pitchFamily="34" charset="-120"/>
                        </a:rPr>
                        <a:t>85 %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0B5638"/>
                          </a:solidFill>
                          <a:latin typeface="IBM Plex Sans" pitchFamily="34" charset="0"/>
                          <a:ea typeface="IBM Plex Sans" pitchFamily="34" charset="-122"/>
                          <a:cs typeface="IBM Plex Sans" pitchFamily="34" charset="-120"/>
                        </a:rPr>
                        <a:t>80 %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44686">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Balanza ingreso</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4C6C3"/>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RicB1, B2 y B3 Ingreso</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3.624</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8A5A00"/>
                          </a:solidFill>
                          <a:latin typeface="IBM Plex Sans" pitchFamily="34" charset="0"/>
                          <a:ea typeface="IBM Plex Sans" pitchFamily="34" charset="-122"/>
                          <a:cs typeface="IBM Plex Sans" pitchFamily="34" charset="-120"/>
                        </a:rPr>
                        <a:t>70 %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8A5A00"/>
                          </a:solidFill>
                          <a:latin typeface="IBM Plex Sans" pitchFamily="34" charset="0"/>
                          <a:ea typeface="IBM Plex Sans" pitchFamily="34" charset="-122"/>
                          <a:cs typeface="IBM Plex Sans" pitchFamily="34" charset="-120"/>
                        </a:rPr>
                        <a:t>71 %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8A5A00"/>
                          </a:solidFill>
                          <a:latin typeface="IBM Plex Sans" pitchFamily="34" charset="0"/>
                          <a:ea typeface="IBM Plex Sans" pitchFamily="34" charset="-122"/>
                          <a:cs typeface="IBM Plex Sans" pitchFamily="34" charset="-120"/>
                        </a:rPr>
                        <a:t>68 %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r>
              <a:tr h="344686">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Playa 3</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4C6C3"/>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RicS6Playa3</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3.319</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8A5A00"/>
                          </a:solidFill>
                          <a:latin typeface="IBM Plex Sans" pitchFamily="34" charset="0"/>
                          <a:ea typeface="IBM Plex Sans" pitchFamily="34" charset="-122"/>
                          <a:cs typeface="IBM Plex Sans" pitchFamily="34" charset="-120"/>
                        </a:rPr>
                        <a:t>67 %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8A5A00"/>
                          </a:solidFill>
                          <a:latin typeface="IBM Plex Sans" pitchFamily="34" charset="0"/>
                          <a:ea typeface="IBM Plex Sans" pitchFamily="34" charset="-122"/>
                          <a:cs typeface="IBM Plex Sans" pitchFamily="34" charset="-120"/>
                        </a:rPr>
                        <a:t>79 %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B3261E"/>
                          </a:solidFill>
                          <a:latin typeface="IBM Plex Sans" pitchFamily="34" charset="0"/>
                          <a:ea typeface="IBM Plex Sans" pitchFamily="34" charset="-122"/>
                          <a:cs typeface="IBM Plex Sans" pitchFamily="34" charset="-120"/>
                        </a:rPr>
                        <a:t>52 %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r>
              <a:tr h="344686">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Descarga S7 (Keppler y Chief)</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RicS7 Desc. línea 1 y 2, Carga</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252</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0B5638"/>
                          </a:solidFill>
                          <a:latin typeface="IBM Plex Sans" pitchFamily="34" charset="0"/>
                          <a:ea typeface="IBM Plex Sans" pitchFamily="34" charset="-122"/>
                          <a:cs typeface="IBM Plex Sans" pitchFamily="34" charset="-120"/>
                        </a:rPr>
                        <a:t>83 %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0B5638"/>
                          </a:solidFill>
                          <a:latin typeface="IBM Plex Sans" pitchFamily="34" charset="0"/>
                          <a:ea typeface="IBM Plex Sans" pitchFamily="34" charset="-122"/>
                          <a:cs typeface="IBM Plex Sans" pitchFamily="34" charset="-120"/>
                        </a:rPr>
                        <a:t>95 %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8A5A00"/>
                          </a:solidFill>
                          <a:latin typeface="IBM Plex Sans" pitchFamily="34" charset="0"/>
                          <a:ea typeface="IBM Plex Sans" pitchFamily="34" charset="-122"/>
                          <a:cs typeface="IBM Plex Sans" pitchFamily="34" charset="-120"/>
                        </a:rPr>
                        <a:t>71 %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44686">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Tolva silo Chief</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4C6C3"/>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RicS8 Carga línea 1 y 2</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algn="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605</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algn="r" indent="0" marL="0">
                        <a:lnSpc>
                          <a:spcPts val="1739"/>
                        </a:lnSpc>
                        <a:buNone/>
                      </a:pPr>
                      <a:r>
                        <a:rPr lang="en-US" sz="1242" dirty="0">
                          <a:solidFill>
                            <a:srgbClr val="B3261E"/>
                          </a:solidFill>
                          <a:latin typeface="IBM Plex Sans" pitchFamily="34" charset="0"/>
                          <a:ea typeface="IBM Plex Sans" pitchFamily="34" charset="-122"/>
                          <a:cs typeface="IBM Plex Sans" pitchFamily="34" charset="-120"/>
                        </a:rPr>
                        <a:t>61 %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algn="r" indent="0" marL="0">
                        <a:lnSpc>
                          <a:spcPts val="1739"/>
                        </a:lnSpc>
                        <a:buNone/>
                      </a:pPr>
                      <a:r>
                        <a:rPr lang="en-US" sz="1242" dirty="0">
                          <a:solidFill>
                            <a:srgbClr val="8A5A00"/>
                          </a:solidFill>
                          <a:latin typeface="IBM Plex Sans" pitchFamily="34" charset="0"/>
                          <a:ea typeface="IBM Plex Sans" pitchFamily="34" charset="-122"/>
                          <a:cs typeface="IBM Plex Sans" pitchFamily="34" charset="-120"/>
                        </a:rPr>
                        <a:t>76 %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algn="r" indent="0" marL="0">
                        <a:lnSpc>
                          <a:spcPts val="1739"/>
                        </a:lnSpc>
                        <a:buNone/>
                      </a:pPr>
                      <a:r>
                        <a:rPr lang="en-US" sz="1242" dirty="0">
                          <a:solidFill>
                            <a:srgbClr val="B3261E"/>
                          </a:solidFill>
                          <a:latin typeface="IBM Plex Sans" pitchFamily="34" charset="0"/>
                          <a:ea typeface="IBM Plex Sans" pitchFamily="34" charset="-122"/>
                          <a:cs typeface="IBM Plex Sans" pitchFamily="34" charset="-120"/>
                        </a:rPr>
                        <a:t>45 %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r>
              <a:tr h="344686">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Volcable 1</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RicVolcable1</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997</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0B5638"/>
                          </a:solidFill>
                          <a:latin typeface="IBM Plex Sans" pitchFamily="34" charset="0"/>
                          <a:ea typeface="IBM Plex Sans" pitchFamily="34" charset="-122"/>
                          <a:cs typeface="IBM Plex Sans" pitchFamily="34" charset="-120"/>
                        </a:rPr>
                        <a:t>93 %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0B5638"/>
                          </a:solidFill>
                          <a:latin typeface="IBM Plex Sans" pitchFamily="34" charset="0"/>
                          <a:ea typeface="IBM Plex Sans" pitchFamily="34" charset="-122"/>
                          <a:cs typeface="IBM Plex Sans" pitchFamily="34" charset="-120"/>
                        </a:rPr>
                        <a:t>94 %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0B5638"/>
                          </a:solidFill>
                          <a:latin typeface="IBM Plex Sans" pitchFamily="34" charset="0"/>
                          <a:ea typeface="IBM Plex Sans" pitchFamily="34" charset="-122"/>
                          <a:cs typeface="IBM Plex Sans" pitchFamily="34" charset="-120"/>
                        </a:rPr>
                        <a:t>92 %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44686">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Volcable 2</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4C6C3"/>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RicVolcable2</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385</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8A5A00"/>
                          </a:solidFill>
                          <a:latin typeface="IBM Plex Sans" pitchFamily="34" charset="0"/>
                          <a:ea typeface="IBM Plex Sans" pitchFamily="34" charset="-122"/>
                          <a:cs typeface="IBM Plex Sans" pitchFamily="34" charset="-120"/>
                        </a:rPr>
                        <a:t>73 %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8A5A00"/>
                          </a:solidFill>
                          <a:latin typeface="IBM Plex Sans" pitchFamily="34" charset="0"/>
                          <a:ea typeface="IBM Plex Sans" pitchFamily="34" charset="-122"/>
                          <a:cs typeface="IBM Plex Sans" pitchFamily="34" charset="-120"/>
                        </a:rPr>
                        <a:t>78 %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8A5A00"/>
                          </a:solidFill>
                          <a:latin typeface="IBM Plex Sans" pitchFamily="34" charset="0"/>
                          <a:ea typeface="IBM Plex Sans" pitchFamily="34" charset="-122"/>
                          <a:cs typeface="IBM Plex Sans" pitchFamily="34" charset="-120"/>
                        </a:rPr>
                        <a:t>67 %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r>
              <a:tr h="344686">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Balanza egreso</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RicB1, B2 y B3 Egreso</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3.624</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0B5638"/>
                          </a:solidFill>
                          <a:latin typeface="IBM Plex Sans" pitchFamily="34" charset="0"/>
                          <a:ea typeface="IBM Plex Sans" pitchFamily="34" charset="-122"/>
                          <a:cs typeface="IBM Plex Sans" pitchFamily="34" charset="-120"/>
                        </a:rPr>
                        <a:t>83 %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0B5638"/>
                          </a:solidFill>
                          <a:latin typeface="IBM Plex Sans" pitchFamily="34" charset="0"/>
                          <a:ea typeface="IBM Plex Sans" pitchFamily="34" charset="-122"/>
                          <a:cs typeface="IBM Plex Sans" pitchFamily="34" charset="-120"/>
                        </a:rPr>
                        <a:t>87 %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8A5A00"/>
                          </a:solidFill>
                          <a:latin typeface="IBM Plex Sans" pitchFamily="34" charset="0"/>
                          <a:ea typeface="IBM Plex Sans" pitchFamily="34" charset="-122"/>
                          <a:cs typeface="IBM Plex Sans" pitchFamily="34" charset="-120"/>
                        </a:rPr>
                        <a:t>79 %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44686">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Egreso</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4C6C3"/>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RicEgrCamFrente</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9.151</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8A5A00"/>
                          </a:solidFill>
                          <a:latin typeface="IBM Plex Sans" pitchFamily="34" charset="0"/>
                          <a:ea typeface="IBM Plex Sans" pitchFamily="34" charset="-122"/>
                          <a:cs typeface="IBM Plex Sans" pitchFamily="34" charset="-120"/>
                        </a:rPr>
                        <a:t>74 %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0B5638"/>
                          </a:solidFill>
                          <a:latin typeface="IBM Plex Sans" pitchFamily="34" charset="0"/>
                          <a:ea typeface="IBM Plex Sans" pitchFamily="34" charset="-122"/>
                          <a:cs typeface="IBM Plex Sans" pitchFamily="34" charset="-120"/>
                        </a:rPr>
                        <a:t>84 %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8A5A00"/>
                          </a:solidFill>
                          <a:latin typeface="IBM Plex Sans" pitchFamily="34" charset="0"/>
                          <a:ea typeface="IBM Plex Sans" pitchFamily="34" charset="-122"/>
                          <a:cs typeface="IBM Plex Sans" pitchFamily="34" charset="-120"/>
                        </a:rPr>
                        <a:t>65 %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r>
            </a:tbl>
          </a:graphicData>
        </a:graphic>
      </p:graphicFrame>
      <p:pic>
        <p:nvPicPr>
          <p:cNvPr id="5"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6"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
        <p:nvSpPr>
          <p:cNvPr id="7" name="Text 2"/>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Verde 80 % o más · ocre 65 a 79 % · rojo menos de 65 % · la fila toma el color del total · Día 6 a 18 h · 4</a:t>
            </a:r>
            <a:endParaRPr lang="en-US" sz="1200" dirty="0"/>
          </a:p>
        </p:txBody>
      </p:sp>
      <p:sp>
        <p:nvSpPr>
          <p:cNvPr id="8" name="Rounded Rectangle 7"/>
          <p:cNvSpPr/>
          <p:nvPr/>
        </p:nvSpPr>
        <p:spPr>
          <a:xfrm>
            <a:off x="812800" y="710505"/>
            <a:ext cx="3287693" cy="289520"/>
          </a:xfrm>
          <a:prstGeom prst="roundRect">
            <a:avLst>
              <a:gd name="adj" fmla="val 18000"/>
            </a:avLst>
          </a:prstGeom>
          <a:solidFill>
            <a:srgbClr val="0B5638"/>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r>
              <a:rPr sz="950" b="1">
                <a:solidFill>
                  <a:srgbClr val="FFFFFF"/>
                </a:solidFill>
                <a:latin typeface="IBM Plex Sans"/>
              </a:rPr>
              <a:t>RICARDONE · CÁMARA POR CÁMARA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4"/>
        </a:solidFill>
      </p:bgPr>
    </p:bg>
    <p:spTree>
      <p:nvGrpSpPr>
        <p:cNvPr id="1" name=""/>
        <p:cNvGrpSpPr/>
        <p:nvPr/>
      </p:nvGrpSpPr>
      <p:grpSpPr>
        <a:xfrm>
          <a:off x="0" y="0"/>
          <a:ext cx="0" cy="0"/>
          <a:chOff x="0" y="0"/>
          <a:chExt cx="0" cy="0"/>
        </a:xfrm>
      </p:grpSpPr>
      <p:sp>
        <p:nvSpPr>
          <p:cNvPr id="3" name="Text 1"/>
          <p:cNvSpPr/>
          <p:nvPr>
            <p:ph type="title"/>
          </p:nvPr>
        </p:nvSpPr>
        <p:spPr>
          <a:xfrm>
            <a:off x="812800" y="1102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81E"/>
                </a:solidFill>
                <a:latin typeface="IBM Plex Sans" pitchFamily="34" charset="0"/>
                <a:ea typeface="IBM Plex Sans" pitchFamily="34" charset="-122"/>
                <a:cs typeface="IBM Plex Sans" pitchFamily="34" charset="-120"/>
              </a:rPr>
              <a:t>Egreso firme; balanza de egreso, a corregir</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09341"/>
          <a:ext cx="6997700" cy="2660650"/>
        </p:xfrm>
        <a:graphic>
          <a:graphicData uri="http://schemas.openxmlformats.org/drawingml/2006/table">
            <a:tbl>
              <a:tblPr/>
              <a:tblGrid>
                <a:gridCol w="1539494"/>
                <a:gridCol w="1889379"/>
                <a:gridCol w="1049655"/>
                <a:gridCol w="839724"/>
                <a:gridCol w="839724"/>
                <a:gridCol w="839724"/>
              </a:tblGrid>
              <a:tr h="332581">
                <a:tc>
                  <a:txBody>
                    <a:bodyPr/>
                    <a:lstStyle/>
                    <a:p>
                      <a:pP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Punto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B0ADB9"/>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B0ADB9"/>
                      </a:solidFill>
                      <a:prstDash val="solid"/>
                      <a:round/>
                      <a:headEnd type="none" w="med" len="med"/>
                      <a:tailEnd type="none" w="med" len="med"/>
                    </a:lnB>
                    <a:solidFill>
                      <a:srgbClr val="DCD8E8"/>
                    </a:solidFill>
                  </a:tcPr>
                </a:tc>
                <a:tc>
                  <a:txBody>
                    <a:bodyPr/>
                    <a:lstStyle/>
                    <a:p>
                      <a:pP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Cámaras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0ADB9"/>
                      </a:solidFill>
                      <a:prstDash val="solid"/>
                      <a:round/>
                      <a:headEnd type="none" w="med" len="med"/>
                      <a:tailEnd type="none" w="med" len="med"/>
                    </a:lnL>
                    <a:lnR w="12700" cap="flat" cmpd="sng" algn="ctr">
                      <a:solidFill>
                        <a:srgbClr val="B0ADB9"/>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B0ADB9"/>
                      </a:solidFill>
                      <a:prstDash val="solid"/>
                      <a:round/>
                      <a:headEnd type="none" w="med" len="med"/>
                      <a:tailEnd type="none" w="med" len="med"/>
                    </a:lnB>
                    <a:solidFill>
                      <a:srgbClr val="DCD8E8"/>
                    </a:solidFill>
                  </a:tcPr>
                </a:tc>
                <a:tc>
                  <a:txBody>
                    <a:bodyPr/>
                    <a:lstStyle/>
                    <a:p>
                      <a:pPr algn="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Camiones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0ADB9"/>
                      </a:solidFill>
                      <a:prstDash val="solid"/>
                      <a:round/>
                      <a:headEnd type="none" w="med" len="med"/>
                      <a:tailEnd type="none" w="med" len="med"/>
                    </a:lnL>
                    <a:lnR w="12700" cap="flat" cmpd="sng" algn="ctr">
                      <a:solidFill>
                        <a:srgbClr val="B0ADB9"/>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B0ADB9"/>
                      </a:solidFill>
                      <a:prstDash val="solid"/>
                      <a:round/>
                      <a:headEnd type="none" w="med" len="med"/>
                      <a:tailEnd type="none" w="med" len="med"/>
                    </a:lnB>
                    <a:solidFill>
                      <a:srgbClr val="DCD8E8"/>
                    </a:solidFill>
                  </a:tcPr>
                </a:tc>
                <a:tc>
                  <a:txBody>
                    <a:bodyPr/>
                    <a:lstStyle/>
                    <a:p>
                      <a:pPr algn="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Total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0ADB9"/>
                      </a:solidFill>
                      <a:prstDash val="solid"/>
                      <a:round/>
                      <a:headEnd type="none" w="med" len="med"/>
                      <a:tailEnd type="none" w="med" len="med"/>
                    </a:lnL>
                    <a:lnR w="12700" cap="flat" cmpd="sng" algn="ctr">
                      <a:solidFill>
                        <a:srgbClr val="B0ADB9"/>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B0ADB9"/>
                      </a:solidFill>
                      <a:prstDash val="solid"/>
                      <a:round/>
                      <a:headEnd type="none" w="med" len="med"/>
                      <a:tailEnd type="none" w="med" len="med"/>
                    </a:lnB>
                    <a:solidFill>
                      <a:srgbClr val="DCD8E8"/>
                    </a:solidFill>
                  </a:tcPr>
                </a:tc>
                <a:tc>
                  <a:txBody>
                    <a:bodyPr/>
                    <a:lstStyle/>
                    <a:p>
                      <a:pPr algn="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Día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0ADB9"/>
                      </a:solidFill>
                      <a:prstDash val="solid"/>
                      <a:round/>
                      <a:headEnd type="none" w="med" len="med"/>
                      <a:tailEnd type="none" w="med" len="med"/>
                    </a:lnL>
                    <a:lnR w="12700" cap="flat" cmpd="sng" algn="ctr">
                      <a:solidFill>
                        <a:srgbClr val="B0ADB9"/>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B0ADB9"/>
                      </a:solidFill>
                      <a:prstDash val="solid"/>
                      <a:round/>
                      <a:headEnd type="none" w="med" len="med"/>
                      <a:tailEnd type="none" w="med" len="med"/>
                    </a:lnB>
                    <a:solidFill>
                      <a:srgbClr val="DCD8E8"/>
                    </a:solidFill>
                  </a:tcPr>
                </a:tc>
                <a:tc>
                  <a:txBody>
                    <a:bodyPr/>
                    <a:lstStyle/>
                    <a:p>
                      <a:pPr algn="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Noche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0ADB9"/>
                      </a:solidFill>
                      <a:prstDash val="solid"/>
                      <a:round/>
                      <a:headEnd type="none" w="med" len="med"/>
                      <a:tailEnd type="none" w="med" len="med"/>
                    </a:lnL>
                    <a:lnR w="12700" cap="flat" cmpd="sng" algn="ctr">
                      <a:solidFill>
                        <a:srgbClr val="B0ADB9"/>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B0ADB9"/>
                      </a:solidFill>
                      <a:prstDash val="solid"/>
                      <a:round/>
                      <a:headEnd type="none" w="med" len="med"/>
                      <a:tailEnd type="none" w="med" len="med"/>
                    </a:lnB>
                    <a:solidFill>
                      <a:srgbClr val="DCD8E8"/>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Ingreso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0ADB9"/>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SLZIngCamFrente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0ADB9"/>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8.322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0ADB9"/>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81 %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0ADB9"/>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85 %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0ADB9"/>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78 %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0ADB9"/>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Balanza ingreso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SLZBalIngFte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10.116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78 %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86 %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70 %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Carga OSL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RenCargFte, RenDescFte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algn="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763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algn="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64 %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algn="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70 %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algn="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50 %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Volcables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SLZVolcableC1 a C5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7.466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71 %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94 %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53 %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Líquidos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SLZBalLiq 1a a 2b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273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69 %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70 %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66 %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Balanza egreso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SLZBalSC1Fte, SC2Fte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algn="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10.116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algn="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31 %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algn="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46 %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algn="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17 %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Egreso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SLZSalidaC1Fte, C2Fte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10.113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86 %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89 %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84 %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bl>
          </a:graphicData>
        </a:graphic>
      </p:graphicFrame>
      <p:sp>
        <p:nvSpPr>
          <p:cNvPr id="5" name="Shape 2"/>
          <p:cNvSpPr/>
          <p:nvPr/>
        </p:nvSpPr>
        <p:spPr>
          <a:xfrm>
            <a:off x="8080375" y="1699816"/>
            <a:ext cx="3295650" cy="2933898"/>
          </a:xfrm>
          <a:prstGeom prst="roundRect">
            <a:avLst>
              <a:gd name="adj" fmla="val 3355"/>
            </a:avLst>
          </a:prstGeom>
          <a:solidFill>
            <a:srgbClr val="FCFDFB"/>
          </a:solidFill>
          <a:ln w="6350">
            <a:solidFill>
              <a:srgbClr val="D3E2D7"/>
            </a:solidFill>
            <a:prstDash val="solid"/>
          </a:ln>
        </p:spPr>
        <p:txBody>
          <a:bodyPr/>
          <a:p/>
        </p:txBody>
      </p:sp>
      <p:sp>
        <p:nvSpPr>
          <p:cNvPr id="6" name="Text 3"/>
          <p:cNvSpPr/>
          <p:nvPr/>
        </p:nvSpPr>
        <p:spPr>
          <a:xfrm>
            <a:off x="8286750" y="1880791"/>
            <a:ext cx="296938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E1B4E"/>
                </a:solidFill>
                <a:latin typeface="IBM Plex Sans" pitchFamily="34" charset="0"/>
                <a:ea typeface="IBM Plex Sans" pitchFamily="34" charset="-122"/>
                <a:cs typeface="IBM Plex Sans" pitchFamily="34" charset="-120"/>
              </a:rPr>
              <a:t>Calles del volcable</a:t>
            </a:r>
            <a:endParaRPr lang="en-US" sz="1400" dirty="0"/>
          </a:p>
        </p:txBody>
      </p:sp>
      <p:sp>
        <p:nvSpPr>
          <p:cNvPr id="7" name="Text 4"/>
          <p:cNvSpPr/>
          <p:nvPr/>
        </p:nvSpPr>
        <p:spPr>
          <a:xfrm>
            <a:off x="8286750" y="2170311"/>
            <a:ext cx="2969387"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La calle sale del Excel (VOLCABLE PTO)</a:t>
            </a:r>
            <a:endParaRPr lang="en-US" sz="1200" dirty="0"/>
          </a:p>
        </p:txBody>
      </p:sp>
      <p:graphicFrame>
        <p:nvGraphicFramePr>
          <p:cNvPr id="8" name="Table 1"/>
          <p:cNvGraphicFramePr>
            <a:graphicFrameLocks noGrp="1"/>
          </p:cNvGraphicFramePr>
          <p:nvPr>
            <p:extLst>
              <p:ext uri="{D42A27DB-BD31-4B8C-83A1-F6EECF244321}">
                <p14:modId xmlns:p14="http://schemas.microsoft.com/office/powerpoint/2010/main" val="1579011935"/>
              </p:ext>
            </p:extLst>
          </p:nvPr>
        </p:nvGraphicFramePr>
        <p:xfrm>
          <a:off x="8299450" y="2457252"/>
          <a:ext cx="2882900" cy="1995487"/>
        </p:xfrm>
        <a:graphic>
          <a:graphicData uri="http://schemas.openxmlformats.org/drawingml/2006/table">
            <a:tbl>
              <a:tblPr/>
              <a:tblGrid>
                <a:gridCol w="807212"/>
                <a:gridCol w="691896"/>
                <a:gridCol w="691896"/>
                <a:gridCol w="691896"/>
              </a:tblGrid>
              <a:tr h="332581">
                <a:tc>
                  <a:txBody>
                    <a:bodyPr/>
                    <a:lstStyle/>
                    <a:p>
                      <a:pP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Calle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B0ADB9"/>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0ADB9"/>
                      </a:solidFill>
                      <a:prstDash val="solid"/>
                      <a:round/>
                      <a:headEnd type="none" w="med" len="med"/>
                      <a:tailEnd type="none" w="med" len="med"/>
                    </a:lnB>
                    <a:solidFill>
                      <a:srgbClr val="DCD8E8"/>
                    </a:solidFill>
                  </a:tcPr>
                </a:tc>
                <a:tc>
                  <a:txBody>
                    <a:bodyPr/>
                    <a:lstStyle/>
                    <a:p>
                      <a:pPr algn="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Total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0ADB9"/>
                      </a:solidFill>
                      <a:prstDash val="solid"/>
                      <a:round/>
                      <a:headEnd type="none" w="med" len="med"/>
                      <a:tailEnd type="none" w="med" len="med"/>
                    </a:lnL>
                    <a:lnR w="12700" cap="flat" cmpd="sng" algn="ctr">
                      <a:solidFill>
                        <a:srgbClr val="B0ADB9"/>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0ADB9"/>
                      </a:solidFill>
                      <a:prstDash val="solid"/>
                      <a:round/>
                      <a:headEnd type="none" w="med" len="med"/>
                      <a:tailEnd type="none" w="med" len="med"/>
                    </a:lnB>
                    <a:solidFill>
                      <a:srgbClr val="DCD8E8"/>
                    </a:solidFill>
                  </a:tcPr>
                </a:tc>
                <a:tc>
                  <a:txBody>
                    <a:bodyPr/>
                    <a:lstStyle/>
                    <a:p>
                      <a:pPr algn="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Día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0ADB9"/>
                      </a:solidFill>
                      <a:prstDash val="solid"/>
                      <a:round/>
                      <a:headEnd type="none" w="med" len="med"/>
                      <a:tailEnd type="none" w="med" len="med"/>
                    </a:lnL>
                    <a:lnR w="12700" cap="flat" cmpd="sng" algn="ctr">
                      <a:solidFill>
                        <a:srgbClr val="B0ADB9"/>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0ADB9"/>
                      </a:solidFill>
                      <a:prstDash val="solid"/>
                      <a:round/>
                      <a:headEnd type="none" w="med" len="med"/>
                      <a:tailEnd type="none" w="med" len="med"/>
                    </a:lnB>
                    <a:solidFill>
                      <a:srgbClr val="DCD8E8"/>
                    </a:solidFill>
                  </a:tcPr>
                </a:tc>
                <a:tc>
                  <a:txBody>
                    <a:bodyPr/>
                    <a:lstStyle/>
                    <a:p>
                      <a:pPr algn="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Noche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0ADB9"/>
                      </a:solidFill>
                      <a:prstDash val="solid"/>
                      <a:round/>
                      <a:headEnd type="none" w="med" len="med"/>
                      <a:tailEnd type="none" w="med" len="med"/>
                    </a:lnL>
                    <a:lnR w="12700" cap="flat" cmpd="sng" algn="ctr">
                      <a:solidFill>
                        <a:srgbClr val="B0ADB9"/>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0ADB9"/>
                      </a:solidFill>
                      <a:prstDash val="solid"/>
                      <a:round/>
                      <a:headEnd type="none" w="med" len="med"/>
                      <a:tailEnd type="none" w="med" len="med"/>
                    </a:lnB>
                    <a:solidFill>
                      <a:srgbClr val="DCD8E8"/>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C1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0ADB9"/>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72 %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0ADB9"/>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89 %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0ADB9"/>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58 %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0ADB9"/>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C2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67 %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89 %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50 %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C3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84 %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96 %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77 %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C4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95 %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99 %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92 %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C5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algn="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59 %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algn="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95 %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algn="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29 %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r>
            </a:tbl>
          </a:graphicData>
        </a:graphic>
      </p:graphicFrame>
      <p:pic>
        <p:nvPicPr>
          <p:cNvPr id="9"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10"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
        <p:nvSpPr>
          <p:cNvPr id="11" name="Text 5"/>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Verde 80 % o más · ocre 65 a 79 % · rojo menos de 65 % · la fila toma el color del total · Día 6 a 18 h · 5</a:t>
            </a:r>
            <a:endParaRPr lang="en-US" sz="1200" dirty="0"/>
          </a:p>
        </p:txBody>
      </p:sp>
      <p:sp>
        <p:nvSpPr>
          <p:cNvPr id="12" name="Rounded Rectangle 11"/>
          <p:cNvSpPr/>
          <p:nvPr/>
        </p:nvSpPr>
        <p:spPr>
          <a:xfrm>
            <a:off x="812800" y="711200"/>
            <a:ext cx="4164985" cy="289520"/>
          </a:xfrm>
          <a:prstGeom prst="roundRect">
            <a:avLst>
              <a:gd name="adj" fmla="val 18000"/>
            </a:avLst>
          </a:prstGeom>
          <a:solidFill>
            <a:srgbClr val="2E1B4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r>
              <a:rPr sz="950" b="1">
                <a:solidFill>
                  <a:srgbClr val="FFFFFF"/>
                </a:solidFill>
                <a:latin typeface="IBM Plex Sans"/>
              </a:rPr>
              <a:t>PUERTO SAN LORENZO · CÁMARA POR CÁMARA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4"/>
        </a:solidFill>
      </p:bgPr>
    </p:bg>
    <p:spTree>
      <p:nvGrpSpPr>
        <p:cNvPr id="1" name=""/>
        <p:cNvGrpSpPr/>
        <p:nvPr/>
      </p:nvGrpSpPr>
      <p:grpSpPr>
        <a:xfrm>
          <a:off x="0" y="0"/>
          <a:ext cx="0" cy="0"/>
          <a:chOff x="0" y="0"/>
          <a:chExt cx="0" cy="0"/>
        </a:xfrm>
      </p:grpSpPr>
      <p:sp>
        <p:nvSpPr>
          <p:cNvPr id="3" name="Text 1"/>
          <p:cNvSpPr/>
          <p:nvPr>
            <p:ph type="title"/>
          </p:nvPr>
        </p:nvSpPr>
        <p:spPr>
          <a:xfrm>
            <a:off x="812800" y="1085652"/>
            <a:ext cx="10883392" cy="762695"/>
          </a:xfrm>
          <a:prstGeom prst="rect">
            <a:avLst/>
          </a:prstGeom>
          <a:noFill/>
          <a:ln/>
        </p:spPr>
        <p:txBody>
          <a:bodyPr wrap="square" lIns="0" tIns="0" rIns="0" bIns="0" rtlCol="0" anchor="t">
            <a:normAutofit/>
          </a:bodyPr>
          <a:lstStyle/>
          <a:p>
            <a:pPr algn="l" indent="0" marL="0">
              <a:lnSpc>
                <a:spcPts val="2907"/>
              </a:lnSpc>
              <a:buNone/>
            </a:pPr>
            <a:r>
              <a:rPr lang="en-US" sz="2643" b="1" i="0" dirty="0">
                <a:solidFill>
                  <a:srgbClr val="14281E"/>
                </a:solidFill>
                <a:latin typeface="IBM Plex Sans" pitchFamily="34" charset="0"/>
                <a:ea typeface="IBM Plex Sans" pitchFamily="34" charset="-122"/>
                <a:cs typeface="IBM Plex Sans" pitchFamily="34" charset="-120"/>
              </a:rPr>
              <a:t>Las cámaras ya leyeron 98–99 % en turnos de día con mucho volumen</a:t>
            </a:r>
            <a:endParaRPr lang="en-US" sz="2643" dirty="0"/>
          </a:p>
        </p:txBody>
      </p:sp>
      <p:sp>
        <p:nvSpPr>
          <p:cNvPr id="4" name="Text 2"/>
          <p:cNvSpPr/>
          <p:nvPr/>
        </p:nvSpPr>
        <p:spPr>
          <a:xfrm>
            <a:off x="812800" y="2051546"/>
            <a:ext cx="65405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E1B4E"/>
                </a:solidFill>
                <a:latin typeface="IBM Plex Sans" pitchFamily="34" charset="0"/>
                <a:ea typeface="IBM Plex Sans" pitchFamily="34" charset="-122"/>
                <a:cs typeface="IBM Plex Sans" pitchFamily="34" charset="-120"/>
              </a:rPr>
              <a:t>Mejores turnos del mes</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394446"/>
          <a:ext cx="6337300" cy="3657600"/>
        </p:xfrm>
        <a:graphic>
          <a:graphicData uri="http://schemas.openxmlformats.org/drawingml/2006/table">
            <a:tbl>
              <a:tblPr/>
              <a:tblGrid>
                <a:gridCol w="2915158"/>
                <a:gridCol w="1394206"/>
                <a:gridCol w="1013968"/>
                <a:gridCol w="1013968"/>
              </a:tblGrid>
              <a:tr h="346075">
                <a:tc>
                  <a:txBody>
                    <a:bodyPr/>
                    <a:lstStyle/>
                    <a:p>
                      <a:pP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Punto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B5BCB7"/>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B5BCB7"/>
                      </a:solidFill>
                      <a:prstDash val="solid"/>
                      <a:round/>
                      <a:headEnd type="none" w="med" len="med"/>
                      <a:tailEnd type="none" w="med" len="med"/>
                    </a:lnB>
                    <a:solidFill>
                      <a:srgbClr val="E3ECE5"/>
                    </a:solidFill>
                  </a:tcPr>
                </a:tc>
                <a:tc>
                  <a:txBody>
                    <a:bodyPr/>
                    <a:lstStyle/>
                    <a:p>
                      <a:pP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Turno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BCB7"/>
                      </a:solidFill>
                      <a:prstDash val="solid"/>
                      <a:round/>
                      <a:headEnd type="none" w="med" len="med"/>
                      <a:tailEnd type="none" w="med" len="med"/>
                    </a:lnL>
                    <a:lnR w="12700" cap="flat" cmpd="sng" algn="ctr">
                      <a:solidFill>
                        <a:srgbClr val="B5BCB7"/>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B5BCB7"/>
                      </a:solidFill>
                      <a:prstDash val="solid"/>
                      <a:round/>
                      <a:headEnd type="none" w="med" len="med"/>
                      <a:tailEnd type="none" w="med" len="med"/>
                    </a:lnB>
                    <a:solidFill>
                      <a:srgbClr val="E3ECE5"/>
                    </a:solidFill>
                  </a:tcPr>
                </a:tc>
                <a:tc>
                  <a:txBody>
                    <a:bodyPr/>
                    <a:lstStyle/>
                    <a:p>
                      <a:pPr algn="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Leídos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BCB7"/>
                      </a:solidFill>
                      <a:prstDash val="solid"/>
                      <a:round/>
                      <a:headEnd type="none" w="med" len="med"/>
                      <a:tailEnd type="none" w="med" len="med"/>
                    </a:lnL>
                    <a:lnR w="12700" cap="flat" cmpd="sng" algn="ctr">
                      <a:solidFill>
                        <a:srgbClr val="B5BCB7"/>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B5BCB7"/>
                      </a:solidFill>
                      <a:prstDash val="solid"/>
                      <a:round/>
                      <a:headEnd type="none" w="med" len="med"/>
                      <a:tailEnd type="none" w="med" len="med"/>
                    </a:lnB>
                    <a:solidFill>
                      <a:srgbClr val="E3ECE5"/>
                    </a:solidFill>
                  </a:tcPr>
                </a:tc>
                <a:tc>
                  <a:txBody>
                    <a:bodyPr/>
                    <a:lstStyle/>
                    <a:p>
                      <a:pPr algn="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BCB7"/>
                      </a:solidFill>
                      <a:prstDash val="solid"/>
                      <a:round/>
                      <a:headEnd type="none" w="med" len="med"/>
                      <a:tailEnd type="none" w="med" len="med"/>
                    </a:lnL>
                    <a:lnR w="12700" cap="flat" cmpd="sng" algn="ctr">
                      <a:solidFill>
                        <a:srgbClr val="B5BCB7"/>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B5BCB7"/>
                      </a:solidFill>
                      <a:prstDash val="solid"/>
                      <a:round/>
                      <a:headEnd type="none" w="med" len="med"/>
                      <a:tailEnd type="none" w="med" len="med"/>
                    </a:lnB>
                    <a:solidFill>
                      <a:srgbClr val="E3ECE5"/>
                    </a:solidFill>
                  </a:tcPr>
                </a:tc>
              </a:tr>
              <a:tr h="56832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Balanza ingreso · San Lorenzo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BCB7"/>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16/09 día</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BCB7"/>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230 de 232</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BCB7"/>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99 %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BCB7"/>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56832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Preingreso · Ricardone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C0C4C0"/>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0C4C0"/>
                      </a:solidFill>
                      <a:prstDash val="solid"/>
                      <a:round/>
                      <a:headEnd type="none" w="med" len="med"/>
                      <a:tailEnd type="none" w="med" len="med"/>
                    </a:lnB>
                    <a:solidFill>
                      <a:srgbClr val="F0F5F1"/>
                    </a:solidFill>
                  </a:tcPr>
                </a:tc>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07/09 día</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0C4C0"/>
                      </a:solidFill>
                      <a:prstDash val="solid"/>
                      <a:round/>
                      <a:headEnd type="none" w="med" len="med"/>
                      <a:tailEnd type="none" w="med" len="med"/>
                    </a:lnL>
                    <a:lnR w="12700" cap="flat" cmpd="sng" algn="ctr">
                      <a:solidFill>
                        <a:srgbClr val="C0C4C0"/>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0C4C0"/>
                      </a:solidFill>
                      <a:prstDash val="solid"/>
                      <a:round/>
                      <a:headEnd type="none" w="med" len="med"/>
                      <a:tailEnd type="none" w="med" len="med"/>
                    </a:lnB>
                    <a:solidFill>
                      <a:srgbClr val="F0F5F1"/>
                    </a:solidFill>
                  </a:tcPr>
                </a:tc>
                <a:tc>
                  <a:txBody>
                    <a:bodyPr/>
                    <a:lstStyle/>
                    <a:p>
                      <a:pPr algn="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199 de 202</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0C4C0"/>
                      </a:solidFill>
                      <a:prstDash val="solid"/>
                      <a:round/>
                      <a:headEnd type="none" w="med" len="med"/>
                      <a:tailEnd type="none" w="med" len="med"/>
                    </a:lnL>
                    <a:lnR w="12700" cap="flat" cmpd="sng" algn="ctr">
                      <a:solidFill>
                        <a:srgbClr val="C0C4C0"/>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0C4C0"/>
                      </a:solidFill>
                      <a:prstDash val="solid"/>
                      <a:round/>
                      <a:headEnd type="none" w="med" len="med"/>
                      <a:tailEnd type="none" w="med" len="med"/>
                    </a:lnB>
                    <a:solidFill>
                      <a:srgbClr val="F0F5F1"/>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99 %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0C4C0"/>
                      </a:solidFill>
                      <a:prstDash val="solid"/>
                      <a:round/>
                      <a:headEnd type="none" w="med" len="med"/>
                      <a:tailEnd type="none" w="med" len="med"/>
                    </a:lnL>
                    <a:lnR w="12700" cap="flat" cmpd="sng" algn="ctr">
                      <a:solidFill>
                        <a:srgbClr val="C0C4C0"/>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0C4C0"/>
                      </a:solidFill>
                      <a:prstDash val="solid"/>
                      <a:round/>
                      <a:headEnd type="none" w="med" len="med"/>
                      <a:tailEnd type="none" w="med" len="med"/>
                    </a:lnB>
                    <a:solidFill>
                      <a:srgbClr val="F0F5F1"/>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Playa 3 · Ricardone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0C4C0"/>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30/09 día</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0C4C0"/>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90 de 91</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0C4C0"/>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99 %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0C4C0"/>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56832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Volcables · San Lorenzo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C0C4C0"/>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0C4C0"/>
                      </a:solidFill>
                      <a:prstDash val="solid"/>
                      <a:round/>
                      <a:headEnd type="none" w="med" len="med"/>
                      <a:tailEnd type="none" w="med" len="med"/>
                    </a:lnB>
                    <a:solidFill>
                      <a:srgbClr val="F0F5F1"/>
                    </a:solidFill>
                  </a:tcPr>
                </a:tc>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16/09 día</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0C4C0"/>
                      </a:solidFill>
                      <a:prstDash val="solid"/>
                      <a:round/>
                      <a:headEnd type="none" w="med" len="med"/>
                      <a:tailEnd type="none" w="med" len="med"/>
                    </a:lnL>
                    <a:lnR w="12700" cap="flat" cmpd="sng" algn="ctr">
                      <a:solidFill>
                        <a:srgbClr val="C0C4C0"/>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0C4C0"/>
                      </a:solidFill>
                      <a:prstDash val="solid"/>
                      <a:round/>
                      <a:headEnd type="none" w="med" len="med"/>
                      <a:tailEnd type="none" w="med" len="med"/>
                    </a:lnB>
                    <a:solidFill>
                      <a:srgbClr val="F0F5F1"/>
                    </a:solidFill>
                  </a:tcPr>
                </a:tc>
                <a:tc>
                  <a:txBody>
                    <a:bodyPr/>
                    <a:lstStyle/>
                    <a:p>
                      <a:pPr algn="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205 de 209</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0C4C0"/>
                      </a:solidFill>
                      <a:prstDash val="solid"/>
                      <a:round/>
                      <a:headEnd type="none" w="med" len="med"/>
                      <a:tailEnd type="none" w="med" len="med"/>
                    </a:lnL>
                    <a:lnR w="12700" cap="flat" cmpd="sng" algn="ctr">
                      <a:solidFill>
                        <a:srgbClr val="C0C4C0"/>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0C4C0"/>
                      </a:solidFill>
                      <a:prstDash val="solid"/>
                      <a:round/>
                      <a:headEnd type="none" w="med" len="med"/>
                      <a:tailEnd type="none" w="med" len="med"/>
                    </a:lnB>
                    <a:solidFill>
                      <a:srgbClr val="F0F5F1"/>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98 %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0C4C0"/>
                      </a:solidFill>
                      <a:prstDash val="solid"/>
                      <a:round/>
                      <a:headEnd type="none" w="med" len="med"/>
                      <a:tailEnd type="none" w="med" len="med"/>
                    </a:lnL>
                    <a:lnR w="12700" cap="flat" cmpd="sng" algn="ctr">
                      <a:solidFill>
                        <a:srgbClr val="C0C4C0"/>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0C4C0"/>
                      </a:solidFill>
                      <a:prstDash val="solid"/>
                      <a:round/>
                      <a:headEnd type="none" w="med" len="med"/>
                      <a:tailEnd type="none" w="med" len="med"/>
                    </a:lnB>
                    <a:solidFill>
                      <a:srgbClr val="F0F5F1"/>
                    </a:solidFill>
                  </a:tcPr>
                </a:tc>
              </a:tr>
              <a:tr h="56832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Volcable 1 · Ricardone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0C4C0"/>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10/09 día completo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0C4C0"/>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54 de 55</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0C4C0"/>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98 %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0C4C0"/>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Calle 4 volcable · San Lorenzo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C0C4C0"/>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0C4C0"/>
                      </a:solidFill>
                      <a:prstDash val="solid"/>
                      <a:round/>
                      <a:headEnd type="none" w="med" len="med"/>
                      <a:tailEnd type="none" w="med" len="med"/>
                    </a:lnB>
                    <a:solidFill>
                      <a:srgbClr val="F0F5F1"/>
                    </a:solidFill>
                  </a:tcPr>
                </a:tc>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mes, de día</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0C4C0"/>
                      </a:solidFill>
                      <a:prstDash val="solid"/>
                      <a:round/>
                      <a:headEnd type="none" w="med" len="med"/>
                      <a:tailEnd type="none" w="med" len="med"/>
                    </a:lnL>
                    <a:lnR w="12700" cap="flat" cmpd="sng" algn="ctr">
                      <a:solidFill>
                        <a:srgbClr val="C0C4C0"/>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0C4C0"/>
                      </a:solidFill>
                      <a:prstDash val="solid"/>
                      <a:round/>
                      <a:headEnd type="none" w="med" len="med"/>
                      <a:tailEnd type="none" w="med" len="med"/>
                    </a:lnB>
                    <a:solidFill>
                      <a:srgbClr val="F0F5F1"/>
                    </a:solidFill>
                  </a:tcPr>
                </a:tc>
                <a:tc>
                  <a:txBody>
                    <a:bodyPr/>
                    <a:lstStyle/>
                    <a:p>
                      <a:pPr algn="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0C4C0"/>
                      </a:solidFill>
                      <a:prstDash val="solid"/>
                      <a:round/>
                      <a:headEnd type="none" w="med" len="med"/>
                      <a:tailEnd type="none" w="med" len="med"/>
                    </a:lnL>
                    <a:lnR w="12700" cap="flat" cmpd="sng" algn="ctr">
                      <a:solidFill>
                        <a:srgbClr val="C0C4C0"/>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0C4C0"/>
                      </a:solidFill>
                      <a:prstDash val="solid"/>
                      <a:round/>
                      <a:headEnd type="none" w="med" len="med"/>
                      <a:tailEnd type="none" w="med" len="med"/>
                    </a:lnB>
                    <a:solidFill>
                      <a:srgbClr val="F0F5F1"/>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99 %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0C4C0"/>
                      </a:solidFill>
                      <a:prstDash val="solid"/>
                      <a:round/>
                      <a:headEnd type="none" w="med" len="med"/>
                      <a:tailEnd type="none" w="med" len="med"/>
                    </a:lnL>
                    <a:lnR w="12700" cap="flat" cmpd="sng" algn="ctr">
                      <a:solidFill>
                        <a:srgbClr val="C0C4C0"/>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0C4C0"/>
                      </a:solidFill>
                      <a:prstDash val="solid"/>
                      <a:round/>
                      <a:headEnd type="none" w="med" len="med"/>
                      <a:tailEnd type="none" w="med" len="med"/>
                    </a:lnB>
                    <a:solidFill>
                      <a:srgbClr val="F0F5F1"/>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Egreso · San Lorenzo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0C4C0"/>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20/09 día</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0C4C0"/>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46 de 46</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0C4C0"/>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100 %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0C4C0"/>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bl>
          </a:graphicData>
        </a:graphic>
      </p:graphicFrame>
      <p:sp>
        <p:nvSpPr>
          <p:cNvPr id="6" name="Shape 3"/>
          <p:cNvSpPr/>
          <p:nvPr/>
        </p:nvSpPr>
        <p:spPr>
          <a:xfrm>
            <a:off x="7416800" y="2051546"/>
            <a:ext cx="3962400" cy="1325166"/>
          </a:xfrm>
          <a:prstGeom prst="roundRect">
            <a:avLst>
              <a:gd name="adj" fmla="val 7667"/>
            </a:avLst>
          </a:prstGeom>
          <a:solidFill>
            <a:srgbClr val="0B5638"/>
          </a:solidFill>
          <a:ln/>
        </p:spPr>
        <p:txBody>
          <a:bodyPr/>
          <a:p/>
        </p:txBody>
      </p:sp>
      <p:sp>
        <p:nvSpPr>
          <p:cNvPr id="7" name="Text 4"/>
          <p:cNvSpPr/>
          <p:nvPr/>
        </p:nvSpPr>
        <p:spPr>
          <a:xfrm>
            <a:off x="7620000" y="2229346"/>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9CCBAE"/>
                </a:solidFill>
                <a:latin typeface="IBM Plex Sans" pitchFamily="34" charset="0"/>
                <a:ea typeface="IBM Plex Sans" pitchFamily="34" charset="-122"/>
                <a:cs typeface="IBM Plex Sans" pitchFamily="34" charset="-120"/>
              </a:rPr>
              <a:t>META INMEDIATA</a:t>
            </a:r>
            <a:endParaRPr lang="en-US" sz="1200" dirty="0"/>
          </a:p>
        </p:txBody>
      </p:sp>
      <p:sp>
        <p:nvSpPr>
          <p:cNvPr id="8" name="Text 5"/>
          <p:cNvSpPr/>
          <p:nvPr/>
        </p:nvSpPr>
        <p:spPr>
          <a:xfrm>
            <a:off x="7620000" y="2480766"/>
            <a:ext cx="366268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1F6F2"/>
                </a:solidFill>
                <a:latin typeface="IBM Plex Sans" pitchFamily="34" charset="0"/>
                <a:ea typeface="IBM Plex Sans" pitchFamily="34" charset="-122"/>
                <a:cs typeface="IBM Plex Sans" pitchFamily="34" charset="-120"/>
              </a:rPr>
              <a:t>95 %</a:t>
            </a:r>
            <a:endParaRPr lang="en-US" sz="3600" dirty="0"/>
          </a:p>
        </p:txBody>
      </p:sp>
      <p:sp>
        <p:nvSpPr>
          <p:cNvPr id="9" name="Text 6"/>
          <p:cNvSpPr/>
          <p:nvPr/>
        </p:nvSpPr>
        <p:spPr>
          <a:xfrm>
            <a:off x="7620000" y="2976066"/>
            <a:ext cx="366268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D6E4DA"/>
                </a:solidFill>
                <a:latin typeface="IBM Plex Sans" pitchFamily="34" charset="0"/>
                <a:ea typeface="IBM Plex Sans" pitchFamily="34" charset="-122"/>
                <a:cs typeface="IBM Plex Sans" pitchFamily="34" charset="-120"/>
              </a:rPr>
              <a:t>por punto, de día</a:t>
            </a:r>
            <a:endParaRPr lang="en-US" sz="1300" dirty="0"/>
          </a:p>
        </p:txBody>
      </p:sp>
      <p:sp>
        <p:nvSpPr>
          <p:cNvPr id="10" name="Shape 7"/>
          <p:cNvSpPr/>
          <p:nvPr/>
        </p:nvSpPr>
        <p:spPr>
          <a:xfrm>
            <a:off x="7416800" y="3503712"/>
            <a:ext cx="3962400" cy="1325166"/>
          </a:xfrm>
          <a:prstGeom prst="roundRect">
            <a:avLst>
              <a:gd name="adj" fmla="val 7667"/>
            </a:avLst>
          </a:prstGeom>
          <a:solidFill>
            <a:srgbClr val="2E1B4E"/>
          </a:solidFill>
          <a:ln/>
        </p:spPr>
        <p:txBody>
          <a:bodyPr/>
          <a:p/>
        </p:txBody>
      </p:sp>
      <p:sp>
        <p:nvSpPr>
          <p:cNvPr id="11" name="Text 8"/>
          <p:cNvSpPr/>
          <p:nvPr/>
        </p:nvSpPr>
        <p:spPr>
          <a:xfrm>
            <a:off x="7620000" y="3681512"/>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C7B8EC"/>
                </a:solidFill>
                <a:latin typeface="IBM Plex Sans" pitchFamily="34" charset="0"/>
                <a:ea typeface="IBM Plex Sans" pitchFamily="34" charset="-122"/>
                <a:cs typeface="IBM Plex Sans" pitchFamily="34" charset="-120"/>
              </a:rPr>
              <a:t>META CON LA NOCHE RESUELTA</a:t>
            </a:r>
            <a:endParaRPr lang="en-US" sz="1200" dirty="0"/>
          </a:p>
        </p:txBody>
      </p:sp>
      <p:sp>
        <p:nvSpPr>
          <p:cNvPr id="12" name="Text 9"/>
          <p:cNvSpPr/>
          <p:nvPr/>
        </p:nvSpPr>
        <p:spPr>
          <a:xfrm>
            <a:off x="7620000" y="3932932"/>
            <a:ext cx="366268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1F6F2"/>
                </a:solidFill>
                <a:latin typeface="IBM Plex Sans" pitchFamily="34" charset="0"/>
                <a:ea typeface="IBM Plex Sans" pitchFamily="34" charset="-122"/>
                <a:cs typeface="IBM Plex Sans" pitchFamily="34" charset="-120"/>
              </a:rPr>
              <a:t>98 %</a:t>
            </a:r>
            <a:endParaRPr lang="en-US" sz="3600" dirty="0"/>
          </a:p>
        </p:txBody>
      </p:sp>
      <p:sp>
        <p:nvSpPr>
          <p:cNvPr id="13" name="Text 10"/>
          <p:cNvSpPr/>
          <p:nvPr/>
        </p:nvSpPr>
        <p:spPr>
          <a:xfrm>
            <a:off x="7620000" y="4428232"/>
            <a:ext cx="366268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DCD3F2"/>
                </a:solidFill>
                <a:latin typeface="IBM Plex Sans" pitchFamily="34" charset="0"/>
                <a:ea typeface="IBM Plex Sans" pitchFamily="34" charset="-122"/>
                <a:cs typeface="IBM Plex Sans" pitchFamily="34" charset="-120"/>
              </a:rPr>
              <a:t>por punto, día y noche</a:t>
            </a:r>
            <a:endParaRPr lang="en-US" sz="1300" dirty="0"/>
          </a:p>
        </p:txBody>
      </p:sp>
      <p:sp>
        <p:nvSpPr>
          <p:cNvPr id="14" name="Text 11"/>
          <p:cNvSpPr/>
          <p:nvPr/>
        </p:nvSpPr>
        <p:spPr>
          <a:xfrm>
            <a:off x="7416800" y="4955877"/>
            <a:ext cx="4081272"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Para sostenerlo: iluminación nocturna, reparar las cámaras que casi no reportan y controlar los días en que un punto cae.</a:t>
            </a:r>
            <a:endParaRPr lang="en-US" sz="1300" dirty="0"/>
          </a:p>
        </p:txBody>
      </p:sp>
      <p:pic>
        <p:nvPicPr>
          <p:cNvPr id="15"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16"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
        <p:nvSpPr>
          <p:cNvPr id="17" name="Text 12"/>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Reconocimiento de cámaras · septiembre 2026 · 6</a:t>
            </a:r>
            <a:endParaRPr lang="en-US" sz="1200" dirty="0"/>
          </a:p>
        </p:txBody>
      </p:sp>
      <p:sp>
        <p:nvSpPr>
          <p:cNvPr id="18" name="Rounded Rectangle 17"/>
          <p:cNvSpPr/>
          <p:nvPr/>
        </p:nvSpPr>
        <p:spPr>
          <a:xfrm>
            <a:off x="812800" y="702866"/>
            <a:ext cx="2887841" cy="289520"/>
          </a:xfrm>
          <a:prstGeom prst="roundRect">
            <a:avLst>
              <a:gd name="adj" fmla="val 18000"/>
            </a:avLst>
          </a:prstGeom>
          <a:solidFill>
            <a:srgbClr val="0B5638"/>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r>
              <a:rPr sz="950" b="1">
                <a:solidFill>
                  <a:srgbClr val="FFFFFF"/>
                </a:solidFill>
                <a:latin typeface="IBM Plex Sans"/>
              </a:rPr>
              <a:t>¿SE PUEDE LLEGAR A 98–99 %?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4"/>
        </a:solidFill>
      </p:bgPr>
    </p:bg>
    <p:spTree>
      <p:nvGrpSpPr>
        <p:cNvPr id="1" name=""/>
        <p:cNvGrpSpPr/>
        <p:nvPr/>
      </p:nvGrpSpPr>
      <p:grpSpPr>
        <a:xfrm>
          <a:off x="0" y="0"/>
          <a:ext cx="0" cy="0"/>
          <a:chOff x="0" y="0"/>
          <a:chExt cx="0" cy="0"/>
        </a:xfrm>
      </p:grpSpPr>
      <p:sp>
        <p:nvSpPr>
          <p:cNvPr id="3" name="Text 1"/>
          <p:cNvSpPr/>
          <p:nvPr>
            <p:ph type="title"/>
          </p:nvPr>
        </p:nvSpPr>
        <p:spPr>
          <a:xfrm>
            <a:off x="812800" y="11023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1" i="0" dirty="0">
                <a:solidFill>
                  <a:srgbClr val="14281E"/>
                </a:solidFill>
                <a:latin typeface="IBM Plex Sans" pitchFamily="34" charset="0"/>
                <a:ea typeface="IBM Plex Sans" pitchFamily="34" charset="-122"/>
                <a:cs typeface="IBM Plex Sans" pitchFamily="34" charset="-120"/>
              </a:rPr>
              <a:t>7 de 18 nodos ya leyeron el 100 % en algún turno</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5168900" cy="3990975"/>
        </p:xfrm>
        <a:graphic>
          <a:graphicData uri="http://schemas.openxmlformats.org/drawingml/2006/table">
            <a:tbl>
              <a:tblPr/>
              <a:tblGrid>
                <a:gridCol w="1964182"/>
                <a:gridCol w="3204718"/>
              </a:tblGrid>
              <a:tr h="332581">
                <a:tc>
                  <a:txBody>
                    <a:bodyPr/>
                    <a:lstStyle/>
                    <a:p>
                      <a:pP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Ricardone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Cuándo leyó el 100 %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Volcable 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7 turnos · día entero 26/09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Ingreso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20/09 día · 42 de 42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Preingreso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13/09 día · 23 de 23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Descarga S7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02 y 04/09 día · 25 y 22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Balanza egreso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06 y 19/09 día · 10 y 16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Balanza ingreso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06 y 19/09 día · 10 y 11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Playa 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Máx. 99 % · 30/09 día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Egreso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Máx. 96 % · 21/09 día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Calada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Máx. 96 % · 26/09 día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Tolva silo Chief</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Máx. 93 % · 21/09 día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Volcable 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Máx. 92 % · 09/09 noche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bl>
          </a:graphicData>
        </a:graphic>
      </p:graphicFrame>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210300" y="1628080"/>
          <a:ext cx="5168900" cy="2660650"/>
        </p:xfrm>
        <a:graphic>
          <a:graphicData uri="http://schemas.openxmlformats.org/drawingml/2006/table">
            <a:tbl>
              <a:tblPr/>
              <a:tblGrid>
                <a:gridCol w="1964182"/>
                <a:gridCol w="3204718"/>
              </a:tblGrid>
              <a:tr h="332581">
                <a:tc>
                  <a:txBody>
                    <a:bodyPr/>
                    <a:lstStyle/>
                    <a:p>
                      <a:pP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Puerto San Lorenzo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B0ADB9"/>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B0ADB9"/>
                      </a:solidFill>
                      <a:prstDash val="solid"/>
                      <a:round/>
                      <a:headEnd type="none" w="med" len="med"/>
                      <a:tailEnd type="none" w="med" len="med"/>
                    </a:lnB>
                    <a:solidFill>
                      <a:srgbClr val="DCD8E8"/>
                    </a:solidFill>
                  </a:tcPr>
                </a:tc>
                <a:tc>
                  <a:txBody>
                    <a:bodyPr/>
                    <a:lstStyle/>
                    <a:p>
                      <a:pP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Cuándo leyó el 100 %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0ADB9"/>
                      </a:solidFill>
                      <a:prstDash val="solid"/>
                      <a:round/>
                      <a:headEnd type="none" w="med" len="med"/>
                      <a:tailEnd type="none" w="med" len="med"/>
                    </a:lnL>
                    <a:lnR w="12700" cap="flat" cmpd="sng" algn="ctr">
                      <a:solidFill>
                        <a:srgbClr val="B0ADB9"/>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B0ADB9"/>
                      </a:solidFill>
                      <a:prstDash val="solid"/>
                      <a:round/>
                      <a:headEnd type="none" w="med" len="med"/>
                      <a:tailEnd type="none" w="med" len="med"/>
                    </a:lnB>
                    <a:solidFill>
                      <a:srgbClr val="DCD8E8"/>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Egreso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0ADB9"/>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20/09 día · 46 de 46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0ADB9"/>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Balanza ingreso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Máx. 99 % · 16/09 día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Volcables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Máx. 99 % · 25/09 día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Ingreso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Máx. 97 % · 11/09 día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Líquidos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Máx. 95 % · 04/09 día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Carga OSL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Máx. 93 % · 15/09 día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Balanza egreso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Máx. 86 % · 09/09 día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bl>
          </a:graphicData>
        </a:graphic>
      </p:graphicFrame>
      <p:sp>
        <p:nvSpPr>
          <p:cNvPr id="6" name="Shape 2"/>
          <p:cNvSpPr/>
          <p:nvPr/>
        </p:nvSpPr>
        <p:spPr>
          <a:xfrm>
            <a:off x="6197600" y="4441130"/>
            <a:ext cx="5181600" cy="972641"/>
          </a:xfrm>
          <a:prstGeom prst="roundRect">
            <a:avLst>
              <a:gd name="adj" fmla="val 7834"/>
            </a:avLst>
          </a:prstGeom>
          <a:solidFill>
            <a:srgbClr val="0B5638"/>
          </a:solidFill>
          <a:ln/>
        </p:spPr>
        <p:txBody>
          <a:bodyPr/>
          <a:p/>
        </p:txBody>
      </p:sp>
      <p:sp>
        <p:nvSpPr>
          <p:cNvPr id="7" name="Text 3"/>
          <p:cNvSpPr/>
          <p:nvPr/>
        </p:nvSpPr>
        <p:spPr>
          <a:xfrm>
            <a:off x="6375400" y="4580830"/>
            <a:ext cx="497078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1F6F2"/>
                </a:solidFill>
                <a:latin typeface="IBM Plex Sans" pitchFamily="34" charset="0"/>
                <a:ea typeface="IBM Plex Sans" pitchFamily="34" charset="-122"/>
                <a:cs typeface="IBM Plex Sans" pitchFamily="34" charset="-120"/>
              </a:rPr>
              <a:t>Volcable 1 leyó los 50 camiones del 26/09</a:t>
            </a:r>
            <a:endParaRPr lang="en-US" sz="1300" dirty="0"/>
          </a:p>
        </p:txBody>
      </p:sp>
      <p:sp>
        <p:nvSpPr>
          <p:cNvPr id="8" name="Text 4"/>
          <p:cNvSpPr/>
          <p:nvPr/>
        </p:nvSpPr>
        <p:spPr>
          <a:xfrm>
            <a:off x="6375400" y="4862711"/>
            <a:ext cx="497078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D6E4DA"/>
                </a:solidFill>
                <a:latin typeface="IBM Plex Sans" pitchFamily="34" charset="0"/>
                <a:ea typeface="IBM Plex Sans" pitchFamily="34" charset="-122"/>
                <a:cs typeface="IBM Plex Sans" pitchFamily="34" charset="-120"/>
              </a:rPr>
              <a:t>Es el único nodo con 100 % de noche (10/09 y 26/09) y en un día entero.</a:t>
            </a:r>
            <a:endParaRPr lang="en-US" sz="1200" dirty="0"/>
          </a:p>
        </p:txBody>
      </p:sp>
      <p:pic>
        <p:nvPicPr>
          <p:cNvPr id="9"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10"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
        <p:nvSpPr>
          <p:cNvPr id="11" name="Text 5"/>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Turnos de 10 camiones o más · fila verde = llegó al 100 % · resto = su mejor turno · 7</a:t>
            </a:r>
            <a:endParaRPr lang="en-US" sz="1200" dirty="0"/>
          </a:p>
        </p:txBody>
      </p:sp>
      <p:sp>
        <p:nvSpPr>
          <p:cNvPr id="12" name="Rounded Rectangle 11"/>
          <p:cNvSpPr/>
          <p:nvPr/>
        </p:nvSpPr>
        <p:spPr>
          <a:xfrm>
            <a:off x="812800" y="711200"/>
            <a:ext cx="2045176" cy="289520"/>
          </a:xfrm>
          <a:prstGeom prst="roundRect">
            <a:avLst>
              <a:gd name="adj" fmla="val 18000"/>
            </a:avLst>
          </a:prstGeom>
          <a:solidFill>
            <a:srgbClr val="0B5638"/>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r>
              <a:rPr sz="950" b="1">
                <a:solidFill>
                  <a:srgbClr val="FFFFFF"/>
                </a:solidFill>
                <a:latin typeface="IBM Plex Sans"/>
              </a:rPr>
              <a:t>MOMENTOS AL 100 %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4"/>
        </a:solidFill>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CFD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13816" y="694944"/>
            <a:ext cx="2148840" cy="310896"/>
          </a:xfrm>
          <a:prstGeom prst="roundRect">
            <a:avLst>
              <a:gd name="adj" fmla="val 18000"/>
            </a:avLst>
          </a:prstGeom>
          <a:solidFill>
            <a:srgbClr val="2E1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722376"/>
            <a:ext cx="1947672" cy="237744"/>
          </a:xfrm>
          <a:prstGeom prst="rect">
            <a:avLst/>
          </a:prstGeom>
          <a:noFill/>
        </p:spPr>
        <p:txBody>
          <a:bodyPr wrap="none" lIns="36576" rIns="36576" tIns="36576" bIns="36576" anchor="ctr">
            <a:spAutoFit/>
          </a:bodyPr>
          <a:lstStyle/>
          <a:p>
            <a:pPr algn="l"/>
            <a:r>
              <a:rPr sz="1100" b="1">
                <a:solidFill>
                  <a:srgbClr val="FFFFFF"/>
                </a:solidFill>
                <a:latin typeface="IBM Plex Sans"/>
              </a:rPr>
              <a:t>SEGUIMIENTO POR SECTOR</a:t>
            </a:r>
          </a:p>
        </p:txBody>
      </p:sp>
      <p:sp>
        <p:nvSpPr>
          <p:cNvPr id="5" name="TextBox 4"/>
          <p:cNvSpPr txBox="1"/>
          <p:nvPr/>
        </p:nvSpPr>
        <p:spPr>
          <a:xfrm>
            <a:off x="3127248" y="722376"/>
            <a:ext cx="2011680" cy="237744"/>
          </a:xfrm>
          <a:prstGeom prst="rect">
            <a:avLst/>
          </a:prstGeom>
          <a:noFill/>
        </p:spPr>
        <p:txBody>
          <a:bodyPr wrap="none" lIns="36576" rIns="36576" tIns="36576" bIns="36576" anchor="ctr">
            <a:spAutoFit/>
          </a:bodyPr>
          <a:lstStyle/>
          <a:p>
            <a:pPr algn="l"/>
            <a:r>
              <a:rPr sz="1100" b="1">
                <a:solidFill>
                  <a:srgbClr val="2E1B4E"/>
                </a:solidFill>
                <a:latin typeface="IBM Plex Sans"/>
              </a:rPr>
              <a:t>Puerto San Lorenzo</a:t>
            </a:r>
          </a:p>
        </p:txBody>
      </p:sp>
      <p:sp>
        <p:nvSpPr>
          <p:cNvPr id="6" name="TextBox 5"/>
          <p:cNvSpPr txBox="1"/>
          <p:nvPr/>
        </p:nvSpPr>
        <p:spPr>
          <a:xfrm>
            <a:off x="813816" y="1078992"/>
            <a:ext cx="10789920" cy="475488"/>
          </a:xfrm>
          <a:prstGeom prst="rect">
            <a:avLst/>
          </a:prstGeom>
          <a:noFill/>
        </p:spPr>
        <p:txBody>
          <a:bodyPr wrap="none" lIns="36576" rIns="36576" tIns="36576" bIns="36576" anchor="ctr">
            <a:spAutoFit/>
          </a:bodyPr>
          <a:lstStyle/>
          <a:p>
            <a:pPr algn="l"/>
            <a:r>
              <a:rPr sz="2800" b="1">
                <a:solidFill>
                  <a:srgbClr val="142F26"/>
                </a:solidFill>
                <a:latin typeface="IBM Plex Sans"/>
              </a:rPr>
              <a:t>Cuatro controles para priorizar las correcciones</a:t>
            </a:r>
          </a:p>
        </p:txBody>
      </p:sp>
      <p:sp>
        <p:nvSpPr>
          <p:cNvPr id="7" name="TextBox 6"/>
          <p:cNvSpPr txBox="1"/>
          <p:nvPr/>
        </p:nvSpPr>
        <p:spPr>
          <a:xfrm>
            <a:off x="813816" y="1572768"/>
            <a:ext cx="10607040" cy="347472"/>
          </a:xfrm>
          <a:prstGeom prst="rect">
            <a:avLst/>
          </a:prstGeom>
          <a:noFill/>
        </p:spPr>
        <p:txBody>
          <a:bodyPr wrap="none" lIns="36576" rIns="36576" tIns="36576" bIns="36576" anchor="ctr">
            <a:spAutoFit/>
          </a:bodyPr>
          <a:lstStyle/>
          <a:p>
            <a:pPr algn="l"/>
            <a:r>
              <a:rPr sz="1200" b="0">
                <a:solidFill>
                  <a:srgbClr val="5B6962"/>
                </a:solidFill>
                <a:latin typeface="IBM Plex Sans"/>
              </a:rPr>
              <a:t>La tilde marca dónde hace falta intervenir. La lectura se consolida por sector, no por cámara individual.</a:t>
            </a:r>
          </a:p>
        </p:txBody>
      </p:sp>
      <p:sp>
        <p:nvSpPr>
          <p:cNvPr id="8" name="Rectangle 7"/>
          <p:cNvSpPr/>
          <p:nvPr/>
        </p:nvSpPr>
        <p:spPr>
          <a:xfrm>
            <a:off x="813816" y="2066543"/>
            <a:ext cx="10442448" cy="411480"/>
          </a:xfrm>
          <a:prstGeom prst="rect">
            <a:avLst/>
          </a:prstGeom>
          <a:solidFill>
            <a:srgbClr val="EBE7F2"/>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093975"/>
            <a:ext cx="3118103" cy="356616"/>
          </a:xfrm>
          <a:prstGeom prst="rect">
            <a:avLst/>
          </a:prstGeom>
          <a:noFill/>
        </p:spPr>
        <p:txBody>
          <a:bodyPr wrap="none" lIns="36576" rIns="36576" tIns="36576" bIns="36576" anchor="ctr">
            <a:spAutoFit/>
          </a:bodyPr>
          <a:lstStyle/>
          <a:p>
            <a:pPr algn="l"/>
            <a:r>
              <a:rPr sz="1150" b="1">
                <a:solidFill>
                  <a:srgbClr val="142F26"/>
                </a:solidFill>
                <a:latin typeface="IBM Plex Sans"/>
              </a:rPr>
              <a:t>Sector</a:t>
            </a:r>
          </a:p>
        </p:txBody>
      </p:sp>
      <p:sp>
        <p:nvSpPr>
          <p:cNvPr id="10" name="TextBox 9"/>
          <p:cNvSpPr txBox="1"/>
          <p:nvPr/>
        </p:nvSpPr>
        <p:spPr>
          <a:xfrm>
            <a:off x="4123944" y="2093975"/>
            <a:ext cx="923543" cy="356616"/>
          </a:xfrm>
          <a:prstGeom prst="rect">
            <a:avLst/>
          </a:prstGeom>
          <a:noFill/>
        </p:spPr>
        <p:txBody>
          <a:bodyPr wrap="none" lIns="36576" rIns="36576" tIns="36576" bIns="36576" anchor="ctr">
            <a:spAutoFit/>
          </a:bodyPr>
          <a:lstStyle/>
          <a:p>
            <a:pPr algn="ctr"/>
            <a:r>
              <a:rPr sz="1150" b="1">
                <a:solidFill>
                  <a:srgbClr val="142F26"/>
                </a:solidFill>
                <a:latin typeface="IBM Plex Sans"/>
              </a:rPr>
              <a:t>Urgencia</a:t>
            </a:r>
          </a:p>
        </p:txBody>
      </p:sp>
      <p:sp>
        <p:nvSpPr>
          <p:cNvPr id="11" name="TextBox 10"/>
          <p:cNvSpPr txBox="1"/>
          <p:nvPr/>
        </p:nvSpPr>
        <p:spPr>
          <a:xfrm>
            <a:off x="5175504" y="2093975"/>
            <a:ext cx="1408176" cy="356616"/>
          </a:xfrm>
          <a:prstGeom prst="rect">
            <a:avLst/>
          </a:prstGeom>
          <a:noFill/>
        </p:spPr>
        <p:txBody>
          <a:bodyPr wrap="none" lIns="36576" rIns="36576" tIns="36576" bIns="36576" anchor="ctr">
            <a:spAutoFit/>
          </a:bodyPr>
          <a:lstStyle/>
          <a:p>
            <a:pPr algn="ctr"/>
            <a:r>
              <a:rPr sz="1150" b="1">
                <a:solidFill>
                  <a:srgbClr val="142F26"/>
                </a:solidFill>
                <a:latin typeface="IBM Plex Sans"/>
              </a:rPr>
              <a:t>Iluminación</a:t>
            </a:r>
          </a:p>
        </p:txBody>
      </p:sp>
      <p:sp>
        <p:nvSpPr>
          <p:cNvPr id="12" name="TextBox 11"/>
          <p:cNvSpPr txBox="1"/>
          <p:nvPr/>
        </p:nvSpPr>
        <p:spPr>
          <a:xfrm>
            <a:off x="6711696" y="2093975"/>
            <a:ext cx="1408176" cy="356616"/>
          </a:xfrm>
          <a:prstGeom prst="rect">
            <a:avLst/>
          </a:prstGeom>
          <a:noFill/>
        </p:spPr>
        <p:txBody>
          <a:bodyPr wrap="none" lIns="36576" rIns="36576" tIns="36576" bIns="36576" anchor="ctr">
            <a:spAutoFit/>
          </a:bodyPr>
          <a:lstStyle/>
          <a:p>
            <a:pPr algn="ctr"/>
            <a:r>
              <a:rPr sz="1150" b="1">
                <a:solidFill>
                  <a:srgbClr val="142F26"/>
                </a:solidFill>
                <a:latin typeface="IBM Plex Sans"/>
              </a:rPr>
              <a:t>Encuadre</a:t>
            </a:r>
          </a:p>
        </p:txBody>
      </p:sp>
      <p:sp>
        <p:nvSpPr>
          <p:cNvPr id="13" name="TextBox 12"/>
          <p:cNvSpPr txBox="1"/>
          <p:nvPr/>
        </p:nvSpPr>
        <p:spPr>
          <a:xfrm>
            <a:off x="8247888" y="2093975"/>
            <a:ext cx="1408176" cy="356616"/>
          </a:xfrm>
          <a:prstGeom prst="rect">
            <a:avLst/>
          </a:prstGeom>
          <a:noFill/>
        </p:spPr>
        <p:txBody>
          <a:bodyPr wrap="none" lIns="36576" rIns="36576" tIns="36576" bIns="36576" anchor="ctr">
            <a:spAutoFit/>
          </a:bodyPr>
          <a:lstStyle/>
          <a:p>
            <a:pPr algn="ctr"/>
            <a:r>
              <a:rPr sz="1150" b="1">
                <a:solidFill>
                  <a:srgbClr val="142F26"/>
                </a:solidFill>
                <a:latin typeface="IBM Plex Sans"/>
              </a:rPr>
              <a:t>Posición</a:t>
            </a:r>
          </a:p>
        </p:txBody>
      </p:sp>
      <p:sp>
        <p:nvSpPr>
          <p:cNvPr id="14" name="TextBox 13"/>
          <p:cNvSpPr txBox="1"/>
          <p:nvPr/>
        </p:nvSpPr>
        <p:spPr>
          <a:xfrm>
            <a:off x="9784080" y="2093975"/>
            <a:ext cx="1408176" cy="356616"/>
          </a:xfrm>
          <a:prstGeom prst="rect">
            <a:avLst/>
          </a:prstGeom>
          <a:noFill/>
        </p:spPr>
        <p:txBody>
          <a:bodyPr wrap="none" lIns="36576" rIns="36576" tIns="36576" bIns="36576" anchor="ctr">
            <a:spAutoFit/>
          </a:bodyPr>
          <a:lstStyle/>
          <a:p>
            <a:pPr algn="ctr"/>
            <a:r>
              <a:rPr sz="1150" b="1">
                <a:solidFill>
                  <a:srgbClr val="142F26"/>
                </a:solidFill>
                <a:latin typeface="IBM Plex Sans"/>
              </a:rPr>
              <a:t>Limpieza</a:t>
            </a:r>
          </a:p>
        </p:txBody>
      </p:sp>
      <p:sp>
        <p:nvSpPr>
          <p:cNvPr id="15" name="Rectangle 14"/>
          <p:cNvSpPr/>
          <p:nvPr/>
        </p:nvSpPr>
        <p:spPr>
          <a:xfrm>
            <a:off x="813816" y="2478024"/>
            <a:ext cx="10442448" cy="411480"/>
          </a:xfrm>
          <a:prstGeom prst="rect">
            <a:avLst/>
          </a:prstGeom>
          <a:solidFill>
            <a:srgbClr val="FFFFFF"/>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496312"/>
            <a:ext cx="3099815" cy="374904"/>
          </a:xfrm>
          <a:prstGeom prst="rect">
            <a:avLst/>
          </a:prstGeom>
          <a:noFill/>
        </p:spPr>
        <p:txBody>
          <a:bodyPr wrap="none" lIns="36576" rIns="36576" tIns="36576" bIns="36576" anchor="ctr">
            <a:spAutoFit/>
          </a:bodyPr>
          <a:lstStyle/>
          <a:p>
            <a:pPr algn="l"/>
            <a:r>
              <a:rPr sz="1120" b="1">
                <a:solidFill>
                  <a:srgbClr val="142F26"/>
                </a:solidFill>
                <a:latin typeface="IBM Plex Sans"/>
              </a:rPr>
              <a:t>Balanza de egreso</a:t>
            </a:r>
          </a:p>
        </p:txBody>
      </p:sp>
      <p:sp>
        <p:nvSpPr>
          <p:cNvPr id="17" name="Rounded Rectangle 16"/>
          <p:cNvSpPr/>
          <p:nvPr/>
        </p:nvSpPr>
        <p:spPr>
          <a:xfrm>
            <a:off x="4187951" y="2542032"/>
            <a:ext cx="795527" cy="283464"/>
          </a:xfrm>
          <a:prstGeom prst="roundRect">
            <a:avLst/>
          </a:prstGeom>
          <a:solidFill>
            <a:srgbClr val="F8E1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06240" y="2542032"/>
            <a:ext cx="758951" cy="283464"/>
          </a:xfrm>
          <a:prstGeom prst="rect">
            <a:avLst/>
          </a:prstGeom>
          <a:noFill/>
        </p:spPr>
        <p:txBody>
          <a:bodyPr wrap="none" lIns="36576" rIns="36576" tIns="36576" bIns="36576" anchor="ctr">
            <a:spAutoFit/>
          </a:bodyPr>
          <a:lstStyle/>
          <a:p>
            <a:pPr algn="ctr"/>
            <a:r>
              <a:rPr sz="950" b="1">
                <a:solidFill>
                  <a:srgbClr val="B3261E"/>
                </a:solidFill>
                <a:latin typeface="IBM Plex Sans"/>
              </a:rPr>
              <a:t>Alta</a:t>
            </a:r>
          </a:p>
        </p:txBody>
      </p:sp>
      <p:sp>
        <p:nvSpPr>
          <p:cNvPr id="19" name="TextBox 18"/>
          <p:cNvSpPr txBox="1"/>
          <p:nvPr/>
        </p:nvSpPr>
        <p:spPr>
          <a:xfrm>
            <a:off x="5111496" y="2496312"/>
            <a:ext cx="1536192" cy="37490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20" name="Rounded Rectangle 19"/>
          <p:cNvSpPr/>
          <p:nvPr/>
        </p:nvSpPr>
        <p:spPr>
          <a:xfrm>
            <a:off x="7260336" y="2528316"/>
            <a:ext cx="310896" cy="310896"/>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0336" y="2528316"/>
            <a:ext cx="310896" cy="310896"/>
          </a:xfrm>
          <a:prstGeom prst="rect">
            <a:avLst/>
          </a:prstGeom>
          <a:noFill/>
        </p:spPr>
        <p:txBody>
          <a:bodyPr wrap="none" lIns="36576" rIns="36576" tIns="36576" bIns="36576" anchor="ctr">
            <a:spAutoFit/>
          </a:bodyPr>
          <a:lstStyle/>
          <a:p>
            <a:pPr algn="ctr"/>
            <a:r>
              <a:rPr sz="1500" b="1">
                <a:solidFill>
                  <a:srgbClr val="006444"/>
                </a:solidFill>
                <a:latin typeface="IBM Plex Sans"/>
              </a:rPr>
              <a:t>✓</a:t>
            </a:r>
          </a:p>
        </p:txBody>
      </p:sp>
      <p:sp>
        <p:nvSpPr>
          <p:cNvPr id="22" name="Rounded Rectangle 21"/>
          <p:cNvSpPr/>
          <p:nvPr/>
        </p:nvSpPr>
        <p:spPr>
          <a:xfrm>
            <a:off x="8796528" y="2528316"/>
            <a:ext cx="310896" cy="310896"/>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96528" y="2528316"/>
            <a:ext cx="310896" cy="310896"/>
          </a:xfrm>
          <a:prstGeom prst="rect">
            <a:avLst/>
          </a:prstGeom>
          <a:noFill/>
        </p:spPr>
        <p:txBody>
          <a:bodyPr wrap="none" lIns="36576" rIns="36576" tIns="36576" bIns="36576" anchor="ctr">
            <a:spAutoFit/>
          </a:bodyPr>
          <a:lstStyle/>
          <a:p>
            <a:pPr algn="ctr"/>
            <a:r>
              <a:rPr sz="1500" b="1">
                <a:solidFill>
                  <a:srgbClr val="006444"/>
                </a:solidFill>
                <a:latin typeface="IBM Plex Sans"/>
              </a:rPr>
              <a:t>✓</a:t>
            </a:r>
          </a:p>
        </p:txBody>
      </p:sp>
      <p:sp>
        <p:nvSpPr>
          <p:cNvPr id="24" name="TextBox 23"/>
          <p:cNvSpPr txBox="1"/>
          <p:nvPr/>
        </p:nvSpPr>
        <p:spPr>
          <a:xfrm>
            <a:off x="9720072" y="2496312"/>
            <a:ext cx="1536192" cy="37490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25" name="Rectangle 24"/>
          <p:cNvSpPr/>
          <p:nvPr/>
        </p:nvSpPr>
        <p:spPr>
          <a:xfrm>
            <a:off x="813816" y="2889503"/>
            <a:ext cx="10442448" cy="411480"/>
          </a:xfrm>
          <a:prstGeom prst="rect">
            <a:avLst/>
          </a:prstGeom>
          <a:solidFill>
            <a:srgbClr val="F7F9F7"/>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2907791"/>
            <a:ext cx="3099815" cy="374904"/>
          </a:xfrm>
          <a:prstGeom prst="rect">
            <a:avLst/>
          </a:prstGeom>
          <a:noFill/>
        </p:spPr>
        <p:txBody>
          <a:bodyPr wrap="none" lIns="36576" rIns="36576" tIns="36576" bIns="36576" anchor="ctr">
            <a:spAutoFit/>
          </a:bodyPr>
          <a:lstStyle/>
          <a:p>
            <a:pPr algn="l"/>
            <a:r>
              <a:rPr sz="1120" b="1">
                <a:solidFill>
                  <a:srgbClr val="142F26"/>
                </a:solidFill>
                <a:latin typeface="IBM Plex Sans"/>
              </a:rPr>
              <a:t>Volcables</a:t>
            </a:r>
          </a:p>
        </p:txBody>
      </p:sp>
      <p:sp>
        <p:nvSpPr>
          <p:cNvPr id="27" name="Rounded Rectangle 26"/>
          <p:cNvSpPr/>
          <p:nvPr/>
        </p:nvSpPr>
        <p:spPr>
          <a:xfrm>
            <a:off x="4187951" y="2953511"/>
            <a:ext cx="795527" cy="283464"/>
          </a:xfrm>
          <a:prstGeom prst="roundRect">
            <a:avLst/>
          </a:prstGeom>
          <a:solidFill>
            <a:srgbClr val="F8E1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06240" y="2953511"/>
            <a:ext cx="758951" cy="283464"/>
          </a:xfrm>
          <a:prstGeom prst="rect">
            <a:avLst/>
          </a:prstGeom>
          <a:noFill/>
        </p:spPr>
        <p:txBody>
          <a:bodyPr wrap="none" lIns="36576" rIns="36576" tIns="36576" bIns="36576" anchor="ctr">
            <a:spAutoFit/>
          </a:bodyPr>
          <a:lstStyle/>
          <a:p>
            <a:pPr algn="ctr"/>
            <a:r>
              <a:rPr sz="950" b="1">
                <a:solidFill>
                  <a:srgbClr val="B3261E"/>
                </a:solidFill>
                <a:latin typeface="IBM Plex Sans"/>
              </a:rPr>
              <a:t>Alta</a:t>
            </a:r>
          </a:p>
        </p:txBody>
      </p:sp>
      <p:sp>
        <p:nvSpPr>
          <p:cNvPr id="29" name="Rounded Rectangle 28"/>
          <p:cNvSpPr/>
          <p:nvPr/>
        </p:nvSpPr>
        <p:spPr>
          <a:xfrm>
            <a:off x="5724144" y="2939796"/>
            <a:ext cx="310896" cy="310896"/>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724144" y="2939796"/>
            <a:ext cx="310896" cy="310896"/>
          </a:xfrm>
          <a:prstGeom prst="rect">
            <a:avLst/>
          </a:prstGeom>
          <a:noFill/>
        </p:spPr>
        <p:txBody>
          <a:bodyPr wrap="none" lIns="36576" rIns="36576" tIns="36576" bIns="36576" anchor="ctr">
            <a:spAutoFit/>
          </a:bodyPr>
          <a:lstStyle/>
          <a:p>
            <a:pPr algn="ctr"/>
            <a:r>
              <a:rPr sz="1500" b="1">
                <a:solidFill>
                  <a:srgbClr val="006444"/>
                </a:solidFill>
                <a:latin typeface="IBM Plex Sans"/>
              </a:rPr>
              <a:t>✓</a:t>
            </a:r>
          </a:p>
        </p:txBody>
      </p:sp>
      <p:sp>
        <p:nvSpPr>
          <p:cNvPr id="31" name="TextBox 30"/>
          <p:cNvSpPr txBox="1"/>
          <p:nvPr/>
        </p:nvSpPr>
        <p:spPr>
          <a:xfrm>
            <a:off x="6647688" y="2907791"/>
            <a:ext cx="1536192" cy="37490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32" name="Rounded Rectangle 31"/>
          <p:cNvSpPr/>
          <p:nvPr/>
        </p:nvSpPr>
        <p:spPr>
          <a:xfrm>
            <a:off x="8796528" y="2939796"/>
            <a:ext cx="310896" cy="310896"/>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96528" y="2939796"/>
            <a:ext cx="310896" cy="310896"/>
          </a:xfrm>
          <a:prstGeom prst="rect">
            <a:avLst/>
          </a:prstGeom>
          <a:noFill/>
        </p:spPr>
        <p:txBody>
          <a:bodyPr wrap="none" lIns="36576" rIns="36576" tIns="36576" bIns="36576" anchor="ctr">
            <a:spAutoFit/>
          </a:bodyPr>
          <a:lstStyle/>
          <a:p>
            <a:pPr algn="ctr"/>
            <a:r>
              <a:rPr sz="1500" b="1">
                <a:solidFill>
                  <a:srgbClr val="006444"/>
                </a:solidFill>
                <a:latin typeface="IBM Plex Sans"/>
              </a:rPr>
              <a:t>✓</a:t>
            </a:r>
          </a:p>
        </p:txBody>
      </p:sp>
      <p:sp>
        <p:nvSpPr>
          <p:cNvPr id="34" name="Rounded Rectangle 33"/>
          <p:cNvSpPr/>
          <p:nvPr/>
        </p:nvSpPr>
        <p:spPr>
          <a:xfrm>
            <a:off x="10332719" y="2939796"/>
            <a:ext cx="310896" cy="310896"/>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19" y="2939796"/>
            <a:ext cx="310896" cy="310896"/>
          </a:xfrm>
          <a:prstGeom prst="rect">
            <a:avLst/>
          </a:prstGeom>
          <a:noFill/>
        </p:spPr>
        <p:txBody>
          <a:bodyPr wrap="none" lIns="36576" rIns="36576" tIns="36576" bIns="36576" anchor="ctr">
            <a:spAutoFit/>
          </a:bodyPr>
          <a:lstStyle/>
          <a:p>
            <a:pPr algn="ctr"/>
            <a:r>
              <a:rPr sz="1500" b="1">
                <a:solidFill>
                  <a:srgbClr val="006444"/>
                </a:solidFill>
                <a:latin typeface="IBM Plex Sans"/>
              </a:rPr>
              <a:t>✓</a:t>
            </a:r>
          </a:p>
        </p:txBody>
      </p:sp>
      <p:sp>
        <p:nvSpPr>
          <p:cNvPr id="36" name="Rectangle 35"/>
          <p:cNvSpPr/>
          <p:nvPr/>
        </p:nvSpPr>
        <p:spPr>
          <a:xfrm>
            <a:off x="813816" y="3300984"/>
            <a:ext cx="10442448" cy="411480"/>
          </a:xfrm>
          <a:prstGeom prst="rect">
            <a:avLst/>
          </a:prstGeom>
          <a:solidFill>
            <a:srgbClr val="FFFFFF"/>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6968" y="3319272"/>
            <a:ext cx="3099815" cy="374904"/>
          </a:xfrm>
          <a:prstGeom prst="rect">
            <a:avLst/>
          </a:prstGeom>
          <a:noFill/>
        </p:spPr>
        <p:txBody>
          <a:bodyPr wrap="none" lIns="36576" rIns="36576" tIns="36576" bIns="36576" anchor="ctr">
            <a:spAutoFit/>
          </a:bodyPr>
          <a:lstStyle/>
          <a:p>
            <a:pPr algn="l"/>
            <a:r>
              <a:rPr sz="1120" b="1">
                <a:solidFill>
                  <a:srgbClr val="142F26"/>
                </a:solidFill>
                <a:latin typeface="IBM Plex Sans"/>
              </a:rPr>
              <a:t>Balanza de ingreso</a:t>
            </a:r>
          </a:p>
        </p:txBody>
      </p:sp>
      <p:sp>
        <p:nvSpPr>
          <p:cNvPr id="38" name="Rounded Rectangle 37"/>
          <p:cNvSpPr/>
          <p:nvPr/>
        </p:nvSpPr>
        <p:spPr>
          <a:xfrm>
            <a:off x="4187951" y="3364991"/>
            <a:ext cx="795527" cy="283464"/>
          </a:xfrm>
          <a:prstGeom prst="roundRect">
            <a:avLst/>
          </a:prstGeom>
          <a:solidFill>
            <a:srgbClr val="F8E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06240" y="3364991"/>
            <a:ext cx="758951" cy="283464"/>
          </a:xfrm>
          <a:prstGeom prst="rect">
            <a:avLst/>
          </a:prstGeom>
          <a:noFill/>
        </p:spPr>
        <p:txBody>
          <a:bodyPr wrap="none" lIns="36576" rIns="36576" tIns="36576" bIns="36576" anchor="ctr">
            <a:spAutoFit/>
          </a:bodyPr>
          <a:lstStyle/>
          <a:p>
            <a:pPr algn="ctr"/>
            <a:r>
              <a:rPr sz="950" b="1">
                <a:solidFill>
                  <a:srgbClr val="8B5E0A"/>
                </a:solidFill>
                <a:latin typeface="IBM Plex Sans"/>
              </a:rPr>
              <a:t>Media</a:t>
            </a:r>
          </a:p>
        </p:txBody>
      </p:sp>
      <p:sp>
        <p:nvSpPr>
          <p:cNvPr id="40" name="Rounded Rectangle 39"/>
          <p:cNvSpPr/>
          <p:nvPr/>
        </p:nvSpPr>
        <p:spPr>
          <a:xfrm>
            <a:off x="5724144" y="3351276"/>
            <a:ext cx="310896" cy="310896"/>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724144" y="3351276"/>
            <a:ext cx="310896" cy="310896"/>
          </a:xfrm>
          <a:prstGeom prst="rect">
            <a:avLst/>
          </a:prstGeom>
          <a:noFill/>
        </p:spPr>
        <p:txBody>
          <a:bodyPr wrap="none" lIns="36576" rIns="36576" tIns="36576" bIns="36576" anchor="ctr">
            <a:spAutoFit/>
          </a:bodyPr>
          <a:lstStyle/>
          <a:p>
            <a:pPr algn="ctr"/>
            <a:r>
              <a:rPr sz="1500" b="1">
                <a:solidFill>
                  <a:srgbClr val="006444"/>
                </a:solidFill>
                <a:latin typeface="IBM Plex Sans"/>
              </a:rPr>
              <a:t>✓</a:t>
            </a:r>
          </a:p>
        </p:txBody>
      </p:sp>
      <p:sp>
        <p:nvSpPr>
          <p:cNvPr id="42" name="TextBox 41"/>
          <p:cNvSpPr txBox="1"/>
          <p:nvPr/>
        </p:nvSpPr>
        <p:spPr>
          <a:xfrm>
            <a:off x="6647688" y="3319272"/>
            <a:ext cx="1536192" cy="37490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43" name="Rounded Rectangle 42"/>
          <p:cNvSpPr/>
          <p:nvPr/>
        </p:nvSpPr>
        <p:spPr>
          <a:xfrm>
            <a:off x="8796528" y="3351276"/>
            <a:ext cx="310896" cy="310896"/>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796528" y="3351276"/>
            <a:ext cx="310896" cy="310896"/>
          </a:xfrm>
          <a:prstGeom prst="rect">
            <a:avLst/>
          </a:prstGeom>
          <a:noFill/>
        </p:spPr>
        <p:txBody>
          <a:bodyPr wrap="none" lIns="36576" rIns="36576" tIns="36576" bIns="36576" anchor="ctr">
            <a:spAutoFit/>
          </a:bodyPr>
          <a:lstStyle/>
          <a:p>
            <a:pPr algn="ctr"/>
            <a:r>
              <a:rPr sz="1500" b="1">
                <a:solidFill>
                  <a:srgbClr val="006444"/>
                </a:solidFill>
                <a:latin typeface="IBM Plex Sans"/>
              </a:rPr>
              <a:t>✓</a:t>
            </a:r>
          </a:p>
        </p:txBody>
      </p:sp>
      <p:sp>
        <p:nvSpPr>
          <p:cNvPr id="45" name="TextBox 44"/>
          <p:cNvSpPr txBox="1"/>
          <p:nvPr/>
        </p:nvSpPr>
        <p:spPr>
          <a:xfrm>
            <a:off x="9720072" y="3319272"/>
            <a:ext cx="1536192" cy="37490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46" name="Rectangle 45"/>
          <p:cNvSpPr/>
          <p:nvPr/>
        </p:nvSpPr>
        <p:spPr>
          <a:xfrm>
            <a:off x="813816" y="3712463"/>
            <a:ext cx="10442448" cy="411480"/>
          </a:xfrm>
          <a:prstGeom prst="rect">
            <a:avLst/>
          </a:prstGeom>
          <a:solidFill>
            <a:srgbClr val="F7F9F7"/>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86968" y="3730751"/>
            <a:ext cx="3099815" cy="374904"/>
          </a:xfrm>
          <a:prstGeom prst="rect">
            <a:avLst/>
          </a:prstGeom>
          <a:noFill/>
        </p:spPr>
        <p:txBody>
          <a:bodyPr wrap="none" lIns="36576" rIns="36576" tIns="36576" bIns="36576" anchor="ctr">
            <a:spAutoFit/>
          </a:bodyPr>
          <a:lstStyle/>
          <a:p>
            <a:pPr algn="l"/>
            <a:r>
              <a:rPr sz="1120" b="1">
                <a:solidFill>
                  <a:srgbClr val="142F26"/>
                </a:solidFill>
                <a:latin typeface="IBM Plex Sans"/>
              </a:rPr>
              <a:t>Ingreso</a:t>
            </a:r>
          </a:p>
        </p:txBody>
      </p:sp>
      <p:sp>
        <p:nvSpPr>
          <p:cNvPr id="48" name="Rounded Rectangle 47"/>
          <p:cNvSpPr/>
          <p:nvPr/>
        </p:nvSpPr>
        <p:spPr>
          <a:xfrm>
            <a:off x="4187951" y="3776472"/>
            <a:ext cx="795527" cy="283464"/>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206240" y="3776472"/>
            <a:ext cx="758951" cy="283464"/>
          </a:xfrm>
          <a:prstGeom prst="rect">
            <a:avLst/>
          </a:prstGeom>
          <a:noFill/>
        </p:spPr>
        <p:txBody>
          <a:bodyPr wrap="none" lIns="36576" rIns="36576" tIns="36576" bIns="36576" anchor="ctr">
            <a:spAutoFit/>
          </a:bodyPr>
          <a:lstStyle/>
          <a:p>
            <a:pPr algn="ctr"/>
            <a:r>
              <a:rPr sz="950" b="1">
                <a:solidFill>
                  <a:srgbClr val="006444"/>
                </a:solidFill>
                <a:latin typeface="IBM Plex Sans"/>
              </a:rPr>
              <a:t>Baja</a:t>
            </a:r>
          </a:p>
        </p:txBody>
      </p:sp>
      <p:sp>
        <p:nvSpPr>
          <p:cNvPr id="50" name="Rounded Rectangle 49"/>
          <p:cNvSpPr/>
          <p:nvPr/>
        </p:nvSpPr>
        <p:spPr>
          <a:xfrm>
            <a:off x="5724144" y="3762755"/>
            <a:ext cx="310896" cy="310896"/>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724144" y="3762755"/>
            <a:ext cx="310896" cy="310896"/>
          </a:xfrm>
          <a:prstGeom prst="rect">
            <a:avLst/>
          </a:prstGeom>
          <a:noFill/>
        </p:spPr>
        <p:txBody>
          <a:bodyPr wrap="none" lIns="36576" rIns="36576" tIns="36576" bIns="36576" anchor="ctr">
            <a:spAutoFit/>
          </a:bodyPr>
          <a:lstStyle/>
          <a:p>
            <a:pPr algn="ctr"/>
            <a:r>
              <a:rPr sz="1500" b="1">
                <a:solidFill>
                  <a:srgbClr val="006444"/>
                </a:solidFill>
                <a:latin typeface="IBM Plex Sans"/>
              </a:rPr>
              <a:t>✓</a:t>
            </a:r>
          </a:p>
        </p:txBody>
      </p:sp>
      <p:sp>
        <p:nvSpPr>
          <p:cNvPr id="52" name="TextBox 51"/>
          <p:cNvSpPr txBox="1"/>
          <p:nvPr/>
        </p:nvSpPr>
        <p:spPr>
          <a:xfrm>
            <a:off x="6647688" y="3730751"/>
            <a:ext cx="1536192" cy="37490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53" name="TextBox 52"/>
          <p:cNvSpPr txBox="1"/>
          <p:nvPr/>
        </p:nvSpPr>
        <p:spPr>
          <a:xfrm>
            <a:off x="8183879" y="3730751"/>
            <a:ext cx="1536192" cy="37490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54" name="TextBox 53"/>
          <p:cNvSpPr txBox="1"/>
          <p:nvPr/>
        </p:nvSpPr>
        <p:spPr>
          <a:xfrm>
            <a:off x="9720072" y="3730751"/>
            <a:ext cx="1536192" cy="37490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55" name="Rectangle 54"/>
          <p:cNvSpPr/>
          <p:nvPr/>
        </p:nvSpPr>
        <p:spPr>
          <a:xfrm>
            <a:off x="813816" y="4123944"/>
            <a:ext cx="10442448" cy="411480"/>
          </a:xfrm>
          <a:prstGeom prst="rect">
            <a:avLst/>
          </a:prstGeom>
          <a:solidFill>
            <a:srgbClr val="FFFFFF"/>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86968" y="4142231"/>
            <a:ext cx="3099815" cy="374904"/>
          </a:xfrm>
          <a:prstGeom prst="rect">
            <a:avLst/>
          </a:prstGeom>
          <a:noFill/>
        </p:spPr>
        <p:txBody>
          <a:bodyPr wrap="none" lIns="36576" rIns="36576" tIns="36576" bIns="36576" anchor="ctr">
            <a:spAutoFit/>
          </a:bodyPr>
          <a:lstStyle/>
          <a:p>
            <a:pPr algn="l"/>
            <a:r>
              <a:rPr sz="1120" b="1">
                <a:solidFill>
                  <a:srgbClr val="142F26"/>
                </a:solidFill>
                <a:latin typeface="IBM Plex Sans"/>
              </a:rPr>
              <a:t>Carga OSL</a:t>
            </a:r>
          </a:p>
        </p:txBody>
      </p:sp>
      <p:sp>
        <p:nvSpPr>
          <p:cNvPr id="57" name="Rounded Rectangle 56"/>
          <p:cNvSpPr/>
          <p:nvPr/>
        </p:nvSpPr>
        <p:spPr>
          <a:xfrm>
            <a:off x="4187951" y="4187952"/>
            <a:ext cx="795527" cy="283464"/>
          </a:xfrm>
          <a:prstGeom prst="roundRect">
            <a:avLst/>
          </a:prstGeom>
          <a:solidFill>
            <a:srgbClr val="F8E1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206240" y="4187952"/>
            <a:ext cx="758951" cy="283464"/>
          </a:xfrm>
          <a:prstGeom prst="rect">
            <a:avLst/>
          </a:prstGeom>
          <a:noFill/>
        </p:spPr>
        <p:txBody>
          <a:bodyPr wrap="none" lIns="36576" rIns="36576" tIns="36576" bIns="36576" anchor="ctr">
            <a:spAutoFit/>
          </a:bodyPr>
          <a:lstStyle/>
          <a:p>
            <a:pPr algn="ctr"/>
            <a:r>
              <a:rPr sz="950" b="1">
                <a:solidFill>
                  <a:srgbClr val="B3261E"/>
                </a:solidFill>
                <a:latin typeface="IBM Plex Sans"/>
              </a:rPr>
              <a:t>Alta</a:t>
            </a:r>
          </a:p>
        </p:txBody>
      </p:sp>
      <p:sp>
        <p:nvSpPr>
          <p:cNvPr id="59" name="Rounded Rectangle 58"/>
          <p:cNvSpPr/>
          <p:nvPr/>
        </p:nvSpPr>
        <p:spPr>
          <a:xfrm>
            <a:off x="5724144" y="4174235"/>
            <a:ext cx="310896" cy="310896"/>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724144" y="4174235"/>
            <a:ext cx="310896" cy="310896"/>
          </a:xfrm>
          <a:prstGeom prst="rect">
            <a:avLst/>
          </a:prstGeom>
          <a:noFill/>
        </p:spPr>
        <p:txBody>
          <a:bodyPr wrap="none" lIns="36576" rIns="36576" tIns="36576" bIns="36576" anchor="ctr">
            <a:spAutoFit/>
          </a:bodyPr>
          <a:lstStyle/>
          <a:p>
            <a:pPr algn="ctr"/>
            <a:r>
              <a:rPr sz="1500" b="1">
                <a:solidFill>
                  <a:srgbClr val="006444"/>
                </a:solidFill>
                <a:latin typeface="IBM Plex Sans"/>
              </a:rPr>
              <a:t>✓</a:t>
            </a:r>
          </a:p>
        </p:txBody>
      </p:sp>
      <p:sp>
        <p:nvSpPr>
          <p:cNvPr id="61" name="Rounded Rectangle 60"/>
          <p:cNvSpPr/>
          <p:nvPr/>
        </p:nvSpPr>
        <p:spPr>
          <a:xfrm>
            <a:off x="7260336" y="4174235"/>
            <a:ext cx="310896" cy="310896"/>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60336" y="4174235"/>
            <a:ext cx="310896" cy="310896"/>
          </a:xfrm>
          <a:prstGeom prst="rect">
            <a:avLst/>
          </a:prstGeom>
          <a:noFill/>
        </p:spPr>
        <p:txBody>
          <a:bodyPr wrap="none" lIns="36576" rIns="36576" tIns="36576" bIns="36576" anchor="ctr">
            <a:spAutoFit/>
          </a:bodyPr>
          <a:lstStyle/>
          <a:p>
            <a:pPr algn="ctr"/>
            <a:r>
              <a:rPr sz="1500" b="1">
                <a:solidFill>
                  <a:srgbClr val="006444"/>
                </a:solidFill>
                <a:latin typeface="IBM Plex Sans"/>
              </a:rPr>
              <a:t>✓</a:t>
            </a:r>
          </a:p>
        </p:txBody>
      </p:sp>
      <p:sp>
        <p:nvSpPr>
          <p:cNvPr id="63" name="TextBox 62"/>
          <p:cNvSpPr txBox="1"/>
          <p:nvPr/>
        </p:nvSpPr>
        <p:spPr>
          <a:xfrm>
            <a:off x="8183879" y="4142231"/>
            <a:ext cx="1536192" cy="37490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64" name="TextBox 63"/>
          <p:cNvSpPr txBox="1"/>
          <p:nvPr/>
        </p:nvSpPr>
        <p:spPr>
          <a:xfrm>
            <a:off x="9720072" y="4142231"/>
            <a:ext cx="1536192" cy="37490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65" name="Rectangle 64"/>
          <p:cNvSpPr/>
          <p:nvPr/>
        </p:nvSpPr>
        <p:spPr>
          <a:xfrm>
            <a:off x="813816" y="4535424"/>
            <a:ext cx="10442448" cy="411480"/>
          </a:xfrm>
          <a:prstGeom prst="rect">
            <a:avLst/>
          </a:prstGeom>
          <a:solidFill>
            <a:srgbClr val="F7F9F7"/>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86968" y="4553712"/>
            <a:ext cx="3099815" cy="374904"/>
          </a:xfrm>
          <a:prstGeom prst="rect">
            <a:avLst/>
          </a:prstGeom>
          <a:noFill/>
        </p:spPr>
        <p:txBody>
          <a:bodyPr wrap="none" lIns="36576" rIns="36576" tIns="36576" bIns="36576" anchor="ctr">
            <a:spAutoFit/>
          </a:bodyPr>
          <a:lstStyle/>
          <a:p>
            <a:pPr algn="l"/>
            <a:r>
              <a:rPr sz="1120" b="1">
                <a:solidFill>
                  <a:srgbClr val="142F26"/>
                </a:solidFill>
                <a:latin typeface="IBM Plex Sans"/>
              </a:rPr>
              <a:t>Líquidos</a:t>
            </a:r>
          </a:p>
        </p:txBody>
      </p:sp>
      <p:sp>
        <p:nvSpPr>
          <p:cNvPr id="67" name="Rounded Rectangle 66"/>
          <p:cNvSpPr/>
          <p:nvPr/>
        </p:nvSpPr>
        <p:spPr>
          <a:xfrm>
            <a:off x="4187951" y="4599432"/>
            <a:ext cx="795527" cy="283464"/>
          </a:xfrm>
          <a:prstGeom prst="roundRect">
            <a:avLst/>
          </a:prstGeom>
          <a:solidFill>
            <a:srgbClr val="F8E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206240" y="4599432"/>
            <a:ext cx="758951" cy="283464"/>
          </a:xfrm>
          <a:prstGeom prst="rect">
            <a:avLst/>
          </a:prstGeom>
          <a:noFill/>
        </p:spPr>
        <p:txBody>
          <a:bodyPr wrap="none" lIns="36576" rIns="36576" tIns="36576" bIns="36576" anchor="ctr">
            <a:spAutoFit/>
          </a:bodyPr>
          <a:lstStyle/>
          <a:p>
            <a:pPr algn="ctr"/>
            <a:r>
              <a:rPr sz="950" b="1">
                <a:solidFill>
                  <a:srgbClr val="8B5E0A"/>
                </a:solidFill>
                <a:latin typeface="IBM Plex Sans"/>
              </a:rPr>
              <a:t>Media</a:t>
            </a:r>
          </a:p>
        </p:txBody>
      </p:sp>
      <p:sp>
        <p:nvSpPr>
          <p:cNvPr id="69" name="TextBox 68"/>
          <p:cNvSpPr txBox="1"/>
          <p:nvPr/>
        </p:nvSpPr>
        <p:spPr>
          <a:xfrm>
            <a:off x="5111496" y="4553712"/>
            <a:ext cx="1536192" cy="37490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70" name="Rounded Rectangle 69"/>
          <p:cNvSpPr/>
          <p:nvPr/>
        </p:nvSpPr>
        <p:spPr>
          <a:xfrm>
            <a:off x="7260336" y="4585716"/>
            <a:ext cx="310896" cy="310896"/>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260336" y="4585716"/>
            <a:ext cx="310896" cy="310896"/>
          </a:xfrm>
          <a:prstGeom prst="rect">
            <a:avLst/>
          </a:prstGeom>
          <a:noFill/>
        </p:spPr>
        <p:txBody>
          <a:bodyPr wrap="none" lIns="36576" rIns="36576" tIns="36576" bIns="36576" anchor="ctr">
            <a:spAutoFit/>
          </a:bodyPr>
          <a:lstStyle/>
          <a:p>
            <a:pPr algn="ctr"/>
            <a:r>
              <a:rPr sz="1500" b="1">
                <a:solidFill>
                  <a:srgbClr val="006444"/>
                </a:solidFill>
                <a:latin typeface="IBM Plex Sans"/>
              </a:rPr>
              <a:t>✓</a:t>
            </a:r>
          </a:p>
        </p:txBody>
      </p:sp>
      <p:sp>
        <p:nvSpPr>
          <p:cNvPr id="72" name="Rounded Rectangle 71"/>
          <p:cNvSpPr/>
          <p:nvPr/>
        </p:nvSpPr>
        <p:spPr>
          <a:xfrm>
            <a:off x="8796528" y="4585716"/>
            <a:ext cx="310896" cy="310896"/>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796528" y="4585716"/>
            <a:ext cx="310896" cy="310896"/>
          </a:xfrm>
          <a:prstGeom prst="rect">
            <a:avLst/>
          </a:prstGeom>
          <a:noFill/>
        </p:spPr>
        <p:txBody>
          <a:bodyPr wrap="none" lIns="36576" rIns="36576" tIns="36576" bIns="36576" anchor="ctr">
            <a:spAutoFit/>
          </a:bodyPr>
          <a:lstStyle/>
          <a:p>
            <a:pPr algn="ctr"/>
            <a:r>
              <a:rPr sz="1500" b="1">
                <a:solidFill>
                  <a:srgbClr val="006444"/>
                </a:solidFill>
                <a:latin typeface="IBM Plex Sans"/>
              </a:rPr>
              <a:t>✓</a:t>
            </a:r>
          </a:p>
        </p:txBody>
      </p:sp>
      <p:sp>
        <p:nvSpPr>
          <p:cNvPr id="74" name="TextBox 73"/>
          <p:cNvSpPr txBox="1"/>
          <p:nvPr/>
        </p:nvSpPr>
        <p:spPr>
          <a:xfrm>
            <a:off x="9720072" y="4553712"/>
            <a:ext cx="1536192" cy="37490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75" name="Rectangle 74"/>
          <p:cNvSpPr/>
          <p:nvPr/>
        </p:nvSpPr>
        <p:spPr>
          <a:xfrm>
            <a:off x="813816" y="4946904"/>
            <a:ext cx="10442448" cy="411480"/>
          </a:xfrm>
          <a:prstGeom prst="rect">
            <a:avLst/>
          </a:prstGeom>
          <a:solidFill>
            <a:srgbClr val="FFFFFF"/>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86968" y="4965192"/>
            <a:ext cx="3099815" cy="374904"/>
          </a:xfrm>
          <a:prstGeom prst="rect">
            <a:avLst/>
          </a:prstGeom>
          <a:noFill/>
        </p:spPr>
        <p:txBody>
          <a:bodyPr wrap="none" lIns="36576" rIns="36576" tIns="36576" bIns="36576" anchor="ctr">
            <a:spAutoFit/>
          </a:bodyPr>
          <a:lstStyle/>
          <a:p>
            <a:pPr algn="l"/>
            <a:r>
              <a:rPr sz="1120" b="1">
                <a:solidFill>
                  <a:srgbClr val="142F26"/>
                </a:solidFill>
                <a:latin typeface="IBM Plex Sans"/>
              </a:rPr>
              <a:t>Egreso</a:t>
            </a:r>
          </a:p>
        </p:txBody>
      </p:sp>
      <p:sp>
        <p:nvSpPr>
          <p:cNvPr id="77" name="Rounded Rectangle 76"/>
          <p:cNvSpPr/>
          <p:nvPr/>
        </p:nvSpPr>
        <p:spPr>
          <a:xfrm>
            <a:off x="4187951" y="5010912"/>
            <a:ext cx="795527" cy="283464"/>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206240" y="5010912"/>
            <a:ext cx="758951" cy="283464"/>
          </a:xfrm>
          <a:prstGeom prst="rect">
            <a:avLst/>
          </a:prstGeom>
          <a:noFill/>
        </p:spPr>
        <p:txBody>
          <a:bodyPr wrap="none" lIns="36576" rIns="36576" tIns="36576" bIns="36576" anchor="ctr">
            <a:spAutoFit/>
          </a:bodyPr>
          <a:lstStyle/>
          <a:p>
            <a:pPr algn="ctr"/>
            <a:r>
              <a:rPr sz="950" b="1">
                <a:solidFill>
                  <a:srgbClr val="006444"/>
                </a:solidFill>
                <a:latin typeface="IBM Plex Sans"/>
              </a:rPr>
              <a:t>Baja</a:t>
            </a:r>
          </a:p>
        </p:txBody>
      </p:sp>
      <p:sp>
        <p:nvSpPr>
          <p:cNvPr id="79" name="TextBox 78"/>
          <p:cNvSpPr txBox="1"/>
          <p:nvPr/>
        </p:nvSpPr>
        <p:spPr>
          <a:xfrm>
            <a:off x="5111496" y="4965192"/>
            <a:ext cx="1536192" cy="37490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80" name="TextBox 79"/>
          <p:cNvSpPr txBox="1"/>
          <p:nvPr/>
        </p:nvSpPr>
        <p:spPr>
          <a:xfrm>
            <a:off x="6647688" y="4965192"/>
            <a:ext cx="1536192" cy="37490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81" name="Rounded Rectangle 80"/>
          <p:cNvSpPr/>
          <p:nvPr/>
        </p:nvSpPr>
        <p:spPr>
          <a:xfrm>
            <a:off x="8796528" y="4997196"/>
            <a:ext cx="310896" cy="310896"/>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796528" y="4997196"/>
            <a:ext cx="310896" cy="310896"/>
          </a:xfrm>
          <a:prstGeom prst="rect">
            <a:avLst/>
          </a:prstGeom>
          <a:noFill/>
        </p:spPr>
        <p:txBody>
          <a:bodyPr wrap="none" lIns="36576" rIns="36576" tIns="36576" bIns="36576" anchor="ctr">
            <a:spAutoFit/>
          </a:bodyPr>
          <a:lstStyle/>
          <a:p>
            <a:pPr algn="ctr"/>
            <a:r>
              <a:rPr sz="1500" b="1">
                <a:solidFill>
                  <a:srgbClr val="006444"/>
                </a:solidFill>
                <a:latin typeface="IBM Plex Sans"/>
              </a:rPr>
              <a:t>✓</a:t>
            </a:r>
          </a:p>
        </p:txBody>
      </p:sp>
      <p:sp>
        <p:nvSpPr>
          <p:cNvPr id="83" name="Rounded Rectangle 82"/>
          <p:cNvSpPr/>
          <p:nvPr/>
        </p:nvSpPr>
        <p:spPr>
          <a:xfrm>
            <a:off x="10332719" y="4997196"/>
            <a:ext cx="310896" cy="310896"/>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0332719" y="4997196"/>
            <a:ext cx="310896" cy="310896"/>
          </a:xfrm>
          <a:prstGeom prst="rect">
            <a:avLst/>
          </a:prstGeom>
          <a:noFill/>
        </p:spPr>
        <p:txBody>
          <a:bodyPr wrap="none" lIns="36576" rIns="36576" tIns="36576" bIns="36576" anchor="ctr">
            <a:spAutoFit/>
          </a:bodyPr>
          <a:lstStyle/>
          <a:p>
            <a:pPr algn="ctr"/>
            <a:r>
              <a:rPr sz="1500" b="1">
                <a:solidFill>
                  <a:srgbClr val="006444"/>
                </a:solidFill>
                <a:latin typeface="IBM Plex Sans"/>
              </a:rPr>
              <a:t>✓</a:t>
            </a:r>
          </a:p>
        </p:txBody>
      </p:sp>
      <p:pic>
        <p:nvPicPr>
          <p:cNvPr id="55"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56"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
        <p:nvSpPr>
          <p:cNvPr id="85" name="TextBox 84"/>
          <p:cNvSpPr txBox="1"/>
          <p:nvPr/>
        </p:nvSpPr>
        <p:spPr>
          <a:xfrm>
            <a:off x="1645920" y="6181344"/>
            <a:ext cx="8641080" cy="310896"/>
          </a:xfrm>
          <a:prstGeom prst="rect">
            <a:avLst/>
          </a:prstGeom>
          <a:noFill/>
        </p:spPr>
        <p:txBody>
          <a:bodyPr wrap="none" lIns="36576" rIns="36576" tIns="36576" bIns="36576" anchor="ctr">
            <a:spAutoFit/>
          </a:bodyPr>
          <a:lstStyle/>
          <a:p>
            <a:pPr algn="ctr"/>
            <a:r>
              <a:rPr sz="890" b="0">
                <a:solidFill>
                  <a:srgbClr val="5B6962"/>
                </a:solidFill>
                <a:latin typeface="IBM Plex Sans"/>
              </a:rPr>
              <a:t>Urgencia: peor lectura del sector · Alta &lt;65 % · Media 65–79 % · Baja ≥80 % · El bajo volumen no penaliza</a:t>
            </a:r>
          </a:p>
        </p:txBody>
      </p:sp>
      <p:sp>
        <p:nvSpPr>
          <p:cNvPr id="86" name="TextBox 85"/>
          <p:cNvSpPr txBox="1"/>
          <p:nvPr/>
        </p:nvSpPr>
        <p:spPr>
          <a:xfrm>
            <a:off x="11384280" y="6199632"/>
            <a:ext cx="201168" cy="256032"/>
          </a:xfrm>
          <a:prstGeom prst="rect">
            <a:avLst/>
          </a:prstGeom>
          <a:noFill/>
        </p:spPr>
        <p:txBody>
          <a:bodyPr wrap="none" lIns="36576" rIns="36576" tIns="36576" bIns="36576" anchor="ctr">
            <a:spAutoFit/>
          </a:bodyPr>
          <a:lstStyle/>
          <a:p>
            <a:pPr algn="r"/>
            <a:r>
              <a:rPr sz="1000" b="0">
                <a:solidFill>
                  <a:srgbClr val="5B6962"/>
                </a:solidFill>
                <a:latin typeface="IBM Plex Sans"/>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4"/>
        </a:solidFill>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CFD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13816" y="694944"/>
            <a:ext cx="2148840" cy="310896"/>
          </a:xfrm>
          <a:prstGeom prst="roundRect">
            <a:avLst>
              <a:gd name="adj" fmla="val 18000"/>
            </a:avLst>
          </a:prstGeom>
          <a:solidFill>
            <a:srgbClr val="006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722376"/>
            <a:ext cx="1947672" cy="237744"/>
          </a:xfrm>
          <a:prstGeom prst="rect">
            <a:avLst/>
          </a:prstGeom>
          <a:noFill/>
        </p:spPr>
        <p:txBody>
          <a:bodyPr wrap="none" lIns="36576" rIns="36576" tIns="36576" bIns="36576" anchor="ctr">
            <a:spAutoFit/>
          </a:bodyPr>
          <a:lstStyle/>
          <a:p>
            <a:pPr algn="l"/>
            <a:r>
              <a:rPr sz="1100" b="1">
                <a:solidFill>
                  <a:srgbClr val="FFFFFF"/>
                </a:solidFill>
                <a:latin typeface="IBM Plex Sans"/>
              </a:rPr>
              <a:t>SEGUIMIENTO POR SECTOR</a:t>
            </a:r>
          </a:p>
        </p:txBody>
      </p:sp>
      <p:sp>
        <p:nvSpPr>
          <p:cNvPr id="5" name="TextBox 4"/>
          <p:cNvSpPr txBox="1"/>
          <p:nvPr/>
        </p:nvSpPr>
        <p:spPr>
          <a:xfrm>
            <a:off x="3127248" y="722376"/>
            <a:ext cx="2011680" cy="237744"/>
          </a:xfrm>
          <a:prstGeom prst="rect">
            <a:avLst/>
          </a:prstGeom>
          <a:noFill/>
        </p:spPr>
        <p:txBody>
          <a:bodyPr wrap="none" lIns="36576" rIns="36576" tIns="36576" bIns="36576" anchor="ctr">
            <a:spAutoFit/>
          </a:bodyPr>
          <a:lstStyle/>
          <a:p>
            <a:pPr algn="l"/>
            <a:r>
              <a:rPr sz="1100" b="1">
                <a:solidFill>
                  <a:srgbClr val="006444"/>
                </a:solidFill>
                <a:latin typeface="IBM Plex Sans"/>
              </a:rPr>
              <a:t>Ricardone</a:t>
            </a:r>
          </a:p>
        </p:txBody>
      </p:sp>
      <p:sp>
        <p:nvSpPr>
          <p:cNvPr id="6" name="TextBox 5"/>
          <p:cNvSpPr txBox="1"/>
          <p:nvPr/>
        </p:nvSpPr>
        <p:spPr>
          <a:xfrm>
            <a:off x="813816" y="1078992"/>
            <a:ext cx="10789920" cy="475488"/>
          </a:xfrm>
          <a:prstGeom prst="rect">
            <a:avLst/>
          </a:prstGeom>
          <a:noFill/>
        </p:spPr>
        <p:txBody>
          <a:bodyPr wrap="none" lIns="36576" rIns="36576" tIns="36576" bIns="36576" anchor="ctr">
            <a:spAutoFit/>
          </a:bodyPr>
          <a:lstStyle/>
          <a:p>
            <a:pPr algn="l"/>
            <a:r>
              <a:rPr sz="2800" b="1">
                <a:solidFill>
                  <a:srgbClr val="142F26"/>
                </a:solidFill>
                <a:latin typeface="IBM Plex Sans"/>
              </a:rPr>
              <a:t>Cuatro controles para priorizar las correcciones</a:t>
            </a:r>
          </a:p>
        </p:txBody>
      </p:sp>
      <p:sp>
        <p:nvSpPr>
          <p:cNvPr id="7" name="TextBox 6"/>
          <p:cNvSpPr txBox="1"/>
          <p:nvPr/>
        </p:nvSpPr>
        <p:spPr>
          <a:xfrm>
            <a:off x="813816" y="1572768"/>
            <a:ext cx="10607040" cy="347472"/>
          </a:xfrm>
          <a:prstGeom prst="rect">
            <a:avLst/>
          </a:prstGeom>
          <a:noFill/>
        </p:spPr>
        <p:txBody>
          <a:bodyPr wrap="none" lIns="36576" rIns="36576" tIns="36576" bIns="36576" anchor="ctr">
            <a:spAutoFit/>
          </a:bodyPr>
          <a:lstStyle/>
          <a:p>
            <a:pPr algn="l"/>
            <a:r>
              <a:rPr sz="1200" b="0">
                <a:solidFill>
                  <a:srgbClr val="5B6962"/>
                </a:solidFill>
                <a:latin typeface="IBM Plex Sans"/>
              </a:rPr>
              <a:t>La tilde marca dónde hace falta intervenir. La lectura se consolida por sector, no por cámara individual.</a:t>
            </a:r>
          </a:p>
        </p:txBody>
      </p:sp>
      <p:sp>
        <p:nvSpPr>
          <p:cNvPr id="8" name="Rectangle 7"/>
          <p:cNvSpPr/>
          <p:nvPr/>
        </p:nvSpPr>
        <p:spPr>
          <a:xfrm>
            <a:off x="813816" y="2066543"/>
            <a:ext cx="10442448" cy="320040"/>
          </a:xfrm>
          <a:prstGeom prst="rect">
            <a:avLst/>
          </a:prstGeom>
          <a:solidFill>
            <a:srgbClr val="E1F0E8"/>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093975"/>
            <a:ext cx="3118103" cy="265176"/>
          </a:xfrm>
          <a:prstGeom prst="rect">
            <a:avLst/>
          </a:prstGeom>
          <a:noFill/>
        </p:spPr>
        <p:txBody>
          <a:bodyPr wrap="none" lIns="36576" rIns="36576" tIns="36576" bIns="36576" anchor="ctr">
            <a:spAutoFit/>
          </a:bodyPr>
          <a:lstStyle/>
          <a:p>
            <a:pPr algn="l"/>
            <a:r>
              <a:rPr sz="1150" b="1">
                <a:solidFill>
                  <a:srgbClr val="142F26"/>
                </a:solidFill>
                <a:latin typeface="IBM Plex Sans"/>
              </a:rPr>
              <a:t>Sector</a:t>
            </a:r>
          </a:p>
        </p:txBody>
      </p:sp>
      <p:sp>
        <p:nvSpPr>
          <p:cNvPr id="10" name="TextBox 9"/>
          <p:cNvSpPr txBox="1"/>
          <p:nvPr/>
        </p:nvSpPr>
        <p:spPr>
          <a:xfrm>
            <a:off x="4123944" y="2093975"/>
            <a:ext cx="923543" cy="265176"/>
          </a:xfrm>
          <a:prstGeom prst="rect">
            <a:avLst/>
          </a:prstGeom>
          <a:noFill/>
        </p:spPr>
        <p:txBody>
          <a:bodyPr wrap="none" lIns="36576" rIns="36576" tIns="36576" bIns="36576" anchor="ctr">
            <a:spAutoFit/>
          </a:bodyPr>
          <a:lstStyle/>
          <a:p>
            <a:pPr algn="ctr"/>
            <a:r>
              <a:rPr sz="1150" b="1">
                <a:solidFill>
                  <a:srgbClr val="142F26"/>
                </a:solidFill>
                <a:latin typeface="IBM Plex Sans"/>
              </a:rPr>
              <a:t>Urgencia</a:t>
            </a:r>
          </a:p>
        </p:txBody>
      </p:sp>
      <p:sp>
        <p:nvSpPr>
          <p:cNvPr id="11" name="TextBox 10"/>
          <p:cNvSpPr txBox="1"/>
          <p:nvPr/>
        </p:nvSpPr>
        <p:spPr>
          <a:xfrm>
            <a:off x="5175504" y="2093975"/>
            <a:ext cx="1408176" cy="265176"/>
          </a:xfrm>
          <a:prstGeom prst="rect">
            <a:avLst/>
          </a:prstGeom>
          <a:noFill/>
        </p:spPr>
        <p:txBody>
          <a:bodyPr wrap="none" lIns="36576" rIns="36576" tIns="36576" bIns="36576" anchor="ctr">
            <a:spAutoFit/>
          </a:bodyPr>
          <a:lstStyle/>
          <a:p>
            <a:pPr algn="ctr"/>
            <a:r>
              <a:rPr sz="1150" b="1">
                <a:solidFill>
                  <a:srgbClr val="142F26"/>
                </a:solidFill>
                <a:latin typeface="IBM Plex Sans"/>
              </a:rPr>
              <a:t>Iluminación</a:t>
            </a:r>
          </a:p>
        </p:txBody>
      </p:sp>
      <p:sp>
        <p:nvSpPr>
          <p:cNvPr id="12" name="TextBox 11"/>
          <p:cNvSpPr txBox="1"/>
          <p:nvPr/>
        </p:nvSpPr>
        <p:spPr>
          <a:xfrm>
            <a:off x="6711696" y="2093975"/>
            <a:ext cx="1408176" cy="265176"/>
          </a:xfrm>
          <a:prstGeom prst="rect">
            <a:avLst/>
          </a:prstGeom>
          <a:noFill/>
        </p:spPr>
        <p:txBody>
          <a:bodyPr wrap="none" lIns="36576" rIns="36576" tIns="36576" bIns="36576" anchor="ctr">
            <a:spAutoFit/>
          </a:bodyPr>
          <a:lstStyle/>
          <a:p>
            <a:pPr algn="ctr"/>
            <a:r>
              <a:rPr sz="1150" b="1">
                <a:solidFill>
                  <a:srgbClr val="142F26"/>
                </a:solidFill>
                <a:latin typeface="IBM Plex Sans"/>
              </a:rPr>
              <a:t>Encuadre</a:t>
            </a:r>
          </a:p>
        </p:txBody>
      </p:sp>
      <p:sp>
        <p:nvSpPr>
          <p:cNvPr id="13" name="TextBox 12"/>
          <p:cNvSpPr txBox="1"/>
          <p:nvPr/>
        </p:nvSpPr>
        <p:spPr>
          <a:xfrm>
            <a:off x="8247888" y="2093975"/>
            <a:ext cx="1408176" cy="265176"/>
          </a:xfrm>
          <a:prstGeom prst="rect">
            <a:avLst/>
          </a:prstGeom>
          <a:noFill/>
        </p:spPr>
        <p:txBody>
          <a:bodyPr wrap="none" lIns="36576" rIns="36576" tIns="36576" bIns="36576" anchor="ctr">
            <a:spAutoFit/>
          </a:bodyPr>
          <a:lstStyle/>
          <a:p>
            <a:pPr algn="ctr"/>
            <a:r>
              <a:rPr sz="1150" b="1">
                <a:solidFill>
                  <a:srgbClr val="142F26"/>
                </a:solidFill>
                <a:latin typeface="IBM Plex Sans"/>
              </a:rPr>
              <a:t>Posición</a:t>
            </a:r>
          </a:p>
        </p:txBody>
      </p:sp>
      <p:sp>
        <p:nvSpPr>
          <p:cNvPr id="14" name="TextBox 13"/>
          <p:cNvSpPr txBox="1"/>
          <p:nvPr/>
        </p:nvSpPr>
        <p:spPr>
          <a:xfrm>
            <a:off x="9784080" y="2093975"/>
            <a:ext cx="1408176" cy="265176"/>
          </a:xfrm>
          <a:prstGeom prst="rect">
            <a:avLst/>
          </a:prstGeom>
          <a:noFill/>
        </p:spPr>
        <p:txBody>
          <a:bodyPr wrap="none" lIns="36576" rIns="36576" tIns="36576" bIns="36576" anchor="ctr">
            <a:spAutoFit/>
          </a:bodyPr>
          <a:lstStyle/>
          <a:p>
            <a:pPr algn="ctr"/>
            <a:r>
              <a:rPr sz="1150" b="1">
                <a:solidFill>
                  <a:srgbClr val="142F26"/>
                </a:solidFill>
                <a:latin typeface="IBM Plex Sans"/>
              </a:rPr>
              <a:t>Limpieza</a:t>
            </a:r>
          </a:p>
        </p:txBody>
      </p:sp>
      <p:sp>
        <p:nvSpPr>
          <p:cNvPr id="15" name="Rectangle 14"/>
          <p:cNvSpPr/>
          <p:nvPr/>
        </p:nvSpPr>
        <p:spPr>
          <a:xfrm>
            <a:off x="813816" y="2386584"/>
            <a:ext cx="10442448" cy="320040"/>
          </a:xfrm>
          <a:prstGeom prst="rect">
            <a:avLst/>
          </a:prstGeom>
          <a:solidFill>
            <a:srgbClr val="FFFFFF"/>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404872"/>
            <a:ext cx="3099815" cy="283464"/>
          </a:xfrm>
          <a:prstGeom prst="rect">
            <a:avLst/>
          </a:prstGeom>
          <a:noFill/>
        </p:spPr>
        <p:txBody>
          <a:bodyPr wrap="none" lIns="36576" rIns="36576" tIns="36576" bIns="36576" anchor="ctr">
            <a:spAutoFit/>
          </a:bodyPr>
          <a:lstStyle/>
          <a:p>
            <a:pPr algn="l"/>
            <a:r>
              <a:rPr sz="980" b="1">
                <a:solidFill>
                  <a:srgbClr val="142F26"/>
                </a:solidFill>
                <a:latin typeface="IBM Plex Sans"/>
              </a:rPr>
              <a:t>Ingreso</a:t>
            </a:r>
          </a:p>
        </p:txBody>
      </p:sp>
      <p:sp>
        <p:nvSpPr>
          <p:cNvPr id="17" name="Rounded Rectangle 16"/>
          <p:cNvSpPr/>
          <p:nvPr/>
        </p:nvSpPr>
        <p:spPr>
          <a:xfrm>
            <a:off x="4187951" y="2423160"/>
            <a:ext cx="795527" cy="246887"/>
          </a:xfrm>
          <a:prstGeom prst="roundRect">
            <a:avLst/>
          </a:prstGeom>
          <a:solidFill>
            <a:srgbClr val="F8E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06240" y="2423160"/>
            <a:ext cx="758951" cy="246887"/>
          </a:xfrm>
          <a:prstGeom prst="rect">
            <a:avLst/>
          </a:prstGeom>
          <a:noFill/>
        </p:spPr>
        <p:txBody>
          <a:bodyPr wrap="none" lIns="36576" rIns="36576" tIns="36576" bIns="36576" anchor="ctr">
            <a:spAutoFit/>
          </a:bodyPr>
          <a:lstStyle/>
          <a:p>
            <a:pPr algn="ctr"/>
            <a:r>
              <a:rPr sz="850" b="1">
                <a:solidFill>
                  <a:srgbClr val="8B5E0A"/>
                </a:solidFill>
                <a:latin typeface="IBM Plex Sans"/>
              </a:rPr>
              <a:t>Media</a:t>
            </a:r>
          </a:p>
        </p:txBody>
      </p:sp>
      <p:sp>
        <p:nvSpPr>
          <p:cNvPr id="19" name="Rounded Rectangle 18"/>
          <p:cNvSpPr/>
          <p:nvPr/>
        </p:nvSpPr>
        <p:spPr>
          <a:xfrm>
            <a:off x="5747004" y="2414015"/>
            <a:ext cx="265176" cy="265176"/>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47004" y="2414015"/>
            <a:ext cx="265176" cy="265176"/>
          </a:xfrm>
          <a:prstGeom prst="rect">
            <a:avLst/>
          </a:prstGeom>
          <a:noFill/>
        </p:spPr>
        <p:txBody>
          <a:bodyPr wrap="none" lIns="36576" rIns="36576" tIns="36576" bIns="36576" anchor="ctr">
            <a:spAutoFit/>
          </a:bodyPr>
          <a:lstStyle/>
          <a:p>
            <a:pPr algn="ctr"/>
            <a:r>
              <a:rPr sz="1300" b="1">
                <a:solidFill>
                  <a:srgbClr val="006444"/>
                </a:solidFill>
                <a:latin typeface="IBM Plex Sans"/>
              </a:rPr>
              <a:t>✓</a:t>
            </a:r>
          </a:p>
        </p:txBody>
      </p:sp>
      <p:sp>
        <p:nvSpPr>
          <p:cNvPr id="21" name="TextBox 20"/>
          <p:cNvSpPr txBox="1"/>
          <p:nvPr/>
        </p:nvSpPr>
        <p:spPr>
          <a:xfrm>
            <a:off x="6647688" y="2404872"/>
            <a:ext cx="1536192" cy="28346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22" name="TextBox 21"/>
          <p:cNvSpPr txBox="1"/>
          <p:nvPr/>
        </p:nvSpPr>
        <p:spPr>
          <a:xfrm>
            <a:off x="8183879" y="2404872"/>
            <a:ext cx="1536192" cy="28346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23" name="TextBox 22"/>
          <p:cNvSpPr txBox="1"/>
          <p:nvPr/>
        </p:nvSpPr>
        <p:spPr>
          <a:xfrm>
            <a:off x="9720072" y="2404872"/>
            <a:ext cx="1536192" cy="28346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24" name="Rectangle 23"/>
          <p:cNvSpPr/>
          <p:nvPr/>
        </p:nvSpPr>
        <p:spPr>
          <a:xfrm>
            <a:off x="813816" y="2706624"/>
            <a:ext cx="10442448" cy="320040"/>
          </a:xfrm>
          <a:prstGeom prst="rect">
            <a:avLst/>
          </a:prstGeom>
          <a:solidFill>
            <a:srgbClr val="F7F9F7"/>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86968" y="2724912"/>
            <a:ext cx="3099815" cy="283464"/>
          </a:xfrm>
          <a:prstGeom prst="rect">
            <a:avLst/>
          </a:prstGeom>
          <a:noFill/>
        </p:spPr>
        <p:txBody>
          <a:bodyPr wrap="none" lIns="36576" rIns="36576" tIns="36576" bIns="36576" anchor="ctr">
            <a:spAutoFit/>
          </a:bodyPr>
          <a:lstStyle/>
          <a:p>
            <a:pPr algn="l"/>
            <a:r>
              <a:rPr sz="980" b="1">
                <a:solidFill>
                  <a:srgbClr val="142F26"/>
                </a:solidFill>
                <a:latin typeface="IBM Plex Sans"/>
              </a:rPr>
              <a:t>Preingreso</a:t>
            </a:r>
          </a:p>
        </p:txBody>
      </p:sp>
      <p:sp>
        <p:nvSpPr>
          <p:cNvPr id="26" name="Rounded Rectangle 25"/>
          <p:cNvSpPr/>
          <p:nvPr/>
        </p:nvSpPr>
        <p:spPr>
          <a:xfrm>
            <a:off x="4187951" y="2743200"/>
            <a:ext cx="795527" cy="246887"/>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2743200"/>
            <a:ext cx="758951" cy="246887"/>
          </a:xfrm>
          <a:prstGeom prst="rect">
            <a:avLst/>
          </a:prstGeom>
          <a:noFill/>
        </p:spPr>
        <p:txBody>
          <a:bodyPr wrap="none" lIns="36576" rIns="36576" tIns="36576" bIns="36576" anchor="ctr">
            <a:spAutoFit/>
          </a:bodyPr>
          <a:lstStyle/>
          <a:p>
            <a:pPr algn="ctr"/>
            <a:r>
              <a:rPr sz="850" b="1">
                <a:solidFill>
                  <a:srgbClr val="006444"/>
                </a:solidFill>
                <a:latin typeface="IBM Plex Sans"/>
              </a:rPr>
              <a:t>Baja</a:t>
            </a:r>
          </a:p>
        </p:txBody>
      </p:sp>
      <p:sp>
        <p:nvSpPr>
          <p:cNvPr id="28" name="TextBox 27"/>
          <p:cNvSpPr txBox="1"/>
          <p:nvPr/>
        </p:nvSpPr>
        <p:spPr>
          <a:xfrm>
            <a:off x="5111496" y="2724912"/>
            <a:ext cx="1536192" cy="28346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29" name="TextBox 28"/>
          <p:cNvSpPr txBox="1"/>
          <p:nvPr/>
        </p:nvSpPr>
        <p:spPr>
          <a:xfrm>
            <a:off x="6647688" y="2724912"/>
            <a:ext cx="1536192" cy="28346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30" name="TextBox 29"/>
          <p:cNvSpPr txBox="1"/>
          <p:nvPr/>
        </p:nvSpPr>
        <p:spPr>
          <a:xfrm>
            <a:off x="8183879" y="2724912"/>
            <a:ext cx="1536192" cy="28346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31" name="Rounded Rectangle 30"/>
          <p:cNvSpPr/>
          <p:nvPr/>
        </p:nvSpPr>
        <p:spPr>
          <a:xfrm>
            <a:off x="10355580" y="2734056"/>
            <a:ext cx="265176" cy="265176"/>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355580" y="2734056"/>
            <a:ext cx="265176" cy="265176"/>
          </a:xfrm>
          <a:prstGeom prst="rect">
            <a:avLst/>
          </a:prstGeom>
          <a:noFill/>
        </p:spPr>
        <p:txBody>
          <a:bodyPr wrap="none" lIns="36576" rIns="36576" tIns="36576" bIns="36576" anchor="ctr">
            <a:spAutoFit/>
          </a:bodyPr>
          <a:lstStyle/>
          <a:p>
            <a:pPr algn="ctr"/>
            <a:r>
              <a:rPr sz="1300" b="1">
                <a:solidFill>
                  <a:srgbClr val="006444"/>
                </a:solidFill>
                <a:latin typeface="IBM Plex Sans"/>
              </a:rPr>
              <a:t>✓</a:t>
            </a:r>
          </a:p>
        </p:txBody>
      </p:sp>
      <p:sp>
        <p:nvSpPr>
          <p:cNvPr id="33" name="Rectangle 32"/>
          <p:cNvSpPr/>
          <p:nvPr/>
        </p:nvSpPr>
        <p:spPr>
          <a:xfrm>
            <a:off x="813816" y="3026663"/>
            <a:ext cx="10442448" cy="320040"/>
          </a:xfrm>
          <a:prstGeom prst="rect">
            <a:avLst/>
          </a:prstGeom>
          <a:solidFill>
            <a:srgbClr val="FFFFFF"/>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86968" y="3044951"/>
            <a:ext cx="3099815" cy="283464"/>
          </a:xfrm>
          <a:prstGeom prst="rect">
            <a:avLst/>
          </a:prstGeom>
          <a:noFill/>
        </p:spPr>
        <p:txBody>
          <a:bodyPr wrap="none" lIns="36576" rIns="36576" tIns="36576" bIns="36576" anchor="ctr">
            <a:spAutoFit/>
          </a:bodyPr>
          <a:lstStyle/>
          <a:p>
            <a:pPr algn="l"/>
            <a:r>
              <a:rPr sz="980" b="1">
                <a:solidFill>
                  <a:srgbClr val="142F26"/>
                </a:solidFill>
                <a:latin typeface="IBM Plex Sans"/>
              </a:rPr>
              <a:t>Calada</a:t>
            </a:r>
          </a:p>
        </p:txBody>
      </p:sp>
      <p:sp>
        <p:nvSpPr>
          <p:cNvPr id="35" name="Rounded Rectangle 34"/>
          <p:cNvSpPr/>
          <p:nvPr/>
        </p:nvSpPr>
        <p:spPr>
          <a:xfrm>
            <a:off x="4187951" y="3063239"/>
            <a:ext cx="795527" cy="246887"/>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206240" y="3063239"/>
            <a:ext cx="758951" cy="246887"/>
          </a:xfrm>
          <a:prstGeom prst="rect">
            <a:avLst/>
          </a:prstGeom>
          <a:noFill/>
        </p:spPr>
        <p:txBody>
          <a:bodyPr wrap="none" lIns="36576" rIns="36576" tIns="36576" bIns="36576" anchor="ctr">
            <a:spAutoFit/>
          </a:bodyPr>
          <a:lstStyle/>
          <a:p>
            <a:pPr algn="ctr"/>
            <a:r>
              <a:rPr sz="850" b="1">
                <a:solidFill>
                  <a:srgbClr val="006444"/>
                </a:solidFill>
                <a:latin typeface="IBM Plex Sans"/>
              </a:rPr>
              <a:t>Baja</a:t>
            </a:r>
          </a:p>
        </p:txBody>
      </p:sp>
      <p:sp>
        <p:nvSpPr>
          <p:cNvPr id="37" name="TextBox 36"/>
          <p:cNvSpPr txBox="1"/>
          <p:nvPr/>
        </p:nvSpPr>
        <p:spPr>
          <a:xfrm>
            <a:off x="5111496" y="3044951"/>
            <a:ext cx="1536192" cy="28346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38" name="TextBox 37"/>
          <p:cNvSpPr txBox="1"/>
          <p:nvPr/>
        </p:nvSpPr>
        <p:spPr>
          <a:xfrm>
            <a:off x="6647688" y="3044951"/>
            <a:ext cx="1536192" cy="28346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39" name="TextBox 38"/>
          <p:cNvSpPr txBox="1"/>
          <p:nvPr/>
        </p:nvSpPr>
        <p:spPr>
          <a:xfrm>
            <a:off x="8183879" y="3044951"/>
            <a:ext cx="1536192" cy="28346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40" name="Rounded Rectangle 39"/>
          <p:cNvSpPr/>
          <p:nvPr/>
        </p:nvSpPr>
        <p:spPr>
          <a:xfrm>
            <a:off x="10355580" y="3054095"/>
            <a:ext cx="265176" cy="265176"/>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355580" y="3054095"/>
            <a:ext cx="265176" cy="265176"/>
          </a:xfrm>
          <a:prstGeom prst="rect">
            <a:avLst/>
          </a:prstGeom>
          <a:noFill/>
        </p:spPr>
        <p:txBody>
          <a:bodyPr wrap="none" lIns="36576" rIns="36576" tIns="36576" bIns="36576" anchor="ctr">
            <a:spAutoFit/>
          </a:bodyPr>
          <a:lstStyle/>
          <a:p>
            <a:pPr algn="ctr"/>
            <a:r>
              <a:rPr sz="1300" b="1">
                <a:solidFill>
                  <a:srgbClr val="006444"/>
                </a:solidFill>
                <a:latin typeface="IBM Plex Sans"/>
              </a:rPr>
              <a:t>✓</a:t>
            </a:r>
          </a:p>
        </p:txBody>
      </p:sp>
      <p:sp>
        <p:nvSpPr>
          <p:cNvPr id="42" name="Rectangle 41"/>
          <p:cNvSpPr/>
          <p:nvPr/>
        </p:nvSpPr>
        <p:spPr>
          <a:xfrm>
            <a:off x="813816" y="3346703"/>
            <a:ext cx="10442448" cy="320040"/>
          </a:xfrm>
          <a:prstGeom prst="rect">
            <a:avLst/>
          </a:prstGeom>
          <a:solidFill>
            <a:srgbClr val="F7F9F7"/>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6968" y="3364991"/>
            <a:ext cx="3099815" cy="283464"/>
          </a:xfrm>
          <a:prstGeom prst="rect">
            <a:avLst/>
          </a:prstGeom>
          <a:noFill/>
        </p:spPr>
        <p:txBody>
          <a:bodyPr wrap="none" lIns="36576" rIns="36576" tIns="36576" bIns="36576" anchor="ctr">
            <a:spAutoFit/>
          </a:bodyPr>
          <a:lstStyle/>
          <a:p>
            <a:pPr algn="l"/>
            <a:r>
              <a:rPr sz="980" b="1">
                <a:solidFill>
                  <a:srgbClr val="142F26"/>
                </a:solidFill>
                <a:latin typeface="IBM Plex Sans"/>
              </a:rPr>
              <a:t>Balanza de ingreso</a:t>
            </a:r>
          </a:p>
        </p:txBody>
      </p:sp>
      <p:sp>
        <p:nvSpPr>
          <p:cNvPr id="44" name="Rounded Rectangle 43"/>
          <p:cNvSpPr/>
          <p:nvPr/>
        </p:nvSpPr>
        <p:spPr>
          <a:xfrm>
            <a:off x="4187951" y="3383279"/>
            <a:ext cx="795527" cy="246887"/>
          </a:xfrm>
          <a:prstGeom prst="roundRect">
            <a:avLst/>
          </a:prstGeom>
          <a:solidFill>
            <a:srgbClr val="F8E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206240" y="3383279"/>
            <a:ext cx="758951" cy="246887"/>
          </a:xfrm>
          <a:prstGeom prst="rect">
            <a:avLst/>
          </a:prstGeom>
          <a:noFill/>
        </p:spPr>
        <p:txBody>
          <a:bodyPr wrap="none" lIns="36576" rIns="36576" tIns="36576" bIns="36576" anchor="ctr">
            <a:spAutoFit/>
          </a:bodyPr>
          <a:lstStyle/>
          <a:p>
            <a:pPr algn="ctr"/>
            <a:r>
              <a:rPr sz="850" b="1">
                <a:solidFill>
                  <a:srgbClr val="8B5E0A"/>
                </a:solidFill>
                <a:latin typeface="IBM Plex Sans"/>
              </a:rPr>
              <a:t>Media</a:t>
            </a:r>
          </a:p>
        </p:txBody>
      </p:sp>
      <p:sp>
        <p:nvSpPr>
          <p:cNvPr id="46" name="TextBox 45"/>
          <p:cNvSpPr txBox="1"/>
          <p:nvPr/>
        </p:nvSpPr>
        <p:spPr>
          <a:xfrm>
            <a:off x="5111496" y="3364991"/>
            <a:ext cx="1536192" cy="28346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47" name="TextBox 46"/>
          <p:cNvSpPr txBox="1"/>
          <p:nvPr/>
        </p:nvSpPr>
        <p:spPr>
          <a:xfrm>
            <a:off x="6647688" y="3364991"/>
            <a:ext cx="1536192" cy="28346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48" name="Rounded Rectangle 47"/>
          <p:cNvSpPr/>
          <p:nvPr/>
        </p:nvSpPr>
        <p:spPr>
          <a:xfrm>
            <a:off x="8819388" y="3374135"/>
            <a:ext cx="265176" cy="265176"/>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819388" y="3374135"/>
            <a:ext cx="265176" cy="265176"/>
          </a:xfrm>
          <a:prstGeom prst="rect">
            <a:avLst/>
          </a:prstGeom>
          <a:noFill/>
        </p:spPr>
        <p:txBody>
          <a:bodyPr wrap="none" lIns="36576" rIns="36576" tIns="36576" bIns="36576" anchor="ctr">
            <a:spAutoFit/>
          </a:bodyPr>
          <a:lstStyle/>
          <a:p>
            <a:pPr algn="ctr"/>
            <a:r>
              <a:rPr sz="1300" b="1">
                <a:solidFill>
                  <a:srgbClr val="006444"/>
                </a:solidFill>
                <a:latin typeface="IBM Plex Sans"/>
              </a:rPr>
              <a:t>✓</a:t>
            </a:r>
          </a:p>
        </p:txBody>
      </p:sp>
      <p:sp>
        <p:nvSpPr>
          <p:cNvPr id="50" name="TextBox 49"/>
          <p:cNvSpPr txBox="1"/>
          <p:nvPr/>
        </p:nvSpPr>
        <p:spPr>
          <a:xfrm>
            <a:off x="9720072" y="3364991"/>
            <a:ext cx="1536192" cy="28346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51" name="Rectangle 50"/>
          <p:cNvSpPr/>
          <p:nvPr/>
        </p:nvSpPr>
        <p:spPr>
          <a:xfrm>
            <a:off x="813816" y="3666744"/>
            <a:ext cx="10442448" cy="320040"/>
          </a:xfrm>
          <a:prstGeom prst="rect">
            <a:avLst/>
          </a:prstGeom>
          <a:solidFill>
            <a:srgbClr val="FFFFFF"/>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86968" y="3685031"/>
            <a:ext cx="3099815" cy="283464"/>
          </a:xfrm>
          <a:prstGeom prst="rect">
            <a:avLst/>
          </a:prstGeom>
          <a:noFill/>
        </p:spPr>
        <p:txBody>
          <a:bodyPr wrap="none" lIns="36576" rIns="36576" tIns="36576" bIns="36576" anchor="ctr">
            <a:spAutoFit/>
          </a:bodyPr>
          <a:lstStyle/>
          <a:p>
            <a:pPr algn="l"/>
            <a:r>
              <a:rPr sz="980" b="1">
                <a:solidFill>
                  <a:srgbClr val="142F26"/>
                </a:solidFill>
                <a:latin typeface="IBM Plex Sans"/>
              </a:rPr>
              <a:t>Playa 3</a:t>
            </a:r>
          </a:p>
        </p:txBody>
      </p:sp>
      <p:sp>
        <p:nvSpPr>
          <p:cNvPr id="53" name="Rounded Rectangle 52"/>
          <p:cNvSpPr/>
          <p:nvPr/>
        </p:nvSpPr>
        <p:spPr>
          <a:xfrm>
            <a:off x="4187951" y="3703320"/>
            <a:ext cx="795527" cy="246887"/>
          </a:xfrm>
          <a:prstGeom prst="roundRect">
            <a:avLst/>
          </a:prstGeom>
          <a:solidFill>
            <a:srgbClr val="F8E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206240" y="3703320"/>
            <a:ext cx="758951" cy="246887"/>
          </a:xfrm>
          <a:prstGeom prst="rect">
            <a:avLst/>
          </a:prstGeom>
          <a:noFill/>
        </p:spPr>
        <p:txBody>
          <a:bodyPr wrap="none" lIns="36576" rIns="36576" tIns="36576" bIns="36576" anchor="ctr">
            <a:spAutoFit/>
          </a:bodyPr>
          <a:lstStyle/>
          <a:p>
            <a:pPr algn="ctr"/>
            <a:r>
              <a:rPr sz="850" b="1">
                <a:solidFill>
                  <a:srgbClr val="8B5E0A"/>
                </a:solidFill>
                <a:latin typeface="IBM Plex Sans"/>
              </a:rPr>
              <a:t>Media</a:t>
            </a:r>
          </a:p>
        </p:txBody>
      </p:sp>
      <p:sp>
        <p:nvSpPr>
          <p:cNvPr id="55" name="Rounded Rectangle 54"/>
          <p:cNvSpPr/>
          <p:nvPr/>
        </p:nvSpPr>
        <p:spPr>
          <a:xfrm>
            <a:off x="5747004" y="3694176"/>
            <a:ext cx="265176" cy="265176"/>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747004" y="3694176"/>
            <a:ext cx="265176" cy="265176"/>
          </a:xfrm>
          <a:prstGeom prst="rect">
            <a:avLst/>
          </a:prstGeom>
          <a:noFill/>
        </p:spPr>
        <p:txBody>
          <a:bodyPr wrap="none" lIns="36576" rIns="36576" tIns="36576" bIns="36576" anchor="ctr">
            <a:spAutoFit/>
          </a:bodyPr>
          <a:lstStyle/>
          <a:p>
            <a:pPr algn="ctr"/>
            <a:r>
              <a:rPr sz="1300" b="1">
                <a:solidFill>
                  <a:srgbClr val="006444"/>
                </a:solidFill>
                <a:latin typeface="IBM Plex Sans"/>
              </a:rPr>
              <a:t>✓</a:t>
            </a:r>
          </a:p>
        </p:txBody>
      </p:sp>
      <p:sp>
        <p:nvSpPr>
          <p:cNvPr id="57" name="Rounded Rectangle 56"/>
          <p:cNvSpPr/>
          <p:nvPr/>
        </p:nvSpPr>
        <p:spPr>
          <a:xfrm>
            <a:off x="7283196" y="3694176"/>
            <a:ext cx="265176" cy="265176"/>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283196" y="3694176"/>
            <a:ext cx="265176" cy="265176"/>
          </a:xfrm>
          <a:prstGeom prst="rect">
            <a:avLst/>
          </a:prstGeom>
          <a:noFill/>
        </p:spPr>
        <p:txBody>
          <a:bodyPr wrap="none" lIns="36576" rIns="36576" tIns="36576" bIns="36576" anchor="ctr">
            <a:spAutoFit/>
          </a:bodyPr>
          <a:lstStyle/>
          <a:p>
            <a:pPr algn="ctr"/>
            <a:r>
              <a:rPr sz="1300" b="1">
                <a:solidFill>
                  <a:srgbClr val="006444"/>
                </a:solidFill>
                <a:latin typeface="IBM Plex Sans"/>
              </a:rPr>
              <a:t>✓</a:t>
            </a:r>
          </a:p>
        </p:txBody>
      </p:sp>
      <p:sp>
        <p:nvSpPr>
          <p:cNvPr id="59" name="TextBox 58"/>
          <p:cNvSpPr txBox="1"/>
          <p:nvPr/>
        </p:nvSpPr>
        <p:spPr>
          <a:xfrm>
            <a:off x="8183879" y="3685031"/>
            <a:ext cx="1536192" cy="28346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60" name="TextBox 59"/>
          <p:cNvSpPr txBox="1"/>
          <p:nvPr/>
        </p:nvSpPr>
        <p:spPr>
          <a:xfrm>
            <a:off x="9720072" y="3685031"/>
            <a:ext cx="1536192" cy="28346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61" name="Rectangle 60"/>
          <p:cNvSpPr/>
          <p:nvPr/>
        </p:nvSpPr>
        <p:spPr>
          <a:xfrm>
            <a:off x="813816" y="3986783"/>
            <a:ext cx="10442448" cy="320040"/>
          </a:xfrm>
          <a:prstGeom prst="rect">
            <a:avLst/>
          </a:prstGeom>
          <a:solidFill>
            <a:srgbClr val="F7F9F7"/>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86968" y="4005071"/>
            <a:ext cx="3099815" cy="283464"/>
          </a:xfrm>
          <a:prstGeom prst="rect">
            <a:avLst/>
          </a:prstGeom>
          <a:noFill/>
        </p:spPr>
        <p:txBody>
          <a:bodyPr wrap="none" lIns="36576" rIns="36576" tIns="36576" bIns="36576" anchor="ctr">
            <a:spAutoFit/>
          </a:bodyPr>
          <a:lstStyle/>
          <a:p>
            <a:pPr algn="l"/>
            <a:r>
              <a:rPr sz="980" b="1">
                <a:solidFill>
                  <a:srgbClr val="142F26"/>
                </a:solidFill>
                <a:latin typeface="IBM Plex Sans"/>
              </a:rPr>
              <a:t>Descarga S7</a:t>
            </a:r>
          </a:p>
        </p:txBody>
      </p:sp>
      <p:sp>
        <p:nvSpPr>
          <p:cNvPr id="63" name="Rounded Rectangle 62"/>
          <p:cNvSpPr/>
          <p:nvPr/>
        </p:nvSpPr>
        <p:spPr>
          <a:xfrm>
            <a:off x="4187951" y="4023359"/>
            <a:ext cx="795527" cy="246887"/>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206240" y="4023359"/>
            <a:ext cx="758951" cy="246887"/>
          </a:xfrm>
          <a:prstGeom prst="rect">
            <a:avLst/>
          </a:prstGeom>
          <a:noFill/>
        </p:spPr>
        <p:txBody>
          <a:bodyPr wrap="none" lIns="36576" rIns="36576" tIns="36576" bIns="36576" anchor="ctr">
            <a:spAutoFit/>
          </a:bodyPr>
          <a:lstStyle/>
          <a:p>
            <a:pPr algn="ctr"/>
            <a:r>
              <a:rPr sz="850" b="1">
                <a:solidFill>
                  <a:srgbClr val="006444"/>
                </a:solidFill>
                <a:latin typeface="IBM Plex Sans"/>
              </a:rPr>
              <a:t>Baja</a:t>
            </a:r>
          </a:p>
        </p:txBody>
      </p:sp>
      <p:sp>
        <p:nvSpPr>
          <p:cNvPr id="65" name="Rounded Rectangle 64"/>
          <p:cNvSpPr/>
          <p:nvPr/>
        </p:nvSpPr>
        <p:spPr>
          <a:xfrm>
            <a:off x="5747004" y="4014215"/>
            <a:ext cx="265176" cy="265176"/>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747004" y="4014215"/>
            <a:ext cx="265176" cy="265176"/>
          </a:xfrm>
          <a:prstGeom prst="rect">
            <a:avLst/>
          </a:prstGeom>
          <a:noFill/>
        </p:spPr>
        <p:txBody>
          <a:bodyPr wrap="none" lIns="36576" rIns="36576" tIns="36576" bIns="36576" anchor="ctr">
            <a:spAutoFit/>
          </a:bodyPr>
          <a:lstStyle/>
          <a:p>
            <a:pPr algn="ctr"/>
            <a:r>
              <a:rPr sz="1300" b="1">
                <a:solidFill>
                  <a:srgbClr val="006444"/>
                </a:solidFill>
                <a:latin typeface="IBM Plex Sans"/>
              </a:rPr>
              <a:t>✓</a:t>
            </a:r>
          </a:p>
        </p:txBody>
      </p:sp>
      <p:sp>
        <p:nvSpPr>
          <p:cNvPr id="67" name="Rounded Rectangle 66"/>
          <p:cNvSpPr/>
          <p:nvPr/>
        </p:nvSpPr>
        <p:spPr>
          <a:xfrm>
            <a:off x="7283196" y="4014215"/>
            <a:ext cx="265176" cy="265176"/>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83196" y="4014215"/>
            <a:ext cx="265176" cy="265176"/>
          </a:xfrm>
          <a:prstGeom prst="rect">
            <a:avLst/>
          </a:prstGeom>
          <a:noFill/>
        </p:spPr>
        <p:txBody>
          <a:bodyPr wrap="none" lIns="36576" rIns="36576" tIns="36576" bIns="36576" anchor="ctr">
            <a:spAutoFit/>
          </a:bodyPr>
          <a:lstStyle/>
          <a:p>
            <a:pPr algn="ctr"/>
            <a:r>
              <a:rPr sz="1300" b="1">
                <a:solidFill>
                  <a:srgbClr val="006444"/>
                </a:solidFill>
                <a:latin typeface="IBM Plex Sans"/>
              </a:rPr>
              <a:t>✓</a:t>
            </a:r>
          </a:p>
        </p:txBody>
      </p:sp>
      <p:sp>
        <p:nvSpPr>
          <p:cNvPr id="69" name="TextBox 68"/>
          <p:cNvSpPr txBox="1"/>
          <p:nvPr/>
        </p:nvSpPr>
        <p:spPr>
          <a:xfrm>
            <a:off x="8183879" y="4005071"/>
            <a:ext cx="1536192" cy="28346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70" name="TextBox 69"/>
          <p:cNvSpPr txBox="1"/>
          <p:nvPr/>
        </p:nvSpPr>
        <p:spPr>
          <a:xfrm>
            <a:off x="9720072" y="4005071"/>
            <a:ext cx="1536192" cy="28346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71" name="Rectangle 70"/>
          <p:cNvSpPr/>
          <p:nvPr/>
        </p:nvSpPr>
        <p:spPr>
          <a:xfrm>
            <a:off x="813816" y="4306823"/>
            <a:ext cx="10442448" cy="320040"/>
          </a:xfrm>
          <a:prstGeom prst="rect">
            <a:avLst/>
          </a:prstGeom>
          <a:solidFill>
            <a:srgbClr val="FFFFFF"/>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86968" y="4325111"/>
            <a:ext cx="3099815" cy="283464"/>
          </a:xfrm>
          <a:prstGeom prst="rect">
            <a:avLst/>
          </a:prstGeom>
          <a:noFill/>
        </p:spPr>
        <p:txBody>
          <a:bodyPr wrap="none" lIns="36576" rIns="36576" tIns="36576" bIns="36576" anchor="ctr">
            <a:spAutoFit/>
          </a:bodyPr>
          <a:lstStyle/>
          <a:p>
            <a:pPr algn="l"/>
            <a:r>
              <a:rPr sz="980" b="1">
                <a:solidFill>
                  <a:srgbClr val="142F26"/>
                </a:solidFill>
                <a:latin typeface="IBM Plex Sans"/>
              </a:rPr>
              <a:t>Tolva silo Chief</a:t>
            </a:r>
          </a:p>
        </p:txBody>
      </p:sp>
      <p:sp>
        <p:nvSpPr>
          <p:cNvPr id="73" name="Rounded Rectangle 72"/>
          <p:cNvSpPr/>
          <p:nvPr/>
        </p:nvSpPr>
        <p:spPr>
          <a:xfrm>
            <a:off x="4187951" y="4343399"/>
            <a:ext cx="795527" cy="246887"/>
          </a:xfrm>
          <a:prstGeom prst="roundRect">
            <a:avLst/>
          </a:prstGeom>
          <a:solidFill>
            <a:srgbClr val="F8E1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206240" y="4343399"/>
            <a:ext cx="758951" cy="246887"/>
          </a:xfrm>
          <a:prstGeom prst="rect">
            <a:avLst/>
          </a:prstGeom>
          <a:noFill/>
        </p:spPr>
        <p:txBody>
          <a:bodyPr wrap="none" lIns="36576" rIns="36576" tIns="36576" bIns="36576" anchor="ctr">
            <a:spAutoFit/>
          </a:bodyPr>
          <a:lstStyle/>
          <a:p>
            <a:pPr algn="ctr"/>
            <a:r>
              <a:rPr sz="850" b="1">
                <a:solidFill>
                  <a:srgbClr val="B3261E"/>
                </a:solidFill>
                <a:latin typeface="IBM Plex Sans"/>
              </a:rPr>
              <a:t>Alta</a:t>
            </a:r>
          </a:p>
        </p:txBody>
      </p:sp>
      <p:sp>
        <p:nvSpPr>
          <p:cNvPr id="75" name="Rounded Rectangle 74"/>
          <p:cNvSpPr/>
          <p:nvPr/>
        </p:nvSpPr>
        <p:spPr>
          <a:xfrm>
            <a:off x="5747004" y="4334255"/>
            <a:ext cx="265176" cy="265176"/>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747004" y="4334255"/>
            <a:ext cx="265176" cy="265176"/>
          </a:xfrm>
          <a:prstGeom prst="rect">
            <a:avLst/>
          </a:prstGeom>
          <a:noFill/>
        </p:spPr>
        <p:txBody>
          <a:bodyPr wrap="none" lIns="36576" rIns="36576" tIns="36576" bIns="36576" anchor="ctr">
            <a:spAutoFit/>
          </a:bodyPr>
          <a:lstStyle/>
          <a:p>
            <a:pPr algn="ctr"/>
            <a:r>
              <a:rPr sz="1300" b="1">
                <a:solidFill>
                  <a:srgbClr val="006444"/>
                </a:solidFill>
                <a:latin typeface="IBM Plex Sans"/>
              </a:rPr>
              <a:t>✓</a:t>
            </a:r>
          </a:p>
        </p:txBody>
      </p:sp>
      <p:sp>
        <p:nvSpPr>
          <p:cNvPr id="77" name="TextBox 76"/>
          <p:cNvSpPr txBox="1"/>
          <p:nvPr/>
        </p:nvSpPr>
        <p:spPr>
          <a:xfrm>
            <a:off x="6647688" y="4325111"/>
            <a:ext cx="1536192" cy="28346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78" name="TextBox 77"/>
          <p:cNvSpPr txBox="1"/>
          <p:nvPr/>
        </p:nvSpPr>
        <p:spPr>
          <a:xfrm>
            <a:off x="8183879" y="4325111"/>
            <a:ext cx="1536192" cy="28346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79" name="TextBox 78"/>
          <p:cNvSpPr txBox="1"/>
          <p:nvPr/>
        </p:nvSpPr>
        <p:spPr>
          <a:xfrm>
            <a:off x="9720072" y="4325111"/>
            <a:ext cx="1536192" cy="28346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80" name="Rectangle 79"/>
          <p:cNvSpPr/>
          <p:nvPr/>
        </p:nvSpPr>
        <p:spPr>
          <a:xfrm>
            <a:off x="813816" y="4626864"/>
            <a:ext cx="10442448" cy="320040"/>
          </a:xfrm>
          <a:prstGeom prst="rect">
            <a:avLst/>
          </a:prstGeom>
          <a:solidFill>
            <a:srgbClr val="F7F9F7"/>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886968" y="4645151"/>
            <a:ext cx="3099815" cy="283464"/>
          </a:xfrm>
          <a:prstGeom prst="rect">
            <a:avLst/>
          </a:prstGeom>
          <a:noFill/>
        </p:spPr>
        <p:txBody>
          <a:bodyPr wrap="none" lIns="36576" rIns="36576" tIns="36576" bIns="36576" anchor="ctr">
            <a:spAutoFit/>
          </a:bodyPr>
          <a:lstStyle/>
          <a:p>
            <a:pPr algn="l"/>
            <a:r>
              <a:rPr sz="980" b="1">
                <a:solidFill>
                  <a:srgbClr val="142F26"/>
                </a:solidFill>
                <a:latin typeface="IBM Plex Sans"/>
              </a:rPr>
              <a:t>Volcable 1</a:t>
            </a:r>
          </a:p>
        </p:txBody>
      </p:sp>
      <p:sp>
        <p:nvSpPr>
          <p:cNvPr id="82" name="Rounded Rectangle 81"/>
          <p:cNvSpPr/>
          <p:nvPr/>
        </p:nvSpPr>
        <p:spPr>
          <a:xfrm>
            <a:off x="4187951" y="4663440"/>
            <a:ext cx="795527" cy="246887"/>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206240" y="4663440"/>
            <a:ext cx="758951" cy="246887"/>
          </a:xfrm>
          <a:prstGeom prst="rect">
            <a:avLst/>
          </a:prstGeom>
          <a:noFill/>
        </p:spPr>
        <p:txBody>
          <a:bodyPr wrap="none" lIns="36576" rIns="36576" tIns="36576" bIns="36576" anchor="ctr">
            <a:spAutoFit/>
          </a:bodyPr>
          <a:lstStyle/>
          <a:p>
            <a:pPr algn="ctr"/>
            <a:r>
              <a:rPr sz="850" b="1">
                <a:solidFill>
                  <a:srgbClr val="006444"/>
                </a:solidFill>
                <a:latin typeface="IBM Plex Sans"/>
              </a:rPr>
              <a:t>Baja</a:t>
            </a:r>
          </a:p>
        </p:txBody>
      </p:sp>
      <p:sp>
        <p:nvSpPr>
          <p:cNvPr id="84" name="TextBox 83"/>
          <p:cNvSpPr txBox="1"/>
          <p:nvPr/>
        </p:nvSpPr>
        <p:spPr>
          <a:xfrm>
            <a:off x="5111496" y="4645151"/>
            <a:ext cx="1536192" cy="28346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85" name="TextBox 84"/>
          <p:cNvSpPr txBox="1"/>
          <p:nvPr/>
        </p:nvSpPr>
        <p:spPr>
          <a:xfrm>
            <a:off x="6647688" y="4645151"/>
            <a:ext cx="1536192" cy="28346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86" name="TextBox 85"/>
          <p:cNvSpPr txBox="1"/>
          <p:nvPr/>
        </p:nvSpPr>
        <p:spPr>
          <a:xfrm>
            <a:off x="8183879" y="4645151"/>
            <a:ext cx="1536192" cy="28346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87" name="Rounded Rectangle 86"/>
          <p:cNvSpPr/>
          <p:nvPr/>
        </p:nvSpPr>
        <p:spPr>
          <a:xfrm>
            <a:off x="10355580" y="4654296"/>
            <a:ext cx="265176" cy="265176"/>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0355580" y="4654296"/>
            <a:ext cx="265176" cy="265176"/>
          </a:xfrm>
          <a:prstGeom prst="rect">
            <a:avLst/>
          </a:prstGeom>
          <a:noFill/>
        </p:spPr>
        <p:txBody>
          <a:bodyPr wrap="none" lIns="36576" rIns="36576" tIns="36576" bIns="36576" anchor="ctr">
            <a:spAutoFit/>
          </a:bodyPr>
          <a:lstStyle/>
          <a:p>
            <a:pPr algn="ctr"/>
            <a:r>
              <a:rPr sz="1300" b="1">
                <a:solidFill>
                  <a:srgbClr val="006444"/>
                </a:solidFill>
                <a:latin typeface="IBM Plex Sans"/>
              </a:rPr>
              <a:t>✓</a:t>
            </a:r>
          </a:p>
        </p:txBody>
      </p:sp>
      <p:sp>
        <p:nvSpPr>
          <p:cNvPr id="89" name="Rectangle 88"/>
          <p:cNvSpPr/>
          <p:nvPr/>
        </p:nvSpPr>
        <p:spPr>
          <a:xfrm>
            <a:off x="813816" y="4946904"/>
            <a:ext cx="10442448" cy="320040"/>
          </a:xfrm>
          <a:prstGeom prst="rect">
            <a:avLst/>
          </a:prstGeom>
          <a:solidFill>
            <a:srgbClr val="FFFFFF"/>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886968" y="4965192"/>
            <a:ext cx="3099815" cy="283464"/>
          </a:xfrm>
          <a:prstGeom prst="rect">
            <a:avLst/>
          </a:prstGeom>
          <a:noFill/>
        </p:spPr>
        <p:txBody>
          <a:bodyPr wrap="none" lIns="36576" rIns="36576" tIns="36576" bIns="36576" anchor="ctr">
            <a:spAutoFit/>
          </a:bodyPr>
          <a:lstStyle/>
          <a:p>
            <a:pPr algn="l"/>
            <a:r>
              <a:rPr sz="980" b="1">
                <a:solidFill>
                  <a:srgbClr val="142F26"/>
                </a:solidFill>
                <a:latin typeface="IBM Plex Sans"/>
              </a:rPr>
              <a:t>Volcable 2</a:t>
            </a:r>
          </a:p>
        </p:txBody>
      </p:sp>
      <p:sp>
        <p:nvSpPr>
          <p:cNvPr id="91" name="Rounded Rectangle 90"/>
          <p:cNvSpPr/>
          <p:nvPr/>
        </p:nvSpPr>
        <p:spPr>
          <a:xfrm>
            <a:off x="4187951" y="4983480"/>
            <a:ext cx="795527" cy="246887"/>
          </a:xfrm>
          <a:prstGeom prst="roundRect">
            <a:avLst/>
          </a:prstGeom>
          <a:solidFill>
            <a:srgbClr val="F8E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4206240" y="4983480"/>
            <a:ext cx="758951" cy="246887"/>
          </a:xfrm>
          <a:prstGeom prst="rect">
            <a:avLst/>
          </a:prstGeom>
          <a:noFill/>
        </p:spPr>
        <p:txBody>
          <a:bodyPr wrap="none" lIns="36576" rIns="36576" tIns="36576" bIns="36576" anchor="ctr">
            <a:spAutoFit/>
          </a:bodyPr>
          <a:lstStyle/>
          <a:p>
            <a:pPr algn="ctr"/>
            <a:r>
              <a:rPr sz="850" b="1">
                <a:solidFill>
                  <a:srgbClr val="8B5E0A"/>
                </a:solidFill>
                <a:latin typeface="IBM Plex Sans"/>
              </a:rPr>
              <a:t>Media</a:t>
            </a:r>
          </a:p>
        </p:txBody>
      </p:sp>
      <p:sp>
        <p:nvSpPr>
          <p:cNvPr id="93" name="TextBox 92"/>
          <p:cNvSpPr txBox="1"/>
          <p:nvPr/>
        </p:nvSpPr>
        <p:spPr>
          <a:xfrm>
            <a:off x="5111496" y="4965192"/>
            <a:ext cx="1536192" cy="28346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94" name="Rounded Rectangle 93"/>
          <p:cNvSpPr/>
          <p:nvPr/>
        </p:nvSpPr>
        <p:spPr>
          <a:xfrm>
            <a:off x="7283196" y="4974336"/>
            <a:ext cx="265176" cy="265176"/>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7283196" y="4974336"/>
            <a:ext cx="265176" cy="265176"/>
          </a:xfrm>
          <a:prstGeom prst="rect">
            <a:avLst/>
          </a:prstGeom>
          <a:noFill/>
        </p:spPr>
        <p:txBody>
          <a:bodyPr wrap="none" lIns="36576" rIns="36576" tIns="36576" bIns="36576" anchor="ctr">
            <a:spAutoFit/>
          </a:bodyPr>
          <a:lstStyle/>
          <a:p>
            <a:pPr algn="ctr"/>
            <a:r>
              <a:rPr sz="1300" b="1">
                <a:solidFill>
                  <a:srgbClr val="006444"/>
                </a:solidFill>
                <a:latin typeface="IBM Plex Sans"/>
              </a:rPr>
              <a:t>✓</a:t>
            </a:r>
          </a:p>
        </p:txBody>
      </p:sp>
      <p:sp>
        <p:nvSpPr>
          <p:cNvPr id="96" name="Rounded Rectangle 95"/>
          <p:cNvSpPr/>
          <p:nvPr/>
        </p:nvSpPr>
        <p:spPr>
          <a:xfrm>
            <a:off x="8819388" y="4974336"/>
            <a:ext cx="265176" cy="265176"/>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8819388" y="4974336"/>
            <a:ext cx="265176" cy="265176"/>
          </a:xfrm>
          <a:prstGeom prst="rect">
            <a:avLst/>
          </a:prstGeom>
          <a:noFill/>
        </p:spPr>
        <p:txBody>
          <a:bodyPr wrap="none" lIns="36576" rIns="36576" tIns="36576" bIns="36576" anchor="ctr">
            <a:spAutoFit/>
          </a:bodyPr>
          <a:lstStyle/>
          <a:p>
            <a:pPr algn="ctr"/>
            <a:r>
              <a:rPr sz="1300" b="1">
                <a:solidFill>
                  <a:srgbClr val="006444"/>
                </a:solidFill>
                <a:latin typeface="IBM Plex Sans"/>
              </a:rPr>
              <a:t>✓</a:t>
            </a:r>
          </a:p>
        </p:txBody>
      </p:sp>
      <p:sp>
        <p:nvSpPr>
          <p:cNvPr id="98" name="TextBox 97"/>
          <p:cNvSpPr txBox="1"/>
          <p:nvPr/>
        </p:nvSpPr>
        <p:spPr>
          <a:xfrm>
            <a:off x="9720072" y="4965192"/>
            <a:ext cx="1536192" cy="28346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99" name="Rectangle 98"/>
          <p:cNvSpPr/>
          <p:nvPr/>
        </p:nvSpPr>
        <p:spPr>
          <a:xfrm>
            <a:off x="813816" y="5266944"/>
            <a:ext cx="10442448" cy="320040"/>
          </a:xfrm>
          <a:prstGeom prst="rect">
            <a:avLst/>
          </a:prstGeom>
          <a:solidFill>
            <a:srgbClr val="F7F9F7"/>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886968" y="5285231"/>
            <a:ext cx="3099815" cy="283464"/>
          </a:xfrm>
          <a:prstGeom prst="rect">
            <a:avLst/>
          </a:prstGeom>
          <a:noFill/>
        </p:spPr>
        <p:txBody>
          <a:bodyPr wrap="none" lIns="36576" rIns="36576" tIns="36576" bIns="36576" anchor="ctr">
            <a:spAutoFit/>
          </a:bodyPr>
          <a:lstStyle/>
          <a:p>
            <a:pPr algn="l"/>
            <a:r>
              <a:rPr sz="980" b="1">
                <a:solidFill>
                  <a:srgbClr val="142F26"/>
                </a:solidFill>
                <a:latin typeface="IBM Plex Sans"/>
              </a:rPr>
              <a:t>Balanza de egreso</a:t>
            </a:r>
          </a:p>
        </p:txBody>
      </p:sp>
      <p:sp>
        <p:nvSpPr>
          <p:cNvPr id="101" name="Rounded Rectangle 100"/>
          <p:cNvSpPr/>
          <p:nvPr/>
        </p:nvSpPr>
        <p:spPr>
          <a:xfrm>
            <a:off x="4187951" y="5303520"/>
            <a:ext cx="795527" cy="246887"/>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4206240" y="5303520"/>
            <a:ext cx="758951" cy="246887"/>
          </a:xfrm>
          <a:prstGeom prst="rect">
            <a:avLst/>
          </a:prstGeom>
          <a:noFill/>
        </p:spPr>
        <p:txBody>
          <a:bodyPr wrap="none" lIns="36576" rIns="36576" tIns="36576" bIns="36576" anchor="ctr">
            <a:spAutoFit/>
          </a:bodyPr>
          <a:lstStyle/>
          <a:p>
            <a:pPr algn="ctr"/>
            <a:r>
              <a:rPr sz="850" b="1">
                <a:solidFill>
                  <a:srgbClr val="006444"/>
                </a:solidFill>
                <a:latin typeface="IBM Plex Sans"/>
              </a:rPr>
              <a:t>Baja</a:t>
            </a:r>
          </a:p>
        </p:txBody>
      </p:sp>
      <p:sp>
        <p:nvSpPr>
          <p:cNvPr id="103" name="TextBox 102"/>
          <p:cNvSpPr txBox="1"/>
          <p:nvPr/>
        </p:nvSpPr>
        <p:spPr>
          <a:xfrm>
            <a:off x="5111496" y="5285231"/>
            <a:ext cx="1536192" cy="28346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104" name="TextBox 103"/>
          <p:cNvSpPr txBox="1"/>
          <p:nvPr/>
        </p:nvSpPr>
        <p:spPr>
          <a:xfrm>
            <a:off x="6647688" y="5285231"/>
            <a:ext cx="1536192" cy="28346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105" name="Rounded Rectangle 104"/>
          <p:cNvSpPr/>
          <p:nvPr/>
        </p:nvSpPr>
        <p:spPr>
          <a:xfrm>
            <a:off x="8819388" y="5294376"/>
            <a:ext cx="265176" cy="265176"/>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8819388" y="5294376"/>
            <a:ext cx="265176" cy="265176"/>
          </a:xfrm>
          <a:prstGeom prst="rect">
            <a:avLst/>
          </a:prstGeom>
          <a:noFill/>
        </p:spPr>
        <p:txBody>
          <a:bodyPr wrap="none" lIns="36576" rIns="36576" tIns="36576" bIns="36576" anchor="ctr">
            <a:spAutoFit/>
          </a:bodyPr>
          <a:lstStyle/>
          <a:p>
            <a:pPr algn="ctr"/>
            <a:r>
              <a:rPr sz="1300" b="1">
                <a:solidFill>
                  <a:srgbClr val="006444"/>
                </a:solidFill>
                <a:latin typeface="IBM Plex Sans"/>
              </a:rPr>
              <a:t>✓</a:t>
            </a:r>
          </a:p>
        </p:txBody>
      </p:sp>
      <p:sp>
        <p:nvSpPr>
          <p:cNvPr id="107" name="Rounded Rectangle 106"/>
          <p:cNvSpPr/>
          <p:nvPr/>
        </p:nvSpPr>
        <p:spPr>
          <a:xfrm>
            <a:off x="10355580" y="5294376"/>
            <a:ext cx="265176" cy="265176"/>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10355580" y="5294376"/>
            <a:ext cx="265176" cy="265176"/>
          </a:xfrm>
          <a:prstGeom prst="rect">
            <a:avLst/>
          </a:prstGeom>
          <a:noFill/>
        </p:spPr>
        <p:txBody>
          <a:bodyPr wrap="none" lIns="36576" rIns="36576" tIns="36576" bIns="36576" anchor="ctr">
            <a:spAutoFit/>
          </a:bodyPr>
          <a:lstStyle/>
          <a:p>
            <a:pPr algn="ctr"/>
            <a:r>
              <a:rPr sz="1300" b="1">
                <a:solidFill>
                  <a:srgbClr val="006444"/>
                </a:solidFill>
                <a:latin typeface="IBM Plex Sans"/>
              </a:rPr>
              <a:t>✓</a:t>
            </a:r>
          </a:p>
        </p:txBody>
      </p:sp>
      <p:sp>
        <p:nvSpPr>
          <p:cNvPr id="109" name="Rectangle 108"/>
          <p:cNvSpPr/>
          <p:nvPr/>
        </p:nvSpPr>
        <p:spPr>
          <a:xfrm>
            <a:off x="813816" y="5586983"/>
            <a:ext cx="10442448" cy="320040"/>
          </a:xfrm>
          <a:prstGeom prst="rect">
            <a:avLst/>
          </a:prstGeom>
          <a:solidFill>
            <a:srgbClr val="FFFFFF"/>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886968" y="5605271"/>
            <a:ext cx="3099815" cy="283464"/>
          </a:xfrm>
          <a:prstGeom prst="rect">
            <a:avLst/>
          </a:prstGeom>
          <a:noFill/>
        </p:spPr>
        <p:txBody>
          <a:bodyPr wrap="none" lIns="36576" rIns="36576" tIns="36576" bIns="36576" anchor="ctr">
            <a:spAutoFit/>
          </a:bodyPr>
          <a:lstStyle/>
          <a:p>
            <a:pPr algn="l"/>
            <a:r>
              <a:rPr sz="980" b="1">
                <a:solidFill>
                  <a:srgbClr val="142F26"/>
                </a:solidFill>
                <a:latin typeface="IBM Plex Sans"/>
              </a:rPr>
              <a:t>Egreso</a:t>
            </a:r>
          </a:p>
        </p:txBody>
      </p:sp>
      <p:sp>
        <p:nvSpPr>
          <p:cNvPr id="111" name="Rounded Rectangle 110"/>
          <p:cNvSpPr/>
          <p:nvPr/>
        </p:nvSpPr>
        <p:spPr>
          <a:xfrm>
            <a:off x="4187951" y="5623559"/>
            <a:ext cx="795527" cy="246887"/>
          </a:xfrm>
          <a:prstGeom prst="roundRect">
            <a:avLst/>
          </a:prstGeom>
          <a:solidFill>
            <a:srgbClr val="F8E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4206240" y="5623559"/>
            <a:ext cx="758951" cy="246887"/>
          </a:xfrm>
          <a:prstGeom prst="rect">
            <a:avLst/>
          </a:prstGeom>
          <a:noFill/>
        </p:spPr>
        <p:txBody>
          <a:bodyPr wrap="none" lIns="36576" rIns="36576" tIns="36576" bIns="36576" anchor="ctr">
            <a:spAutoFit/>
          </a:bodyPr>
          <a:lstStyle/>
          <a:p>
            <a:pPr algn="ctr"/>
            <a:r>
              <a:rPr sz="850" b="1">
                <a:solidFill>
                  <a:srgbClr val="8B5E0A"/>
                </a:solidFill>
                <a:latin typeface="IBM Plex Sans"/>
              </a:rPr>
              <a:t>Media</a:t>
            </a:r>
          </a:p>
        </p:txBody>
      </p:sp>
      <p:sp>
        <p:nvSpPr>
          <p:cNvPr id="113" name="Rounded Rectangle 112"/>
          <p:cNvSpPr/>
          <p:nvPr/>
        </p:nvSpPr>
        <p:spPr>
          <a:xfrm>
            <a:off x="5747004" y="5614416"/>
            <a:ext cx="265176" cy="265176"/>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5747004" y="5614416"/>
            <a:ext cx="265176" cy="265176"/>
          </a:xfrm>
          <a:prstGeom prst="rect">
            <a:avLst/>
          </a:prstGeom>
          <a:noFill/>
        </p:spPr>
        <p:txBody>
          <a:bodyPr wrap="none" lIns="36576" rIns="36576" tIns="36576" bIns="36576" anchor="ctr">
            <a:spAutoFit/>
          </a:bodyPr>
          <a:lstStyle/>
          <a:p>
            <a:pPr algn="ctr"/>
            <a:r>
              <a:rPr sz="1300" b="1">
                <a:solidFill>
                  <a:srgbClr val="006444"/>
                </a:solidFill>
                <a:latin typeface="IBM Plex Sans"/>
              </a:rPr>
              <a:t>✓</a:t>
            </a:r>
          </a:p>
        </p:txBody>
      </p:sp>
      <p:sp>
        <p:nvSpPr>
          <p:cNvPr id="115" name="TextBox 114"/>
          <p:cNvSpPr txBox="1"/>
          <p:nvPr/>
        </p:nvSpPr>
        <p:spPr>
          <a:xfrm>
            <a:off x="6647688" y="5605271"/>
            <a:ext cx="1536192" cy="28346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sp>
        <p:nvSpPr>
          <p:cNvPr id="116" name="Rounded Rectangle 115"/>
          <p:cNvSpPr/>
          <p:nvPr/>
        </p:nvSpPr>
        <p:spPr>
          <a:xfrm>
            <a:off x="8819388" y="5614416"/>
            <a:ext cx="265176" cy="265176"/>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8819388" y="5614416"/>
            <a:ext cx="265176" cy="265176"/>
          </a:xfrm>
          <a:prstGeom prst="rect">
            <a:avLst/>
          </a:prstGeom>
          <a:noFill/>
        </p:spPr>
        <p:txBody>
          <a:bodyPr wrap="none" lIns="36576" rIns="36576" tIns="36576" bIns="36576" anchor="ctr">
            <a:spAutoFit/>
          </a:bodyPr>
          <a:lstStyle/>
          <a:p>
            <a:pPr algn="ctr"/>
            <a:r>
              <a:rPr sz="1300" b="1">
                <a:solidFill>
                  <a:srgbClr val="006444"/>
                </a:solidFill>
                <a:latin typeface="IBM Plex Sans"/>
              </a:rPr>
              <a:t>✓</a:t>
            </a:r>
          </a:p>
        </p:txBody>
      </p:sp>
      <p:sp>
        <p:nvSpPr>
          <p:cNvPr id="118" name="TextBox 117"/>
          <p:cNvSpPr txBox="1"/>
          <p:nvPr/>
        </p:nvSpPr>
        <p:spPr>
          <a:xfrm>
            <a:off x="9720072" y="5605271"/>
            <a:ext cx="1536192" cy="283464"/>
          </a:xfrm>
          <a:prstGeom prst="rect">
            <a:avLst/>
          </a:prstGeom>
          <a:noFill/>
        </p:spPr>
        <p:txBody>
          <a:bodyPr wrap="none" lIns="36576" rIns="36576" tIns="36576" bIns="36576" anchor="ctr">
            <a:spAutoFit/>
          </a:bodyPr>
          <a:lstStyle/>
          <a:p>
            <a:pPr algn="ctr"/>
            <a:r>
              <a:rPr sz="1100" b="0">
                <a:solidFill>
                  <a:srgbClr val="A6AFAA"/>
                </a:solidFill>
                <a:latin typeface="IBM Plex Sans"/>
              </a:rPr>
              <a:t>—</a:t>
            </a:r>
          </a:p>
        </p:txBody>
      </p:sp>
      <p:pic>
        <p:nvPicPr>
          <p:cNvPr id="55"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56"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
        <p:nvSpPr>
          <p:cNvPr id="119" name="TextBox 118"/>
          <p:cNvSpPr txBox="1"/>
          <p:nvPr/>
        </p:nvSpPr>
        <p:spPr>
          <a:xfrm>
            <a:off x="1645920" y="6181344"/>
            <a:ext cx="8641080" cy="310896"/>
          </a:xfrm>
          <a:prstGeom prst="rect">
            <a:avLst/>
          </a:prstGeom>
          <a:noFill/>
        </p:spPr>
        <p:txBody>
          <a:bodyPr wrap="none" lIns="36576" rIns="36576" tIns="36576" bIns="36576" anchor="ctr">
            <a:spAutoFit/>
          </a:bodyPr>
          <a:lstStyle/>
          <a:p>
            <a:pPr algn="ctr"/>
            <a:r>
              <a:rPr sz="890" b="0">
                <a:solidFill>
                  <a:srgbClr val="5B6962"/>
                </a:solidFill>
                <a:latin typeface="IBM Plex Sans"/>
              </a:rPr>
              <a:t>Urgencia: peor lectura del sector · Alta &lt;65 % · Media 65–79 % · Baja ≥80 % · El bajo volumen no penaliza</a:t>
            </a:r>
          </a:p>
        </p:txBody>
      </p:sp>
      <p:sp>
        <p:nvSpPr>
          <p:cNvPr id="120" name="TextBox 119"/>
          <p:cNvSpPr txBox="1"/>
          <p:nvPr/>
        </p:nvSpPr>
        <p:spPr>
          <a:xfrm>
            <a:off x="11384280" y="6199632"/>
            <a:ext cx="201168" cy="256032"/>
          </a:xfrm>
          <a:prstGeom prst="rect">
            <a:avLst/>
          </a:prstGeom>
          <a:noFill/>
        </p:spPr>
        <p:txBody>
          <a:bodyPr wrap="none" lIns="36576" rIns="36576" tIns="36576" bIns="36576" anchor="ctr">
            <a:spAutoFit/>
          </a:bodyPr>
          <a:lstStyle/>
          <a:p>
            <a:pPr algn="r"/>
            <a:r>
              <a:rPr sz="1000" b="0">
                <a:solidFill>
                  <a:srgbClr val="5B6962"/>
                </a:solidFill>
                <a:latin typeface="IBM Plex Sans"/>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4"/>
        </a:solidFill>
      </p:bgPr>
    </p:bg>
    <p:spTree>
      <p:nvGrpSpPr>
        <p:cNvPr id="1" name=""/>
        <p:cNvGrpSpPr/>
        <p:nvPr/>
      </p:nvGrpSpPr>
      <p:grpSpPr>
        <a:xfrm>
          <a:off x="0" y="0"/>
          <a:ext cx="0" cy="0"/>
          <a:chOff x="0" y="0"/>
          <a:chExt cx="0" cy="0"/>
        </a:xfrm>
      </p:grpSpPr>
      <p:sp>
        <p:nvSpPr>
          <p:cNvPr id="3" name="Text 1"/>
          <p:cNvSpPr/>
          <p:nvPr>
            <p:ph type="title"/>
          </p:nvPr>
        </p:nvSpPr>
        <p:spPr>
          <a:xfrm>
            <a:off x="812800" y="11023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1" i="0" dirty="0">
                <a:solidFill>
                  <a:srgbClr val="14281E"/>
                </a:solidFill>
                <a:latin typeface="IBM Plex Sans" pitchFamily="34" charset="0"/>
                <a:ea typeface="IBM Plex Sans" pitchFamily="34" charset="-122"/>
                <a:cs typeface="IBM Plex Sans" pitchFamily="34" charset="-120"/>
              </a:rPr>
              <a:t>Preingreso Ricardone: 90 % de lectura sostenido día a día</a:t>
            </a:r>
            <a:endParaRPr lang="en-US" sz="2400" dirty="0"/>
          </a:p>
        </p:txBody>
      </p:sp>
      <p:sp>
        <p:nvSpPr>
          <p:cNvPr id="4" name="Text 2"/>
          <p:cNvSpPr/>
          <p:nvPr/>
        </p:nvSpPr>
        <p:spPr>
          <a:xfrm>
            <a:off x="812800" y="1615380"/>
            <a:ext cx="392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 de camiones leídos por día · septiembre</a:t>
            </a:r>
            <a:endParaRPr lang="en-US" sz="1200" dirty="0"/>
          </a:p>
        </p:txBody>
      </p:sp>
      <p:sp>
        <p:nvSpPr>
          <p:cNvPr id="5" name="Text 3"/>
          <p:cNvSpPr/>
          <p:nvPr/>
        </p:nvSpPr>
        <p:spPr>
          <a:xfrm>
            <a:off x="812800" y="1920180"/>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70"/>
                </a:solidFill>
                <a:latin typeface="IBM Plex Sans" pitchFamily="34" charset="0"/>
                <a:ea typeface="IBM Plex Sans" pitchFamily="34" charset="-122"/>
                <a:cs typeface="IBM Plex Sans" pitchFamily="34" charset="-120"/>
              </a:rPr>
              <a:t>100</a:t>
            </a:r>
            <a:endParaRPr lang="en-US" sz="1200" dirty="0"/>
          </a:p>
        </p:txBody>
      </p:sp>
      <p:sp>
        <p:nvSpPr>
          <p:cNvPr id="6" name="Text 4"/>
          <p:cNvSpPr/>
          <p:nvPr/>
        </p:nvSpPr>
        <p:spPr>
          <a:xfrm>
            <a:off x="812800" y="2618680"/>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70"/>
                </a:solidFill>
                <a:latin typeface="IBM Plex Sans" pitchFamily="34" charset="0"/>
                <a:ea typeface="IBM Plex Sans" pitchFamily="34" charset="-122"/>
                <a:cs typeface="IBM Plex Sans" pitchFamily="34" charset="-120"/>
              </a:rPr>
              <a:t>90</a:t>
            </a:r>
            <a:endParaRPr lang="en-US" sz="1200" dirty="0"/>
          </a:p>
        </p:txBody>
      </p:sp>
      <p:sp>
        <p:nvSpPr>
          <p:cNvPr id="7" name="Text 5"/>
          <p:cNvSpPr/>
          <p:nvPr/>
        </p:nvSpPr>
        <p:spPr>
          <a:xfrm>
            <a:off x="812800" y="3317180"/>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70"/>
                </a:solidFill>
                <a:latin typeface="IBM Plex Sans" pitchFamily="34" charset="0"/>
                <a:ea typeface="IBM Plex Sans" pitchFamily="34" charset="-122"/>
                <a:cs typeface="IBM Plex Sans" pitchFamily="34" charset="-120"/>
              </a:rPr>
              <a:t>80</a:t>
            </a:r>
            <a:endParaRPr lang="en-US" sz="1200" dirty="0"/>
          </a:p>
        </p:txBody>
      </p:sp>
      <p:sp>
        <p:nvSpPr>
          <p:cNvPr id="8" name="Text 6"/>
          <p:cNvSpPr/>
          <p:nvPr/>
        </p:nvSpPr>
        <p:spPr>
          <a:xfrm>
            <a:off x="812800" y="4015680"/>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70"/>
                </a:solidFill>
                <a:latin typeface="IBM Plex Sans" pitchFamily="34" charset="0"/>
                <a:ea typeface="IBM Plex Sans" pitchFamily="34" charset="-122"/>
                <a:cs typeface="IBM Plex Sans" pitchFamily="34" charset="-120"/>
              </a:rPr>
              <a:t>70</a:t>
            </a:r>
            <a:endParaRPr lang="en-US" sz="1200" dirty="0"/>
          </a:p>
        </p:txBody>
      </p:sp>
      <p:sp>
        <p:nvSpPr>
          <p:cNvPr id="9" name="Text 7"/>
          <p:cNvSpPr/>
          <p:nvPr/>
        </p:nvSpPr>
        <p:spPr>
          <a:xfrm>
            <a:off x="812800" y="4714180"/>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70"/>
                </a:solidFill>
                <a:latin typeface="IBM Plex Sans" pitchFamily="34" charset="0"/>
                <a:ea typeface="IBM Plex Sans" pitchFamily="34" charset="-122"/>
                <a:cs typeface="IBM Plex Sans" pitchFamily="34" charset="-120"/>
              </a:rPr>
              <a:t>60</a:t>
            </a:r>
            <a:endParaRPr lang="en-US" sz="1200" dirty="0"/>
          </a:p>
        </p:txBody>
      </p:sp>
      <p:pic>
        <p:nvPicPr>
          <p:cNvPr id="10" name="Image 0" descr="Gráfico de área: porcentaje diario de camiones leídos en Preingreso Ricardone durante septiembre, entre 78 y 95 por ciento, con umbral de alerta en 85 por ciento">    </p:cNvPr>
          <p:cNvPicPr>
            <a:picLocks noChangeAspect="1"/>
          </p:cNvPicPr>
          <p:nvPr/>
        </p:nvPicPr>
        <p:blipFill>
          <a:blip r:embed="rId1"/>
          <a:srcRect l="0" r="0" t="-12" b="-12"/>
          <a:stretch/>
        </p:blipFill>
        <p:spPr>
          <a:xfrm>
            <a:off x="1257300" y="1996380"/>
            <a:ext cx="6985000" cy="2794000"/>
          </a:xfrm>
          <a:prstGeom prst="rect">
            <a:avLst/>
          </a:prstGeom>
        </p:spPr>
      </p:pic>
      <p:sp>
        <p:nvSpPr>
          <p:cNvPr id="11" name="Text 8"/>
          <p:cNvSpPr/>
          <p:nvPr/>
        </p:nvSpPr>
        <p:spPr>
          <a:xfrm>
            <a:off x="6280150" y="27964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3261E"/>
                </a:solidFill>
                <a:latin typeface="IBM Plex Sans" pitchFamily="34" charset="0"/>
                <a:ea typeface="IBM Plex Sans" pitchFamily="34" charset="-122"/>
                <a:cs typeface="IBM Plex Sans" pitchFamily="34" charset="-120"/>
              </a:rPr>
              <a:t>Umbral de alerta 85 %</a:t>
            </a:r>
            <a:endParaRPr lang="en-US" sz="1200" dirty="0"/>
          </a:p>
        </p:txBody>
      </p:sp>
      <p:sp>
        <p:nvSpPr>
          <p:cNvPr id="12" name="Text 9"/>
          <p:cNvSpPr/>
          <p:nvPr/>
        </p:nvSpPr>
        <p:spPr>
          <a:xfrm>
            <a:off x="1892300" y="3418780"/>
            <a:ext cx="1701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3261E"/>
                </a:solidFill>
                <a:latin typeface="IBM Plex Sans" pitchFamily="34" charset="0"/>
                <a:ea typeface="IBM Plex Sans" pitchFamily="34" charset="-122"/>
                <a:cs typeface="IBM Plex Sans" pitchFamily="34" charset="-120"/>
              </a:rPr>
              <a:t>03/09 · 78 %</a:t>
            </a:r>
            <a:endParaRPr lang="en-US" sz="1200" dirty="0"/>
          </a:p>
        </p:txBody>
      </p:sp>
      <p:sp>
        <p:nvSpPr>
          <p:cNvPr id="13" name="Text 10"/>
          <p:cNvSpPr/>
          <p:nvPr/>
        </p:nvSpPr>
        <p:spPr>
          <a:xfrm>
            <a:off x="1104900" y="4841180"/>
            <a:ext cx="43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A7A70"/>
                </a:solidFill>
                <a:latin typeface="IBM Plex Sans" pitchFamily="34" charset="0"/>
                <a:ea typeface="IBM Plex Sans" pitchFamily="34" charset="-122"/>
                <a:cs typeface="IBM Plex Sans" pitchFamily="34" charset="-120"/>
              </a:rPr>
              <a:t>1</a:t>
            </a:r>
            <a:endParaRPr lang="en-US" sz="1200" dirty="0"/>
          </a:p>
        </p:txBody>
      </p:sp>
      <p:sp>
        <p:nvSpPr>
          <p:cNvPr id="14" name="Text 11"/>
          <p:cNvSpPr/>
          <p:nvPr/>
        </p:nvSpPr>
        <p:spPr>
          <a:xfrm>
            <a:off x="2076450" y="4841180"/>
            <a:ext cx="43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A7A70"/>
                </a:solidFill>
                <a:latin typeface="IBM Plex Sans" pitchFamily="34" charset="0"/>
                <a:ea typeface="IBM Plex Sans" pitchFamily="34" charset="-122"/>
                <a:cs typeface="IBM Plex Sans" pitchFamily="34" charset="-120"/>
              </a:rPr>
              <a:t>5</a:t>
            </a:r>
            <a:endParaRPr lang="en-US" sz="1200" dirty="0"/>
          </a:p>
        </p:txBody>
      </p:sp>
      <p:sp>
        <p:nvSpPr>
          <p:cNvPr id="15" name="Text 12"/>
          <p:cNvSpPr/>
          <p:nvPr/>
        </p:nvSpPr>
        <p:spPr>
          <a:xfrm>
            <a:off x="3111500" y="4841180"/>
            <a:ext cx="43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A7A70"/>
                </a:solidFill>
                <a:latin typeface="IBM Plex Sans" pitchFamily="34" charset="0"/>
                <a:ea typeface="IBM Plex Sans" pitchFamily="34" charset="-122"/>
                <a:cs typeface="IBM Plex Sans" pitchFamily="34" charset="-120"/>
              </a:rPr>
              <a:t>9</a:t>
            </a:r>
            <a:endParaRPr lang="en-US" sz="1200" dirty="0"/>
          </a:p>
        </p:txBody>
      </p:sp>
      <p:sp>
        <p:nvSpPr>
          <p:cNvPr id="16" name="Text 13"/>
          <p:cNvSpPr/>
          <p:nvPr/>
        </p:nvSpPr>
        <p:spPr>
          <a:xfrm>
            <a:off x="4146550" y="4841180"/>
            <a:ext cx="43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A7A70"/>
                </a:solidFill>
                <a:latin typeface="IBM Plex Sans" pitchFamily="34" charset="0"/>
                <a:ea typeface="IBM Plex Sans" pitchFamily="34" charset="-122"/>
                <a:cs typeface="IBM Plex Sans" pitchFamily="34" charset="-120"/>
              </a:rPr>
              <a:t>13</a:t>
            </a:r>
            <a:endParaRPr lang="en-US" sz="1200" dirty="0"/>
          </a:p>
        </p:txBody>
      </p:sp>
      <p:sp>
        <p:nvSpPr>
          <p:cNvPr id="17" name="Text 14"/>
          <p:cNvSpPr/>
          <p:nvPr/>
        </p:nvSpPr>
        <p:spPr>
          <a:xfrm>
            <a:off x="5181600" y="4841180"/>
            <a:ext cx="43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A7A70"/>
                </a:solidFill>
                <a:latin typeface="IBM Plex Sans" pitchFamily="34" charset="0"/>
                <a:ea typeface="IBM Plex Sans" pitchFamily="34" charset="-122"/>
                <a:cs typeface="IBM Plex Sans" pitchFamily="34" charset="-120"/>
              </a:rPr>
              <a:t>17</a:t>
            </a:r>
            <a:endParaRPr lang="en-US" sz="1200" dirty="0"/>
          </a:p>
        </p:txBody>
      </p:sp>
      <p:sp>
        <p:nvSpPr>
          <p:cNvPr id="18" name="Text 15"/>
          <p:cNvSpPr/>
          <p:nvPr/>
        </p:nvSpPr>
        <p:spPr>
          <a:xfrm>
            <a:off x="6216650" y="4841180"/>
            <a:ext cx="43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A7A70"/>
                </a:solidFill>
                <a:latin typeface="IBM Plex Sans" pitchFamily="34" charset="0"/>
                <a:ea typeface="IBM Plex Sans" pitchFamily="34" charset="-122"/>
                <a:cs typeface="IBM Plex Sans" pitchFamily="34" charset="-120"/>
              </a:rPr>
              <a:t>21</a:t>
            </a:r>
            <a:endParaRPr lang="en-US" sz="1200" dirty="0"/>
          </a:p>
        </p:txBody>
      </p:sp>
      <p:sp>
        <p:nvSpPr>
          <p:cNvPr id="19" name="Text 16"/>
          <p:cNvSpPr/>
          <p:nvPr/>
        </p:nvSpPr>
        <p:spPr>
          <a:xfrm>
            <a:off x="7181850" y="4841180"/>
            <a:ext cx="43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A7A70"/>
                </a:solidFill>
                <a:latin typeface="IBM Plex Sans" pitchFamily="34" charset="0"/>
                <a:ea typeface="IBM Plex Sans" pitchFamily="34" charset="-122"/>
                <a:cs typeface="IBM Plex Sans" pitchFamily="34" charset="-120"/>
              </a:rPr>
              <a:t>26</a:t>
            </a:r>
            <a:endParaRPr lang="en-US" sz="1200" dirty="0"/>
          </a:p>
        </p:txBody>
      </p:sp>
      <p:sp>
        <p:nvSpPr>
          <p:cNvPr id="20" name="Text 17"/>
          <p:cNvSpPr/>
          <p:nvPr/>
        </p:nvSpPr>
        <p:spPr>
          <a:xfrm>
            <a:off x="8026400" y="4841180"/>
            <a:ext cx="43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A7A70"/>
                </a:solidFill>
                <a:latin typeface="IBM Plex Sans" pitchFamily="34" charset="0"/>
                <a:ea typeface="IBM Plex Sans" pitchFamily="34" charset="-122"/>
                <a:cs typeface="IBM Plex Sans" pitchFamily="34" charset="-120"/>
              </a:rPr>
              <a:t>30</a:t>
            </a:r>
            <a:endParaRPr lang="en-US" sz="1200" dirty="0"/>
          </a:p>
        </p:txBody>
      </p:sp>
      <p:sp>
        <p:nvSpPr>
          <p:cNvPr id="21" name="Text 18"/>
          <p:cNvSpPr/>
          <p:nvPr/>
        </p:nvSpPr>
        <p:spPr>
          <a:xfrm>
            <a:off x="8559800" y="1615380"/>
            <a:ext cx="290398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E1B4E"/>
                </a:solidFill>
                <a:latin typeface="IBM Plex Sans" pitchFamily="34" charset="0"/>
                <a:ea typeface="IBM Plex Sans" pitchFamily="34" charset="-122"/>
                <a:cs typeface="IBM Plex Sans" pitchFamily="34" charset="-120"/>
              </a:rPr>
              <a:t>Cuándo se dispara una alerta</a:t>
            </a:r>
            <a:endParaRPr lang="en-US" sz="1500" dirty="0"/>
          </a:p>
        </p:txBody>
      </p:sp>
      <p:sp>
        <p:nvSpPr>
          <p:cNvPr id="22" name="Shape 19"/>
          <p:cNvSpPr/>
          <p:nvPr/>
        </p:nvSpPr>
        <p:spPr>
          <a:xfrm>
            <a:off x="8562975" y="1948755"/>
            <a:ext cx="2813050" cy="872331"/>
          </a:xfrm>
          <a:prstGeom prst="roundRect">
            <a:avLst>
              <a:gd name="adj" fmla="val 8371"/>
            </a:avLst>
          </a:prstGeom>
          <a:solidFill>
            <a:srgbClr val="FCFDFB"/>
          </a:solidFill>
          <a:ln w="6350">
            <a:solidFill>
              <a:srgbClr val="D3E2D7"/>
            </a:solidFill>
            <a:prstDash val="solid"/>
          </a:ln>
        </p:spPr>
        <p:txBody>
          <a:bodyPr/>
          <a:p/>
        </p:txBody>
      </p:sp>
      <p:sp>
        <p:nvSpPr>
          <p:cNvPr id="23" name="Text 20"/>
          <p:cNvSpPr/>
          <p:nvPr/>
        </p:nvSpPr>
        <p:spPr>
          <a:xfrm>
            <a:off x="8693150" y="2053530"/>
            <a:ext cx="262928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Al instante</a:t>
            </a:r>
            <a:endParaRPr lang="en-US" sz="1200" dirty="0"/>
          </a:p>
        </p:txBody>
      </p:sp>
      <p:sp>
        <p:nvSpPr>
          <p:cNvPr id="24" name="Text 21"/>
          <p:cNvSpPr/>
          <p:nvPr/>
        </p:nvSpPr>
        <p:spPr>
          <a:xfrm>
            <a:off x="8693150" y="2304951"/>
            <a:ext cx="2629281"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D52"/>
                </a:solidFill>
                <a:latin typeface="IBM Plex Sans" pitchFamily="34" charset="0"/>
                <a:ea typeface="IBM Plex Sans" pitchFamily="34" charset="-122"/>
                <a:cs typeface="IBM Plex Sans" pitchFamily="34" charset="-120"/>
              </a:rPr>
              <a:t>2 horas sin lecturas con camiones en planta</a:t>
            </a:r>
            <a:endParaRPr lang="en-US" sz="1200" dirty="0"/>
          </a:p>
        </p:txBody>
      </p:sp>
      <p:sp>
        <p:nvSpPr>
          <p:cNvPr id="25" name="Shape 22"/>
          <p:cNvSpPr/>
          <p:nvPr/>
        </p:nvSpPr>
        <p:spPr>
          <a:xfrm>
            <a:off x="8562975" y="2929037"/>
            <a:ext cx="2813050" cy="872331"/>
          </a:xfrm>
          <a:prstGeom prst="roundRect">
            <a:avLst>
              <a:gd name="adj" fmla="val 8371"/>
            </a:avLst>
          </a:prstGeom>
          <a:solidFill>
            <a:srgbClr val="FCFDFB"/>
          </a:solidFill>
          <a:ln w="6350">
            <a:solidFill>
              <a:srgbClr val="D3E2D7"/>
            </a:solidFill>
            <a:prstDash val="solid"/>
          </a:ln>
        </p:spPr>
        <p:txBody>
          <a:bodyPr/>
          <a:p/>
        </p:txBody>
      </p:sp>
      <p:sp>
        <p:nvSpPr>
          <p:cNvPr id="26" name="Text 23"/>
          <p:cNvSpPr/>
          <p:nvPr/>
        </p:nvSpPr>
        <p:spPr>
          <a:xfrm>
            <a:off x="8693150" y="3033812"/>
            <a:ext cx="262928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En el día</a:t>
            </a:r>
            <a:endParaRPr lang="en-US" sz="1200" dirty="0"/>
          </a:p>
        </p:txBody>
      </p:sp>
      <p:sp>
        <p:nvSpPr>
          <p:cNvPr id="27" name="Text 24"/>
          <p:cNvSpPr/>
          <p:nvPr/>
        </p:nvSpPr>
        <p:spPr>
          <a:xfrm>
            <a:off x="8693150" y="3285232"/>
            <a:ext cx="2629281"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D52"/>
                </a:solidFill>
                <a:latin typeface="IBM Plex Sans" pitchFamily="34" charset="0"/>
                <a:ea typeface="IBM Plex Sans" pitchFamily="34" charset="-122"/>
                <a:cs typeface="IBM Plex Sans" pitchFamily="34" charset="-120"/>
              </a:rPr>
              <a:t>Lectura bajo 85 % o menos de la mitad de las lecturas habituales</a:t>
            </a:r>
            <a:endParaRPr lang="en-US" sz="1200" dirty="0"/>
          </a:p>
        </p:txBody>
      </p:sp>
      <p:sp>
        <p:nvSpPr>
          <p:cNvPr id="28" name="Shape 25"/>
          <p:cNvSpPr/>
          <p:nvPr/>
        </p:nvSpPr>
        <p:spPr>
          <a:xfrm>
            <a:off x="8562975" y="3909318"/>
            <a:ext cx="2813050" cy="872331"/>
          </a:xfrm>
          <a:prstGeom prst="roundRect">
            <a:avLst>
              <a:gd name="adj" fmla="val 8371"/>
            </a:avLst>
          </a:prstGeom>
          <a:solidFill>
            <a:srgbClr val="FCFDFB"/>
          </a:solidFill>
          <a:ln w="6350">
            <a:solidFill>
              <a:srgbClr val="D3E2D7"/>
            </a:solidFill>
            <a:prstDash val="solid"/>
          </a:ln>
        </p:spPr>
        <p:txBody>
          <a:bodyPr/>
          <a:p/>
        </p:txBody>
      </p:sp>
      <p:sp>
        <p:nvSpPr>
          <p:cNvPr id="29" name="Text 26"/>
          <p:cNvSpPr/>
          <p:nvPr/>
        </p:nvSpPr>
        <p:spPr>
          <a:xfrm>
            <a:off x="8693150" y="4014093"/>
            <a:ext cx="262928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Cada semana</a:t>
            </a:r>
            <a:endParaRPr lang="en-US" sz="1200" dirty="0"/>
          </a:p>
        </p:txBody>
      </p:sp>
      <p:sp>
        <p:nvSpPr>
          <p:cNvPr id="30" name="Text 27"/>
          <p:cNvSpPr/>
          <p:nvPr/>
        </p:nvSpPr>
        <p:spPr>
          <a:xfrm>
            <a:off x="8693150" y="4265513"/>
            <a:ext cx="2629281"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D52"/>
                </a:solidFill>
                <a:latin typeface="IBM Plex Sans" pitchFamily="34" charset="0"/>
                <a:ea typeface="IBM Plex Sans" pitchFamily="34" charset="-122"/>
                <a:cs typeface="IBM Plex Sans" pitchFamily="34" charset="-120"/>
              </a:rPr>
              <a:t>Informe por cámara y turno en la reunión de logística</a:t>
            </a:r>
            <a:endParaRPr lang="en-US" sz="1200" dirty="0"/>
          </a:p>
        </p:txBody>
      </p:sp>
      <p:pic>
        <p:nvPicPr>
          <p:cNvPr id="31" name="Image 1" descr="Nueva Vicentin Argentina">    </p:cNvPr>
          <p:cNvPicPr>
            <a:picLocks noChangeAspect="1"/>
          </p:cNvPicPr>
          <p:nvPr/>
        </p:nvPicPr>
        <p:blipFill>
          <a:blip r:embed="rId2"/>
          <a:srcRect l="-167" r="-167" t="0" b="0"/>
          <a:stretch/>
        </p:blipFill>
        <p:spPr>
          <a:xfrm>
            <a:off x="812800" y="6197600"/>
            <a:ext cx="571500" cy="304800"/>
          </a:xfrm>
          <a:prstGeom prst="rect">
            <a:avLst/>
          </a:prstGeom>
        </p:spPr>
      </p:pic>
      <p:pic>
        <p:nvPicPr>
          <p:cNvPr id="32" name="Image 2" descr="Bimtrazer">    </p:cNvPr>
          <p:cNvPicPr>
            <a:picLocks noChangeAspect="1"/>
          </p:cNvPicPr>
          <p:nvPr/>
        </p:nvPicPr>
        <p:blipFill>
          <a:blip r:embed="rId3"/>
          <a:srcRect l="0" r="0" t="-63" b="-63"/>
          <a:stretch/>
        </p:blipFill>
        <p:spPr>
          <a:xfrm>
            <a:off x="10731500" y="6197600"/>
            <a:ext cx="647700" cy="304800"/>
          </a:xfrm>
          <a:prstGeom prst="rect">
            <a:avLst/>
          </a:prstGeom>
        </p:spPr>
      </p:pic>
      <p:sp>
        <p:nvSpPr>
          <p:cNvPr id="33" name="Text 28"/>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Preingreso Ricardone · 11.087 camiones en el mes · día del mes en el eje horizontal · 10</a:t>
            </a:r>
            <a:endParaRPr lang="en-US" sz="1200" dirty="0"/>
          </a:p>
        </p:txBody>
      </p:sp>
      <p:sp>
        <p:nvSpPr>
          <p:cNvPr id="34" name="Rounded Rectangle 33"/>
          <p:cNvSpPr/>
          <p:nvPr/>
        </p:nvSpPr>
        <p:spPr>
          <a:xfrm>
            <a:off x="812800" y="711200"/>
            <a:ext cx="3770193" cy="289520"/>
          </a:xfrm>
          <a:prstGeom prst="roundRect">
            <a:avLst>
              <a:gd name="adj" fmla="val 18000"/>
            </a:avLst>
          </a:prstGeom>
          <a:solidFill>
            <a:srgbClr val="2E1B4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l"/>
            <a:r>
              <a:rPr sz="950" b="1">
                <a:solidFill>
                  <a:srgbClr val="FFFFFF"/>
                </a:solidFill>
                <a:latin typeface="IBM Plex Sans"/>
              </a:rPr>
              <a:t>PROPUESTA · MONITOREO DE LA LECTURA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563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6333" r="6333" t="0" b="0"/>
          <a:stretch/>
        </p:blipFill>
        <p:spPr>
          <a:xfrm>
            <a:off x="0" y="0"/>
            <a:ext cx="12192000" cy="6858000"/>
          </a:xfrm>
          <a:prstGeom prst="rect">
            <a:avLst/>
          </a:prstGeom>
        </p:spPr>
      </p:pic>
      <p:sp>
        <p:nvSpPr>
          <p:cNvPr id="3" name="Rectangle 2"/>
          <p:cNvSpPr/>
          <p:nvPr/>
        </p:nvSpPr>
        <p:spPr>
          <a:xfrm>
            <a:off x="0" y="0"/>
            <a:ext cx="12191695" cy="6858000"/>
          </a:xfrm>
          <a:prstGeom prst="rect">
            <a:avLst/>
          </a:prstGeom>
          <a:solidFill>
            <a:srgbClr val="003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3816" y="676656"/>
            <a:ext cx="10607040" cy="256032"/>
          </a:xfrm>
          <a:prstGeom prst="rect">
            <a:avLst/>
          </a:prstGeom>
          <a:noFill/>
        </p:spPr>
        <p:txBody>
          <a:bodyPr wrap="none" lIns="36576" rIns="36576" tIns="36576" bIns="36576" anchor="ctr">
            <a:spAutoFit/>
          </a:bodyPr>
          <a:lstStyle/>
          <a:p>
            <a:pPr algn="l"/>
            <a:r>
              <a:rPr sz="1100" b="1">
                <a:solidFill>
                  <a:srgbClr val="BED7CC"/>
                </a:solidFill>
                <a:latin typeface="IBM Plex Sans"/>
              </a:rPr>
              <a:t>OBJETIVOS FINALES</a:t>
            </a:r>
          </a:p>
        </p:txBody>
      </p:sp>
      <p:sp>
        <p:nvSpPr>
          <p:cNvPr id="5" name="TextBox 4"/>
          <p:cNvSpPr txBox="1"/>
          <p:nvPr/>
        </p:nvSpPr>
        <p:spPr>
          <a:xfrm>
            <a:off x="813816" y="987552"/>
            <a:ext cx="10607040" cy="621792"/>
          </a:xfrm>
          <a:prstGeom prst="rect">
            <a:avLst/>
          </a:prstGeom>
          <a:noFill/>
        </p:spPr>
        <p:txBody>
          <a:bodyPr wrap="none" lIns="36576" rIns="36576" tIns="36576" bIns="36576" anchor="ctr">
            <a:spAutoFit/>
          </a:bodyPr>
          <a:lstStyle/>
          <a:p>
            <a:pPr algn="l"/>
            <a:r>
              <a:rPr sz="2900" b="1">
                <a:solidFill>
                  <a:srgbClr val="FFFFFF"/>
                </a:solidFill>
                <a:latin typeface="IBM Plex Sans"/>
              </a:rPr>
              <a:t>Objetivos de lectura y cobertura del recorrido</a:t>
            </a:r>
          </a:p>
        </p:txBody>
      </p:sp>
      <p:sp>
        <p:nvSpPr>
          <p:cNvPr id="6" name="TextBox 5"/>
          <p:cNvSpPr txBox="1"/>
          <p:nvPr/>
        </p:nvSpPr>
        <p:spPr>
          <a:xfrm>
            <a:off x="813816" y="1591056"/>
            <a:ext cx="10424160" cy="347472"/>
          </a:xfrm>
          <a:prstGeom prst="rect">
            <a:avLst/>
          </a:prstGeom>
          <a:noFill/>
        </p:spPr>
        <p:txBody>
          <a:bodyPr wrap="none" lIns="36576" rIns="36576" tIns="36576" bIns="36576" anchor="ctr">
            <a:spAutoFit/>
          </a:bodyPr>
          <a:lstStyle/>
          <a:p>
            <a:pPr algn="l"/>
            <a:r>
              <a:rPr sz="1350" b="0">
                <a:solidFill>
                  <a:srgbClr val="E0EBE6"/>
                </a:solidFill>
                <a:latin typeface="IBM Plex Sans"/>
              </a:rPr>
              <a:t>El seguimiento deja de mirar cámaras aisladas y pasa a medir cobertura efectiva del recorrido.</a:t>
            </a:r>
          </a:p>
        </p:txBody>
      </p:sp>
      <p:sp>
        <p:nvSpPr>
          <p:cNvPr id="7" name="Rounded Rectangle 6"/>
          <p:cNvSpPr/>
          <p:nvPr/>
        </p:nvSpPr>
        <p:spPr>
          <a:xfrm>
            <a:off x="813816" y="2057400"/>
            <a:ext cx="3374136" cy="1325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33271" y="2212848"/>
            <a:ext cx="2907792" cy="228600"/>
          </a:xfrm>
          <a:prstGeom prst="rect">
            <a:avLst/>
          </a:prstGeom>
          <a:noFill/>
        </p:spPr>
        <p:txBody>
          <a:bodyPr wrap="none" lIns="36576" rIns="36576" tIns="36576" bIns="36576" anchor="ctr">
            <a:spAutoFit/>
          </a:bodyPr>
          <a:lstStyle/>
          <a:p>
            <a:pPr algn="l"/>
            <a:r>
              <a:rPr sz="1000" b="1">
                <a:solidFill>
                  <a:srgbClr val="142F26"/>
                </a:solidFill>
                <a:latin typeface="IBM Plex Sans"/>
              </a:rPr>
              <a:t>DE DÍA</a:t>
            </a:r>
          </a:p>
        </p:txBody>
      </p:sp>
      <p:sp>
        <p:nvSpPr>
          <p:cNvPr id="9" name="TextBox 8"/>
          <p:cNvSpPr txBox="1"/>
          <p:nvPr/>
        </p:nvSpPr>
        <p:spPr>
          <a:xfrm>
            <a:off x="1033271" y="2450592"/>
            <a:ext cx="2907792" cy="502920"/>
          </a:xfrm>
          <a:prstGeom prst="rect">
            <a:avLst/>
          </a:prstGeom>
          <a:noFill/>
        </p:spPr>
        <p:txBody>
          <a:bodyPr wrap="none" lIns="36576" rIns="36576" tIns="36576" bIns="36576" anchor="ctr">
            <a:spAutoFit/>
          </a:bodyPr>
          <a:lstStyle/>
          <a:p>
            <a:pPr algn="l"/>
            <a:r>
              <a:rPr sz="2900" b="1">
                <a:solidFill>
                  <a:srgbClr val="006444"/>
                </a:solidFill>
                <a:latin typeface="IBM Plex Sans"/>
              </a:rPr>
              <a:t>95 %</a:t>
            </a:r>
          </a:p>
        </p:txBody>
      </p:sp>
      <p:sp>
        <p:nvSpPr>
          <p:cNvPr id="10" name="TextBox 9"/>
          <p:cNvSpPr txBox="1"/>
          <p:nvPr/>
        </p:nvSpPr>
        <p:spPr>
          <a:xfrm>
            <a:off x="1033271" y="2962656"/>
            <a:ext cx="2907792" cy="237744"/>
          </a:xfrm>
          <a:prstGeom prst="rect">
            <a:avLst/>
          </a:prstGeom>
          <a:noFill/>
        </p:spPr>
        <p:txBody>
          <a:bodyPr wrap="none" lIns="36576" rIns="36576" tIns="36576" bIns="36576" anchor="ctr">
            <a:spAutoFit/>
          </a:bodyPr>
          <a:lstStyle/>
          <a:p>
            <a:pPr algn="l"/>
            <a:r>
              <a:rPr sz="1050" b="0">
                <a:solidFill>
                  <a:srgbClr val="5B6962"/>
                </a:solidFill>
                <a:latin typeface="IBM Plex Sans"/>
              </a:rPr>
              <a:t>hoy 83 %</a:t>
            </a:r>
          </a:p>
        </p:txBody>
      </p:sp>
      <p:sp>
        <p:nvSpPr>
          <p:cNvPr id="11" name="Rounded Rectangle 10"/>
          <p:cNvSpPr/>
          <p:nvPr/>
        </p:nvSpPr>
        <p:spPr>
          <a:xfrm>
            <a:off x="4407408" y="2057400"/>
            <a:ext cx="3374136" cy="1325880"/>
          </a:xfrm>
          <a:prstGeom prst="roundRect">
            <a:avLst/>
          </a:prstGeom>
          <a:solidFill>
            <a:srgbClr val="2E1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6864" y="2212848"/>
            <a:ext cx="2907792" cy="228600"/>
          </a:xfrm>
          <a:prstGeom prst="rect">
            <a:avLst/>
          </a:prstGeom>
          <a:noFill/>
        </p:spPr>
        <p:txBody>
          <a:bodyPr wrap="none" lIns="36576" rIns="36576" tIns="36576" bIns="36576" anchor="ctr">
            <a:spAutoFit/>
          </a:bodyPr>
          <a:lstStyle/>
          <a:p>
            <a:pPr algn="l"/>
            <a:r>
              <a:rPr sz="1000" b="1">
                <a:solidFill>
                  <a:srgbClr val="FFFFFF"/>
                </a:solidFill>
                <a:latin typeface="IBM Plex Sans"/>
              </a:rPr>
              <a:t>DE NOCHE</a:t>
            </a:r>
          </a:p>
        </p:txBody>
      </p:sp>
      <p:sp>
        <p:nvSpPr>
          <p:cNvPr id="13" name="TextBox 12"/>
          <p:cNvSpPr txBox="1"/>
          <p:nvPr/>
        </p:nvSpPr>
        <p:spPr>
          <a:xfrm>
            <a:off x="4626864" y="2450592"/>
            <a:ext cx="2907792" cy="502920"/>
          </a:xfrm>
          <a:prstGeom prst="rect">
            <a:avLst/>
          </a:prstGeom>
          <a:noFill/>
        </p:spPr>
        <p:txBody>
          <a:bodyPr wrap="none" lIns="36576" rIns="36576" tIns="36576" bIns="36576" anchor="ctr">
            <a:spAutoFit/>
          </a:bodyPr>
          <a:lstStyle/>
          <a:p>
            <a:pPr algn="l"/>
            <a:r>
              <a:rPr sz="2900" b="1">
                <a:solidFill>
                  <a:srgbClr val="FFFFFF"/>
                </a:solidFill>
                <a:latin typeface="IBM Plex Sans"/>
              </a:rPr>
              <a:t>90 %</a:t>
            </a:r>
          </a:p>
        </p:txBody>
      </p:sp>
      <p:sp>
        <p:nvSpPr>
          <p:cNvPr id="14" name="TextBox 13"/>
          <p:cNvSpPr txBox="1"/>
          <p:nvPr/>
        </p:nvSpPr>
        <p:spPr>
          <a:xfrm>
            <a:off x="4626864" y="2962656"/>
            <a:ext cx="2907792" cy="237744"/>
          </a:xfrm>
          <a:prstGeom prst="rect">
            <a:avLst/>
          </a:prstGeom>
          <a:noFill/>
        </p:spPr>
        <p:txBody>
          <a:bodyPr wrap="none" lIns="36576" rIns="36576" tIns="36576" bIns="36576" anchor="ctr">
            <a:spAutoFit/>
          </a:bodyPr>
          <a:lstStyle/>
          <a:p>
            <a:pPr algn="l"/>
            <a:r>
              <a:rPr sz="1050" b="0">
                <a:solidFill>
                  <a:srgbClr val="DED5EB"/>
                </a:solidFill>
                <a:latin typeface="IBM Plex Sans"/>
              </a:rPr>
              <a:t>hoy 67 %</a:t>
            </a:r>
          </a:p>
        </p:txBody>
      </p:sp>
      <p:sp>
        <p:nvSpPr>
          <p:cNvPr id="15" name="Rounded Rectangle 14"/>
          <p:cNvSpPr/>
          <p:nvPr/>
        </p:nvSpPr>
        <p:spPr>
          <a:xfrm>
            <a:off x="8001000" y="2057400"/>
            <a:ext cx="3374136" cy="1325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0456" y="2212848"/>
            <a:ext cx="2907792" cy="228600"/>
          </a:xfrm>
          <a:prstGeom prst="rect">
            <a:avLst/>
          </a:prstGeom>
          <a:noFill/>
        </p:spPr>
        <p:txBody>
          <a:bodyPr wrap="none" lIns="36576" rIns="36576" tIns="36576" bIns="36576" anchor="ctr">
            <a:spAutoFit/>
          </a:bodyPr>
          <a:lstStyle/>
          <a:p>
            <a:pPr algn="l"/>
            <a:r>
              <a:rPr sz="1000" b="1">
                <a:solidFill>
                  <a:srgbClr val="142F26"/>
                </a:solidFill>
                <a:latin typeface="IBM Plex Sans"/>
              </a:rPr>
              <a:t>TODAS LAS CÁMARAS</a:t>
            </a:r>
          </a:p>
        </p:txBody>
      </p:sp>
      <p:sp>
        <p:nvSpPr>
          <p:cNvPr id="17" name="TextBox 16"/>
          <p:cNvSpPr txBox="1"/>
          <p:nvPr/>
        </p:nvSpPr>
        <p:spPr>
          <a:xfrm>
            <a:off x="8220456" y="2450592"/>
            <a:ext cx="2907792" cy="502920"/>
          </a:xfrm>
          <a:prstGeom prst="rect">
            <a:avLst/>
          </a:prstGeom>
          <a:noFill/>
        </p:spPr>
        <p:txBody>
          <a:bodyPr wrap="none" lIns="36576" rIns="36576" tIns="36576" bIns="36576" anchor="ctr">
            <a:spAutoFit/>
          </a:bodyPr>
          <a:lstStyle/>
          <a:p>
            <a:pPr algn="l"/>
            <a:r>
              <a:rPr sz="2900" b="1">
                <a:solidFill>
                  <a:srgbClr val="006444"/>
                </a:solidFill>
                <a:latin typeface="IBM Plex Sans"/>
              </a:rPr>
              <a:t>95 %</a:t>
            </a:r>
          </a:p>
        </p:txBody>
      </p:sp>
      <p:sp>
        <p:nvSpPr>
          <p:cNvPr id="18" name="TextBox 17"/>
          <p:cNvSpPr txBox="1"/>
          <p:nvPr/>
        </p:nvSpPr>
        <p:spPr>
          <a:xfrm>
            <a:off x="8220456" y="2962656"/>
            <a:ext cx="2907792" cy="237744"/>
          </a:xfrm>
          <a:prstGeom prst="rect">
            <a:avLst/>
          </a:prstGeom>
          <a:noFill/>
        </p:spPr>
        <p:txBody>
          <a:bodyPr wrap="none" lIns="36576" rIns="36576" tIns="36576" bIns="36576" anchor="ctr">
            <a:spAutoFit/>
          </a:bodyPr>
          <a:lstStyle/>
          <a:p>
            <a:pPr algn="l"/>
            <a:r>
              <a:rPr sz="1050" b="0">
                <a:solidFill>
                  <a:srgbClr val="5B6962"/>
                </a:solidFill>
                <a:latin typeface="IBM Plex Sans"/>
              </a:rPr>
              <a:t>hoy 75 %</a:t>
            </a:r>
          </a:p>
        </p:txBody>
      </p:sp>
      <p:sp>
        <p:nvSpPr>
          <p:cNvPr id="19" name="Rounded Rectangle 18"/>
          <p:cNvSpPr/>
          <p:nvPr/>
        </p:nvSpPr>
        <p:spPr>
          <a:xfrm>
            <a:off x="1911095" y="3593592"/>
            <a:ext cx="4105656" cy="124358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139696" y="3730752"/>
            <a:ext cx="3639312" cy="219456"/>
          </a:xfrm>
          <a:prstGeom prst="rect">
            <a:avLst/>
          </a:prstGeom>
          <a:noFill/>
        </p:spPr>
        <p:txBody>
          <a:bodyPr wrap="none" lIns="36576" rIns="36576" tIns="36576" bIns="36576" anchor="ctr">
            <a:spAutoFit/>
          </a:bodyPr>
          <a:lstStyle/>
          <a:p>
            <a:pPr algn="l"/>
            <a:r>
              <a:rPr sz="1000" b="1">
                <a:solidFill>
                  <a:srgbClr val="142F26"/>
                </a:solidFill>
                <a:latin typeface="IBM Plex Sans"/>
              </a:rPr>
              <a:t>CAMIONES IDENTIFICADOS</a:t>
            </a:r>
          </a:p>
        </p:txBody>
      </p:sp>
      <p:sp>
        <p:nvSpPr>
          <p:cNvPr id="21" name="TextBox 20"/>
          <p:cNvSpPr txBox="1"/>
          <p:nvPr/>
        </p:nvSpPr>
        <p:spPr>
          <a:xfrm>
            <a:off x="2139696" y="3950208"/>
            <a:ext cx="1874519" cy="502920"/>
          </a:xfrm>
          <a:prstGeom prst="rect">
            <a:avLst/>
          </a:prstGeom>
          <a:noFill/>
        </p:spPr>
        <p:txBody>
          <a:bodyPr wrap="none" lIns="36576" rIns="36576" tIns="36576" bIns="36576" anchor="ctr">
            <a:spAutoFit/>
          </a:bodyPr>
          <a:lstStyle/>
          <a:p>
            <a:pPr algn="l"/>
            <a:r>
              <a:rPr sz="2900" b="1">
                <a:solidFill>
                  <a:srgbClr val="006444"/>
                </a:solidFill>
                <a:latin typeface="IBM Plex Sans"/>
              </a:rPr>
              <a:t>100 %</a:t>
            </a:r>
          </a:p>
        </p:txBody>
      </p:sp>
      <p:sp>
        <p:nvSpPr>
          <p:cNvPr id="22" name="TextBox 21"/>
          <p:cNvSpPr txBox="1"/>
          <p:nvPr/>
        </p:nvSpPr>
        <p:spPr>
          <a:xfrm>
            <a:off x="3858768" y="4023360"/>
            <a:ext cx="1874519" cy="329184"/>
          </a:xfrm>
          <a:prstGeom prst="rect">
            <a:avLst/>
          </a:prstGeom>
          <a:noFill/>
        </p:spPr>
        <p:txBody>
          <a:bodyPr wrap="none" lIns="36576" rIns="36576" tIns="36576" bIns="36576" anchor="ctr">
            <a:spAutoFit/>
          </a:bodyPr>
          <a:lstStyle/>
          <a:p>
            <a:pPr algn="l"/>
            <a:r>
              <a:rPr sz="1100" b="0">
                <a:solidFill>
                  <a:srgbClr val="5B6962"/>
                </a:solidFill>
                <a:latin typeface="IBM Plex Sans"/>
              </a:rPr>
              <a:t>al menos una lectura</a:t>
            </a:r>
          </a:p>
        </p:txBody>
      </p:sp>
      <p:sp>
        <p:nvSpPr>
          <p:cNvPr id="23" name="Rounded Rectangle 22"/>
          <p:cNvSpPr/>
          <p:nvPr/>
        </p:nvSpPr>
        <p:spPr>
          <a:xfrm>
            <a:off x="6172200" y="3593592"/>
            <a:ext cx="4105656" cy="1243584"/>
          </a:xfrm>
          <a:prstGeom prst="roundRect">
            <a:avLst/>
          </a:prstGeom>
          <a:solidFill>
            <a:srgbClr val="2E1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3730752"/>
            <a:ext cx="3639312" cy="219456"/>
          </a:xfrm>
          <a:prstGeom prst="rect">
            <a:avLst/>
          </a:prstGeom>
          <a:noFill/>
        </p:spPr>
        <p:txBody>
          <a:bodyPr wrap="none" lIns="36576" rIns="36576" tIns="36576" bIns="36576" anchor="ctr">
            <a:spAutoFit/>
          </a:bodyPr>
          <a:lstStyle/>
          <a:p>
            <a:pPr algn="l"/>
            <a:r>
              <a:rPr sz="1000" b="1">
                <a:solidFill>
                  <a:srgbClr val="FFFFFF"/>
                </a:solidFill>
                <a:latin typeface="IBM Plex Sans"/>
              </a:rPr>
              <a:t>COBERTURA DEL RECORRIDO</a:t>
            </a:r>
          </a:p>
        </p:txBody>
      </p:sp>
      <p:sp>
        <p:nvSpPr>
          <p:cNvPr id="25" name="TextBox 24"/>
          <p:cNvSpPr txBox="1"/>
          <p:nvPr/>
        </p:nvSpPr>
        <p:spPr>
          <a:xfrm>
            <a:off x="6400800" y="3950208"/>
            <a:ext cx="1874519" cy="502920"/>
          </a:xfrm>
          <a:prstGeom prst="rect">
            <a:avLst/>
          </a:prstGeom>
          <a:noFill/>
        </p:spPr>
        <p:txBody>
          <a:bodyPr wrap="none" lIns="36576" rIns="36576" tIns="36576" bIns="36576" anchor="ctr">
            <a:spAutoFit/>
          </a:bodyPr>
          <a:lstStyle/>
          <a:p>
            <a:pPr algn="l"/>
            <a:r>
              <a:rPr sz="2900" b="1">
                <a:solidFill>
                  <a:srgbClr val="FFFFFF"/>
                </a:solidFill>
                <a:latin typeface="IBM Plex Sans"/>
              </a:rPr>
              <a:t>100 %</a:t>
            </a:r>
          </a:p>
        </p:txBody>
      </p:sp>
      <p:sp>
        <p:nvSpPr>
          <p:cNvPr id="26" name="TextBox 25"/>
          <p:cNvSpPr txBox="1"/>
          <p:nvPr/>
        </p:nvSpPr>
        <p:spPr>
          <a:xfrm>
            <a:off x="8119871" y="4023360"/>
            <a:ext cx="1874519" cy="329184"/>
          </a:xfrm>
          <a:prstGeom prst="rect">
            <a:avLst/>
          </a:prstGeom>
          <a:noFill/>
        </p:spPr>
        <p:txBody>
          <a:bodyPr wrap="none" lIns="36576" rIns="36576" tIns="36576" bIns="36576" anchor="ctr">
            <a:spAutoFit/>
          </a:bodyPr>
          <a:lstStyle/>
          <a:p>
            <a:pPr algn="l"/>
            <a:r>
              <a:rPr sz="1100" b="0">
                <a:solidFill>
                  <a:srgbClr val="DED5EB"/>
                </a:solidFill>
                <a:latin typeface="IBM Plex Sans"/>
              </a:rPr>
              <a:t>en al menos 4 puntos</a:t>
            </a:r>
          </a:p>
        </p:txBody>
      </p:sp>
      <p:sp>
        <p:nvSpPr>
          <p:cNvPr id="27" name="TextBox 26"/>
          <p:cNvSpPr txBox="1"/>
          <p:nvPr/>
        </p:nvSpPr>
        <p:spPr>
          <a:xfrm>
            <a:off x="813816" y="4892040"/>
            <a:ext cx="10607040" cy="310896"/>
          </a:xfrm>
          <a:prstGeom prst="rect">
            <a:avLst/>
          </a:prstGeom>
          <a:noFill/>
        </p:spPr>
        <p:txBody>
          <a:bodyPr wrap="none" lIns="36576" rIns="36576" tIns="36576" bIns="36576" anchor="ctr">
            <a:spAutoFit/>
          </a:bodyPr>
          <a:lstStyle/>
          <a:p>
            <a:pPr algn="l"/>
            <a:r>
              <a:rPr sz="1050" b="0">
                <a:solidFill>
                  <a:srgbClr val="FFFFFF"/>
                </a:solidFill>
                <a:latin typeface="IBM Plex Sans"/>
              </a:rPr>
              <a:t>Medición propuesta: universo de movimientos según Excel y puntos esperados según el circuito asignado.</a:t>
            </a:r>
          </a:p>
        </p:txBody>
      </p:sp>
      <p:pic>
        <p:nvPicPr>
          <p:cNvPr id="19" name="Image 1" descr="Nueva Vicentin Argentina">    </p:cNvPr>
          <p:cNvPicPr>
            <a:picLocks noChangeAspect="1"/>
          </p:cNvPicPr>
          <p:nvPr/>
        </p:nvPicPr>
        <p:blipFill>
          <a:blip r:embed="rId2"/>
          <a:srcRect l="0" r="0" t="-116" b="-116"/>
          <a:stretch/>
        </p:blipFill>
        <p:spPr>
          <a:xfrm>
            <a:off x="812800" y="5140821"/>
            <a:ext cx="1397000" cy="749300"/>
          </a:xfrm>
          <a:prstGeom prst="rect">
            <a:avLst/>
          </a:prstGeom>
        </p:spPr>
      </p:pic>
      <p:pic>
        <p:nvPicPr>
          <p:cNvPr id="20" name="Image 2" descr="Bimtrazer">    </p:cNvPr>
          <p:cNvPicPr>
            <a:picLocks noChangeAspect="1"/>
          </p:cNvPicPr>
          <p:nvPr/>
        </p:nvPicPr>
        <p:blipFill>
          <a:blip r:embed="rId3"/>
          <a:srcRect l="0" r="0" t="0" b="0"/>
          <a:stretch/>
        </p:blipFill>
        <p:spPr>
          <a:xfrm>
            <a:off x="10109200" y="5216922"/>
            <a:ext cx="1270000" cy="596900"/>
          </a:xfrm>
          <a:prstGeom prst="rect">
            <a:avLst/>
          </a:prstGeom>
        </p:spPr>
      </p:pic>
    </p:spTree>
  </p:cSld>
  <p:clrMapOvr>
    <a:masterClrMapping/>
  </p:clrMapOvr>
</p:sld>
</file>

<file path=ppt/theme/theme1.xml><?xml version="1.0" encoding="utf-8"?>
<a:theme xmlns:a="http://schemas.openxmlformats.org/drawingml/2006/main" name="Reconocimiento de cámaras · Septiembre">
  <a:themeElements>
    <a:clrScheme name="Reconocimiento de cámaras · Septiembre">
      <a:dk1>
        <a:srgbClr val="14281E"/>
      </a:dk1>
      <a:lt1>
        <a:srgbClr val="F5F8F4"/>
      </a:lt1>
      <a:dk2>
        <a:srgbClr val="4C5C54"/>
      </a:dk2>
      <a:lt2>
        <a:srgbClr val="DFE3DF"/>
      </a:lt2>
      <a:accent1>
        <a:srgbClr val="0B5638"/>
      </a:accent1>
      <a:accent2>
        <a:srgbClr val="2E1B4E"/>
      </a:accent2>
      <a:accent3>
        <a:srgbClr val="B3261E"/>
      </a:accent3>
      <a:accent4>
        <a:srgbClr val="8A5A00"/>
      </a:accent4>
      <a:accent5>
        <a:srgbClr val="9CCBAE"/>
      </a:accent5>
      <a:accent6>
        <a:srgbClr val="0E4A33"/>
      </a:accent6>
      <a:hlink>
        <a:srgbClr val="0563C1"/>
      </a:hlink>
      <a:folHlink>
        <a:srgbClr val="954F72"/>
      </a:folHlink>
    </a:clrScheme>
    <a:fontScheme name="Reconocimiento de cámaras · Septiembre">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Reconocimiento de cámaras · Septiembre</dc:title>
  <dc:subject/>
  <dc:creator/>
  <cp:lastModifiedBy/>
  <cp:revision>1</cp:revision>
  <dcterms:created xsi:type="dcterms:W3CDTF">2026-10-02T14:55:07Z</dcterms:created>
  <dcterms:modified xsi:type="dcterms:W3CDTF">2026-10-02T14:55:07Z</dcterms:modified>
</cp:coreProperties>
</file>