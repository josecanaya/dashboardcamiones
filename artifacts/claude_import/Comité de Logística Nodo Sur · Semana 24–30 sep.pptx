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Comité de Logística Nodo Sur, semana 24–30/09. Datos: planilla de movimientos por contrato y lecturas de cámaras de Ricardone y del puerto.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Productos y tiempos por día operativo desde las 22 h; sectores por día calendario. Soja: 770 operaciones R7 y 265 min puerta a puerta. Girasol: 208 operaciones R5+R6 (volcable 1 118, volcable 2 74; además 35 a silos Kepler, R4); mediana puerta a puerta de la planilla 861 min (la media supera el tope de verosimilitud de 720 min y no se publica). Líquidos: 383 camiones (ingresos 150, egresos 233), mismo criterio que la semana anterior (con él, la semana anterior da 282); media 328 min, mediana 249. Pellet: 348 egresos, 307 transiles de pellet de girasol al puerto y 43 despachos. Calada sólida: 1.455 recorridos en 146 h. Volcables puerto: 911 descargas de soja R7. Silos: 436 recorridos; transile R29 516 operaciones.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adentro = camiones del día por hora (camiones / 24) × horas que pasa cada uno adentro (ley de Little). Ricardone: recorridos por la calada sólida del día (279, 247, 160, 186, 252, 193, 144) por el tiempo de la soja en Ricardone (93, 76, 76, 124, 69, 83, 93 min). San Lorenzo: recorridos por las volcables del puerto (129, 170, 138, 76, 153, 97, 148) por el tiempo de la soja en San Lorenzo (56, 178, 105, 111, 248, 92, 213 min). Por día (Ricardone / San Lorenzo / total): jue 24 18/5/23, vie 25 13/21/34, sáb 26 8/10/18, dom 27 16/6/22, lun 28 12/26/38, mar 29 11/6/17, mié 30 9/22/31. Soja del día: planilla.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Circuito R7, promedio semanal por tramo en minutos: ingreso 5, Playa 1 74, salida 12, interplanta 11, Playa OSL 113, descarga 55, egreso 20. Suman 290; el puerta a puerta medido de punta a punta (ingreso → salida de la planilla) da 265. Semana anterior (comité 25/09): 303.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Transile R29: soja cargada en silos de Ricardone y descargada en las volcables del puerto. Ciclo observado por patente: ingreso → calle líquida → Playa 3 → carga en silo → balanza egreso → calada → egreso → balanza San Lorenzo → volcable → salida. Promedios por tramo medidos con cámaras sobre 197 vueltas de la semana (con Excel, la semana anterior este cálculo coincidía con lo publicado). Traslado y Playa OSL medidos con la cámara de ingreso del puerto. Operaciones R29: 516.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Líneas: evolución semanal por fecha de comité (cada punto informa la semana previa), del 17/06 al 02/10. Promedios de la serie: total 344 min, Playa 1 120 min, San Lorenzo 176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R7 por día operativo (planilla) y tiempo puerta a puerta medio del día. PV2 el 28/09: 0 descargas contra una mediana de 22; PV4: 29 contra 4. Mantenimiento: fechas programadas de las OT del EAM, sin horas de parada (cruce_mantenimiento.py).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promedio por planta y por día. Ricardone = ingreso + Playa 1 + egreso. San Lorenzo = Playa OSL + descarga + salida.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R7 por cuarto del día operativo y por día. Suma = 770. Franjas: 22–04 / 04–10 / 10–16 / 16–22.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puerta a puerta R7 por comité (rótulo = fecha del comité, que informa la semana previa). 265 min queda por debajo del mínimo previo (276, punto 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Transile de pellet de girasol de Ricardone a las volcables del puerto (R30/31/32), según la planilla de movimientos. Viajes = operaciones de transile; toneladas = viajes × 30 (las netas de la planilla dan 8.369 t). Duración = horas entre el primer ingreso y la última salida de cada tanda (se corta la tanda con más de 4 h sin movimientos). Volcables: V2 1, V3 5, V4 213, V5 2. Además hubo 43 despachos de pellet en camión, fuera de este operativo.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Tramos medidos con cámaras sobre 284 de los 307 viajes (patentes de la planilla; viaje = pre-ingreso → calle líquida → Playa 3 → balanza egreso cargado → ingreso SLZ → balanza OSL → volcable → salida SLZ, sin carga de silo ni calada sólida en el medio). Suman 301; el ciclo medido de punta a punta da 281 (cada tramo se promedia sobre los viajes que lo tienen leído). Ricardone = pre-ingreso → balanza egreso; San Lorenzo = ingreso SLZ → salida. La calle líquida aparece en 209 de 284 viajes leídos: en el primero del día de cada camión (106 de 151) y también en los siguientes (103 de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Viajes por camión y por día según la planilla (fecha del movimiento). Máximo = el camión con más viajes ese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Ciclo, Ricardone y San Lorenzo por día, medidos con cámaras. Cuartos = viajes por cuarto del día según la hora de pre-ingreso (Q1 22–04, Q2 04–10, Q3 10–16, Q4 16–22). Viajes = planilla.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Operativos contados en la planilla de movimientos: egresos de pellet de girasol de Ricardone con destino puerto, sin patentes ficticias. Camiones = patentes distintas. Toneladas = viajes × 30. Horas = primer ingreso → última salida de cada tanda (corte con más de 4 h sin movimientos). Viajes por camión y día = promedio de viajes de cada camión en cada día que trabajó. Ciclo = tiempo publicado en cada comité (los operativos de junio y julio no se presentaron en comité). Los comités publicaron 530 camiones para el 28/08 (57 patentes), 723 para el 04/09, 382 para el 11/09 y 188 para el 18/09; la planilla da 532, 723, 383 y 189.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Días de operativo con al menos 50 viajes y 25 leídos por cámaras (18/08 a 30/09). Grupos por camiones del día: Hasta 45 camiones: 7 días, ciclo 270 min, puerto 151 min, 5,7 viajes por hora; 46 a 55: 6 días, ciclo 351 min, puerto 200 min, 5,5 viajes por hora; Más de 55: 4 días, ciclo 429 min, puerto 214 min, 6,6 viajes por hora. Escenario: hay que sostener 6,3 viajes por hora (los de esta semana). La carga y los traslados quedan como hoy (140 min por vuelta, con la carga en Ricardone de 91 min y el regreso); Playa OSL + descarga baja de 163 a 100 min, entre lo que dieron los días con dos volcables (170) y los mejores días (52, 76, 77). Vuelta completa: 5,0 h hoy y 4,0 h en la prueba; camiones dando vueltas a la vez = viajes por hora × vuelta (ley de Little): ~32 hoy, ~25 en la prueba, es decir unos 62 % de los 40 trabajando en cada momento. Viajes por camión y día: 2 × 62 / 40 = 3, unas 12,0 h de vueltas por día y por camión.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Volcables: días con una sola volcable con lecturas de pellet (V4) contra días con dos (V3 y V4), mismos días que la lámina anterior. Una: 9 días, puerto 208 min, 5,8 viajes por hora. Dos: 8 días, puerto 170 min, 6,1 viajes por hora. Flete interplanta: $ 6.000 por tonelada × 30 t = $ 180.000 por viaje; con la baja del 17 %, $ 150.000. Ingreso del camionero por día = viajes por día × tarifa: 2 × $ 180.000 = $ 360.000 hoy y 3 × $ 150.000 = $ 450.000 en la prueba. Toneladas = viajes × 30 (las netas de la planilla son algo menores). El camionero gana lo mismo con una baja de hasta 33 % (unos $ 4.000 por tonelada): $ 5.000 deja margen aunque la espera del puerto baje menos de lo previsto.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Girasol R5+R6, suma de tramos: ingreso 3, Playa 1 177, pesada bruta 13, acceso a Playa 3 12, Playa 3 → volcable 249, tara 23 = 477 min. Los tramos de girasol salen de cámaras: con la planilla quedan muy pocos recorridos de girasol con todos los tramos leídos, así que cada tramo es el de la semana anterior más la variación medida por cámaras (Playa 1 132→231, Playa 3 → volcable 230→374, tara 23→27); la muestra de girasol es chica (57 camiones con Playa 1 medida), vale confirmarlo con planta. Volcable 1: 188 recorridos, volcable 2: 113; por día, volcables 1 y 2: 76, 73, 67, 12, 31, 31,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Girasol R5+R6, tiempo total por comité como suma de medias de tramo. Esta semana 477 min; máximo previo 430 (punto 4/9). Tramos: semana anterior más la variación medida por cámaras. Volcable 1 Ricardone: 4 y 0 descargas el 28 y 29/09 (mediana 46–48); la volcable 2 la cubrió el 28 (31 contra 2) y Kepler 2 el 29 (23). Mantenimiento: fechas programadas de las OT del EAM, sin horas de parada (cruce_mantenimiento.py).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Calada por calle, semana completa: calle 4 716, calle 3 566, calle 2 111, calle 1 74, calle 6 5, calle 5 0. Suman 1.472, no 1.455, porque algunos recorridos pasaron por dos calles. Horas = horas con al menos una lectura, sobre 168. Pico: 30 recorridos (24/09 09h). Calada líquida 562 en 121 h (semana anterior 290 en 69 h): cuenta también los camiones del transile, que entran por la calle líquida rumbo a Playa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por volcable en el puerto de San Lorenzo, semana 24–30/09. Barra = total de la semana y participación. Cuadros = días Jue a Mié; lleno = 20 camiones o más, claro = entre 1 y 19, vacío = sin camiones. Por día: V5 55/112/60/43/51/51/109; V3 38/21/21/0/80/33/0; V4 35/37/45/0/22/13/39; V2 0/0/12/33/0/0/0; V1 1/0/0/0/0/0/0. Camiones = recorridos de cámara, por día calendario. Son descargas de soja externa R7, como en el comité anterior (1.401); el transile R29 no entra en este conteo. Mantenimiento: fechas programadas de las OT del EAM, sin horas de parada (cruce_mantenimiento.py).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por día en las cámaras de silos Ricardone, carga y descarga (recorridos de cámara, día calendario). En la semana 436 recorridos (semana anterior 329). Por cámara: RicS8CargaLinea2 363, RicS7DescLinea2 62, RicS7Carga 28, RicS8CargaLinea1 9. Operaciones R29 de la planilla: 516 (semana anterior 313).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Lecturas para discutir en comité; no son conclusiones cerradas. Ricardone (ingreso + Playa 1 + egreso): 104→91. San Lorenzo (Playa OSL + descarga + salida): 184→188.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63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B5638"/>
              </a:gs>
              <a:gs pos="60000">
                <a:srgbClr val="0E4A33"/>
              </a:gs>
              <a:gs pos="100000">
                <a:srgbClr val="2E1B4E"/>
              </a:gs>
            </a:gsLst>
            <a:lin ang="4200000" scaled="0"/>
          </a:gradFill>
          <a:ln/>
        </p:spPr>
      </p:sp>
      <p:pic>
        <p:nvPicPr>
          <p:cNvPr id="3" name="Image 0" descr="Vista aérea de la planta Ricardone">    </p:cNvPr>
          <p:cNvPicPr>
            <a:picLocks noChangeAspect="1"/>
          </p:cNvPicPr>
          <p:nvPr/>
        </p:nvPicPr>
        <p:blipFill>
          <a:blip r:embed="rId1"/>
          <a:srcRect l="1921" r="1921" t="0" b="0"/>
          <a:stretch/>
        </p:blipFill>
        <p:spPr>
          <a:xfrm>
            <a:off x="5715000" y="0"/>
            <a:ext cx="6477000" cy="3403600"/>
          </a:xfrm>
          <a:prstGeom prst="rect">
            <a:avLst/>
          </a:prstGeom>
        </p:spPr>
      </p:pic>
      <p:pic>
        <p:nvPicPr>
          <p:cNvPr id="4" name="Image 1" descr="Vista aérea del puerto San Lorenzo">    </p:cNvPr>
          <p:cNvPicPr>
            <a:picLocks noChangeAspect="1"/>
          </p:cNvPicPr>
          <p:nvPr/>
        </p:nvPicPr>
        <p:blipFill>
          <a:blip r:embed="rId2"/>
          <a:srcRect l="1921" r="1921" t="0" b="0"/>
          <a:stretch/>
        </p:blipFill>
        <p:spPr>
          <a:xfrm>
            <a:off x="5715000" y="3454400"/>
            <a:ext cx="6477000" cy="3403600"/>
          </a:xfrm>
          <a:prstGeom prst="rect">
            <a:avLst/>
          </a:prstGeom>
        </p:spPr>
      </p:pic>
      <p:sp>
        <p:nvSpPr>
          <p:cNvPr id="5" name="Shape 1"/>
          <p:cNvSpPr/>
          <p:nvPr/>
        </p:nvSpPr>
        <p:spPr>
          <a:xfrm>
            <a:off x="5715000" y="0"/>
            <a:ext cx="2921000" cy="6858000"/>
          </a:xfrm>
          <a:prstGeom prst="rect">
            <a:avLst/>
          </a:prstGeom>
          <a:gradFill rotWithShape="1">
            <a:gsLst>
              <a:gs pos="0">
                <a:srgbClr val="0B5638"/>
              </a:gs>
              <a:gs pos="45000">
                <a:srgbClr val="0B5638">
                  <a:alpha val="55000"/>
                </a:srgbClr>
              </a:gs>
              <a:gs pos="100000">
                <a:srgbClr val="0B5638">
                  <a:alpha val="0"/>
                </a:srgbClr>
              </a:gs>
            </a:gsLst>
            <a:lin ang="0" scaled="0"/>
          </a:gradFill>
          <a:ln/>
        </p:spPr>
      </p:sp>
      <p:sp>
        <p:nvSpPr>
          <p:cNvPr id="6" name="Shape 2"/>
          <p:cNvSpPr/>
          <p:nvPr/>
        </p:nvSpPr>
        <p:spPr>
          <a:xfrm>
            <a:off x="5715000" y="3403600"/>
            <a:ext cx="6477000" cy="50800"/>
          </a:xfrm>
          <a:prstGeom prst="rect">
            <a:avLst/>
          </a:prstGeom>
          <a:solidFill>
            <a:srgbClr val="9CCBAE"/>
          </a:solidFill>
          <a:ln/>
        </p:spPr>
      </p:sp>
      <p:sp>
        <p:nvSpPr>
          <p:cNvPr id="7" name="Text 3"/>
          <p:cNvSpPr/>
          <p:nvPr/>
        </p:nvSpPr>
        <p:spPr>
          <a:xfrm>
            <a:off x="9601200" y="2844800"/>
            <a:ext cx="2336800" cy="381000"/>
          </a:xfrm>
          <a:prstGeom prst="roundRect">
            <a:avLst>
              <a:gd name="adj" fmla="val 16667"/>
            </a:avLst>
          </a:prstGeom>
          <a:solidFill>
            <a:srgbClr val="0E281C">
              <a:alpha val="82000"/>
            </a:srgbClr>
          </a:solidFill>
          <a:ln/>
        </p:spPr>
        <p:txBody>
          <a:bodyPr wrap="square" lIns="38100" tIns="0" rIns="0" bIns="0" rtlCol="0" anchor="ctr">
            <a:normAutofit/>
          </a:bodyPr>
          <a:lstStyle/>
          <a:p>
            <a:pPr algn="ctr" indent="0" marL="0">
              <a:lnSpc>
                <a:spcPts val="1680"/>
              </a:lnSpc>
              <a:buNone/>
            </a:pPr>
            <a:r>
              <a:rPr lang="en-US" sz="1200" b="1" spc="150" kern="0" dirty="0">
                <a:solidFill>
                  <a:srgbClr val="F1F6F2"/>
                </a:solidFill>
                <a:latin typeface="IBM Plex Sans" pitchFamily="34" charset="0"/>
                <a:ea typeface="IBM Plex Sans" pitchFamily="34" charset="-122"/>
                <a:cs typeface="IBM Plex Sans" pitchFamily="34" charset="-120"/>
              </a:rPr>
              <a:t>PLANTA RICARDONE</a:t>
            </a:r>
            <a:endParaRPr lang="en-US" sz="1200" dirty="0"/>
          </a:p>
        </p:txBody>
      </p:sp>
      <p:sp>
        <p:nvSpPr>
          <p:cNvPr id="8" name="Shape 4"/>
          <p:cNvSpPr/>
          <p:nvPr/>
        </p:nvSpPr>
        <p:spPr>
          <a:xfrm>
            <a:off x="9601200" y="2844800"/>
            <a:ext cx="2336800" cy="381000"/>
          </a:xfrm>
          <a:custGeom>
            <a:avLst/>
            <a:gdLst/>
            <a:ahLst/>
            <a:cxnLst/>
            <a:rect l="l" t="t" r="r" b="b"/>
            <a:pathLst>
              <a:path w="2336800" h="381000">
                <a:moveTo>
                  <a:pt x="63500" y="381000"/>
                </a:moveTo>
                <a:lnTo>
                  <a:pt x="63500" y="381000"/>
                </a:lnTo>
                <a:arcTo hR="63500" wR="63500" stAng="5400000" swAng="5400000"/>
                <a:lnTo>
                  <a:pt x="0" y="63500"/>
                </a:lnTo>
                <a:arcTo hR="63500" wR="63500" stAng="10800000" swAng="5400000"/>
                <a:lnTo>
                  <a:pt x="63500" y="0"/>
                </a:lnTo>
                <a:arcTo hR="63500" wR="25400" stAng="16200000" swAng="-5400000"/>
                <a:lnTo>
                  <a:pt x="38100" y="317500"/>
                </a:lnTo>
                <a:arcTo hR="63500" wR="25400" stAng="10800000" swAng="-5400000"/>
                <a:close/>
              </a:path>
            </a:pathLst>
          </a:custGeom>
          <a:solidFill>
            <a:srgbClr val="9CCBAE"/>
          </a:solidFill>
          <a:ln/>
        </p:spPr>
      </p:sp>
      <p:sp>
        <p:nvSpPr>
          <p:cNvPr id="9" name="Text 5"/>
          <p:cNvSpPr/>
          <p:nvPr/>
        </p:nvSpPr>
        <p:spPr>
          <a:xfrm>
            <a:off x="9601200" y="6299200"/>
            <a:ext cx="2336800" cy="381000"/>
          </a:xfrm>
          <a:prstGeom prst="roundRect">
            <a:avLst>
              <a:gd name="adj" fmla="val 16667"/>
            </a:avLst>
          </a:prstGeom>
          <a:solidFill>
            <a:srgbClr val="1E1234">
              <a:alpha val="82000"/>
            </a:srgbClr>
          </a:solidFill>
          <a:ln/>
        </p:spPr>
        <p:txBody>
          <a:bodyPr wrap="square" lIns="38100" tIns="0" rIns="0" bIns="0" rtlCol="0" anchor="ctr">
            <a:normAutofit/>
          </a:bodyPr>
          <a:lstStyle/>
          <a:p>
            <a:pPr algn="ctr" indent="0" marL="0">
              <a:lnSpc>
                <a:spcPts val="1680"/>
              </a:lnSpc>
              <a:buNone/>
            </a:pPr>
            <a:r>
              <a:rPr lang="en-US" sz="1200" b="1" spc="150" kern="0" dirty="0">
                <a:solidFill>
                  <a:srgbClr val="F1F6F2"/>
                </a:solidFill>
                <a:latin typeface="IBM Plex Sans" pitchFamily="34" charset="0"/>
                <a:ea typeface="IBM Plex Sans" pitchFamily="34" charset="-122"/>
                <a:cs typeface="IBM Plex Sans" pitchFamily="34" charset="-120"/>
              </a:rPr>
              <a:t>PUERTO SAN LORENZO</a:t>
            </a:r>
            <a:endParaRPr lang="en-US" sz="1200" dirty="0"/>
          </a:p>
        </p:txBody>
      </p:sp>
      <p:sp>
        <p:nvSpPr>
          <p:cNvPr id="10" name="Shape 6"/>
          <p:cNvSpPr/>
          <p:nvPr/>
        </p:nvSpPr>
        <p:spPr>
          <a:xfrm>
            <a:off x="9601200" y="6299200"/>
            <a:ext cx="2336800" cy="381000"/>
          </a:xfrm>
          <a:custGeom>
            <a:avLst/>
            <a:gdLst/>
            <a:ahLst/>
            <a:cxnLst/>
            <a:rect l="l" t="t" r="r" b="b"/>
            <a:pathLst>
              <a:path w="2336800" h="381000">
                <a:moveTo>
                  <a:pt x="63500" y="381000"/>
                </a:moveTo>
                <a:lnTo>
                  <a:pt x="63500" y="381000"/>
                </a:lnTo>
                <a:arcTo hR="63500" wR="63500" stAng="5400000" swAng="5400000"/>
                <a:lnTo>
                  <a:pt x="0" y="63500"/>
                </a:lnTo>
                <a:arcTo hR="63500" wR="63500" stAng="10800000" swAng="5400000"/>
                <a:lnTo>
                  <a:pt x="63500" y="0"/>
                </a:lnTo>
                <a:arcTo hR="63500" wR="25400" stAng="16200000" swAng="-5400000"/>
                <a:lnTo>
                  <a:pt x="38100" y="317500"/>
                </a:lnTo>
                <a:arcTo hR="63500" wR="25400" stAng="10800000" swAng="-5400000"/>
                <a:close/>
              </a:path>
            </a:pathLst>
          </a:custGeom>
          <a:solidFill>
            <a:srgbClr val="B9A8E0"/>
          </a:solidFill>
          <a:ln/>
        </p:spPr>
      </p:sp>
      <p:pic>
        <p:nvPicPr>
          <p:cNvPr id="11" name="Image 2" descr="Nueva Vicentin Argentina">    </p:cNvPr>
          <p:cNvPicPr>
            <a:picLocks noChangeAspect="1"/>
          </p:cNvPicPr>
          <p:nvPr/>
        </p:nvPicPr>
        <p:blipFill>
          <a:blip r:embed="rId3"/>
          <a:srcRect l="-167" r="-167" t="0" b="0"/>
          <a:stretch/>
        </p:blipFill>
        <p:spPr>
          <a:xfrm>
            <a:off x="812800" y="609600"/>
            <a:ext cx="1524000" cy="812800"/>
          </a:xfrm>
          <a:prstGeom prst="rect">
            <a:avLst/>
          </a:prstGeom>
        </p:spPr>
      </p:pic>
      <p:sp>
        <p:nvSpPr>
          <p:cNvPr id="12" name="Text 7"/>
          <p:cNvSpPr/>
          <p:nvPr/>
        </p:nvSpPr>
        <p:spPr>
          <a:xfrm>
            <a:off x="812800" y="1797348"/>
            <a:ext cx="4578350"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CBAE"/>
                </a:solidFill>
                <a:latin typeface="IBM Plex Sans" pitchFamily="34" charset="0"/>
                <a:ea typeface="IBM Plex Sans" pitchFamily="34" charset="-122"/>
                <a:cs typeface="IBM Plex Sans" pitchFamily="34" charset="-120"/>
              </a:rPr>
              <a:t>LOGÍSTICA · RICARDONE Y SAN LORENZO</a:t>
            </a:r>
            <a:endParaRPr lang="en-US" sz="1400" dirty="0"/>
          </a:p>
        </p:txBody>
      </p:sp>
      <p:sp>
        <p:nvSpPr>
          <p:cNvPr id="13" name="Text 8"/>
          <p:cNvSpPr/>
          <p:nvPr>
            <p:ph type="title"/>
          </p:nvPr>
        </p:nvSpPr>
        <p:spPr>
          <a:xfrm>
            <a:off x="812800" y="2185888"/>
            <a:ext cx="4709160" cy="2201565"/>
          </a:xfrm>
          <a:prstGeom prst="rect">
            <a:avLst/>
          </a:prstGeom>
          <a:noFill/>
          <a:ln/>
        </p:spPr>
        <p:txBody>
          <a:bodyPr wrap="square" lIns="0" tIns="0" rIns="0" bIns="0" rtlCol="0" anchor="t">
            <a:normAutofit/>
          </a:bodyPr>
          <a:lstStyle/>
          <a:p>
            <a:pPr algn="l" indent="0" marL="0">
              <a:lnSpc>
                <a:spcPts val="5712"/>
              </a:lnSpc>
              <a:buNone/>
            </a:pPr>
            <a:r>
              <a:rPr lang="en-US" sz="5600" b="1" i="0" dirty="0">
                <a:solidFill>
                  <a:srgbClr val="F1F6F2"/>
                </a:solidFill>
                <a:latin typeface="IBM Plex Sans" pitchFamily="34" charset="0"/>
                <a:ea typeface="IBM Plex Sans" pitchFamily="34" charset="-122"/>
                <a:cs typeface="IBM Plex Sans" pitchFamily="34" charset="-120"/>
              </a:rPr>
              <a:t>Comité de Logística Nodo Sur</a:t>
            </a:r>
            <a:endParaRPr lang="en-US" sz="5600" dirty="0"/>
          </a:p>
        </p:txBody>
      </p:sp>
      <p:sp>
        <p:nvSpPr>
          <p:cNvPr id="14" name="Shape 9"/>
          <p:cNvSpPr/>
          <p:nvPr/>
        </p:nvSpPr>
        <p:spPr>
          <a:xfrm>
            <a:off x="812800" y="4501753"/>
            <a:ext cx="1016000" cy="50800"/>
          </a:xfrm>
          <a:prstGeom prst="roundRect">
            <a:avLst>
              <a:gd name="adj" fmla="val 50000"/>
            </a:avLst>
          </a:prstGeom>
          <a:solidFill>
            <a:srgbClr val="9CCBAE"/>
          </a:solidFill>
          <a:ln/>
        </p:spPr>
      </p:sp>
      <p:sp>
        <p:nvSpPr>
          <p:cNvPr id="15" name="Text 10"/>
          <p:cNvSpPr/>
          <p:nvPr/>
        </p:nvSpPr>
        <p:spPr>
          <a:xfrm>
            <a:off x="812800" y="4692253"/>
            <a:ext cx="45783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E4DA"/>
                </a:solidFill>
                <a:latin typeface="IBM Plex Sans" pitchFamily="34" charset="0"/>
                <a:ea typeface="IBM Plex Sans" pitchFamily="34" charset="-122"/>
                <a:cs typeface="IBM Plex Sans" pitchFamily="34" charset="-120"/>
              </a:rPr>
              <a:t>Semana del 24 al 30 de septiembre de 2026</a:t>
            </a:r>
            <a:endParaRPr lang="en-US" sz="2000" dirty="0"/>
          </a:p>
        </p:txBody>
      </p:sp>
      <p:pic>
        <p:nvPicPr>
          <p:cNvPr id="16" name="Image 3" descr="Bimtrazer">    </p:cNvPr>
          <p:cNvPicPr>
            <a:picLocks noChangeAspect="1"/>
          </p:cNvPicPr>
          <p:nvPr/>
        </p:nvPicPr>
        <p:blipFill>
          <a:blip r:embed="rId4"/>
          <a:srcRect l="0" r="0" t="-392" b="-392"/>
          <a:stretch/>
        </p:blipFill>
        <p:spPr>
          <a:xfrm>
            <a:off x="812800" y="5727700"/>
            <a:ext cx="1206500" cy="571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877491" cy="289520"/>
          </a:xfrm>
          <a:custGeom>
            <a:avLst/>
            <a:gdLst/>
            <a:ahLst/>
            <a:cxnLst/>
            <a:rect l="l" t="t" r="r" b="b"/>
            <a:pathLst>
              <a:path w="877491" h="289520">
                <a:moveTo>
                  <a:pt x="144760" y="0"/>
                </a:moveTo>
                <a:lnTo>
                  <a:pt x="732730" y="0"/>
                </a:lnTo>
                <a:arcTo hR="144760" wR="144760" stAng="16200000" swAng="5400000"/>
                <a:lnTo>
                  <a:pt x="877491"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PLANTA</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Qué entró a la planta, cuándo y cuánto tardó</a:t>
            </a:r>
            <a:endParaRPr lang="en-US" sz="3200" dirty="0"/>
          </a:p>
        </p:txBody>
      </p:sp>
      <p:sp>
        <p:nvSpPr>
          <p:cNvPr id="4" name="Shape 2"/>
          <p:cNvSpPr/>
          <p:nvPr/>
        </p:nvSpPr>
        <p:spPr>
          <a:xfrm>
            <a:off x="815975" y="1730276"/>
            <a:ext cx="2520950" cy="2397522"/>
          </a:xfrm>
          <a:prstGeom prst="roundRect">
            <a:avLst>
              <a:gd name="adj" fmla="val 4105"/>
            </a:avLst>
          </a:prstGeom>
          <a:solidFill>
            <a:srgbClr val="FCFDFB"/>
          </a:solidFill>
          <a:ln w="6350">
            <a:solidFill>
              <a:srgbClr val="D3E2D7"/>
            </a:solidFill>
            <a:prstDash val="solid"/>
          </a:ln>
        </p:spPr>
      </p:sp>
      <p:sp>
        <p:nvSpPr>
          <p:cNvPr id="5" name="Text 3"/>
          <p:cNvSpPr/>
          <p:nvPr/>
        </p:nvSpPr>
        <p:spPr>
          <a:xfrm>
            <a:off x="984250" y="18731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B5638"/>
                </a:solidFill>
                <a:latin typeface="IBM Plex Sans" pitchFamily="34" charset="0"/>
                <a:ea typeface="IBM Plex Sans" pitchFamily="34" charset="-122"/>
                <a:cs typeface="IBM Plex Sans" pitchFamily="34" charset="-120"/>
              </a:rPr>
              <a:t>SOJA · R7</a:t>
            </a:r>
            <a:endParaRPr lang="en-US" sz="1200" dirty="0"/>
          </a:p>
        </p:txBody>
      </p:sp>
      <p:sp>
        <p:nvSpPr>
          <p:cNvPr id="6" name="Text 4"/>
          <p:cNvSpPr/>
          <p:nvPr/>
        </p:nvSpPr>
        <p:spPr>
          <a:xfrm>
            <a:off x="984250" y="2149971"/>
            <a:ext cx="749300"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0B5638"/>
                </a:solidFill>
                <a:latin typeface="IBM Plex Sans" pitchFamily="34" charset="0"/>
                <a:ea typeface="IBM Plex Sans" pitchFamily="34" charset="-122"/>
                <a:cs typeface="IBM Plex Sans" pitchFamily="34" charset="-120"/>
              </a:rPr>
              <a:t>770</a:t>
            </a:r>
            <a:endParaRPr lang="en-US" sz="3000" dirty="0"/>
          </a:p>
        </p:txBody>
      </p:sp>
      <p:sp>
        <p:nvSpPr>
          <p:cNvPr id="7" name="Text 5"/>
          <p:cNvSpPr/>
          <p:nvPr/>
        </p:nvSpPr>
        <p:spPr>
          <a:xfrm>
            <a:off x="1733550" y="2334121"/>
            <a:ext cx="10064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operaciones</a:t>
            </a:r>
            <a:endParaRPr lang="en-US" sz="1200" dirty="0"/>
          </a:p>
        </p:txBody>
      </p:sp>
      <p:sp>
        <p:nvSpPr>
          <p:cNvPr id="8" name="Text 6"/>
          <p:cNvSpPr/>
          <p:nvPr/>
        </p:nvSpPr>
        <p:spPr>
          <a:xfrm>
            <a:off x="984250" y="2613521"/>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265 min</a:t>
            </a:r>
            <a:r>
              <a:rPr lang="en-US" sz="1200" dirty="0">
                <a:solidFill>
                  <a:srgbClr val="14281E"/>
                </a:solidFill>
                <a:latin typeface="IBM Plex Sans" pitchFamily="34" charset="0"/>
                <a:ea typeface="IBM Plex Sans" pitchFamily="34" charset="-122"/>
                <a:cs typeface="IBM Plex Sans" pitchFamily="34" charset="-120"/>
              </a:rPr>
              <a:t> puerta a puerta</a:t>
            </a:r>
            <a:endParaRPr lang="en-US" sz="1200" dirty="0"/>
          </a:p>
        </p:txBody>
      </p:sp>
      <p:pic>
        <p:nvPicPr>
          <p:cNvPr id="9" name="Image 0" descr="Camiones por día, jueves a miércoles">    </p:cNvPr>
          <p:cNvPicPr>
            <a:picLocks noChangeAspect="1"/>
          </p:cNvPicPr>
          <p:nvPr/>
        </p:nvPicPr>
        <p:blipFill>
          <a:blip r:embed="rId1"/>
          <a:srcRect l="0" r="0" t="0" b="0"/>
          <a:stretch/>
        </p:blipFill>
        <p:spPr>
          <a:xfrm>
            <a:off x="984250" y="2890341"/>
            <a:ext cx="2171700" cy="635000"/>
          </a:xfrm>
          <a:prstGeom prst="rect">
            <a:avLst/>
          </a:prstGeom>
        </p:spPr>
      </p:pic>
      <p:sp>
        <p:nvSpPr>
          <p:cNvPr id="10" name="Text 7"/>
          <p:cNvSpPr/>
          <p:nvPr/>
        </p:nvSpPr>
        <p:spPr>
          <a:xfrm>
            <a:off x="984250" y="3588841"/>
            <a:ext cx="2249932"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Lun 28: el día más cargado.</a:t>
            </a:r>
            <a:endParaRPr lang="en-US" sz="1200" dirty="0"/>
          </a:p>
        </p:txBody>
      </p:sp>
      <p:sp>
        <p:nvSpPr>
          <p:cNvPr id="11" name="Shape 8"/>
          <p:cNvSpPr/>
          <p:nvPr/>
        </p:nvSpPr>
        <p:spPr>
          <a:xfrm>
            <a:off x="3495675" y="1730276"/>
            <a:ext cx="2520950" cy="2397522"/>
          </a:xfrm>
          <a:prstGeom prst="roundRect">
            <a:avLst>
              <a:gd name="adj" fmla="val 4105"/>
            </a:avLst>
          </a:prstGeom>
          <a:solidFill>
            <a:srgbClr val="FCFDFB"/>
          </a:solidFill>
          <a:ln w="6350">
            <a:solidFill>
              <a:srgbClr val="D3E2D7"/>
            </a:solidFill>
            <a:prstDash val="solid"/>
          </a:ln>
        </p:spPr>
      </p:sp>
      <p:sp>
        <p:nvSpPr>
          <p:cNvPr id="12" name="Text 9"/>
          <p:cNvSpPr/>
          <p:nvPr/>
        </p:nvSpPr>
        <p:spPr>
          <a:xfrm>
            <a:off x="3663950" y="18731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7A5608"/>
                </a:solidFill>
                <a:latin typeface="IBM Plex Sans" pitchFamily="34" charset="0"/>
                <a:ea typeface="IBM Plex Sans" pitchFamily="34" charset="-122"/>
                <a:cs typeface="IBM Plex Sans" pitchFamily="34" charset="-120"/>
              </a:rPr>
              <a:t>GIRASOL · R5+R6</a:t>
            </a:r>
            <a:endParaRPr lang="en-US" sz="1200" dirty="0"/>
          </a:p>
        </p:txBody>
      </p:sp>
      <p:sp>
        <p:nvSpPr>
          <p:cNvPr id="13" name="Text 10"/>
          <p:cNvSpPr/>
          <p:nvPr/>
        </p:nvSpPr>
        <p:spPr>
          <a:xfrm>
            <a:off x="3663950" y="2149971"/>
            <a:ext cx="749300"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7A5608"/>
                </a:solidFill>
                <a:latin typeface="IBM Plex Sans" pitchFamily="34" charset="0"/>
                <a:ea typeface="IBM Plex Sans" pitchFamily="34" charset="-122"/>
                <a:cs typeface="IBM Plex Sans" pitchFamily="34" charset="-120"/>
              </a:rPr>
              <a:t>208</a:t>
            </a:r>
            <a:endParaRPr lang="en-US" sz="3000" dirty="0"/>
          </a:p>
        </p:txBody>
      </p:sp>
      <p:sp>
        <p:nvSpPr>
          <p:cNvPr id="14" name="Text 11"/>
          <p:cNvSpPr/>
          <p:nvPr/>
        </p:nvSpPr>
        <p:spPr>
          <a:xfrm>
            <a:off x="4413250" y="2334121"/>
            <a:ext cx="10064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operaciones</a:t>
            </a:r>
            <a:endParaRPr lang="en-US" sz="1200" dirty="0"/>
          </a:p>
        </p:txBody>
      </p:sp>
      <p:sp>
        <p:nvSpPr>
          <p:cNvPr id="15" name="Text 12"/>
          <p:cNvSpPr/>
          <p:nvPr/>
        </p:nvSpPr>
        <p:spPr>
          <a:xfrm>
            <a:off x="3663950" y="2613521"/>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14 h</a:t>
            </a:r>
            <a:r>
              <a:rPr lang="en-US" sz="1200" dirty="0">
                <a:solidFill>
                  <a:srgbClr val="14281E"/>
                </a:solidFill>
                <a:latin typeface="IBM Plex Sans" pitchFamily="34" charset="0"/>
                <a:ea typeface="IBM Plex Sans" pitchFamily="34" charset="-122"/>
                <a:cs typeface="IBM Plex Sans" pitchFamily="34" charset="-120"/>
              </a:rPr>
              <a:t> en planta, mediana</a:t>
            </a:r>
            <a:endParaRPr lang="en-US" sz="1200" dirty="0"/>
          </a:p>
        </p:txBody>
      </p:sp>
      <p:pic>
        <p:nvPicPr>
          <p:cNvPr id="16" name="Image 1" descr="Camiones por día, jueves a miércoles">    </p:cNvPr>
          <p:cNvPicPr>
            <a:picLocks noChangeAspect="1"/>
          </p:cNvPicPr>
          <p:nvPr/>
        </p:nvPicPr>
        <p:blipFill>
          <a:blip r:embed="rId2"/>
          <a:srcRect l="0" r="0" t="0" b="0"/>
          <a:stretch/>
        </p:blipFill>
        <p:spPr>
          <a:xfrm>
            <a:off x="3663950" y="2890341"/>
            <a:ext cx="2171700" cy="635000"/>
          </a:xfrm>
          <a:prstGeom prst="rect">
            <a:avLst/>
          </a:prstGeom>
        </p:spPr>
      </p:pic>
      <p:sp>
        <p:nvSpPr>
          <p:cNvPr id="17" name="Text 13"/>
          <p:cNvSpPr/>
          <p:nvPr/>
        </p:nvSpPr>
        <p:spPr>
          <a:xfrm>
            <a:off x="3663950" y="3588841"/>
            <a:ext cx="2249932"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Volcable 1: 118 · volcable 2: 74.</a:t>
            </a:r>
            <a:endParaRPr lang="en-US" sz="1200" dirty="0"/>
          </a:p>
        </p:txBody>
      </p:sp>
      <p:sp>
        <p:nvSpPr>
          <p:cNvPr id="18" name="Shape 14"/>
          <p:cNvSpPr/>
          <p:nvPr/>
        </p:nvSpPr>
        <p:spPr>
          <a:xfrm>
            <a:off x="6175375" y="1730276"/>
            <a:ext cx="2520950" cy="2397522"/>
          </a:xfrm>
          <a:prstGeom prst="roundRect">
            <a:avLst>
              <a:gd name="adj" fmla="val 4105"/>
            </a:avLst>
          </a:prstGeom>
          <a:solidFill>
            <a:srgbClr val="FCFDFB"/>
          </a:solidFill>
          <a:ln w="6350">
            <a:solidFill>
              <a:srgbClr val="D3E2D7"/>
            </a:solidFill>
            <a:prstDash val="solid"/>
          </a:ln>
        </p:spPr>
      </p:sp>
      <p:sp>
        <p:nvSpPr>
          <p:cNvPr id="19" name="Text 15"/>
          <p:cNvSpPr/>
          <p:nvPr/>
        </p:nvSpPr>
        <p:spPr>
          <a:xfrm>
            <a:off x="6343650" y="18731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4E7A"/>
                </a:solidFill>
                <a:latin typeface="IBM Plex Sans" pitchFamily="34" charset="0"/>
                <a:ea typeface="IBM Plex Sans" pitchFamily="34" charset="-122"/>
                <a:cs typeface="IBM Plex Sans" pitchFamily="34" charset="-120"/>
              </a:rPr>
              <a:t>LÍQUIDOS</a:t>
            </a:r>
            <a:endParaRPr lang="en-US" sz="1200" dirty="0"/>
          </a:p>
        </p:txBody>
      </p:sp>
      <p:sp>
        <p:nvSpPr>
          <p:cNvPr id="20" name="Text 16"/>
          <p:cNvSpPr/>
          <p:nvPr/>
        </p:nvSpPr>
        <p:spPr>
          <a:xfrm>
            <a:off x="6343650" y="2149971"/>
            <a:ext cx="749300"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1F4E7A"/>
                </a:solidFill>
                <a:latin typeface="IBM Plex Sans" pitchFamily="34" charset="0"/>
                <a:ea typeface="IBM Plex Sans" pitchFamily="34" charset="-122"/>
                <a:cs typeface="IBM Plex Sans" pitchFamily="34" charset="-120"/>
              </a:rPr>
              <a:t>383</a:t>
            </a:r>
            <a:endParaRPr lang="en-US" sz="3000" dirty="0"/>
          </a:p>
        </p:txBody>
      </p:sp>
      <p:sp>
        <p:nvSpPr>
          <p:cNvPr id="21" name="Text 17"/>
          <p:cNvSpPr/>
          <p:nvPr/>
        </p:nvSpPr>
        <p:spPr>
          <a:xfrm>
            <a:off x="7092950" y="2334121"/>
            <a:ext cx="7908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camiones</a:t>
            </a:r>
            <a:endParaRPr lang="en-US" sz="1200" dirty="0"/>
          </a:p>
        </p:txBody>
      </p:sp>
      <p:sp>
        <p:nvSpPr>
          <p:cNvPr id="22" name="Text 18"/>
          <p:cNvSpPr/>
          <p:nvPr/>
        </p:nvSpPr>
        <p:spPr>
          <a:xfrm>
            <a:off x="6343650" y="2613521"/>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328 min</a:t>
            </a:r>
            <a:r>
              <a:rPr lang="en-US" sz="1200" dirty="0">
                <a:solidFill>
                  <a:srgbClr val="14281E"/>
                </a:solidFill>
                <a:latin typeface="IBM Plex Sans" pitchFamily="34" charset="0"/>
                <a:ea typeface="IBM Plex Sans" pitchFamily="34" charset="-122"/>
                <a:cs typeface="IBM Plex Sans" pitchFamily="34" charset="-120"/>
              </a:rPr>
              <a:t> puerta a puerta</a:t>
            </a:r>
            <a:endParaRPr lang="en-US" sz="1200" dirty="0"/>
          </a:p>
        </p:txBody>
      </p:sp>
      <p:pic>
        <p:nvPicPr>
          <p:cNvPr id="23" name="Image 2" descr="Camiones por día, jueves a miércoles">    </p:cNvPr>
          <p:cNvPicPr>
            <a:picLocks noChangeAspect="1"/>
          </p:cNvPicPr>
          <p:nvPr/>
        </p:nvPicPr>
        <p:blipFill>
          <a:blip r:embed="rId3"/>
          <a:srcRect l="0" r="0" t="0" b="0"/>
          <a:stretch/>
        </p:blipFill>
        <p:spPr>
          <a:xfrm>
            <a:off x="6343650" y="2890341"/>
            <a:ext cx="2171700" cy="635000"/>
          </a:xfrm>
          <a:prstGeom prst="rect">
            <a:avLst/>
          </a:prstGeom>
        </p:spPr>
      </p:pic>
      <p:sp>
        <p:nvSpPr>
          <p:cNvPr id="24" name="Text 19"/>
          <p:cNvSpPr/>
          <p:nvPr/>
        </p:nvSpPr>
        <p:spPr>
          <a:xfrm>
            <a:off x="6343650" y="3588841"/>
            <a:ext cx="2249932"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Aceites, borras y glicerina. Pico lunes a miércoles.</a:t>
            </a:r>
            <a:endParaRPr lang="en-US" sz="1200" dirty="0"/>
          </a:p>
        </p:txBody>
      </p:sp>
      <p:sp>
        <p:nvSpPr>
          <p:cNvPr id="25" name="Shape 20"/>
          <p:cNvSpPr/>
          <p:nvPr/>
        </p:nvSpPr>
        <p:spPr>
          <a:xfrm>
            <a:off x="8855075" y="1730276"/>
            <a:ext cx="2520950" cy="2397522"/>
          </a:xfrm>
          <a:prstGeom prst="roundRect">
            <a:avLst>
              <a:gd name="adj" fmla="val 4105"/>
            </a:avLst>
          </a:prstGeom>
          <a:solidFill>
            <a:srgbClr val="FCFDFB"/>
          </a:solidFill>
          <a:ln w="6350">
            <a:solidFill>
              <a:srgbClr val="D3E2D7"/>
            </a:solidFill>
            <a:prstDash val="solid"/>
          </a:ln>
        </p:spPr>
      </p:sp>
      <p:sp>
        <p:nvSpPr>
          <p:cNvPr id="26" name="Text 21"/>
          <p:cNvSpPr/>
          <p:nvPr/>
        </p:nvSpPr>
        <p:spPr>
          <a:xfrm>
            <a:off x="9023350" y="18731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E4428"/>
                </a:solidFill>
                <a:latin typeface="IBM Plex Sans" pitchFamily="34" charset="0"/>
                <a:ea typeface="IBM Plex Sans" pitchFamily="34" charset="-122"/>
                <a:cs typeface="IBM Plex Sans" pitchFamily="34" charset="-120"/>
              </a:rPr>
              <a:t>PELLET</a:t>
            </a:r>
            <a:endParaRPr lang="en-US" sz="1200" dirty="0"/>
          </a:p>
        </p:txBody>
      </p:sp>
      <p:sp>
        <p:nvSpPr>
          <p:cNvPr id="27" name="Text 22"/>
          <p:cNvSpPr/>
          <p:nvPr/>
        </p:nvSpPr>
        <p:spPr>
          <a:xfrm>
            <a:off x="9023350" y="2149971"/>
            <a:ext cx="749300"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5E4428"/>
                </a:solidFill>
                <a:latin typeface="IBM Plex Sans" pitchFamily="34" charset="0"/>
                <a:ea typeface="IBM Plex Sans" pitchFamily="34" charset="-122"/>
                <a:cs typeface="IBM Plex Sans" pitchFamily="34" charset="-120"/>
              </a:rPr>
              <a:t>307</a:t>
            </a:r>
            <a:endParaRPr lang="en-US" sz="3000" dirty="0"/>
          </a:p>
        </p:txBody>
      </p:sp>
      <p:sp>
        <p:nvSpPr>
          <p:cNvPr id="28" name="Text 23"/>
          <p:cNvSpPr/>
          <p:nvPr/>
        </p:nvSpPr>
        <p:spPr>
          <a:xfrm>
            <a:off x="9772650" y="2334121"/>
            <a:ext cx="46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viajes</a:t>
            </a:r>
            <a:endParaRPr lang="en-US" sz="1200" dirty="0"/>
          </a:p>
        </p:txBody>
      </p:sp>
      <p:sp>
        <p:nvSpPr>
          <p:cNvPr id="29" name="Text 24"/>
          <p:cNvSpPr/>
          <p:nvPr/>
        </p:nvSpPr>
        <p:spPr>
          <a:xfrm>
            <a:off x="9023350" y="2613521"/>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9.210 t</a:t>
            </a:r>
            <a:r>
              <a:rPr lang="en-US" sz="1200" dirty="0">
                <a:solidFill>
                  <a:srgbClr val="14281E"/>
                </a:solidFill>
                <a:latin typeface="IBM Plex Sans" pitchFamily="34" charset="0"/>
                <a:ea typeface="IBM Plex Sans" pitchFamily="34" charset="-122"/>
                <a:cs typeface="IBM Plex Sans" pitchFamily="34" charset="-120"/>
              </a:rPr>
              <a:t> al puerto</a:t>
            </a:r>
            <a:endParaRPr lang="en-US" sz="1200" dirty="0"/>
          </a:p>
        </p:txBody>
      </p:sp>
      <p:pic>
        <p:nvPicPr>
          <p:cNvPr id="30" name="Image 3" descr="Camiones por día, jueves a miércoles">    </p:cNvPr>
          <p:cNvPicPr>
            <a:picLocks noChangeAspect="1"/>
          </p:cNvPicPr>
          <p:nvPr/>
        </p:nvPicPr>
        <p:blipFill>
          <a:blip r:embed="rId4"/>
          <a:srcRect l="0" r="0" t="0" b="0"/>
          <a:stretch/>
        </p:blipFill>
        <p:spPr>
          <a:xfrm>
            <a:off x="9023350" y="2890341"/>
            <a:ext cx="2171700" cy="635000"/>
          </a:xfrm>
          <a:prstGeom prst="rect">
            <a:avLst/>
          </a:prstGeom>
        </p:spPr>
      </p:pic>
      <p:sp>
        <p:nvSpPr>
          <p:cNvPr id="31" name="Text 25"/>
          <p:cNvSpPr/>
          <p:nvPr/>
        </p:nvSpPr>
        <p:spPr>
          <a:xfrm>
            <a:off x="9023350" y="3588841"/>
            <a:ext cx="2249932"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Operativo de transile, jueves a sábado y miércoles.</a:t>
            </a:r>
            <a:endParaRPr lang="en-US" sz="1200" dirty="0"/>
          </a:p>
        </p:txBody>
      </p:sp>
      <p:sp>
        <p:nvSpPr>
          <p:cNvPr id="32" name="Shape 26"/>
          <p:cNvSpPr/>
          <p:nvPr/>
        </p:nvSpPr>
        <p:spPr>
          <a:xfrm>
            <a:off x="838200" y="4308773"/>
            <a:ext cx="0" cy="703461"/>
          </a:xfrm>
          <a:prstGeom prst="line">
            <a:avLst/>
          </a:prstGeom>
          <a:noFill/>
          <a:ln w="50800">
            <a:solidFill>
              <a:srgbClr val="9AA8A0"/>
            </a:solidFill>
            <a:prstDash val="solid"/>
          </a:ln>
        </p:spPr>
      </p:sp>
      <p:sp>
        <p:nvSpPr>
          <p:cNvPr id="33" name="Text 27"/>
          <p:cNvSpPr/>
          <p:nvPr/>
        </p:nvSpPr>
        <p:spPr>
          <a:xfrm>
            <a:off x="977900" y="4334173"/>
            <a:ext cx="33181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Calada sólida Ricardone</a:t>
            </a:r>
            <a:endParaRPr lang="en-US" sz="1200" dirty="0"/>
          </a:p>
        </p:txBody>
      </p:sp>
      <p:sp>
        <p:nvSpPr>
          <p:cNvPr id="34" name="Text 28"/>
          <p:cNvSpPr/>
          <p:nvPr/>
        </p:nvSpPr>
        <p:spPr>
          <a:xfrm>
            <a:off x="977900" y="4560193"/>
            <a:ext cx="33181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1.455 recorridos de cámara · activa el 87 % de las horas</a:t>
            </a:r>
            <a:endParaRPr lang="en-US" sz="1200" dirty="0"/>
          </a:p>
        </p:txBody>
      </p:sp>
      <p:sp>
        <p:nvSpPr>
          <p:cNvPr id="35" name="Shape 29"/>
          <p:cNvSpPr/>
          <p:nvPr/>
        </p:nvSpPr>
        <p:spPr>
          <a:xfrm>
            <a:off x="4428034" y="4308773"/>
            <a:ext cx="0" cy="703461"/>
          </a:xfrm>
          <a:prstGeom prst="line">
            <a:avLst/>
          </a:prstGeom>
          <a:noFill/>
          <a:ln w="50800">
            <a:solidFill>
              <a:srgbClr val="9AA8A0"/>
            </a:solidFill>
            <a:prstDash val="solid"/>
          </a:ln>
        </p:spPr>
      </p:sp>
      <p:sp>
        <p:nvSpPr>
          <p:cNvPr id="36" name="Text 30"/>
          <p:cNvSpPr/>
          <p:nvPr/>
        </p:nvSpPr>
        <p:spPr>
          <a:xfrm>
            <a:off x="4567734" y="4334173"/>
            <a:ext cx="331828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Volcables puerto</a:t>
            </a:r>
            <a:endParaRPr lang="en-US" sz="1200" dirty="0"/>
          </a:p>
        </p:txBody>
      </p:sp>
      <p:sp>
        <p:nvSpPr>
          <p:cNvPr id="37" name="Text 31"/>
          <p:cNvSpPr/>
          <p:nvPr/>
        </p:nvSpPr>
        <p:spPr>
          <a:xfrm>
            <a:off x="4567734" y="4560193"/>
            <a:ext cx="33182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911 recorridos de cámara · V5 hizo el 53 %</a:t>
            </a:r>
            <a:endParaRPr lang="en-US" sz="1200" dirty="0"/>
          </a:p>
        </p:txBody>
      </p:sp>
      <p:sp>
        <p:nvSpPr>
          <p:cNvPr id="38" name="Shape 32"/>
          <p:cNvSpPr/>
          <p:nvPr/>
        </p:nvSpPr>
        <p:spPr>
          <a:xfrm>
            <a:off x="8017966" y="4308773"/>
            <a:ext cx="0" cy="703461"/>
          </a:xfrm>
          <a:prstGeom prst="line">
            <a:avLst/>
          </a:prstGeom>
          <a:noFill/>
          <a:ln w="50800">
            <a:solidFill>
              <a:srgbClr val="9AA8A0"/>
            </a:solidFill>
            <a:prstDash val="solid"/>
          </a:ln>
        </p:spPr>
      </p:sp>
      <p:sp>
        <p:nvSpPr>
          <p:cNvPr id="39" name="Text 33"/>
          <p:cNvSpPr/>
          <p:nvPr/>
        </p:nvSpPr>
        <p:spPr>
          <a:xfrm>
            <a:off x="8157666" y="4334173"/>
            <a:ext cx="33181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Silos Ricardone</a:t>
            </a:r>
            <a:endParaRPr lang="en-US" sz="1200" dirty="0"/>
          </a:p>
        </p:txBody>
      </p:sp>
      <p:sp>
        <p:nvSpPr>
          <p:cNvPr id="40" name="Text 34"/>
          <p:cNvSpPr/>
          <p:nvPr/>
        </p:nvSpPr>
        <p:spPr>
          <a:xfrm>
            <a:off x="8157666" y="4560193"/>
            <a:ext cx="33181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516 transiles de soja (R29), casi toda la semana</a:t>
            </a:r>
            <a:endParaRPr lang="en-US" sz="1200" dirty="0"/>
          </a:p>
        </p:txBody>
      </p:sp>
      <p:pic>
        <p:nvPicPr>
          <p:cNvPr id="41" name="Image 4" descr="Nueva Vicentin Argentina">    </p:cNvPr>
          <p:cNvPicPr>
            <a:picLocks noChangeAspect="1"/>
          </p:cNvPicPr>
          <p:nvPr/>
        </p:nvPicPr>
        <p:blipFill>
          <a:blip r:embed="rId5"/>
          <a:srcRect l="-167" r="-167" t="0" b="0"/>
          <a:stretch/>
        </p:blipFill>
        <p:spPr>
          <a:xfrm>
            <a:off x="812800" y="6197600"/>
            <a:ext cx="571500" cy="304800"/>
          </a:xfrm>
          <a:prstGeom prst="rect">
            <a:avLst/>
          </a:prstGeom>
        </p:spPr>
      </p:pic>
      <p:sp>
        <p:nvSpPr>
          <p:cNvPr id="42" name="Text 3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2</a:t>
            </a:r>
            <a:endParaRPr lang="en-US" sz="1200" dirty="0"/>
          </a:p>
        </p:txBody>
      </p:sp>
      <p:pic>
        <p:nvPicPr>
          <p:cNvPr id="43" name="Image 5" descr="Bimtrazer">    </p:cNvPr>
          <p:cNvPicPr>
            <a:picLocks noChangeAspect="1"/>
          </p:cNvPicPr>
          <p:nvPr/>
        </p:nvPicPr>
        <p:blipFill>
          <a:blip r:embed="rId6"/>
          <a:srcRect l="0" r="0" t="-63" b="-63"/>
          <a:stretch/>
        </p:blipFill>
        <p:spPr>
          <a:xfrm>
            <a:off x="10731500" y="6197600"/>
            <a:ext cx="647700" cy="30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877491" cy="289520"/>
          </a:xfrm>
          <a:custGeom>
            <a:avLst/>
            <a:gdLst/>
            <a:ahLst/>
            <a:cxnLst/>
            <a:rect l="l" t="t" r="r" b="b"/>
            <a:pathLst>
              <a:path w="877491" h="289520">
                <a:moveTo>
                  <a:pt x="144760" y="0"/>
                </a:moveTo>
                <a:lnTo>
                  <a:pt x="732730" y="0"/>
                </a:lnTo>
                <a:arcTo hR="144760" wR="144760" stAng="16200000" swAng="5400000"/>
                <a:lnTo>
                  <a:pt x="877491"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PLANTA</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1E"/>
                </a:solidFill>
                <a:latin typeface="IBM Plex Sans" pitchFamily="34" charset="0"/>
                <a:ea typeface="IBM Plex Sans" pitchFamily="34" charset="-122"/>
                <a:cs typeface="IBM Plex Sans" pitchFamily="34" charset="-120"/>
              </a:rPr>
              <a:t>El lunes fue el día con más camiones adentro de la planta</a:t>
            </a:r>
            <a:endParaRPr lang="en-US" sz="3000" dirty="0"/>
          </a:p>
        </p:txBody>
      </p:sp>
      <p:sp>
        <p:nvSpPr>
          <p:cNvPr id="4" name="Text 2"/>
          <p:cNvSpPr/>
          <p:nvPr/>
        </p:nvSpPr>
        <p:spPr>
          <a:xfrm>
            <a:off x="812800" y="16484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Camiones adentro:</a:t>
            </a:r>
            <a:r>
              <a:rPr lang="en-US" sz="1300" dirty="0">
                <a:solidFill>
                  <a:srgbClr val="4A5D52"/>
                </a:solidFill>
                <a:latin typeface="IBM Plex Sans" pitchFamily="34" charset="0"/>
                <a:ea typeface="IBM Plex Sans" pitchFamily="34" charset="-122"/>
                <a:cs typeface="IBM Plex Sans" pitchFamily="34" charset="-120"/>
              </a:rPr>
              <a:t> cuántos hay en promedio a cualquier hora. Sube si entran más o si tardan más en salir.</a:t>
            </a:r>
            <a:endParaRPr lang="en-US" sz="1300" dirty="0"/>
          </a:p>
        </p:txBody>
      </p:sp>
      <p:sp>
        <p:nvSpPr>
          <p:cNvPr id="5" name="Shape 3"/>
          <p:cNvSpPr/>
          <p:nvPr/>
        </p:nvSpPr>
        <p:spPr>
          <a:xfrm>
            <a:off x="812800" y="2125861"/>
            <a:ext cx="177800" cy="177800"/>
          </a:xfrm>
          <a:prstGeom prst="roundRect">
            <a:avLst>
              <a:gd name="adj" fmla="val 21429"/>
            </a:avLst>
          </a:prstGeom>
          <a:solidFill>
            <a:srgbClr val="0B5638"/>
          </a:solidFill>
          <a:ln/>
        </p:spPr>
      </p:sp>
      <p:sp>
        <p:nvSpPr>
          <p:cNvPr id="6" name="Text 4"/>
          <p:cNvSpPr/>
          <p:nvPr/>
        </p:nvSpPr>
        <p:spPr>
          <a:xfrm>
            <a:off x="1066800" y="2108101"/>
            <a:ext cx="74354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Ricardone</a:t>
            </a:r>
            <a:endParaRPr lang="en-US" sz="1200" dirty="0"/>
          </a:p>
        </p:txBody>
      </p:sp>
      <p:sp>
        <p:nvSpPr>
          <p:cNvPr id="7" name="Shape 5"/>
          <p:cNvSpPr/>
          <p:nvPr/>
        </p:nvSpPr>
        <p:spPr>
          <a:xfrm>
            <a:off x="1835745" y="2125861"/>
            <a:ext cx="177800" cy="177800"/>
          </a:xfrm>
          <a:prstGeom prst="roundRect">
            <a:avLst>
              <a:gd name="adj" fmla="val 21429"/>
            </a:avLst>
          </a:prstGeom>
          <a:solidFill>
            <a:srgbClr val="6B55A3"/>
          </a:solidFill>
          <a:ln/>
        </p:spPr>
      </p:sp>
      <p:sp>
        <p:nvSpPr>
          <p:cNvPr id="8" name="Text 6"/>
          <p:cNvSpPr/>
          <p:nvPr/>
        </p:nvSpPr>
        <p:spPr>
          <a:xfrm>
            <a:off x="2089745" y="2108101"/>
            <a:ext cx="88344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San Lorenzo</a:t>
            </a:r>
            <a:endParaRPr lang="en-US" sz="1200" dirty="0"/>
          </a:p>
        </p:txBody>
      </p:sp>
      <p:sp>
        <p:nvSpPr>
          <p:cNvPr id="9" name="Text 7"/>
          <p:cNvSpPr/>
          <p:nvPr/>
        </p:nvSpPr>
        <p:spPr>
          <a:xfrm>
            <a:off x="5625604" y="2108101"/>
            <a:ext cx="22112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Abajo: camiones de soja del día</a:t>
            </a:r>
            <a:endParaRPr lang="en-US" sz="1200" dirty="0"/>
          </a:p>
        </p:txBody>
      </p:sp>
      <p:sp>
        <p:nvSpPr>
          <p:cNvPr id="10" name="Text 8"/>
          <p:cNvSpPr/>
          <p:nvPr/>
        </p:nvSpPr>
        <p:spPr>
          <a:xfrm>
            <a:off x="1170186" y="3797399"/>
            <a:ext cx="2794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4281E"/>
                </a:solidFill>
                <a:latin typeface="IBM Plex Sans" pitchFamily="34" charset="0"/>
                <a:ea typeface="IBM Plex Sans" pitchFamily="34" charset="-122"/>
                <a:cs typeface="IBM Plex Sans" pitchFamily="34" charset="-120"/>
              </a:rPr>
              <a:t>23</a:t>
            </a:r>
            <a:endParaRPr lang="en-US" sz="1500" dirty="0"/>
          </a:p>
        </p:txBody>
      </p:sp>
      <p:sp>
        <p:nvSpPr>
          <p:cNvPr id="11" name="Text 9"/>
          <p:cNvSpPr/>
          <p:nvPr/>
        </p:nvSpPr>
        <p:spPr>
          <a:xfrm>
            <a:off x="992386" y="4064099"/>
            <a:ext cx="635000" cy="285750"/>
          </a:xfrm>
          <a:custGeom>
            <a:avLst/>
            <a:gdLst/>
            <a:ahLst/>
            <a:cxnLst/>
            <a:rect l="l" t="t" r="r" b="b"/>
            <a:pathLst>
              <a:path w="635000" h="285750">
                <a:moveTo>
                  <a:pt x="0" y="38100"/>
                </a:moveTo>
                <a:arcTo hR="38100" wR="38100" stAng="10800000" swAng="5400000"/>
                <a:lnTo>
                  <a:pt x="596900" y="0"/>
                </a:lnTo>
                <a:arcTo hR="38100" wR="38100" stAng="16200000" swAng="5400000"/>
                <a:lnTo>
                  <a:pt x="635000" y="285750"/>
                </a:lnTo>
                <a:lnTo>
                  <a:pt x="0" y="285750"/>
                </a:lnTo>
                <a:close/>
              </a:path>
            </a:pathLst>
          </a:custGeom>
          <a:solidFill>
            <a:srgbClr val="6B55A3"/>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5</a:t>
            </a:r>
            <a:endParaRPr lang="en-US" sz="1200" dirty="0"/>
          </a:p>
        </p:txBody>
      </p:sp>
      <p:sp>
        <p:nvSpPr>
          <p:cNvPr id="12" name="Text 10"/>
          <p:cNvSpPr/>
          <p:nvPr/>
        </p:nvSpPr>
        <p:spPr>
          <a:xfrm>
            <a:off x="992386" y="4349849"/>
            <a:ext cx="635000" cy="1035050"/>
          </a:xfrm>
          <a:prstGeom prst="rect">
            <a:avLst/>
          </a:prstGeom>
          <a:solidFill>
            <a:srgbClr val="0B5638"/>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18</a:t>
            </a:r>
            <a:endParaRPr lang="en-US" sz="1200" dirty="0"/>
          </a:p>
        </p:txBody>
      </p:sp>
      <p:sp>
        <p:nvSpPr>
          <p:cNvPr id="13" name="Shape 11"/>
          <p:cNvSpPr/>
          <p:nvPr/>
        </p:nvSpPr>
        <p:spPr>
          <a:xfrm>
            <a:off x="812800" y="5391249"/>
            <a:ext cx="994172" cy="0"/>
          </a:xfrm>
          <a:prstGeom prst="line">
            <a:avLst/>
          </a:prstGeom>
          <a:noFill/>
          <a:ln w="12700">
            <a:solidFill>
              <a:srgbClr val="B7C3BB"/>
            </a:solidFill>
            <a:prstDash val="solid"/>
          </a:ln>
        </p:spPr>
      </p:sp>
      <p:sp>
        <p:nvSpPr>
          <p:cNvPr id="14" name="Text 12"/>
          <p:cNvSpPr/>
          <p:nvPr/>
        </p:nvSpPr>
        <p:spPr>
          <a:xfrm>
            <a:off x="1000085" y="5448399"/>
            <a:ext cx="619601" cy="223441"/>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4281E"/>
                </a:solidFill>
                <a:latin typeface="IBM Plex Sans" pitchFamily="34" charset="0"/>
                <a:ea typeface="IBM Plex Sans" pitchFamily="34" charset="-122"/>
                <a:cs typeface="IBM Plex Sans" pitchFamily="34" charset="-120"/>
              </a:rPr>
              <a:t>Jue 24</a:t>
            </a:r>
            <a:endParaRPr lang="en-US" sz="1300" dirty="0"/>
          </a:p>
        </p:txBody>
      </p:sp>
      <p:sp>
        <p:nvSpPr>
          <p:cNvPr id="15" name="Text 13"/>
          <p:cNvSpPr/>
          <p:nvPr/>
        </p:nvSpPr>
        <p:spPr>
          <a:xfrm>
            <a:off x="956270" y="5659140"/>
            <a:ext cx="707231"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D52"/>
                </a:solidFill>
                <a:latin typeface="IBM Plex Sans" pitchFamily="34" charset="0"/>
                <a:ea typeface="IBM Plex Sans" pitchFamily="34" charset="-122"/>
                <a:cs typeface="IBM Plex Sans" pitchFamily="34" charset="-120"/>
              </a:rPr>
              <a:t>soja 109</a:t>
            </a:r>
            <a:endParaRPr lang="en-US" sz="1200" dirty="0"/>
          </a:p>
        </p:txBody>
      </p:sp>
      <p:sp>
        <p:nvSpPr>
          <p:cNvPr id="16" name="Text 14"/>
          <p:cNvSpPr/>
          <p:nvPr/>
        </p:nvSpPr>
        <p:spPr>
          <a:xfrm>
            <a:off x="2164358" y="3162399"/>
            <a:ext cx="2794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4281E"/>
                </a:solidFill>
                <a:latin typeface="IBM Plex Sans" pitchFamily="34" charset="0"/>
                <a:ea typeface="IBM Plex Sans" pitchFamily="34" charset="-122"/>
                <a:cs typeface="IBM Plex Sans" pitchFamily="34" charset="-120"/>
              </a:rPr>
              <a:t>34</a:t>
            </a:r>
            <a:endParaRPr lang="en-US" sz="1500" dirty="0"/>
          </a:p>
        </p:txBody>
      </p:sp>
      <p:sp>
        <p:nvSpPr>
          <p:cNvPr id="17" name="Text 15"/>
          <p:cNvSpPr/>
          <p:nvPr/>
        </p:nvSpPr>
        <p:spPr>
          <a:xfrm>
            <a:off x="1986558" y="3429099"/>
            <a:ext cx="635000" cy="1206500"/>
          </a:xfrm>
          <a:custGeom>
            <a:avLst/>
            <a:gdLst/>
            <a:ahLst/>
            <a:cxnLst/>
            <a:rect l="l" t="t" r="r" b="b"/>
            <a:pathLst>
              <a:path w="635000" h="1206500">
                <a:moveTo>
                  <a:pt x="0" y="38100"/>
                </a:moveTo>
                <a:arcTo hR="38100" wR="38100" stAng="10800000" swAng="5400000"/>
                <a:lnTo>
                  <a:pt x="596900" y="0"/>
                </a:lnTo>
                <a:arcTo hR="38100" wR="38100" stAng="16200000" swAng="5400000"/>
                <a:lnTo>
                  <a:pt x="635000" y="1206500"/>
                </a:lnTo>
                <a:lnTo>
                  <a:pt x="0" y="1206500"/>
                </a:lnTo>
                <a:close/>
              </a:path>
            </a:pathLst>
          </a:custGeom>
          <a:solidFill>
            <a:srgbClr val="6B55A3"/>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21</a:t>
            </a:r>
            <a:endParaRPr lang="en-US" sz="1200" dirty="0"/>
          </a:p>
        </p:txBody>
      </p:sp>
      <p:sp>
        <p:nvSpPr>
          <p:cNvPr id="18" name="Text 16"/>
          <p:cNvSpPr/>
          <p:nvPr/>
        </p:nvSpPr>
        <p:spPr>
          <a:xfrm>
            <a:off x="1986558" y="4635599"/>
            <a:ext cx="635000" cy="749300"/>
          </a:xfrm>
          <a:prstGeom prst="rect">
            <a:avLst/>
          </a:prstGeom>
          <a:solidFill>
            <a:srgbClr val="0B5638"/>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13</a:t>
            </a:r>
            <a:endParaRPr lang="en-US" sz="1200" dirty="0"/>
          </a:p>
        </p:txBody>
      </p:sp>
      <p:sp>
        <p:nvSpPr>
          <p:cNvPr id="19" name="Shape 17"/>
          <p:cNvSpPr/>
          <p:nvPr/>
        </p:nvSpPr>
        <p:spPr>
          <a:xfrm>
            <a:off x="1806972" y="5391249"/>
            <a:ext cx="994271" cy="0"/>
          </a:xfrm>
          <a:prstGeom prst="line">
            <a:avLst/>
          </a:prstGeom>
          <a:noFill/>
          <a:ln w="12700">
            <a:solidFill>
              <a:srgbClr val="B7C3BB"/>
            </a:solidFill>
            <a:prstDash val="solid"/>
          </a:ln>
        </p:spPr>
      </p:sp>
      <p:sp>
        <p:nvSpPr>
          <p:cNvPr id="20" name="Text 18"/>
          <p:cNvSpPr/>
          <p:nvPr/>
        </p:nvSpPr>
        <p:spPr>
          <a:xfrm>
            <a:off x="2016046" y="5448399"/>
            <a:ext cx="576024" cy="223441"/>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4281E"/>
                </a:solidFill>
                <a:latin typeface="IBM Plex Sans" pitchFamily="34" charset="0"/>
                <a:ea typeface="IBM Plex Sans" pitchFamily="34" charset="-122"/>
                <a:cs typeface="IBM Plex Sans" pitchFamily="34" charset="-120"/>
              </a:rPr>
              <a:t>Vie 25</a:t>
            </a:r>
            <a:endParaRPr lang="en-US" sz="1300" dirty="0"/>
          </a:p>
        </p:txBody>
      </p:sp>
      <p:sp>
        <p:nvSpPr>
          <p:cNvPr id="21" name="Text 19"/>
          <p:cNvSpPr/>
          <p:nvPr/>
        </p:nvSpPr>
        <p:spPr>
          <a:xfrm>
            <a:off x="1950442" y="5659140"/>
            <a:ext cx="707231"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D52"/>
                </a:solidFill>
                <a:latin typeface="IBM Plex Sans" pitchFamily="34" charset="0"/>
                <a:ea typeface="IBM Plex Sans" pitchFamily="34" charset="-122"/>
                <a:cs typeface="IBM Plex Sans" pitchFamily="34" charset="-120"/>
              </a:rPr>
              <a:t>soja 131</a:t>
            </a:r>
            <a:endParaRPr lang="en-US" sz="1200" dirty="0"/>
          </a:p>
        </p:txBody>
      </p:sp>
      <p:sp>
        <p:nvSpPr>
          <p:cNvPr id="22" name="Text 20"/>
          <p:cNvSpPr/>
          <p:nvPr/>
        </p:nvSpPr>
        <p:spPr>
          <a:xfrm>
            <a:off x="3158629" y="4083149"/>
            <a:ext cx="2794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4281E"/>
                </a:solidFill>
                <a:latin typeface="IBM Plex Sans" pitchFamily="34" charset="0"/>
                <a:ea typeface="IBM Plex Sans" pitchFamily="34" charset="-122"/>
                <a:cs typeface="IBM Plex Sans" pitchFamily="34" charset="-120"/>
              </a:rPr>
              <a:t>18</a:t>
            </a:r>
            <a:endParaRPr lang="en-US" sz="1500" dirty="0"/>
          </a:p>
        </p:txBody>
      </p:sp>
      <p:sp>
        <p:nvSpPr>
          <p:cNvPr id="23" name="Text 21"/>
          <p:cNvSpPr/>
          <p:nvPr/>
        </p:nvSpPr>
        <p:spPr>
          <a:xfrm>
            <a:off x="2980829" y="4349849"/>
            <a:ext cx="635000" cy="577850"/>
          </a:xfrm>
          <a:custGeom>
            <a:avLst/>
            <a:gdLst/>
            <a:ahLst/>
            <a:cxnLst/>
            <a:rect l="l" t="t" r="r" b="b"/>
            <a:pathLst>
              <a:path w="635000" h="577850">
                <a:moveTo>
                  <a:pt x="0" y="38100"/>
                </a:moveTo>
                <a:arcTo hR="38100" wR="38100" stAng="10800000" swAng="5400000"/>
                <a:lnTo>
                  <a:pt x="596900" y="0"/>
                </a:lnTo>
                <a:arcTo hR="38100" wR="38100" stAng="16200000" swAng="5400000"/>
                <a:lnTo>
                  <a:pt x="635000" y="577850"/>
                </a:lnTo>
                <a:lnTo>
                  <a:pt x="0" y="577850"/>
                </a:lnTo>
                <a:close/>
              </a:path>
            </a:pathLst>
          </a:custGeom>
          <a:solidFill>
            <a:srgbClr val="6B55A3"/>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10</a:t>
            </a:r>
            <a:endParaRPr lang="en-US" sz="1200" dirty="0"/>
          </a:p>
        </p:txBody>
      </p:sp>
      <p:sp>
        <p:nvSpPr>
          <p:cNvPr id="24" name="Text 22"/>
          <p:cNvSpPr/>
          <p:nvPr/>
        </p:nvSpPr>
        <p:spPr>
          <a:xfrm>
            <a:off x="2980829" y="4927699"/>
            <a:ext cx="635000" cy="457200"/>
          </a:xfrm>
          <a:prstGeom prst="rect">
            <a:avLst/>
          </a:prstGeom>
          <a:solidFill>
            <a:srgbClr val="0B5638"/>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8</a:t>
            </a:r>
            <a:endParaRPr lang="en-US" sz="1200" dirty="0"/>
          </a:p>
        </p:txBody>
      </p:sp>
      <p:sp>
        <p:nvSpPr>
          <p:cNvPr id="25" name="Shape 23"/>
          <p:cNvSpPr/>
          <p:nvPr/>
        </p:nvSpPr>
        <p:spPr>
          <a:xfrm>
            <a:off x="2801243" y="5391249"/>
            <a:ext cx="994172" cy="0"/>
          </a:xfrm>
          <a:prstGeom prst="line">
            <a:avLst/>
          </a:prstGeom>
          <a:noFill/>
          <a:ln w="12700">
            <a:solidFill>
              <a:srgbClr val="B7C3BB"/>
            </a:solidFill>
            <a:prstDash val="solid"/>
          </a:ln>
        </p:spPr>
      </p:sp>
      <p:sp>
        <p:nvSpPr>
          <p:cNvPr id="26" name="Text 24"/>
          <p:cNvSpPr/>
          <p:nvPr/>
        </p:nvSpPr>
        <p:spPr>
          <a:xfrm>
            <a:off x="2980680" y="5448399"/>
            <a:ext cx="635198" cy="223441"/>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4281E"/>
                </a:solidFill>
                <a:latin typeface="IBM Plex Sans" pitchFamily="34" charset="0"/>
                <a:ea typeface="IBM Plex Sans" pitchFamily="34" charset="-122"/>
                <a:cs typeface="IBM Plex Sans" pitchFamily="34" charset="-120"/>
              </a:rPr>
              <a:t>Sáb 26</a:t>
            </a:r>
            <a:endParaRPr lang="en-US" sz="1300" dirty="0"/>
          </a:p>
        </p:txBody>
      </p:sp>
      <p:sp>
        <p:nvSpPr>
          <p:cNvPr id="27" name="Text 25"/>
          <p:cNvSpPr/>
          <p:nvPr/>
        </p:nvSpPr>
        <p:spPr>
          <a:xfrm>
            <a:off x="2999492" y="5659140"/>
            <a:ext cx="597575"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D52"/>
                </a:solidFill>
                <a:latin typeface="IBM Plex Sans" pitchFamily="34" charset="0"/>
                <a:ea typeface="IBM Plex Sans" pitchFamily="34" charset="-122"/>
                <a:cs typeface="IBM Plex Sans" pitchFamily="34" charset="-120"/>
              </a:rPr>
              <a:t>soja 92</a:t>
            </a:r>
            <a:endParaRPr lang="en-US" sz="1200" dirty="0"/>
          </a:p>
        </p:txBody>
      </p:sp>
      <p:sp>
        <p:nvSpPr>
          <p:cNvPr id="28" name="Text 26"/>
          <p:cNvSpPr/>
          <p:nvPr/>
        </p:nvSpPr>
        <p:spPr>
          <a:xfrm>
            <a:off x="4152801" y="3854549"/>
            <a:ext cx="2794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4281E"/>
                </a:solidFill>
                <a:latin typeface="IBM Plex Sans" pitchFamily="34" charset="0"/>
                <a:ea typeface="IBM Plex Sans" pitchFamily="34" charset="-122"/>
                <a:cs typeface="IBM Plex Sans" pitchFamily="34" charset="-120"/>
              </a:rPr>
              <a:t>22</a:t>
            </a:r>
            <a:endParaRPr lang="en-US" sz="1500" dirty="0"/>
          </a:p>
        </p:txBody>
      </p:sp>
      <p:sp>
        <p:nvSpPr>
          <p:cNvPr id="29" name="Text 27"/>
          <p:cNvSpPr/>
          <p:nvPr/>
        </p:nvSpPr>
        <p:spPr>
          <a:xfrm>
            <a:off x="3975001" y="4121249"/>
            <a:ext cx="635000" cy="342900"/>
          </a:xfrm>
          <a:custGeom>
            <a:avLst/>
            <a:gdLst/>
            <a:ahLst/>
            <a:cxnLst/>
            <a:rect l="l" t="t" r="r" b="b"/>
            <a:pathLst>
              <a:path w="635000" h="342900">
                <a:moveTo>
                  <a:pt x="0" y="38100"/>
                </a:moveTo>
                <a:arcTo hR="38100" wR="38100" stAng="10800000" swAng="5400000"/>
                <a:lnTo>
                  <a:pt x="596900" y="0"/>
                </a:lnTo>
                <a:arcTo hR="38100" wR="38100" stAng="16200000" swAng="5400000"/>
                <a:lnTo>
                  <a:pt x="635000" y="342900"/>
                </a:lnTo>
                <a:lnTo>
                  <a:pt x="0" y="342900"/>
                </a:lnTo>
                <a:close/>
              </a:path>
            </a:pathLst>
          </a:custGeom>
          <a:solidFill>
            <a:srgbClr val="6B55A3"/>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6</a:t>
            </a:r>
            <a:endParaRPr lang="en-US" sz="1200" dirty="0"/>
          </a:p>
        </p:txBody>
      </p:sp>
      <p:sp>
        <p:nvSpPr>
          <p:cNvPr id="30" name="Text 28"/>
          <p:cNvSpPr/>
          <p:nvPr/>
        </p:nvSpPr>
        <p:spPr>
          <a:xfrm>
            <a:off x="3975001" y="4464149"/>
            <a:ext cx="635000" cy="920750"/>
          </a:xfrm>
          <a:prstGeom prst="rect">
            <a:avLst/>
          </a:prstGeom>
          <a:solidFill>
            <a:srgbClr val="0B5638"/>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16</a:t>
            </a:r>
            <a:endParaRPr lang="en-US" sz="1200" dirty="0"/>
          </a:p>
        </p:txBody>
      </p:sp>
      <p:sp>
        <p:nvSpPr>
          <p:cNvPr id="31" name="Shape 29"/>
          <p:cNvSpPr/>
          <p:nvPr/>
        </p:nvSpPr>
        <p:spPr>
          <a:xfrm>
            <a:off x="3795415" y="5391249"/>
            <a:ext cx="994271" cy="0"/>
          </a:xfrm>
          <a:prstGeom prst="line">
            <a:avLst/>
          </a:prstGeom>
          <a:noFill/>
          <a:ln w="12700">
            <a:solidFill>
              <a:srgbClr val="B7C3BB"/>
            </a:solidFill>
            <a:prstDash val="solid"/>
          </a:ln>
        </p:spPr>
      </p:sp>
      <p:sp>
        <p:nvSpPr>
          <p:cNvPr id="32" name="Text 30"/>
          <p:cNvSpPr/>
          <p:nvPr/>
        </p:nvSpPr>
        <p:spPr>
          <a:xfrm>
            <a:off x="3938280" y="5448399"/>
            <a:ext cx="708541" cy="223441"/>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4281E"/>
                </a:solidFill>
                <a:latin typeface="IBM Plex Sans" pitchFamily="34" charset="0"/>
                <a:ea typeface="IBM Plex Sans" pitchFamily="34" charset="-122"/>
                <a:cs typeface="IBM Plex Sans" pitchFamily="34" charset="-120"/>
              </a:rPr>
              <a:t>Dom 27</a:t>
            </a:r>
            <a:endParaRPr lang="en-US" sz="1300" dirty="0"/>
          </a:p>
        </p:txBody>
      </p:sp>
      <p:sp>
        <p:nvSpPr>
          <p:cNvPr id="33" name="Text 31"/>
          <p:cNvSpPr/>
          <p:nvPr/>
        </p:nvSpPr>
        <p:spPr>
          <a:xfrm>
            <a:off x="3938885" y="5659140"/>
            <a:ext cx="707231"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D52"/>
                </a:solidFill>
                <a:latin typeface="IBM Plex Sans" pitchFamily="34" charset="0"/>
                <a:ea typeface="IBM Plex Sans" pitchFamily="34" charset="-122"/>
                <a:cs typeface="IBM Plex Sans" pitchFamily="34" charset="-120"/>
              </a:rPr>
              <a:t>soja 107</a:t>
            </a:r>
            <a:endParaRPr lang="en-US" sz="1200" dirty="0"/>
          </a:p>
        </p:txBody>
      </p:sp>
      <p:sp>
        <p:nvSpPr>
          <p:cNvPr id="34" name="Text 32"/>
          <p:cNvSpPr/>
          <p:nvPr/>
        </p:nvSpPr>
        <p:spPr>
          <a:xfrm>
            <a:off x="5147072" y="2933799"/>
            <a:ext cx="2794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4281E"/>
                </a:solidFill>
                <a:latin typeface="IBM Plex Sans" pitchFamily="34" charset="0"/>
                <a:ea typeface="IBM Plex Sans" pitchFamily="34" charset="-122"/>
                <a:cs typeface="IBM Plex Sans" pitchFamily="34" charset="-120"/>
              </a:rPr>
              <a:t>38</a:t>
            </a:r>
            <a:endParaRPr lang="en-US" sz="1500" dirty="0"/>
          </a:p>
        </p:txBody>
      </p:sp>
      <p:sp>
        <p:nvSpPr>
          <p:cNvPr id="35" name="Text 33"/>
          <p:cNvSpPr/>
          <p:nvPr/>
        </p:nvSpPr>
        <p:spPr>
          <a:xfrm>
            <a:off x="4969272" y="3200499"/>
            <a:ext cx="635000" cy="1492250"/>
          </a:xfrm>
          <a:custGeom>
            <a:avLst/>
            <a:gdLst/>
            <a:ahLst/>
            <a:cxnLst/>
            <a:rect l="l" t="t" r="r" b="b"/>
            <a:pathLst>
              <a:path w="635000" h="1492250">
                <a:moveTo>
                  <a:pt x="0" y="38100"/>
                </a:moveTo>
                <a:arcTo hR="38100" wR="38100" stAng="10800000" swAng="5400000"/>
                <a:lnTo>
                  <a:pt x="596900" y="0"/>
                </a:lnTo>
                <a:arcTo hR="38100" wR="38100" stAng="16200000" swAng="5400000"/>
                <a:lnTo>
                  <a:pt x="635000" y="1492250"/>
                </a:lnTo>
                <a:lnTo>
                  <a:pt x="0" y="1492250"/>
                </a:lnTo>
                <a:close/>
              </a:path>
            </a:pathLst>
          </a:custGeom>
          <a:solidFill>
            <a:srgbClr val="6B55A3"/>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26</a:t>
            </a:r>
            <a:endParaRPr lang="en-US" sz="1200" dirty="0"/>
          </a:p>
        </p:txBody>
      </p:sp>
      <p:sp>
        <p:nvSpPr>
          <p:cNvPr id="36" name="Text 34"/>
          <p:cNvSpPr/>
          <p:nvPr/>
        </p:nvSpPr>
        <p:spPr>
          <a:xfrm>
            <a:off x="4969272" y="4692749"/>
            <a:ext cx="635000" cy="692150"/>
          </a:xfrm>
          <a:prstGeom prst="rect">
            <a:avLst/>
          </a:prstGeom>
          <a:solidFill>
            <a:srgbClr val="0B5638"/>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12</a:t>
            </a:r>
            <a:endParaRPr lang="en-US" sz="1200" dirty="0"/>
          </a:p>
        </p:txBody>
      </p:sp>
      <p:sp>
        <p:nvSpPr>
          <p:cNvPr id="37" name="Shape 35"/>
          <p:cNvSpPr/>
          <p:nvPr/>
        </p:nvSpPr>
        <p:spPr>
          <a:xfrm>
            <a:off x="4789686" y="5391249"/>
            <a:ext cx="994172" cy="0"/>
          </a:xfrm>
          <a:prstGeom prst="line">
            <a:avLst/>
          </a:prstGeom>
          <a:noFill/>
          <a:ln w="12700">
            <a:solidFill>
              <a:srgbClr val="B7C3BB"/>
            </a:solidFill>
            <a:prstDash val="solid"/>
          </a:ln>
        </p:spPr>
      </p:sp>
      <p:sp>
        <p:nvSpPr>
          <p:cNvPr id="38" name="Text 36"/>
          <p:cNvSpPr/>
          <p:nvPr/>
        </p:nvSpPr>
        <p:spPr>
          <a:xfrm>
            <a:off x="4976981" y="5448399"/>
            <a:ext cx="619482" cy="223441"/>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4281E"/>
                </a:solidFill>
                <a:latin typeface="IBM Plex Sans" pitchFamily="34" charset="0"/>
                <a:ea typeface="IBM Plex Sans" pitchFamily="34" charset="-122"/>
                <a:cs typeface="IBM Plex Sans" pitchFamily="34" charset="-120"/>
              </a:rPr>
              <a:t>Lun 28</a:t>
            </a:r>
            <a:endParaRPr lang="en-US" sz="1300" dirty="0"/>
          </a:p>
        </p:txBody>
      </p:sp>
      <p:sp>
        <p:nvSpPr>
          <p:cNvPr id="39" name="Text 37"/>
          <p:cNvSpPr/>
          <p:nvPr/>
        </p:nvSpPr>
        <p:spPr>
          <a:xfrm>
            <a:off x="4933156" y="5659140"/>
            <a:ext cx="707231"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D52"/>
                </a:solidFill>
                <a:latin typeface="IBM Plex Sans" pitchFamily="34" charset="0"/>
                <a:ea typeface="IBM Plex Sans" pitchFamily="34" charset="-122"/>
                <a:cs typeface="IBM Plex Sans" pitchFamily="34" charset="-120"/>
              </a:rPr>
              <a:t>soja 135</a:t>
            </a:r>
            <a:endParaRPr lang="en-US" sz="1200" dirty="0"/>
          </a:p>
        </p:txBody>
      </p:sp>
      <p:sp>
        <p:nvSpPr>
          <p:cNvPr id="40" name="Text 38"/>
          <p:cNvSpPr/>
          <p:nvPr/>
        </p:nvSpPr>
        <p:spPr>
          <a:xfrm>
            <a:off x="6141244" y="4140299"/>
            <a:ext cx="2794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4281E"/>
                </a:solidFill>
                <a:latin typeface="IBM Plex Sans" pitchFamily="34" charset="0"/>
                <a:ea typeface="IBM Plex Sans" pitchFamily="34" charset="-122"/>
                <a:cs typeface="IBM Plex Sans" pitchFamily="34" charset="-120"/>
              </a:rPr>
              <a:t>17</a:t>
            </a:r>
            <a:endParaRPr lang="en-US" sz="1500" dirty="0"/>
          </a:p>
        </p:txBody>
      </p:sp>
      <p:sp>
        <p:nvSpPr>
          <p:cNvPr id="41" name="Text 39"/>
          <p:cNvSpPr/>
          <p:nvPr/>
        </p:nvSpPr>
        <p:spPr>
          <a:xfrm>
            <a:off x="5963444" y="4406999"/>
            <a:ext cx="635000" cy="342900"/>
          </a:xfrm>
          <a:custGeom>
            <a:avLst/>
            <a:gdLst/>
            <a:ahLst/>
            <a:cxnLst/>
            <a:rect l="l" t="t" r="r" b="b"/>
            <a:pathLst>
              <a:path w="635000" h="342900">
                <a:moveTo>
                  <a:pt x="0" y="38100"/>
                </a:moveTo>
                <a:arcTo hR="38100" wR="38100" stAng="10800000" swAng="5400000"/>
                <a:lnTo>
                  <a:pt x="596900" y="0"/>
                </a:lnTo>
                <a:arcTo hR="38100" wR="38100" stAng="16200000" swAng="5400000"/>
                <a:lnTo>
                  <a:pt x="635000" y="342900"/>
                </a:lnTo>
                <a:lnTo>
                  <a:pt x="0" y="342900"/>
                </a:lnTo>
                <a:close/>
              </a:path>
            </a:pathLst>
          </a:custGeom>
          <a:solidFill>
            <a:srgbClr val="6B55A3"/>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6</a:t>
            </a:r>
            <a:endParaRPr lang="en-US" sz="1200" dirty="0"/>
          </a:p>
        </p:txBody>
      </p:sp>
      <p:sp>
        <p:nvSpPr>
          <p:cNvPr id="42" name="Text 40"/>
          <p:cNvSpPr/>
          <p:nvPr/>
        </p:nvSpPr>
        <p:spPr>
          <a:xfrm>
            <a:off x="5963444" y="4749899"/>
            <a:ext cx="635000" cy="635000"/>
          </a:xfrm>
          <a:prstGeom prst="rect">
            <a:avLst/>
          </a:prstGeom>
          <a:solidFill>
            <a:srgbClr val="0B5638"/>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11</a:t>
            </a:r>
            <a:endParaRPr lang="en-US" sz="1200" dirty="0"/>
          </a:p>
        </p:txBody>
      </p:sp>
      <p:sp>
        <p:nvSpPr>
          <p:cNvPr id="43" name="Shape 41"/>
          <p:cNvSpPr/>
          <p:nvPr/>
        </p:nvSpPr>
        <p:spPr>
          <a:xfrm>
            <a:off x="5783858" y="5391249"/>
            <a:ext cx="994271" cy="0"/>
          </a:xfrm>
          <a:prstGeom prst="line">
            <a:avLst/>
          </a:prstGeom>
          <a:noFill/>
          <a:ln w="12700">
            <a:solidFill>
              <a:srgbClr val="B7C3BB"/>
            </a:solidFill>
            <a:prstDash val="solid"/>
          </a:ln>
        </p:spPr>
      </p:sp>
      <p:sp>
        <p:nvSpPr>
          <p:cNvPr id="44" name="Text 42"/>
          <p:cNvSpPr/>
          <p:nvPr/>
        </p:nvSpPr>
        <p:spPr>
          <a:xfrm>
            <a:off x="5963404" y="5448399"/>
            <a:ext cx="635079" cy="223441"/>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4281E"/>
                </a:solidFill>
                <a:latin typeface="IBM Plex Sans" pitchFamily="34" charset="0"/>
                <a:ea typeface="IBM Plex Sans" pitchFamily="34" charset="-122"/>
                <a:cs typeface="IBM Plex Sans" pitchFamily="34" charset="-120"/>
              </a:rPr>
              <a:t>Mar 29</a:t>
            </a:r>
            <a:endParaRPr lang="en-US" sz="1300" dirty="0"/>
          </a:p>
        </p:txBody>
      </p:sp>
      <p:sp>
        <p:nvSpPr>
          <p:cNvPr id="45" name="Text 43"/>
          <p:cNvSpPr/>
          <p:nvPr/>
        </p:nvSpPr>
        <p:spPr>
          <a:xfrm>
            <a:off x="5982206" y="5659140"/>
            <a:ext cx="597575"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D52"/>
                </a:solidFill>
                <a:latin typeface="IBM Plex Sans" pitchFamily="34" charset="0"/>
                <a:ea typeface="IBM Plex Sans" pitchFamily="34" charset="-122"/>
                <a:cs typeface="IBM Plex Sans" pitchFamily="34" charset="-120"/>
              </a:rPr>
              <a:t>soja 96</a:t>
            </a:r>
            <a:endParaRPr lang="en-US" sz="1200" dirty="0"/>
          </a:p>
        </p:txBody>
      </p:sp>
      <p:sp>
        <p:nvSpPr>
          <p:cNvPr id="46" name="Text 44"/>
          <p:cNvSpPr/>
          <p:nvPr/>
        </p:nvSpPr>
        <p:spPr>
          <a:xfrm>
            <a:off x="7135515" y="3340199"/>
            <a:ext cx="2794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4281E"/>
                </a:solidFill>
                <a:latin typeface="IBM Plex Sans" pitchFamily="34" charset="0"/>
                <a:ea typeface="IBM Plex Sans" pitchFamily="34" charset="-122"/>
                <a:cs typeface="IBM Plex Sans" pitchFamily="34" charset="-120"/>
              </a:rPr>
              <a:t>31</a:t>
            </a:r>
            <a:endParaRPr lang="en-US" sz="1500" dirty="0"/>
          </a:p>
        </p:txBody>
      </p:sp>
      <p:sp>
        <p:nvSpPr>
          <p:cNvPr id="47" name="Text 45"/>
          <p:cNvSpPr/>
          <p:nvPr/>
        </p:nvSpPr>
        <p:spPr>
          <a:xfrm>
            <a:off x="6957715" y="3606899"/>
            <a:ext cx="635000" cy="1263650"/>
          </a:xfrm>
          <a:custGeom>
            <a:avLst/>
            <a:gdLst/>
            <a:ahLst/>
            <a:cxnLst/>
            <a:rect l="l" t="t" r="r" b="b"/>
            <a:pathLst>
              <a:path w="635000" h="1263650">
                <a:moveTo>
                  <a:pt x="0" y="38100"/>
                </a:moveTo>
                <a:arcTo hR="38100" wR="38100" stAng="10800000" swAng="5400000"/>
                <a:lnTo>
                  <a:pt x="596900" y="0"/>
                </a:lnTo>
                <a:arcTo hR="38100" wR="38100" stAng="16200000" swAng="5400000"/>
                <a:lnTo>
                  <a:pt x="635000" y="1263650"/>
                </a:lnTo>
                <a:lnTo>
                  <a:pt x="0" y="1263650"/>
                </a:lnTo>
                <a:close/>
              </a:path>
            </a:pathLst>
          </a:custGeom>
          <a:solidFill>
            <a:srgbClr val="6B55A3"/>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22</a:t>
            </a:r>
            <a:endParaRPr lang="en-US" sz="1200" dirty="0"/>
          </a:p>
        </p:txBody>
      </p:sp>
      <p:sp>
        <p:nvSpPr>
          <p:cNvPr id="48" name="Text 46"/>
          <p:cNvSpPr/>
          <p:nvPr/>
        </p:nvSpPr>
        <p:spPr>
          <a:xfrm>
            <a:off x="6957715" y="4870549"/>
            <a:ext cx="635000" cy="514350"/>
          </a:xfrm>
          <a:prstGeom prst="rect">
            <a:avLst/>
          </a:prstGeom>
          <a:solidFill>
            <a:srgbClr val="0B5638"/>
          </a:solidFill>
          <a:ln/>
        </p:spPr>
        <p:txBody>
          <a:bodyPr wrap="square" lIns="0" tIns="0" rIns="0" bIns="0" rtlCol="0" anchor="ctr">
            <a:normAutofit/>
          </a:bodyPr>
          <a:lstStyle/>
          <a:p>
            <a:pPr algn="ctr" indent="0" marL="0">
              <a:lnSpc>
                <a:spcPts val="1200"/>
              </a:lnSpc>
              <a:buNone/>
            </a:pPr>
            <a:r>
              <a:rPr lang="en-US" sz="1200" b="1" dirty="0">
                <a:solidFill>
                  <a:srgbClr val="F1F6F2"/>
                </a:solidFill>
                <a:latin typeface="IBM Plex Sans" pitchFamily="34" charset="0"/>
                <a:ea typeface="IBM Plex Sans" pitchFamily="34" charset="-122"/>
                <a:cs typeface="IBM Plex Sans" pitchFamily="34" charset="-120"/>
              </a:rPr>
              <a:t>9</a:t>
            </a:r>
            <a:endParaRPr lang="en-US" sz="1200" dirty="0"/>
          </a:p>
        </p:txBody>
      </p:sp>
      <p:sp>
        <p:nvSpPr>
          <p:cNvPr id="49" name="Shape 47"/>
          <p:cNvSpPr/>
          <p:nvPr/>
        </p:nvSpPr>
        <p:spPr>
          <a:xfrm>
            <a:off x="6778129" y="5391249"/>
            <a:ext cx="994271" cy="0"/>
          </a:xfrm>
          <a:prstGeom prst="line">
            <a:avLst/>
          </a:prstGeom>
          <a:noFill/>
          <a:ln w="12700">
            <a:solidFill>
              <a:srgbClr val="B7C3BB"/>
            </a:solidFill>
            <a:prstDash val="solid"/>
          </a:ln>
        </p:spPr>
      </p:sp>
      <p:sp>
        <p:nvSpPr>
          <p:cNvPr id="50" name="Text 48"/>
          <p:cNvSpPr/>
          <p:nvPr/>
        </p:nvSpPr>
        <p:spPr>
          <a:xfrm>
            <a:off x="6969462" y="5448399"/>
            <a:ext cx="611505" cy="223441"/>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4281E"/>
                </a:solidFill>
                <a:latin typeface="IBM Plex Sans" pitchFamily="34" charset="0"/>
                <a:ea typeface="IBM Plex Sans" pitchFamily="34" charset="-122"/>
                <a:cs typeface="IBM Plex Sans" pitchFamily="34" charset="-120"/>
              </a:rPr>
              <a:t>Mié 30</a:t>
            </a:r>
            <a:endParaRPr lang="en-US" sz="1300" dirty="0"/>
          </a:p>
        </p:txBody>
      </p:sp>
      <p:sp>
        <p:nvSpPr>
          <p:cNvPr id="51" name="Text 49"/>
          <p:cNvSpPr/>
          <p:nvPr/>
        </p:nvSpPr>
        <p:spPr>
          <a:xfrm>
            <a:off x="6921599" y="5659140"/>
            <a:ext cx="707231"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D52"/>
                </a:solidFill>
                <a:latin typeface="IBM Plex Sans" pitchFamily="34" charset="0"/>
                <a:ea typeface="IBM Plex Sans" pitchFamily="34" charset="-122"/>
                <a:cs typeface="IBM Plex Sans" pitchFamily="34" charset="-120"/>
              </a:rPr>
              <a:t>soja 100</a:t>
            </a:r>
            <a:endParaRPr lang="en-US" sz="1200" dirty="0"/>
          </a:p>
        </p:txBody>
      </p:sp>
      <p:sp>
        <p:nvSpPr>
          <p:cNvPr id="52" name="Shape 50"/>
          <p:cNvSpPr/>
          <p:nvPr/>
        </p:nvSpPr>
        <p:spPr>
          <a:xfrm>
            <a:off x="8080375" y="2371427"/>
            <a:ext cx="3295650" cy="873522"/>
          </a:xfrm>
          <a:prstGeom prst="roundRect">
            <a:avLst>
              <a:gd name="adj" fmla="val 9814"/>
            </a:avLst>
          </a:prstGeom>
          <a:solidFill>
            <a:srgbClr val="FCFDFB"/>
          </a:solidFill>
          <a:ln w="6350">
            <a:solidFill>
              <a:srgbClr val="D3E2D7"/>
            </a:solidFill>
            <a:prstDash val="solid"/>
          </a:ln>
        </p:spPr>
      </p:sp>
      <p:sp>
        <p:nvSpPr>
          <p:cNvPr id="53" name="Text 51"/>
          <p:cNvSpPr/>
          <p:nvPr/>
        </p:nvSpPr>
        <p:spPr>
          <a:xfrm>
            <a:off x="8210550" y="2450802"/>
            <a:ext cx="3126359"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14281E"/>
                </a:solidFill>
                <a:latin typeface="IBM Plex Sans" pitchFamily="34" charset="0"/>
                <a:ea typeface="IBM Plex Sans" pitchFamily="34" charset="-122"/>
                <a:cs typeface="IBM Plex Sans" pitchFamily="34" charset="-120"/>
              </a:rPr>
              <a:t>38</a:t>
            </a:r>
            <a:endParaRPr lang="en-US" sz="2200" dirty="0"/>
          </a:p>
        </p:txBody>
      </p:sp>
      <p:sp>
        <p:nvSpPr>
          <p:cNvPr id="54" name="Text 52"/>
          <p:cNvSpPr/>
          <p:nvPr/>
        </p:nvSpPr>
        <p:spPr>
          <a:xfrm>
            <a:off x="8210550" y="2769493"/>
            <a:ext cx="312635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camiones adentro el lunes 28: 12 en Ricardone y 26 en San Lorenzo.</a:t>
            </a:r>
            <a:endParaRPr lang="en-US" sz="1200" dirty="0"/>
          </a:p>
        </p:txBody>
      </p:sp>
      <p:sp>
        <p:nvSpPr>
          <p:cNvPr id="55" name="Shape 53"/>
          <p:cNvSpPr/>
          <p:nvPr/>
        </p:nvSpPr>
        <p:spPr>
          <a:xfrm>
            <a:off x="8080375" y="3340199"/>
            <a:ext cx="3295650" cy="873522"/>
          </a:xfrm>
          <a:prstGeom prst="roundRect">
            <a:avLst>
              <a:gd name="adj" fmla="val 9814"/>
            </a:avLst>
          </a:prstGeom>
          <a:solidFill>
            <a:srgbClr val="FCFDFB"/>
          </a:solidFill>
          <a:ln w="6350">
            <a:solidFill>
              <a:srgbClr val="D3E2D7"/>
            </a:solidFill>
            <a:prstDash val="solid"/>
          </a:ln>
        </p:spPr>
      </p:sp>
      <p:sp>
        <p:nvSpPr>
          <p:cNvPr id="56" name="Text 54"/>
          <p:cNvSpPr/>
          <p:nvPr/>
        </p:nvSpPr>
        <p:spPr>
          <a:xfrm>
            <a:off x="8210550" y="3419574"/>
            <a:ext cx="3126359"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14281E"/>
                </a:solidFill>
                <a:latin typeface="IBM Plex Sans" pitchFamily="34" charset="0"/>
                <a:ea typeface="IBM Plex Sans" pitchFamily="34" charset="-122"/>
                <a:cs typeface="IBM Plex Sans" pitchFamily="34" charset="-120"/>
              </a:rPr>
              <a:t>17–38</a:t>
            </a:r>
            <a:endParaRPr lang="en-US" sz="2200" dirty="0"/>
          </a:p>
        </p:txBody>
      </p:sp>
      <p:sp>
        <p:nvSpPr>
          <p:cNvPr id="57" name="Text 55"/>
          <p:cNvSpPr/>
          <p:nvPr/>
        </p:nvSpPr>
        <p:spPr>
          <a:xfrm>
            <a:off x="8210550" y="3738265"/>
            <a:ext cx="312635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por día en la semana; el más bajo, el martes 29.</a:t>
            </a:r>
            <a:endParaRPr lang="en-US" sz="1200" dirty="0"/>
          </a:p>
        </p:txBody>
      </p:sp>
      <p:sp>
        <p:nvSpPr>
          <p:cNvPr id="58" name="Shape 56"/>
          <p:cNvSpPr/>
          <p:nvPr/>
        </p:nvSpPr>
        <p:spPr>
          <a:xfrm>
            <a:off x="8080375" y="4308971"/>
            <a:ext cx="3295650" cy="1269603"/>
          </a:xfrm>
          <a:prstGeom prst="roundRect">
            <a:avLst>
              <a:gd name="adj" fmla="val 6752"/>
            </a:avLst>
          </a:prstGeom>
          <a:solidFill>
            <a:srgbClr val="FCFDFB"/>
          </a:solidFill>
          <a:ln w="6350">
            <a:solidFill>
              <a:srgbClr val="D3E2D7"/>
            </a:solidFill>
            <a:prstDash val="solid"/>
          </a:ln>
        </p:spPr>
      </p:sp>
      <p:sp>
        <p:nvSpPr>
          <p:cNvPr id="59" name="Text 57"/>
          <p:cNvSpPr/>
          <p:nvPr/>
        </p:nvSpPr>
        <p:spPr>
          <a:xfrm>
            <a:off x="8210550" y="4388346"/>
            <a:ext cx="3126359"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0B5638"/>
                </a:solidFill>
                <a:latin typeface="IBM Plex Sans" pitchFamily="34" charset="0"/>
                <a:ea typeface="IBM Plex Sans" pitchFamily="34" charset="-122"/>
                <a:cs typeface="IBM Plex Sans" pitchFamily="34" charset="-120"/>
              </a:rPr>
              <a:t>26</a:t>
            </a:r>
            <a:endParaRPr lang="en-US" sz="2200" dirty="0"/>
          </a:p>
        </p:txBody>
      </p:sp>
      <p:sp>
        <p:nvSpPr>
          <p:cNvPr id="60" name="Text 58"/>
          <p:cNvSpPr/>
          <p:nvPr/>
        </p:nvSpPr>
        <p:spPr>
          <a:xfrm>
            <a:off x="8210550" y="4707037"/>
            <a:ext cx="3126359" cy="81756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en San Lorenzo el lunes 28: el puerto tardó 248 min por camión, con la PV2 sin descargar por un preventivo en su compresor.</a:t>
            </a:r>
            <a:endParaRPr lang="en-US" sz="1200" dirty="0"/>
          </a:p>
        </p:txBody>
      </p:sp>
      <p:pic>
        <p:nvPicPr>
          <p:cNvPr id="61"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62" name="Text 59"/>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3</a:t>
            </a:r>
            <a:endParaRPr lang="en-US" sz="1200" dirty="0"/>
          </a:p>
        </p:txBody>
      </p:sp>
      <p:pic>
        <p:nvPicPr>
          <p:cNvPr id="63"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5638"/>
        </a:solidFill>
      </p:bgPr>
    </p:bg>
    <p:spTree>
      <p:nvGrpSpPr>
        <p:cNvPr id="1" name=""/>
        <p:cNvGrpSpPr/>
        <p:nvPr/>
      </p:nvGrpSpPr>
      <p:grpSpPr>
        <a:xfrm>
          <a:off x="0" y="0"/>
          <a:ext cx="0" cy="0"/>
          <a:chOff x="0" y="0"/>
          <a:chExt cx="0" cy="0"/>
        </a:xfrm>
      </p:grpSpPr>
      <p:sp>
        <p:nvSpPr>
          <p:cNvPr id="2" name="Text 0"/>
          <p:cNvSpPr/>
          <p:nvPr/>
        </p:nvSpPr>
        <p:spPr>
          <a:xfrm>
            <a:off x="812800" y="190758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9CCBAE"/>
                </a:solidFill>
                <a:latin typeface="IBM Plex Sans" pitchFamily="34" charset="0"/>
                <a:ea typeface="IBM Plex Sans" pitchFamily="34" charset="-122"/>
                <a:cs typeface="IBM Plex Sans" pitchFamily="34" charset="-120"/>
              </a:rPr>
              <a:t>01</a:t>
            </a:r>
            <a:endParaRPr lang="en-US" sz="8000" dirty="0"/>
          </a:p>
        </p:txBody>
      </p:sp>
      <p:sp>
        <p:nvSpPr>
          <p:cNvPr id="3" name="Text 1"/>
          <p:cNvSpPr/>
          <p:nvPr>
            <p:ph type="title"/>
          </p:nvPr>
        </p:nvSpPr>
        <p:spPr>
          <a:xfrm>
            <a:off x="812800" y="30759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Soja</a:t>
            </a:r>
            <a:endParaRPr lang="en-US" sz="6000" dirty="0"/>
          </a:p>
        </p:txBody>
      </p:sp>
      <p:sp>
        <p:nvSpPr>
          <p:cNvPr id="4" name="Text 2"/>
          <p:cNvSpPr/>
          <p:nvPr/>
        </p:nvSpPr>
        <p:spPr>
          <a:xfrm>
            <a:off x="812800" y="4028480"/>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6E4DA"/>
                </a:solidFill>
                <a:latin typeface="IBM Plex Sans" pitchFamily="34" charset="0"/>
                <a:ea typeface="IBM Plex Sans" pitchFamily="34" charset="-122"/>
                <a:cs typeface="IBM Plex Sans" pitchFamily="34" charset="-120"/>
              </a:rPr>
              <a:t>Circuito R7 Ricardone → San Lorenzo: la semana día por día, por planta y por horario.</a:t>
            </a:r>
            <a:endParaRPr lang="en-US" sz="1800" dirty="0"/>
          </a:p>
        </p:txBody>
      </p:sp>
      <p:pic>
        <p:nvPicPr>
          <p:cNvPr id="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6" name="Text 3"/>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Comité de Logística Nodo Sur · 24–30/09 · 4</a:t>
            </a:r>
            <a:endParaRPr lang="en-US" sz="1200" dirty="0"/>
          </a:p>
        </p:txBody>
      </p:sp>
      <p:pic>
        <p:nvPicPr>
          <p:cNvPr id="7"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041400" cy="289520"/>
          </a:xfrm>
          <a:custGeom>
            <a:avLst/>
            <a:gdLst/>
            <a:ahLst/>
            <a:cxnLst/>
            <a:rect l="l" t="t" r="r" b="b"/>
            <a:pathLst>
              <a:path w="1041400" h="289520">
                <a:moveTo>
                  <a:pt x="144760" y="0"/>
                </a:moveTo>
                <a:lnTo>
                  <a:pt x="896640" y="0"/>
                </a:lnTo>
                <a:arcTo hR="144760" wR="144760" stAng="16200000" swAng="5400000"/>
                <a:lnTo>
                  <a:pt x="1041400"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SOJA · R7</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Tiempos medios por tramo</a:t>
            </a:r>
            <a:endParaRPr lang="en-US" sz="3200" dirty="0"/>
          </a:p>
        </p:txBody>
      </p:sp>
      <p:sp>
        <p:nvSpPr>
          <p:cNvPr id="4" name="Text 2"/>
          <p:cNvSpPr/>
          <p:nvPr/>
        </p:nvSpPr>
        <p:spPr>
          <a:xfrm>
            <a:off x="812800" y="1777901"/>
            <a:ext cx="149492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Ingreso</a:t>
            </a:r>
            <a:endParaRPr lang="en-US" sz="1400" dirty="0"/>
          </a:p>
        </p:txBody>
      </p:sp>
      <p:sp>
        <p:nvSpPr>
          <p:cNvPr id="5" name="Shape 3"/>
          <p:cNvSpPr/>
          <p:nvPr/>
        </p:nvSpPr>
        <p:spPr>
          <a:xfrm>
            <a:off x="812800" y="2077541"/>
            <a:ext cx="1444129" cy="63500"/>
          </a:xfrm>
          <a:prstGeom prst="roundRect">
            <a:avLst>
              <a:gd name="adj" fmla="val 50000"/>
            </a:avLst>
          </a:prstGeom>
          <a:solidFill>
            <a:srgbClr val="9CCBAE"/>
          </a:solidFill>
          <a:ln/>
        </p:spPr>
      </p:sp>
      <p:sp>
        <p:nvSpPr>
          <p:cNvPr id="6" name="Text 4"/>
          <p:cNvSpPr/>
          <p:nvPr/>
        </p:nvSpPr>
        <p:spPr>
          <a:xfrm>
            <a:off x="812800" y="2191841"/>
            <a:ext cx="149492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Ingreso → Pre-ingreso</a:t>
            </a:r>
            <a:endParaRPr lang="en-US" sz="1200" dirty="0"/>
          </a:p>
        </p:txBody>
      </p:sp>
      <p:sp>
        <p:nvSpPr>
          <p:cNvPr id="7" name="Text 5"/>
          <p:cNvSpPr/>
          <p:nvPr/>
        </p:nvSpPr>
        <p:spPr>
          <a:xfrm>
            <a:off x="2333129" y="1777901"/>
            <a:ext cx="149492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Playa 1</a:t>
            </a:r>
            <a:endParaRPr lang="en-US" sz="1400" dirty="0"/>
          </a:p>
        </p:txBody>
      </p:sp>
      <p:sp>
        <p:nvSpPr>
          <p:cNvPr id="8" name="Shape 6"/>
          <p:cNvSpPr/>
          <p:nvPr/>
        </p:nvSpPr>
        <p:spPr>
          <a:xfrm>
            <a:off x="2333129" y="2077541"/>
            <a:ext cx="1444129" cy="63500"/>
          </a:xfrm>
          <a:prstGeom prst="roundRect">
            <a:avLst>
              <a:gd name="adj" fmla="val 50000"/>
            </a:avLst>
          </a:prstGeom>
          <a:solidFill>
            <a:srgbClr val="0B5638"/>
          </a:solidFill>
          <a:ln/>
        </p:spPr>
      </p:sp>
      <p:sp>
        <p:nvSpPr>
          <p:cNvPr id="9" name="Text 7"/>
          <p:cNvSpPr/>
          <p:nvPr/>
        </p:nvSpPr>
        <p:spPr>
          <a:xfrm>
            <a:off x="2333129" y="2191841"/>
            <a:ext cx="149492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Pre-ingreso → Calada</a:t>
            </a:r>
            <a:endParaRPr lang="en-US" sz="1200" dirty="0"/>
          </a:p>
        </p:txBody>
      </p:sp>
      <p:sp>
        <p:nvSpPr>
          <p:cNvPr id="10" name="Text 8"/>
          <p:cNvSpPr/>
          <p:nvPr/>
        </p:nvSpPr>
        <p:spPr>
          <a:xfrm>
            <a:off x="3853458" y="1777901"/>
            <a:ext cx="149502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Salida</a:t>
            </a:r>
            <a:endParaRPr lang="en-US" sz="1400" dirty="0"/>
          </a:p>
        </p:txBody>
      </p:sp>
      <p:sp>
        <p:nvSpPr>
          <p:cNvPr id="11" name="Shape 9"/>
          <p:cNvSpPr/>
          <p:nvPr/>
        </p:nvSpPr>
        <p:spPr>
          <a:xfrm>
            <a:off x="3853458" y="2077541"/>
            <a:ext cx="1444228" cy="63500"/>
          </a:xfrm>
          <a:prstGeom prst="roundRect">
            <a:avLst>
              <a:gd name="adj" fmla="val 50000"/>
            </a:avLst>
          </a:prstGeom>
          <a:solidFill>
            <a:srgbClr val="3A8F63"/>
          </a:solidFill>
          <a:ln/>
        </p:spPr>
      </p:sp>
      <p:sp>
        <p:nvSpPr>
          <p:cNvPr id="12" name="Text 10"/>
          <p:cNvSpPr/>
          <p:nvPr/>
        </p:nvSpPr>
        <p:spPr>
          <a:xfrm>
            <a:off x="3853458" y="2191841"/>
            <a:ext cx="149502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Calada → Salida Ricardone</a:t>
            </a:r>
            <a:endParaRPr lang="en-US" sz="1200" dirty="0"/>
          </a:p>
        </p:txBody>
      </p:sp>
      <p:sp>
        <p:nvSpPr>
          <p:cNvPr id="13" name="Text 11"/>
          <p:cNvSpPr/>
          <p:nvPr/>
        </p:nvSpPr>
        <p:spPr>
          <a:xfrm>
            <a:off x="5373886" y="1777901"/>
            <a:ext cx="149492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Interplanta</a:t>
            </a:r>
            <a:endParaRPr lang="en-US" sz="1400" dirty="0"/>
          </a:p>
        </p:txBody>
      </p:sp>
      <p:sp>
        <p:nvSpPr>
          <p:cNvPr id="14" name="Shape 12"/>
          <p:cNvSpPr/>
          <p:nvPr/>
        </p:nvSpPr>
        <p:spPr>
          <a:xfrm>
            <a:off x="5373886" y="2077541"/>
            <a:ext cx="1444129" cy="63500"/>
          </a:xfrm>
          <a:prstGeom prst="roundRect">
            <a:avLst>
              <a:gd name="adj" fmla="val 50000"/>
            </a:avLst>
          </a:prstGeom>
          <a:solidFill>
            <a:srgbClr val="B7C3BB"/>
          </a:solidFill>
          <a:ln/>
        </p:spPr>
      </p:sp>
      <p:sp>
        <p:nvSpPr>
          <p:cNvPr id="15" name="Text 13"/>
          <p:cNvSpPr/>
          <p:nvPr/>
        </p:nvSpPr>
        <p:spPr>
          <a:xfrm>
            <a:off x="5373886" y="2191841"/>
            <a:ext cx="149492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Salida Ricardone → Ingreso SLZ</a:t>
            </a:r>
            <a:endParaRPr lang="en-US" sz="1200" dirty="0"/>
          </a:p>
        </p:txBody>
      </p:sp>
      <p:sp>
        <p:nvSpPr>
          <p:cNvPr id="16" name="Text 14"/>
          <p:cNvSpPr/>
          <p:nvPr/>
        </p:nvSpPr>
        <p:spPr>
          <a:xfrm>
            <a:off x="6894215" y="1777901"/>
            <a:ext cx="149502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Playa OSL</a:t>
            </a:r>
            <a:endParaRPr lang="en-US" sz="1400" dirty="0"/>
          </a:p>
        </p:txBody>
      </p:sp>
      <p:sp>
        <p:nvSpPr>
          <p:cNvPr id="17" name="Shape 15"/>
          <p:cNvSpPr/>
          <p:nvPr/>
        </p:nvSpPr>
        <p:spPr>
          <a:xfrm>
            <a:off x="6894215" y="2077541"/>
            <a:ext cx="1444228" cy="63500"/>
          </a:xfrm>
          <a:prstGeom prst="roundRect">
            <a:avLst>
              <a:gd name="adj" fmla="val 50000"/>
            </a:avLst>
          </a:prstGeom>
          <a:solidFill>
            <a:srgbClr val="2E1B4E"/>
          </a:solidFill>
          <a:ln/>
        </p:spPr>
      </p:sp>
      <p:sp>
        <p:nvSpPr>
          <p:cNvPr id="18" name="Text 16"/>
          <p:cNvSpPr/>
          <p:nvPr/>
        </p:nvSpPr>
        <p:spPr>
          <a:xfrm>
            <a:off x="6894215" y="2191841"/>
            <a:ext cx="149502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Ingreso SLZ → Balanza OSL</a:t>
            </a:r>
            <a:endParaRPr lang="en-US" sz="1200" dirty="0"/>
          </a:p>
        </p:txBody>
      </p:sp>
      <p:sp>
        <p:nvSpPr>
          <p:cNvPr id="19" name="Text 17"/>
          <p:cNvSpPr/>
          <p:nvPr/>
        </p:nvSpPr>
        <p:spPr>
          <a:xfrm>
            <a:off x="8414643" y="1777901"/>
            <a:ext cx="149492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Descarga</a:t>
            </a:r>
            <a:endParaRPr lang="en-US" sz="1400" dirty="0"/>
          </a:p>
        </p:txBody>
      </p:sp>
      <p:sp>
        <p:nvSpPr>
          <p:cNvPr id="20" name="Shape 18"/>
          <p:cNvSpPr/>
          <p:nvPr/>
        </p:nvSpPr>
        <p:spPr>
          <a:xfrm>
            <a:off x="8414643" y="2077541"/>
            <a:ext cx="1444129" cy="63500"/>
          </a:xfrm>
          <a:prstGeom prst="roundRect">
            <a:avLst>
              <a:gd name="adj" fmla="val 50000"/>
            </a:avLst>
          </a:prstGeom>
          <a:solidFill>
            <a:srgbClr val="6B55A3"/>
          </a:solidFill>
          <a:ln/>
        </p:spPr>
      </p:sp>
      <p:sp>
        <p:nvSpPr>
          <p:cNvPr id="21" name="Text 19"/>
          <p:cNvSpPr/>
          <p:nvPr/>
        </p:nvSpPr>
        <p:spPr>
          <a:xfrm>
            <a:off x="8414643" y="2191841"/>
            <a:ext cx="149492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Balanza OSL → Volcable puerto</a:t>
            </a:r>
            <a:endParaRPr lang="en-US" sz="1200" dirty="0"/>
          </a:p>
        </p:txBody>
      </p:sp>
      <p:sp>
        <p:nvSpPr>
          <p:cNvPr id="22" name="Text 20"/>
          <p:cNvSpPr/>
          <p:nvPr/>
        </p:nvSpPr>
        <p:spPr>
          <a:xfrm>
            <a:off x="9934972" y="1777901"/>
            <a:ext cx="149502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Egreso</a:t>
            </a:r>
            <a:endParaRPr lang="en-US" sz="1400" dirty="0"/>
          </a:p>
        </p:txBody>
      </p:sp>
      <p:sp>
        <p:nvSpPr>
          <p:cNvPr id="23" name="Shape 21"/>
          <p:cNvSpPr/>
          <p:nvPr/>
        </p:nvSpPr>
        <p:spPr>
          <a:xfrm>
            <a:off x="9934972" y="2077541"/>
            <a:ext cx="1444228" cy="63500"/>
          </a:xfrm>
          <a:prstGeom prst="roundRect">
            <a:avLst>
              <a:gd name="adj" fmla="val 50000"/>
            </a:avLst>
          </a:prstGeom>
          <a:solidFill>
            <a:srgbClr val="A99BCF"/>
          </a:solidFill>
          <a:ln/>
        </p:spPr>
      </p:sp>
      <p:sp>
        <p:nvSpPr>
          <p:cNvPr id="24" name="Text 22"/>
          <p:cNvSpPr/>
          <p:nvPr/>
        </p:nvSpPr>
        <p:spPr>
          <a:xfrm>
            <a:off x="9934972" y="2191841"/>
            <a:ext cx="149502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Volcable puerto → Salida SLZ</a:t>
            </a:r>
            <a:endParaRPr lang="en-US" sz="1200" dirty="0"/>
          </a:p>
        </p:txBody>
      </p:sp>
      <p:sp>
        <p:nvSpPr>
          <p:cNvPr id="25" name="Text 23"/>
          <p:cNvSpPr/>
          <p:nvPr/>
        </p:nvSpPr>
        <p:spPr>
          <a:xfrm>
            <a:off x="787400" y="2831802"/>
            <a:ext cx="2349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5</a:t>
            </a:r>
            <a:endParaRPr lang="en-US" sz="1800" dirty="0"/>
          </a:p>
        </p:txBody>
      </p:sp>
      <p:sp>
        <p:nvSpPr>
          <p:cNvPr id="26" name="Text 24"/>
          <p:cNvSpPr/>
          <p:nvPr/>
        </p:nvSpPr>
        <p:spPr>
          <a:xfrm>
            <a:off x="956469" y="2831802"/>
            <a:ext cx="2779713"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0B5638"/>
                </a:solidFill>
                <a:latin typeface="IBM Plex Sans" pitchFamily="34" charset="0"/>
                <a:ea typeface="IBM Plex Sans" pitchFamily="34" charset="-122"/>
                <a:cs typeface="IBM Plex Sans" pitchFamily="34" charset="-120"/>
              </a:rPr>
              <a:t>74</a:t>
            </a:r>
            <a:endParaRPr lang="en-US" sz="1800" dirty="0"/>
          </a:p>
        </p:txBody>
      </p:sp>
      <p:sp>
        <p:nvSpPr>
          <p:cNvPr id="27" name="Text 25"/>
          <p:cNvSpPr/>
          <p:nvPr/>
        </p:nvSpPr>
        <p:spPr>
          <a:xfrm>
            <a:off x="3670300" y="2831802"/>
            <a:ext cx="4889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12</a:t>
            </a:r>
            <a:endParaRPr lang="en-US" sz="1800" dirty="0"/>
          </a:p>
        </p:txBody>
      </p:sp>
      <p:sp>
        <p:nvSpPr>
          <p:cNvPr id="28" name="Text 26"/>
          <p:cNvSpPr/>
          <p:nvPr/>
        </p:nvSpPr>
        <p:spPr>
          <a:xfrm>
            <a:off x="4108450" y="2831802"/>
            <a:ext cx="4508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11</a:t>
            </a:r>
            <a:endParaRPr lang="en-US" sz="1800" dirty="0"/>
          </a:p>
        </p:txBody>
      </p:sp>
      <p:sp>
        <p:nvSpPr>
          <p:cNvPr id="29" name="Text 27"/>
          <p:cNvSpPr/>
          <p:nvPr/>
        </p:nvSpPr>
        <p:spPr>
          <a:xfrm>
            <a:off x="4472273" y="2831802"/>
            <a:ext cx="4231704"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2E1B4E"/>
                </a:solidFill>
                <a:latin typeface="IBM Plex Sans" pitchFamily="34" charset="0"/>
                <a:ea typeface="IBM Plex Sans" pitchFamily="34" charset="-122"/>
                <a:cs typeface="IBM Plex Sans" pitchFamily="34" charset="-120"/>
              </a:rPr>
              <a:t>113</a:t>
            </a:r>
            <a:endParaRPr lang="en-US" sz="1800" dirty="0"/>
          </a:p>
        </p:txBody>
      </p:sp>
      <p:sp>
        <p:nvSpPr>
          <p:cNvPr id="30" name="Text 28"/>
          <p:cNvSpPr/>
          <p:nvPr/>
        </p:nvSpPr>
        <p:spPr>
          <a:xfrm>
            <a:off x="8612251" y="2831802"/>
            <a:ext cx="2066798"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6B55A3"/>
                </a:solidFill>
                <a:latin typeface="IBM Plex Sans" pitchFamily="34" charset="0"/>
                <a:ea typeface="IBM Plex Sans" pitchFamily="34" charset="-122"/>
                <a:cs typeface="IBM Plex Sans" pitchFamily="34" charset="-120"/>
              </a:rPr>
              <a:t>55</a:t>
            </a:r>
            <a:endParaRPr lang="en-US" sz="1800" dirty="0"/>
          </a:p>
        </p:txBody>
      </p:sp>
      <p:sp>
        <p:nvSpPr>
          <p:cNvPr id="31" name="Text 29"/>
          <p:cNvSpPr/>
          <p:nvPr/>
        </p:nvSpPr>
        <p:spPr>
          <a:xfrm>
            <a:off x="10623550" y="2831802"/>
            <a:ext cx="7810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20</a:t>
            </a:r>
            <a:endParaRPr lang="en-US" sz="1800" dirty="0"/>
          </a:p>
        </p:txBody>
      </p:sp>
      <p:sp>
        <p:nvSpPr>
          <p:cNvPr id="32" name="Shape 30"/>
          <p:cNvSpPr/>
          <p:nvPr/>
        </p:nvSpPr>
        <p:spPr>
          <a:xfrm>
            <a:off x="812800" y="3202583"/>
            <a:ext cx="184150" cy="355600"/>
          </a:xfrm>
          <a:custGeom>
            <a:avLst/>
            <a:gdLst/>
            <a:ahLst/>
            <a:cxnLst/>
            <a:rect l="l" t="t" r="r" b="b"/>
            <a:pathLst>
              <a:path w="184150" h="355600">
                <a:moveTo>
                  <a:pt x="0" y="50800"/>
                </a:moveTo>
                <a:arcTo hR="50800" wR="50800" stAng="10800000" swAng="5400000"/>
                <a:lnTo>
                  <a:pt x="184150" y="0"/>
                </a:lnTo>
                <a:lnTo>
                  <a:pt x="184150" y="355600"/>
                </a:lnTo>
                <a:lnTo>
                  <a:pt x="50800" y="355600"/>
                </a:lnTo>
                <a:arcTo hR="50800" wR="50800" stAng="5400000" swAng="5400000"/>
                <a:close/>
              </a:path>
            </a:pathLst>
          </a:custGeom>
          <a:solidFill>
            <a:srgbClr val="9CCBAE"/>
          </a:solidFill>
          <a:ln/>
        </p:spPr>
      </p:sp>
      <p:sp>
        <p:nvSpPr>
          <p:cNvPr id="33" name="Shape 31"/>
          <p:cNvSpPr/>
          <p:nvPr/>
        </p:nvSpPr>
        <p:spPr>
          <a:xfrm>
            <a:off x="996950" y="3202583"/>
            <a:ext cx="2698750" cy="355600"/>
          </a:xfrm>
          <a:prstGeom prst="rect">
            <a:avLst/>
          </a:prstGeom>
          <a:solidFill>
            <a:srgbClr val="0B5638"/>
          </a:solidFill>
          <a:ln/>
        </p:spPr>
      </p:sp>
      <p:sp>
        <p:nvSpPr>
          <p:cNvPr id="34" name="Shape 32"/>
          <p:cNvSpPr/>
          <p:nvPr/>
        </p:nvSpPr>
        <p:spPr>
          <a:xfrm>
            <a:off x="1006475" y="3202583"/>
            <a:ext cx="0" cy="355600"/>
          </a:xfrm>
          <a:prstGeom prst="line">
            <a:avLst/>
          </a:prstGeom>
          <a:noFill/>
          <a:ln w="19050">
            <a:solidFill>
              <a:srgbClr val="F5F8F4"/>
            </a:solidFill>
            <a:prstDash val="solid"/>
          </a:ln>
        </p:spPr>
      </p:sp>
      <p:sp>
        <p:nvSpPr>
          <p:cNvPr id="35" name="Shape 33"/>
          <p:cNvSpPr/>
          <p:nvPr/>
        </p:nvSpPr>
        <p:spPr>
          <a:xfrm>
            <a:off x="3695700" y="3202583"/>
            <a:ext cx="438150" cy="355600"/>
          </a:xfrm>
          <a:prstGeom prst="rect">
            <a:avLst/>
          </a:prstGeom>
          <a:solidFill>
            <a:srgbClr val="3A8F63"/>
          </a:solidFill>
          <a:ln/>
        </p:spPr>
      </p:sp>
      <p:sp>
        <p:nvSpPr>
          <p:cNvPr id="36" name="Shape 34"/>
          <p:cNvSpPr/>
          <p:nvPr/>
        </p:nvSpPr>
        <p:spPr>
          <a:xfrm>
            <a:off x="3705225" y="3202583"/>
            <a:ext cx="0" cy="355600"/>
          </a:xfrm>
          <a:prstGeom prst="line">
            <a:avLst/>
          </a:prstGeom>
          <a:noFill/>
          <a:ln w="19050">
            <a:solidFill>
              <a:srgbClr val="F5F8F4"/>
            </a:solidFill>
            <a:prstDash val="solid"/>
          </a:ln>
        </p:spPr>
      </p:sp>
      <p:sp>
        <p:nvSpPr>
          <p:cNvPr id="37" name="Shape 35"/>
          <p:cNvSpPr/>
          <p:nvPr/>
        </p:nvSpPr>
        <p:spPr>
          <a:xfrm>
            <a:off x="4133850" y="3202583"/>
            <a:ext cx="400050" cy="355600"/>
          </a:xfrm>
          <a:prstGeom prst="rect">
            <a:avLst/>
          </a:prstGeom>
          <a:solidFill>
            <a:srgbClr val="B7C3BB"/>
          </a:solidFill>
          <a:ln/>
        </p:spPr>
      </p:sp>
      <p:sp>
        <p:nvSpPr>
          <p:cNvPr id="38" name="Shape 36"/>
          <p:cNvSpPr/>
          <p:nvPr/>
        </p:nvSpPr>
        <p:spPr>
          <a:xfrm>
            <a:off x="4143375" y="3202583"/>
            <a:ext cx="0" cy="355600"/>
          </a:xfrm>
          <a:prstGeom prst="line">
            <a:avLst/>
          </a:prstGeom>
          <a:noFill/>
          <a:ln w="19050">
            <a:solidFill>
              <a:srgbClr val="F5F8F4"/>
            </a:solidFill>
            <a:prstDash val="solid"/>
          </a:ln>
        </p:spPr>
      </p:sp>
      <p:sp>
        <p:nvSpPr>
          <p:cNvPr id="39" name="Shape 37"/>
          <p:cNvSpPr/>
          <p:nvPr/>
        </p:nvSpPr>
        <p:spPr>
          <a:xfrm>
            <a:off x="4533900" y="3202583"/>
            <a:ext cx="4108450" cy="355600"/>
          </a:xfrm>
          <a:prstGeom prst="rect">
            <a:avLst/>
          </a:prstGeom>
          <a:solidFill>
            <a:srgbClr val="2E1B4E"/>
          </a:solidFill>
          <a:ln/>
        </p:spPr>
      </p:sp>
      <p:sp>
        <p:nvSpPr>
          <p:cNvPr id="40" name="Shape 38"/>
          <p:cNvSpPr/>
          <p:nvPr/>
        </p:nvSpPr>
        <p:spPr>
          <a:xfrm>
            <a:off x="4543425" y="3202583"/>
            <a:ext cx="0" cy="355600"/>
          </a:xfrm>
          <a:prstGeom prst="line">
            <a:avLst/>
          </a:prstGeom>
          <a:noFill/>
          <a:ln w="19050">
            <a:solidFill>
              <a:srgbClr val="F5F8F4"/>
            </a:solidFill>
            <a:prstDash val="solid"/>
          </a:ln>
        </p:spPr>
      </p:sp>
      <p:sp>
        <p:nvSpPr>
          <p:cNvPr id="41" name="Shape 39"/>
          <p:cNvSpPr/>
          <p:nvPr/>
        </p:nvSpPr>
        <p:spPr>
          <a:xfrm>
            <a:off x="8642350" y="3202583"/>
            <a:ext cx="2006600" cy="355600"/>
          </a:xfrm>
          <a:prstGeom prst="rect">
            <a:avLst/>
          </a:prstGeom>
          <a:solidFill>
            <a:srgbClr val="6B55A3"/>
          </a:solidFill>
          <a:ln/>
        </p:spPr>
      </p:sp>
      <p:sp>
        <p:nvSpPr>
          <p:cNvPr id="42" name="Shape 40"/>
          <p:cNvSpPr/>
          <p:nvPr/>
        </p:nvSpPr>
        <p:spPr>
          <a:xfrm>
            <a:off x="8651875" y="3202583"/>
            <a:ext cx="0" cy="355600"/>
          </a:xfrm>
          <a:prstGeom prst="line">
            <a:avLst/>
          </a:prstGeom>
          <a:noFill/>
          <a:ln w="19050">
            <a:solidFill>
              <a:srgbClr val="F5F8F4"/>
            </a:solidFill>
            <a:prstDash val="solid"/>
          </a:ln>
        </p:spPr>
      </p:sp>
      <p:sp>
        <p:nvSpPr>
          <p:cNvPr id="43" name="Shape 41"/>
          <p:cNvSpPr/>
          <p:nvPr/>
        </p:nvSpPr>
        <p:spPr>
          <a:xfrm>
            <a:off x="10648950" y="3202583"/>
            <a:ext cx="730250" cy="355600"/>
          </a:xfrm>
          <a:custGeom>
            <a:avLst/>
            <a:gdLst/>
            <a:ahLst/>
            <a:cxnLst/>
            <a:rect l="l" t="t" r="r" b="b"/>
            <a:pathLst>
              <a:path w="730250" h="355600">
                <a:moveTo>
                  <a:pt x="679450" y="0"/>
                </a:moveTo>
                <a:arcTo hR="50800" wR="50800" stAng="16200000" swAng="5400000"/>
                <a:lnTo>
                  <a:pt x="730250" y="304800"/>
                </a:lnTo>
                <a:arcTo hR="50800" wR="50800" stAng="0" swAng="5400000"/>
                <a:lnTo>
                  <a:pt x="0" y="355600"/>
                </a:lnTo>
                <a:lnTo>
                  <a:pt x="0" y="0"/>
                </a:lnTo>
                <a:close/>
              </a:path>
            </a:pathLst>
          </a:custGeom>
          <a:solidFill>
            <a:srgbClr val="A99BCF"/>
          </a:solidFill>
          <a:ln/>
        </p:spPr>
      </p:sp>
      <p:sp>
        <p:nvSpPr>
          <p:cNvPr id="44" name="Shape 42"/>
          <p:cNvSpPr/>
          <p:nvPr/>
        </p:nvSpPr>
        <p:spPr>
          <a:xfrm>
            <a:off x="10648950" y="3202583"/>
            <a:ext cx="730250" cy="355600"/>
          </a:xfrm>
          <a:custGeom>
            <a:avLst/>
            <a:gdLst/>
            <a:ahLst/>
            <a:cxnLst/>
            <a:rect l="l" t="t" r="r" b="b"/>
            <a:pathLst>
              <a:path w="730250" h="355600">
                <a:moveTo>
                  <a:pt x="0" y="0"/>
                </a:moveTo>
                <a:lnTo>
                  <a:pt x="19050" y="0"/>
                </a:lnTo>
                <a:lnTo>
                  <a:pt x="19050" y="355600"/>
                </a:lnTo>
                <a:lnTo>
                  <a:pt x="0" y="355600"/>
                </a:lnTo>
                <a:lnTo>
                  <a:pt x="0" y="0"/>
                </a:lnTo>
                <a:close/>
              </a:path>
            </a:pathLst>
          </a:custGeom>
          <a:solidFill>
            <a:srgbClr val="F5F8F4"/>
          </a:solidFill>
          <a:ln/>
        </p:spPr>
      </p:sp>
      <p:sp>
        <p:nvSpPr>
          <p:cNvPr id="45" name="Shape 43"/>
          <p:cNvSpPr/>
          <p:nvPr/>
        </p:nvSpPr>
        <p:spPr>
          <a:xfrm>
            <a:off x="812800" y="3621683"/>
            <a:ext cx="3321050" cy="0"/>
          </a:xfrm>
          <a:prstGeom prst="line">
            <a:avLst/>
          </a:prstGeom>
          <a:noFill/>
          <a:ln w="25400">
            <a:solidFill>
              <a:srgbClr val="0B5638"/>
            </a:solidFill>
            <a:prstDash val="solid"/>
          </a:ln>
        </p:spPr>
      </p:sp>
      <p:sp>
        <p:nvSpPr>
          <p:cNvPr id="46" name="Text 44"/>
          <p:cNvSpPr/>
          <p:nvPr/>
        </p:nvSpPr>
        <p:spPr>
          <a:xfrm>
            <a:off x="762984" y="3697883"/>
            <a:ext cx="3420682"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Ricardone · 91 min (1 h 31 m)</a:t>
            </a:r>
            <a:endParaRPr lang="en-US" sz="1400" dirty="0"/>
          </a:p>
        </p:txBody>
      </p:sp>
      <p:sp>
        <p:nvSpPr>
          <p:cNvPr id="47" name="Shape 45"/>
          <p:cNvSpPr/>
          <p:nvPr/>
        </p:nvSpPr>
        <p:spPr>
          <a:xfrm>
            <a:off x="4133850" y="3621683"/>
            <a:ext cx="6845300" cy="0"/>
          </a:xfrm>
          <a:prstGeom prst="line">
            <a:avLst/>
          </a:prstGeom>
          <a:noFill/>
          <a:ln w="25400">
            <a:solidFill>
              <a:srgbClr val="6B55A3"/>
            </a:solidFill>
            <a:prstDash val="solid"/>
          </a:ln>
        </p:spPr>
      </p:sp>
      <p:sp>
        <p:nvSpPr>
          <p:cNvPr id="48" name="Text 46"/>
          <p:cNvSpPr/>
          <p:nvPr/>
        </p:nvSpPr>
        <p:spPr>
          <a:xfrm>
            <a:off x="4031171" y="3697883"/>
            <a:ext cx="7050659"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2E1B4E"/>
                </a:solidFill>
                <a:latin typeface="IBM Plex Sans" pitchFamily="34" charset="0"/>
                <a:ea typeface="IBM Plex Sans" pitchFamily="34" charset="-122"/>
                <a:cs typeface="IBM Plex Sans" pitchFamily="34" charset="-120"/>
              </a:rPr>
              <a:t>San Lorenzo · 188 min (3 h 8 m)</a:t>
            </a:r>
            <a:endParaRPr lang="en-US" sz="1400" dirty="0"/>
          </a:p>
        </p:txBody>
      </p:sp>
      <p:sp>
        <p:nvSpPr>
          <p:cNvPr id="49" name="Shape 47"/>
          <p:cNvSpPr/>
          <p:nvPr/>
        </p:nvSpPr>
        <p:spPr>
          <a:xfrm>
            <a:off x="815975" y="4178498"/>
            <a:ext cx="3414117" cy="1344811"/>
          </a:xfrm>
          <a:prstGeom prst="roundRect">
            <a:avLst>
              <a:gd name="adj" fmla="val 6375"/>
            </a:avLst>
          </a:prstGeom>
          <a:solidFill>
            <a:srgbClr val="FCFDFB"/>
          </a:solidFill>
          <a:ln w="6350">
            <a:solidFill>
              <a:srgbClr val="D3E2D7"/>
            </a:solidFill>
            <a:prstDash val="solid"/>
          </a:ln>
        </p:spPr>
      </p:sp>
      <p:sp>
        <p:nvSpPr>
          <p:cNvPr id="50" name="Text 48"/>
          <p:cNvSpPr/>
          <p:nvPr/>
        </p:nvSpPr>
        <p:spPr>
          <a:xfrm>
            <a:off x="1022350" y="4334073"/>
            <a:ext cx="3091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Tiempo total puerta a puerta</a:t>
            </a:r>
            <a:endParaRPr lang="en-US" sz="1200" dirty="0"/>
          </a:p>
        </p:txBody>
      </p:sp>
      <p:sp>
        <p:nvSpPr>
          <p:cNvPr id="51" name="Text 49"/>
          <p:cNvSpPr/>
          <p:nvPr/>
        </p:nvSpPr>
        <p:spPr>
          <a:xfrm>
            <a:off x="1022350" y="4585494"/>
            <a:ext cx="3091408" cy="807641"/>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5638"/>
                </a:solidFill>
                <a:latin typeface="IBM Plex Sans" pitchFamily="34" charset="0"/>
                <a:ea typeface="IBM Plex Sans" pitchFamily="34" charset="-122"/>
                <a:cs typeface="IBM Plex Sans" pitchFamily="34" charset="-120"/>
              </a:rPr>
              <a:t>265 min · 4 h 25 m</a:t>
            </a:r>
            <a:endParaRPr lang="en-US" sz="2800" dirty="0"/>
          </a:p>
        </p:txBody>
      </p:sp>
      <p:sp>
        <p:nvSpPr>
          <p:cNvPr id="52" name="Shape 50"/>
          <p:cNvSpPr/>
          <p:nvPr/>
        </p:nvSpPr>
        <p:spPr>
          <a:xfrm>
            <a:off x="4388842" y="4178498"/>
            <a:ext cx="3414216" cy="1344811"/>
          </a:xfrm>
          <a:prstGeom prst="roundRect">
            <a:avLst>
              <a:gd name="adj" fmla="val 6375"/>
            </a:avLst>
          </a:prstGeom>
          <a:solidFill>
            <a:srgbClr val="FCFDFB"/>
          </a:solidFill>
          <a:ln w="6350">
            <a:solidFill>
              <a:srgbClr val="D3E2D7"/>
            </a:solidFill>
            <a:prstDash val="solid"/>
          </a:ln>
        </p:spPr>
      </p:sp>
      <p:sp>
        <p:nvSpPr>
          <p:cNvPr id="53" name="Text 51"/>
          <p:cNvSpPr/>
          <p:nvPr/>
        </p:nvSpPr>
        <p:spPr>
          <a:xfrm>
            <a:off x="4595217" y="4334073"/>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Comparativo semana anterior</a:t>
            </a:r>
            <a:endParaRPr lang="en-US" sz="1200" dirty="0"/>
          </a:p>
        </p:txBody>
      </p:sp>
      <p:sp>
        <p:nvSpPr>
          <p:cNvPr id="54" name="Text 52"/>
          <p:cNvSpPr/>
          <p:nvPr/>
        </p:nvSpPr>
        <p:spPr>
          <a:xfrm>
            <a:off x="4595217" y="4585494"/>
            <a:ext cx="309151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5638"/>
                </a:solidFill>
                <a:latin typeface="IBM Plex Sans" pitchFamily="34" charset="0"/>
                <a:ea typeface="IBM Plex Sans" pitchFamily="34" charset="-122"/>
                <a:cs typeface="IBM Plex Sans" pitchFamily="34" charset="-120"/>
              </a:rPr>
              <a:t>−38 min</a:t>
            </a:r>
            <a:endParaRPr lang="en-US" sz="2800" dirty="0"/>
          </a:p>
        </p:txBody>
      </p:sp>
      <p:sp>
        <p:nvSpPr>
          <p:cNvPr id="55" name="Shape 53"/>
          <p:cNvSpPr/>
          <p:nvPr/>
        </p:nvSpPr>
        <p:spPr>
          <a:xfrm>
            <a:off x="7961809" y="4178498"/>
            <a:ext cx="3414216" cy="1344811"/>
          </a:xfrm>
          <a:prstGeom prst="roundRect">
            <a:avLst>
              <a:gd name="adj" fmla="val 6375"/>
            </a:avLst>
          </a:prstGeom>
          <a:solidFill>
            <a:srgbClr val="FCFDFB"/>
          </a:solidFill>
          <a:ln w="6350">
            <a:solidFill>
              <a:srgbClr val="D3E2D7"/>
            </a:solidFill>
            <a:prstDash val="solid"/>
          </a:ln>
        </p:spPr>
      </p:sp>
      <p:sp>
        <p:nvSpPr>
          <p:cNvPr id="56" name="Text 54"/>
          <p:cNvSpPr/>
          <p:nvPr/>
        </p:nvSpPr>
        <p:spPr>
          <a:xfrm>
            <a:off x="8168184" y="4334073"/>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Total de camiones</a:t>
            </a:r>
            <a:endParaRPr lang="en-US" sz="1200" dirty="0"/>
          </a:p>
        </p:txBody>
      </p:sp>
      <p:sp>
        <p:nvSpPr>
          <p:cNvPr id="57" name="Text 55"/>
          <p:cNvSpPr/>
          <p:nvPr/>
        </p:nvSpPr>
        <p:spPr>
          <a:xfrm>
            <a:off x="8168184" y="4585494"/>
            <a:ext cx="309151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E1B4E"/>
                </a:solidFill>
                <a:latin typeface="IBM Plex Sans" pitchFamily="34" charset="0"/>
                <a:ea typeface="IBM Plex Sans" pitchFamily="34" charset="-122"/>
                <a:cs typeface="IBM Plex Sans" pitchFamily="34" charset="-120"/>
              </a:rPr>
              <a:t>770</a:t>
            </a:r>
            <a:endParaRPr lang="en-US" sz="2800" dirty="0"/>
          </a:p>
        </p:txBody>
      </p:sp>
      <p:pic>
        <p:nvPicPr>
          <p:cNvPr id="58"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59" name="Text 56"/>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5</a:t>
            </a:r>
            <a:endParaRPr lang="en-US" sz="1200" dirty="0"/>
          </a:p>
        </p:txBody>
      </p:sp>
      <p:pic>
        <p:nvPicPr>
          <p:cNvPr id="6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2025848" cy="289520"/>
          </a:xfrm>
          <a:custGeom>
            <a:avLst/>
            <a:gdLst/>
            <a:ahLst/>
            <a:cxnLst/>
            <a:rect l="l" t="t" r="r" b="b"/>
            <a:pathLst>
              <a:path w="2025848" h="289520">
                <a:moveTo>
                  <a:pt x="144760" y="0"/>
                </a:moveTo>
                <a:lnTo>
                  <a:pt x="1881088" y="0"/>
                </a:lnTo>
                <a:arcTo hR="144760" wR="144760" stAng="16200000" swAng="5400000"/>
                <a:lnTo>
                  <a:pt x="2025848" y="144760"/>
                </a:lnTo>
                <a:arcTo hR="144760" wR="144760" stAng="0" swAng="5400000"/>
                <a:lnTo>
                  <a:pt x="144760" y="289520"/>
                </a:lnTo>
                <a:arcTo hR="144760" wR="144760" stAng="5400000" swAng="5400000"/>
                <a:lnTo>
                  <a:pt x="0" y="144760"/>
                </a:lnTo>
                <a:arcTo hR="144760" wR="144760" stAng="10800000" swAng="5400000"/>
                <a:close/>
              </a:path>
            </a:pathLst>
          </a:custGeom>
          <a:solidFill>
            <a:srgbClr val="3A8F63"/>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SOJA · TRANSILE R29</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Transile desde silos: tiempos medios por tramo</a:t>
            </a:r>
            <a:endParaRPr lang="en-US" sz="3200" dirty="0"/>
          </a:p>
        </p:txBody>
      </p:sp>
      <p:sp>
        <p:nvSpPr>
          <p:cNvPr id="4" name="Text 2"/>
          <p:cNvSpPr/>
          <p:nvPr/>
        </p:nvSpPr>
        <p:spPr>
          <a:xfrm>
            <a:off x="812800" y="1701701"/>
            <a:ext cx="103882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Ingreso y Playa 1</a:t>
            </a:r>
            <a:endParaRPr lang="en-US" sz="1400" dirty="0"/>
          </a:p>
        </p:txBody>
      </p:sp>
      <p:sp>
        <p:nvSpPr>
          <p:cNvPr id="5" name="Shape 3"/>
          <p:cNvSpPr/>
          <p:nvPr/>
        </p:nvSpPr>
        <p:spPr>
          <a:xfrm>
            <a:off x="812800" y="2250182"/>
            <a:ext cx="988020" cy="63500"/>
          </a:xfrm>
          <a:prstGeom prst="roundRect">
            <a:avLst>
              <a:gd name="adj" fmla="val 50000"/>
            </a:avLst>
          </a:prstGeom>
          <a:solidFill>
            <a:srgbClr val="3A8F63"/>
          </a:solidFill>
          <a:ln/>
        </p:spPr>
      </p:sp>
      <p:sp>
        <p:nvSpPr>
          <p:cNvPr id="6" name="Text 4"/>
          <p:cNvSpPr/>
          <p:nvPr/>
        </p:nvSpPr>
        <p:spPr>
          <a:xfrm>
            <a:off x="812800" y="2364482"/>
            <a:ext cx="10388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Ingreso → Calle líquida</a:t>
            </a:r>
            <a:endParaRPr lang="en-US" sz="1200" dirty="0"/>
          </a:p>
        </p:txBody>
      </p:sp>
      <p:sp>
        <p:nvSpPr>
          <p:cNvPr id="7" name="Text 5"/>
          <p:cNvSpPr/>
          <p:nvPr/>
        </p:nvSpPr>
        <p:spPr>
          <a:xfrm>
            <a:off x="1877020" y="1701701"/>
            <a:ext cx="1038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Acceso P3</a:t>
            </a:r>
            <a:endParaRPr lang="en-US" sz="1400" dirty="0"/>
          </a:p>
        </p:txBody>
      </p:sp>
      <p:sp>
        <p:nvSpPr>
          <p:cNvPr id="8" name="Shape 6"/>
          <p:cNvSpPr/>
          <p:nvPr/>
        </p:nvSpPr>
        <p:spPr>
          <a:xfrm>
            <a:off x="1877020" y="2001341"/>
            <a:ext cx="988020" cy="63500"/>
          </a:xfrm>
          <a:prstGeom prst="roundRect">
            <a:avLst>
              <a:gd name="adj" fmla="val 50000"/>
            </a:avLst>
          </a:prstGeom>
          <a:solidFill>
            <a:srgbClr val="9CCBAE"/>
          </a:solidFill>
          <a:ln/>
        </p:spPr>
      </p:sp>
      <p:sp>
        <p:nvSpPr>
          <p:cNvPr id="9" name="Text 7"/>
          <p:cNvSpPr/>
          <p:nvPr/>
        </p:nvSpPr>
        <p:spPr>
          <a:xfrm>
            <a:off x="1877020" y="2115641"/>
            <a:ext cx="10388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Calle líquida → Playa 3</a:t>
            </a:r>
            <a:endParaRPr lang="en-US" sz="1200" dirty="0"/>
          </a:p>
        </p:txBody>
      </p:sp>
      <p:sp>
        <p:nvSpPr>
          <p:cNvPr id="10" name="Text 8"/>
          <p:cNvSpPr/>
          <p:nvPr/>
        </p:nvSpPr>
        <p:spPr>
          <a:xfrm>
            <a:off x="2941241" y="1701701"/>
            <a:ext cx="103892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Espera carga</a:t>
            </a:r>
            <a:endParaRPr lang="en-US" sz="1400" dirty="0"/>
          </a:p>
        </p:txBody>
      </p:sp>
      <p:sp>
        <p:nvSpPr>
          <p:cNvPr id="11" name="Shape 9"/>
          <p:cNvSpPr/>
          <p:nvPr/>
        </p:nvSpPr>
        <p:spPr>
          <a:xfrm>
            <a:off x="2941241" y="2250182"/>
            <a:ext cx="988120" cy="63500"/>
          </a:xfrm>
          <a:prstGeom prst="roundRect">
            <a:avLst>
              <a:gd name="adj" fmla="val 50000"/>
            </a:avLst>
          </a:prstGeom>
          <a:solidFill>
            <a:srgbClr val="0B5638"/>
          </a:solidFill>
          <a:ln/>
        </p:spPr>
      </p:sp>
      <p:sp>
        <p:nvSpPr>
          <p:cNvPr id="12" name="Text 10"/>
          <p:cNvSpPr/>
          <p:nvPr/>
        </p:nvSpPr>
        <p:spPr>
          <a:xfrm>
            <a:off x="2941241" y="2364482"/>
            <a:ext cx="10389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Playa 3 → Silo</a:t>
            </a:r>
            <a:endParaRPr lang="en-US" sz="1200" dirty="0"/>
          </a:p>
        </p:txBody>
      </p:sp>
      <p:sp>
        <p:nvSpPr>
          <p:cNvPr id="13" name="Text 11"/>
          <p:cNvSpPr/>
          <p:nvPr/>
        </p:nvSpPr>
        <p:spPr>
          <a:xfrm>
            <a:off x="4005560" y="1701701"/>
            <a:ext cx="1038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Carga</a:t>
            </a:r>
            <a:endParaRPr lang="en-US" sz="1400" dirty="0"/>
          </a:p>
        </p:txBody>
      </p:sp>
      <p:sp>
        <p:nvSpPr>
          <p:cNvPr id="14" name="Shape 12"/>
          <p:cNvSpPr/>
          <p:nvPr/>
        </p:nvSpPr>
        <p:spPr>
          <a:xfrm>
            <a:off x="4005560" y="2001341"/>
            <a:ext cx="988020" cy="63500"/>
          </a:xfrm>
          <a:prstGeom prst="roundRect">
            <a:avLst>
              <a:gd name="adj" fmla="val 50000"/>
            </a:avLst>
          </a:prstGeom>
          <a:solidFill>
            <a:srgbClr val="3A8F63"/>
          </a:solidFill>
          <a:ln/>
        </p:spPr>
      </p:sp>
      <p:sp>
        <p:nvSpPr>
          <p:cNvPr id="15" name="Text 13"/>
          <p:cNvSpPr/>
          <p:nvPr/>
        </p:nvSpPr>
        <p:spPr>
          <a:xfrm>
            <a:off x="4005560" y="2115641"/>
            <a:ext cx="103882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Silo → Balanza egreso</a:t>
            </a:r>
            <a:endParaRPr lang="en-US" sz="1200" dirty="0"/>
          </a:p>
        </p:txBody>
      </p:sp>
      <p:sp>
        <p:nvSpPr>
          <p:cNvPr id="16" name="Text 14"/>
          <p:cNvSpPr/>
          <p:nvPr/>
        </p:nvSpPr>
        <p:spPr>
          <a:xfrm>
            <a:off x="5069780" y="1701701"/>
            <a:ext cx="10389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A calada</a:t>
            </a:r>
            <a:endParaRPr lang="en-US" sz="1400" dirty="0"/>
          </a:p>
        </p:txBody>
      </p:sp>
      <p:sp>
        <p:nvSpPr>
          <p:cNvPr id="17" name="Shape 15"/>
          <p:cNvSpPr/>
          <p:nvPr/>
        </p:nvSpPr>
        <p:spPr>
          <a:xfrm>
            <a:off x="5069780" y="2001341"/>
            <a:ext cx="988120" cy="63500"/>
          </a:xfrm>
          <a:prstGeom prst="roundRect">
            <a:avLst>
              <a:gd name="adj" fmla="val 50000"/>
            </a:avLst>
          </a:prstGeom>
          <a:solidFill>
            <a:srgbClr val="1F7A4D"/>
          </a:solidFill>
          <a:ln/>
        </p:spPr>
      </p:sp>
      <p:sp>
        <p:nvSpPr>
          <p:cNvPr id="18" name="Text 16"/>
          <p:cNvSpPr/>
          <p:nvPr/>
        </p:nvSpPr>
        <p:spPr>
          <a:xfrm>
            <a:off x="5069780" y="2115641"/>
            <a:ext cx="103892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Balanza egreso → Calada</a:t>
            </a:r>
            <a:endParaRPr lang="en-US" sz="1200" dirty="0"/>
          </a:p>
        </p:txBody>
      </p:sp>
      <p:sp>
        <p:nvSpPr>
          <p:cNvPr id="19" name="Text 17"/>
          <p:cNvSpPr/>
          <p:nvPr/>
        </p:nvSpPr>
        <p:spPr>
          <a:xfrm>
            <a:off x="6134100" y="1701701"/>
            <a:ext cx="1038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Salida</a:t>
            </a:r>
            <a:endParaRPr lang="en-US" sz="1400" dirty="0"/>
          </a:p>
        </p:txBody>
      </p:sp>
      <p:sp>
        <p:nvSpPr>
          <p:cNvPr id="20" name="Shape 18"/>
          <p:cNvSpPr/>
          <p:nvPr/>
        </p:nvSpPr>
        <p:spPr>
          <a:xfrm>
            <a:off x="6134100" y="2001341"/>
            <a:ext cx="988020" cy="63500"/>
          </a:xfrm>
          <a:prstGeom prst="roundRect">
            <a:avLst>
              <a:gd name="adj" fmla="val 50000"/>
            </a:avLst>
          </a:prstGeom>
          <a:solidFill>
            <a:srgbClr val="9CCBAE"/>
          </a:solidFill>
          <a:ln/>
        </p:spPr>
      </p:sp>
      <p:sp>
        <p:nvSpPr>
          <p:cNvPr id="21" name="Text 19"/>
          <p:cNvSpPr/>
          <p:nvPr/>
        </p:nvSpPr>
        <p:spPr>
          <a:xfrm>
            <a:off x="6134100" y="2115641"/>
            <a:ext cx="10388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Calada → Salida Ric</a:t>
            </a:r>
            <a:endParaRPr lang="en-US" sz="1200" dirty="0"/>
          </a:p>
        </p:txBody>
      </p:sp>
      <p:sp>
        <p:nvSpPr>
          <p:cNvPr id="22" name="Text 20"/>
          <p:cNvSpPr/>
          <p:nvPr/>
        </p:nvSpPr>
        <p:spPr>
          <a:xfrm>
            <a:off x="7198320" y="1701701"/>
            <a:ext cx="1038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Traslado</a:t>
            </a:r>
            <a:endParaRPr lang="en-US" sz="1400" dirty="0"/>
          </a:p>
        </p:txBody>
      </p:sp>
      <p:sp>
        <p:nvSpPr>
          <p:cNvPr id="23" name="Shape 21"/>
          <p:cNvSpPr/>
          <p:nvPr/>
        </p:nvSpPr>
        <p:spPr>
          <a:xfrm>
            <a:off x="7198320" y="2001341"/>
            <a:ext cx="988020" cy="63500"/>
          </a:xfrm>
          <a:prstGeom prst="roundRect">
            <a:avLst>
              <a:gd name="adj" fmla="val 50000"/>
            </a:avLst>
          </a:prstGeom>
          <a:solidFill>
            <a:srgbClr val="B7C3BB"/>
          </a:solidFill>
          <a:ln/>
        </p:spPr>
      </p:sp>
      <p:sp>
        <p:nvSpPr>
          <p:cNvPr id="24" name="Text 22"/>
          <p:cNvSpPr/>
          <p:nvPr/>
        </p:nvSpPr>
        <p:spPr>
          <a:xfrm>
            <a:off x="7198320" y="2115641"/>
            <a:ext cx="10388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Salida Ric → Ingreso SLZ</a:t>
            </a:r>
            <a:endParaRPr lang="en-US" sz="1200" dirty="0"/>
          </a:p>
        </p:txBody>
      </p:sp>
      <p:sp>
        <p:nvSpPr>
          <p:cNvPr id="25" name="Text 23"/>
          <p:cNvSpPr/>
          <p:nvPr/>
        </p:nvSpPr>
        <p:spPr>
          <a:xfrm>
            <a:off x="8262541" y="1701701"/>
            <a:ext cx="10389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Playa OSL</a:t>
            </a:r>
            <a:endParaRPr lang="en-US" sz="1400" dirty="0"/>
          </a:p>
        </p:txBody>
      </p:sp>
      <p:sp>
        <p:nvSpPr>
          <p:cNvPr id="26" name="Shape 24"/>
          <p:cNvSpPr/>
          <p:nvPr/>
        </p:nvSpPr>
        <p:spPr>
          <a:xfrm>
            <a:off x="8262541" y="2001341"/>
            <a:ext cx="988120" cy="63500"/>
          </a:xfrm>
          <a:prstGeom prst="roundRect">
            <a:avLst>
              <a:gd name="adj" fmla="val 50000"/>
            </a:avLst>
          </a:prstGeom>
          <a:solidFill>
            <a:srgbClr val="2E1B4E"/>
          </a:solidFill>
          <a:ln/>
        </p:spPr>
      </p:sp>
      <p:sp>
        <p:nvSpPr>
          <p:cNvPr id="27" name="Text 25"/>
          <p:cNvSpPr/>
          <p:nvPr/>
        </p:nvSpPr>
        <p:spPr>
          <a:xfrm>
            <a:off x="8262541" y="2115641"/>
            <a:ext cx="103892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Ingreso SLZ → Balanza SLZ</a:t>
            </a:r>
            <a:endParaRPr lang="en-US" sz="1200" dirty="0"/>
          </a:p>
        </p:txBody>
      </p:sp>
      <p:sp>
        <p:nvSpPr>
          <p:cNvPr id="28" name="Text 26"/>
          <p:cNvSpPr/>
          <p:nvPr/>
        </p:nvSpPr>
        <p:spPr>
          <a:xfrm>
            <a:off x="9326860" y="1701701"/>
            <a:ext cx="1038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Descarga</a:t>
            </a:r>
            <a:endParaRPr lang="en-US" sz="1400" dirty="0"/>
          </a:p>
        </p:txBody>
      </p:sp>
      <p:sp>
        <p:nvSpPr>
          <p:cNvPr id="29" name="Shape 27"/>
          <p:cNvSpPr/>
          <p:nvPr/>
        </p:nvSpPr>
        <p:spPr>
          <a:xfrm>
            <a:off x="9326860" y="2001341"/>
            <a:ext cx="988020" cy="63500"/>
          </a:xfrm>
          <a:prstGeom prst="roundRect">
            <a:avLst>
              <a:gd name="adj" fmla="val 50000"/>
            </a:avLst>
          </a:prstGeom>
          <a:solidFill>
            <a:srgbClr val="6B55A3"/>
          </a:solidFill>
          <a:ln/>
        </p:spPr>
      </p:sp>
      <p:sp>
        <p:nvSpPr>
          <p:cNvPr id="30" name="Text 28"/>
          <p:cNvSpPr/>
          <p:nvPr/>
        </p:nvSpPr>
        <p:spPr>
          <a:xfrm>
            <a:off x="9326860" y="2115641"/>
            <a:ext cx="10388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Balanza SLZ → Volcable</a:t>
            </a:r>
            <a:endParaRPr lang="en-US" sz="1200" dirty="0"/>
          </a:p>
        </p:txBody>
      </p:sp>
      <p:sp>
        <p:nvSpPr>
          <p:cNvPr id="31" name="Text 29"/>
          <p:cNvSpPr/>
          <p:nvPr/>
        </p:nvSpPr>
        <p:spPr>
          <a:xfrm>
            <a:off x="10391080" y="1701701"/>
            <a:ext cx="10389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Egreso</a:t>
            </a:r>
            <a:endParaRPr lang="en-US" sz="1400" dirty="0"/>
          </a:p>
        </p:txBody>
      </p:sp>
      <p:sp>
        <p:nvSpPr>
          <p:cNvPr id="32" name="Shape 30"/>
          <p:cNvSpPr/>
          <p:nvPr/>
        </p:nvSpPr>
        <p:spPr>
          <a:xfrm>
            <a:off x="10391080" y="2001341"/>
            <a:ext cx="988120" cy="63500"/>
          </a:xfrm>
          <a:prstGeom prst="roundRect">
            <a:avLst>
              <a:gd name="adj" fmla="val 50000"/>
            </a:avLst>
          </a:prstGeom>
          <a:solidFill>
            <a:srgbClr val="A99BCF"/>
          </a:solidFill>
          <a:ln/>
        </p:spPr>
      </p:sp>
      <p:sp>
        <p:nvSpPr>
          <p:cNvPr id="33" name="Text 31"/>
          <p:cNvSpPr/>
          <p:nvPr/>
        </p:nvSpPr>
        <p:spPr>
          <a:xfrm>
            <a:off x="10391080" y="2115641"/>
            <a:ext cx="10389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Volcable → Salida SLZ</a:t>
            </a:r>
            <a:endParaRPr lang="en-US" sz="1200" dirty="0"/>
          </a:p>
        </p:txBody>
      </p:sp>
      <p:sp>
        <p:nvSpPr>
          <p:cNvPr id="34" name="Text 32"/>
          <p:cNvSpPr/>
          <p:nvPr/>
        </p:nvSpPr>
        <p:spPr>
          <a:xfrm>
            <a:off x="787400" y="2928243"/>
            <a:ext cx="36830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9</a:t>
            </a:r>
            <a:endParaRPr lang="en-US" sz="1800" dirty="0"/>
          </a:p>
        </p:txBody>
      </p:sp>
      <p:sp>
        <p:nvSpPr>
          <p:cNvPr id="35" name="Text 33"/>
          <p:cNvSpPr/>
          <p:nvPr/>
        </p:nvSpPr>
        <p:spPr>
          <a:xfrm>
            <a:off x="1104900" y="2928243"/>
            <a:ext cx="4381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11</a:t>
            </a:r>
            <a:endParaRPr lang="en-US" sz="1800" dirty="0"/>
          </a:p>
        </p:txBody>
      </p:sp>
      <p:sp>
        <p:nvSpPr>
          <p:cNvPr id="36" name="Text 34"/>
          <p:cNvSpPr/>
          <p:nvPr/>
        </p:nvSpPr>
        <p:spPr>
          <a:xfrm>
            <a:off x="1448403" y="2928243"/>
            <a:ext cx="4754944"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0B5638"/>
                </a:solidFill>
                <a:latin typeface="IBM Plex Sans" pitchFamily="34" charset="0"/>
                <a:ea typeface="IBM Plex Sans" pitchFamily="34" charset="-122"/>
                <a:cs typeface="IBM Plex Sans" pitchFamily="34" charset="-120"/>
              </a:rPr>
              <a:t>131</a:t>
            </a:r>
            <a:endParaRPr lang="en-US" sz="1800" dirty="0"/>
          </a:p>
        </p:txBody>
      </p:sp>
      <p:sp>
        <p:nvSpPr>
          <p:cNvPr id="37" name="Text 35"/>
          <p:cNvSpPr/>
          <p:nvPr/>
        </p:nvSpPr>
        <p:spPr>
          <a:xfrm>
            <a:off x="6108700" y="2928243"/>
            <a:ext cx="7556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20</a:t>
            </a:r>
            <a:endParaRPr lang="en-US" sz="1800" dirty="0"/>
          </a:p>
        </p:txBody>
      </p:sp>
      <p:sp>
        <p:nvSpPr>
          <p:cNvPr id="38" name="Text 36"/>
          <p:cNvSpPr/>
          <p:nvPr/>
        </p:nvSpPr>
        <p:spPr>
          <a:xfrm>
            <a:off x="6813550" y="2928243"/>
            <a:ext cx="4000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10</a:t>
            </a:r>
            <a:endParaRPr lang="en-US" sz="1800" dirty="0"/>
          </a:p>
        </p:txBody>
      </p:sp>
      <p:sp>
        <p:nvSpPr>
          <p:cNvPr id="39" name="Text 37"/>
          <p:cNvSpPr/>
          <p:nvPr/>
        </p:nvSpPr>
        <p:spPr>
          <a:xfrm>
            <a:off x="7162800" y="2928243"/>
            <a:ext cx="5778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15</a:t>
            </a:r>
            <a:endParaRPr lang="en-US" sz="1800" dirty="0"/>
          </a:p>
        </p:txBody>
      </p:sp>
      <p:sp>
        <p:nvSpPr>
          <p:cNvPr id="40" name="Text 38"/>
          <p:cNvSpPr/>
          <p:nvPr/>
        </p:nvSpPr>
        <p:spPr>
          <a:xfrm>
            <a:off x="7689850" y="2928243"/>
            <a:ext cx="4381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11</a:t>
            </a:r>
            <a:endParaRPr lang="en-US" sz="1800" dirty="0"/>
          </a:p>
        </p:txBody>
      </p:sp>
      <p:sp>
        <p:nvSpPr>
          <p:cNvPr id="41" name="Text 39"/>
          <p:cNvSpPr/>
          <p:nvPr/>
        </p:nvSpPr>
        <p:spPr>
          <a:xfrm>
            <a:off x="8077200" y="2928243"/>
            <a:ext cx="100330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2E1B4E"/>
                </a:solidFill>
                <a:latin typeface="IBM Plex Sans" pitchFamily="34" charset="0"/>
                <a:ea typeface="IBM Plex Sans" pitchFamily="34" charset="-122"/>
                <a:cs typeface="IBM Plex Sans" pitchFamily="34" charset="-120"/>
              </a:rPr>
              <a:t>27</a:t>
            </a:r>
            <a:endParaRPr lang="en-US" sz="1800" dirty="0"/>
          </a:p>
        </p:txBody>
      </p:sp>
      <p:sp>
        <p:nvSpPr>
          <p:cNvPr id="42" name="Text 40"/>
          <p:cNvSpPr/>
          <p:nvPr/>
        </p:nvSpPr>
        <p:spPr>
          <a:xfrm>
            <a:off x="9028144" y="2928243"/>
            <a:ext cx="1850962"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6B55A3"/>
                </a:solidFill>
                <a:latin typeface="IBM Plex Sans" pitchFamily="34" charset="0"/>
                <a:ea typeface="IBM Plex Sans" pitchFamily="34" charset="-122"/>
                <a:cs typeface="IBM Plex Sans" pitchFamily="34" charset="-120"/>
              </a:rPr>
              <a:t>51</a:t>
            </a:r>
            <a:endParaRPr lang="en-US" sz="1800" dirty="0"/>
          </a:p>
        </p:txBody>
      </p:sp>
      <p:sp>
        <p:nvSpPr>
          <p:cNvPr id="43" name="Text 41"/>
          <p:cNvSpPr/>
          <p:nvPr/>
        </p:nvSpPr>
        <p:spPr>
          <a:xfrm>
            <a:off x="10826750" y="2928243"/>
            <a:ext cx="577850" cy="34538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15</a:t>
            </a:r>
            <a:endParaRPr lang="en-US" sz="1800" dirty="0"/>
          </a:p>
        </p:txBody>
      </p:sp>
      <p:sp>
        <p:nvSpPr>
          <p:cNvPr id="44" name="Shape 42"/>
          <p:cNvSpPr/>
          <p:nvPr/>
        </p:nvSpPr>
        <p:spPr>
          <a:xfrm>
            <a:off x="812800" y="3299023"/>
            <a:ext cx="317500" cy="355600"/>
          </a:xfrm>
          <a:custGeom>
            <a:avLst/>
            <a:gdLst/>
            <a:ahLst/>
            <a:cxnLst/>
            <a:rect l="l" t="t" r="r" b="b"/>
            <a:pathLst>
              <a:path w="317500" h="355600">
                <a:moveTo>
                  <a:pt x="0" y="50800"/>
                </a:moveTo>
                <a:arcTo hR="50800" wR="50800" stAng="10800000" swAng="5400000"/>
                <a:lnTo>
                  <a:pt x="317500" y="0"/>
                </a:lnTo>
                <a:lnTo>
                  <a:pt x="317500" y="355600"/>
                </a:lnTo>
                <a:lnTo>
                  <a:pt x="50800" y="355600"/>
                </a:lnTo>
                <a:arcTo hR="50800" wR="50800" stAng="5400000" swAng="5400000"/>
                <a:close/>
              </a:path>
            </a:pathLst>
          </a:custGeom>
          <a:solidFill>
            <a:srgbClr val="3A8F63"/>
          </a:solidFill>
          <a:ln/>
        </p:spPr>
      </p:sp>
      <p:sp>
        <p:nvSpPr>
          <p:cNvPr id="45" name="Shape 43"/>
          <p:cNvSpPr/>
          <p:nvPr/>
        </p:nvSpPr>
        <p:spPr>
          <a:xfrm>
            <a:off x="1130300" y="3299023"/>
            <a:ext cx="387350" cy="355600"/>
          </a:xfrm>
          <a:prstGeom prst="rect">
            <a:avLst/>
          </a:prstGeom>
          <a:solidFill>
            <a:srgbClr val="9CCBAE"/>
          </a:solidFill>
          <a:ln/>
        </p:spPr>
      </p:sp>
      <p:sp>
        <p:nvSpPr>
          <p:cNvPr id="46" name="Shape 44"/>
          <p:cNvSpPr/>
          <p:nvPr/>
        </p:nvSpPr>
        <p:spPr>
          <a:xfrm>
            <a:off x="1139825" y="3299023"/>
            <a:ext cx="0" cy="355600"/>
          </a:xfrm>
          <a:prstGeom prst="line">
            <a:avLst/>
          </a:prstGeom>
          <a:noFill/>
          <a:ln w="19050">
            <a:solidFill>
              <a:srgbClr val="F5F8F4"/>
            </a:solidFill>
            <a:prstDash val="solid"/>
          </a:ln>
        </p:spPr>
      </p:sp>
      <p:sp>
        <p:nvSpPr>
          <p:cNvPr id="47" name="Shape 45"/>
          <p:cNvSpPr/>
          <p:nvPr/>
        </p:nvSpPr>
        <p:spPr>
          <a:xfrm>
            <a:off x="1517650" y="3299023"/>
            <a:ext cx="4616450" cy="355600"/>
          </a:xfrm>
          <a:prstGeom prst="rect">
            <a:avLst/>
          </a:prstGeom>
          <a:solidFill>
            <a:srgbClr val="0B5638"/>
          </a:solidFill>
          <a:ln/>
        </p:spPr>
      </p:sp>
      <p:sp>
        <p:nvSpPr>
          <p:cNvPr id="48" name="Shape 46"/>
          <p:cNvSpPr/>
          <p:nvPr/>
        </p:nvSpPr>
        <p:spPr>
          <a:xfrm>
            <a:off x="1527175" y="3299023"/>
            <a:ext cx="0" cy="355600"/>
          </a:xfrm>
          <a:prstGeom prst="line">
            <a:avLst/>
          </a:prstGeom>
          <a:noFill/>
          <a:ln w="19050">
            <a:solidFill>
              <a:srgbClr val="F5F8F4"/>
            </a:solidFill>
            <a:prstDash val="solid"/>
          </a:ln>
        </p:spPr>
      </p:sp>
      <p:sp>
        <p:nvSpPr>
          <p:cNvPr id="49" name="Shape 47"/>
          <p:cNvSpPr/>
          <p:nvPr/>
        </p:nvSpPr>
        <p:spPr>
          <a:xfrm>
            <a:off x="6134100" y="3299023"/>
            <a:ext cx="704850" cy="355600"/>
          </a:xfrm>
          <a:prstGeom prst="rect">
            <a:avLst/>
          </a:prstGeom>
          <a:solidFill>
            <a:srgbClr val="3A8F63"/>
          </a:solidFill>
          <a:ln/>
        </p:spPr>
      </p:sp>
      <p:sp>
        <p:nvSpPr>
          <p:cNvPr id="50" name="Shape 48"/>
          <p:cNvSpPr/>
          <p:nvPr/>
        </p:nvSpPr>
        <p:spPr>
          <a:xfrm>
            <a:off x="6143625" y="3299023"/>
            <a:ext cx="0" cy="355600"/>
          </a:xfrm>
          <a:prstGeom prst="line">
            <a:avLst/>
          </a:prstGeom>
          <a:noFill/>
          <a:ln w="19050">
            <a:solidFill>
              <a:srgbClr val="F5F8F4"/>
            </a:solidFill>
            <a:prstDash val="solid"/>
          </a:ln>
        </p:spPr>
      </p:sp>
      <p:sp>
        <p:nvSpPr>
          <p:cNvPr id="51" name="Shape 49"/>
          <p:cNvSpPr/>
          <p:nvPr/>
        </p:nvSpPr>
        <p:spPr>
          <a:xfrm>
            <a:off x="6838950" y="3299023"/>
            <a:ext cx="349250" cy="355600"/>
          </a:xfrm>
          <a:prstGeom prst="rect">
            <a:avLst/>
          </a:prstGeom>
          <a:solidFill>
            <a:srgbClr val="1F7A4D"/>
          </a:solidFill>
          <a:ln/>
        </p:spPr>
      </p:sp>
      <p:sp>
        <p:nvSpPr>
          <p:cNvPr id="52" name="Shape 50"/>
          <p:cNvSpPr/>
          <p:nvPr/>
        </p:nvSpPr>
        <p:spPr>
          <a:xfrm>
            <a:off x="6848475" y="3299023"/>
            <a:ext cx="0" cy="355600"/>
          </a:xfrm>
          <a:prstGeom prst="line">
            <a:avLst/>
          </a:prstGeom>
          <a:noFill/>
          <a:ln w="19050">
            <a:solidFill>
              <a:srgbClr val="F5F8F4"/>
            </a:solidFill>
            <a:prstDash val="solid"/>
          </a:ln>
        </p:spPr>
      </p:sp>
      <p:sp>
        <p:nvSpPr>
          <p:cNvPr id="53" name="Shape 51"/>
          <p:cNvSpPr/>
          <p:nvPr/>
        </p:nvSpPr>
        <p:spPr>
          <a:xfrm>
            <a:off x="7188200" y="3299023"/>
            <a:ext cx="527050" cy="355600"/>
          </a:xfrm>
          <a:prstGeom prst="rect">
            <a:avLst/>
          </a:prstGeom>
          <a:solidFill>
            <a:srgbClr val="9CCBAE"/>
          </a:solidFill>
          <a:ln/>
        </p:spPr>
      </p:sp>
      <p:sp>
        <p:nvSpPr>
          <p:cNvPr id="54" name="Shape 52"/>
          <p:cNvSpPr/>
          <p:nvPr/>
        </p:nvSpPr>
        <p:spPr>
          <a:xfrm>
            <a:off x="7197725" y="3299023"/>
            <a:ext cx="0" cy="355600"/>
          </a:xfrm>
          <a:prstGeom prst="line">
            <a:avLst/>
          </a:prstGeom>
          <a:noFill/>
          <a:ln w="19050">
            <a:solidFill>
              <a:srgbClr val="F5F8F4"/>
            </a:solidFill>
            <a:prstDash val="solid"/>
          </a:ln>
        </p:spPr>
      </p:sp>
      <p:sp>
        <p:nvSpPr>
          <p:cNvPr id="55" name="Shape 53"/>
          <p:cNvSpPr/>
          <p:nvPr/>
        </p:nvSpPr>
        <p:spPr>
          <a:xfrm>
            <a:off x="7715250" y="3299023"/>
            <a:ext cx="387350" cy="355600"/>
          </a:xfrm>
          <a:prstGeom prst="rect">
            <a:avLst/>
          </a:prstGeom>
          <a:solidFill>
            <a:srgbClr val="B7C3BB"/>
          </a:solidFill>
          <a:ln/>
        </p:spPr>
      </p:sp>
      <p:sp>
        <p:nvSpPr>
          <p:cNvPr id="56" name="Shape 54"/>
          <p:cNvSpPr/>
          <p:nvPr/>
        </p:nvSpPr>
        <p:spPr>
          <a:xfrm>
            <a:off x="7724775" y="3299023"/>
            <a:ext cx="0" cy="355600"/>
          </a:xfrm>
          <a:prstGeom prst="line">
            <a:avLst/>
          </a:prstGeom>
          <a:noFill/>
          <a:ln w="19050">
            <a:solidFill>
              <a:srgbClr val="F5F8F4"/>
            </a:solidFill>
            <a:prstDash val="solid"/>
          </a:ln>
        </p:spPr>
      </p:sp>
      <p:sp>
        <p:nvSpPr>
          <p:cNvPr id="57" name="Shape 55"/>
          <p:cNvSpPr/>
          <p:nvPr/>
        </p:nvSpPr>
        <p:spPr>
          <a:xfrm>
            <a:off x="8102600" y="3299023"/>
            <a:ext cx="952500" cy="355600"/>
          </a:xfrm>
          <a:prstGeom prst="rect">
            <a:avLst/>
          </a:prstGeom>
          <a:solidFill>
            <a:srgbClr val="2E1B4E"/>
          </a:solidFill>
          <a:ln/>
        </p:spPr>
      </p:sp>
      <p:sp>
        <p:nvSpPr>
          <p:cNvPr id="58" name="Shape 56"/>
          <p:cNvSpPr/>
          <p:nvPr/>
        </p:nvSpPr>
        <p:spPr>
          <a:xfrm>
            <a:off x="8112125" y="3299023"/>
            <a:ext cx="0" cy="355600"/>
          </a:xfrm>
          <a:prstGeom prst="line">
            <a:avLst/>
          </a:prstGeom>
          <a:noFill/>
          <a:ln w="19050">
            <a:solidFill>
              <a:srgbClr val="F5F8F4"/>
            </a:solidFill>
            <a:prstDash val="solid"/>
          </a:ln>
        </p:spPr>
      </p:sp>
      <p:sp>
        <p:nvSpPr>
          <p:cNvPr id="59" name="Shape 57"/>
          <p:cNvSpPr/>
          <p:nvPr/>
        </p:nvSpPr>
        <p:spPr>
          <a:xfrm>
            <a:off x="9055100" y="3299023"/>
            <a:ext cx="1797050" cy="355600"/>
          </a:xfrm>
          <a:prstGeom prst="rect">
            <a:avLst/>
          </a:prstGeom>
          <a:solidFill>
            <a:srgbClr val="6B55A3"/>
          </a:solidFill>
          <a:ln/>
        </p:spPr>
      </p:sp>
      <p:sp>
        <p:nvSpPr>
          <p:cNvPr id="60" name="Shape 58"/>
          <p:cNvSpPr/>
          <p:nvPr/>
        </p:nvSpPr>
        <p:spPr>
          <a:xfrm>
            <a:off x="9064625" y="3299023"/>
            <a:ext cx="0" cy="355600"/>
          </a:xfrm>
          <a:prstGeom prst="line">
            <a:avLst/>
          </a:prstGeom>
          <a:noFill/>
          <a:ln w="19050">
            <a:solidFill>
              <a:srgbClr val="F5F8F4"/>
            </a:solidFill>
            <a:prstDash val="solid"/>
          </a:ln>
        </p:spPr>
      </p:sp>
      <p:sp>
        <p:nvSpPr>
          <p:cNvPr id="61" name="Shape 59"/>
          <p:cNvSpPr/>
          <p:nvPr/>
        </p:nvSpPr>
        <p:spPr>
          <a:xfrm>
            <a:off x="10852150" y="3299023"/>
            <a:ext cx="527050" cy="355600"/>
          </a:xfrm>
          <a:custGeom>
            <a:avLst/>
            <a:gdLst/>
            <a:ahLst/>
            <a:cxnLst/>
            <a:rect l="l" t="t" r="r" b="b"/>
            <a:pathLst>
              <a:path w="527050" h="355600">
                <a:moveTo>
                  <a:pt x="476250" y="0"/>
                </a:moveTo>
                <a:arcTo hR="50800" wR="50800" stAng="16200000" swAng="5400000"/>
                <a:lnTo>
                  <a:pt x="527050" y="304800"/>
                </a:lnTo>
                <a:arcTo hR="50800" wR="50800" stAng="0" swAng="5400000"/>
                <a:lnTo>
                  <a:pt x="0" y="355600"/>
                </a:lnTo>
                <a:lnTo>
                  <a:pt x="0" y="0"/>
                </a:lnTo>
                <a:close/>
              </a:path>
            </a:pathLst>
          </a:custGeom>
          <a:solidFill>
            <a:srgbClr val="A99BCF"/>
          </a:solidFill>
          <a:ln/>
        </p:spPr>
      </p:sp>
      <p:sp>
        <p:nvSpPr>
          <p:cNvPr id="62" name="Shape 60"/>
          <p:cNvSpPr/>
          <p:nvPr/>
        </p:nvSpPr>
        <p:spPr>
          <a:xfrm>
            <a:off x="10852150" y="3299023"/>
            <a:ext cx="527050" cy="355600"/>
          </a:xfrm>
          <a:custGeom>
            <a:avLst/>
            <a:gdLst/>
            <a:ahLst/>
            <a:cxnLst/>
            <a:rect l="l" t="t" r="r" b="b"/>
            <a:pathLst>
              <a:path w="527050" h="355600">
                <a:moveTo>
                  <a:pt x="0" y="0"/>
                </a:moveTo>
                <a:lnTo>
                  <a:pt x="19050" y="0"/>
                </a:lnTo>
                <a:lnTo>
                  <a:pt x="19050" y="355600"/>
                </a:lnTo>
                <a:lnTo>
                  <a:pt x="0" y="355600"/>
                </a:lnTo>
                <a:lnTo>
                  <a:pt x="0" y="0"/>
                </a:lnTo>
                <a:close/>
              </a:path>
            </a:pathLst>
          </a:custGeom>
          <a:solidFill>
            <a:srgbClr val="F5F8F4"/>
          </a:solidFill>
          <a:ln/>
        </p:spPr>
      </p:sp>
      <p:sp>
        <p:nvSpPr>
          <p:cNvPr id="63" name="Shape 61"/>
          <p:cNvSpPr/>
          <p:nvPr/>
        </p:nvSpPr>
        <p:spPr>
          <a:xfrm>
            <a:off x="812800" y="3718123"/>
            <a:ext cx="6902450" cy="0"/>
          </a:xfrm>
          <a:prstGeom prst="line">
            <a:avLst/>
          </a:prstGeom>
          <a:noFill/>
          <a:ln w="25400">
            <a:solidFill>
              <a:srgbClr val="0B5638"/>
            </a:solidFill>
            <a:prstDash val="solid"/>
          </a:ln>
        </p:spPr>
      </p:sp>
      <p:sp>
        <p:nvSpPr>
          <p:cNvPr id="64" name="Text 62"/>
          <p:cNvSpPr/>
          <p:nvPr/>
        </p:nvSpPr>
        <p:spPr>
          <a:xfrm>
            <a:off x="709263" y="3794323"/>
            <a:ext cx="7109524"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Ricardone · 196 min (3 h 16 m)</a:t>
            </a:r>
            <a:endParaRPr lang="en-US" sz="1400" dirty="0"/>
          </a:p>
        </p:txBody>
      </p:sp>
      <p:sp>
        <p:nvSpPr>
          <p:cNvPr id="65" name="Shape 63"/>
          <p:cNvSpPr/>
          <p:nvPr/>
        </p:nvSpPr>
        <p:spPr>
          <a:xfrm>
            <a:off x="7715250" y="3718123"/>
            <a:ext cx="3276600" cy="0"/>
          </a:xfrm>
          <a:prstGeom prst="line">
            <a:avLst/>
          </a:prstGeom>
          <a:noFill/>
          <a:ln w="25400">
            <a:solidFill>
              <a:srgbClr val="6B55A3"/>
            </a:solidFill>
            <a:prstDash val="solid"/>
          </a:ln>
        </p:spPr>
      </p:sp>
      <p:sp>
        <p:nvSpPr>
          <p:cNvPr id="66" name="Text 64"/>
          <p:cNvSpPr/>
          <p:nvPr/>
        </p:nvSpPr>
        <p:spPr>
          <a:xfrm>
            <a:off x="7666101" y="3794323"/>
            <a:ext cx="3374898"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2E1B4E"/>
                </a:solidFill>
                <a:latin typeface="IBM Plex Sans" pitchFamily="34" charset="0"/>
                <a:ea typeface="IBM Plex Sans" pitchFamily="34" charset="-122"/>
                <a:cs typeface="IBM Plex Sans" pitchFamily="34" charset="-120"/>
              </a:rPr>
              <a:t>San Lorenzo · 93</a:t>
            </a:r>
            <a:endParaRPr lang="en-US" sz="1400" dirty="0"/>
          </a:p>
        </p:txBody>
      </p:sp>
      <p:sp>
        <p:nvSpPr>
          <p:cNvPr id="67" name="Shape 65"/>
          <p:cNvSpPr/>
          <p:nvPr/>
        </p:nvSpPr>
        <p:spPr>
          <a:xfrm>
            <a:off x="815975" y="4198739"/>
            <a:ext cx="3414117" cy="953691"/>
          </a:xfrm>
          <a:prstGeom prst="roundRect">
            <a:avLst>
              <a:gd name="adj" fmla="val 8989"/>
            </a:avLst>
          </a:prstGeom>
          <a:solidFill>
            <a:srgbClr val="FCFDFB"/>
          </a:solidFill>
          <a:ln w="6350">
            <a:solidFill>
              <a:srgbClr val="D3E2D7"/>
            </a:solidFill>
            <a:prstDash val="solid"/>
          </a:ln>
        </p:spPr>
      </p:sp>
      <p:sp>
        <p:nvSpPr>
          <p:cNvPr id="68" name="Text 66"/>
          <p:cNvSpPr/>
          <p:nvPr/>
        </p:nvSpPr>
        <p:spPr>
          <a:xfrm>
            <a:off x="1022350" y="4354314"/>
            <a:ext cx="3091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Ciclo completo (suma de tramos)</a:t>
            </a:r>
            <a:endParaRPr lang="en-US" sz="1200" dirty="0"/>
          </a:p>
        </p:txBody>
      </p:sp>
      <p:sp>
        <p:nvSpPr>
          <p:cNvPr id="69" name="Text 67"/>
          <p:cNvSpPr/>
          <p:nvPr/>
        </p:nvSpPr>
        <p:spPr>
          <a:xfrm>
            <a:off x="1022350" y="4605734"/>
            <a:ext cx="309140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5638"/>
                </a:solidFill>
                <a:latin typeface="IBM Plex Sans" pitchFamily="34" charset="0"/>
                <a:ea typeface="IBM Plex Sans" pitchFamily="34" charset="-122"/>
                <a:cs typeface="IBM Plex Sans" pitchFamily="34" charset="-120"/>
              </a:rPr>
              <a:t>300 min · 5 h 0 m</a:t>
            </a:r>
            <a:endParaRPr lang="en-US" sz="2800" dirty="0"/>
          </a:p>
        </p:txBody>
      </p:sp>
      <p:sp>
        <p:nvSpPr>
          <p:cNvPr id="70" name="Shape 68"/>
          <p:cNvSpPr/>
          <p:nvPr/>
        </p:nvSpPr>
        <p:spPr>
          <a:xfrm>
            <a:off x="4388842" y="4198739"/>
            <a:ext cx="3414216" cy="953691"/>
          </a:xfrm>
          <a:prstGeom prst="roundRect">
            <a:avLst>
              <a:gd name="adj" fmla="val 8989"/>
            </a:avLst>
          </a:prstGeom>
          <a:solidFill>
            <a:srgbClr val="FCFDFB"/>
          </a:solidFill>
          <a:ln w="6350">
            <a:solidFill>
              <a:srgbClr val="D3E2D7"/>
            </a:solidFill>
            <a:prstDash val="solid"/>
          </a:ln>
        </p:spPr>
      </p:sp>
      <p:sp>
        <p:nvSpPr>
          <p:cNvPr id="71" name="Text 69"/>
          <p:cNvSpPr/>
          <p:nvPr/>
        </p:nvSpPr>
        <p:spPr>
          <a:xfrm>
            <a:off x="4595217" y="4354314"/>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De la carga en silo a la calada</a:t>
            </a:r>
            <a:endParaRPr lang="en-US" sz="1200" dirty="0"/>
          </a:p>
        </p:txBody>
      </p:sp>
      <p:sp>
        <p:nvSpPr>
          <p:cNvPr id="72" name="Text 70"/>
          <p:cNvSpPr/>
          <p:nvPr/>
        </p:nvSpPr>
        <p:spPr>
          <a:xfrm>
            <a:off x="4595217" y="4605734"/>
            <a:ext cx="309151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5638"/>
                </a:solidFill>
                <a:latin typeface="IBM Plex Sans" pitchFamily="34" charset="0"/>
                <a:ea typeface="IBM Plex Sans" pitchFamily="34" charset="-122"/>
                <a:cs typeface="IBM Plex Sans" pitchFamily="34" charset="-120"/>
              </a:rPr>
              <a:t>30 min</a:t>
            </a:r>
            <a:endParaRPr lang="en-US" sz="2800" dirty="0"/>
          </a:p>
        </p:txBody>
      </p:sp>
      <p:sp>
        <p:nvSpPr>
          <p:cNvPr id="73" name="Shape 71"/>
          <p:cNvSpPr/>
          <p:nvPr/>
        </p:nvSpPr>
        <p:spPr>
          <a:xfrm>
            <a:off x="7961809" y="4198739"/>
            <a:ext cx="3414216" cy="953691"/>
          </a:xfrm>
          <a:prstGeom prst="roundRect">
            <a:avLst>
              <a:gd name="adj" fmla="val 8989"/>
            </a:avLst>
          </a:prstGeom>
          <a:solidFill>
            <a:srgbClr val="FCFDFB"/>
          </a:solidFill>
          <a:ln w="6350">
            <a:solidFill>
              <a:srgbClr val="D3E2D7"/>
            </a:solidFill>
            <a:prstDash val="solid"/>
          </a:ln>
        </p:spPr>
      </p:sp>
      <p:sp>
        <p:nvSpPr>
          <p:cNvPr id="74" name="Text 72"/>
          <p:cNvSpPr/>
          <p:nvPr/>
        </p:nvSpPr>
        <p:spPr>
          <a:xfrm>
            <a:off x="8168184" y="4354314"/>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Espera en Playa OSL</a:t>
            </a:r>
            <a:endParaRPr lang="en-US" sz="1200" dirty="0"/>
          </a:p>
        </p:txBody>
      </p:sp>
      <p:sp>
        <p:nvSpPr>
          <p:cNvPr id="75" name="Text 73"/>
          <p:cNvSpPr/>
          <p:nvPr/>
        </p:nvSpPr>
        <p:spPr>
          <a:xfrm>
            <a:off x="8168184" y="4605734"/>
            <a:ext cx="309151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E1B4E"/>
                </a:solidFill>
                <a:latin typeface="IBM Plex Sans" pitchFamily="34" charset="0"/>
                <a:ea typeface="IBM Plex Sans" pitchFamily="34" charset="-122"/>
                <a:cs typeface="IBM Plex Sans" pitchFamily="34" charset="-120"/>
              </a:rPr>
              <a:t>27 min</a:t>
            </a:r>
            <a:endParaRPr lang="en-US" sz="2800" dirty="0"/>
          </a:p>
        </p:txBody>
      </p:sp>
      <p:sp>
        <p:nvSpPr>
          <p:cNvPr id="76" name="Shape 74"/>
          <p:cNvSpPr/>
          <p:nvPr/>
        </p:nvSpPr>
        <p:spPr>
          <a:xfrm>
            <a:off x="831850" y="5308005"/>
            <a:ext cx="0" cy="281880"/>
          </a:xfrm>
          <a:prstGeom prst="line">
            <a:avLst/>
          </a:prstGeom>
          <a:noFill/>
          <a:ln w="38100">
            <a:solidFill>
              <a:srgbClr val="3A8F63"/>
            </a:solidFill>
            <a:prstDash val="solid"/>
          </a:ln>
        </p:spPr>
      </p:sp>
      <p:sp>
        <p:nvSpPr>
          <p:cNvPr id="77" name="Text 75"/>
          <p:cNvSpPr/>
          <p:nvPr/>
        </p:nvSpPr>
        <p:spPr>
          <a:xfrm>
            <a:off x="977900" y="5333405"/>
            <a:ext cx="1071333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La espera para cargar en silo sigue siendo lo más largo del ciclo (131 min, contra 183 la semana anterior). El ciclo bajó de 347 a 300 min.</a:t>
            </a:r>
            <a:endParaRPr lang="en-US" sz="1300" dirty="0"/>
          </a:p>
        </p:txBody>
      </p:sp>
      <p:pic>
        <p:nvPicPr>
          <p:cNvPr id="78"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79" name="Text 76"/>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6</a:t>
            </a:r>
            <a:endParaRPr lang="en-US" sz="1200" dirty="0"/>
          </a:p>
        </p:txBody>
      </p:sp>
      <p:pic>
        <p:nvPicPr>
          <p:cNvPr id="8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041400" cy="289520"/>
          </a:xfrm>
          <a:custGeom>
            <a:avLst/>
            <a:gdLst/>
            <a:ahLst/>
            <a:cxnLst/>
            <a:rect l="l" t="t" r="r" b="b"/>
            <a:pathLst>
              <a:path w="1041400" h="289520">
                <a:moveTo>
                  <a:pt x="144760" y="0"/>
                </a:moveTo>
                <a:lnTo>
                  <a:pt x="896640" y="0"/>
                </a:lnTo>
                <a:arcTo hR="144760" wR="144760" stAng="16200000" swAng="5400000"/>
                <a:lnTo>
                  <a:pt x="1041400"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SOJA · R7</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Resumen de la semana: soja</a:t>
            </a:r>
            <a:endParaRPr lang="en-US" sz="3200" dirty="0"/>
          </a:p>
        </p:txBody>
      </p:sp>
      <p:sp>
        <p:nvSpPr>
          <p:cNvPr id="4" name="Shape 2"/>
          <p:cNvSpPr/>
          <p:nvPr/>
        </p:nvSpPr>
        <p:spPr>
          <a:xfrm>
            <a:off x="815975" y="1806476"/>
            <a:ext cx="2520950" cy="3229868"/>
          </a:xfrm>
          <a:prstGeom prst="roundRect">
            <a:avLst>
              <a:gd name="adj" fmla="val 3904"/>
            </a:avLst>
          </a:prstGeom>
          <a:solidFill>
            <a:srgbClr val="FCFDFB"/>
          </a:solidFill>
          <a:ln w="6350">
            <a:solidFill>
              <a:srgbClr val="D3E2D7"/>
            </a:solidFill>
            <a:prstDash val="solid"/>
          </a:ln>
        </p:spPr>
      </p:sp>
      <p:sp>
        <p:nvSpPr>
          <p:cNvPr id="5" name="Text 3"/>
          <p:cNvSpPr/>
          <p:nvPr/>
        </p:nvSpPr>
        <p:spPr>
          <a:xfrm>
            <a:off x="1022350" y="2012851"/>
            <a:ext cx="217144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Puerta a puerta</a:t>
            </a:r>
            <a:endParaRPr lang="en-US" sz="1300" dirty="0"/>
          </a:p>
        </p:txBody>
      </p:sp>
      <p:sp>
        <p:nvSpPr>
          <p:cNvPr id="6" name="Text 4"/>
          <p:cNvSpPr/>
          <p:nvPr/>
        </p:nvSpPr>
        <p:spPr>
          <a:xfrm>
            <a:off x="1022350" y="2320131"/>
            <a:ext cx="2171446"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0B5638"/>
                </a:solidFill>
                <a:latin typeface="IBM Plex Sans" pitchFamily="34" charset="0"/>
                <a:ea typeface="IBM Plex Sans" pitchFamily="34" charset="-122"/>
                <a:cs typeface="IBM Plex Sans" pitchFamily="34" charset="-120"/>
              </a:rPr>
              <a:t>265 min</a:t>
            </a:r>
            <a:endParaRPr lang="en-US" sz="3600" dirty="0"/>
          </a:p>
        </p:txBody>
      </p:sp>
      <p:sp>
        <p:nvSpPr>
          <p:cNvPr id="7" name="Text 5"/>
          <p:cNvSpPr/>
          <p:nvPr/>
        </p:nvSpPr>
        <p:spPr>
          <a:xfrm>
            <a:off x="1022350" y="2876352"/>
            <a:ext cx="2108200" cy="502841"/>
          </a:xfrm>
          <a:prstGeom prst="roundRect">
            <a:avLst>
              <a:gd name="adj" fmla="val 10103"/>
            </a:avLst>
          </a:prstGeom>
          <a:solidFill>
            <a:srgbClr val="DCEDE1"/>
          </a:solidFill>
          <a:ln/>
        </p:spPr>
        <p:txBody>
          <a:bodyPr wrap="square" lIns="74021" tIns="23221" rIns="16109"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−38 min vs. semana anterior</a:t>
            </a:r>
            <a:endParaRPr lang="en-US" sz="1200" dirty="0"/>
          </a:p>
        </p:txBody>
      </p:sp>
      <p:pic>
        <p:nvPicPr>
          <p:cNvPr id="8" name="Image 0" descr="Evolución de 15 semanas">    </p:cNvPr>
          <p:cNvPicPr>
            <a:picLocks noChangeAspect="1"/>
          </p:cNvPicPr>
          <p:nvPr/>
        </p:nvPicPr>
        <p:blipFill>
          <a:blip r:embed="rId1"/>
          <a:srcRect l="0" r="0" t="0" b="0"/>
          <a:stretch/>
        </p:blipFill>
        <p:spPr>
          <a:xfrm>
            <a:off x="1022350" y="4321969"/>
            <a:ext cx="1905000" cy="508000"/>
          </a:xfrm>
          <a:prstGeom prst="rect">
            <a:avLst/>
          </a:prstGeom>
        </p:spPr>
      </p:pic>
      <p:sp>
        <p:nvSpPr>
          <p:cNvPr id="9" name="Shape 6"/>
          <p:cNvSpPr/>
          <p:nvPr/>
        </p:nvSpPr>
        <p:spPr>
          <a:xfrm>
            <a:off x="3495675" y="1806476"/>
            <a:ext cx="2520950" cy="3229868"/>
          </a:xfrm>
          <a:prstGeom prst="roundRect">
            <a:avLst>
              <a:gd name="adj" fmla="val 3904"/>
            </a:avLst>
          </a:prstGeom>
          <a:solidFill>
            <a:srgbClr val="FCFDFB"/>
          </a:solidFill>
          <a:ln w="6350">
            <a:solidFill>
              <a:srgbClr val="D3E2D7"/>
            </a:solidFill>
            <a:prstDash val="solid"/>
          </a:ln>
        </p:spPr>
      </p:sp>
      <p:sp>
        <p:nvSpPr>
          <p:cNvPr id="10" name="Text 7"/>
          <p:cNvSpPr/>
          <p:nvPr/>
        </p:nvSpPr>
        <p:spPr>
          <a:xfrm>
            <a:off x="3702050" y="2012851"/>
            <a:ext cx="217144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Espera Playa 1 · Ricardone</a:t>
            </a:r>
            <a:endParaRPr lang="en-US" sz="1300" dirty="0"/>
          </a:p>
        </p:txBody>
      </p:sp>
      <p:sp>
        <p:nvSpPr>
          <p:cNvPr id="11" name="Text 8"/>
          <p:cNvSpPr/>
          <p:nvPr/>
        </p:nvSpPr>
        <p:spPr>
          <a:xfrm>
            <a:off x="3702050" y="2320131"/>
            <a:ext cx="2171446"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0B5638"/>
                </a:solidFill>
                <a:latin typeface="IBM Plex Sans" pitchFamily="34" charset="0"/>
                <a:ea typeface="IBM Plex Sans" pitchFamily="34" charset="-122"/>
                <a:cs typeface="IBM Plex Sans" pitchFamily="34" charset="-120"/>
              </a:rPr>
              <a:t>74 min</a:t>
            </a:r>
            <a:endParaRPr lang="en-US" sz="3600" dirty="0"/>
          </a:p>
        </p:txBody>
      </p:sp>
      <p:sp>
        <p:nvSpPr>
          <p:cNvPr id="12" name="Text 9"/>
          <p:cNvSpPr/>
          <p:nvPr/>
        </p:nvSpPr>
        <p:spPr>
          <a:xfrm>
            <a:off x="3702050" y="2876352"/>
            <a:ext cx="1864816" cy="289520"/>
          </a:xfrm>
          <a:prstGeom prst="roundRect">
            <a:avLst>
              <a:gd name="adj" fmla="val 17546"/>
            </a:avLst>
          </a:prstGeom>
          <a:solidFill>
            <a:srgbClr val="DCEDE1"/>
          </a:solidFill>
          <a:ln/>
        </p:spPr>
        <p:txBody>
          <a:bodyPr wrap="none" lIns="0" tIns="0" rIns="0" bIns="0" rtlCol="0" anchor="ctr">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La más baja desde junio</a:t>
            </a:r>
            <a:endParaRPr lang="en-US" sz="1200" dirty="0"/>
          </a:p>
        </p:txBody>
      </p:sp>
      <p:pic>
        <p:nvPicPr>
          <p:cNvPr id="13" name="Image 1" descr="Evolución de 15 semanas">    </p:cNvPr>
          <p:cNvPicPr>
            <a:picLocks noChangeAspect="1"/>
          </p:cNvPicPr>
          <p:nvPr/>
        </p:nvPicPr>
        <p:blipFill>
          <a:blip r:embed="rId2"/>
          <a:srcRect l="0" r="0" t="0" b="0"/>
          <a:stretch/>
        </p:blipFill>
        <p:spPr>
          <a:xfrm>
            <a:off x="3702050" y="4321969"/>
            <a:ext cx="1905000" cy="508000"/>
          </a:xfrm>
          <a:prstGeom prst="rect">
            <a:avLst/>
          </a:prstGeom>
        </p:spPr>
      </p:pic>
      <p:sp>
        <p:nvSpPr>
          <p:cNvPr id="14" name="Shape 10"/>
          <p:cNvSpPr/>
          <p:nvPr/>
        </p:nvSpPr>
        <p:spPr>
          <a:xfrm>
            <a:off x="6175375" y="1806476"/>
            <a:ext cx="2520950" cy="3229868"/>
          </a:xfrm>
          <a:prstGeom prst="roundRect">
            <a:avLst>
              <a:gd name="adj" fmla="val 3904"/>
            </a:avLst>
          </a:prstGeom>
          <a:solidFill>
            <a:srgbClr val="FCFDFB"/>
          </a:solidFill>
          <a:ln w="6350">
            <a:solidFill>
              <a:srgbClr val="D3E2D7"/>
            </a:solidFill>
            <a:prstDash val="solid"/>
          </a:ln>
        </p:spPr>
      </p:sp>
      <p:sp>
        <p:nvSpPr>
          <p:cNvPr id="15" name="Text 11"/>
          <p:cNvSpPr/>
          <p:nvPr/>
        </p:nvSpPr>
        <p:spPr>
          <a:xfrm>
            <a:off x="6381750" y="2012851"/>
            <a:ext cx="2171446"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San Lorenzo · playa, descarga y salida</a:t>
            </a:r>
            <a:endParaRPr lang="en-US" sz="1300" dirty="0"/>
          </a:p>
        </p:txBody>
      </p:sp>
      <p:sp>
        <p:nvSpPr>
          <p:cNvPr id="16" name="Text 12"/>
          <p:cNvSpPr/>
          <p:nvPr/>
        </p:nvSpPr>
        <p:spPr>
          <a:xfrm>
            <a:off x="6381750" y="2551212"/>
            <a:ext cx="2171446"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2E1B4E"/>
                </a:solidFill>
                <a:latin typeface="IBM Plex Sans" pitchFamily="34" charset="0"/>
                <a:ea typeface="IBM Plex Sans" pitchFamily="34" charset="-122"/>
                <a:cs typeface="IBM Plex Sans" pitchFamily="34" charset="-120"/>
              </a:rPr>
              <a:t>188 min</a:t>
            </a:r>
            <a:endParaRPr lang="en-US" sz="3600" dirty="0"/>
          </a:p>
        </p:txBody>
      </p:sp>
      <p:sp>
        <p:nvSpPr>
          <p:cNvPr id="17" name="Text 13"/>
          <p:cNvSpPr/>
          <p:nvPr/>
        </p:nvSpPr>
        <p:spPr>
          <a:xfrm>
            <a:off x="6381750" y="3107432"/>
            <a:ext cx="1788914" cy="289520"/>
          </a:xfrm>
          <a:prstGeom prst="roundRect">
            <a:avLst>
              <a:gd name="adj" fmla="val 17546"/>
            </a:avLst>
          </a:prstGeom>
          <a:solidFill>
            <a:srgbClr val="DDD6EC"/>
          </a:solidFill>
          <a:ln/>
        </p:spPr>
        <p:txBody>
          <a:bodyPr wrap="none" lIns="0" tIns="0" rIns="0" bIns="0" rtlCol="0" anchor="ctr">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+4 vs. semana anterior</a:t>
            </a:r>
            <a:endParaRPr lang="en-US" sz="1200" dirty="0"/>
          </a:p>
        </p:txBody>
      </p:sp>
      <p:pic>
        <p:nvPicPr>
          <p:cNvPr id="18" name="Image 2" descr="Evolución de 15 semanas">    </p:cNvPr>
          <p:cNvPicPr>
            <a:picLocks noChangeAspect="1"/>
          </p:cNvPicPr>
          <p:nvPr/>
        </p:nvPicPr>
        <p:blipFill>
          <a:blip r:embed="rId3"/>
          <a:srcRect l="0" r="0" t="0" b="0"/>
          <a:stretch/>
        </p:blipFill>
        <p:spPr>
          <a:xfrm>
            <a:off x="6381750" y="4321969"/>
            <a:ext cx="1905000" cy="508000"/>
          </a:xfrm>
          <a:prstGeom prst="rect">
            <a:avLst/>
          </a:prstGeom>
        </p:spPr>
      </p:pic>
      <p:sp>
        <p:nvSpPr>
          <p:cNvPr id="19" name="Shape 14"/>
          <p:cNvSpPr/>
          <p:nvPr/>
        </p:nvSpPr>
        <p:spPr>
          <a:xfrm>
            <a:off x="8855075" y="1806476"/>
            <a:ext cx="2520950" cy="3229868"/>
          </a:xfrm>
          <a:prstGeom prst="roundRect">
            <a:avLst>
              <a:gd name="adj" fmla="val 3904"/>
            </a:avLst>
          </a:prstGeom>
          <a:solidFill>
            <a:srgbClr val="FCFDFB"/>
          </a:solidFill>
          <a:ln w="6350">
            <a:solidFill>
              <a:srgbClr val="D3E2D7"/>
            </a:solidFill>
            <a:prstDash val="solid"/>
          </a:ln>
        </p:spPr>
      </p:sp>
      <p:sp>
        <p:nvSpPr>
          <p:cNvPr id="20" name="Text 15"/>
          <p:cNvSpPr/>
          <p:nvPr/>
        </p:nvSpPr>
        <p:spPr>
          <a:xfrm>
            <a:off x="9061450" y="2012851"/>
            <a:ext cx="217144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Camiones R7</a:t>
            </a:r>
            <a:endParaRPr lang="en-US" sz="1300" dirty="0"/>
          </a:p>
        </p:txBody>
      </p:sp>
      <p:sp>
        <p:nvSpPr>
          <p:cNvPr id="21" name="Text 16"/>
          <p:cNvSpPr/>
          <p:nvPr/>
        </p:nvSpPr>
        <p:spPr>
          <a:xfrm>
            <a:off x="9061450" y="2320131"/>
            <a:ext cx="2171446"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0B5638"/>
                </a:solidFill>
                <a:latin typeface="IBM Plex Sans" pitchFamily="34" charset="0"/>
                <a:ea typeface="IBM Plex Sans" pitchFamily="34" charset="-122"/>
                <a:cs typeface="IBM Plex Sans" pitchFamily="34" charset="-120"/>
              </a:rPr>
              <a:t>770</a:t>
            </a:r>
            <a:endParaRPr lang="en-US" sz="3600" dirty="0"/>
          </a:p>
        </p:txBody>
      </p:sp>
      <p:sp>
        <p:nvSpPr>
          <p:cNvPr id="22" name="Text 17"/>
          <p:cNvSpPr/>
          <p:nvPr/>
        </p:nvSpPr>
        <p:spPr>
          <a:xfrm>
            <a:off x="9061450" y="2876352"/>
            <a:ext cx="2062659" cy="289520"/>
          </a:xfrm>
          <a:prstGeom prst="roundRect">
            <a:avLst>
              <a:gd name="adj" fmla="val 17546"/>
            </a:avLst>
          </a:prstGeom>
          <a:solidFill>
            <a:srgbClr val="DCEDE1"/>
          </a:solidFill>
          <a:ln/>
        </p:spPr>
        <p:txBody>
          <a:bodyPr wrap="none" lIns="0" tIns="0" rIns="0" bIns="0" rtlCol="0" anchor="ctr">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−44 % vs. semana anterior</a:t>
            </a:r>
            <a:endParaRPr lang="en-US" sz="1200" dirty="0"/>
          </a:p>
        </p:txBody>
      </p:sp>
      <p:sp>
        <p:nvSpPr>
          <p:cNvPr id="23" name="Shape 18"/>
          <p:cNvSpPr/>
          <p:nvPr/>
        </p:nvSpPr>
        <p:spPr>
          <a:xfrm>
            <a:off x="831850" y="5293519"/>
            <a:ext cx="0" cy="548481"/>
          </a:xfrm>
          <a:prstGeom prst="line">
            <a:avLst/>
          </a:prstGeom>
          <a:noFill/>
          <a:ln w="38100">
            <a:solidFill>
              <a:srgbClr val="3A8F63"/>
            </a:solidFill>
            <a:prstDash val="solid"/>
          </a:ln>
        </p:spPr>
      </p:sp>
      <p:sp>
        <p:nvSpPr>
          <p:cNvPr id="24" name="Text 19"/>
          <p:cNvSpPr/>
          <p:nvPr/>
        </p:nvSpPr>
        <p:spPr>
          <a:xfrm>
            <a:off x="977900" y="5318919"/>
            <a:ext cx="1071333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Semana liviana y la más rápida desde junio: 265 min puerta a puerta. La mejora vino otra vez de Ricardone (Playa 1 en 74 min, el mínimo de la serie); San Lorenzo quedó en su nivel: 188 min contra 184.</a:t>
            </a:r>
            <a:endParaRPr lang="en-US" sz="1400" dirty="0"/>
          </a:p>
        </p:txBody>
      </p:sp>
      <p:pic>
        <p:nvPicPr>
          <p:cNvPr id="25" name="Image 3" descr="Nueva Vicentin Argentina">    </p:cNvPr>
          <p:cNvPicPr>
            <a:picLocks noChangeAspect="1"/>
          </p:cNvPicPr>
          <p:nvPr/>
        </p:nvPicPr>
        <p:blipFill>
          <a:blip r:embed="rId4"/>
          <a:srcRect l="-167" r="-167" t="0" b="0"/>
          <a:stretch/>
        </p:blipFill>
        <p:spPr>
          <a:xfrm>
            <a:off x="812800" y="6197600"/>
            <a:ext cx="571500" cy="304800"/>
          </a:xfrm>
          <a:prstGeom prst="rect">
            <a:avLst/>
          </a:prstGeom>
        </p:spPr>
      </p:pic>
      <p:sp>
        <p:nvSpPr>
          <p:cNvPr id="26" name="Text 20"/>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7</a:t>
            </a:r>
            <a:endParaRPr lang="en-US" sz="1200" dirty="0"/>
          </a:p>
        </p:txBody>
      </p:sp>
      <p:pic>
        <p:nvPicPr>
          <p:cNvPr id="27" name="Image 4" descr="Bimtrazer">    </p:cNvPr>
          <p:cNvPicPr>
            <a:picLocks noChangeAspect="1"/>
          </p:cNvPicPr>
          <p:nvPr/>
        </p:nvPicPr>
        <p:blipFill>
          <a:blip r:embed="rId5"/>
          <a:srcRect l="0" r="0" t="-63" b="-63"/>
          <a:stretch/>
        </p:blipFill>
        <p:spPr>
          <a:xfrm>
            <a:off x="10731500" y="6197600"/>
            <a:ext cx="647700" cy="304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041400" cy="289520"/>
          </a:xfrm>
          <a:custGeom>
            <a:avLst/>
            <a:gdLst/>
            <a:ahLst/>
            <a:cxnLst/>
            <a:rect l="l" t="t" r="r" b="b"/>
            <a:pathLst>
              <a:path w="1041400" h="289520">
                <a:moveTo>
                  <a:pt x="144760" y="0"/>
                </a:moveTo>
                <a:lnTo>
                  <a:pt x="896640" y="0"/>
                </a:lnTo>
                <a:arcTo hR="144760" wR="144760" stAng="16200000" swAng="5400000"/>
                <a:lnTo>
                  <a:pt x="1041400"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SOJA · R7</a:t>
            </a:r>
            <a:endParaRPr lang="en-US" sz="1200" dirty="0"/>
          </a:p>
        </p:txBody>
      </p:sp>
      <p:sp>
        <p:nvSpPr>
          <p:cNvPr id="3" name="Text 1"/>
          <p:cNvSpPr/>
          <p:nvPr>
            <p:ph type="title"/>
          </p:nvPr>
        </p:nvSpPr>
        <p:spPr>
          <a:xfrm>
            <a:off x="812800" y="1102320"/>
            <a:ext cx="4447540" cy="136634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El lunes fue el día más cargado y también el más lento</a:t>
            </a:r>
            <a:endParaRPr lang="en-US" sz="3200" dirty="0"/>
          </a:p>
        </p:txBody>
      </p:sp>
      <p:sp>
        <p:nvSpPr>
          <p:cNvPr id="4" name="Text 2"/>
          <p:cNvSpPr/>
          <p:nvPr/>
        </p:nvSpPr>
        <p:spPr>
          <a:xfrm>
            <a:off x="812800" y="2621062"/>
            <a:ext cx="444754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D52"/>
                </a:solidFill>
                <a:latin typeface="IBM Plex Sans" pitchFamily="34" charset="0"/>
                <a:ea typeface="IBM Plex Sans" pitchFamily="34" charset="-122"/>
                <a:cs typeface="IBM Plex Sans" pitchFamily="34" charset="-120"/>
              </a:rPr>
              <a:t>El lunes 28 entraron 135 camiones de soja y el ciclo llegó a 377 min. El viernes le siguió en volumen (131) y también fue de los más lentos (275 min).</a:t>
            </a:r>
            <a:endParaRPr lang="en-US" sz="1500" dirty="0"/>
          </a:p>
        </p:txBody>
      </p:sp>
      <p:sp>
        <p:nvSpPr>
          <p:cNvPr id="5" name="Text 3"/>
          <p:cNvSpPr/>
          <p:nvPr/>
        </p:nvSpPr>
        <p:spPr>
          <a:xfrm>
            <a:off x="812800" y="3865662"/>
            <a:ext cx="444754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D52"/>
                </a:solidFill>
                <a:latin typeface="IBM Plex Sans" pitchFamily="34" charset="0"/>
                <a:ea typeface="IBM Plex Sans" pitchFamily="34" charset="-122"/>
                <a:cs typeface="IBM Plex Sans" pitchFamily="34" charset="-120"/>
              </a:rPr>
              <a:t>El jueves fue el día más rápido: 195 min con 109 camiones.</a:t>
            </a:r>
            <a:endParaRPr lang="en-US" sz="1500" dirty="0"/>
          </a:p>
        </p:txBody>
      </p:sp>
      <p:sp>
        <p:nvSpPr>
          <p:cNvPr id="6" name="Shape 4"/>
          <p:cNvSpPr/>
          <p:nvPr/>
        </p:nvSpPr>
        <p:spPr>
          <a:xfrm>
            <a:off x="831850" y="4576862"/>
            <a:ext cx="0" cy="975122"/>
          </a:xfrm>
          <a:prstGeom prst="line">
            <a:avLst/>
          </a:prstGeom>
          <a:noFill/>
          <a:ln w="38100">
            <a:solidFill>
              <a:srgbClr val="3A8F63"/>
            </a:solidFill>
            <a:prstDash val="solid"/>
          </a:ln>
        </p:spPr>
      </p:sp>
      <p:sp>
        <p:nvSpPr>
          <p:cNvPr id="7" name="Text 5"/>
          <p:cNvSpPr/>
          <p:nvPr/>
        </p:nvSpPr>
        <p:spPr>
          <a:xfrm>
            <a:off x="977900" y="4602262"/>
            <a:ext cx="4277487" cy="94972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El lunes el tiempo se fue en San Lorenzo (248 min): la PV2 del puerto no descargó (preventivo de 8.000 h en el compresor que la alimenta) y la PV4 tuvo que cubrirla con el día más cargado de la semana.</a:t>
            </a:r>
            <a:endParaRPr lang="en-US" sz="1300" dirty="0"/>
          </a:p>
        </p:txBody>
      </p:sp>
      <p:sp>
        <p:nvSpPr>
          <p:cNvPr id="8" name="Shape 6"/>
          <p:cNvSpPr/>
          <p:nvPr/>
        </p:nvSpPr>
        <p:spPr>
          <a:xfrm>
            <a:off x="5537200" y="728960"/>
            <a:ext cx="177800" cy="177800"/>
          </a:xfrm>
          <a:prstGeom prst="roundRect">
            <a:avLst>
              <a:gd name="adj" fmla="val 21429"/>
            </a:avLst>
          </a:prstGeom>
          <a:solidFill>
            <a:srgbClr val="0B5638"/>
          </a:solidFill>
          <a:ln/>
        </p:spPr>
      </p:sp>
      <p:sp>
        <p:nvSpPr>
          <p:cNvPr id="9" name="Text 7"/>
          <p:cNvSpPr/>
          <p:nvPr/>
        </p:nvSpPr>
        <p:spPr>
          <a:xfrm>
            <a:off x="5791200" y="711200"/>
            <a:ext cx="16474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Días de mayor volumen</a:t>
            </a:r>
            <a:endParaRPr lang="en-US" sz="1200" dirty="0"/>
          </a:p>
        </p:txBody>
      </p:sp>
      <p:sp>
        <p:nvSpPr>
          <p:cNvPr id="10" name="Shape 8"/>
          <p:cNvSpPr/>
          <p:nvPr/>
        </p:nvSpPr>
        <p:spPr>
          <a:xfrm>
            <a:off x="7464028" y="728960"/>
            <a:ext cx="177800" cy="177800"/>
          </a:xfrm>
          <a:prstGeom prst="roundRect">
            <a:avLst>
              <a:gd name="adj" fmla="val 21429"/>
            </a:avLst>
          </a:prstGeom>
          <a:solidFill>
            <a:srgbClr val="9CCBAE"/>
          </a:solidFill>
          <a:ln/>
        </p:spPr>
      </p:sp>
      <p:sp>
        <p:nvSpPr>
          <p:cNvPr id="11" name="Text 9"/>
          <p:cNvSpPr/>
          <p:nvPr/>
        </p:nvSpPr>
        <p:spPr>
          <a:xfrm>
            <a:off x="7718028" y="711200"/>
            <a:ext cx="44112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Resto</a:t>
            </a:r>
            <a:endParaRPr lang="en-US" sz="1200" dirty="0"/>
          </a:p>
        </p:txBody>
      </p:sp>
      <p:sp>
        <p:nvSpPr>
          <p:cNvPr id="12" name="Text 10"/>
          <p:cNvSpPr/>
          <p:nvPr/>
        </p:nvSpPr>
        <p:spPr>
          <a:xfrm>
            <a:off x="5537200" y="1026120"/>
            <a:ext cx="6017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Camiones por día y tiempo puerta a puerta</a:t>
            </a:r>
            <a:endParaRPr lang="en-US" sz="1200" dirty="0"/>
          </a:p>
        </p:txBody>
      </p:sp>
      <p:sp>
        <p:nvSpPr>
          <p:cNvPr id="13" name="Text 11"/>
          <p:cNvSpPr/>
          <p:nvPr/>
        </p:nvSpPr>
        <p:spPr>
          <a:xfrm>
            <a:off x="5729724" y="3166269"/>
            <a:ext cx="38409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109</a:t>
            </a:r>
            <a:endParaRPr lang="en-US" sz="1400" dirty="0"/>
          </a:p>
        </p:txBody>
      </p:sp>
      <p:sp>
        <p:nvSpPr>
          <p:cNvPr id="14" name="Shape 12"/>
          <p:cNvSpPr/>
          <p:nvPr/>
        </p:nvSpPr>
        <p:spPr>
          <a:xfrm>
            <a:off x="5616972" y="3465909"/>
            <a:ext cx="609600" cy="1847850"/>
          </a:xfrm>
          <a:custGeom>
            <a:avLst/>
            <a:gdLst/>
            <a:ahLst/>
            <a:cxnLst/>
            <a:rect l="l" t="t" r="r" b="b"/>
            <a:pathLst>
              <a:path w="609600" h="1847850">
                <a:moveTo>
                  <a:pt x="50800" y="0"/>
                </a:moveTo>
                <a:lnTo>
                  <a:pt x="558800" y="0"/>
                </a:lnTo>
                <a:arcTo hR="50800" wR="50800" stAng="16200000" swAng="5400000"/>
                <a:lnTo>
                  <a:pt x="609600" y="1847850"/>
                </a:lnTo>
                <a:lnTo>
                  <a:pt x="0" y="1847850"/>
                </a:lnTo>
                <a:lnTo>
                  <a:pt x="0" y="50800"/>
                </a:lnTo>
                <a:arcTo hR="50800" wR="50800" stAng="10800000" swAng="5400000"/>
                <a:close/>
              </a:path>
            </a:pathLst>
          </a:custGeom>
          <a:solidFill>
            <a:srgbClr val="9CCBAE"/>
          </a:solidFill>
          <a:ln/>
        </p:spPr>
      </p:sp>
      <p:sp>
        <p:nvSpPr>
          <p:cNvPr id="15" name="Text 13"/>
          <p:cNvSpPr/>
          <p:nvPr/>
        </p:nvSpPr>
        <p:spPr>
          <a:xfrm>
            <a:off x="5635784" y="5364559"/>
            <a:ext cx="5719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Jue 24</a:t>
            </a:r>
            <a:endParaRPr lang="en-US" sz="1200" dirty="0"/>
          </a:p>
        </p:txBody>
      </p:sp>
      <p:sp>
        <p:nvSpPr>
          <p:cNvPr id="16" name="Text 14"/>
          <p:cNvSpPr/>
          <p:nvPr/>
        </p:nvSpPr>
        <p:spPr>
          <a:xfrm>
            <a:off x="5581005" y="5628680"/>
            <a:ext cx="6816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195 min</a:t>
            </a:r>
            <a:endParaRPr lang="en-US" sz="1200" dirty="0"/>
          </a:p>
        </p:txBody>
      </p:sp>
      <p:sp>
        <p:nvSpPr>
          <p:cNvPr id="17" name="Text 15"/>
          <p:cNvSpPr/>
          <p:nvPr/>
        </p:nvSpPr>
        <p:spPr>
          <a:xfrm>
            <a:off x="6575266" y="2797969"/>
            <a:ext cx="38409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131</a:t>
            </a:r>
            <a:endParaRPr lang="en-US" sz="1400" dirty="0"/>
          </a:p>
        </p:txBody>
      </p:sp>
      <p:sp>
        <p:nvSpPr>
          <p:cNvPr id="18" name="Shape 16"/>
          <p:cNvSpPr/>
          <p:nvPr/>
        </p:nvSpPr>
        <p:spPr>
          <a:xfrm>
            <a:off x="6462514" y="3097609"/>
            <a:ext cx="609600" cy="2216150"/>
          </a:xfrm>
          <a:custGeom>
            <a:avLst/>
            <a:gdLst/>
            <a:ahLst/>
            <a:cxnLst/>
            <a:rect l="l" t="t" r="r" b="b"/>
            <a:pathLst>
              <a:path w="609600" h="2216150">
                <a:moveTo>
                  <a:pt x="50800" y="0"/>
                </a:moveTo>
                <a:lnTo>
                  <a:pt x="558800" y="0"/>
                </a:lnTo>
                <a:arcTo hR="50800" wR="50800" stAng="16200000" swAng="5400000"/>
                <a:lnTo>
                  <a:pt x="609600" y="2216150"/>
                </a:lnTo>
                <a:lnTo>
                  <a:pt x="0" y="2216150"/>
                </a:lnTo>
                <a:lnTo>
                  <a:pt x="0" y="50800"/>
                </a:lnTo>
                <a:arcTo hR="50800" wR="50800" stAng="10800000" swAng="5400000"/>
                <a:close/>
              </a:path>
            </a:pathLst>
          </a:custGeom>
          <a:solidFill>
            <a:srgbClr val="0B5638"/>
          </a:solidFill>
          <a:ln/>
        </p:spPr>
      </p:sp>
      <p:sp>
        <p:nvSpPr>
          <p:cNvPr id="19" name="Text 17"/>
          <p:cNvSpPr/>
          <p:nvPr/>
        </p:nvSpPr>
        <p:spPr>
          <a:xfrm>
            <a:off x="6501448" y="5364559"/>
            <a:ext cx="53173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Vie 25</a:t>
            </a:r>
            <a:endParaRPr lang="en-US" sz="1200" dirty="0"/>
          </a:p>
        </p:txBody>
      </p:sp>
      <p:sp>
        <p:nvSpPr>
          <p:cNvPr id="20" name="Text 18"/>
          <p:cNvSpPr/>
          <p:nvPr/>
        </p:nvSpPr>
        <p:spPr>
          <a:xfrm>
            <a:off x="6426448" y="5628680"/>
            <a:ext cx="6816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275 min</a:t>
            </a:r>
            <a:endParaRPr lang="en-US" sz="1200" dirty="0"/>
          </a:p>
        </p:txBody>
      </p:sp>
      <p:sp>
        <p:nvSpPr>
          <p:cNvPr id="21" name="Text 19"/>
          <p:cNvSpPr/>
          <p:nvPr/>
        </p:nvSpPr>
        <p:spPr>
          <a:xfrm>
            <a:off x="7480697" y="3458369"/>
            <a:ext cx="26422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92</a:t>
            </a:r>
            <a:endParaRPr lang="en-US" sz="1400" dirty="0"/>
          </a:p>
        </p:txBody>
      </p:sp>
      <p:sp>
        <p:nvSpPr>
          <p:cNvPr id="22" name="Shape 20"/>
          <p:cNvSpPr/>
          <p:nvPr/>
        </p:nvSpPr>
        <p:spPr>
          <a:xfrm>
            <a:off x="7307957" y="3758009"/>
            <a:ext cx="609600" cy="1555750"/>
          </a:xfrm>
          <a:custGeom>
            <a:avLst/>
            <a:gdLst/>
            <a:ahLst/>
            <a:cxnLst/>
            <a:rect l="l" t="t" r="r" b="b"/>
            <a:pathLst>
              <a:path w="609600" h="1555750">
                <a:moveTo>
                  <a:pt x="50800" y="0"/>
                </a:moveTo>
                <a:lnTo>
                  <a:pt x="558800" y="0"/>
                </a:lnTo>
                <a:arcTo hR="50800" wR="50800" stAng="16200000" swAng="5400000"/>
                <a:lnTo>
                  <a:pt x="609600" y="1555750"/>
                </a:lnTo>
                <a:lnTo>
                  <a:pt x="0" y="1555750"/>
                </a:lnTo>
                <a:lnTo>
                  <a:pt x="0" y="50800"/>
                </a:lnTo>
                <a:arcTo hR="50800" wR="50800" stAng="10800000" swAng="5400000"/>
                <a:close/>
              </a:path>
            </a:pathLst>
          </a:custGeom>
          <a:solidFill>
            <a:srgbClr val="9CCBAE"/>
          </a:solidFill>
          <a:ln/>
        </p:spPr>
      </p:sp>
      <p:sp>
        <p:nvSpPr>
          <p:cNvPr id="23" name="Text 21"/>
          <p:cNvSpPr/>
          <p:nvPr/>
        </p:nvSpPr>
        <p:spPr>
          <a:xfrm>
            <a:off x="7319615" y="5364559"/>
            <a:ext cx="58638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Sáb 26</a:t>
            </a:r>
            <a:endParaRPr lang="en-US" sz="1200" dirty="0"/>
          </a:p>
        </p:txBody>
      </p:sp>
      <p:sp>
        <p:nvSpPr>
          <p:cNvPr id="24" name="Text 22"/>
          <p:cNvSpPr/>
          <p:nvPr/>
        </p:nvSpPr>
        <p:spPr>
          <a:xfrm>
            <a:off x="7271990" y="5628680"/>
            <a:ext cx="6816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246 min</a:t>
            </a:r>
            <a:endParaRPr lang="en-US" sz="1200" dirty="0"/>
          </a:p>
        </p:txBody>
      </p:sp>
      <p:sp>
        <p:nvSpPr>
          <p:cNvPr id="25" name="Text 23"/>
          <p:cNvSpPr/>
          <p:nvPr/>
        </p:nvSpPr>
        <p:spPr>
          <a:xfrm>
            <a:off x="8266152" y="3204369"/>
            <a:ext cx="38409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107</a:t>
            </a:r>
            <a:endParaRPr lang="en-US" sz="1400" dirty="0"/>
          </a:p>
        </p:txBody>
      </p:sp>
      <p:sp>
        <p:nvSpPr>
          <p:cNvPr id="26" name="Shape 24"/>
          <p:cNvSpPr/>
          <p:nvPr/>
        </p:nvSpPr>
        <p:spPr>
          <a:xfrm>
            <a:off x="8153400" y="3504009"/>
            <a:ext cx="609600" cy="1809750"/>
          </a:xfrm>
          <a:custGeom>
            <a:avLst/>
            <a:gdLst/>
            <a:ahLst/>
            <a:cxnLst/>
            <a:rect l="l" t="t" r="r" b="b"/>
            <a:pathLst>
              <a:path w="609600" h="1809750">
                <a:moveTo>
                  <a:pt x="50800" y="0"/>
                </a:moveTo>
                <a:lnTo>
                  <a:pt x="558800" y="0"/>
                </a:lnTo>
                <a:arcTo hR="50800" wR="50800" stAng="16200000" swAng="5400000"/>
                <a:lnTo>
                  <a:pt x="609600" y="1809750"/>
                </a:lnTo>
                <a:lnTo>
                  <a:pt x="0" y="1809750"/>
                </a:lnTo>
                <a:lnTo>
                  <a:pt x="0" y="50800"/>
                </a:lnTo>
                <a:arcTo hR="50800" wR="50800" stAng="10800000" swAng="5400000"/>
                <a:close/>
              </a:path>
            </a:pathLst>
          </a:custGeom>
          <a:solidFill>
            <a:srgbClr val="9CCBAE"/>
          </a:solidFill>
          <a:ln/>
        </p:spPr>
      </p:sp>
      <p:sp>
        <p:nvSpPr>
          <p:cNvPr id="27" name="Text 25"/>
          <p:cNvSpPr/>
          <p:nvPr/>
        </p:nvSpPr>
        <p:spPr>
          <a:xfrm>
            <a:off x="8131244" y="5364559"/>
            <a:ext cx="6540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Dom 27</a:t>
            </a:r>
            <a:endParaRPr lang="en-US" sz="1200" dirty="0"/>
          </a:p>
        </p:txBody>
      </p:sp>
      <p:sp>
        <p:nvSpPr>
          <p:cNvPr id="28" name="Text 26"/>
          <p:cNvSpPr/>
          <p:nvPr/>
        </p:nvSpPr>
        <p:spPr>
          <a:xfrm>
            <a:off x="8117433" y="5628680"/>
            <a:ext cx="6816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238 min</a:t>
            </a:r>
            <a:endParaRPr lang="en-US" sz="1200" dirty="0"/>
          </a:p>
        </p:txBody>
      </p:sp>
      <p:sp>
        <p:nvSpPr>
          <p:cNvPr id="29" name="Text 27"/>
          <p:cNvSpPr/>
          <p:nvPr/>
        </p:nvSpPr>
        <p:spPr>
          <a:xfrm>
            <a:off x="9111595" y="2728119"/>
            <a:ext cx="38409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135</a:t>
            </a:r>
            <a:endParaRPr lang="en-US" sz="1400" dirty="0"/>
          </a:p>
        </p:txBody>
      </p:sp>
      <p:sp>
        <p:nvSpPr>
          <p:cNvPr id="30" name="Shape 28"/>
          <p:cNvSpPr/>
          <p:nvPr/>
        </p:nvSpPr>
        <p:spPr>
          <a:xfrm>
            <a:off x="8998843" y="3027759"/>
            <a:ext cx="609600" cy="2286000"/>
          </a:xfrm>
          <a:custGeom>
            <a:avLst/>
            <a:gdLst/>
            <a:ahLst/>
            <a:cxnLst/>
            <a:rect l="l" t="t" r="r" b="b"/>
            <a:pathLst>
              <a:path w="609600" h="2286000">
                <a:moveTo>
                  <a:pt x="50800" y="0"/>
                </a:moveTo>
                <a:lnTo>
                  <a:pt x="558800" y="0"/>
                </a:lnTo>
                <a:arcTo hR="50800" wR="50800" stAng="16200000" swAng="5400000"/>
                <a:lnTo>
                  <a:pt x="609600" y="2286000"/>
                </a:lnTo>
                <a:lnTo>
                  <a:pt x="0" y="2286000"/>
                </a:lnTo>
                <a:lnTo>
                  <a:pt x="0" y="50800"/>
                </a:lnTo>
                <a:arcTo hR="50800" wR="50800" stAng="10800000" swAng="5400000"/>
                <a:close/>
              </a:path>
            </a:pathLst>
          </a:custGeom>
          <a:solidFill>
            <a:srgbClr val="0B5638"/>
          </a:solidFill>
          <a:ln/>
        </p:spPr>
      </p:sp>
      <p:sp>
        <p:nvSpPr>
          <p:cNvPr id="31" name="Text 29"/>
          <p:cNvSpPr/>
          <p:nvPr/>
        </p:nvSpPr>
        <p:spPr>
          <a:xfrm>
            <a:off x="9017764" y="5364559"/>
            <a:ext cx="57185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Lun 28</a:t>
            </a:r>
            <a:endParaRPr lang="en-US" sz="1200" dirty="0"/>
          </a:p>
        </p:txBody>
      </p:sp>
      <p:sp>
        <p:nvSpPr>
          <p:cNvPr id="32" name="Text 30"/>
          <p:cNvSpPr/>
          <p:nvPr/>
        </p:nvSpPr>
        <p:spPr>
          <a:xfrm>
            <a:off x="8962876" y="5628680"/>
            <a:ext cx="6816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377 min</a:t>
            </a:r>
            <a:endParaRPr lang="en-US" sz="1200" dirty="0"/>
          </a:p>
        </p:txBody>
      </p:sp>
      <p:sp>
        <p:nvSpPr>
          <p:cNvPr id="33" name="Text 31"/>
          <p:cNvSpPr/>
          <p:nvPr/>
        </p:nvSpPr>
        <p:spPr>
          <a:xfrm>
            <a:off x="10017026" y="3388519"/>
            <a:ext cx="26422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96</a:t>
            </a:r>
            <a:endParaRPr lang="en-US" sz="1400" dirty="0"/>
          </a:p>
        </p:txBody>
      </p:sp>
      <p:sp>
        <p:nvSpPr>
          <p:cNvPr id="34" name="Shape 32"/>
          <p:cNvSpPr/>
          <p:nvPr/>
        </p:nvSpPr>
        <p:spPr>
          <a:xfrm>
            <a:off x="9844286" y="3688159"/>
            <a:ext cx="609600" cy="1625600"/>
          </a:xfrm>
          <a:custGeom>
            <a:avLst/>
            <a:gdLst/>
            <a:ahLst/>
            <a:cxnLst/>
            <a:rect l="l" t="t" r="r" b="b"/>
            <a:pathLst>
              <a:path w="609600" h="1625600">
                <a:moveTo>
                  <a:pt x="50800" y="0"/>
                </a:moveTo>
                <a:lnTo>
                  <a:pt x="558800" y="0"/>
                </a:lnTo>
                <a:arcTo hR="50800" wR="50800" stAng="16200000" swAng="5400000"/>
                <a:lnTo>
                  <a:pt x="609600" y="1625600"/>
                </a:lnTo>
                <a:lnTo>
                  <a:pt x="0" y="1625600"/>
                </a:lnTo>
                <a:lnTo>
                  <a:pt x="0" y="50800"/>
                </a:lnTo>
                <a:arcTo hR="50800" wR="50800" stAng="10800000" swAng="5400000"/>
                <a:close/>
              </a:path>
            </a:pathLst>
          </a:custGeom>
          <a:solidFill>
            <a:srgbClr val="9CCBAE"/>
          </a:solidFill>
          <a:ln/>
        </p:spPr>
      </p:sp>
      <p:sp>
        <p:nvSpPr>
          <p:cNvPr id="35" name="Text 33"/>
          <p:cNvSpPr/>
          <p:nvPr/>
        </p:nvSpPr>
        <p:spPr>
          <a:xfrm>
            <a:off x="9856063" y="5364559"/>
            <a:ext cx="58614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Mar 29</a:t>
            </a:r>
            <a:endParaRPr lang="en-US" sz="1200" dirty="0"/>
          </a:p>
        </p:txBody>
      </p:sp>
      <p:sp>
        <p:nvSpPr>
          <p:cNvPr id="36" name="Text 34"/>
          <p:cNvSpPr/>
          <p:nvPr/>
        </p:nvSpPr>
        <p:spPr>
          <a:xfrm>
            <a:off x="9808319" y="5628680"/>
            <a:ext cx="6816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227 min</a:t>
            </a:r>
            <a:endParaRPr lang="en-US" sz="1200" dirty="0"/>
          </a:p>
        </p:txBody>
      </p:sp>
      <p:sp>
        <p:nvSpPr>
          <p:cNvPr id="37" name="Text 35"/>
          <p:cNvSpPr/>
          <p:nvPr/>
        </p:nvSpPr>
        <p:spPr>
          <a:xfrm>
            <a:off x="10802481" y="3318669"/>
            <a:ext cx="38409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100</a:t>
            </a:r>
            <a:endParaRPr lang="en-US" sz="1400" dirty="0"/>
          </a:p>
        </p:txBody>
      </p:sp>
      <p:sp>
        <p:nvSpPr>
          <p:cNvPr id="38" name="Shape 36"/>
          <p:cNvSpPr/>
          <p:nvPr/>
        </p:nvSpPr>
        <p:spPr>
          <a:xfrm>
            <a:off x="10689729" y="3618309"/>
            <a:ext cx="609600" cy="1695450"/>
          </a:xfrm>
          <a:custGeom>
            <a:avLst/>
            <a:gdLst/>
            <a:ahLst/>
            <a:cxnLst/>
            <a:rect l="l" t="t" r="r" b="b"/>
            <a:pathLst>
              <a:path w="609600" h="1695450">
                <a:moveTo>
                  <a:pt x="50800" y="0"/>
                </a:moveTo>
                <a:lnTo>
                  <a:pt x="558800" y="0"/>
                </a:lnTo>
                <a:arcTo hR="50800" wR="50800" stAng="16200000" swAng="5400000"/>
                <a:lnTo>
                  <a:pt x="609600" y="1695450"/>
                </a:lnTo>
                <a:lnTo>
                  <a:pt x="0" y="1695450"/>
                </a:lnTo>
                <a:lnTo>
                  <a:pt x="0" y="50800"/>
                </a:lnTo>
                <a:arcTo hR="50800" wR="50800" stAng="10800000" swAng="5400000"/>
                <a:close/>
              </a:path>
            </a:pathLst>
          </a:custGeom>
          <a:solidFill>
            <a:srgbClr val="9CCBAE"/>
          </a:solidFill>
          <a:ln/>
        </p:spPr>
      </p:sp>
      <p:sp>
        <p:nvSpPr>
          <p:cNvPr id="39" name="Text 37"/>
          <p:cNvSpPr/>
          <p:nvPr/>
        </p:nvSpPr>
        <p:spPr>
          <a:xfrm>
            <a:off x="10712341" y="5364559"/>
            <a:ext cx="5644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Mié 30</a:t>
            </a:r>
            <a:endParaRPr lang="en-US" sz="1200" dirty="0"/>
          </a:p>
        </p:txBody>
      </p:sp>
      <p:sp>
        <p:nvSpPr>
          <p:cNvPr id="40" name="Text 38"/>
          <p:cNvSpPr/>
          <p:nvPr/>
        </p:nvSpPr>
        <p:spPr>
          <a:xfrm>
            <a:off x="10653762" y="5628680"/>
            <a:ext cx="6816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263 min</a:t>
            </a:r>
            <a:endParaRPr lang="en-US" sz="1200" dirty="0"/>
          </a:p>
        </p:txBody>
      </p:sp>
      <p:pic>
        <p:nvPicPr>
          <p:cNvPr id="41"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42" name="Text 39"/>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8</a:t>
            </a:r>
            <a:endParaRPr lang="en-US" sz="1200" dirty="0"/>
          </a:p>
        </p:txBody>
      </p:sp>
      <p:pic>
        <p:nvPicPr>
          <p:cNvPr id="43"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041400" cy="289520"/>
          </a:xfrm>
          <a:custGeom>
            <a:avLst/>
            <a:gdLst/>
            <a:ahLst/>
            <a:cxnLst/>
            <a:rect l="l" t="t" r="r" b="b"/>
            <a:pathLst>
              <a:path w="1041400" h="289520">
                <a:moveTo>
                  <a:pt x="144760" y="0"/>
                </a:moveTo>
                <a:lnTo>
                  <a:pt x="896640" y="0"/>
                </a:lnTo>
                <a:arcTo hR="144760" wR="144760" stAng="16200000" swAng="5400000"/>
                <a:lnTo>
                  <a:pt x="1041400"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SOJA · R7</a:t>
            </a:r>
            <a:endParaRPr lang="en-US" sz="1200" dirty="0"/>
          </a:p>
        </p:txBody>
      </p:sp>
      <p:sp>
        <p:nvSpPr>
          <p:cNvPr id="3" name="Text 1"/>
          <p:cNvSpPr/>
          <p:nvPr>
            <p:ph type="title"/>
          </p:nvPr>
        </p:nvSpPr>
        <p:spPr>
          <a:xfrm>
            <a:off x="812800" y="1102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Día por día, San Lorenzo volvió a ser la planta que más varió</a:t>
            </a:r>
            <a:endParaRPr lang="en-US" sz="3200" dirty="0"/>
          </a:p>
        </p:txBody>
      </p:sp>
      <p:sp>
        <p:nvSpPr>
          <p:cNvPr id="4" name="Shape 2"/>
          <p:cNvSpPr/>
          <p:nvPr/>
        </p:nvSpPr>
        <p:spPr>
          <a:xfrm>
            <a:off x="812800" y="2268041"/>
            <a:ext cx="177800" cy="177800"/>
          </a:xfrm>
          <a:prstGeom prst="roundRect">
            <a:avLst>
              <a:gd name="adj" fmla="val 21429"/>
            </a:avLst>
          </a:prstGeom>
          <a:solidFill>
            <a:srgbClr val="0B5638"/>
          </a:solidFill>
          <a:ln/>
        </p:spPr>
      </p:sp>
      <p:sp>
        <p:nvSpPr>
          <p:cNvPr id="5" name="Text 3"/>
          <p:cNvSpPr/>
          <p:nvPr/>
        </p:nvSpPr>
        <p:spPr>
          <a:xfrm>
            <a:off x="1066800" y="2250281"/>
            <a:ext cx="74354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Ricardone</a:t>
            </a:r>
            <a:endParaRPr lang="en-US" sz="1200" dirty="0"/>
          </a:p>
        </p:txBody>
      </p:sp>
      <p:sp>
        <p:nvSpPr>
          <p:cNvPr id="6" name="Shape 4"/>
          <p:cNvSpPr/>
          <p:nvPr/>
        </p:nvSpPr>
        <p:spPr>
          <a:xfrm>
            <a:off x="1835745" y="2268041"/>
            <a:ext cx="177800" cy="177800"/>
          </a:xfrm>
          <a:prstGeom prst="roundRect">
            <a:avLst>
              <a:gd name="adj" fmla="val 21429"/>
            </a:avLst>
          </a:prstGeom>
          <a:solidFill>
            <a:srgbClr val="6B55A3"/>
          </a:solidFill>
          <a:ln/>
        </p:spPr>
      </p:sp>
      <p:sp>
        <p:nvSpPr>
          <p:cNvPr id="7" name="Text 5"/>
          <p:cNvSpPr/>
          <p:nvPr/>
        </p:nvSpPr>
        <p:spPr>
          <a:xfrm>
            <a:off x="2089745" y="2250281"/>
            <a:ext cx="88344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San Lorenzo</a:t>
            </a:r>
            <a:endParaRPr lang="en-US" sz="1200" dirty="0"/>
          </a:p>
        </p:txBody>
      </p:sp>
      <p:sp>
        <p:nvSpPr>
          <p:cNvPr id="8" name="Text 6"/>
          <p:cNvSpPr/>
          <p:nvPr/>
        </p:nvSpPr>
        <p:spPr>
          <a:xfrm>
            <a:off x="973435" y="4564459"/>
            <a:ext cx="2337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93</a:t>
            </a:r>
            <a:endParaRPr lang="en-US" sz="1200" dirty="0"/>
          </a:p>
        </p:txBody>
      </p:sp>
      <p:sp>
        <p:nvSpPr>
          <p:cNvPr id="9" name="Shape 7"/>
          <p:cNvSpPr/>
          <p:nvPr/>
        </p:nvSpPr>
        <p:spPr>
          <a:xfrm>
            <a:off x="925215" y="4815880"/>
            <a:ext cx="330200" cy="762000"/>
          </a:xfrm>
          <a:custGeom>
            <a:avLst/>
            <a:gdLst/>
            <a:ahLst/>
            <a:cxnLst/>
            <a:rect l="l" t="t" r="r" b="b"/>
            <a:pathLst>
              <a:path w="330200" h="762000">
                <a:moveTo>
                  <a:pt x="50800" y="0"/>
                </a:moveTo>
                <a:lnTo>
                  <a:pt x="279400" y="0"/>
                </a:lnTo>
                <a:arcTo hR="50800" wR="50800" stAng="16200000" swAng="5400000"/>
                <a:lnTo>
                  <a:pt x="330200" y="762000"/>
                </a:lnTo>
                <a:lnTo>
                  <a:pt x="0" y="762000"/>
                </a:lnTo>
                <a:lnTo>
                  <a:pt x="0" y="50800"/>
                </a:lnTo>
                <a:arcTo hR="50800" wR="50800" stAng="10800000" swAng="5400000"/>
                <a:close/>
              </a:path>
            </a:pathLst>
          </a:custGeom>
          <a:solidFill>
            <a:srgbClr val="0B5638"/>
          </a:solidFill>
          <a:ln/>
        </p:spPr>
      </p:sp>
      <p:sp>
        <p:nvSpPr>
          <p:cNvPr id="10" name="Text 8"/>
          <p:cNvSpPr/>
          <p:nvPr/>
        </p:nvSpPr>
        <p:spPr>
          <a:xfrm>
            <a:off x="1354435" y="4869259"/>
            <a:ext cx="2337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56</a:t>
            </a:r>
            <a:endParaRPr lang="en-US" sz="1200" dirty="0"/>
          </a:p>
        </p:txBody>
      </p:sp>
      <p:sp>
        <p:nvSpPr>
          <p:cNvPr id="11" name="Shape 9"/>
          <p:cNvSpPr/>
          <p:nvPr/>
        </p:nvSpPr>
        <p:spPr>
          <a:xfrm>
            <a:off x="1306215" y="5120680"/>
            <a:ext cx="330200" cy="457200"/>
          </a:xfrm>
          <a:custGeom>
            <a:avLst/>
            <a:gdLst/>
            <a:ahLst/>
            <a:cxnLst/>
            <a:rect l="l" t="t" r="r" b="b"/>
            <a:pathLst>
              <a:path w="330200" h="457200">
                <a:moveTo>
                  <a:pt x="50800" y="0"/>
                </a:moveTo>
                <a:lnTo>
                  <a:pt x="279400" y="0"/>
                </a:lnTo>
                <a:arcTo hR="50800" wR="50800" stAng="16200000" swAng="5400000"/>
                <a:lnTo>
                  <a:pt x="330200" y="457200"/>
                </a:lnTo>
                <a:lnTo>
                  <a:pt x="0" y="457200"/>
                </a:lnTo>
                <a:lnTo>
                  <a:pt x="0" y="50800"/>
                </a:lnTo>
                <a:arcTo hR="50800" wR="50800" stAng="10800000" swAng="5400000"/>
                <a:close/>
              </a:path>
            </a:pathLst>
          </a:custGeom>
          <a:solidFill>
            <a:srgbClr val="6B55A3"/>
          </a:solidFill>
          <a:ln/>
        </p:spPr>
      </p:sp>
      <p:sp>
        <p:nvSpPr>
          <p:cNvPr id="12" name="Text 10"/>
          <p:cNvSpPr/>
          <p:nvPr/>
        </p:nvSpPr>
        <p:spPr>
          <a:xfrm>
            <a:off x="994827" y="5628680"/>
            <a:ext cx="5719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Jue 24</a:t>
            </a:r>
            <a:endParaRPr lang="en-US" sz="1200" dirty="0"/>
          </a:p>
        </p:txBody>
      </p:sp>
      <p:sp>
        <p:nvSpPr>
          <p:cNvPr id="13" name="Text 11"/>
          <p:cNvSpPr/>
          <p:nvPr/>
        </p:nvSpPr>
        <p:spPr>
          <a:xfrm>
            <a:off x="1960463" y="4704159"/>
            <a:ext cx="2337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76</a:t>
            </a:r>
            <a:endParaRPr lang="en-US" sz="1200" dirty="0"/>
          </a:p>
        </p:txBody>
      </p:sp>
      <p:sp>
        <p:nvSpPr>
          <p:cNvPr id="14" name="Shape 12"/>
          <p:cNvSpPr/>
          <p:nvPr/>
        </p:nvSpPr>
        <p:spPr>
          <a:xfrm>
            <a:off x="1912243" y="4955580"/>
            <a:ext cx="330200" cy="622300"/>
          </a:xfrm>
          <a:custGeom>
            <a:avLst/>
            <a:gdLst/>
            <a:ahLst/>
            <a:cxnLst/>
            <a:rect l="l" t="t" r="r" b="b"/>
            <a:pathLst>
              <a:path w="330200" h="622300">
                <a:moveTo>
                  <a:pt x="50800" y="0"/>
                </a:moveTo>
                <a:lnTo>
                  <a:pt x="279400" y="0"/>
                </a:lnTo>
                <a:arcTo hR="50800" wR="50800" stAng="16200000" swAng="5400000"/>
                <a:lnTo>
                  <a:pt x="330200" y="622300"/>
                </a:lnTo>
                <a:lnTo>
                  <a:pt x="0" y="622300"/>
                </a:lnTo>
                <a:lnTo>
                  <a:pt x="0" y="50800"/>
                </a:lnTo>
                <a:arcTo hR="50800" wR="50800" stAng="10800000" swAng="5400000"/>
                <a:close/>
              </a:path>
            </a:pathLst>
          </a:custGeom>
          <a:solidFill>
            <a:srgbClr val="0B5638"/>
          </a:solidFill>
          <a:ln/>
        </p:spPr>
      </p:sp>
      <p:sp>
        <p:nvSpPr>
          <p:cNvPr id="15" name="Text 13"/>
          <p:cNvSpPr/>
          <p:nvPr/>
        </p:nvSpPr>
        <p:spPr>
          <a:xfrm>
            <a:off x="2293689" y="3865959"/>
            <a:ext cx="32920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178</a:t>
            </a:r>
            <a:endParaRPr lang="en-US" sz="1200" dirty="0"/>
          </a:p>
        </p:txBody>
      </p:sp>
      <p:sp>
        <p:nvSpPr>
          <p:cNvPr id="16" name="Shape 14"/>
          <p:cNvSpPr/>
          <p:nvPr/>
        </p:nvSpPr>
        <p:spPr>
          <a:xfrm>
            <a:off x="2293243" y="4117380"/>
            <a:ext cx="330200" cy="1460500"/>
          </a:xfrm>
          <a:custGeom>
            <a:avLst/>
            <a:gdLst/>
            <a:ahLst/>
            <a:cxnLst/>
            <a:rect l="l" t="t" r="r" b="b"/>
            <a:pathLst>
              <a:path w="330200" h="1460500">
                <a:moveTo>
                  <a:pt x="50800" y="0"/>
                </a:moveTo>
                <a:lnTo>
                  <a:pt x="279400" y="0"/>
                </a:lnTo>
                <a:arcTo hR="50800" wR="50800" stAng="16200000" swAng="5400000"/>
                <a:lnTo>
                  <a:pt x="330200" y="1460500"/>
                </a:lnTo>
                <a:lnTo>
                  <a:pt x="0" y="1460500"/>
                </a:lnTo>
                <a:lnTo>
                  <a:pt x="0" y="50800"/>
                </a:lnTo>
                <a:arcTo hR="50800" wR="50800" stAng="10800000" swAng="5400000"/>
                <a:close/>
              </a:path>
            </a:pathLst>
          </a:custGeom>
          <a:solidFill>
            <a:srgbClr val="6B55A3"/>
          </a:solidFill>
          <a:ln/>
        </p:spPr>
      </p:sp>
      <p:sp>
        <p:nvSpPr>
          <p:cNvPr id="17" name="Text 15"/>
          <p:cNvSpPr/>
          <p:nvPr/>
        </p:nvSpPr>
        <p:spPr>
          <a:xfrm>
            <a:off x="2001976" y="5628680"/>
            <a:ext cx="53173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Vie 25</a:t>
            </a:r>
            <a:endParaRPr lang="en-US" sz="1200" dirty="0"/>
          </a:p>
        </p:txBody>
      </p:sp>
      <p:sp>
        <p:nvSpPr>
          <p:cNvPr id="18" name="Text 16"/>
          <p:cNvSpPr/>
          <p:nvPr/>
        </p:nvSpPr>
        <p:spPr>
          <a:xfrm>
            <a:off x="2947392" y="4704159"/>
            <a:ext cx="2337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76</a:t>
            </a:r>
            <a:endParaRPr lang="en-US" sz="1200" dirty="0"/>
          </a:p>
        </p:txBody>
      </p:sp>
      <p:sp>
        <p:nvSpPr>
          <p:cNvPr id="19" name="Shape 17"/>
          <p:cNvSpPr/>
          <p:nvPr/>
        </p:nvSpPr>
        <p:spPr>
          <a:xfrm>
            <a:off x="2899172" y="4955580"/>
            <a:ext cx="330200" cy="622300"/>
          </a:xfrm>
          <a:custGeom>
            <a:avLst/>
            <a:gdLst/>
            <a:ahLst/>
            <a:cxnLst/>
            <a:rect l="l" t="t" r="r" b="b"/>
            <a:pathLst>
              <a:path w="330200" h="622300">
                <a:moveTo>
                  <a:pt x="50800" y="0"/>
                </a:moveTo>
                <a:lnTo>
                  <a:pt x="279400" y="0"/>
                </a:lnTo>
                <a:arcTo hR="50800" wR="50800" stAng="16200000" swAng="5400000"/>
                <a:lnTo>
                  <a:pt x="330200" y="622300"/>
                </a:lnTo>
                <a:lnTo>
                  <a:pt x="0" y="622300"/>
                </a:lnTo>
                <a:lnTo>
                  <a:pt x="0" y="50800"/>
                </a:lnTo>
                <a:arcTo hR="50800" wR="50800" stAng="10800000" swAng="5400000"/>
                <a:close/>
              </a:path>
            </a:pathLst>
          </a:custGeom>
          <a:solidFill>
            <a:srgbClr val="0B5638"/>
          </a:solidFill>
          <a:ln/>
        </p:spPr>
      </p:sp>
      <p:sp>
        <p:nvSpPr>
          <p:cNvPr id="20" name="Text 18"/>
          <p:cNvSpPr/>
          <p:nvPr/>
        </p:nvSpPr>
        <p:spPr>
          <a:xfrm>
            <a:off x="3280618" y="4469209"/>
            <a:ext cx="32920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105</a:t>
            </a:r>
            <a:endParaRPr lang="en-US" sz="1200" dirty="0"/>
          </a:p>
        </p:txBody>
      </p:sp>
      <p:sp>
        <p:nvSpPr>
          <p:cNvPr id="21" name="Shape 19"/>
          <p:cNvSpPr/>
          <p:nvPr/>
        </p:nvSpPr>
        <p:spPr>
          <a:xfrm>
            <a:off x="3280172" y="4720630"/>
            <a:ext cx="330200" cy="857250"/>
          </a:xfrm>
          <a:custGeom>
            <a:avLst/>
            <a:gdLst/>
            <a:ahLst/>
            <a:cxnLst/>
            <a:rect l="l" t="t" r="r" b="b"/>
            <a:pathLst>
              <a:path w="330200" h="857250">
                <a:moveTo>
                  <a:pt x="50800" y="0"/>
                </a:moveTo>
                <a:lnTo>
                  <a:pt x="279400" y="0"/>
                </a:lnTo>
                <a:arcTo hR="50800" wR="50800" stAng="16200000" swAng="5400000"/>
                <a:lnTo>
                  <a:pt x="330200" y="857250"/>
                </a:lnTo>
                <a:lnTo>
                  <a:pt x="0" y="857250"/>
                </a:lnTo>
                <a:lnTo>
                  <a:pt x="0" y="50800"/>
                </a:lnTo>
                <a:arcTo hR="50800" wR="50800" stAng="10800000" swAng="5400000"/>
                <a:close/>
              </a:path>
            </a:pathLst>
          </a:custGeom>
          <a:solidFill>
            <a:srgbClr val="6B55A3"/>
          </a:solidFill>
          <a:ln/>
        </p:spPr>
      </p:sp>
      <p:sp>
        <p:nvSpPr>
          <p:cNvPr id="22" name="Text 20"/>
          <p:cNvSpPr/>
          <p:nvPr/>
        </p:nvSpPr>
        <p:spPr>
          <a:xfrm>
            <a:off x="2961630" y="5628680"/>
            <a:ext cx="58638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Sáb 26</a:t>
            </a:r>
            <a:endParaRPr lang="en-US" sz="1200" dirty="0"/>
          </a:p>
        </p:txBody>
      </p:sp>
      <p:sp>
        <p:nvSpPr>
          <p:cNvPr id="23" name="Text 21"/>
          <p:cNvSpPr/>
          <p:nvPr/>
        </p:nvSpPr>
        <p:spPr>
          <a:xfrm>
            <a:off x="3886646" y="4310459"/>
            <a:ext cx="32920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124</a:t>
            </a:r>
            <a:endParaRPr lang="en-US" sz="1200" dirty="0"/>
          </a:p>
        </p:txBody>
      </p:sp>
      <p:sp>
        <p:nvSpPr>
          <p:cNvPr id="24" name="Shape 22"/>
          <p:cNvSpPr/>
          <p:nvPr/>
        </p:nvSpPr>
        <p:spPr>
          <a:xfrm>
            <a:off x="3886200" y="4561880"/>
            <a:ext cx="330200" cy="1016000"/>
          </a:xfrm>
          <a:custGeom>
            <a:avLst/>
            <a:gdLst/>
            <a:ahLst/>
            <a:cxnLst/>
            <a:rect l="l" t="t" r="r" b="b"/>
            <a:pathLst>
              <a:path w="330200" h="1016000">
                <a:moveTo>
                  <a:pt x="50800" y="0"/>
                </a:moveTo>
                <a:lnTo>
                  <a:pt x="279400" y="0"/>
                </a:lnTo>
                <a:arcTo hR="50800" wR="50800" stAng="16200000" swAng="5400000"/>
                <a:lnTo>
                  <a:pt x="330200" y="1016000"/>
                </a:lnTo>
                <a:lnTo>
                  <a:pt x="0" y="1016000"/>
                </a:lnTo>
                <a:lnTo>
                  <a:pt x="0" y="50800"/>
                </a:lnTo>
                <a:arcTo hR="50800" wR="50800" stAng="10800000" swAng="5400000"/>
                <a:close/>
              </a:path>
            </a:pathLst>
          </a:custGeom>
          <a:solidFill>
            <a:srgbClr val="0B5638"/>
          </a:solidFill>
          <a:ln/>
        </p:spPr>
      </p:sp>
      <p:sp>
        <p:nvSpPr>
          <p:cNvPr id="25" name="Text 23"/>
          <p:cNvSpPr/>
          <p:nvPr/>
        </p:nvSpPr>
        <p:spPr>
          <a:xfrm>
            <a:off x="4267646" y="4418409"/>
            <a:ext cx="32920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111</a:t>
            </a:r>
            <a:endParaRPr lang="en-US" sz="1200" dirty="0"/>
          </a:p>
        </p:txBody>
      </p:sp>
      <p:sp>
        <p:nvSpPr>
          <p:cNvPr id="26" name="Shape 24"/>
          <p:cNvSpPr/>
          <p:nvPr/>
        </p:nvSpPr>
        <p:spPr>
          <a:xfrm>
            <a:off x="4267200" y="4669830"/>
            <a:ext cx="330200" cy="908050"/>
          </a:xfrm>
          <a:custGeom>
            <a:avLst/>
            <a:gdLst/>
            <a:ahLst/>
            <a:cxnLst/>
            <a:rect l="l" t="t" r="r" b="b"/>
            <a:pathLst>
              <a:path w="330200" h="908050">
                <a:moveTo>
                  <a:pt x="50800" y="0"/>
                </a:moveTo>
                <a:lnTo>
                  <a:pt x="279400" y="0"/>
                </a:lnTo>
                <a:arcTo hR="50800" wR="50800" stAng="16200000" swAng="5400000"/>
                <a:lnTo>
                  <a:pt x="330200" y="908050"/>
                </a:lnTo>
                <a:lnTo>
                  <a:pt x="0" y="908050"/>
                </a:lnTo>
                <a:lnTo>
                  <a:pt x="0" y="50800"/>
                </a:lnTo>
                <a:arcTo hR="50800" wR="50800" stAng="10800000" swAng="5400000"/>
                <a:close/>
              </a:path>
            </a:pathLst>
          </a:custGeom>
          <a:solidFill>
            <a:srgbClr val="6B55A3"/>
          </a:solidFill>
          <a:ln/>
        </p:spPr>
      </p:sp>
      <p:sp>
        <p:nvSpPr>
          <p:cNvPr id="27" name="Text 25"/>
          <p:cNvSpPr/>
          <p:nvPr/>
        </p:nvSpPr>
        <p:spPr>
          <a:xfrm>
            <a:off x="3914745" y="5628680"/>
            <a:ext cx="6540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Dom 27</a:t>
            </a:r>
            <a:endParaRPr lang="en-US" sz="1200" dirty="0"/>
          </a:p>
        </p:txBody>
      </p:sp>
      <p:sp>
        <p:nvSpPr>
          <p:cNvPr id="28" name="Text 26"/>
          <p:cNvSpPr/>
          <p:nvPr/>
        </p:nvSpPr>
        <p:spPr>
          <a:xfrm>
            <a:off x="4921349" y="4761309"/>
            <a:ext cx="2337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69</a:t>
            </a:r>
            <a:endParaRPr lang="en-US" sz="1200" dirty="0"/>
          </a:p>
        </p:txBody>
      </p:sp>
      <p:sp>
        <p:nvSpPr>
          <p:cNvPr id="29" name="Shape 27"/>
          <p:cNvSpPr/>
          <p:nvPr/>
        </p:nvSpPr>
        <p:spPr>
          <a:xfrm>
            <a:off x="4873129" y="5012730"/>
            <a:ext cx="330200" cy="565150"/>
          </a:xfrm>
          <a:custGeom>
            <a:avLst/>
            <a:gdLst/>
            <a:ahLst/>
            <a:cxnLst/>
            <a:rect l="l" t="t" r="r" b="b"/>
            <a:pathLst>
              <a:path w="330200" h="565150">
                <a:moveTo>
                  <a:pt x="50800" y="0"/>
                </a:moveTo>
                <a:lnTo>
                  <a:pt x="279400" y="0"/>
                </a:lnTo>
                <a:arcTo hR="50800" wR="50800" stAng="16200000" swAng="5400000"/>
                <a:lnTo>
                  <a:pt x="330200" y="565150"/>
                </a:lnTo>
                <a:lnTo>
                  <a:pt x="0" y="565150"/>
                </a:lnTo>
                <a:lnTo>
                  <a:pt x="0" y="50800"/>
                </a:lnTo>
                <a:arcTo hR="50800" wR="50800" stAng="10800000" swAng="5400000"/>
                <a:close/>
              </a:path>
            </a:pathLst>
          </a:custGeom>
          <a:solidFill>
            <a:srgbClr val="0B5638"/>
          </a:solidFill>
          <a:ln/>
        </p:spPr>
      </p:sp>
      <p:sp>
        <p:nvSpPr>
          <p:cNvPr id="30" name="Text 28"/>
          <p:cNvSpPr/>
          <p:nvPr/>
        </p:nvSpPr>
        <p:spPr>
          <a:xfrm>
            <a:off x="5254575" y="3294459"/>
            <a:ext cx="32920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248</a:t>
            </a:r>
            <a:endParaRPr lang="en-US" sz="1200" dirty="0"/>
          </a:p>
        </p:txBody>
      </p:sp>
      <p:sp>
        <p:nvSpPr>
          <p:cNvPr id="31" name="Shape 29"/>
          <p:cNvSpPr/>
          <p:nvPr/>
        </p:nvSpPr>
        <p:spPr>
          <a:xfrm>
            <a:off x="5254129" y="3545880"/>
            <a:ext cx="330200" cy="2032000"/>
          </a:xfrm>
          <a:custGeom>
            <a:avLst/>
            <a:gdLst/>
            <a:ahLst/>
            <a:cxnLst/>
            <a:rect l="l" t="t" r="r" b="b"/>
            <a:pathLst>
              <a:path w="330200" h="2032000">
                <a:moveTo>
                  <a:pt x="50800" y="0"/>
                </a:moveTo>
                <a:lnTo>
                  <a:pt x="279400" y="0"/>
                </a:lnTo>
                <a:arcTo hR="50800" wR="50800" stAng="16200000" swAng="5400000"/>
                <a:lnTo>
                  <a:pt x="330200" y="2032000"/>
                </a:lnTo>
                <a:lnTo>
                  <a:pt x="0" y="2032000"/>
                </a:lnTo>
                <a:lnTo>
                  <a:pt x="0" y="50800"/>
                </a:lnTo>
                <a:arcTo hR="50800" wR="50800" stAng="10800000" swAng="5400000"/>
                <a:close/>
              </a:path>
            </a:pathLst>
          </a:custGeom>
          <a:solidFill>
            <a:srgbClr val="6B55A3"/>
          </a:solidFill>
          <a:ln/>
        </p:spPr>
      </p:sp>
      <p:sp>
        <p:nvSpPr>
          <p:cNvPr id="32" name="Text 30"/>
          <p:cNvSpPr/>
          <p:nvPr/>
        </p:nvSpPr>
        <p:spPr>
          <a:xfrm>
            <a:off x="4942850" y="5628680"/>
            <a:ext cx="57185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Lun 28</a:t>
            </a:r>
            <a:endParaRPr lang="en-US" sz="1200" dirty="0"/>
          </a:p>
        </p:txBody>
      </p:sp>
      <p:sp>
        <p:nvSpPr>
          <p:cNvPr id="33" name="Text 31"/>
          <p:cNvSpPr/>
          <p:nvPr/>
        </p:nvSpPr>
        <p:spPr>
          <a:xfrm>
            <a:off x="5908377" y="4647009"/>
            <a:ext cx="2337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34" name="Shape 32"/>
          <p:cNvSpPr/>
          <p:nvPr/>
        </p:nvSpPr>
        <p:spPr>
          <a:xfrm>
            <a:off x="5860157" y="4898430"/>
            <a:ext cx="330200" cy="679450"/>
          </a:xfrm>
          <a:custGeom>
            <a:avLst/>
            <a:gdLst/>
            <a:ahLst/>
            <a:cxnLst/>
            <a:rect l="l" t="t" r="r" b="b"/>
            <a:pathLst>
              <a:path w="330200" h="679450">
                <a:moveTo>
                  <a:pt x="50800" y="0"/>
                </a:moveTo>
                <a:lnTo>
                  <a:pt x="279400" y="0"/>
                </a:lnTo>
                <a:arcTo hR="50800" wR="50800" stAng="16200000" swAng="5400000"/>
                <a:lnTo>
                  <a:pt x="330200" y="679450"/>
                </a:lnTo>
                <a:lnTo>
                  <a:pt x="0" y="679450"/>
                </a:lnTo>
                <a:lnTo>
                  <a:pt x="0" y="50800"/>
                </a:lnTo>
                <a:arcTo hR="50800" wR="50800" stAng="10800000" swAng="5400000"/>
                <a:close/>
              </a:path>
            </a:pathLst>
          </a:custGeom>
          <a:solidFill>
            <a:srgbClr val="0B5638"/>
          </a:solidFill>
          <a:ln/>
        </p:spPr>
      </p:sp>
      <p:sp>
        <p:nvSpPr>
          <p:cNvPr id="35" name="Text 33"/>
          <p:cNvSpPr/>
          <p:nvPr/>
        </p:nvSpPr>
        <p:spPr>
          <a:xfrm>
            <a:off x="6289377" y="4570809"/>
            <a:ext cx="2337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92</a:t>
            </a:r>
            <a:endParaRPr lang="en-US" sz="1200" dirty="0"/>
          </a:p>
        </p:txBody>
      </p:sp>
      <p:sp>
        <p:nvSpPr>
          <p:cNvPr id="36" name="Shape 34"/>
          <p:cNvSpPr/>
          <p:nvPr/>
        </p:nvSpPr>
        <p:spPr>
          <a:xfrm>
            <a:off x="6241157" y="4822230"/>
            <a:ext cx="330200" cy="755650"/>
          </a:xfrm>
          <a:custGeom>
            <a:avLst/>
            <a:gdLst/>
            <a:ahLst/>
            <a:cxnLst/>
            <a:rect l="l" t="t" r="r" b="b"/>
            <a:pathLst>
              <a:path w="330200" h="755650">
                <a:moveTo>
                  <a:pt x="50800" y="0"/>
                </a:moveTo>
                <a:lnTo>
                  <a:pt x="279400" y="0"/>
                </a:lnTo>
                <a:arcTo hR="50800" wR="50800" stAng="16200000" swAng="5400000"/>
                <a:lnTo>
                  <a:pt x="330200" y="755650"/>
                </a:lnTo>
                <a:lnTo>
                  <a:pt x="0" y="755650"/>
                </a:lnTo>
                <a:lnTo>
                  <a:pt x="0" y="50800"/>
                </a:lnTo>
                <a:arcTo hR="50800" wR="50800" stAng="10800000" swAng="5400000"/>
                <a:close/>
              </a:path>
            </a:pathLst>
          </a:custGeom>
          <a:solidFill>
            <a:srgbClr val="6B55A3"/>
          </a:solidFill>
          <a:ln/>
        </p:spPr>
      </p:sp>
      <p:sp>
        <p:nvSpPr>
          <p:cNvPr id="37" name="Text 35"/>
          <p:cNvSpPr/>
          <p:nvPr/>
        </p:nvSpPr>
        <p:spPr>
          <a:xfrm>
            <a:off x="5922635" y="5628680"/>
            <a:ext cx="58614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Mar 29</a:t>
            </a:r>
            <a:endParaRPr lang="en-US" sz="1200" dirty="0"/>
          </a:p>
        </p:txBody>
      </p:sp>
      <p:sp>
        <p:nvSpPr>
          <p:cNvPr id="38" name="Text 36"/>
          <p:cNvSpPr/>
          <p:nvPr/>
        </p:nvSpPr>
        <p:spPr>
          <a:xfrm>
            <a:off x="6895306" y="4564459"/>
            <a:ext cx="2337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93</a:t>
            </a:r>
            <a:endParaRPr lang="en-US" sz="1200" dirty="0"/>
          </a:p>
        </p:txBody>
      </p:sp>
      <p:sp>
        <p:nvSpPr>
          <p:cNvPr id="39" name="Shape 37"/>
          <p:cNvSpPr/>
          <p:nvPr/>
        </p:nvSpPr>
        <p:spPr>
          <a:xfrm>
            <a:off x="6847086" y="4815880"/>
            <a:ext cx="330200" cy="762000"/>
          </a:xfrm>
          <a:custGeom>
            <a:avLst/>
            <a:gdLst/>
            <a:ahLst/>
            <a:cxnLst/>
            <a:rect l="l" t="t" r="r" b="b"/>
            <a:pathLst>
              <a:path w="330200" h="762000">
                <a:moveTo>
                  <a:pt x="50800" y="0"/>
                </a:moveTo>
                <a:lnTo>
                  <a:pt x="279400" y="0"/>
                </a:lnTo>
                <a:arcTo hR="50800" wR="50800" stAng="16200000" swAng="5400000"/>
                <a:lnTo>
                  <a:pt x="330200" y="762000"/>
                </a:lnTo>
                <a:lnTo>
                  <a:pt x="0" y="762000"/>
                </a:lnTo>
                <a:lnTo>
                  <a:pt x="0" y="50800"/>
                </a:lnTo>
                <a:arcTo hR="50800" wR="50800" stAng="10800000" swAng="5400000"/>
                <a:close/>
              </a:path>
            </a:pathLst>
          </a:custGeom>
          <a:solidFill>
            <a:srgbClr val="0B5638"/>
          </a:solidFill>
          <a:ln/>
        </p:spPr>
      </p:sp>
      <p:sp>
        <p:nvSpPr>
          <p:cNvPr id="40" name="Text 38"/>
          <p:cNvSpPr/>
          <p:nvPr/>
        </p:nvSpPr>
        <p:spPr>
          <a:xfrm>
            <a:off x="7228532" y="3580209"/>
            <a:ext cx="32920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213</a:t>
            </a:r>
            <a:endParaRPr lang="en-US" sz="1200" dirty="0"/>
          </a:p>
        </p:txBody>
      </p:sp>
      <p:sp>
        <p:nvSpPr>
          <p:cNvPr id="41" name="Shape 39"/>
          <p:cNvSpPr/>
          <p:nvPr/>
        </p:nvSpPr>
        <p:spPr>
          <a:xfrm>
            <a:off x="7228086" y="3831630"/>
            <a:ext cx="330200" cy="1746250"/>
          </a:xfrm>
          <a:custGeom>
            <a:avLst/>
            <a:gdLst/>
            <a:ahLst/>
            <a:cxnLst/>
            <a:rect l="l" t="t" r="r" b="b"/>
            <a:pathLst>
              <a:path w="330200" h="1746250">
                <a:moveTo>
                  <a:pt x="50800" y="0"/>
                </a:moveTo>
                <a:lnTo>
                  <a:pt x="279400" y="0"/>
                </a:lnTo>
                <a:arcTo hR="50800" wR="50800" stAng="16200000" swAng="5400000"/>
                <a:lnTo>
                  <a:pt x="330200" y="1746250"/>
                </a:lnTo>
                <a:lnTo>
                  <a:pt x="0" y="1746250"/>
                </a:lnTo>
                <a:lnTo>
                  <a:pt x="0" y="50800"/>
                </a:lnTo>
                <a:arcTo hR="50800" wR="50800" stAng="10800000" swAng="5400000"/>
                <a:close/>
              </a:path>
            </a:pathLst>
          </a:custGeom>
          <a:solidFill>
            <a:srgbClr val="6B55A3"/>
          </a:solidFill>
          <a:ln/>
        </p:spPr>
      </p:sp>
      <p:sp>
        <p:nvSpPr>
          <p:cNvPr id="42" name="Text 40"/>
          <p:cNvSpPr/>
          <p:nvPr/>
        </p:nvSpPr>
        <p:spPr>
          <a:xfrm>
            <a:off x="6920498" y="5628680"/>
            <a:ext cx="5644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Mié 30</a:t>
            </a:r>
            <a:endParaRPr lang="en-US" sz="1200" dirty="0"/>
          </a:p>
        </p:txBody>
      </p:sp>
      <p:sp>
        <p:nvSpPr>
          <p:cNvPr id="43" name="Text 41"/>
          <p:cNvSpPr/>
          <p:nvPr/>
        </p:nvSpPr>
        <p:spPr>
          <a:xfrm>
            <a:off x="8077200" y="2250281"/>
            <a:ext cx="34010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D52"/>
                </a:solidFill>
                <a:latin typeface="IBM Plex Sans" pitchFamily="34" charset="0"/>
                <a:ea typeface="IBM Plex Sans" pitchFamily="34" charset="-122"/>
                <a:cs typeface="IBM Plex Sans" pitchFamily="34" charset="-120"/>
              </a:rPr>
              <a:t>Ricardone se movió entre </a:t>
            </a:r>
            <a:r>
              <a:rPr lang="en-US" sz="1500" b="1" dirty="0">
                <a:solidFill>
                  <a:srgbClr val="4A5D52"/>
                </a:solidFill>
                <a:latin typeface="IBM Plex Sans" pitchFamily="34" charset="0"/>
                <a:ea typeface="IBM Plex Sans" pitchFamily="34" charset="-122"/>
                <a:cs typeface="IBM Plex Sans" pitchFamily="34" charset="-120"/>
              </a:rPr>
              <a:t>69 y 124 min</a:t>
            </a:r>
            <a:r>
              <a:rPr lang="en-US" sz="1500" dirty="0">
                <a:solidFill>
                  <a:srgbClr val="4A5D52"/>
                </a:solidFill>
                <a:latin typeface="IBM Plex Sans" pitchFamily="34" charset="0"/>
                <a:ea typeface="IBM Plex Sans" pitchFamily="34" charset="-122"/>
                <a:cs typeface="IBM Plex Sans" pitchFamily="34" charset="-120"/>
              </a:rPr>
              <a:t>; San Lorenzo, entre </a:t>
            </a:r>
            <a:r>
              <a:rPr lang="en-US" sz="1500" b="1" dirty="0">
                <a:solidFill>
                  <a:srgbClr val="4A5D52"/>
                </a:solidFill>
                <a:latin typeface="IBM Plex Sans" pitchFamily="34" charset="0"/>
                <a:ea typeface="IBM Plex Sans" pitchFamily="34" charset="-122"/>
                <a:cs typeface="IBM Plex Sans" pitchFamily="34" charset="-120"/>
              </a:rPr>
              <a:t>56 y 248 min</a:t>
            </a:r>
            <a:r>
              <a:rPr lang="en-US" sz="1500" dirty="0">
                <a:solidFill>
                  <a:srgbClr val="4A5D52"/>
                </a:solidFill>
                <a:latin typeface="IBM Plex Sans" pitchFamily="34" charset="0"/>
                <a:ea typeface="IBM Plex Sans" pitchFamily="34" charset="-122"/>
                <a:cs typeface="IBM Plex Sans" pitchFamily="34" charset="-120"/>
              </a:rPr>
              <a:t>.</a:t>
            </a:r>
            <a:endParaRPr lang="en-US" sz="1500" dirty="0"/>
          </a:p>
        </p:txBody>
      </p:sp>
      <p:sp>
        <p:nvSpPr>
          <p:cNvPr id="44" name="Text 42"/>
          <p:cNvSpPr/>
          <p:nvPr/>
        </p:nvSpPr>
        <p:spPr>
          <a:xfrm>
            <a:off x="8077200" y="2961481"/>
            <a:ext cx="34010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D52"/>
                </a:solidFill>
                <a:latin typeface="IBM Plex Sans" pitchFamily="34" charset="0"/>
                <a:ea typeface="IBM Plex Sans" pitchFamily="34" charset="-122"/>
                <a:cs typeface="IBM Plex Sans" pitchFamily="34" charset="-120"/>
              </a:rPr>
              <a:t>El lunes 28 San Lorenzo llegó a 248 min, con la PV2 fuera de servicio; el jueves 24 había sido de 56.</a:t>
            </a:r>
            <a:endParaRPr lang="en-US" sz="1500" dirty="0"/>
          </a:p>
        </p:txBody>
      </p:sp>
      <p:sp>
        <p:nvSpPr>
          <p:cNvPr id="45" name="Text 43"/>
          <p:cNvSpPr/>
          <p:nvPr/>
        </p:nvSpPr>
        <p:spPr>
          <a:xfrm>
            <a:off x="8077200" y="3939381"/>
            <a:ext cx="34010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D52"/>
                </a:solidFill>
                <a:latin typeface="IBM Plex Sans" pitchFamily="34" charset="0"/>
                <a:ea typeface="IBM Plex Sans" pitchFamily="34" charset="-122"/>
                <a:cs typeface="IBM Plex Sans" pitchFamily="34" charset="-120"/>
              </a:rPr>
              <a:t>Ricardone fue la planta pareja: su pico fue el domingo (124 min).</a:t>
            </a:r>
            <a:endParaRPr lang="en-US" sz="1500" dirty="0"/>
          </a:p>
        </p:txBody>
      </p:sp>
      <p:sp>
        <p:nvSpPr>
          <p:cNvPr id="46" name="Shape 44"/>
          <p:cNvSpPr/>
          <p:nvPr/>
        </p:nvSpPr>
        <p:spPr>
          <a:xfrm>
            <a:off x="8096250" y="4650581"/>
            <a:ext cx="0" cy="548481"/>
          </a:xfrm>
          <a:prstGeom prst="line">
            <a:avLst/>
          </a:prstGeom>
          <a:noFill/>
          <a:ln w="38100">
            <a:solidFill>
              <a:srgbClr val="3A8F63"/>
            </a:solidFill>
            <a:prstDash val="solid"/>
          </a:ln>
        </p:spPr>
      </p:sp>
      <p:sp>
        <p:nvSpPr>
          <p:cNvPr id="47" name="Text 45"/>
          <p:cNvSpPr/>
          <p:nvPr/>
        </p:nvSpPr>
        <p:spPr>
          <a:xfrm>
            <a:off x="8242300" y="4675981"/>
            <a:ext cx="323100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Dentro de la semana, la variación se jugó otra vez en San Lorenzo.</a:t>
            </a:r>
            <a:endParaRPr lang="en-US" sz="1400" dirty="0"/>
          </a:p>
        </p:txBody>
      </p:sp>
      <p:pic>
        <p:nvPicPr>
          <p:cNvPr id="48"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49" name="Text 46"/>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9</a:t>
            </a:r>
            <a:endParaRPr lang="en-US" sz="1200" dirty="0"/>
          </a:p>
        </p:txBody>
      </p:sp>
      <p:pic>
        <p:nvPicPr>
          <p:cNvPr id="5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EC"/>
        </a:solidFill>
      </p:bgPr>
    </p:bg>
    <p:spTree>
      <p:nvGrpSpPr>
        <p:cNvPr id="1" name=""/>
        <p:cNvGrpSpPr/>
        <p:nvPr/>
      </p:nvGrpSpPr>
      <p:grpSpPr>
        <a:xfrm>
          <a:off x="0" y="0"/>
          <a:ext cx="0" cy="0"/>
          <a:chOff x="0" y="0"/>
          <a:chExt cx="0" cy="0"/>
        </a:xfrm>
      </p:grpSpPr>
      <p:sp>
        <p:nvSpPr>
          <p:cNvPr id="2" name="Text 0"/>
          <p:cNvSpPr/>
          <p:nvPr/>
        </p:nvSpPr>
        <p:spPr>
          <a:xfrm>
            <a:off x="812800" y="711200"/>
            <a:ext cx="1041400" cy="289520"/>
          </a:xfrm>
          <a:custGeom>
            <a:avLst/>
            <a:gdLst/>
            <a:ahLst/>
            <a:cxnLst/>
            <a:rect l="l" t="t" r="r" b="b"/>
            <a:pathLst>
              <a:path w="1041400" h="289520">
                <a:moveTo>
                  <a:pt x="144760" y="0"/>
                </a:moveTo>
                <a:lnTo>
                  <a:pt x="896640" y="0"/>
                </a:lnTo>
                <a:arcTo hR="144760" wR="144760" stAng="16200000" swAng="5400000"/>
                <a:lnTo>
                  <a:pt x="1041400"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SOJA · R7</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El ingreso entre cuartos sigue parejo</a:t>
            </a:r>
            <a:endParaRPr lang="en-US" sz="3200" dirty="0"/>
          </a:p>
        </p:txBody>
      </p:sp>
      <p:sp>
        <p:nvSpPr>
          <p:cNvPr id="4" name="Text 2"/>
          <p:cNvSpPr/>
          <p:nvPr/>
        </p:nvSpPr>
        <p:spPr>
          <a:xfrm>
            <a:off x="1106130" y="3244949"/>
            <a:ext cx="356711"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109</a:t>
            </a:r>
            <a:endParaRPr lang="en-US" sz="1300" dirty="0"/>
          </a:p>
        </p:txBody>
      </p:sp>
      <p:sp>
        <p:nvSpPr>
          <p:cNvPr id="5" name="Shape 3"/>
          <p:cNvSpPr/>
          <p:nvPr/>
        </p:nvSpPr>
        <p:spPr>
          <a:xfrm>
            <a:off x="979686" y="3526830"/>
            <a:ext cx="609600" cy="450850"/>
          </a:xfrm>
          <a:custGeom>
            <a:avLst/>
            <a:gdLst/>
            <a:ahLst/>
            <a:cxnLst/>
            <a:rect l="l" t="t" r="r" b="b"/>
            <a:pathLst>
              <a:path w="609600" h="450850">
                <a:moveTo>
                  <a:pt x="0" y="50800"/>
                </a:moveTo>
                <a:arcTo hR="50800" wR="50800" stAng="10800000" swAng="5400000"/>
                <a:lnTo>
                  <a:pt x="558800" y="0"/>
                </a:lnTo>
                <a:arcTo hR="50800" wR="50800" stAng="16200000" swAng="5400000"/>
                <a:lnTo>
                  <a:pt x="609600" y="450850"/>
                </a:lnTo>
                <a:lnTo>
                  <a:pt x="0" y="450850"/>
                </a:lnTo>
                <a:close/>
              </a:path>
            </a:pathLst>
          </a:custGeom>
          <a:solidFill>
            <a:srgbClr val="0B5638"/>
          </a:solidFill>
          <a:ln/>
        </p:spPr>
      </p:sp>
      <p:sp>
        <p:nvSpPr>
          <p:cNvPr id="6" name="Shape 4"/>
          <p:cNvSpPr/>
          <p:nvPr/>
        </p:nvSpPr>
        <p:spPr>
          <a:xfrm>
            <a:off x="979686" y="3977680"/>
            <a:ext cx="609600" cy="508000"/>
          </a:xfrm>
          <a:prstGeom prst="rect">
            <a:avLst/>
          </a:prstGeom>
          <a:solidFill>
            <a:srgbClr val="7B1E3A"/>
          </a:solidFill>
          <a:ln/>
        </p:spPr>
      </p:sp>
      <p:sp>
        <p:nvSpPr>
          <p:cNvPr id="7" name="Shape 5"/>
          <p:cNvSpPr/>
          <p:nvPr/>
        </p:nvSpPr>
        <p:spPr>
          <a:xfrm>
            <a:off x="979686" y="4485680"/>
            <a:ext cx="609600" cy="393700"/>
          </a:xfrm>
          <a:prstGeom prst="rect">
            <a:avLst/>
          </a:prstGeom>
          <a:solidFill>
            <a:srgbClr val="C9651A"/>
          </a:solidFill>
          <a:ln/>
        </p:spPr>
      </p:sp>
      <p:sp>
        <p:nvSpPr>
          <p:cNvPr id="8" name="Shape 6"/>
          <p:cNvSpPr/>
          <p:nvPr/>
        </p:nvSpPr>
        <p:spPr>
          <a:xfrm>
            <a:off x="979686" y="4879380"/>
            <a:ext cx="609600" cy="698500"/>
          </a:xfrm>
          <a:prstGeom prst="rect">
            <a:avLst/>
          </a:prstGeom>
          <a:solidFill>
            <a:srgbClr val="C8372D"/>
          </a:solidFill>
          <a:ln/>
        </p:spPr>
      </p:sp>
      <p:sp>
        <p:nvSpPr>
          <p:cNvPr id="9" name="Text 7"/>
          <p:cNvSpPr/>
          <p:nvPr/>
        </p:nvSpPr>
        <p:spPr>
          <a:xfrm>
            <a:off x="998498" y="5628680"/>
            <a:ext cx="5719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Jue 24</a:t>
            </a:r>
            <a:endParaRPr lang="en-US" sz="1200" dirty="0"/>
          </a:p>
        </p:txBody>
      </p:sp>
      <p:sp>
        <p:nvSpPr>
          <p:cNvPr id="10" name="Text 8"/>
          <p:cNvSpPr/>
          <p:nvPr/>
        </p:nvSpPr>
        <p:spPr>
          <a:xfrm>
            <a:off x="2100302" y="2832199"/>
            <a:ext cx="356711"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131</a:t>
            </a:r>
            <a:endParaRPr lang="en-US" sz="1300" dirty="0"/>
          </a:p>
        </p:txBody>
      </p:sp>
      <p:sp>
        <p:nvSpPr>
          <p:cNvPr id="11" name="Shape 9"/>
          <p:cNvSpPr/>
          <p:nvPr/>
        </p:nvSpPr>
        <p:spPr>
          <a:xfrm>
            <a:off x="1973858" y="3114080"/>
            <a:ext cx="609600" cy="450850"/>
          </a:xfrm>
          <a:custGeom>
            <a:avLst/>
            <a:gdLst/>
            <a:ahLst/>
            <a:cxnLst/>
            <a:rect l="l" t="t" r="r" b="b"/>
            <a:pathLst>
              <a:path w="609600" h="450850">
                <a:moveTo>
                  <a:pt x="0" y="50800"/>
                </a:moveTo>
                <a:arcTo hR="50800" wR="50800" stAng="10800000" swAng="5400000"/>
                <a:lnTo>
                  <a:pt x="558800" y="0"/>
                </a:lnTo>
                <a:arcTo hR="50800" wR="50800" stAng="16200000" swAng="5400000"/>
                <a:lnTo>
                  <a:pt x="609600" y="450850"/>
                </a:lnTo>
                <a:lnTo>
                  <a:pt x="0" y="450850"/>
                </a:lnTo>
                <a:close/>
              </a:path>
            </a:pathLst>
          </a:custGeom>
          <a:solidFill>
            <a:srgbClr val="0B5638"/>
          </a:solidFill>
          <a:ln/>
        </p:spPr>
      </p:sp>
      <p:sp>
        <p:nvSpPr>
          <p:cNvPr id="12" name="Shape 10"/>
          <p:cNvSpPr/>
          <p:nvPr/>
        </p:nvSpPr>
        <p:spPr>
          <a:xfrm>
            <a:off x="1973858" y="3564930"/>
            <a:ext cx="609600" cy="527050"/>
          </a:xfrm>
          <a:prstGeom prst="rect">
            <a:avLst/>
          </a:prstGeom>
          <a:solidFill>
            <a:srgbClr val="7B1E3A"/>
          </a:solidFill>
          <a:ln/>
        </p:spPr>
      </p:sp>
      <p:sp>
        <p:nvSpPr>
          <p:cNvPr id="13" name="Shape 11"/>
          <p:cNvSpPr/>
          <p:nvPr/>
        </p:nvSpPr>
        <p:spPr>
          <a:xfrm>
            <a:off x="1973858" y="4091980"/>
            <a:ext cx="609600" cy="584200"/>
          </a:xfrm>
          <a:prstGeom prst="rect">
            <a:avLst/>
          </a:prstGeom>
          <a:solidFill>
            <a:srgbClr val="C9651A"/>
          </a:solidFill>
          <a:ln/>
        </p:spPr>
      </p:sp>
      <p:sp>
        <p:nvSpPr>
          <p:cNvPr id="14" name="Shape 12"/>
          <p:cNvSpPr/>
          <p:nvPr/>
        </p:nvSpPr>
        <p:spPr>
          <a:xfrm>
            <a:off x="1973858" y="4676180"/>
            <a:ext cx="609600" cy="901700"/>
          </a:xfrm>
          <a:prstGeom prst="rect">
            <a:avLst/>
          </a:prstGeom>
          <a:solidFill>
            <a:srgbClr val="C8372D"/>
          </a:solidFill>
          <a:ln/>
        </p:spPr>
      </p:sp>
      <p:sp>
        <p:nvSpPr>
          <p:cNvPr id="15" name="Text 13"/>
          <p:cNvSpPr/>
          <p:nvPr/>
        </p:nvSpPr>
        <p:spPr>
          <a:xfrm>
            <a:off x="2012791" y="5628680"/>
            <a:ext cx="53173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Vie 25</a:t>
            </a:r>
            <a:endParaRPr lang="en-US" sz="1200" dirty="0"/>
          </a:p>
        </p:txBody>
      </p:sp>
      <p:sp>
        <p:nvSpPr>
          <p:cNvPr id="16" name="Text 14"/>
          <p:cNvSpPr/>
          <p:nvPr/>
        </p:nvSpPr>
        <p:spPr>
          <a:xfrm>
            <a:off x="3148409" y="3568799"/>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92</a:t>
            </a:r>
            <a:endParaRPr lang="en-US" sz="1300" dirty="0"/>
          </a:p>
        </p:txBody>
      </p:sp>
      <p:sp>
        <p:nvSpPr>
          <p:cNvPr id="17" name="Shape 15"/>
          <p:cNvSpPr/>
          <p:nvPr/>
        </p:nvSpPr>
        <p:spPr>
          <a:xfrm>
            <a:off x="2968129" y="3850680"/>
            <a:ext cx="609600" cy="171450"/>
          </a:xfrm>
          <a:custGeom>
            <a:avLst/>
            <a:gdLst/>
            <a:ahLst/>
            <a:cxnLst/>
            <a:rect l="l" t="t" r="r" b="b"/>
            <a:pathLst>
              <a:path w="609600" h="171450">
                <a:moveTo>
                  <a:pt x="0" y="50800"/>
                </a:moveTo>
                <a:arcTo hR="50800" wR="50800" stAng="10800000" swAng="5400000"/>
                <a:lnTo>
                  <a:pt x="558800" y="0"/>
                </a:lnTo>
                <a:arcTo hR="50800" wR="50800" stAng="16200000" swAng="5400000"/>
                <a:lnTo>
                  <a:pt x="609600" y="171450"/>
                </a:lnTo>
                <a:lnTo>
                  <a:pt x="0" y="171450"/>
                </a:lnTo>
                <a:close/>
              </a:path>
            </a:pathLst>
          </a:custGeom>
          <a:solidFill>
            <a:srgbClr val="0B5638"/>
          </a:solidFill>
          <a:ln/>
        </p:spPr>
      </p:sp>
      <p:sp>
        <p:nvSpPr>
          <p:cNvPr id="18" name="Shape 16"/>
          <p:cNvSpPr/>
          <p:nvPr/>
        </p:nvSpPr>
        <p:spPr>
          <a:xfrm>
            <a:off x="2968129" y="4022130"/>
            <a:ext cx="609600" cy="317500"/>
          </a:xfrm>
          <a:prstGeom prst="rect">
            <a:avLst/>
          </a:prstGeom>
          <a:solidFill>
            <a:srgbClr val="7B1E3A"/>
          </a:solidFill>
          <a:ln/>
        </p:spPr>
      </p:sp>
      <p:sp>
        <p:nvSpPr>
          <p:cNvPr id="19" name="Shape 17"/>
          <p:cNvSpPr/>
          <p:nvPr/>
        </p:nvSpPr>
        <p:spPr>
          <a:xfrm>
            <a:off x="2968129" y="4339630"/>
            <a:ext cx="609600" cy="412750"/>
          </a:xfrm>
          <a:prstGeom prst="rect">
            <a:avLst/>
          </a:prstGeom>
          <a:solidFill>
            <a:srgbClr val="C9651A"/>
          </a:solidFill>
          <a:ln/>
        </p:spPr>
      </p:sp>
      <p:sp>
        <p:nvSpPr>
          <p:cNvPr id="20" name="Shape 18"/>
          <p:cNvSpPr/>
          <p:nvPr/>
        </p:nvSpPr>
        <p:spPr>
          <a:xfrm>
            <a:off x="2968129" y="4752380"/>
            <a:ext cx="609600" cy="825500"/>
          </a:xfrm>
          <a:prstGeom prst="rect">
            <a:avLst/>
          </a:prstGeom>
          <a:solidFill>
            <a:srgbClr val="C8372D"/>
          </a:solidFill>
          <a:ln/>
        </p:spPr>
      </p:sp>
      <p:sp>
        <p:nvSpPr>
          <p:cNvPr id="21" name="Text 19"/>
          <p:cNvSpPr/>
          <p:nvPr/>
        </p:nvSpPr>
        <p:spPr>
          <a:xfrm>
            <a:off x="2979688" y="5628680"/>
            <a:ext cx="58638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Sáb 26</a:t>
            </a:r>
            <a:endParaRPr lang="en-US" sz="1200" dirty="0"/>
          </a:p>
        </p:txBody>
      </p:sp>
      <p:sp>
        <p:nvSpPr>
          <p:cNvPr id="22" name="Text 20"/>
          <p:cNvSpPr/>
          <p:nvPr/>
        </p:nvSpPr>
        <p:spPr>
          <a:xfrm>
            <a:off x="4088745" y="3283049"/>
            <a:ext cx="356711"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107</a:t>
            </a:r>
            <a:endParaRPr lang="en-US" sz="1300" dirty="0"/>
          </a:p>
        </p:txBody>
      </p:sp>
      <p:sp>
        <p:nvSpPr>
          <p:cNvPr id="23" name="Shape 21"/>
          <p:cNvSpPr/>
          <p:nvPr/>
        </p:nvSpPr>
        <p:spPr>
          <a:xfrm>
            <a:off x="3962301" y="3564930"/>
            <a:ext cx="609600" cy="546100"/>
          </a:xfrm>
          <a:custGeom>
            <a:avLst/>
            <a:gdLst/>
            <a:ahLst/>
            <a:cxnLst/>
            <a:rect l="l" t="t" r="r" b="b"/>
            <a:pathLst>
              <a:path w="609600" h="546100">
                <a:moveTo>
                  <a:pt x="0" y="50800"/>
                </a:moveTo>
                <a:arcTo hR="50800" wR="50800" stAng="10800000" swAng="5400000"/>
                <a:lnTo>
                  <a:pt x="558800" y="0"/>
                </a:lnTo>
                <a:arcTo hR="50800" wR="50800" stAng="16200000" swAng="5400000"/>
                <a:lnTo>
                  <a:pt x="609600" y="546100"/>
                </a:lnTo>
                <a:lnTo>
                  <a:pt x="0" y="546100"/>
                </a:lnTo>
                <a:close/>
              </a:path>
            </a:pathLst>
          </a:custGeom>
          <a:solidFill>
            <a:srgbClr val="0B5638"/>
          </a:solidFill>
          <a:ln/>
        </p:spPr>
      </p:sp>
      <p:sp>
        <p:nvSpPr>
          <p:cNvPr id="24" name="Shape 22"/>
          <p:cNvSpPr/>
          <p:nvPr/>
        </p:nvSpPr>
        <p:spPr>
          <a:xfrm>
            <a:off x="3962301" y="4111030"/>
            <a:ext cx="609600" cy="508000"/>
          </a:xfrm>
          <a:prstGeom prst="rect">
            <a:avLst/>
          </a:prstGeom>
          <a:solidFill>
            <a:srgbClr val="7B1E3A"/>
          </a:solidFill>
          <a:ln/>
        </p:spPr>
      </p:sp>
      <p:sp>
        <p:nvSpPr>
          <p:cNvPr id="25" name="Shape 23"/>
          <p:cNvSpPr/>
          <p:nvPr/>
        </p:nvSpPr>
        <p:spPr>
          <a:xfrm>
            <a:off x="3962301" y="4619030"/>
            <a:ext cx="609600" cy="95250"/>
          </a:xfrm>
          <a:prstGeom prst="rect">
            <a:avLst/>
          </a:prstGeom>
          <a:solidFill>
            <a:srgbClr val="C9651A"/>
          </a:solidFill>
          <a:ln/>
        </p:spPr>
      </p:sp>
      <p:sp>
        <p:nvSpPr>
          <p:cNvPr id="26" name="Shape 24"/>
          <p:cNvSpPr/>
          <p:nvPr/>
        </p:nvSpPr>
        <p:spPr>
          <a:xfrm>
            <a:off x="3962301" y="4714280"/>
            <a:ext cx="609600" cy="863600"/>
          </a:xfrm>
          <a:prstGeom prst="rect">
            <a:avLst/>
          </a:prstGeom>
          <a:solidFill>
            <a:srgbClr val="C8372D"/>
          </a:solidFill>
          <a:ln/>
        </p:spPr>
      </p:sp>
      <p:sp>
        <p:nvSpPr>
          <p:cNvPr id="27" name="Text 25"/>
          <p:cNvSpPr/>
          <p:nvPr/>
        </p:nvSpPr>
        <p:spPr>
          <a:xfrm>
            <a:off x="3940145" y="5628680"/>
            <a:ext cx="6540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Dom 27</a:t>
            </a:r>
            <a:endParaRPr lang="en-US" sz="1200" dirty="0"/>
          </a:p>
        </p:txBody>
      </p:sp>
      <p:sp>
        <p:nvSpPr>
          <p:cNvPr id="28" name="Text 26"/>
          <p:cNvSpPr/>
          <p:nvPr/>
        </p:nvSpPr>
        <p:spPr>
          <a:xfrm>
            <a:off x="5083016" y="2755999"/>
            <a:ext cx="356711"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135</a:t>
            </a:r>
            <a:endParaRPr lang="en-US" sz="1300" dirty="0"/>
          </a:p>
        </p:txBody>
      </p:sp>
      <p:sp>
        <p:nvSpPr>
          <p:cNvPr id="29" name="Shape 27"/>
          <p:cNvSpPr/>
          <p:nvPr/>
        </p:nvSpPr>
        <p:spPr>
          <a:xfrm>
            <a:off x="4956572" y="3037880"/>
            <a:ext cx="609600" cy="622300"/>
          </a:xfrm>
          <a:custGeom>
            <a:avLst/>
            <a:gdLst/>
            <a:ahLst/>
            <a:cxnLst/>
            <a:rect l="l" t="t" r="r" b="b"/>
            <a:pathLst>
              <a:path w="609600" h="622300">
                <a:moveTo>
                  <a:pt x="0" y="50800"/>
                </a:moveTo>
                <a:arcTo hR="50800" wR="50800" stAng="10800000" swAng="5400000"/>
                <a:lnTo>
                  <a:pt x="558800" y="0"/>
                </a:lnTo>
                <a:arcTo hR="50800" wR="50800" stAng="16200000" swAng="5400000"/>
                <a:lnTo>
                  <a:pt x="609600" y="622300"/>
                </a:lnTo>
                <a:lnTo>
                  <a:pt x="0" y="622300"/>
                </a:lnTo>
                <a:close/>
              </a:path>
            </a:pathLst>
          </a:custGeom>
          <a:solidFill>
            <a:srgbClr val="0B5638"/>
          </a:solidFill>
          <a:ln/>
        </p:spPr>
      </p:sp>
      <p:sp>
        <p:nvSpPr>
          <p:cNvPr id="30" name="Shape 28"/>
          <p:cNvSpPr/>
          <p:nvPr/>
        </p:nvSpPr>
        <p:spPr>
          <a:xfrm>
            <a:off x="4956572" y="3660180"/>
            <a:ext cx="609600" cy="603250"/>
          </a:xfrm>
          <a:prstGeom prst="rect">
            <a:avLst/>
          </a:prstGeom>
          <a:solidFill>
            <a:srgbClr val="7B1E3A"/>
          </a:solidFill>
          <a:ln/>
        </p:spPr>
      </p:sp>
      <p:sp>
        <p:nvSpPr>
          <p:cNvPr id="31" name="Shape 29"/>
          <p:cNvSpPr/>
          <p:nvPr/>
        </p:nvSpPr>
        <p:spPr>
          <a:xfrm>
            <a:off x="4956572" y="4263430"/>
            <a:ext cx="609600" cy="825500"/>
          </a:xfrm>
          <a:prstGeom prst="rect">
            <a:avLst/>
          </a:prstGeom>
          <a:solidFill>
            <a:srgbClr val="C9651A"/>
          </a:solidFill>
          <a:ln/>
        </p:spPr>
      </p:sp>
      <p:sp>
        <p:nvSpPr>
          <p:cNvPr id="32" name="Shape 30"/>
          <p:cNvSpPr/>
          <p:nvPr/>
        </p:nvSpPr>
        <p:spPr>
          <a:xfrm>
            <a:off x="4956572" y="5088930"/>
            <a:ext cx="609600" cy="488950"/>
          </a:xfrm>
          <a:prstGeom prst="rect">
            <a:avLst/>
          </a:prstGeom>
          <a:solidFill>
            <a:srgbClr val="C8372D"/>
          </a:solidFill>
          <a:ln/>
        </p:spPr>
      </p:sp>
      <p:sp>
        <p:nvSpPr>
          <p:cNvPr id="33" name="Text 31"/>
          <p:cNvSpPr/>
          <p:nvPr/>
        </p:nvSpPr>
        <p:spPr>
          <a:xfrm>
            <a:off x="4975394" y="5628680"/>
            <a:ext cx="57185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Lun 28</a:t>
            </a:r>
            <a:endParaRPr lang="en-US" sz="1200" dirty="0"/>
          </a:p>
        </p:txBody>
      </p:sp>
      <p:sp>
        <p:nvSpPr>
          <p:cNvPr id="34" name="Text 32"/>
          <p:cNvSpPr/>
          <p:nvPr/>
        </p:nvSpPr>
        <p:spPr>
          <a:xfrm>
            <a:off x="6131123" y="3486249"/>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96</a:t>
            </a:r>
            <a:endParaRPr lang="en-US" sz="1300" dirty="0"/>
          </a:p>
        </p:txBody>
      </p:sp>
      <p:sp>
        <p:nvSpPr>
          <p:cNvPr id="35" name="Shape 33"/>
          <p:cNvSpPr/>
          <p:nvPr/>
        </p:nvSpPr>
        <p:spPr>
          <a:xfrm>
            <a:off x="5950744" y="3768130"/>
            <a:ext cx="609600" cy="755650"/>
          </a:xfrm>
          <a:custGeom>
            <a:avLst/>
            <a:gdLst/>
            <a:ahLst/>
            <a:cxnLst/>
            <a:rect l="l" t="t" r="r" b="b"/>
            <a:pathLst>
              <a:path w="609600" h="755650">
                <a:moveTo>
                  <a:pt x="0" y="50800"/>
                </a:moveTo>
                <a:arcTo hR="50800" wR="50800" stAng="10800000" swAng="5400000"/>
                <a:lnTo>
                  <a:pt x="558800" y="0"/>
                </a:lnTo>
                <a:arcTo hR="50800" wR="50800" stAng="16200000" swAng="5400000"/>
                <a:lnTo>
                  <a:pt x="609600" y="755650"/>
                </a:lnTo>
                <a:lnTo>
                  <a:pt x="0" y="755650"/>
                </a:lnTo>
                <a:close/>
              </a:path>
            </a:pathLst>
          </a:custGeom>
          <a:solidFill>
            <a:srgbClr val="0B5638"/>
          </a:solidFill>
          <a:ln/>
        </p:spPr>
      </p:sp>
      <p:sp>
        <p:nvSpPr>
          <p:cNvPr id="36" name="Shape 34"/>
          <p:cNvSpPr/>
          <p:nvPr/>
        </p:nvSpPr>
        <p:spPr>
          <a:xfrm>
            <a:off x="5950744" y="4523780"/>
            <a:ext cx="609600" cy="431800"/>
          </a:xfrm>
          <a:prstGeom prst="rect">
            <a:avLst/>
          </a:prstGeom>
          <a:solidFill>
            <a:srgbClr val="7B1E3A"/>
          </a:solidFill>
          <a:ln/>
        </p:spPr>
      </p:sp>
      <p:sp>
        <p:nvSpPr>
          <p:cNvPr id="37" name="Shape 35"/>
          <p:cNvSpPr/>
          <p:nvPr/>
        </p:nvSpPr>
        <p:spPr>
          <a:xfrm>
            <a:off x="5950744" y="4955580"/>
            <a:ext cx="609600" cy="209550"/>
          </a:xfrm>
          <a:prstGeom prst="rect">
            <a:avLst/>
          </a:prstGeom>
          <a:solidFill>
            <a:srgbClr val="C9651A"/>
          </a:solidFill>
          <a:ln/>
        </p:spPr>
      </p:sp>
      <p:sp>
        <p:nvSpPr>
          <p:cNvPr id="38" name="Shape 36"/>
          <p:cNvSpPr/>
          <p:nvPr/>
        </p:nvSpPr>
        <p:spPr>
          <a:xfrm>
            <a:off x="5950744" y="5165130"/>
            <a:ext cx="609600" cy="412750"/>
          </a:xfrm>
          <a:prstGeom prst="rect">
            <a:avLst/>
          </a:prstGeom>
          <a:solidFill>
            <a:srgbClr val="C8372D"/>
          </a:solidFill>
          <a:ln/>
        </p:spPr>
      </p:sp>
      <p:sp>
        <p:nvSpPr>
          <p:cNvPr id="39" name="Text 37"/>
          <p:cNvSpPr/>
          <p:nvPr/>
        </p:nvSpPr>
        <p:spPr>
          <a:xfrm>
            <a:off x="5962521" y="5628680"/>
            <a:ext cx="58614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Mar 29</a:t>
            </a:r>
            <a:endParaRPr lang="en-US" sz="1200" dirty="0"/>
          </a:p>
        </p:txBody>
      </p:sp>
      <p:sp>
        <p:nvSpPr>
          <p:cNvPr id="40" name="Text 38"/>
          <p:cNvSpPr/>
          <p:nvPr/>
        </p:nvSpPr>
        <p:spPr>
          <a:xfrm>
            <a:off x="7071459" y="3416399"/>
            <a:ext cx="356711"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100</a:t>
            </a:r>
            <a:endParaRPr lang="en-US" sz="1300" dirty="0"/>
          </a:p>
        </p:txBody>
      </p:sp>
      <p:sp>
        <p:nvSpPr>
          <p:cNvPr id="41" name="Shape 39"/>
          <p:cNvSpPr/>
          <p:nvPr/>
        </p:nvSpPr>
        <p:spPr>
          <a:xfrm>
            <a:off x="6945015" y="3698280"/>
            <a:ext cx="609600" cy="317500"/>
          </a:xfrm>
          <a:custGeom>
            <a:avLst/>
            <a:gdLst/>
            <a:ahLst/>
            <a:cxnLst/>
            <a:rect l="l" t="t" r="r" b="b"/>
            <a:pathLst>
              <a:path w="609600" h="317500">
                <a:moveTo>
                  <a:pt x="0" y="50800"/>
                </a:moveTo>
                <a:arcTo hR="50800" wR="50800" stAng="10800000" swAng="5400000"/>
                <a:lnTo>
                  <a:pt x="558800" y="0"/>
                </a:lnTo>
                <a:arcTo hR="50800" wR="50800" stAng="16200000" swAng="5400000"/>
                <a:lnTo>
                  <a:pt x="609600" y="317500"/>
                </a:lnTo>
                <a:lnTo>
                  <a:pt x="0" y="317500"/>
                </a:lnTo>
                <a:close/>
              </a:path>
            </a:pathLst>
          </a:custGeom>
          <a:solidFill>
            <a:srgbClr val="0B5638"/>
          </a:solidFill>
          <a:ln/>
        </p:spPr>
      </p:sp>
      <p:sp>
        <p:nvSpPr>
          <p:cNvPr id="42" name="Shape 40"/>
          <p:cNvSpPr/>
          <p:nvPr/>
        </p:nvSpPr>
        <p:spPr>
          <a:xfrm>
            <a:off x="6945015" y="4015780"/>
            <a:ext cx="609600" cy="488950"/>
          </a:xfrm>
          <a:prstGeom prst="rect">
            <a:avLst/>
          </a:prstGeom>
          <a:solidFill>
            <a:srgbClr val="7B1E3A"/>
          </a:solidFill>
          <a:ln/>
        </p:spPr>
      </p:sp>
      <p:sp>
        <p:nvSpPr>
          <p:cNvPr id="43" name="Shape 41"/>
          <p:cNvSpPr/>
          <p:nvPr/>
        </p:nvSpPr>
        <p:spPr>
          <a:xfrm>
            <a:off x="6945015" y="4504730"/>
            <a:ext cx="609600" cy="393700"/>
          </a:xfrm>
          <a:prstGeom prst="rect">
            <a:avLst/>
          </a:prstGeom>
          <a:solidFill>
            <a:srgbClr val="C9651A"/>
          </a:solidFill>
          <a:ln/>
        </p:spPr>
      </p:sp>
      <p:sp>
        <p:nvSpPr>
          <p:cNvPr id="44" name="Shape 42"/>
          <p:cNvSpPr/>
          <p:nvPr/>
        </p:nvSpPr>
        <p:spPr>
          <a:xfrm>
            <a:off x="6945015" y="4898430"/>
            <a:ext cx="609600" cy="679450"/>
          </a:xfrm>
          <a:prstGeom prst="rect">
            <a:avLst/>
          </a:prstGeom>
          <a:solidFill>
            <a:srgbClr val="C8372D"/>
          </a:solidFill>
          <a:ln/>
        </p:spPr>
      </p:sp>
      <p:sp>
        <p:nvSpPr>
          <p:cNvPr id="45" name="Text 43"/>
          <p:cNvSpPr/>
          <p:nvPr/>
        </p:nvSpPr>
        <p:spPr>
          <a:xfrm>
            <a:off x="6967627" y="5628680"/>
            <a:ext cx="5644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Mié 30</a:t>
            </a:r>
            <a:endParaRPr lang="en-US" sz="1200" dirty="0"/>
          </a:p>
        </p:txBody>
      </p:sp>
      <p:sp>
        <p:nvSpPr>
          <p:cNvPr id="46" name="Shape 44"/>
          <p:cNvSpPr/>
          <p:nvPr/>
        </p:nvSpPr>
        <p:spPr>
          <a:xfrm>
            <a:off x="8080375" y="1806476"/>
            <a:ext cx="3295650" cy="565150"/>
          </a:xfrm>
          <a:prstGeom prst="roundRect">
            <a:avLst>
              <a:gd name="adj" fmla="val 12921"/>
            </a:avLst>
          </a:prstGeom>
          <a:solidFill>
            <a:srgbClr val="FCFDFB"/>
          </a:solidFill>
          <a:ln w="6350">
            <a:solidFill>
              <a:srgbClr val="D3E2D7"/>
            </a:solidFill>
            <a:prstDash val="solid"/>
          </a:ln>
        </p:spPr>
      </p:sp>
      <p:sp>
        <p:nvSpPr>
          <p:cNvPr id="47" name="Text 45"/>
          <p:cNvSpPr/>
          <p:nvPr/>
        </p:nvSpPr>
        <p:spPr>
          <a:xfrm>
            <a:off x="8235950" y="1964630"/>
            <a:ext cx="1447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Q1 · 22–04 h</a:t>
            </a:r>
            <a:endParaRPr lang="en-US" sz="1400" dirty="0"/>
          </a:p>
        </p:txBody>
      </p:sp>
      <p:sp>
        <p:nvSpPr>
          <p:cNvPr id="48" name="Text 46"/>
          <p:cNvSpPr/>
          <p:nvPr/>
        </p:nvSpPr>
        <p:spPr>
          <a:xfrm>
            <a:off x="9734550" y="1911251"/>
            <a:ext cx="71020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372D"/>
                </a:solidFill>
                <a:latin typeface="IBM Plex Sans" pitchFamily="34" charset="0"/>
                <a:ea typeface="IBM Plex Sans" pitchFamily="34" charset="-122"/>
                <a:cs typeface="IBM Plex Sans" pitchFamily="34" charset="-120"/>
              </a:rPr>
              <a:t>34 %</a:t>
            </a:r>
            <a:endParaRPr lang="en-US" sz="2000" dirty="0"/>
          </a:p>
        </p:txBody>
      </p:sp>
      <p:sp>
        <p:nvSpPr>
          <p:cNvPr id="49" name="Text 47"/>
          <p:cNvSpPr/>
          <p:nvPr/>
        </p:nvSpPr>
        <p:spPr>
          <a:xfrm>
            <a:off x="10444758" y="1982391"/>
            <a:ext cx="32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259</a:t>
            </a:r>
            <a:endParaRPr lang="en-US" sz="1200" dirty="0"/>
          </a:p>
        </p:txBody>
      </p:sp>
      <p:sp>
        <p:nvSpPr>
          <p:cNvPr id="50" name="Shape 48"/>
          <p:cNvSpPr/>
          <p:nvPr/>
        </p:nvSpPr>
        <p:spPr>
          <a:xfrm>
            <a:off x="8080375" y="2504976"/>
            <a:ext cx="3295650" cy="565150"/>
          </a:xfrm>
          <a:prstGeom prst="roundRect">
            <a:avLst>
              <a:gd name="adj" fmla="val 12921"/>
            </a:avLst>
          </a:prstGeom>
          <a:solidFill>
            <a:srgbClr val="FCFDFB"/>
          </a:solidFill>
          <a:ln w="6350">
            <a:solidFill>
              <a:srgbClr val="D3E2D7"/>
            </a:solidFill>
            <a:prstDash val="solid"/>
          </a:ln>
        </p:spPr>
      </p:sp>
      <p:sp>
        <p:nvSpPr>
          <p:cNvPr id="51" name="Text 49"/>
          <p:cNvSpPr/>
          <p:nvPr/>
        </p:nvSpPr>
        <p:spPr>
          <a:xfrm>
            <a:off x="8235950" y="2663130"/>
            <a:ext cx="1447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Q2 · 04–10 h</a:t>
            </a:r>
            <a:endParaRPr lang="en-US" sz="1400" dirty="0"/>
          </a:p>
        </p:txBody>
      </p:sp>
      <p:sp>
        <p:nvSpPr>
          <p:cNvPr id="52" name="Text 50"/>
          <p:cNvSpPr/>
          <p:nvPr/>
        </p:nvSpPr>
        <p:spPr>
          <a:xfrm>
            <a:off x="9734550" y="2609751"/>
            <a:ext cx="71020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9651A"/>
                </a:solidFill>
                <a:latin typeface="IBM Plex Sans" pitchFamily="34" charset="0"/>
                <a:ea typeface="IBM Plex Sans" pitchFamily="34" charset="-122"/>
                <a:cs typeface="IBM Plex Sans" pitchFamily="34" charset="-120"/>
              </a:rPr>
              <a:t>20 %</a:t>
            </a:r>
            <a:endParaRPr lang="en-US" sz="2000" dirty="0"/>
          </a:p>
        </p:txBody>
      </p:sp>
      <p:sp>
        <p:nvSpPr>
          <p:cNvPr id="53" name="Text 51"/>
          <p:cNvSpPr/>
          <p:nvPr/>
        </p:nvSpPr>
        <p:spPr>
          <a:xfrm>
            <a:off x="10444758" y="2680891"/>
            <a:ext cx="32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155</a:t>
            </a:r>
            <a:endParaRPr lang="en-US" sz="1200" dirty="0"/>
          </a:p>
        </p:txBody>
      </p:sp>
      <p:sp>
        <p:nvSpPr>
          <p:cNvPr id="54" name="Shape 52"/>
          <p:cNvSpPr/>
          <p:nvPr/>
        </p:nvSpPr>
        <p:spPr>
          <a:xfrm>
            <a:off x="8080375" y="3203476"/>
            <a:ext cx="3295650" cy="565150"/>
          </a:xfrm>
          <a:prstGeom prst="roundRect">
            <a:avLst>
              <a:gd name="adj" fmla="val 12921"/>
            </a:avLst>
          </a:prstGeom>
          <a:solidFill>
            <a:srgbClr val="FCFDFB"/>
          </a:solidFill>
          <a:ln w="6350">
            <a:solidFill>
              <a:srgbClr val="D3E2D7"/>
            </a:solidFill>
            <a:prstDash val="solid"/>
          </a:ln>
        </p:spPr>
      </p:sp>
      <p:sp>
        <p:nvSpPr>
          <p:cNvPr id="55" name="Text 53"/>
          <p:cNvSpPr/>
          <p:nvPr/>
        </p:nvSpPr>
        <p:spPr>
          <a:xfrm>
            <a:off x="8235950" y="3361630"/>
            <a:ext cx="1447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Q3 · 10–16 h</a:t>
            </a:r>
            <a:endParaRPr lang="en-US" sz="1400" dirty="0"/>
          </a:p>
        </p:txBody>
      </p:sp>
      <p:sp>
        <p:nvSpPr>
          <p:cNvPr id="56" name="Text 54"/>
          <p:cNvSpPr/>
          <p:nvPr/>
        </p:nvSpPr>
        <p:spPr>
          <a:xfrm>
            <a:off x="9734550" y="3308251"/>
            <a:ext cx="71020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7B1E3A"/>
                </a:solidFill>
                <a:latin typeface="IBM Plex Sans" pitchFamily="34" charset="0"/>
                <a:ea typeface="IBM Plex Sans" pitchFamily="34" charset="-122"/>
                <a:cs typeface="IBM Plex Sans" pitchFamily="34" charset="-120"/>
              </a:rPr>
              <a:t>23 %</a:t>
            </a:r>
            <a:endParaRPr lang="en-US" sz="2000" dirty="0"/>
          </a:p>
        </p:txBody>
      </p:sp>
      <p:sp>
        <p:nvSpPr>
          <p:cNvPr id="57" name="Text 55"/>
          <p:cNvSpPr/>
          <p:nvPr/>
        </p:nvSpPr>
        <p:spPr>
          <a:xfrm>
            <a:off x="10444758" y="3379391"/>
            <a:ext cx="32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180</a:t>
            </a:r>
            <a:endParaRPr lang="en-US" sz="1200" dirty="0"/>
          </a:p>
        </p:txBody>
      </p:sp>
      <p:sp>
        <p:nvSpPr>
          <p:cNvPr id="58" name="Shape 56"/>
          <p:cNvSpPr/>
          <p:nvPr/>
        </p:nvSpPr>
        <p:spPr>
          <a:xfrm>
            <a:off x="8080375" y="3901976"/>
            <a:ext cx="3295650" cy="565150"/>
          </a:xfrm>
          <a:prstGeom prst="roundRect">
            <a:avLst>
              <a:gd name="adj" fmla="val 12921"/>
            </a:avLst>
          </a:prstGeom>
          <a:solidFill>
            <a:srgbClr val="FCFDFB"/>
          </a:solidFill>
          <a:ln w="6350">
            <a:solidFill>
              <a:srgbClr val="D3E2D7"/>
            </a:solidFill>
            <a:prstDash val="solid"/>
          </a:ln>
        </p:spPr>
      </p:sp>
      <p:sp>
        <p:nvSpPr>
          <p:cNvPr id="59" name="Text 57"/>
          <p:cNvSpPr/>
          <p:nvPr/>
        </p:nvSpPr>
        <p:spPr>
          <a:xfrm>
            <a:off x="8235950" y="4060130"/>
            <a:ext cx="1447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Q4 · 16–22 h</a:t>
            </a:r>
            <a:endParaRPr lang="en-US" sz="1400" dirty="0"/>
          </a:p>
        </p:txBody>
      </p:sp>
      <p:sp>
        <p:nvSpPr>
          <p:cNvPr id="60" name="Text 58"/>
          <p:cNvSpPr/>
          <p:nvPr/>
        </p:nvSpPr>
        <p:spPr>
          <a:xfrm>
            <a:off x="9734550" y="4006751"/>
            <a:ext cx="71020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5638"/>
                </a:solidFill>
                <a:latin typeface="IBM Plex Sans" pitchFamily="34" charset="0"/>
                <a:ea typeface="IBM Plex Sans" pitchFamily="34" charset="-122"/>
                <a:cs typeface="IBM Plex Sans" pitchFamily="34" charset="-120"/>
              </a:rPr>
              <a:t>23 %</a:t>
            </a:r>
            <a:endParaRPr lang="en-US" sz="2000" dirty="0"/>
          </a:p>
        </p:txBody>
      </p:sp>
      <p:sp>
        <p:nvSpPr>
          <p:cNvPr id="61" name="Text 59"/>
          <p:cNvSpPr/>
          <p:nvPr/>
        </p:nvSpPr>
        <p:spPr>
          <a:xfrm>
            <a:off x="10444758" y="4077891"/>
            <a:ext cx="32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176</a:t>
            </a:r>
            <a:endParaRPr lang="en-US" sz="1200" dirty="0"/>
          </a:p>
        </p:txBody>
      </p:sp>
      <p:sp>
        <p:nvSpPr>
          <p:cNvPr id="62" name="Shape 60"/>
          <p:cNvSpPr/>
          <p:nvPr/>
        </p:nvSpPr>
        <p:spPr>
          <a:xfrm>
            <a:off x="8096250" y="4597301"/>
            <a:ext cx="0" cy="975122"/>
          </a:xfrm>
          <a:prstGeom prst="line">
            <a:avLst/>
          </a:prstGeom>
          <a:noFill/>
          <a:ln w="38100">
            <a:solidFill>
              <a:srgbClr val="3A8F63"/>
            </a:solidFill>
            <a:prstDash val="solid"/>
          </a:ln>
        </p:spPr>
      </p:sp>
      <p:sp>
        <p:nvSpPr>
          <p:cNvPr id="63" name="Text 61"/>
          <p:cNvSpPr/>
          <p:nvPr/>
        </p:nvSpPr>
        <p:spPr>
          <a:xfrm>
            <a:off x="8242300" y="4622701"/>
            <a:ext cx="3231007" cy="94972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La noche (Q1) sigue siendo el cuarto más cargado (34 %, la semana anterior 36 %); los otros tres quedaron entre 20 y 23 %.</a:t>
            </a:r>
            <a:endParaRPr lang="en-US" sz="1300" dirty="0"/>
          </a:p>
        </p:txBody>
      </p:sp>
      <p:pic>
        <p:nvPicPr>
          <p:cNvPr id="64"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65" name="Text 62"/>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10</a:t>
            </a:r>
            <a:endParaRPr lang="en-US" sz="1200" dirty="0"/>
          </a:p>
        </p:txBody>
      </p:sp>
      <p:pic>
        <p:nvPicPr>
          <p:cNvPr id="6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041400" cy="289520"/>
          </a:xfrm>
          <a:custGeom>
            <a:avLst/>
            <a:gdLst/>
            <a:ahLst/>
            <a:cxnLst/>
            <a:rect l="l" t="t" r="r" b="b"/>
            <a:pathLst>
              <a:path w="1041400" h="289520">
                <a:moveTo>
                  <a:pt x="144760" y="0"/>
                </a:moveTo>
                <a:lnTo>
                  <a:pt x="896640" y="0"/>
                </a:lnTo>
                <a:arcTo hR="144760" wR="144760" stAng="16200000" swAng="5400000"/>
                <a:lnTo>
                  <a:pt x="1041400"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SOJA · R7</a:t>
            </a:r>
            <a:endParaRPr lang="en-US" sz="1200" dirty="0"/>
          </a:p>
        </p:txBody>
      </p:sp>
      <p:sp>
        <p:nvSpPr>
          <p:cNvPr id="3" name="Text 1"/>
          <p:cNvSpPr/>
          <p:nvPr>
            <p:ph type="title"/>
          </p:nvPr>
        </p:nvSpPr>
        <p:spPr>
          <a:xfrm>
            <a:off x="812800" y="1102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Dónde queda la semana: el tiempo más bajo desde junio</a:t>
            </a:r>
            <a:endParaRPr lang="en-US" sz="3200" dirty="0"/>
          </a:p>
        </p:txBody>
      </p:sp>
      <p:sp>
        <p:nvSpPr>
          <p:cNvPr id="4" name="Shape 2"/>
          <p:cNvSpPr/>
          <p:nvPr/>
        </p:nvSpPr>
        <p:spPr>
          <a:xfrm>
            <a:off x="812800" y="2166441"/>
            <a:ext cx="177800" cy="177800"/>
          </a:xfrm>
          <a:prstGeom prst="roundRect">
            <a:avLst>
              <a:gd name="adj" fmla="val 21429"/>
            </a:avLst>
          </a:prstGeom>
          <a:solidFill>
            <a:srgbClr val="0B5638"/>
          </a:solidFill>
          <a:ln/>
        </p:spPr>
      </p:sp>
      <p:sp>
        <p:nvSpPr>
          <p:cNvPr id="5" name="Text 3"/>
          <p:cNvSpPr/>
          <p:nvPr/>
        </p:nvSpPr>
        <p:spPr>
          <a:xfrm>
            <a:off x="1066800" y="2148681"/>
            <a:ext cx="393922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Tiempo puerta a puerta (min) · rótulo = fecha del comité</a:t>
            </a:r>
            <a:endParaRPr lang="en-US" sz="1200" dirty="0"/>
          </a:p>
        </p:txBody>
      </p:sp>
      <p:sp>
        <p:nvSpPr>
          <p:cNvPr id="6" name="Shape 4"/>
          <p:cNvSpPr/>
          <p:nvPr/>
        </p:nvSpPr>
        <p:spPr>
          <a:xfrm>
            <a:off x="4967486" y="2166441"/>
            <a:ext cx="177800" cy="177800"/>
          </a:xfrm>
          <a:prstGeom prst="roundRect">
            <a:avLst>
              <a:gd name="adj" fmla="val 21429"/>
            </a:avLst>
          </a:prstGeom>
          <a:solidFill>
            <a:srgbClr val="4A5D52"/>
          </a:solidFill>
          <a:ln/>
        </p:spPr>
      </p:sp>
      <p:sp>
        <p:nvSpPr>
          <p:cNvPr id="7" name="Text 5"/>
          <p:cNvSpPr/>
          <p:nvPr/>
        </p:nvSpPr>
        <p:spPr>
          <a:xfrm>
            <a:off x="5221486" y="2148681"/>
            <a:ext cx="180568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Promedio de la serie: 344</a:t>
            </a:r>
            <a:endParaRPr lang="en-US" sz="1200" dirty="0"/>
          </a:p>
        </p:txBody>
      </p:sp>
      <p:pic>
        <p:nvPicPr>
          <p:cNvPr id="8" name="Image 0" descr="Serie semanal 17/06 a 02/10">    </p:cNvPr>
          <p:cNvPicPr>
            <a:picLocks noChangeAspect="1"/>
          </p:cNvPicPr>
          <p:nvPr/>
        </p:nvPicPr>
        <p:blipFill>
          <a:blip r:embed="rId1"/>
          <a:srcRect l="0" r="0" t="-27" b="-27"/>
          <a:stretch/>
        </p:blipFill>
        <p:spPr>
          <a:xfrm>
            <a:off x="939800" y="2286000"/>
            <a:ext cx="6604000" cy="2794000"/>
          </a:xfrm>
          <a:prstGeom prst="rect">
            <a:avLst/>
          </a:prstGeom>
        </p:spPr>
      </p:pic>
      <p:sp>
        <p:nvSpPr>
          <p:cNvPr id="9" name="Text 6"/>
          <p:cNvSpPr/>
          <p:nvPr/>
        </p:nvSpPr>
        <p:spPr>
          <a:xfrm>
            <a:off x="787400" y="35052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338</a:t>
            </a:r>
            <a:endParaRPr lang="en-US" sz="1200" dirty="0"/>
          </a:p>
        </p:txBody>
      </p:sp>
      <p:sp>
        <p:nvSpPr>
          <p:cNvPr id="10" name="Text 7"/>
          <p:cNvSpPr/>
          <p:nvPr/>
        </p:nvSpPr>
        <p:spPr>
          <a:xfrm>
            <a:off x="7874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17/6</a:t>
            </a:r>
            <a:endParaRPr lang="en-US" sz="1200" dirty="0"/>
          </a:p>
        </p:txBody>
      </p:sp>
      <p:sp>
        <p:nvSpPr>
          <p:cNvPr id="11" name="Text 8"/>
          <p:cNvSpPr/>
          <p:nvPr/>
        </p:nvSpPr>
        <p:spPr>
          <a:xfrm>
            <a:off x="1238250" y="37401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316</a:t>
            </a:r>
            <a:endParaRPr lang="en-US" sz="1200" dirty="0"/>
          </a:p>
        </p:txBody>
      </p:sp>
      <p:sp>
        <p:nvSpPr>
          <p:cNvPr id="12" name="Text 9"/>
          <p:cNvSpPr/>
          <p:nvPr/>
        </p:nvSpPr>
        <p:spPr>
          <a:xfrm>
            <a:off x="12382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24/6</a:t>
            </a:r>
            <a:endParaRPr lang="en-US" sz="1200" dirty="0"/>
          </a:p>
        </p:txBody>
      </p:sp>
      <p:sp>
        <p:nvSpPr>
          <p:cNvPr id="13" name="Text 10"/>
          <p:cNvSpPr/>
          <p:nvPr/>
        </p:nvSpPr>
        <p:spPr>
          <a:xfrm>
            <a:off x="1695450" y="30289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383</a:t>
            </a:r>
            <a:endParaRPr lang="en-US" sz="1200" dirty="0"/>
          </a:p>
        </p:txBody>
      </p:sp>
      <p:sp>
        <p:nvSpPr>
          <p:cNvPr id="14" name="Text 11"/>
          <p:cNvSpPr/>
          <p:nvPr/>
        </p:nvSpPr>
        <p:spPr>
          <a:xfrm>
            <a:off x="16954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8/7</a:t>
            </a:r>
            <a:endParaRPr lang="en-US" sz="1200" dirty="0"/>
          </a:p>
        </p:txBody>
      </p:sp>
      <p:sp>
        <p:nvSpPr>
          <p:cNvPr id="15" name="Text 12"/>
          <p:cNvSpPr/>
          <p:nvPr/>
        </p:nvSpPr>
        <p:spPr>
          <a:xfrm>
            <a:off x="2146300" y="38671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304</a:t>
            </a:r>
            <a:endParaRPr lang="en-US" sz="1200" dirty="0"/>
          </a:p>
        </p:txBody>
      </p:sp>
      <p:sp>
        <p:nvSpPr>
          <p:cNvPr id="16" name="Text 13"/>
          <p:cNvSpPr/>
          <p:nvPr/>
        </p:nvSpPr>
        <p:spPr>
          <a:xfrm>
            <a:off x="21463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15/7</a:t>
            </a:r>
            <a:endParaRPr lang="en-US" sz="1200" dirty="0"/>
          </a:p>
        </p:txBody>
      </p:sp>
      <p:sp>
        <p:nvSpPr>
          <p:cNvPr id="17" name="Text 14"/>
          <p:cNvSpPr/>
          <p:nvPr/>
        </p:nvSpPr>
        <p:spPr>
          <a:xfrm>
            <a:off x="2603500" y="23749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445</a:t>
            </a:r>
            <a:endParaRPr lang="en-US" sz="1200" dirty="0"/>
          </a:p>
        </p:txBody>
      </p:sp>
      <p:sp>
        <p:nvSpPr>
          <p:cNvPr id="18" name="Text 15"/>
          <p:cNvSpPr/>
          <p:nvPr/>
        </p:nvSpPr>
        <p:spPr>
          <a:xfrm>
            <a:off x="26035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24/7</a:t>
            </a:r>
            <a:endParaRPr lang="en-US" sz="1200" dirty="0"/>
          </a:p>
        </p:txBody>
      </p:sp>
      <p:sp>
        <p:nvSpPr>
          <p:cNvPr id="19" name="Text 16"/>
          <p:cNvSpPr/>
          <p:nvPr/>
        </p:nvSpPr>
        <p:spPr>
          <a:xfrm>
            <a:off x="3054350" y="29654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389</a:t>
            </a:r>
            <a:endParaRPr lang="en-US" sz="1200" dirty="0"/>
          </a:p>
        </p:txBody>
      </p:sp>
      <p:sp>
        <p:nvSpPr>
          <p:cNvPr id="20" name="Text 17"/>
          <p:cNvSpPr/>
          <p:nvPr/>
        </p:nvSpPr>
        <p:spPr>
          <a:xfrm>
            <a:off x="30543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30/7</a:t>
            </a:r>
            <a:endParaRPr lang="en-US" sz="1200" dirty="0"/>
          </a:p>
        </p:txBody>
      </p:sp>
      <p:sp>
        <p:nvSpPr>
          <p:cNvPr id="21" name="Text 18"/>
          <p:cNvSpPr/>
          <p:nvPr/>
        </p:nvSpPr>
        <p:spPr>
          <a:xfrm>
            <a:off x="3511550" y="26289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421</a:t>
            </a:r>
            <a:endParaRPr lang="en-US" sz="1200" dirty="0"/>
          </a:p>
        </p:txBody>
      </p:sp>
      <p:sp>
        <p:nvSpPr>
          <p:cNvPr id="22" name="Text 19"/>
          <p:cNvSpPr/>
          <p:nvPr/>
        </p:nvSpPr>
        <p:spPr>
          <a:xfrm>
            <a:off x="35115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7/8</a:t>
            </a:r>
            <a:endParaRPr lang="en-US" sz="1200" dirty="0"/>
          </a:p>
        </p:txBody>
      </p:sp>
      <p:sp>
        <p:nvSpPr>
          <p:cNvPr id="23" name="Text 20"/>
          <p:cNvSpPr/>
          <p:nvPr/>
        </p:nvSpPr>
        <p:spPr>
          <a:xfrm>
            <a:off x="3962400" y="34226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346</a:t>
            </a:r>
            <a:endParaRPr lang="en-US" sz="1200" dirty="0"/>
          </a:p>
        </p:txBody>
      </p:sp>
      <p:sp>
        <p:nvSpPr>
          <p:cNvPr id="24" name="Text 21"/>
          <p:cNvSpPr/>
          <p:nvPr/>
        </p:nvSpPr>
        <p:spPr>
          <a:xfrm>
            <a:off x="39624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13/8</a:t>
            </a:r>
            <a:endParaRPr lang="en-US" sz="1200" dirty="0"/>
          </a:p>
        </p:txBody>
      </p:sp>
      <p:sp>
        <p:nvSpPr>
          <p:cNvPr id="25" name="Text 22"/>
          <p:cNvSpPr/>
          <p:nvPr/>
        </p:nvSpPr>
        <p:spPr>
          <a:xfrm>
            <a:off x="4413250" y="31877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368</a:t>
            </a:r>
            <a:endParaRPr lang="en-US" sz="1200" dirty="0"/>
          </a:p>
        </p:txBody>
      </p:sp>
      <p:sp>
        <p:nvSpPr>
          <p:cNvPr id="26" name="Text 23"/>
          <p:cNvSpPr/>
          <p:nvPr/>
        </p:nvSpPr>
        <p:spPr>
          <a:xfrm>
            <a:off x="44132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21/8</a:t>
            </a:r>
            <a:endParaRPr lang="en-US" sz="1200" dirty="0"/>
          </a:p>
        </p:txBody>
      </p:sp>
      <p:sp>
        <p:nvSpPr>
          <p:cNvPr id="27" name="Text 24"/>
          <p:cNvSpPr/>
          <p:nvPr/>
        </p:nvSpPr>
        <p:spPr>
          <a:xfrm>
            <a:off x="4870450" y="39497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296</a:t>
            </a:r>
            <a:endParaRPr lang="en-US" sz="1200" dirty="0"/>
          </a:p>
        </p:txBody>
      </p:sp>
      <p:sp>
        <p:nvSpPr>
          <p:cNvPr id="28" name="Text 25"/>
          <p:cNvSpPr/>
          <p:nvPr/>
        </p:nvSpPr>
        <p:spPr>
          <a:xfrm>
            <a:off x="48704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28/8</a:t>
            </a:r>
            <a:endParaRPr lang="en-US" sz="1200" dirty="0"/>
          </a:p>
        </p:txBody>
      </p:sp>
      <p:sp>
        <p:nvSpPr>
          <p:cNvPr id="29" name="Text 26"/>
          <p:cNvSpPr/>
          <p:nvPr/>
        </p:nvSpPr>
        <p:spPr>
          <a:xfrm>
            <a:off x="5321300" y="3073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379</a:t>
            </a:r>
            <a:endParaRPr lang="en-US" sz="1200" dirty="0"/>
          </a:p>
        </p:txBody>
      </p:sp>
      <p:sp>
        <p:nvSpPr>
          <p:cNvPr id="30" name="Text 27"/>
          <p:cNvSpPr/>
          <p:nvPr/>
        </p:nvSpPr>
        <p:spPr>
          <a:xfrm>
            <a:off x="53213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4/9</a:t>
            </a:r>
            <a:endParaRPr lang="en-US" sz="1200" dirty="0"/>
          </a:p>
        </p:txBody>
      </p:sp>
      <p:sp>
        <p:nvSpPr>
          <p:cNvPr id="31" name="Text 28"/>
          <p:cNvSpPr/>
          <p:nvPr/>
        </p:nvSpPr>
        <p:spPr>
          <a:xfrm>
            <a:off x="5778500" y="41592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276</a:t>
            </a:r>
            <a:endParaRPr lang="en-US" sz="1200" dirty="0"/>
          </a:p>
        </p:txBody>
      </p:sp>
      <p:sp>
        <p:nvSpPr>
          <p:cNvPr id="32" name="Text 29"/>
          <p:cNvSpPr/>
          <p:nvPr/>
        </p:nvSpPr>
        <p:spPr>
          <a:xfrm>
            <a:off x="57785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11/9</a:t>
            </a:r>
            <a:endParaRPr lang="en-US" sz="1200" dirty="0"/>
          </a:p>
        </p:txBody>
      </p:sp>
      <p:sp>
        <p:nvSpPr>
          <p:cNvPr id="33" name="Text 30"/>
          <p:cNvSpPr/>
          <p:nvPr/>
        </p:nvSpPr>
        <p:spPr>
          <a:xfrm>
            <a:off x="6229350" y="35496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334</a:t>
            </a:r>
            <a:endParaRPr lang="en-US" sz="1200" dirty="0"/>
          </a:p>
        </p:txBody>
      </p:sp>
      <p:sp>
        <p:nvSpPr>
          <p:cNvPr id="34" name="Text 31"/>
          <p:cNvSpPr/>
          <p:nvPr/>
        </p:nvSpPr>
        <p:spPr>
          <a:xfrm>
            <a:off x="62293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18/9</a:t>
            </a:r>
            <a:endParaRPr lang="en-US" sz="1200" dirty="0"/>
          </a:p>
        </p:txBody>
      </p:sp>
      <p:sp>
        <p:nvSpPr>
          <p:cNvPr id="35" name="Text 32"/>
          <p:cNvSpPr/>
          <p:nvPr/>
        </p:nvSpPr>
        <p:spPr>
          <a:xfrm>
            <a:off x="6686550" y="38735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303</a:t>
            </a:r>
            <a:endParaRPr lang="en-US" sz="1200" dirty="0"/>
          </a:p>
        </p:txBody>
      </p:sp>
      <p:sp>
        <p:nvSpPr>
          <p:cNvPr id="36" name="Text 33"/>
          <p:cNvSpPr/>
          <p:nvPr/>
        </p:nvSpPr>
        <p:spPr>
          <a:xfrm>
            <a:off x="66865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25/9</a:t>
            </a:r>
            <a:endParaRPr lang="en-US" sz="1200" dirty="0"/>
          </a:p>
        </p:txBody>
      </p:sp>
      <p:sp>
        <p:nvSpPr>
          <p:cNvPr id="37" name="Text 34"/>
          <p:cNvSpPr/>
          <p:nvPr/>
        </p:nvSpPr>
        <p:spPr>
          <a:xfrm>
            <a:off x="7137400" y="42799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265</a:t>
            </a:r>
            <a:endParaRPr lang="en-US" sz="1200" dirty="0"/>
          </a:p>
        </p:txBody>
      </p:sp>
      <p:sp>
        <p:nvSpPr>
          <p:cNvPr id="38" name="Text 35"/>
          <p:cNvSpPr/>
          <p:nvPr/>
        </p:nvSpPr>
        <p:spPr>
          <a:xfrm>
            <a:off x="71374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2/10</a:t>
            </a:r>
            <a:endParaRPr lang="en-US" sz="1200" dirty="0"/>
          </a:p>
        </p:txBody>
      </p:sp>
      <p:sp>
        <p:nvSpPr>
          <p:cNvPr id="39" name="Shape 36"/>
          <p:cNvSpPr/>
          <p:nvPr/>
        </p:nvSpPr>
        <p:spPr>
          <a:xfrm>
            <a:off x="8131175" y="2098675"/>
            <a:ext cx="3244850" cy="1207691"/>
          </a:xfrm>
          <a:prstGeom prst="roundRect">
            <a:avLst>
              <a:gd name="adj" fmla="val 7098"/>
            </a:avLst>
          </a:prstGeom>
          <a:solidFill>
            <a:srgbClr val="FCFDFB"/>
          </a:solidFill>
          <a:ln w="6350">
            <a:solidFill>
              <a:srgbClr val="D3E2D7"/>
            </a:solidFill>
            <a:prstDash val="solid"/>
          </a:ln>
        </p:spPr>
      </p:sp>
      <p:sp>
        <p:nvSpPr>
          <p:cNvPr id="40" name="Text 37"/>
          <p:cNvSpPr/>
          <p:nvPr/>
        </p:nvSpPr>
        <p:spPr>
          <a:xfrm>
            <a:off x="8286750" y="2228850"/>
            <a:ext cx="30217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Ricardone · espera Playa 1</a:t>
            </a:r>
            <a:endParaRPr lang="en-US" sz="1200" dirty="0"/>
          </a:p>
        </p:txBody>
      </p:sp>
      <p:sp>
        <p:nvSpPr>
          <p:cNvPr id="41" name="Text 38"/>
          <p:cNvSpPr/>
          <p:nvPr/>
        </p:nvSpPr>
        <p:spPr>
          <a:xfrm>
            <a:off x="8286750" y="2551410"/>
            <a:ext cx="1360051"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0B5638"/>
                </a:solidFill>
                <a:latin typeface="IBM Plex Sans" pitchFamily="34" charset="0"/>
                <a:ea typeface="IBM Plex Sans" pitchFamily="34" charset="-122"/>
                <a:cs typeface="IBM Plex Sans" pitchFamily="34" charset="-120"/>
              </a:rPr>
              <a:t>74 min</a:t>
            </a:r>
            <a:endParaRPr lang="en-US" sz="2800" dirty="0"/>
          </a:p>
        </p:txBody>
      </p:sp>
      <p:pic>
        <p:nvPicPr>
          <p:cNvPr id="42" name="Image 1" descr="Evolución de 15 semanas">    </p:cNvPr>
          <p:cNvPicPr>
            <a:picLocks noChangeAspect="1"/>
          </p:cNvPicPr>
          <p:nvPr/>
        </p:nvPicPr>
        <p:blipFill>
          <a:blip r:embed="rId2"/>
          <a:srcRect l="0" r="0" t="0" b="0"/>
          <a:stretch/>
        </p:blipFill>
        <p:spPr>
          <a:xfrm>
            <a:off x="9823450" y="2480270"/>
            <a:ext cx="1397000" cy="444500"/>
          </a:xfrm>
          <a:prstGeom prst="rect">
            <a:avLst/>
          </a:prstGeom>
        </p:spPr>
      </p:pic>
      <p:sp>
        <p:nvSpPr>
          <p:cNvPr id="43" name="Text 39"/>
          <p:cNvSpPr/>
          <p:nvPr/>
        </p:nvSpPr>
        <p:spPr>
          <a:xfrm>
            <a:off x="8286750" y="2962870"/>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Promedio desde junio: 120</a:t>
            </a:r>
            <a:endParaRPr lang="en-US" sz="1200" dirty="0"/>
          </a:p>
        </p:txBody>
      </p:sp>
      <p:sp>
        <p:nvSpPr>
          <p:cNvPr id="44" name="Shape 40"/>
          <p:cNvSpPr/>
          <p:nvPr/>
        </p:nvSpPr>
        <p:spPr>
          <a:xfrm>
            <a:off x="8131175" y="3439716"/>
            <a:ext cx="3244850" cy="1207691"/>
          </a:xfrm>
          <a:prstGeom prst="roundRect">
            <a:avLst>
              <a:gd name="adj" fmla="val 7098"/>
            </a:avLst>
          </a:prstGeom>
          <a:solidFill>
            <a:srgbClr val="FCFDFB"/>
          </a:solidFill>
          <a:ln w="6350">
            <a:solidFill>
              <a:srgbClr val="D3E2D7"/>
            </a:solidFill>
            <a:prstDash val="solid"/>
          </a:ln>
        </p:spPr>
      </p:sp>
      <p:sp>
        <p:nvSpPr>
          <p:cNvPr id="45" name="Text 41"/>
          <p:cNvSpPr/>
          <p:nvPr/>
        </p:nvSpPr>
        <p:spPr>
          <a:xfrm>
            <a:off x="8286750" y="3569891"/>
            <a:ext cx="30217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San Lorenzo · playa, descarga y salida</a:t>
            </a:r>
            <a:endParaRPr lang="en-US" sz="1200" dirty="0"/>
          </a:p>
        </p:txBody>
      </p:sp>
      <p:sp>
        <p:nvSpPr>
          <p:cNvPr id="46" name="Text 42"/>
          <p:cNvSpPr/>
          <p:nvPr/>
        </p:nvSpPr>
        <p:spPr>
          <a:xfrm>
            <a:off x="8286750" y="3892451"/>
            <a:ext cx="1536700"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6B55A3"/>
                </a:solidFill>
                <a:latin typeface="IBM Plex Sans" pitchFamily="34" charset="0"/>
                <a:ea typeface="IBM Plex Sans" pitchFamily="34" charset="-122"/>
                <a:cs typeface="IBM Plex Sans" pitchFamily="34" charset="-120"/>
              </a:rPr>
              <a:t>188 min</a:t>
            </a:r>
            <a:endParaRPr lang="en-US" sz="2800" dirty="0"/>
          </a:p>
        </p:txBody>
      </p:sp>
      <p:pic>
        <p:nvPicPr>
          <p:cNvPr id="47" name="Image 2" descr="Evolución de 15 semanas">    </p:cNvPr>
          <p:cNvPicPr>
            <a:picLocks noChangeAspect="1"/>
          </p:cNvPicPr>
          <p:nvPr/>
        </p:nvPicPr>
        <p:blipFill>
          <a:blip r:embed="rId3"/>
          <a:srcRect l="0" r="0" t="0" b="0"/>
          <a:stretch/>
        </p:blipFill>
        <p:spPr>
          <a:xfrm>
            <a:off x="9823450" y="3821311"/>
            <a:ext cx="1397000" cy="444500"/>
          </a:xfrm>
          <a:prstGeom prst="rect">
            <a:avLst/>
          </a:prstGeom>
        </p:spPr>
      </p:pic>
      <p:sp>
        <p:nvSpPr>
          <p:cNvPr id="48" name="Text 43"/>
          <p:cNvSpPr/>
          <p:nvPr/>
        </p:nvSpPr>
        <p:spPr>
          <a:xfrm>
            <a:off x="8286750" y="4303911"/>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Promedio desde junio: 176</a:t>
            </a:r>
            <a:endParaRPr lang="en-US" sz="1200" dirty="0"/>
          </a:p>
        </p:txBody>
      </p:sp>
      <p:sp>
        <p:nvSpPr>
          <p:cNvPr id="49" name="Shape 44"/>
          <p:cNvSpPr/>
          <p:nvPr/>
        </p:nvSpPr>
        <p:spPr>
          <a:xfrm>
            <a:off x="8147050" y="4777581"/>
            <a:ext cx="0" cy="744041"/>
          </a:xfrm>
          <a:prstGeom prst="line">
            <a:avLst/>
          </a:prstGeom>
          <a:noFill/>
          <a:ln w="38100">
            <a:solidFill>
              <a:srgbClr val="3A8F63"/>
            </a:solidFill>
            <a:prstDash val="solid"/>
          </a:ln>
        </p:spPr>
      </p:sp>
      <p:sp>
        <p:nvSpPr>
          <p:cNvPr id="50" name="Text 45"/>
          <p:cNvSpPr/>
          <p:nvPr/>
        </p:nvSpPr>
        <p:spPr>
          <a:xfrm>
            <a:off x="8293100" y="4802981"/>
            <a:ext cx="3178683" cy="7186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La mejora vino otra vez de Ricardone; San Lorenzo quedó arriba de su promedio (188 contra 176).</a:t>
            </a:r>
            <a:endParaRPr lang="en-US" sz="1300" dirty="0"/>
          </a:p>
        </p:txBody>
      </p:sp>
      <p:pic>
        <p:nvPicPr>
          <p:cNvPr id="51" name="Image 3" descr="Nueva Vicentin Argentina">    </p:cNvPr>
          <p:cNvPicPr>
            <a:picLocks noChangeAspect="1"/>
          </p:cNvPicPr>
          <p:nvPr/>
        </p:nvPicPr>
        <p:blipFill>
          <a:blip r:embed="rId4"/>
          <a:srcRect l="-167" r="-167" t="0" b="0"/>
          <a:stretch/>
        </p:blipFill>
        <p:spPr>
          <a:xfrm>
            <a:off x="812800" y="6197600"/>
            <a:ext cx="571500" cy="304800"/>
          </a:xfrm>
          <a:prstGeom prst="rect">
            <a:avLst/>
          </a:prstGeom>
        </p:spPr>
      </p:pic>
      <p:sp>
        <p:nvSpPr>
          <p:cNvPr id="52" name="Text 46"/>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11</a:t>
            </a:r>
            <a:endParaRPr lang="en-US" sz="1200" dirty="0"/>
          </a:p>
        </p:txBody>
      </p:sp>
      <p:pic>
        <p:nvPicPr>
          <p:cNvPr id="53" name="Image 4" descr="Bimtrazer">    </p:cNvPr>
          <p:cNvPicPr>
            <a:picLocks noChangeAspect="1"/>
          </p:cNvPicPr>
          <p:nvPr/>
        </p:nvPicPr>
        <p:blipFill>
          <a:blip r:embed="rId5"/>
          <a:srcRect l="0" r="0" t="-63" b="-63"/>
          <a:stretch/>
        </p:blipFill>
        <p:spPr>
          <a:xfrm>
            <a:off x="10731500" y="6197600"/>
            <a:ext cx="647700" cy="30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E4428"/>
        </a:solidFill>
      </p:bgPr>
    </p:bg>
    <p:spTree>
      <p:nvGrpSpPr>
        <p:cNvPr id="1" name=""/>
        <p:cNvGrpSpPr/>
        <p:nvPr/>
      </p:nvGrpSpPr>
      <p:grpSpPr>
        <a:xfrm>
          <a:off x="0" y="0"/>
          <a:ext cx="0" cy="0"/>
          <a:chOff x="0" y="0"/>
          <a:chExt cx="0" cy="0"/>
        </a:xfrm>
      </p:grpSpPr>
      <p:sp>
        <p:nvSpPr>
          <p:cNvPr id="2" name="Text 0"/>
          <p:cNvSpPr/>
          <p:nvPr/>
        </p:nvSpPr>
        <p:spPr>
          <a:xfrm>
            <a:off x="812800" y="2061865"/>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3C9A3"/>
                </a:solidFill>
                <a:latin typeface="IBM Plex Sans" pitchFamily="34" charset="0"/>
                <a:ea typeface="IBM Plex Sans" pitchFamily="34" charset="-122"/>
                <a:cs typeface="IBM Plex Sans" pitchFamily="34" charset="-120"/>
              </a:rPr>
              <a:t>02</a:t>
            </a:r>
            <a:endParaRPr lang="en-US" sz="8000" dirty="0"/>
          </a:p>
        </p:txBody>
      </p:sp>
      <p:sp>
        <p:nvSpPr>
          <p:cNvPr id="3" name="Text 1"/>
          <p:cNvSpPr/>
          <p:nvPr>
            <p:ph type="title"/>
          </p:nvPr>
        </p:nvSpPr>
        <p:spPr>
          <a:xfrm>
            <a:off x="812800" y="3230265"/>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Pellet</a:t>
            </a:r>
            <a:endParaRPr lang="en-US" sz="6000" dirty="0"/>
          </a:p>
        </p:txBody>
      </p:sp>
      <p:sp>
        <p:nvSpPr>
          <p:cNvPr id="4" name="Text 2"/>
          <p:cNvSpPr/>
          <p:nvPr/>
        </p:nvSpPr>
        <p:spPr>
          <a:xfrm>
            <a:off x="812800" y="4182765"/>
            <a:ext cx="99060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6E4DA"/>
                </a:solidFill>
                <a:latin typeface="IBM Plex Sans" pitchFamily="34" charset="0"/>
                <a:ea typeface="IBM Plex Sans" pitchFamily="34" charset="-122"/>
                <a:cs typeface="IBM Plex Sans" pitchFamily="34" charset="-120"/>
              </a:rPr>
              <a:t>Operativo de pellet de girasol: transile de Ricardone a las volcables del puerto.</a:t>
            </a:r>
            <a:endParaRPr lang="en-US" sz="1800" dirty="0"/>
          </a:p>
        </p:txBody>
      </p:sp>
      <p:pic>
        <p:nvPicPr>
          <p:cNvPr id="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6" name="Text 3"/>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Comité de Logística Nodo Sur · 24–30/09 · 12</a:t>
            </a:r>
            <a:endParaRPr lang="en-US" sz="1200" dirty="0"/>
          </a:p>
        </p:txBody>
      </p:sp>
      <p:pic>
        <p:nvPicPr>
          <p:cNvPr id="7"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893193" cy="289520"/>
          </a:xfrm>
          <a:custGeom>
            <a:avLst/>
            <a:gdLst/>
            <a:ahLst/>
            <a:cxnLst/>
            <a:rect l="l" t="t" r="r" b="b"/>
            <a:pathLst>
              <a:path w="1893193" h="289520">
                <a:moveTo>
                  <a:pt x="144760" y="0"/>
                </a:moveTo>
                <a:lnTo>
                  <a:pt x="1748433" y="0"/>
                </a:lnTo>
                <a:arcTo hR="144760" wR="144760" stAng="16200000" swAng="5400000"/>
                <a:lnTo>
                  <a:pt x="1893193" y="144760"/>
                </a:lnTo>
                <a:arcTo hR="144760" wR="144760" stAng="0" swAng="5400000"/>
                <a:lnTo>
                  <a:pt x="144760" y="289520"/>
                </a:lnTo>
                <a:arcTo hR="144760" wR="144760" stAng="5400000" swAng="5400000"/>
                <a:lnTo>
                  <a:pt x="0" y="144760"/>
                </a:lnTo>
                <a:arcTo hR="144760" wR="144760" stAng="10800000" swAng="5400000"/>
                <a:close/>
              </a:path>
            </a:pathLst>
          </a:custGeom>
          <a:solidFill>
            <a:srgbClr val="5E442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PELLET · R30/31/32</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Operativo de pellet de girasol</a:t>
            </a:r>
            <a:endParaRPr lang="en-US" sz="3200" dirty="0"/>
          </a:p>
        </p:txBody>
      </p:sp>
      <p:sp>
        <p:nvSpPr>
          <p:cNvPr id="4" name="Shape 2"/>
          <p:cNvSpPr/>
          <p:nvPr/>
        </p:nvSpPr>
        <p:spPr>
          <a:xfrm>
            <a:off x="815975" y="1730276"/>
            <a:ext cx="3549650" cy="1061045"/>
          </a:xfrm>
          <a:prstGeom prst="roundRect">
            <a:avLst>
              <a:gd name="adj" fmla="val 8079"/>
            </a:avLst>
          </a:prstGeom>
          <a:solidFill>
            <a:srgbClr val="FCFDFB"/>
          </a:solidFill>
          <a:ln w="6350">
            <a:solidFill>
              <a:srgbClr val="D3E2D7"/>
            </a:solidFill>
            <a:prstDash val="solid"/>
          </a:ln>
        </p:spPr>
      </p:sp>
      <p:sp>
        <p:nvSpPr>
          <p:cNvPr id="5" name="Text 3"/>
          <p:cNvSpPr/>
          <p:nvPr/>
        </p:nvSpPr>
        <p:spPr>
          <a:xfrm>
            <a:off x="984250" y="1860451"/>
            <a:ext cx="3309493" cy="218579"/>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4A5D52"/>
                </a:solidFill>
                <a:latin typeface="IBM Plex Sans" pitchFamily="34" charset="0"/>
                <a:ea typeface="IBM Plex Sans" pitchFamily="34" charset="-122"/>
                <a:cs typeface="IBM Plex Sans" pitchFamily="34" charset="-120"/>
              </a:rPr>
              <a:t>Toneladas (viajes × 30)</a:t>
            </a:r>
            <a:endParaRPr lang="en-US" sz="1088" dirty="0"/>
          </a:p>
        </p:txBody>
      </p:sp>
      <p:sp>
        <p:nvSpPr>
          <p:cNvPr id="6" name="Text 4"/>
          <p:cNvSpPr/>
          <p:nvPr/>
        </p:nvSpPr>
        <p:spPr>
          <a:xfrm>
            <a:off x="984250" y="2091730"/>
            <a:ext cx="3309493" cy="363538"/>
          </a:xfrm>
          <a:prstGeom prst="rect">
            <a:avLst/>
          </a:prstGeom>
          <a:noFill/>
          <a:ln/>
        </p:spPr>
        <p:txBody>
          <a:bodyPr wrap="square" lIns="0" tIns="0" rIns="0" bIns="0" rtlCol="0" anchor="t">
            <a:normAutofit/>
          </a:bodyPr>
          <a:lstStyle/>
          <a:p>
            <a:pPr algn="l" indent="0" marL="0">
              <a:lnSpc>
                <a:spcPts val="2674"/>
              </a:lnSpc>
              <a:buNone/>
            </a:pPr>
            <a:r>
              <a:rPr lang="en-US" sz="2546" b="1" dirty="0">
                <a:solidFill>
                  <a:srgbClr val="5E4428"/>
                </a:solidFill>
                <a:latin typeface="IBM Plex Sans" pitchFamily="34" charset="0"/>
                <a:ea typeface="IBM Plex Sans" pitchFamily="34" charset="-122"/>
                <a:cs typeface="IBM Plex Sans" pitchFamily="34" charset="-120"/>
              </a:rPr>
              <a:t>9.210 t</a:t>
            </a:r>
            <a:endParaRPr lang="en-US" sz="2546" dirty="0"/>
          </a:p>
        </p:txBody>
      </p:sp>
      <p:sp>
        <p:nvSpPr>
          <p:cNvPr id="7" name="Text 5"/>
          <p:cNvSpPr/>
          <p:nvPr/>
        </p:nvSpPr>
        <p:spPr>
          <a:xfrm>
            <a:off x="984250" y="2467967"/>
            <a:ext cx="3309493" cy="218579"/>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4A5D52"/>
                </a:solidFill>
                <a:latin typeface="IBM Plex Sans" pitchFamily="34" charset="0"/>
                <a:ea typeface="IBM Plex Sans" pitchFamily="34" charset="-122"/>
                <a:cs typeface="IBM Plex Sans" pitchFamily="34" charset="-120"/>
              </a:rPr>
              <a:t>$ 55,3 M de flete a $ 6.000 por tonelada</a:t>
            </a:r>
            <a:endParaRPr lang="en-US" sz="1088" dirty="0"/>
          </a:p>
        </p:txBody>
      </p:sp>
      <p:sp>
        <p:nvSpPr>
          <p:cNvPr id="8" name="Shape 6"/>
          <p:cNvSpPr/>
          <p:nvPr/>
        </p:nvSpPr>
        <p:spPr>
          <a:xfrm>
            <a:off x="815975" y="2899271"/>
            <a:ext cx="3549650" cy="831354"/>
          </a:xfrm>
          <a:prstGeom prst="roundRect">
            <a:avLst>
              <a:gd name="adj" fmla="val 10311"/>
            </a:avLst>
          </a:prstGeom>
          <a:solidFill>
            <a:srgbClr val="FCFDFB"/>
          </a:solidFill>
          <a:ln w="6350">
            <a:solidFill>
              <a:srgbClr val="D3E2D7"/>
            </a:solidFill>
            <a:prstDash val="solid"/>
          </a:ln>
        </p:spPr>
      </p:sp>
      <p:sp>
        <p:nvSpPr>
          <p:cNvPr id="9" name="Text 7"/>
          <p:cNvSpPr/>
          <p:nvPr/>
        </p:nvSpPr>
        <p:spPr>
          <a:xfrm>
            <a:off x="984250" y="3029446"/>
            <a:ext cx="3309493" cy="219174"/>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4A5D52"/>
                </a:solidFill>
                <a:latin typeface="IBM Plex Sans" pitchFamily="34" charset="0"/>
                <a:ea typeface="IBM Plex Sans" pitchFamily="34" charset="-122"/>
                <a:cs typeface="IBM Plex Sans" pitchFamily="34" charset="-120"/>
              </a:rPr>
              <a:t>Viajes al puerto</a:t>
            </a:r>
            <a:endParaRPr lang="en-US" sz="1121" dirty="0"/>
          </a:p>
        </p:txBody>
      </p:sp>
      <p:sp>
        <p:nvSpPr>
          <p:cNvPr id="10" name="Text 8"/>
          <p:cNvSpPr/>
          <p:nvPr/>
        </p:nvSpPr>
        <p:spPr>
          <a:xfrm>
            <a:off x="984250" y="3261320"/>
            <a:ext cx="3309493" cy="364530"/>
          </a:xfrm>
          <a:prstGeom prst="rect">
            <a:avLst/>
          </a:prstGeom>
          <a:noFill/>
          <a:ln/>
        </p:spPr>
        <p:txBody>
          <a:bodyPr wrap="square" lIns="0" tIns="0" rIns="0" bIns="0" rtlCol="0" anchor="t">
            <a:normAutofit/>
          </a:bodyPr>
          <a:lstStyle/>
          <a:p>
            <a:pPr algn="l" indent="0" marL="0">
              <a:lnSpc>
                <a:spcPts val="2674"/>
              </a:lnSpc>
              <a:buNone/>
            </a:pPr>
            <a:r>
              <a:rPr lang="en-US" sz="2546" b="1" dirty="0">
                <a:solidFill>
                  <a:srgbClr val="5E4428"/>
                </a:solidFill>
                <a:latin typeface="IBM Plex Sans" pitchFamily="34" charset="0"/>
                <a:ea typeface="IBM Plex Sans" pitchFamily="34" charset="-122"/>
                <a:cs typeface="IBM Plex Sans" pitchFamily="34" charset="-120"/>
              </a:rPr>
              <a:t>307</a:t>
            </a:r>
            <a:endParaRPr lang="en-US" sz="2546" dirty="0"/>
          </a:p>
        </p:txBody>
      </p:sp>
      <p:sp>
        <p:nvSpPr>
          <p:cNvPr id="11" name="Shape 9"/>
          <p:cNvSpPr/>
          <p:nvPr/>
        </p:nvSpPr>
        <p:spPr>
          <a:xfrm>
            <a:off x="815975" y="3838575"/>
            <a:ext cx="3549650" cy="831255"/>
          </a:xfrm>
          <a:prstGeom prst="roundRect">
            <a:avLst>
              <a:gd name="adj" fmla="val 10313"/>
            </a:avLst>
          </a:prstGeom>
          <a:solidFill>
            <a:srgbClr val="FCFDFB"/>
          </a:solidFill>
          <a:ln w="6350">
            <a:solidFill>
              <a:srgbClr val="D3E2D7"/>
            </a:solidFill>
            <a:prstDash val="solid"/>
          </a:ln>
        </p:spPr>
      </p:sp>
      <p:sp>
        <p:nvSpPr>
          <p:cNvPr id="12" name="Text 10"/>
          <p:cNvSpPr/>
          <p:nvPr/>
        </p:nvSpPr>
        <p:spPr>
          <a:xfrm>
            <a:off x="984250" y="3968750"/>
            <a:ext cx="3309493" cy="219174"/>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4A5D52"/>
                </a:solidFill>
                <a:latin typeface="IBM Plex Sans" pitchFamily="34" charset="0"/>
                <a:ea typeface="IBM Plex Sans" pitchFamily="34" charset="-122"/>
                <a:cs typeface="IBM Plex Sans" pitchFamily="34" charset="-120"/>
              </a:rPr>
              <a:t>Camiones (patentes distintas)</a:t>
            </a:r>
            <a:endParaRPr lang="en-US" sz="1121" dirty="0"/>
          </a:p>
        </p:txBody>
      </p:sp>
      <p:sp>
        <p:nvSpPr>
          <p:cNvPr id="13" name="Text 11"/>
          <p:cNvSpPr/>
          <p:nvPr/>
        </p:nvSpPr>
        <p:spPr>
          <a:xfrm>
            <a:off x="984250" y="4200624"/>
            <a:ext cx="3309493" cy="364430"/>
          </a:xfrm>
          <a:prstGeom prst="rect">
            <a:avLst/>
          </a:prstGeom>
          <a:noFill/>
          <a:ln/>
        </p:spPr>
        <p:txBody>
          <a:bodyPr wrap="square" lIns="0" tIns="0" rIns="0" bIns="0" rtlCol="0" anchor="t">
            <a:normAutofit/>
          </a:bodyPr>
          <a:lstStyle/>
          <a:p>
            <a:pPr algn="l" indent="0" marL="0">
              <a:lnSpc>
                <a:spcPts val="2674"/>
              </a:lnSpc>
              <a:buNone/>
            </a:pPr>
            <a:r>
              <a:rPr lang="en-US" sz="2546" b="1" dirty="0">
                <a:solidFill>
                  <a:srgbClr val="5E4428"/>
                </a:solidFill>
                <a:latin typeface="IBM Plex Sans" pitchFamily="34" charset="0"/>
                <a:ea typeface="IBM Plex Sans" pitchFamily="34" charset="-122"/>
                <a:cs typeface="IBM Plex Sans" pitchFamily="34" charset="-120"/>
              </a:rPr>
              <a:t>62</a:t>
            </a:r>
            <a:endParaRPr lang="en-US" sz="2546" dirty="0"/>
          </a:p>
        </p:txBody>
      </p:sp>
      <p:sp>
        <p:nvSpPr>
          <p:cNvPr id="14" name="Shape 12"/>
          <p:cNvSpPr/>
          <p:nvPr/>
        </p:nvSpPr>
        <p:spPr>
          <a:xfrm>
            <a:off x="815975" y="4777780"/>
            <a:ext cx="3549650" cy="1061045"/>
          </a:xfrm>
          <a:prstGeom prst="roundRect">
            <a:avLst>
              <a:gd name="adj" fmla="val 8079"/>
            </a:avLst>
          </a:prstGeom>
          <a:solidFill>
            <a:srgbClr val="FCFDFB"/>
          </a:solidFill>
          <a:ln w="6350">
            <a:solidFill>
              <a:srgbClr val="D3E2D7"/>
            </a:solidFill>
            <a:prstDash val="solid"/>
          </a:ln>
        </p:spPr>
      </p:sp>
      <p:sp>
        <p:nvSpPr>
          <p:cNvPr id="15" name="Text 13"/>
          <p:cNvSpPr/>
          <p:nvPr/>
        </p:nvSpPr>
        <p:spPr>
          <a:xfrm>
            <a:off x="984250" y="4907955"/>
            <a:ext cx="3309493" cy="218579"/>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4A5D52"/>
                </a:solidFill>
                <a:latin typeface="IBM Plex Sans" pitchFamily="34" charset="0"/>
                <a:ea typeface="IBM Plex Sans" pitchFamily="34" charset="-122"/>
                <a:cs typeface="IBM Plex Sans" pitchFamily="34" charset="-120"/>
              </a:rPr>
              <a:t>Duración del operativo</a:t>
            </a:r>
            <a:endParaRPr lang="en-US" sz="1088" dirty="0"/>
          </a:p>
        </p:txBody>
      </p:sp>
      <p:sp>
        <p:nvSpPr>
          <p:cNvPr id="16" name="Text 14"/>
          <p:cNvSpPr/>
          <p:nvPr/>
        </p:nvSpPr>
        <p:spPr>
          <a:xfrm>
            <a:off x="984250" y="5139234"/>
            <a:ext cx="3309493" cy="363538"/>
          </a:xfrm>
          <a:prstGeom prst="rect">
            <a:avLst/>
          </a:prstGeom>
          <a:noFill/>
          <a:ln/>
        </p:spPr>
        <p:txBody>
          <a:bodyPr wrap="square" lIns="0" tIns="0" rIns="0" bIns="0" rtlCol="0" anchor="t">
            <a:normAutofit/>
          </a:bodyPr>
          <a:lstStyle/>
          <a:p>
            <a:pPr algn="l" indent="0" marL="0">
              <a:lnSpc>
                <a:spcPts val="2674"/>
              </a:lnSpc>
              <a:buNone/>
            </a:pPr>
            <a:r>
              <a:rPr lang="en-US" sz="2546" b="1" dirty="0">
                <a:solidFill>
                  <a:srgbClr val="5E4428"/>
                </a:solidFill>
                <a:latin typeface="IBM Plex Sans" pitchFamily="34" charset="0"/>
                <a:ea typeface="IBM Plex Sans" pitchFamily="34" charset="-122"/>
                <a:cs typeface="IBM Plex Sans" pitchFamily="34" charset="-120"/>
              </a:rPr>
              <a:t>48,5 h</a:t>
            </a:r>
            <a:endParaRPr lang="en-US" sz="2546" dirty="0"/>
          </a:p>
        </p:txBody>
      </p:sp>
      <p:sp>
        <p:nvSpPr>
          <p:cNvPr id="17" name="Text 15"/>
          <p:cNvSpPr/>
          <p:nvPr/>
        </p:nvSpPr>
        <p:spPr>
          <a:xfrm>
            <a:off x="984250" y="5515471"/>
            <a:ext cx="3309493" cy="218579"/>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4A5D52"/>
                </a:solidFill>
                <a:latin typeface="IBM Plex Sans" pitchFamily="34" charset="0"/>
                <a:ea typeface="IBM Plex Sans" pitchFamily="34" charset="-122"/>
                <a:cs typeface="IBM Plex Sans" pitchFamily="34" charset="-120"/>
              </a:rPr>
              <a:t>en 3 tandas</a:t>
            </a:r>
            <a:endParaRPr lang="en-US" sz="1088" dirty="0"/>
          </a:p>
        </p:txBody>
      </p:sp>
      <p:sp>
        <p:nvSpPr>
          <p:cNvPr id="18" name="Text 16"/>
          <p:cNvSpPr/>
          <p:nvPr/>
        </p:nvSpPr>
        <p:spPr>
          <a:xfrm>
            <a:off x="4724400" y="1727101"/>
            <a:ext cx="68544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Viajes por día</a:t>
            </a:r>
            <a:endParaRPr lang="en-US" sz="1200" dirty="0"/>
          </a:p>
        </p:txBody>
      </p:sp>
      <p:sp>
        <p:nvSpPr>
          <p:cNvPr id="19" name="Text 17"/>
          <p:cNvSpPr/>
          <p:nvPr/>
        </p:nvSpPr>
        <p:spPr>
          <a:xfrm>
            <a:off x="4724400" y="2146201"/>
            <a:ext cx="812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Jue 24</a:t>
            </a:r>
            <a:endParaRPr lang="en-US" sz="1400" dirty="0"/>
          </a:p>
        </p:txBody>
      </p:sp>
      <p:sp>
        <p:nvSpPr>
          <p:cNvPr id="20" name="Shape 18"/>
          <p:cNvSpPr/>
          <p:nvPr/>
        </p:nvSpPr>
        <p:spPr>
          <a:xfrm>
            <a:off x="5613400" y="2092821"/>
            <a:ext cx="1524000" cy="355600"/>
          </a:xfrm>
          <a:custGeom>
            <a:avLst/>
            <a:gdLst/>
            <a:ahLst/>
            <a:cxnLst/>
            <a:rect l="l" t="t" r="r" b="b"/>
            <a:pathLst>
              <a:path w="1524000" h="355600">
                <a:moveTo>
                  <a:pt x="0" y="0"/>
                </a:moveTo>
                <a:lnTo>
                  <a:pt x="1473200" y="0"/>
                </a:lnTo>
                <a:arcTo hR="50800" wR="50800" stAng="16200000" swAng="5400000"/>
                <a:lnTo>
                  <a:pt x="1524000" y="304800"/>
                </a:lnTo>
                <a:arcTo hR="50800" wR="50800" stAng="0" swAng="5400000"/>
                <a:lnTo>
                  <a:pt x="0" y="355600"/>
                </a:lnTo>
                <a:lnTo>
                  <a:pt x="0" y="0"/>
                </a:lnTo>
                <a:close/>
              </a:path>
            </a:pathLst>
          </a:custGeom>
          <a:solidFill>
            <a:srgbClr val="9A7650"/>
          </a:solidFill>
          <a:ln/>
        </p:spPr>
      </p:sp>
      <p:sp>
        <p:nvSpPr>
          <p:cNvPr id="21" name="Text 19"/>
          <p:cNvSpPr/>
          <p:nvPr/>
        </p:nvSpPr>
        <p:spPr>
          <a:xfrm>
            <a:off x="7264400" y="2146201"/>
            <a:ext cx="1982691"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41 viajes · 32 camiones</a:t>
            </a:r>
            <a:endParaRPr lang="en-US" sz="1400" dirty="0"/>
          </a:p>
        </p:txBody>
      </p:sp>
      <p:sp>
        <p:nvSpPr>
          <p:cNvPr id="22" name="Text 20"/>
          <p:cNvSpPr/>
          <p:nvPr/>
        </p:nvSpPr>
        <p:spPr>
          <a:xfrm>
            <a:off x="4724400" y="2654201"/>
            <a:ext cx="812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Vie 25</a:t>
            </a:r>
            <a:endParaRPr lang="en-US" sz="1400" dirty="0"/>
          </a:p>
        </p:txBody>
      </p:sp>
      <p:sp>
        <p:nvSpPr>
          <p:cNvPr id="23" name="Shape 21"/>
          <p:cNvSpPr/>
          <p:nvPr/>
        </p:nvSpPr>
        <p:spPr>
          <a:xfrm>
            <a:off x="5613400" y="2600821"/>
            <a:ext cx="2597150" cy="355600"/>
          </a:xfrm>
          <a:custGeom>
            <a:avLst/>
            <a:gdLst/>
            <a:ahLst/>
            <a:cxnLst/>
            <a:rect l="l" t="t" r="r" b="b"/>
            <a:pathLst>
              <a:path w="2597150" h="355600">
                <a:moveTo>
                  <a:pt x="0" y="0"/>
                </a:moveTo>
                <a:lnTo>
                  <a:pt x="2546350" y="0"/>
                </a:lnTo>
                <a:arcTo hR="50800" wR="50800" stAng="16200000" swAng="5400000"/>
                <a:lnTo>
                  <a:pt x="2597150" y="304800"/>
                </a:lnTo>
                <a:arcTo hR="50800" wR="50800" stAng="0" swAng="5400000"/>
                <a:lnTo>
                  <a:pt x="0" y="355600"/>
                </a:lnTo>
                <a:lnTo>
                  <a:pt x="0" y="0"/>
                </a:lnTo>
                <a:close/>
              </a:path>
            </a:pathLst>
          </a:custGeom>
          <a:solidFill>
            <a:srgbClr val="9A7650"/>
          </a:solidFill>
          <a:ln/>
        </p:spPr>
      </p:sp>
      <p:sp>
        <p:nvSpPr>
          <p:cNvPr id="24" name="Text 22"/>
          <p:cNvSpPr/>
          <p:nvPr/>
        </p:nvSpPr>
        <p:spPr>
          <a:xfrm>
            <a:off x="8337550" y="2654201"/>
            <a:ext cx="1982691"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70 viajes · 38 camiones</a:t>
            </a:r>
            <a:endParaRPr lang="en-US" sz="1400" dirty="0"/>
          </a:p>
        </p:txBody>
      </p:sp>
      <p:sp>
        <p:nvSpPr>
          <p:cNvPr id="25" name="Text 23"/>
          <p:cNvSpPr/>
          <p:nvPr/>
        </p:nvSpPr>
        <p:spPr>
          <a:xfrm>
            <a:off x="4724400" y="3162201"/>
            <a:ext cx="812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Sáb 26</a:t>
            </a:r>
            <a:endParaRPr lang="en-US" sz="1400" dirty="0"/>
          </a:p>
        </p:txBody>
      </p:sp>
      <p:sp>
        <p:nvSpPr>
          <p:cNvPr id="26" name="Shape 24"/>
          <p:cNvSpPr/>
          <p:nvPr/>
        </p:nvSpPr>
        <p:spPr>
          <a:xfrm>
            <a:off x="5613400" y="3108821"/>
            <a:ext cx="3340100" cy="355600"/>
          </a:xfrm>
          <a:custGeom>
            <a:avLst/>
            <a:gdLst/>
            <a:ahLst/>
            <a:cxnLst/>
            <a:rect l="l" t="t" r="r" b="b"/>
            <a:pathLst>
              <a:path w="3340100" h="355600">
                <a:moveTo>
                  <a:pt x="0" y="0"/>
                </a:moveTo>
                <a:lnTo>
                  <a:pt x="3289300" y="0"/>
                </a:lnTo>
                <a:arcTo hR="50800" wR="50800" stAng="16200000" swAng="5400000"/>
                <a:lnTo>
                  <a:pt x="3340100" y="304800"/>
                </a:lnTo>
                <a:arcTo hR="50800" wR="50800" stAng="0" swAng="5400000"/>
                <a:lnTo>
                  <a:pt x="0" y="355600"/>
                </a:lnTo>
                <a:lnTo>
                  <a:pt x="0" y="0"/>
                </a:lnTo>
                <a:close/>
              </a:path>
            </a:pathLst>
          </a:custGeom>
          <a:solidFill>
            <a:srgbClr val="9A7650"/>
          </a:solidFill>
          <a:ln/>
        </p:spPr>
      </p:sp>
      <p:sp>
        <p:nvSpPr>
          <p:cNvPr id="27" name="Text 25"/>
          <p:cNvSpPr/>
          <p:nvPr/>
        </p:nvSpPr>
        <p:spPr>
          <a:xfrm>
            <a:off x="9080500" y="3162201"/>
            <a:ext cx="1982691"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90 viajes · 35 camiones</a:t>
            </a:r>
            <a:endParaRPr lang="en-US" sz="1400" dirty="0"/>
          </a:p>
        </p:txBody>
      </p:sp>
      <p:sp>
        <p:nvSpPr>
          <p:cNvPr id="28" name="Text 26"/>
          <p:cNvSpPr/>
          <p:nvPr/>
        </p:nvSpPr>
        <p:spPr>
          <a:xfrm>
            <a:off x="4724400" y="3670201"/>
            <a:ext cx="812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Mié 30</a:t>
            </a:r>
            <a:endParaRPr lang="en-US" sz="1400" dirty="0"/>
          </a:p>
        </p:txBody>
      </p:sp>
      <p:sp>
        <p:nvSpPr>
          <p:cNvPr id="29" name="Shape 27"/>
          <p:cNvSpPr/>
          <p:nvPr/>
        </p:nvSpPr>
        <p:spPr>
          <a:xfrm>
            <a:off x="5613400" y="3616821"/>
            <a:ext cx="3937000" cy="355600"/>
          </a:xfrm>
          <a:custGeom>
            <a:avLst/>
            <a:gdLst/>
            <a:ahLst/>
            <a:cxnLst/>
            <a:rect l="l" t="t" r="r" b="b"/>
            <a:pathLst>
              <a:path w="3937000" h="355600">
                <a:moveTo>
                  <a:pt x="0" y="0"/>
                </a:moveTo>
                <a:lnTo>
                  <a:pt x="3886200" y="0"/>
                </a:lnTo>
                <a:arcTo hR="50800" wR="50800" stAng="16200000" swAng="5400000"/>
                <a:lnTo>
                  <a:pt x="3937000" y="304800"/>
                </a:lnTo>
                <a:arcTo hR="50800" wR="50800" stAng="0" swAng="5400000"/>
                <a:lnTo>
                  <a:pt x="0" y="355600"/>
                </a:lnTo>
                <a:lnTo>
                  <a:pt x="0" y="0"/>
                </a:lnTo>
                <a:close/>
              </a:path>
            </a:pathLst>
          </a:custGeom>
          <a:solidFill>
            <a:srgbClr val="9A7650"/>
          </a:solidFill>
          <a:ln/>
        </p:spPr>
      </p:sp>
      <p:sp>
        <p:nvSpPr>
          <p:cNvPr id="30" name="Text 28"/>
          <p:cNvSpPr/>
          <p:nvPr/>
        </p:nvSpPr>
        <p:spPr>
          <a:xfrm>
            <a:off x="9677400" y="3670201"/>
            <a:ext cx="1752854"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106 viajes · 43 camiones</a:t>
            </a:r>
            <a:endParaRPr lang="en-US" sz="1400" dirty="0"/>
          </a:p>
        </p:txBody>
      </p:sp>
      <p:sp>
        <p:nvSpPr>
          <p:cNvPr id="31" name="Shape 29"/>
          <p:cNvSpPr/>
          <p:nvPr/>
        </p:nvSpPr>
        <p:spPr>
          <a:xfrm>
            <a:off x="4743450" y="5097959"/>
            <a:ext cx="0" cy="744041"/>
          </a:xfrm>
          <a:prstGeom prst="line">
            <a:avLst/>
          </a:prstGeom>
          <a:noFill/>
          <a:ln w="38100">
            <a:solidFill>
              <a:srgbClr val="3A8F63"/>
            </a:solidFill>
            <a:prstDash val="solid"/>
          </a:ln>
        </p:spPr>
      </p:sp>
      <p:sp>
        <p:nvSpPr>
          <p:cNvPr id="32" name="Text 30"/>
          <p:cNvSpPr/>
          <p:nvPr/>
        </p:nvSpPr>
        <p:spPr>
          <a:xfrm>
            <a:off x="4889500" y="5123359"/>
            <a:ext cx="6684391" cy="7186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El operativo corrió en 3 tandas: 24/09 18:05 a 25/09 11:34 (17,5 h); 26/09 06:11 a 26/09 20:53 (14,7 h); 30/09 07:35 a 30/09 23:53 (16,3 h). Casi todo descargó en la volcable 4 (213 de 221 viajes leídos en el puerto).</a:t>
            </a:r>
            <a:endParaRPr lang="en-US" sz="1300" dirty="0"/>
          </a:p>
        </p:txBody>
      </p:sp>
      <p:pic>
        <p:nvPicPr>
          <p:cNvPr id="33"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34" name="Text 31"/>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13</a:t>
            </a:r>
            <a:endParaRPr lang="en-US" sz="1200" dirty="0"/>
          </a:p>
        </p:txBody>
      </p:sp>
      <p:pic>
        <p:nvPicPr>
          <p:cNvPr id="35"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699591"/>
            <a:ext cx="1893193" cy="289520"/>
          </a:xfrm>
          <a:custGeom>
            <a:avLst/>
            <a:gdLst/>
            <a:ahLst/>
            <a:cxnLst/>
            <a:rect l="l" t="t" r="r" b="b"/>
            <a:pathLst>
              <a:path w="1893193" h="289520">
                <a:moveTo>
                  <a:pt x="144760" y="0"/>
                </a:moveTo>
                <a:lnTo>
                  <a:pt x="1748433" y="0"/>
                </a:lnTo>
                <a:arcTo hR="144760" wR="144760" stAng="16200000" swAng="5400000"/>
                <a:lnTo>
                  <a:pt x="1893193" y="144760"/>
                </a:lnTo>
                <a:arcTo hR="144760" wR="144760" stAng="0" swAng="5400000"/>
                <a:lnTo>
                  <a:pt x="144760" y="289520"/>
                </a:lnTo>
                <a:arcTo hR="144760" wR="144760" stAng="5400000" swAng="5400000"/>
                <a:lnTo>
                  <a:pt x="0" y="144760"/>
                </a:lnTo>
                <a:arcTo hR="144760" wR="144760" stAng="10800000" swAng="5400000"/>
                <a:close/>
              </a:path>
            </a:pathLst>
          </a:custGeom>
          <a:solidFill>
            <a:srgbClr val="5E442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PELLET · R30/31/32</a:t>
            </a:r>
            <a:endParaRPr lang="en-US" sz="1200" dirty="0"/>
          </a:p>
        </p:txBody>
      </p:sp>
      <p:sp>
        <p:nvSpPr>
          <p:cNvPr id="3" name="Text 1"/>
          <p:cNvSpPr/>
          <p:nvPr>
            <p:ph type="title"/>
          </p:nvPr>
        </p:nvSpPr>
        <p:spPr>
          <a:xfrm>
            <a:off x="812800" y="1079004"/>
            <a:ext cx="10883392" cy="436364"/>
          </a:xfrm>
          <a:prstGeom prst="rect">
            <a:avLst/>
          </a:prstGeom>
          <a:noFill/>
          <a:ln/>
        </p:spPr>
        <p:txBody>
          <a:bodyPr wrap="square" lIns="0" tIns="0" rIns="0" bIns="0" rtlCol="0" anchor="t">
            <a:normAutofit/>
          </a:bodyPr>
          <a:lstStyle/>
          <a:p>
            <a:pPr algn="l" indent="0" marL="0">
              <a:lnSpc>
                <a:spcPts val="3267"/>
              </a:lnSpc>
              <a:buNone/>
            </a:pPr>
            <a:r>
              <a:rPr lang="en-US" sz="2970" b="1" i="0" dirty="0">
                <a:solidFill>
                  <a:srgbClr val="14281E"/>
                </a:solidFill>
                <a:latin typeface="IBM Plex Sans" pitchFamily="34" charset="0"/>
                <a:ea typeface="IBM Plex Sans" pitchFamily="34" charset="-122"/>
                <a:cs typeface="IBM Plex Sans" pitchFamily="34" charset="-120"/>
              </a:rPr>
              <a:t>Pellet: tiempos medios por tramo</a:t>
            </a:r>
            <a:endParaRPr lang="en-US" sz="2970" dirty="0"/>
          </a:p>
        </p:txBody>
      </p:sp>
      <p:sp>
        <p:nvSpPr>
          <p:cNvPr id="4" name="Text 2"/>
          <p:cNvSpPr/>
          <p:nvPr/>
        </p:nvSpPr>
        <p:spPr>
          <a:xfrm>
            <a:off x="812800" y="1693168"/>
            <a:ext cx="1494929" cy="25231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4281E"/>
                </a:solidFill>
                <a:latin typeface="IBM Plex Sans" pitchFamily="34" charset="0"/>
                <a:ea typeface="IBM Plex Sans" pitchFamily="34" charset="-122"/>
                <a:cs typeface="IBM Plex Sans" pitchFamily="34" charset="-120"/>
              </a:rPr>
              <a:t>Playa 1</a:t>
            </a:r>
            <a:endParaRPr lang="en-US" sz="1299" dirty="0"/>
          </a:p>
        </p:txBody>
      </p:sp>
      <p:sp>
        <p:nvSpPr>
          <p:cNvPr id="5" name="Shape 3"/>
          <p:cNvSpPr/>
          <p:nvPr/>
        </p:nvSpPr>
        <p:spPr>
          <a:xfrm>
            <a:off x="812800" y="1970881"/>
            <a:ext cx="1444129" cy="63500"/>
          </a:xfrm>
          <a:prstGeom prst="roundRect">
            <a:avLst>
              <a:gd name="adj" fmla="val 50000"/>
            </a:avLst>
          </a:prstGeom>
          <a:solidFill>
            <a:srgbClr val="9CCBAE"/>
          </a:solidFill>
          <a:ln/>
        </p:spPr>
      </p:sp>
      <p:sp>
        <p:nvSpPr>
          <p:cNvPr id="6" name="Text 4"/>
          <p:cNvSpPr/>
          <p:nvPr/>
        </p:nvSpPr>
        <p:spPr>
          <a:xfrm>
            <a:off x="812800" y="2085181"/>
            <a:ext cx="1494929" cy="400348"/>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4A5D52"/>
                </a:solidFill>
                <a:latin typeface="IBM Plex Sans" pitchFamily="34" charset="0"/>
                <a:ea typeface="IBM Plex Sans" pitchFamily="34" charset="-122"/>
                <a:cs typeface="IBM Plex Sans" pitchFamily="34" charset="-120"/>
              </a:rPr>
              <a:t>Pre-ingreso → Calle líquida</a:t>
            </a:r>
            <a:endParaRPr lang="en-US" sz="1099" dirty="0"/>
          </a:p>
        </p:txBody>
      </p:sp>
      <p:sp>
        <p:nvSpPr>
          <p:cNvPr id="7" name="Text 5"/>
          <p:cNvSpPr/>
          <p:nvPr/>
        </p:nvSpPr>
        <p:spPr>
          <a:xfrm>
            <a:off x="2333129" y="1693168"/>
            <a:ext cx="1494929" cy="25231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4281E"/>
                </a:solidFill>
                <a:latin typeface="IBM Plex Sans" pitchFamily="34" charset="0"/>
                <a:ea typeface="IBM Plex Sans" pitchFamily="34" charset="-122"/>
                <a:cs typeface="IBM Plex Sans" pitchFamily="34" charset="-120"/>
              </a:rPr>
              <a:t>Acceso P3</a:t>
            </a:r>
            <a:endParaRPr lang="en-US" sz="1299" dirty="0"/>
          </a:p>
        </p:txBody>
      </p:sp>
      <p:sp>
        <p:nvSpPr>
          <p:cNvPr id="8" name="Shape 6"/>
          <p:cNvSpPr/>
          <p:nvPr/>
        </p:nvSpPr>
        <p:spPr>
          <a:xfrm>
            <a:off x="2333129" y="1970881"/>
            <a:ext cx="1444129" cy="63500"/>
          </a:xfrm>
          <a:prstGeom prst="roundRect">
            <a:avLst>
              <a:gd name="adj" fmla="val 50000"/>
            </a:avLst>
          </a:prstGeom>
          <a:solidFill>
            <a:srgbClr val="3A8F63"/>
          </a:solidFill>
          <a:ln/>
        </p:spPr>
      </p:sp>
      <p:sp>
        <p:nvSpPr>
          <p:cNvPr id="9" name="Text 7"/>
          <p:cNvSpPr/>
          <p:nvPr/>
        </p:nvSpPr>
        <p:spPr>
          <a:xfrm>
            <a:off x="2333129" y="2085181"/>
            <a:ext cx="1520329" cy="400348"/>
          </a:xfrm>
          <a:prstGeom prst="rect">
            <a:avLst/>
          </a:prstGeom>
          <a:noFill/>
          <a:ln/>
        </p:spPr>
        <p:txBody>
          <a:bodyPr wrap="square" lIns="0" tIns="0" rIns="0" bIns="0" rtlCol="0" anchor="t">
            <a:normAutofit/>
          </a:bodyPr>
          <a:lstStyle/>
          <a:p>
            <a:pPr algn="l" indent="0" marL="0">
              <a:lnSpc>
                <a:spcPts val="1493"/>
              </a:lnSpc>
              <a:buNone/>
            </a:pPr>
            <a:r>
              <a:rPr lang="en-US" sz="1106" dirty="0">
                <a:solidFill>
                  <a:srgbClr val="4A5D52"/>
                </a:solidFill>
                <a:latin typeface="IBM Plex Sans" pitchFamily="34" charset="0"/>
                <a:ea typeface="IBM Plex Sans" pitchFamily="34" charset="-122"/>
                <a:cs typeface="IBM Plex Sans" pitchFamily="34" charset="-120"/>
              </a:rPr>
              <a:t>Calle líquida → Playa 3</a:t>
            </a:r>
            <a:endParaRPr lang="en-US" sz="1106" dirty="0"/>
          </a:p>
        </p:txBody>
      </p:sp>
      <p:sp>
        <p:nvSpPr>
          <p:cNvPr id="10" name="Text 8"/>
          <p:cNvSpPr/>
          <p:nvPr/>
        </p:nvSpPr>
        <p:spPr>
          <a:xfrm>
            <a:off x="3853458" y="1693168"/>
            <a:ext cx="1495028" cy="25231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4281E"/>
                </a:solidFill>
                <a:latin typeface="IBM Plex Sans" pitchFamily="34" charset="0"/>
                <a:ea typeface="IBM Plex Sans" pitchFamily="34" charset="-122"/>
                <a:cs typeface="IBM Plex Sans" pitchFamily="34" charset="-120"/>
              </a:rPr>
              <a:t>Carga</a:t>
            </a:r>
            <a:endParaRPr lang="en-US" sz="1299" dirty="0"/>
          </a:p>
        </p:txBody>
      </p:sp>
      <p:sp>
        <p:nvSpPr>
          <p:cNvPr id="11" name="Shape 9"/>
          <p:cNvSpPr/>
          <p:nvPr/>
        </p:nvSpPr>
        <p:spPr>
          <a:xfrm>
            <a:off x="3853458" y="1970881"/>
            <a:ext cx="1444228" cy="63500"/>
          </a:xfrm>
          <a:prstGeom prst="roundRect">
            <a:avLst>
              <a:gd name="adj" fmla="val 50000"/>
            </a:avLst>
          </a:prstGeom>
          <a:solidFill>
            <a:srgbClr val="9A7650"/>
          </a:solidFill>
          <a:ln/>
        </p:spPr>
      </p:sp>
      <p:sp>
        <p:nvSpPr>
          <p:cNvPr id="12" name="Text 10"/>
          <p:cNvSpPr/>
          <p:nvPr/>
        </p:nvSpPr>
        <p:spPr>
          <a:xfrm>
            <a:off x="3853458" y="2085181"/>
            <a:ext cx="1495028" cy="400348"/>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4A5D52"/>
                </a:solidFill>
                <a:latin typeface="IBM Plex Sans" pitchFamily="34" charset="0"/>
                <a:ea typeface="IBM Plex Sans" pitchFamily="34" charset="-122"/>
                <a:cs typeface="IBM Plex Sans" pitchFamily="34" charset="-120"/>
              </a:rPr>
              <a:t>Playa 3 → Balanza egreso</a:t>
            </a:r>
            <a:endParaRPr lang="en-US" sz="1099" dirty="0"/>
          </a:p>
        </p:txBody>
      </p:sp>
      <p:sp>
        <p:nvSpPr>
          <p:cNvPr id="13" name="Text 11"/>
          <p:cNvSpPr/>
          <p:nvPr/>
        </p:nvSpPr>
        <p:spPr>
          <a:xfrm>
            <a:off x="5373886" y="1693168"/>
            <a:ext cx="1494929" cy="25231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4281E"/>
                </a:solidFill>
                <a:latin typeface="IBM Plex Sans" pitchFamily="34" charset="0"/>
                <a:ea typeface="IBM Plex Sans" pitchFamily="34" charset="-122"/>
                <a:cs typeface="IBM Plex Sans" pitchFamily="34" charset="-120"/>
              </a:rPr>
              <a:t>Interplanta</a:t>
            </a:r>
            <a:endParaRPr lang="en-US" sz="1299" dirty="0"/>
          </a:p>
        </p:txBody>
      </p:sp>
      <p:sp>
        <p:nvSpPr>
          <p:cNvPr id="14" name="Shape 12"/>
          <p:cNvSpPr/>
          <p:nvPr/>
        </p:nvSpPr>
        <p:spPr>
          <a:xfrm>
            <a:off x="5373886" y="1970881"/>
            <a:ext cx="1444129" cy="63500"/>
          </a:xfrm>
          <a:prstGeom prst="roundRect">
            <a:avLst>
              <a:gd name="adj" fmla="val 50000"/>
            </a:avLst>
          </a:prstGeom>
          <a:solidFill>
            <a:srgbClr val="B7C3BB"/>
          </a:solidFill>
          <a:ln/>
        </p:spPr>
      </p:sp>
      <p:sp>
        <p:nvSpPr>
          <p:cNvPr id="15" name="Text 13"/>
          <p:cNvSpPr/>
          <p:nvPr/>
        </p:nvSpPr>
        <p:spPr>
          <a:xfrm>
            <a:off x="5373886" y="2085181"/>
            <a:ext cx="1494929" cy="400348"/>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4A5D52"/>
                </a:solidFill>
                <a:latin typeface="IBM Plex Sans" pitchFamily="34" charset="0"/>
                <a:ea typeface="IBM Plex Sans" pitchFamily="34" charset="-122"/>
                <a:cs typeface="IBM Plex Sans" pitchFamily="34" charset="-120"/>
              </a:rPr>
              <a:t>Balanza egreso → Ingreso SLZ</a:t>
            </a:r>
            <a:endParaRPr lang="en-US" sz="1099" dirty="0"/>
          </a:p>
        </p:txBody>
      </p:sp>
      <p:sp>
        <p:nvSpPr>
          <p:cNvPr id="16" name="Text 14"/>
          <p:cNvSpPr/>
          <p:nvPr/>
        </p:nvSpPr>
        <p:spPr>
          <a:xfrm>
            <a:off x="6894215" y="1693168"/>
            <a:ext cx="1495028" cy="25231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4281E"/>
                </a:solidFill>
                <a:latin typeface="IBM Plex Sans" pitchFamily="34" charset="0"/>
                <a:ea typeface="IBM Plex Sans" pitchFamily="34" charset="-122"/>
                <a:cs typeface="IBM Plex Sans" pitchFamily="34" charset="-120"/>
              </a:rPr>
              <a:t>Playa OSL</a:t>
            </a:r>
            <a:endParaRPr lang="en-US" sz="1299" dirty="0"/>
          </a:p>
        </p:txBody>
      </p:sp>
      <p:sp>
        <p:nvSpPr>
          <p:cNvPr id="17" name="Shape 15"/>
          <p:cNvSpPr/>
          <p:nvPr/>
        </p:nvSpPr>
        <p:spPr>
          <a:xfrm>
            <a:off x="6894215" y="1970881"/>
            <a:ext cx="1444228" cy="63500"/>
          </a:xfrm>
          <a:prstGeom prst="roundRect">
            <a:avLst>
              <a:gd name="adj" fmla="val 50000"/>
            </a:avLst>
          </a:prstGeom>
          <a:solidFill>
            <a:srgbClr val="2E1B4E"/>
          </a:solidFill>
          <a:ln/>
        </p:spPr>
      </p:sp>
      <p:sp>
        <p:nvSpPr>
          <p:cNvPr id="18" name="Text 16"/>
          <p:cNvSpPr/>
          <p:nvPr/>
        </p:nvSpPr>
        <p:spPr>
          <a:xfrm>
            <a:off x="6894215" y="2085181"/>
            <a:ext cx="1495028" cy="400348"/>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4A5D52"/>
                </a:solidFill>
                <a:latin typeface="IBM Plex Sans" pitchFamily="34" charset="0"/>
                <a:ea typeface="IBM Plex Sans" pitchFamily="34" charset="-122"/>
                <a:cs typeface="IBM Plex Sans" pitchFamily="34" charset="-120"/>
              </a:rPr>
              <a:t>Ingreso SLZ → Balanza OSL</a:t>
            </a:r>
            <a:endParaRPr lang="en-US" sz="1099" dirty="0"/>
          </a:p>
        </p:txBody>
      </p:sp>
      <p:sp>
        <p:nvSpPr>
          <p:cNvPr id="19" name="Text 17"/>
          <p:cNvSpPr/>
          <p:nvPr/>
        </p:nvSpPr>
        <p:spPr>
          <a:xfrm>
            <a:off x="8414643" y="1693168"/>
            <a:ext cx="1494929" cy="25231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4281E"/>
                </a:solidFill>
                <a:latin typeface="IBM Plex Sans" pitchFamily="34" charset="0"/>
                <a:ea typeface="IBM Plex Sans" pitchFamily="34" charset="-122"/>
                <a:cs typeface="IBM Plex Sans" pitchFamily="34" charset="-120"/>
              </a:rPr>
              <a:t>Descarga</a:t>
            </a:r>
            <a:endParaRPr lang="en-US" sz="1299" dirty="0"/>
          </a:p>
        </p:txBody>
      </p:sp>
      <p:sp>
        <p:nvSpPr>
          <p:cNvPr id="20" name="Shape 18"/>
          <p:cNvSpPr/>
          <p:nvPr/>
        </p:nvSpPr>
        <p:spPr>
          <a:xfrm>
            <a:off x="8414643" y="1970881"/>
            <a:ext cx="1444129" cy="63500"/>
          </a:xfrm>
          <a:prstGeom prst="roundRect">
            <a:avLst>
              <a:gd name="adj" fmla="val 50000"/>
            </a:avLst>
          </a:prstGeom>
          <a:solidFill>
            <a:srgbClr val="6B55A3"/>
          </a:solidFill>
          <a:ln/>
        </p:spPr>
      </p:sp>
      <p:sp>
        <p:nvSpPr>
          <p:cNvPr id="21" name="Text 19"/>
          <p:cNvSpPr/>
          <p:nvPr/>
        </p:nvSpPr>
        <p:spPr>
          <a:xfrm>
            <a:off x="8414643" y="2085181"/>
            <a:ext cx="1494929" cy="400348"/>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4A5D52"/>
                </a:solidFill>
                <a:latin typeface="IBM Plex Sans" pitchFamily="34" charset="0"/>
                <a:ea typeface="IBM Plex Sans" pitchFamily="34" charset="-122"/>
                <a:cs typeface="IBM Plex Sans" pitchFamily="34" charset="-120"/>
              </a:rPr>
              <a:t>Balanza OSL → Volcable</a:t>
            </a:r>
            <a:endParaRPr lang="en-US" sz="1099" dirty="0"/>
          </a:p>
        </p:txBody>
      </p:sp>
      <p:sp>
        <p:nvSpPr>
          <p:cNvPr id="22" name="Text 20"/>
          <p:cNvSpPr/>
          <p:nvPr/>
        </p:nvSpPr>
        <p:spPr>
          <a:xfrm>
            <a:off x="9934972" y="1693168"/>
            <a:ext cx="1495028" cy="25231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4281E"/>
                </a:solidFill>
                <a:latin typeface="IBM Plex Sans" pitchFamily="34" charset="0"/>
                <a:ea typeface="IBM Plex Sans" pitchFamily="34" charset="-122"/>
                <a:cs typeface="IBM Plex Sans" pitchFamily="34" charset="-120"/>
              </a:rPr>
              <a:t>Salida</a:t>
            </a:r>
            <a:endParaRPr lang="en-US" sz="1299" dirty="0"/>
          </a:p>
        </p:txBody>
      </p:sp>
      <p:sp>
        <p:nvSpPr>
          <p:cNvPr id="23" name="Shape 21"/>
          <p:cNvSpPr/>
          <p:nvPr/>
        </p:nvSpPr>
        <p:spPr>
          <a:xfrm>
            <a:off x="9934972" y="1970881"/>
            <a:ext cx="1444228" cy="63500"/>
          </a:xfrm>
          <a:prstGeom prst="roundRect">
            <a:avLst>
              <a:gd name="adj" fmla="val 50000"/>
            </a:avLst>
          </a:prstGeom>
          <a:solidFill>
            <a:srgbClr val="A99BCF"/>
          </a:solidFill>
          <a:ln/>
        </p:spPr>
      </p:sp>
      <p:sp>
        <p:nvSpPr>
          <p:cNvPr id="24" name="Text 22"/>
          <p:cNvSpPr/>
          <p:nvPr/>
        </p:nvSpPr>
        <p:spPr>
          <a:xfrm>
            <a:off x="9934972" y="2085181"/>
            <a:ext cx="1733074" cy="400348"/>
          </a:xfrm>
          <a:prstGeom prst="rect">
            <a:avLst/>
          </a:prstGeom>
          <a:noFill/>
          <a:ln/>
        </p:spPr>
        <p:txBody>
          <a:bodyPr wrap="square" lIns="0" tIns="0" rIns="0" bIns="0" rtlCol="0" anchor="t">
            <a:normAutofit/>
          </a:bodyPr>
          <a:lstStyle/>
          <a:p>
            <a:pPr algn="l" indent="0" marL="0">
              <a:lnSpc>
                <a:spcPts val="1539"/>
              </a:lnSpc>
              <a:buNone/>
            </a:pPr>
            <a:r>
              <a:rPr lang="en-US" sz="1140" dirty="0">
                <a:solidFill>
                  <a:srgbClr val="4A5D52"/>
                </a:solidFill>
                <a:latin typeface="IBM Plex Sans" pitchFamily="34" charset="0"/>
                <a:ea typeface="IBM Plex Sans" pitchFamily="34" charset="-122"/>
                <a:cs typeface="IBM Plex Sans" pitchFamily="34" charset="-120"/>
              </a:rPr>
              <a:t>Volcable → Salida SLZ</a:t>
            </a:r>
            <a:endParaRPr lang="en-US" sz="1140" dirty="0"/>
          </a:p>
        </p:txBody>
      </p:sp>
      <p:sp>
        <p:nvSpPr>
          <p:cNvPr id="25" name="Text 23"/>
          <p:cNvSpPr/>
          <p:nvPr/>
        </p:nvSpPr>
        <p:spPr>
          <a:xfrm>
            <a:off x="787400" y="2663329"/>
            <a:ext cx="787400" cy="320477"/>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21</a:t>
            </a:r>
            <a:endParaRPr lang="en-US" sz="1800" dirty="0"/>
          </a:p>
        </p:txBody>
      </p:sp>
      <p:sp>
        <p:nvSpPr>
          <p:cNvPr id="26" name="Text 24"/>
          <p:cNvSpPr/>
          <p:nvPr/>
        </p:nvSpPr>
        <p:spPr>
          <a:xfrm>
            <a:off x="1524000" y="2663329"/>
            <a:ext cx="577850" cy="320477"/>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15</a:t>
            </a:r>
            <a:endParaRPr lang="en-US" sz="1800" dirty="0"/>
          </a:p>
        </p:txBody>
      </p:sp>
      <p:sp>
        <p:nvSpPr>
          <p:cNvPr id="27" name="Text 25"/>
          <p:cNvSpPr/>
          <p:nvPr/>
        </p:nvSpPr>
        <p:spPr>
          <a:xfrm>
            <a:off x="2041684" y="2663329"/>
            <a:ext cx="2387283" cy="320477"/>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5E4428"/>
                </a:solidFill>
                <a:latin typeface="IBM Plex Sans" pitchFamily="34" charset="0"/>
                <a:ea typeface="IBM Plex Sans" pitchFamily="34" charset="-122"/>
                <a:cs typeface="IBM Plex Sans" pitchFamily="34" charset="-120"/>
              </a:rPr>
              <a:t>66</a:t>
            </a:r>
            <a:endParaRPr lang="en-US" sz="1800" dirty="0"/>
          </a:p>
        </p:txBody>
      </p:sp>
      <p:sp>
        <p:nvSpPr>
          <p:cNvPr id="28" name="Text 26"/>
          <p:cNvSpPr/>
          <p:nvPr/>
        </p:nvSpPr>
        <p:spPr>
          <a:xfrm>
            <a:off x="4368800" y="2663329"/>
            <a:ext cx="685800" cy="320477"/>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18</a:t>
            </a:r>
            <a:endParaRPr lang="en-US" sz="1800" dirty="0"/>
          </a:p>
        </p:txBody>
      </p:sp>
      <p:sp>
        <p:nvSpPr>
          <p:cNvPr id="29" name="Text 27"/>
          <p:cNvSpPr/>
          <p:nvPr/>
        </p:nvSpPr>
        <p:spPr>
          <a:xfrm>
            <a:off x="4986147" y="2663329"/>
            <a:ext cx="2956306" cy="320477"/>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2E1B4E"/>
                </a:solidFill>
                <a:latin typeface="IBM Plex Sans" pitchFamily="34" charset="0"/>
                <a:ea typeface="IBM Plex Sans" pitchFamily="34" charset="-122"/>
                <a:cs typeface="IBM Plex Sans" pitchFamily="34" charset="-120"/>
              </a:rPr>
              <a:t>82</a:t>
            </a:r>
            <a:endParaRPr lang="en-US" sz="1800" dirty="0"/>
          </a:p>
        </p:txBody>
      </p:sp>
      <p:sp>
        <p:nvSpPr>
          <p:cNvPr id="30" name="Text 28"/>
          <p:cNvSpPr/>
          <p:nvPr/>
        </p:nvSpPr>
        <p:spPr>
          <a:xfrm>
            <a:off x="7856728" y="2663329"/>
            <a:ext cx="2930144" cy="320477"/>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6B55A3"/>
                </a:solidFill>
                <a:latin typeface="IBM Plex Sans" pitchFamily="34" charset="0"/>
                <a:ea typeface="IBM Plex Sans" pitchFamily="34" charset="-122"/>
                <a:cs typeface="IBM Plex Sans" pitchFamily="34" charset="-120"/>
              </a:rPr>
              <a:t>81</a:t>
            </a:r>
            <a:endParaRPr lang="en-US" sz="1800" dirty="0"/>
          </a:p>
        </p:txBody>
      </p:sp>
      <p:sp>
        <p:nvSpPr>
          <p:cNvPr id="31" name="Text 29"/>
          <p:cNvSpPr/>
          <p:nvPr/>
        </p:nvSpPr>
        <p:spPr>
          <a:xfrm>
            <a:off x="10718800" y="2663329"/>
            <a:ext cx="685800" cy="320477"/>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18</a:t>
            </a:r>
            <a:endParaRPr lang="en-US" sz="1800" dirty="0"/>
          </a:p>
        </p:txBody>
      </p:sp>
      <p:sp>
        <p:nvSpPr>
          <p:cNvPr id="32" name="Shape 30"/>
          <p:cNvSpPr/>
          <p:nvPr/>
        </p:nvSpPr>
        <p:spPr>
          <a:xfrm>
            <a:off x="812800" y="3009205"/>
            <a:ext cx="736600" cy="355600"/>
          </a:xfrm>
          <a:custGeom>
            <a:avLst/>
            <a:gdLst/>
            <a:ahLst/>
            <a:cxnLst/>
            <a:rect l="l" t="t" r="r" b="b"/>
            <a:pathLst>
              <a:path w="736600" h="355600">
                <a:moveTo>
                  <a:pt x="0" y="50800"/>
                </a:moveTo>
                <a:arcTo hR="50800" wR="50800" stAng="10800000" swAng="5400000"/>
                <a:lnTo>
                  <a:pt x="736600" y="0"/>
                </a:lnTo>
                <a:lnTo>
                  <a:pt x="736600" y="355600"/>
                </a:lnTo>
                <a:lnTo>
                  <a:pt x="0" y="355600"/>
                </a:lnTo>
                <a:close/>
              </a:path>
            </a:pathLst>
          </a:custGeom>
          <a:solidFill>
            <a:srgbClr val="9CCBAE"/>
          </a:solidFill>
          <a:ln/>
        </p:spPr>
      </p:sp>
      <p:sp>
        <p:nvSpPr>
          <p:cNvPr id="33" name="Shape 31"/>
          <p:cNvSpPr/>
          <p:nvPr/>
        </p:nvSpPr>
        <p:spPr>
          <a:xfrm>
            <a:off x="1549400" y="3009205"/>
            <a:ext cx="527050" cy="355600"/>
          </a:xfrm>
          <a:prstGeom prst="rect">
            <a:avLst/>
          </a:prstGeom>
          <a:solidFill>
            <a:srgbClr val="3A8F63"/>
          </a:solidFill>
          <a:ln/>
        </p:spPr>
      </p:sp>
      <p:sp>
        <p:nvSpPr>
          <p:cNvPr id="34" name="Shape 32"/>
          <p:cNvSpPr/>
          <p:nvPr/>
        </p:nvSpPr>
        <p:spPr>
          <a:xfrm>
            <a:off x="1558925" y="3009205"/>
            <a:ext cx="0" cy="355600"/>
          </a:xfrm>
          <a:prstGeom prst="line">
            <a:avLst/>
          </a:prstGeom>
          <a:noFill/>
          <a:ln w="19050">
            <a:solidFill>
              <a:srgbClr val="F5F8F4"/>
            </a:solidFill>
            <a:prstDash val="solid"/>
          </a:ln>
        </p:spPr>
      </p:sp>
      <p:sp>
        <p:nvSpPr>
          <p:cNvPr id="35" name="Shape 33"/>
          <p:cNvSpPr/>
          <p:nvPr/>
        </p:nvSpPr>
        <p:spPr>
          <a:xfrm>
            <a:off x="2076450" y="3009205"/>
            <a:ext cx="2317750" cy="355600"/>
          </a:xfrm>
          <a:prstGeom prst="rect">
            <a:avLst/>
          </a:prstGeom>
          <a:solidFill>
            <a:srgbClr val="9A7650"/>
          </a:solidFill>
          <a:ln/>
        </p:spPr>
      </p:sp>
      <p:sp>
        <p:nvSpPr>
          <p:cNvPr id="36" name="Shape 34"/>
          <p:cNvSpPr/>
          <p:nvPr/>
        </p:nvSpPr>
        <p:spPr>
          <a:xfrm>
            <a:off x="2085975" y="3009205"/>
            <a:ext cx="0" cy="355600"/>
          </a:xfrm>
          <a:prstGeom prst="line">
            <a:avLst/>
          </a:prstGeom>
          <a:noFill/>
          <a:ln w="19050">
            <a:solidFill>
              <a:srgbClr val="F5F8F4"/>
            </a:solidFill>
            <a:prstDash val="solid"/>
          </a:ln>
        </p:spPr>
      </p:sp>
      <p:sp>
        <p:nvSpPr>
          <p:cNvPr id="37" name="Shape 35"/>
          <p:cNvSpPr/>
          <p:nvPr/>
        </p:nvSpPr>
        <p:spPr>
          <a:xfrm>
            <a:off x="4394200" y="3009205"/>
            <a:ext cx="635000" cy="355600"/>
          </a:xfrm>
          <a:prstGeom prst="rect">
            <a:avLst/>
          </a:prstGeom>
          <a:solidFill>
            <a:srgbClr val="B7C3BB"/>
          </a:solidFill>
          <a:ln/>
        </p:spPr>
      </p:sp>
      <p:sp>
        <p:nvSpPr>
          <p:cNvPr id="38" name="Shape 36"/>
          <p:cNvSpPr/>
          <p:nvPr/>
        </p:nvSpPr>
        <p:spPr>
          <a:xfrm>
            <a:off x="4403725" y="3009205"/>
            <a:ext cx="0" cy="355600"/>
          </a:xfrm>
          <a:prstGeom prst="line">
            <a:avLst/>
          </a:prstGeom>
          <a:noFill/>
          <a:ln w="19050">
            <a:solidFill>
              <a:srgbClr val="F5F8F4"/>
            </a:solidFill>
            <a:prstDash val="solid"/>
          </a:ln>
        </p:spPr>
      </p:sp>
      <p:sp>
        <p:nvSpPr>
          <p:cNvPr id="39" name="Shape 37"/>
          <p:cNvSpPr/>
          <p:nvPr/>
        </p:nvSpPr>
        <p:spPr>
          <a:xfrm>
            <a:off x="5029200" y="3009205"/>
            <a:ext cx="2870200" cy="355600"/>
          </a:xfrm>
          <a:prstGeom prst="rect">
            <a:avLst/>
          </a:prstGeom>
          <a:solidFill>
            <a:srgbClr val="2E1B4E"/>
          </a:solidFill>
          <a:ln/>
        </p:spPr>
      </p:sp>
      <p:sp>
        <p:nvSpPr>
          <p:cNvPr id="40" name="Shape 38"/>
          <p:cNvSpPr/>
          <p:nvPr/>
        </p:nvSpPr>
        <p:spPr>
          <a:xfrm>
            <a:off x="5038725" y="3009205"/>
            <a:ext cx="0" cy="355600"/>
          </a:xfrm>
          <a:prstGeom prst="line">
            <a:avLst/>
          </a:prstGeom>
          <a:noFill/>
          <a:ln w="19050">
            <a:solidFill>
              <a:srgbClr val="F5F8F4"/>
            </a:solidFill>
            <a:prstDash val="solid"/>
          </a:ln>
        </p:spPr>
      </p:sp>
      <p:sp>
        <p:nvSpPr>
          <p:cNvPr id="41" name="Shape 39"/>
          <p:cNvSpPr/>
          <p:nvPr/>
        </p:nvSpPr>
        <p:spPr>
          <a:xfrm>
            <a:off x="7899400" y="3009205"/>
            <a:ext cx="2844800" cy="355600"/>
          </a:xfrm>
          <a:prstGeom prst="rect">
            <a:avLst/>
          </a:prstGeom>
          <a:solidFill>
            <a:srgbClr val="6B55A3"/>
          </a:solidFill>
          <a:ln/>
        </p:spPr>
      </p:sp>
      <p:sp>
        <p:nvSpPr>
          <p:cNvPr id="42" name="Shape 40"/>
          <p:cNvSpPr/>
          <p:nvPr/>
        </p:nvSpPr>
        <p:spPr>
          <a:xfrm>
            <a:off x="7908925" y="3009205"/>
            <a:ext cx="0" cy="355600"/>
          </a:xfrm>
          <a:prstGeom prst="line">
            <a:avLst/>
          </a:prstGeom>
          <a:noFill/>
          <a:ln w="19050">
            <a:solidFill>
              <a:srgbClr val="F5F8F4"/>
            </a:solidFill>
            <a:prstDash val="solid"/>
          </a:ln>
        </p:spPr>
      </p:sp>
      <p:sp>
        <p:nvSpPr>
          <p:cNvPr id="43" name="Shape 41"/>
          <p:cNvSpPr/>
          <p:nvPr/>
        </p:nvSpPr>
        <p:spPr>
          <a:xfrm>
            <a:off x="10744200" y="3009205"/>
            <a:ext cx="635000" cy="355600"/>
          </a:xfrm>
          <a:custGeom>
            <a:avLst/>
            <a:gdLst/>
            <a:ahLst/>
            <a:cxnLst/>
            <a:rect l="l" t="t" r="r" b="b"/>
            <a:pathLst>
              <a:path w="635000" h="355600">
                <a:moveTo>
                  <a:pt x="584200" y="0"/>
                </a:moveTo>
                <a:arcTo hR="50800" wR="50800" stAng="16200000" swAng="5400000"/>
                <a:lnTo>
                  <a:pt x="635000" y="355600"/>
                </a:lnTo>
                <a:lnTo>
                  <a:pt x="0" y="355600"/>
                </a:lnTo>
                <a:lnTo>
                  <a:pt x="0" y="0"/>
                </a:lnTo>
                <a:close/>
              </a:path>
            </a:pathLst>
          </a:custGeom>
          <a:solidFill>
            <a:srgbClr val="A99BCF"/>
          </a:solidFill>
          <a:ln/>
        </p:spPr>
      </p:sp>
      <p:sp>
        <p:nvSpPr>
          <p:cNvPr id="44" name="Shape 42"/>
          <p:cNvSpPr/>
          <p:nvPr/>
        </p:nvSpPr>
        <p:spPr>
          <a:xfrm>
            <a:off x="10744200" y="3009205"/>
            <a:ext cx="635000" cy="355600"/>
          </a:xfrm>
          <a:custGeom>
            <a:avLst/>
            <a:gdLst/>
            <a:ahLst/>
            <a:cxnLst/>
            <a:rect l="l" t="t" r="r" b="b"/>
            <a:pathLst>
              <a:path w="635000" h="355600">
                <a:moveTo>
                  <a:pt x="0" y="0"/>
                </a:moveTo>
                <a:lnTo>
                  <a:pt x="19050" y="0"/>
                </a:lnTo>
                <a:lnTo>
                  <a:pt x="19050" y="355600"/>
                </a:lnTo>
                <a:lnTo>
                  <a:pt x="0" y="355600"/>
                </a:lnTo>
                <a:lnTo>
                  <a:pt x="0" y="0"/>
                </a:lnTo>
                <a:close/>
              </a:path>
            </a:pathLst>
          </a:custGeom>
          <a:solidFill>
            <a:srgbClr val="F5F8F4"/>
          </a:solidFill>
          <a:ln/>
        </p:spPr>
      </p:sp>
      <p:sp>
        <p:nvSpPr>
          <p:cNvPr id="45" name="Shape 43"/>
          <p:cNvSpPr/>
          <p:nvPr/>
        </p:nvSpPr>
        <p:spPr>
          <a:xfrm>
            <a:off x="812800" y="3400723"/>
            <a:ext cx="3581400" cy="0"/>
          </a:xfrm>
          <a:prstGeom prst="line">
            <a:avLst/>
          </a:prstGeom>
          <a:noFill/>
          <a:ln w="25400">
            <a:solidFill>
              <a:srgbClr val="9A7650"/>
            </a:solidFill>
            <a:prstDash val="solid"/>
          </a:ln>
        </p:spPr>
      </p:sp>
      <p:sp>
        <p:nvSpPr>
          <p:cNvPr id="46" name="Text 44"/>
          <p:cNvSpPr/>
          <p:nvPr/>
        </p:nvSpPr>
        <p:spPr>
          <a:xfrm>
            <a:off x="759079" y="3476923"/>
            <a:ext cx="3688842" cy="248047"/>
          </a:xfrm>
          <a:prstGeom prst="rect">
            <a:avLst/>
          </a:prstGeom>
          <a:noFill/>
          <a:ln/>
        </p:spPr>
        <p:txBody>
          <a:bodyPr wrap="square" lIns="0" tIns="0" rIns="0" bIns="0" rtlCol="0" anchor="t">
            <a:normAutofit/>
          </a:bodyPr>
          <a:lstStyle/>
          <a:p>
            <a:pPr algn="ctr" indent="0" marL="0">
              <a:lnSpc>
                <a:spcPts val="1770"/>
              </a:lnSpc>
              <a:buNone/>
            </a:pPr>
            <a:r>
              <a:rPr lang="en-US" sz="1264" b="1" dirty="0">
                <a:solidFill>
                  <a:srgbClr val="5E4428"/>
                </a:solidFill>
                <a:latin typeface="IBM Plex Sans" pitchFamily="34" charset="0"/>
                <a:ea typeface="IBM Plex Sans" pitchFamily="34" charset="-122"/>
                <a:cs typeface="IBM Plex Sans" pitchFamily="34" charset="-120"/>
              </a:rPr>
              <a:t>Ricardone · 102 min (1 h 42 m)</a:t>
            </a:r>
            <a:endParaRPr lang="en-US" sz="1264" dirty="0"/>
          </a:p>
        </p:txBody>
      </p:sp>
      <p:sp>
        <p:nvSpPr>
          <p:cNvPr id="47" name="Shape 45"/>
          <p:cNvSpPr/>
          <p:nvPr/>
        </p:nvSpPr>
        <p:spPr>
          <a:xfrm>
            <a:off x="4394200" y="3400723"/>
            <a:ext cx="6350000" cy="0"/>
          </a:xfrm>
          <a:prstGeom prst="line">
            <a:avLst/>
          </a:prstGeom>
          <a:noFill/>
          <a:ln w="25400">
            <a:solidFill>
              <a:srgbClr val="6B55A3"/>
            </a:solidFill>
            <a:prstDash val="solid"/>
          </a:ln>
        </p:spPr>
      </p:sp>
      <p:sp>
        <p:nvSpPr>
          <p:cNvPr id="48" name="Text 46"/>
          <p:cNvSpPr/>
          <p:nvPr/>
        </p:nvSpPr>
        <p:spPr>
          <a:xfrm>
            <a:off x="4298950" y="3476923"/>
            <a:ext cx="6540500" cy="248047"/>
          </a:xfrm>
          <a:prstGeom prst="rect">
            <a:avLst/>
          </a:prstGeom>
          <a:noFill/>
          <a:ln/>
        </p:spPr>
        <p:txBody>
          <a:bodyPr wrap="square" lIns="0" tIns="0" rIns="0" bIns="0" rtlCol="0" anchor="t">
            <a:normAutofit/>
          </a:bodyPr>
          <a:lstStyle/>
          <a:p>
            <a:pPr algn="ctr" indent="0" marL="0">
              <a:lnSpc>
                <a:spcPts val="1770"/>
              </a:lnSpc>
              <a:buNone/>
            </a:pPr>
            <a:r>
              <a:rPr lang="en-US" sz="1264" b="1" dirty="0">
                <a:solidFill>
                  <a:srgbClr val="2E1B4E"/>
                </a:solidFill>
                <a:latin typeface="IBM Plex Sans" pitchFamily="34" charset="0"/>
                <a:ea typeface="IBM Plex Sans" pitchFamily="34" charset="-122"/>
                <a:cs typeface="IBM Plex Sans" pitchFamily="34" charset="-120"/>
              </a:rPr>
              <a:t>San Lorenzo · 181 min (3 h 1 m)</a:t>
            </a:r>
            <a:endParaRPr lang="en-US" sz="1264" dirty="0"/>
          </a:p>
        </p:txBody>
      </p:sp>
      <p:sp>
        <p:nvSpPr>
          <p:cNvPr id="49" name="Shape 47"/>
          <p:cNvSpPr/>
          <p:nvPr/>
        </p:nvSpPr>
        <p:spPr>
          <a:xfrm>
            <a:off x="815975" y="3905945"/>
            <a:ext cx="3414117" cy="1249462"/>
          </a:xfrm>
          <a:prstGeom prst="roundRect">
            <a:avLst>
              <a:gd name="adj" fmla="val 6861"/>
            </a:avLst>
          </a:prstGeom>
          <a:solidFill>
            <a:srgbClr val="FCFDFB"/>
          </a:solidFill>
          <a:ln w="6350">
            <a:solidFill>
              <a:srgbClr val="D3E2D7"/>
            </a:solidFill>
            <a:prstDash val="solid"/>
          </a:ln>
        </p:spPr>
      </p:sp>
      <p:sp>
        <p:nvSpPr>
          <p:cNvPr id="50" name="Text 48"/>
          <p:cNvSpPr/>
          <p:nvPr/>
        </p:nvSpPr>
        <p:spPr>
          <a:xfrm>
            <a:off x="1022350" y="4061520"/>
            <a:ext cx="3091408" cy="218281"/>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4A5D52"/>
                </a:solidFill>
                <a:latin typeface="IBM Plex Sans" pitchFamily="34" charset="0"/>
                <a:ea typeface="IBM Plex Sans" pitchFamily="34" charset="-122"/>
                <a:cs typeface="IBM Plex Sans" pitchFamily="34" charset="-120"/>
              </a:rPr>
              <a:t>Ciclo completo por viaje</a:t>
            </a:r>
            <a:endParaRPr lang="en-US" sz="1088" dirty="0"/>
          </a:p>
        </p:txBody>
      </p:sp>
      <p:sp>
        <p:nvSpPr>
          <p:cNvPr id="51" name="Text 49"/>
          <p:cNvSpPr/>
          <p:nvPr/>
        </p:nvSpPr>
        <p:spPr>
          <a:xfrm>
            <a:off x="1022350" y="4292501"/>
            <a:ext cx="3204567" cy="732730"/>
          </a:xfrm>
          <a:prstGeom prst="rect">
            <a:avLst/>
          </a:prstGeom>
          <a:noFill/>
          <a:ln/>
        </p:spPr>
        <p:txBody>
          <a:bodyPr wrap="square" lIns="0" tIns="0" rIns="0" bIns="0" rtlCol="0" anchor="t">
            <a:normAutofit/>
          </a:bodyPr>
          <a:lstStyle/>
          <a:p>
            <a:pPr algn="l" indent="0" marL="0">
              <a:lnSpc>
                <a:spcPts val="3022"/>
              </a:lnSpc>
              <a:buNone/>
            </a:pPr>
            <a:r>
              <a:rPr lang="en-US" sz="2748" b="1" dirty="0">
                <a:solidFill>
                  <a:srgbClr val="5E4428"/>
                </a:solidFill>
                <a:latin typeface="IBM Plex Sans" pitchFamily="34" charset="0"/>
                <a:ea typeface="IBM Plex Sans" pitchFamily="34" charset="-122"/>
                <a:cs typeface="IBM Plex Sans" pitchFamily="34" charset="-120"/>
              </a:rPr>
              <a:t>281 min · 4 h 41 m</a:t>
            </a:r>
            <a:endParaRPr lang="en-US" sz="2748" dirty="0"/>
          </a:p>
        </p:txBody>
      </p:sp>
      <p:sp>
        <p:nvSpPr>
          <p:cNvPr id="52" name="Shape 50"/>
          <p:cNvSpPr/>
          <p:nvPr/>
        </p:nvSpPr>
        <p:spPr>
          <a:xfrm>
            <a:off x="4388842" y="3905945"/>
            <a:ext cx="3414216" cy="1249462"/>
          </a:xfrm>
          <a:prstGeom prst="roundRect">
            <a:avLst>
              <a:gd name="adj" fmla="val 6861"/>
            </a:avLst>
          </a:prstGeom>
          <a:solidFill>
            <a:srgbClr val="FCFDFB"/>
          </a:solidFill>
          <a:ln w="6350">
            <a:solidFill>
              <a:srgbClr val="D3E2D7"/>
            </a:solidFill>
            <a:prstDash val="solid"/>
          </a:ln>
        </p:spPr>
      </p:sp>
      <p:sp>
        <p:nvSpPr>
          <p:cNvPr id="53" name="Text 51"/>
          <p:cNvSpPr/>
          <p:nvPr/>
        </p:nvSpPr>
        <p:spPr>
          <a:xfrm>
            <a:off x="4595217" y="406152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Vuelta puerto → Ricardone</a:t>
            </a:r>
            <a:endParaRPr lang="en-US" sz="1200" dirty="0"/>
          </a:p>
        </p:txBody>
      </p:sp>
      <p:sp>
        <p:nvSpPr>
          <p:cNvPr id="54" name="Text 52"/>
          <p:cNvSpPr/>
          <p:nvPr/>
        </p:nvSpPr>
        <p:spPr>
          <a:xfrm>
            <a:off x="4595217" y="4312940"/>
            <a:ext cx="309151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5638"/>
                </a:solidFill>
                <a:latin typeface="IBM Plex Sans" pitchFamily="34" charset="0"/>
                <a:ea typeface="IBM Plex Sans" pitchFamily="34" charset="-122"/>
                <a:cs typeface="IBM Plex Sans" pitchFamily="34" charset="-120"/>
              </a:rPr>
              <a:t>22 min</a:t>
            </a:r>
            <a:endParaRPr lang="en-US" sz="2800" dirty="0"/>
          </a:p>
        </p:txBody>
      </p:sp>
      <p:sp>
        <p:nvSpPr>
          <p:cNvPr id="55" name="Shape 53"/>
          <p:cNvSpPr/>
          <p:nvPr/>
        </p:nvSpPr>
        <p:spPr>
          <a:xfrm>
            <a:off x="7961809" y="3905945"/>
            <a:ext cx="3414216" cy="1249462"/>
          </a:xfrm>
          <a:prstGeom prst="roundRect">
            <a:avLst>
              <a:gd name="adj" fmla="val 6861"/>
            </a:avLst>
          </a:prstGeom>
          <a:solidFill>
            <a:srgbClr val="FCFDFB"/>
          </a:solidFill>
          <a:ln w="6350">
            <a:solidFill>
              <a:srgbClr val="D3E2D7"/>
            </a:solidFill>
            <a:prstDash val="solid"/>
          </a:ln>
        </p:spPr>
      </p:sp>
      <p:sp>
        <p:nvSpPr>
          <p:cNvPr id="56" name="Text 54"/>
          <p:cNvSpPr/>
          <p:nvPr/>
        </p:nvSpPr>
        <p:spPr>
          <a:xfrm>
            <a:off x="8168184" y="406152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Total de viajes</a:t>
            </a:r>
            <a:endParaRPr lang="en-US" sz="1200" dirty="0"/>
          </a:p>
        </p:txBody>
      </p:sp>
      <p:sp>
        <p:nvSpPr>
          <p:cNvPr id="57" name="Text 55"/>
          <p:cNvSpPr/>
          <p:nvPr/>
        </p:nvSpPr>
        <p:spPr>
          <a:xfrm>
            <a:off x="8168184" y="4312940"/>
            <a:ext cx="309151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E1B4E"/>
                </a:solidFill>
                <a:latin typeface="IBM Plex Sans" pitchFamily="34" charset="0"/>
                <a:ea typeface="IBM Plex Sans" pitchFamily="34" charset="-122"/>
                <a:cs typeface="IBM Plex Sans" pitchFamily="34" charset="-120"/>
              </a:rPr>
              <a:t>307</a:t>
            </a:r>
            <a:endParaRPr lang="en-US" sz="2800" dirty="0"/>
          </a:p>
        </p:txBody>
      </p:sp>
      <p:sp>
        <p:nvSpPr>
          <p:cNvPr id="58" name="Shape 56"/>
          <p:cNvSpPr/>
          <p:nvPr/>
        </p:nvSpPr>
        <p:spPr>
          <a:xfrm>
            <a:off x="831850" y="5361781"/>
            <a:ext cx="0" cy="480219"/>
          </a:xfrm>
          <a:prstGeom prst="line">
            <a:avLst/>
          </a:prstGeom>
          <a:noFill/>
          <a:ln w="38100">
            <a:solidFill>
              <a:srgbClr val="3A8F63"/>
            </a:solidFill>
            <a:prstDash val="solid"/>
          </a:ln>
        </p:spPr>
      </p:sp>
      <p:sp>
        <p:nvSpPr>
          <p:cNvPr id="59" name="Text 57"/>
          <p:cNvSpPr/>
          <p:nvPr/>
        </p:nvSpPr>
        <p:spPr>
          <a:xfrm>
            <a:off x="977900" y="5387181"/>
            <a:ext cx="10713339" cy="454819"/>
          </a:xfrm>
          <a:prstGeom prst="rect">
            <a:avLst/>
          </a:prstGeom>
          <a:noFill/>
          <a:ln/>
        </p:spPr>
        <p:txBody>
          <a:bodyPr wrap="square" lIns="0" tIns="0" rIns="0" bIns="0" rtlCol="0" anchor="t">
            <a:normAutofit/>
          </a:bodyPr>
          <a:lstStyle/>
          <a:p>
            <a:pPr algn="l" indent="0" marL="0">
              <a:lnSpc>
                <a:spcPts val="1712"/>
              </a:lnSpc>
              <a:buNone/>
            </a:pPr>
            <a:r>
              <a:rPr lang="en-US" sz="1223" b="1" dirty="0">
                <a:solidFill>
                  <a:srgbClr val="0B5638"/>
                </a:solidFill>
                <a:latin typeface="IBM Plex Sans" pitchFamily="34" charset="0"/>
                <a:ea typeface="IBM Plex Sans" pitchFamily="34" charset="-122"/>
                <a:cs typeface="IBM Plex Sans" pitchFamily="34" charset="-120"/>
              </a:rPr>
              <a:t>Playa OSL y la descarga suman 163 de los 281 min del ciclo: el tiempo del operativo se fue en el puerto. En Ricardone, la carga en Playa 3 tomó 66 min.</a:t>
            </a:r>
            <a:endParaRPr lang="en-US" sz="1223" dirty="0"/>
          </a:p>
        </p:txBody>
      </p:sp>
      <p:pic>
        <p:nvPicPr>
          <p:cNvPr id="6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61" name="Text 5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14</a:t>
            </a:r>
            <a:endParaRPr lang="en-US" sz="1200" dirty="0"/>
          </a:p>
        </p:txBody>
      </p:sp>
      <p:pic>
        <p:nvPicPr>
          <p:cNvPr id="62"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893193" cy="289520"/>
          </a:xfrm>
          <a:custGeom>
            <a:avLst/>
            <a:gdLst/>
            <a:ahLst/>
            <a:cxnLst/>
            <a:rect l="l" t="t" r="r" b="b"/>
            <a:pathLst>
              <a:path w="1893193" h="289520">
                <a:moveTo>
                  <a:pt x="144760" y="0"/>
                </a:moveTo>
                <a:lnTo>
                  <a:pt x="1748433" y="0"/>
                </a:lnTo>
                <a:arcTo hR="144760" wR="144760" stAng="16200000" swAng="5400000"/>
                <a:lnTo>
                  <a:pt x="1893193" y="144760"/>
                </a:lnTo>
                <a:arcTo hR="144760" wR="144760" stAng="0" swAng="5400000"/>
                <a:lnTo>
                  <a:pt x="144760" y="289520"/>
                </a:lnTo>
                <a:arcTo hR="144760" wR="144760" stAng="5400000" swAng="5400000"/>
                <a:lnTo>
                  <a:pt x="0" y="144760"/>
                </a:lnTo>
                <a:arcTo hR="144760" wR="144760" stAng="10800000" swAng="5400000"/>
                <a:close/>
              </a:path>
            </a:pathLst>
          </a:custGeom>
          <a:solidFill>
            <a:srgbClr val="5E442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PELLET · R30/31/32</a:t>
            </a:r>
            <a:endParaRPr lang="en-US" sz="1200" dirty="0"/>
          </a:p>
        </p:txBody>
      </p:sp>
      <p:sp>
        <p:nvSpPr>
          <p:cNvPr id="3" name="Text 1"/>
          <p:cNvSpPr/>
          <p:nvPr>
            <p:ph type="title"/>
          </p:nvPr>
        </p:nvSpPr>
        <p:spPr>
          <a:xfrm>
            <a:off x="812800" y="1102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Cada camión hizo más vueltas a medida que avanzó el operativo</a:t>
            </a:r>
            <a:endParaRPr lang="en-US" sz="3200" dirty="0"/>
          </a:p>
        </p:txBody>
      </p:sp>
      <p:sp>
        <p:nvSpPr>
          <p:cNvPr id="4" name="Shape 2"/>
          <p:cNvSpPr/>
          <p:nvPr/>
        </p:nvSpPr>
        <p:spPr>
          <a:xfrm>
            <a:off x="815975" y="2177256"/>
            <a:ext cx="2520950" cy="1565672"/>
          </a:xfrm>
          <a:prstGeom prst="roundRect">
            <a:avLst>
              <a:gd name="adj" fmla="val 6286"/>
            </a:avLst>
          </a:prstGeom>
          <a:solidFill>
            <a:srgbClr val="FCFDFB"/>
          </a:solidFill>
          <a:ln w="6350">
            <a:solidFill>
              <a:srgbClr val="D3E2D7"/>
            </a:solidFill>
            <a:prstDash val="solid"/>
          </a:ln>
        </p:spPr>
      </p:sp>
      <p:sp>
        <p:nvSpPr>
          <p:cNvPr id="5" name="Text 3"/>
          <p:cNvSpPr/>
          <p:nvPr/>
        </p:nvSpPr>
        <p:spPr>
          <a:xfrm>
            <a:off x="996950" y="2332831"/>
            <a:ext cx="222377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Jue 24</a:t>
            </a:r>
            <a:endParaRPr lang="en-US" sz="1400" dirty="0"/>
          </a:p>
        </p:txBody>
      </p:sp>
      <p:sp>
        <p:nvSpPr>
          <p:cNvPr id="6" name="Text 4"/>
          <p:cNvSpPr/>
          <p:nvPr/>
        </p:nvSpPr>
        <p:spPr>
          <a:xfrm>
            <a:off x="996950" y="2632472"/>
            <a:ext cx="2223770"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5E4428"/>
                </a:solidFill>
                <a:latin typeface="IBM Plex Sans" pitchFamily="34" charset="0"/>
                <a:ea typeface="IBM Plex Sans" pitchFamily="34" charset="-122"/>
                <a:cs typeface="IBM Plex Sans" pitchFamily="34" charset="-120"/>
              </a:rPr>
              <a:t>1</a:t>
            </a:r>
            <a:endParaRPr lang="en-US" sz="3200" dirty="0"/>
          </a:p>
        </p:txBody>
      </p:sp>
      <p:sp>
        <p:nvSpPr>
          <p:cNvPr id="7" name="Text 5"/>
          <p:cNvSpPr/>
          <p:nvPr/>
        </p:nvSpPr>
        <p:spPr>
          <a:xfrm>
            <a:off x="996950" y="3109913"/>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viajes por camión · máximo 2</a:t>
            </a:r>
            <a:endParaRPr lang="en-US" sz="1200" dirty="0"/>
          </a:p>
        </p:txBody>
      </p:sp>
      <p:sp>
        <p:nvSpPr>
          <p:cNvPr id="8" name="Text 6"/>
          <p:cNvSpPr/>
          <p:nvPr/>
        </p:nvSpPr>
        <p:spPr>
          <a:xfrm>
            <a:off x="996950" y="3374033"/>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32 camiones · 41 viajes</a:t>
            </a:r>
            <a:endParaRPr lang="en-US" sz="1200" dirty="0"/>
          </a:p>
        </p:txBody>
      </p:sp>
      <p:sp>
        <p:nvSpPr>
          <p:cNvPr id="9" name="Shape 7"/>
          <p:cNvSpPr/>
          <p:nvPr/>
        </p:nvSpPr>
        <p:spPr>
          <a:xfrm>
            <a:off x="3495675" y="2177256"/>
            <a:ext cx="2520950" cy="1565672"/>
          </a:xfrm>
          <a:prstGeom prst="roundRect">
            <a:avLst>
              <a:gd name="adj" fmla="val 6286"/>
            </a:avLst>
          </a:prstGeom>
          <a:solidFill>
            <a:srgbClr val="FCFDFB"/>
          </a:solidFill>
          <a:ln w="6350">
            <a:solidFill>
              <a:srgbClr val="D3E2D7"/>
            </a:solidFill>
            <a:prstDash val="solid"/>
          </a:ln>
        </p:spPr>
      </p:sp>
      <p:sp>
        <p:nvSpPr>
          <p:cNvPr id="10" name="Text 8"/>
          <p:cNvSpPr/>
          <p:nvPr/>
        </p:nvSpPr>
        <p:spPr>
          <a:xfrm>
            <a:off x="3676650" y="2332831"/>
            <a:ext cx="222377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Vie 25</a:t>
            </a:r>
            <a:endParaRPr lang="en-US" sz="1400" dirty="0"/>
          </a:p>
        </p:txBody>
      </p:sp>
      <p:sp>
        <p:nvSpPr>
          <p:cNvPr id="11" name="Text 9"/>
          <p:cNvSpPr/>
          <p:nvPr/>
        </p:nvSpPr>
        <p:spPr>
          <a:xfrm>
            <a:off x="3676650" y="2632472"/>
            <a:ext cx="2223770"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5E4428"/>
                </a:solidFill>
                <a:latin typeface="IBM Plex Sans" pitchFamily="34" charset="0"/>
                <a:ea typeface="IBM Plex Sans" pitchFamily="34" charset="-122"/>
                <a:cs typeface="IBM Plex Sans" pitchFamily="34" charset="-120"/>
              </a:rPr>
              <a:t>2</a:t>
            </a:r>
            <a:endParaRPr lang="en-US" sz="3200" dirty="0"/>
          </a:p>
        </p:txBody>
      </p:sp>
      <p:sp>
        <p:nvSpPr>
          <p:cNvPr id="12" name="Text 10"/>
          <p:cNvSpPr/>
          <p:nvPr/>
        </p:nvSpPr>
        <p:spPr>
          <a:xfrm>
            <a:off x="3676650" y="3109913"/>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viajes por camión · máximo 3</a:t>
            </a:r>
            <a:endParaRPr lang="en-US" sz="1200" dirty="0"/>
          </a:p>
        </p:txBody>
      </p:sp>
      <p:sp>
        <p:nvSpPr>
          <p:cNvPr id="13" name="Text 11"/>
          <p:cNvSpPr/>
          <p:nvPr/>
        </p:nvSpPr>
        <p:spPr>
          <a:xfrm>
            <a:off x="3676650" y="3374033"/>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38 camiones · 70 viajes</a:t>
            </a:r>
            <a:endParaRPr lang="en-US" sz="1200" dirty="0"/>
          </a:p>
        </p:txBody>
      </p:sp>
      <p:sp>
        <p:nvSpPr>
          <p:cNvPr id="14" name="Shape 12"/>
          <p:cNvSpPr/>
          <p:nvPr/>
        </p:nvSpPr>
        <p:spPr>
          <a:xfrm>
            <a:off x="6175375" y="2177256"/>
            <a:ext cx="2520950" cy="1565672"/>
          </a:xfrm>
          <a:prstGeom prst="roundRect">
            <a:avLst>
              <a:gd name="adj" fmla="val 6286"/>
            </a:avLst>
          </a:prstGeom>
          <a:solidFill>
            <a:srgbClr val="FCFDFB"/>
          </a:solidFill>
          <a:ln w="6350">
            <a:solidFill>
              <a:srgbClr val="D3E2D7"/>
            </a:solidFill>
            <a:prstDash val="solid"/>
          </a:ln>
        </p:spPr>
      </p:sp>
      <p:sp>
        <p:nvSpPr>
          <p:cNvPr id="15" name="Text 13"/>
          <p:cNvSpPr/>
          <p:nvPr/>
        </p:nvSpPr>
        <p:spPr>
          <a:xfrm>
            <a:off x="6356350" y="2332831"/>
            <a:ext cx="222377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Sáb 26</a:t>
            </a:r>
            <a:endParaRPr lang="en-US" sz="1400" dirty="0"/>
          </a:p>
        </p:txBody>
      </p:sp>
      <p:sp>
        <p:nvSpPr>
          <p:cNvPr id="16" name="Text 14"/>
          <p:cNvSpPr/>
          <p:nvPr/>
        </p:nvSpPr>
        <p:spPr>
          <a:xfrm>
            <a:off x="6356350" y="2632472"/>
            <a:ext cx="2223770"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5E4428"/>
                </a:solidFill>
                <a:latin typeface="IBM Plex Sans" pitchFamily="34" charset="0"/>
                <a:ea typeface="IBM Plex Sans" pitchFamily="34" charset="-122"/>
                <a:cs typeface="IBM Plex Sans" pitchFamily="34" charset="-120"/>
              </a:rPr>
              <a:t>3</a:t>
            </a:r>
            <a:endParaRPr lang="en-US" sz="3200" dirty="0"/>
          </a:p>
        </p:txBody>
      </p:sp>
      <p:sp>
        <p:nvSpPr>
          <p:cNvPr id="17" name="Text 15"/>
          <p:cNvSpPr/>
          <p:nvPr/>
        </p:nvSpPr>
        <p:spPr>
          <a:xfrm>
            <a:off x="6356350" y="3109913"/>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viajes por camión · máximo 4</a:t>
            </a:r>
            <a:endParaRPr lang="en-US" sz="1200" dirty="0"/>
          </a:p>
        </p:txBody>
      </p:sp>
      <p:sp>
        <p:nvSpPr>
          <p:cNvPr id="18" name="Text 16"/>
          <p:cNvSpPr/>
          <p:nvPr/>
        </p:nvSpPr>
        <p:spPr>
          <a:xfrm>
            <a:off x="6356350" y="3374033"/>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35 camiones · 90 viajes</a:t>
            </a:r>
            <a:endParaRPr lang="en-US" sz="1200" dirty="0"/>
          </a:p>
        </p:txBody>
      </p:sp>
      <p:sp>
        <p:nvSpPr>
          <p:cNvPr id="19" name="Shape 17"/>
          <p:cNvSpPr/>
          <p:nvPr/>
        </p:nvSpPr>
        <p:spPr>
          <a:xfrm>
            <a:off x="8855075" y="2177256"/>
            <a:ext cx="2520950" cy="1565672"/>
          </a:xfrm>
          <a:prstGeom prst="roundRect">
            <a:avLst>
              <a:gd name="adj" fmla="val 6286"/>
            </a:avLst>
          </a:prstGeom>
          <a:solidFill>
            <a:srgbClr val="FCFDFB"/>
          </a:solidFill>
          <a:ln w="6350">
            <a:solidFill>
              <a:srgbClr val="D3E2D7"/>
            </a:solidFill>
            <a:prstDash val="solid"/>
          </a:ln>
        </p:spPr>
      </p:sp>
      <p:sp>
        <p:nvSpPr>
          <p:cNvPr id="20" name="Text 18"/>
          <p:cNvSpPr/>
          <p:nvPr/>
        </p:nvSpPr>
        <p:spPr>
          <a:xfrm>
            <a:off x="9036050" y="2332831"/>
            <a:ext cx="222377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Mié 30</a:t>
            </a:r>
            <a:endParaRPr lang="en-US" sz="1400" dirty="0"/>
          </a:p>
        </p:txBody>
      </p:sp>
      <p:sp>
        <p:nvSpPr>
          <p:cNvPr id="21" name="Text 19"/>
          <p:cNvSpPr/>
          <p:nvPr/>
        </p:nvSpPr>
        <p:spPr>
          <a:xfrm>
            <a:off x="9036050" y="2632472"/>
            <a:ext cx="2223770"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5E4428"/>
                </a:solidFill>
                <a:latin typeface="IBM Plex Sans" pitchFamily="34" charset="0"/>
                <a:ea typeface="IBM Plex Sans" pitchFamily="34" charset="-122"/>
                <a:cs typeface="IBM Plex Sans" pitchFamily="34" charset="-120"/>
              </a:rPr>
              <a:t>2</a:t>
            </a:r>
            <a:endParaRPr lang="en-US" sz="3200" dirty="0"/>
          </a:p>
        </p:txBody>
      </p:sp>
      <p:sp>
        <p:nvSpPr>
          <p:cNvPr id="22" name="Text 20"/>
          <p:cNvSpPr/>
          <p:nvPr/>
        </p:nvSpPr>
        <p:spPr>
          <a:xfrm>
            <a:off x="9036050" y="3109913"/>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viajes por camión · máximo 4</a:t>
            </a:r>
            <a:endParaRPr lang="en-US" sz="1200" dirty="0"/>
          </a:p>
        </p:txBody>
      </p:sp>
      <p:sp>
        <p:nvSpPr>
          <p:cNvPr id="23" name="Text 21"/>
          <p:cNvSpPr/>
          <p:nvPr/>
        </p:nvSpPr>
        <p:spPr>
          <a:xfrm>
            <a:off x="9036050" y="3374033"/>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43 camiones · 106 viajes</a:t>
            </a:r>
            <a:endParaRPr lang="en-US" sz="1200" dirty="0"/>
          </a:p>
        </p:txBody>
      </p:sp>
      <p:sp>
        <p:nvSpPr>
          <p:cNvPr id="24" name="Text 22"/>
          <p:cNvSpPr/>
          <p:nvPr/>
        </p:nvSpPr>
        <p:spPr>
          <a:xfrm>
            <a:off x="812800" y="3923903"/>
            <a:ext cx="68544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D52"/>
                </a:solidFill>
                <a:latin typeface="IBM Plex Sans" pitchFamily="34" charset="0"/>
                <a:ea typeface="IBM Plex Sans" pitchFamily="34" charset="-122"/>
                <a:cs typeface="IBM Plex Sans" pitchFamily="34" charset="-120"/>
              </a:rPr>
              <a:t>En todo el operativo, 62 camiones hicieron 307 viajes: </a:t>
            </a:r>
            <a:r>
              <a:rPr lang="en-US" sz="1500" b="1" dirty="0">
                <a:solidFill>
                  <a:srgbClr val="4A5D52"/>
                </a:solidFill>
                <a:latin typeface="IBM Plex Sans" pitchFamily="34" charset="0"/>
                <a:ea typeface="IBM Plex Sans" pitchFamily="34" charset="-122"/>
                <a:cs typeface="IBM Plex Sans" pitchFamily="34" charset="-120"/>
              </a:rPr>
              <a:t>5 por camión</a:t>
            </a:r>
            <a:r>
              <a:rPr lang="en-US" sz="1500" dirty="0">
                <a:solidFill>
                  <a:srgbClr val="4A5D52"/>
                </a:solidFill>
                <a:latin typeface="IBM Plex Sans" pitchFamily="34" charset="0"/>
                <a:ea typeface="IBM Plex Sans" pitchFamily="34" charset="-122"/>
                <a:cs typeface="IBM Plex Sans" pitchFamily="34" charset="-120"/>
              </a:rPr>
              <a:t>. El primer día, que arrancó a las 18 h, cada uno hizo uno; en las tandas completas, unos 3, con camiones que llegaron a 4.</a:t>
            </a:r>
            <a:endParaRPr lang="en-US" sz="1500" dirty="0"/>
          </a:p>
        </p:txBody>
      </p:sp>
      <p:sp>
        <p:nvSpPr>
          <p:cNvPr id="25" name="Shape 23"/>
          <p:cNvSpPr/>
          <p:nvPr/>
        </p:nvSpPr>
        <p:spPr>
          <a:xfrm>
            <a:off x="831850" y="4851003"/>
            <a:ext cx="0" cy="512961"/>
          </a:xfrm>
          <a:prstGeom prst="line">
            <a:avLst/>
          </a:prstGeom>
          <a:noFill/>
          <a:ln w="38100">
            <a:solidFill>
              <a:srgbClr val="3A8F63"/>
            </a:solidFill>
            <a:prstDash val="solid"/>
          </a:ln>
        </p:spPr>
      </p:sp>
      <p:sp>
        <p:nvSpPr>
          <p:cNvPr id="26" name="Text 24"/>
          <p:cNvSpPr/>
          <p:nvPr/>
        </p:nvSpPr>
        <p:spPr>
          <a:xfrm>
            <a:off x="977900" y="4876403"/>
            <a:ext cx="6684391"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Con jornadas completas el operativo rindió casi el doble de vueltas por camión: vale programarlo en tandas largas y no cortadas.</a:t>
            </a:r>
            <a:endParaRPr lang="en-US" sz="1300" dirty="0"/>
          </a:p>
        </p:txBody>
      </p:sp>
      <p:sp>
        <p:nvSpPr>
          <p:cNvPr id="27" name="Text 25"/>
          <p:cNvSpPr/>
          <p:nvPr/>
        </p:nvSpPr>
        <p:spPr>
          <a:xfrm>
            <a:off x="7823200" y="3923903"/>
            <a:ext cx="3662680" cy="154087"/>
          </a:xfrm>
          <a:prstGeom prst="rect">
            <a:avLst/>
          </a:prstGeom>
          <a:noFill/>
          <a:ln/>
        </p:spPr>
        <p:txBody>
          <a:bodyPr wrap="square" lIns="0" tIns="0" rIns="0" bIns="0" rtlCol="0" anchor="t">
            <a:normAutofit/>
          </a:bodyPr>
          <a:lstStyle/>
          <a:p>
            <a:pPr algn="l" indent="0" marL="0">
              <a:lnSpc>
                <a:spcPts val="1024"/>
              </a:lnSpc>
              <a:buNone/>
            </a:pPr>
            <a:r>
              <a:rPr lang="en-US" sz="731" dirty="0">
                <a:solidFill>
                  <a:srgbClr val="4A5D52"/>
                </a:solidFill>
                <a:latin typeface="IBM Plex Sans" pitchFamily="34" charset="0"/>
                <a:ea typeface="IBM Plex Sans" pitchFamily="34" charset="-122"/>
                <a:cs typeface="IBM Plex Sans" pitchFamily="34" charset="-120"/>
              </a:rPr>
              <a:t>Los que más viajes hicieron en la semana</a:t>
            </a:r>
            <a:endParaRPr lang="en-US" sz="731" dirty="0"/>
          </a:p>
        </p:txBody>
      </p:sp>
      <p:sp>
        <p:nvSpPr>
          <p:cNvPr id="28" name="Shape 26"/>
          <p:cNvSpPr/>
          <p:nvPr/>
        </p:nvSpPr>
        <p:spPr>
          <a:xfrm>
            <a:off x="7823200" y="4081165"/>
            <a:ext cx="3556000" cy="0"/>
          </a:xfrm>
          <a:prstGeom prst="line">
            <a:avLst/>
          </a:prstGeom>
          <a:noFill/>
          <a:ln w="6350">
            <a:solidFill>
              <a:srgbClr val="D3E2D7"/>
            </a:solidFill>
            <a:prstDash val="solid"/>
          </a:ln>
        </p:spPr>
      </p:sp>
      <p:sp>
        <p:nvSpPr>
          <p:cNvPr id="29" name="Text 27"/>
          <p:cNvSpPr/>
          <p:nvPr/>
        </p:nvSpPr>
        <p:spPr>
          <a:xfrm>
            <a:off x="7823200" y="4147840"/>
            <a:ext cx="810935" cy="1649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UWX998</a:t>
            </a:r>
            <a:endParaRPr lang="en-US" sz="1300" dirty="0"/>
          </a:p>
        </p:txBody>
      </p:sp>
      <p:sp>
        <p:nvSpPr>
          <p:cNvPr id="30" name="Text 28"/>
          <p:cNvSpPr/>
          <p:nvPr/>
        </p:nvSpPr>
        <p:spPr>
          <a:xfrm>
            <a:off x="10561717" y="4147840"/>
            <a:ext cx="817483" cy="164902"/>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12 viajes</a:t>
            </a:r>
            <a:endParaRPr lang="en-US" sz="1300" dirty="0"/>
          </a:p>
        </p:txBody>
      </p:sp>
      <p:sp>
        <p:nvSpPr>
          <p:cNvPr id="31" name="Shape 29"/>
          <p:cNvSpPr/>
          <p:nvPr/>
        </p:nvSpPr>
        <p:spPr>
          <a:xfrm>
            <a:off x="7823200" y="4379416"/>
            <a:ext cx="3556000" cy="0"/>
          </a:xfrm>
          <a:prstGeom prst="line">
            <a:avLst/>
          </a:prstGeom>
          <a:noFill/>
          <a:ln w="6350">
            <a:solidFill>
              <a:srgbClr val="D3E2D7"/>
            </a:solidFill>
            <a:prstDash val="solid"/>
          </a:ln>
        </p:spPr>
      </p:sp>
      <p:sp>
        <p:nvSpPr>
          <p:cNvPr id="32" name="Text 30"/>
          <p:cNvSpPr/>
          <p:nvPr/>
        </p:nvSpPr>
        <p:spPr>
          <a:xfrm>
            <a:off x="7823200" y="4446091"/>
            <a:ext cx="712589" cy="1648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VAJ028</a:t>
            </a:r>
            <a:endParaRPr lang="en-US" sz="1300" dirty="0"/>
          </a:p>
        </p:txBody>
      </p:sp>
      <p:sp>
        <p:nvSpPr>
          <p:cNvPr id="33" name="Text 31"/>
          <p:cNvSpPr/>
          <p:nvPr/>
        </p:nvSpPr>
        <p:spPr>
          <a:xfrm>
            <a:off x="10561717" y="4446091"/>
            <a:ext cx="817483" cy="164802"/>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11 viajes</a:t>
            </a:r>
            <a:endParaRPr lang="en-US" sz="1300" dirty="0"/>
          </a:p>
        </p:txBody>
      </p:sp>
      <p:sp>
        <p:nvSpPr>
          <p:cNvPr id="34" name="Shape 32"/>
          <p:cNvSpPr/>
          <p:nvPr/>
        </p:nvSpPr>
        <p:spPr>
          <a:xfrm>
            <a:off x="7823200" y="4677569"/>
            <a:ext cx="3556000" cy="0"/>
          </a:xfrm>
          <a:prstGeom prst="line">
            <a:avLst/>
          </a:prstGeom>
          <a:noFill/>
          <a:ln w="6350">
            <a:solidFill>
              <a:srgbClr val="D3E2D7"/>
            </a:solidFill>
            <a:prstDash val="solid"/>
          </a:ln>
        </p:spPr>
      </p:sp>
      <p:sp>
        <p:nvSpPr>
          <p:cNvPr id="35" name="Text 33"/>
          <p:cNvSpPr/>
          <p:nvPr/>
        </p:nvSpPr>
        <p:spPr>
          <a:xfrm>
            <a:off x="7823200" y="4744244"/>
            <a:ext cx="805339" cy="1649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RAW481</a:t>
            </a:r>
            <a:endParaRPr lang="en-US" sz="1300" dirty="0"/>
          </a:p>
        </p:txBody>
      </p:sp>
      <p:sp>
        <p:nvSpPr>
          <p:cNvPr id="36" name="Text 34"/>
          <p:cNvSpPr/>
          <p:nvPr/>
        </p:nvSpPr>
        <p:spPr>
          <a:xfrm>
            <a:off x="10561717" y="4744244"/>
            <a:ext cx="817483" cy="164902"/>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11 viajes</a:t>
            </a:r>
            <a:endParaRPr lang="en-US" sz="1300" dirty="0"/>
          </a:p>
        </p:txBody>
      </p:sp>
      <p:sp>
        <p:nvSpPr>
          <p:cNvPr id="37" name="Shape 35"/>
          <p:cNvSpPr/>
          <p:nvPr/>
        </p:nvSpPr>
        <p:spPr>
          <a:xfrm>
            <a:off x="7823200" y="4975820"/>
            <a:ext cx="3556000" cy="0"/>
          </a:xfrm>
          <a:prstGeom prst="line">
            <a:avLst/>
          </a:prstGeom>
          <a:noFill/>
          <a:ln w="6350">
            <a:solidFill>
              <a:srgbClr val="D3E2D7"/>
            </a:solidFill>
            <a:prstDash val="solid"/>
          </a:ln>
        </p:spPr>
      </p:sp>
      <p:sp>
        <p:nvSpPr>
          <p:cNvPr id="38" name="Text 36"/>
          <p:cNvSpPr/>
          <p:nvPr/>
        </p:nvSpPr>
        <p:spPr>
          <a:xfrm>
            <a:off x="7823200" y="5042495"/>
            <a:ext cx="725567" cy="1649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BVS300</a:t>
            </a:r>
            <a:endParaRPr lang="en-US" sz="1300" dirty="0"/>
          </a:p>
        </p:txBody>
      </p:sp>
      <p:sp>
        <p:nvSpPr>
          <p:cNvPr id="39" name="Text 37"/>
          <p:cNvSpPr/>
          <p:nvPr/>
        </p:nvSpPr>
        <p:spPr>
          <a:xfrm>
            <a:off x="10561717" y="5042495"/>
            <a:ext cx="817483" cy="164902"/>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11 viajes</a:t>
            </a:r>
            <a:endParaRPr lang="en-US" sz="1300" dirty="0"/>
          </a:p>
        </p:txBody>
      </p:sp>
      <p:sp>
        <p:nvSpPr>
          <p:cNvPr id="40" name="Shape 38"/>
          <p:cNvSpPr/>
          <p:nvPr/>
        </p:nvSpPr>
        <p:spPr>
          <a:xfrm>
            <a:off x="7823200" y="5274072"/>
            <a:ext cx="3556000" cy="0"/>
          </a:xfrm>
          <a:prstGeom prst="line">
            <a:avLst/>
          </a:prstGeom>
          <a:noFill/>
          <a:ln w="6350">
            <a:solidFill>
              <a:srgbClr val="D3E2D7"/>
            </a:solidFill>
            <a:prstDash val="solid"/>
          </a:ln>
        </p:spPr>
      </p:sp>
      <p:sp>
        <p:nvSpPr>
          <p:cNvPr id="41" name="Text 39"/>
          <p:cNvSpPr/>
          <p:nvPr/>
        </p:nvSpPr>
        <p:spPr>
          <a:xfrm>
            <a:off x="7823200" y="5340747"/>
            <a:ext cx="749975" cy="1649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FDH917</a:t>
            </a:r>
            <a:endParaRPr lang="en-US" sz="1300" dirty="0"/>
          </a:p>
        </p:txBody>
      </p:sp>
      <p:sp>
        <p:nvSpPr>
          <p:cNvPr id="42" name="Text 40"/>
          <p:cNvSpPr/>
          <p:nvPr/>
        </p:nvSpPr>
        <p:spPr>
          <a:xfrm>
            <a:off x="10561717" y="5340747"/>
            <a:ext cx="817483" cy="164902"/>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10 viajes</a:t>
            </a:r>
            <a:endParaRPr lang="en-US" sz="1300" dirty="0"/>
          </a:p>
        </p:txBody>
      </p:sp>
      <p:sp>
        <p:nvSpPr>
          <p:cNvPr id="43" name="Shape 41"/>
          <p:cNvSpPr/>
          <p:nvPr/>
        </p:nvSpPr>
        <p:spPr>
          <a:xfrm>
            <a:off x="7823200" y="5572323"/>
            <a:ext cx="3556000" cy="0"/>
          </a:xfrm>
          <a:prstGeom prst="line">
            <a:avLst/>
          </a:prstGeom>
          <a:noFill/>
          <a:ln w="6350">
            <a:solidFill>
              <a:srgbClr val="D3E2D7"/>
            </a:solidFill>
            <a:prstDash val="solid"/>
          </a:ln>
        </p:spPr>
      </p:sp>
      <p:sp>
        <p:nvSpPr>
          <p:cNvPr id="44" name="Text 42"/>
          <p:cNvSpPr/>
          <p:nvPr/>
        </p:nvSpPr>
        <p:spPr>
          <a:xfrm>
            <a:off x="7823200" y="5638998"/>
            <a:ext cx="730687" cy="1649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UKL882</a:t>
            </a:r>
            <a:endParaRPr lang="en-US" sz="1300" dirty="0"/>
          </a:p>
        </p:txBody>
      </p:sp>
      <p:sp>
        <p:nvSpPr>
          <p:cNvPr id="45" name="Text 43"/>
          <p:cNvSpPr/>
          <p:nvPr/>
        </p:nvSpPr>
        <p:spPr>
          <a:xfrm>
            <a:off x="10680541" y="5638998"/>
            <a:ext cx="698659" cy="164902"/>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9 viajes</a:t>
            </a:r>
            <a:endParaRPr lang="en-US" sz="1300" dirty="0"/>
          </a:p>
        </p:txBody>
      </p:sp>
      <p:pic>
        <p:nvPicPr>
          <p:cNvPr id="46"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47" name="Text 44"/>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15</a:t>
            </a:r>
            <a:endParaRPr lang="en-US" sz="1200" dirty="0"/>
          </a:p>
        </p:txBody>
      </p:sp>
      <p:pic>
        <p:nvPicPr>
          <p:cNvPr id="48"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893193" cy="289520"/>
          </a:xfrm>
          <a:custGeom>
            <a:avLst/>
            <a:gdLst/>
            <a:ahLst/>
            <a:cxnLst/>
            <a:rect l="l" t="t" r="r" b="b"/>
            <a:pathLst>
              <a:path w="1893193" h="289520">
                <a:moveTo>
                  <a:pt x="144760" y="0"/>
                </a:moveTo>
                <a:lnTo>
                  <a:pt x="1748433" y="0"/>
                </a:lnTo>
                <a:arcTo hR="144760" wR="144760" stAng="16200000" swAng="5400000"/>
                <a:lnTo>
                  <a:pt x="1893193" y="144760"/>
                </a:lnTo>
                <a:arcTo hR="144760" wR="144760" stAng="0" swAng="5400000"/>
                <a:lnTo>
                  <a:pt x="144760" y="289520"/>
                </a:lnTo>
                <a:arcTo hR="144760" wR="144760" stAng="5400000" swAng="5400000"/>
                <a:lnTo>
                  <a:pt x="0" y="144760"/>
                </a:lnTo>
                <a:arcTo hR="144760" wR="144760" stAng="10800000" swAng="5400000"/>
                <a:close/>
              </a:path>
            </a:pathLst>
          </a:custGeom>
          <a:solidFill>
            <a:srgbClr val="5E442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PELLET · R30/31/32</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Día por día, el ciclo se jugó en Playa OSL</a:t>
            </a:r>
            <a:endParaRPr lang="en-US" sz="3200" dirty="0"/>
          </a:p>
        </p:txBody>
      </p:sp>
      <p:sp>
        <p:nvSpPr>
          <p:cNvPr id="4" name="Shape 2"/>
          <p:cNvSpPr/>
          <p:nvPr/>
        </p:nvSpPr>
        <p:spPr>
          <a:xfrm>
            <a:off x="815975" y="1730276"/>
            <a:ext cx="2540000" cy="3060402"/>
          </a:xfrm>
          <a:prstGeom prst="roundRect">
            <a:avLst>
              <a:gd name="adj" fmla="val 3875"/>
            </a:avLst>
          </a:prstGeom>
          <a:solidFill>
            <a:srgbClr val="FCFDFB"/>
          </a:solidFill>
          <a:ln w="6350">
            <a:solidFill>
              <a:srgbClr val="D3E2D7"/>
            </a:solidFill>
            <a:prstDash val="solid"/>
          </a:ln>
        </p:spPr>
      </p:sp>
      <p:sp>
        <p:nvSpPr>
          <p:cNvPr id="5" name="Text 3"/>
          <p:cNvSpPr/>
          <p:nvPr/>
        </p:nvSpPr>
        <p:spPr>
          <a:xfrm>
            <a:off x="984250" y="1885851"/>
            <a:ext cx="22695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Jue 24</a:t>
            </a:r>
            <a:endParaRPr lang="en-US" sz="1500" dirty="0"/>
          </a:p>
        </p:txBody>
      </p:sp>
      <p:sp>
        <p:nvSpPr>
          <p:cNvPr id="6" name="Text 4"/>
          <p:cNvSpPr/>
          <p:nvPr/>
        </p:nvSpPr>
        <p:spPr>
          <a:xfrm>
            <a:off x="984250" y="2228751"/>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Ciclo</a:t>
            </a:r>
            <a:endParaRPr lang="en-US" sz="1200" dirty="0"/>
          </a:p>
        </p:txBody>
      </p:sp>
      <p:sp>
        <p:nvSpPr>
          <p:cNvPr id="7" name="Text 5"/>
          <p:cNvSpPr/>
          <p:nvPr/>
        </p:nvSpPr>
        <p:spPr>
          <a:xfrm>
            <a:off x="984250" y="2518271"/>
            <a:ext cx="2269554"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5E4428"/>
                </a:solidFill>
                <a:latin typeface="IBM Plex Sans" pitchFamily="34" charset="0"/>
                <a:ea typeface="IBM Plex Sans" pitchFamily="34" charset="-122"/>
                <a:cs typeface="IBM Plex Sans" pitchFamily="34" charset="-120"/>
              </a:rPr>
              <a:t>289 min</a:t>
            </a:r>
            <a:endParaRPr lang="en-US" sz="3000" dirty="0"/>
          </a:p>
        </p:txBody>
      </p:sp>
      <p:sp>
        <p:nvSpPr>
          <p:cNvPr id="8" name="Text 6"/>
          <p:cNvSpPr/>
          <p:nvPr/>
        </p:nvSpPr>
        <p:spPr>
          <a:xfrm>
            <a:off x="984250" y="2994521"/>
            <a:ext cx="107999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Ricardone 145</a:t>
            </a:r>
            <a:endParaRPr lang="en-US" sz="1200" dirty="0"/>
          </a:p>
        </p:txBody>
      </p:sp>
      <p:sp>
        <p:nvSpPr>
          <p:cNvPr id="9" name="Text 7"/>
          <p:cNvSpPr/>
          <p:nvPr/>
        </p:nvSpPr>
        <p:spPr>
          <a:xfrm>
            <a:off x="2013446" y="2994521"/>
            <a:ext cx="122505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San Lorenzo 151</a:t>
            </a:r>
            <a:endParaRPr lang="en-US" sz="1200" dirty="0"/>
          </a:p>
        </p:txBody>
      </p:sp>
      <p:sp>
        <p:nvSpPr>
          <p:cNvPr id="10" name="Text 8"/>
          <p:cNvSpPr/>
          <p:nvPr/>
        </p:nvSpPr>
        <p:spPr>
          <a:xfrm>
            <a:off x="984250" y="3497362"/>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Playa OSL 44 · descarga 80</a:t>
            </a:r>
            <a:endParaRPr lang="en-US" sz="1200" dirty="0"/>
          </a:p>
        </p:txBody>
      </p:sp>
      <p:sp>
        <p:nvSpPr>
          <p:cNvPr id="11" name="Shape 9"/>
          <p:cNvSpPr/>
          <p:nvPr/>
        </p:nvSpPr>
        <p:spPr>
          <a:xfrm>
            <a:off x="984250" y="3786882"/>
            <a:ext cx="522288" cy="558701"/>
          </a:xfrm>
          <a:prstGeom prst="roundRect">
            <a:avLst>
              <a:gd name="adj" fmla="val 12158"/>
            </a:avLst>
          </a:prstGeom>
          <a:solidFill>
            <a:srgbClr val="EAF2EC"/>
          </a:solidFill>
          <a:ln/>
        </p:spPr>
      </p:sp>
      <p:sp>
        <p:nvSpPr>
          <p:cNvPr id="12" name="Text 10"/>
          <p:cNvSpPr/>
          <p:nvPr/>
        </p:nvSpPr>
        <p:spPr>
          <a:xfrm>
            <a:off x="1119981" y="383768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8372D"/>
                </a:solidFill>
                <a:latin typeface="IBM Plex Sans" pitchFamily="34" charset="0"/>
                <a:ea typeface="IBM Plex Sans" pitchFamily="34" charset="-122"/>
                <a:cs typeface="IBM Plex Sans" pitchFamily="34" charset="-120"/>
              </a:rPr>
              <a:t>Q1</a:t>
            </a:r>
            <a:endParaRPr lang="en-US" sz="1200" dirty="0"/>
          </a:p>
        </p:txBody>
      </p:sp>
      <p:sp>
        <p:nvSpPr>
          <p:cNvPr id="13" name="Text 11"/>
          <p:cNvSpPr/>
          <p:nvPr/>
        </p:nvSpPr>
        <p:spPr>
          <a:xfrm>
            <a:off x="1170384" y="4063702"/>
            <a:ext cx="14992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8</a:t>
            </a:r>
            <a:endParaRPr lang="en-US" sz="1300" dirty="0"/>
          </a:p>
        </p:txBody>
      </p:sp>
      <p:sp>
        <p:nvSpPr>
          <p:cNvPr id="14" name="Shape 12"/>
          <p:cNvSpPr/>
          <p:nvPr/>
        </p:nvSpPr>
        <p:spPr>
          <a:xfrm>
            <a:off x="1544638" y="3786882"/>
            <a:ext cx="522288" cy="558701"/>
          </a:xfrm>
          <a:prstGeom prst="roundRect">
            <a:avLst>
              <a:gd name="adj" fmla="val 12158"/>
            </a:avLst>
          </a:prstGeom>
          <a:solidFill>
            <a:srgbClr val="EAF2EC"/>
          </a:solidFill>
          <a:ln/>
        </p:spPr>
      </p:sp>
      <p:sp>
        <p:nvSpPr>
          <p:cNvPr id="15" name="Text 13"/>
          <p:cNvSpPr/>
          <p:nvPr/>
        </p:nvSpPr>
        <p:spPr>
          <a:xfrm>
            <a:off x="1680369" y="383768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9651A"/>
                </a:solidFill>
                <a:latin typeface="IBM Plex Sans" pitchFamily="34" charset="0"/>
                <a:ea typeface="IBM Plex Sans" pitchFamily="34" charset="-122"/>
                <a:cs typeface="IBM Plex Sans" pitchFamily="34" charset="-120"/>
              </a:rPr>
              <a:t>Q2</a:t>
            </a:r>
            <a:endParaRPr lang="en-US" sz="1200" dirty="0"/>
          </a:p>
        </p:txBody>
      </p:sp>
      <p:sp>
        <p:nvSpPr>
          <p:cNvPr id="16" name="Text 14"/>
          <p:cNvSpPr/>
          <p:nvPr/>
        </p:nvSpPr>
        <p:spPr>
          <a:xfrm>
            <a:off x="1730772" y="4063702"/>
            <a:ext cx="14992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2</a:t>
            </a:r>
            <a:endParaRPr lang="en-US" sz="1300" dirty="0"/>
          </a:p>
        </p:txBody>
      </p:sp>
      <p:sp>
        <p:nvSpPr>
          <p:cNvPr id="17" name="Shape 15"/>
          <p:cNvSpPr/>
          <p:nvPr/>
        </p:nvSpPr>
        <p:spPr>
          <a:xfrm>
            <a:off x="2105025" y="3786882"/>
            <a:ext cx="522288" cy="558701"/>
          </a:xfrm>
          <a:prstGeom prst="roundRect">
            <a:avLst>
              <a:gd name="adj" fmla="val 12158"/>
            </a:avLst>
          </a:prstGeom>
          <a:solidFill>
            <a:srgbClr val="EAF2EC"/>
          </a:solidFill>
          <a:ln/>
        </p:spPr>
      </p:sp>
      <p:sp>
        <p:nvSpPr>
          <p:cNvPr id="18" name="Text 16"/>
          <p:cNvSpPr/>
          <p:nvPr/>
        </p:nvSpPr>
        <p:spPr>
          <a:xfrm>
            <a:off x="2240756" y="383768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B1E3A"/>
                </a:solidFill>
                <a:latin typeface="IBM Plex Sans" pitchFamily="34" charset="0"/>
                <a:ea typeface="IBM Plex Sans" pitchFamily="34" charset="-122"/>
                <a:cs typeface="IBM Plex Sans" pitchFamily="34" charset="-120"/>
              </a:rPr>
              <a:t>Q3</a:t>
            </a:r>
            <a:endParaRPr lang="en-US" sz="1200" dirty="0"/>
          </a:p>
        </p:txBody>
      </p:sp>
      <p:sp>
        <p:nvSpPr>
          <p:cNvPr id="19" name="Text 17"/>
          <p:cNvSpPr/>
          <p:nvPr/>
        </p:nvSpPr>
        <p:spPr>
          <a:xfrm>
            <a:off x="2291159" y="4063702"/>
            <a:ext cx="14992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0</a:t>
            </a:r>
            <a:endParaRPr lang="en-US" sz="1300" dirty="0"/>
          </a:p>
        </p:txBody>
      </p:sp>
      <p:sp>
        <p:nvSpPr>
          <p:cNvPr id="20" name="Shape 18"/>
          <p:cNvSpPr/>
          <p:nvPr/>
        </p:nvSpPr>
        <p:spPr>
          <a:xfrm>
            <a:off x="2665413" y="3786882"/>
            <a:ext cx="522288" cy="558701"/>
          </a:xfrm>
          <a:prstGeom prst="roundRect">
            <a:avLst>
              <a:gd name="adj" fmla="val 12158"/>
            </a:avLst>
          </a:prstGeom>
          <a:solidFill>
            <a:srgbClr val="EAF2EC"/>
          </a:solidFill>
          <a:ln/>
        </p:spPr>
      </p:sp>
      <p:sp>
        <p:nvSpPr>
          <p:cNvPr id="21" name="Text 19"/>
          <p:cNvSpPr/>
          <p:nvPr/>
        </p:nvSpPr>
        <p:spPr>
          <a:xfrm>
            <a:off x="2801144" y="383768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Q4</a:t>
            </a:r>
            <a:endParaRPr lang="en-US" sz="1200" dirty="0"/>
          </a:p>
        </p:txBody>
      </p:sp>
      <p:sp>
        <p:nvSpPr>
          <p:cNvPr id="22" name="Text 20"/>
          <p:cNvSpPr/>
          <p:nvPr/>
        </p:nvSpPr>
        <p:spPr>
          <a:xfrm>
            <a:off x="2802037" y="4063702"/>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26</a:t>
            </a:r>
            <a:endParaRPr lang="en-US" sz="1300" dirty="0"/>
          </a:p>
        </p:txBody>
      </p:sp>
      <p:sp>
        <p:nvSpPr>
          <p:cNvPr id="23" name="Text 21"/>
          <p:cNvSpPr/>
          <p:nvPr/>
        </p:nvSpPr>
        <p:spPr>
          <a:xfrm>
            <a:off x="984250" y="4421783"/>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41 viajes</a:t>
            </a:r>
            <a:endParaRPr lang="en-US" sz="1200" dirty="0"/>
          </a:p>
        </p:txBody>
      </p:sp>
      <p:sp>
        <p:nvSpPr>
          <p:cNvPr id="24" name="Shape 22"/>
          <p:cNvSpPr/>
          <p:nvPr/>
        </p:nvSpPr>
        <p:spPr>
          <a:xfrm>
            <a:off x="3489325" y="1730276"/>
            <a:ext cx="2540000" cy="3060402"/>
          </a:xfrm>
          <a:prstGeom prst="roundRect">
            <a:avLst>
              <a:gd name="adj" fmla="val 3875"/>
            </a:avLst>
          </a:prstGeom>
          <a:solidFill>
            <a:srgbClr val="FCFDFB"/>
          </a:solidFill>
          <a:ln w="6350">
            <a:solidFill>
              <a:srgbClr val="D3E2D7"/>
            </a:solidFill>
            <a:prstDash val="solid"/>
          </a:ln>
        </p:spPr>
      </p:sp>
      <p:sp>
        <p:nvSpPr>
          <p:cNvPr id="25" name="Text 23"/>
          <p:cNvSpPr/>
          <p:nvPr/>
        </p:nvSpPr>
        <p:spPr>
          <a:xfrm>
            <a:off x="3657600" y="1885851"/>
            <a:ext cx="22695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Vie 25</a:t>
            </a:r>
            <a:endParaRPr lang="en-US" sz="1500" dirty="0"/>
          </a:p>
        </p:txBody>
      </p:sp>
      <p:sp>
        <p:nvSpPr>
          <p:cNvPr id="26" name="Text 24"/>
          <p:cNvSpPr/>
          <p:nvPr/>
        </p:nvSpPr>
        <p:spPr>
          <a:xfrm>
            <a:off x="3657600" y="2228751"/>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Ciclo</a:t>
            </a:r>
            <a:endParaRPr lang="en-US" sz="1200" dirty="0"/>
          </a:p>
        </p:txBody>
      </p:sp>
      <p:sp>
        <p:nvSpPr>
          <p:cNvPr id="27" name="Text 25"/>
          <p:cNvSpPr/>
          <p:nvPr/>
        </p:nvSpPr>
        <p:spPr>
          <a:xfrm>
            <a:off x="3657600" y="2518271"/>
            <a:ext cx="2269554"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5E4428"/>
                </a:solidFill>
                <a:latin typeface="IBM Plex Sans" pitchFamily="34" charset="0"/>
                <a:ea typeface="IBM Plex Sans" pitchFamily="34" charset="-122"/>
                <a:cs typeface="IBM Plex Sans" pitchFamily="34" charset="-120"/>
              </a:rPr>
              <a:t>312 min</a:t>
            </a:r>
            <a:endParaRPr lang="en-US" sz="3000" dirty="0"/>
          </a:p>
        </p:txBody>
      </p:sp>
      <p:sp>
        <p:nvSpPr>
          <p:cNvPr id="28" name="Text 26"/>
          <p:cNvSpPr/>
          <p:nvPr/>
        </p:nvSpPr>
        <p:spPr>
          <a:xfrm>
            <a:off x="3657600" y="2994521"/>
            <a:ext cx="9975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Ricardone 62</a:t>
            </a:r>
            <a:endParaRPr lang="en-US" sz="1200" dirty="0"/>
          </a:p>
        </p:txBody>
      </p:sp>
      <p:sp>
        <p:nvSpPr>
          <p:cNvPr id="29" name="Text 27"/>
          <p:cNvSpPr/>
          <p:nvPr/>
        </p:nvSpPr>
        <p:spPr>
          <a:xfrm>
            <a:off x="4625777" y="2994521"/>
            <a:ext cx="1235273"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San Lorenzo 245</a:t>
            </a:r>
            <a:endParaRPr lang="en-US" sz="1200" dirty="0"/>
          </a:p>
        </p:txBody>
      </p:sp>
      <p:sp>
        <p:nvSpPr>
          <p:cNvPr id="30" name="Text 28"/>
          <p:cNvSpPr/>
          <p:nvPr/>
        </p:nvSpPr>
        <p:spPr>
          <a:xfrm>
            <a:off x="3657600" y="3284041"/>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Playa OSL 173 · descarga 73</a:t>
            </a:r>
            <a:endParaRPr lang="en-US" sz="1200" dirty="0"/>
          </a:p>
        </p:txBody>
      </p:sp>
      <p:sp>
        <p:nvSpPr>
          <p:cNvPr id="31" name="Shape 29"/>
          <p:cNvSpPr/>
          <p:nvPr/>
        </p:nvSpPr>
        <p:spPr>
          <a:xfrm>
            <a:off x="3657600" y="3573562"/>
            <a:ext cx="522288" cy="558701"/>
          </a:xfrm>
          <a:prstGeom prst="roundRect">
            <a:avLst>
              <a:gd name="adj" fmla="val 12158"/>
            </a:avLst>
          </a:prstGeom>
          <a:solidFill>
            <a:srgbClr val="EAF2EC"/>
          </a:solidFill>
          <a:ln/>
        </p:spPr>
      </p:sp>
      <p:sp>
        <p:nvSpPr>
          <p:cNvPr id="32" name="Text 30"/>
          <p:cNvSpPr/>
          <p:nvPr/>
        </p:nvSpPr>
        <p:spPr>
          <a:xfrm>
            <a:off x="3793331"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8372D"/>
                </a:solidFill>
                <a:latin typeface="IBM Plex Sans" pitchFamily="34" charset="0"/>
                <a:ea typeface="IBM Plex Sans" pitchFamily="34" charset="-122"/>
                <a:cs typeface="IBM Plex Sans" pitchFamily="34" charset="-120"/>
              </a:rPr>
              <a:t>Q1</a:t>
            </a:r>
            <a:endParaRPr lang="en-US" sz="1200" dirty="0"/>
          </a:p>
        </p:txBody>
      </p:sp>
      <p:sp>
        <p:nvSpPr>
          <p:cNvPr id="33" name="Text 31"/>
          <p:cNvSpPr/>
          <p:nvPr/>
        </p:nvSpPr>
        <p:spPr>
          <a:xfrm>
            <a:off x="3794224" y="3850382"/>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21</a:t>
            </a:r>
            <a:endParaRPr lang="en-US" sz="1300" dirty="0"/>
          </a:p>
        </p:txBody>
      </p:sp>
      <p:sp>
        <p:nvSpPr>
          <p:cNvPr id="34" name="Shape 32"/>
          <p:cNvSpPr/>
          <p:nvPr/>
        </p:nvSpPr>
        <p:spPr>
          <a:xfrm>
            <a:off x="4217988" y="3573562"/>
            <a:ext cx="522288" cy="558701"/>
          </a:xfrm>
          <a:prstGeom prst="roundRect">
            <a:avLst>
              <a:gd name="adj" fmla="val 12158"/>
            </a:avLst>
          </a:prstGeom>
          <a:solidFill>
            <a:srgbClr val="EAF2EC"/>
          </a:solidFill>
          <a:ln/>
        </p:spPr>
      </p:sp>
      <p:sp>
        <p:nvSpPr>
          <p:cNvPr id="35" name="Text 33"/>
          <p:cNvSpPr/>
          <p:nvPr/>
        </p:nvSpPr>
        <p:spPr>
          <a:xfrm>
            <a:off x="4353719"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9651A"/>
                </a:solidFill>
                <a:latin typeface="IBM Plex Sans" pitchFamily="34" charset="0"/>
                <a:ea typeface="IBM Plex Sans" pitchFamily="34" charset="-122"/>
                <a:cs typeface="IBM Plex Sans" pitchFamily="34" charset="-120"/>
              </a:rPr>
              <a:t>Q2</a:t>
            </a:r>
            <a:endParaRPr lang="en-US" sz="1200" dirty="0"/>
          </a:p>
        </p:txBody>
      </p:sp>
      <p:sp>
        <p:nvSpPr>
          <p:cNvPr id="36" name="Text 34"/>
          <p:cNvSpPr/>
          <p:nvPr/>
        </p:nvSpPr>
        <p:spPr>
          <a:xfrm>
            <a:off x="4354612" y="3850382"/>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30</a:t>
            </a:r>
            <a:endParaRPr lang="en-US" sz="1300" dirty="0"/>
          </a:p>
        </p:txBody>
      </p:sp>
      <p:sp>
        <p:nvSpPr>
          <p:cNvPr id="37" name="Shape 35"/>
          <p:cNvSpPr/>
          <p:nvPr/>
        </p:nvSpPr>
        <p:spPr>
          <a:xfrm>
            <a:off x="4778375" y="3573562"/>
            <a:ext cx="522288" cy="558701"/>
          </a:xfrm>
          <a:prstGeom prst="roundRect">
            <a:avLst>
              <a:gd name="adj" fmla="val 12158"/>
            </a:avLst>
          </a:prstGeom>
          <a:solidFill>
            <a:srgbClr val="EAF2EC"/>
          </a:solidFill>
          <a:ln/>
        </p:spPr>
      </p:sp>
      <p:sp>
        <p:nvSpPr>
          <p:cNvPr id="38" name="Text 36"/>
          <p:cNvSpPr/>
          <p:nvPr/>
        </p:nvSpPr>
        <p:spPr>
          <a:xfrm>
            <a:off x="4914106"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B1E3A"/>
                </a:solidFill>
                <a:latin typeface="IBM Plex Sans" pitchFamily="34" charset="0"/>
                <a:ea typeface="IBM Plex Sans" pitchFamily="34" charset="-122"/>
                <a:cs typeface="IBM Plex Sans" pitchFamily="34" charset="-120"/>
              </a:rPr>
              <a:t>Q3</a:t>
            </a:r>
            <a:endParaRPr lang="en-US" sz="1200" dirty="0"/>
          </a:p>
        </p:txBody>
      </p:sp>
      <p:sp>
        <p:nvSpPr>
          <p:cNvPr id="39" name="Text 37"/>
          <p:cNvSpPr/>
          <p:nvPr/>
        </p:nvSpPr>
        <p:spPr>
          <a:xfrm>
            <a:off x="4964509" y="3850382"/>
            <a:ext cx="14992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2</a:t>
            </a:r>
            <a:endParaRPr lang="en-US" sz="1300" dirty="0"/>
          </a:p>
        </p:txBody>
      </p:sp>
      <p:sp>
        <p:nvSpPr>
          <p:cNvPr id="40" name="Shape 38"/>
          <p:cNvSpPr/>
          <p:nvPr/>
        </p:nvSpPr>
        <p:spPr>
          <a:xfrm>
            <a:off x="5338763" y="3573562"/>
            <a:ext cx="522288" cy="558701"/>
          </a:xfrm>
          <a:prstGeom prst="roundRect">
            <a:avLst>
              <a:gd name="adj" fmla="val 12158"/>
            </a:avLst>
          </a:prstGeom>
          <a:solidFill>
            <a:srgbClr val="EAF2EC"/>
          </a:solidFill>
          <a:ln/>
        </p:spPr>
      </p:sp>
      <p:sp>
        <p:nvSpPr>
          <p:cNvPr id="41" name="Text 39"/>
          <p:cNvSpPr/>
          <p:nvPr/>
        </p:nvSpPr>
        <p:spPr>
          <a:xfrm>
            <a:off x="5474494"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Q4</a:t>
            </a:r>
            <a:endParaRPr lang="en-US" sz="1200" dirty="0"/>
          </a:p>
        </p:txBody>
      </p:sp>
      <p:sp>
        <p:nvSpPr>
          <p:cNvPr id="42" name="Text 40"/>
          <p:cNvSpPr/>
          <p:nvPr/>
        </p:nvSpPr>
        <p:spPr>
          <a:xfrm>
            <a:off x="5524897" y="3850382"/>
            <a:ext cx="14992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3</a:t>
            </a:r>
            <a:endParaRPr lang="en-US" sz="1300" dirty="0"/>
          </a:p>
        </p:txBody>
      </p:sp>
      <p:sp>
        <p:nvSpPr>
          <p:cNvPr id="43" name="Text 41"/>
          <p:cNvSpPr/>
          <p:nvPr/>
        </p:nvSpPr>
        <p:spPr>
          <a:xfrm>
            <a:off x="3657600" y="4208463"/>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70 viajes</a:t>
            </a:r>
            <a:endParaRPr lang="en-US" sz="1200" dirty="0"/>
          </a:p>
        </p:txBody>
      </p:sp>
      <p:sp>
        <p:nvSpPr>
          <p:cNvPr id="44" name="Shape 42"/>
          <p:cNvSpPr/>
          <p:nvPr/>
        </p:nvSpPr>
        <p:spPr>
          <a:xfrm>
            <a:off x="6162675" y="1730276"/>
            <a:ext cx="2540000" cy="3060402"/>
          </a:xfrm>
          <a:prstGeom prst="roundRect">
            <a:avLst>
              <a:gd name="adj" fmla="val 3875"/>
            </a:avLst>
          </a:prstGeom>
          <a:solidFill>
            <a:srgbClr val="FCFDFB"/>
          </a:solidFill>
          <a:ln w="6350">
            <a:solidFill>
              <a:srgbClr val="D3E2D7"/>
            </a:solidFill>
            <a:prstDash val="solid"/>
          </a:ln>
        </p:spPr>
      </p:sp>
      <p:sp>
        <p:nvSpPr>
          <p:cNvPr id="45" name="Text 43"/>
          <p:cNvSpPr/>
          <p:nvPr/>
        </p:nvSpPr>
        <p:spPr>
          <a:xfrm>
            <a:off x="6330950" y="1885851"/>
            <a:ext cx="22695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Sáb 26</a:t>
            </a:r>
            <a:endParaRPr lang="en-US" sz="1500" dirty="0"/>
          </a:p>
        </p:txBody>
      </p:sp>
      <p:sp>
        <p:nvSpPr>
          <p:cNvPr id="46" name="Text 44"/>
          <p:cNvSpPr/>
          <p:nvPr/>
        </p:nvSpPr>
        <p:spPr>
          <a:xfrm>
            <a:off x="6330950" y="2228751"/>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Ciclo</a:t>
            </a:r>
            <a:endParaRPr lang="en-US" sz="1200" dirty="0"/>
          </a:p>
        </p:txBody>
      </p:sp>
      <p:sp>
        <p:nvSpPr>
          <p:cNvPr id="47" name="Text 45"/>
          <p:cNvSpPr/>
          <p:nvPr/>
        </p:nvSpPr>
        <p:spPr>
          <a:xfrm>
            <a:off x="6330950" y="2518271"/>
            <a:ext cx="2269554"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5E4428"/>
                </a:solidFill>
                <a:latin typeface="IBM Plex Sans" pitchFamily="34" charset="0"/>
                <a:ea typeface="IBM Plex Sans" pitchFamily="34" charset="-122"/>
                <a:cs typeface="IBM Plex Sans" pitchFamily="34" charset="-120"/>
              </a:rPr>
              <a:t>232 min</a:t>
            </a:r>
            <a:endParaRPr lang="en-US" sz="3000" dirty="0"/>
          </a:p>
        </p:txBody>
      </p:sp>
      <p:sp>
        <p:nvSpPr>
          <p:cNvPr id="48" name="Text 46"/>
          <p:cNvSpPr/>
          <p:nvPr/>
        </p:nvSpPr>
        <p:spPr>
          <a:xfrm>
            <a:off x="6330950" y="2994521"/>
            <a:ext cx="9975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Ricardone 93</a:t>
            </a:r>
            <a:endParaRPr lang="en-US" sz="1200" dirty="0"/>
          </a:p>
        </p:txBody>
      </p:sp>
      <p:sp>
        <p:nvSpPr>
          <p:cNvPr id="49" name="Text 47"/>
          <p:cNvSpPr/>
          <p:nvPr/>
        </p:nvSpPr>
        <p:spPr>
          <a:xfrm>
            <a:off x="7299127" y="2994521"/>
            <a:ext cx="1235273"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San Lorenzo 122</a:t>
            </a:r>
            <a:endParaRPr lang="en-US" sz="1200" dirty="0"/>
          </a:p>
        </p:txBody>
      </p:sp>
      <p:sp>
        <p:nvSpPr>
          <p:cNvPr id="50" name="Text 48"/>
          <p:cNvSpPr/>
          <p:nvPr/>
        </p:nvSpPr>
        <p:spPr>
          <a:xfrm>
            <a:off x="6330950" y="3284041"/>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Playa OSL 20 · descarga 82</a:t>
            </a:r>
            <a:endParaRPr lang="en-US" sz="1200" dirty="0"/>
          </a:p>
        </p:txBody>
      </p:sp>
      <p:sp>
        <p:nvSpPr>
          <p:cNvPr id="51" name="Shape 49"/>
          <p:cNvSpPr/>
          <p:nvPr/>
        </p:nvSpPr>
        <p:spPr>
          <a:xfrm>
            <a:off x="6330950" y="3573562"/>
            <a:ext cx="522288" cy="558701"/>
          </a:xfrm>
          <a:prstGeom prst="roundRect">
            <a:avLst>
              <a:gd name="adj" fmla="val 12158"/>
            </a:avLst>
          </a:prstGeom>
          <a:solidFill>
            <a:srgbClr val="EAF2EC"/>
          </a:solidFill>
          <a:ln/>
        </p:spPr>
      </p:sp>
      <p:sp>
        <p:nvSpPr>
          <p:cNvPr id="52" name="Text 50"/>
          <p:cNvSpPr/>
          <p:nvPr/>
        </p:nvSpPr>
        <p:spPr>
          <a:xfrm>
            <a:off x="6466681"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8372D"/>
                </a:solidFill>
                <a:latin typeface="IBM Plex Sans" pitchFamily="34" charset="0"/>
                <a:ea typeface="IBM Plex Sans" pitchFamily="34" charset="-122"/>
                <a:cs typeface="IBM Plex Sans" pitchFamily="34" charset="-120"/>
              </a:rPr>
              <a:t>Q1</a:t>
            </a:r>
            <a:endParaRPr lang="en-US" sz="1200" dirty="0"/>
          </a:p>
        </p:txBody>
      </p:sp>
      <p:sp>
        <p:nvSpPr>
          <p:cNvPr id="53" name="Text 51"/>
          <p:cNvSpPr/>
          <p:nvPr/>
        </p:nvSpPr>
        <p:spPr>
          <a:xfrm>
            <a:off x="6517084" y="3850382"/>
            <a:ext cx="14992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2</a:t>
            </a:r>
            <a:endParaRPr lang="en-US" sz="1300" dirty="0"/>
          </a:p>
        </p:txBody>
      </p:sp>
      <p:sp>
        <p:nvSpPr>
          <p:cNvPr id="54" name="Shape 52"/>
          <p:cNvSpPr/>
          <p:nvPr/>
        </p:nvSpPr>
        <p:spPr>
          <a:xfrm>
            <a:off x="6891338" y="3573562"/>
            <a:ext cx="522288" cy="558701"/>
          </a:xfrm>
          <a:prstGeom prst="roundRect">
            <a:avLst>
              <a:gd name="adj" fmla="val 12158"/>
            </a:avLst>
          </a:prstGeom>
          <a:solidFill>
            <a:srgbClr val="EAF2EC"/>
          </a:solidFill>
          <a:ln/>
        </p:spPr>
      </p:sp>
      <p:sp>
        <p:nvSpPr>
          <p:cNvPr id="55" name="Text 53"/>
          <p:cNvSpPr/>
          <p:nvPr/>
        </p:nvSpPr>
        <p:spPr>
          <a:xfrm>
            <a:off x="7027069"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9651A"/>
                </a:solidFill>
                <a:latin typeface="IBM Plex Sans" pitchFamily="34" charset="0"/>
                <a:ea typeface="IBM Plex Sans" pitchFamily="34" charset="-122"/>
                <a:cs typeface="IBM Plex Sans" pitchFamily="34" charset="-120"/>
              </a:rPr>
              <a:t>Q2</a:t>
            </a:r>
            <a:endParaRPr lang="en-US" sz="1200" dirty="0"/>
          </a:p>
        </p:txBody>
      </p:sp>
      <p:sp>
        <p:nvSpPr>
          <p:cNvPr id="56" name="Text 54"/>
          <p:cNvSpPr/>
          <p:nvPr/>
        </p:nvSpPr>
        <p:spPr>
          <a:xfrm>
            <a:off x="7027962" y="3850382"/>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33</a:t>
            </a:r>
            <a:endParaRPr lang="en-US" sz="1300" dirty="0"/>
          </a:p>
        </p:txBody>
      </p:sp>
      <p:sp>
        <p:nvSpPr>
          <p:cNvPr id="57" name="Shape 55"/>
          <p:cNvSpPr/>
          <p:nvPr/>
        </p:nvSpPr>
        <p:spPr>
          <a:xfrm>
            <a:off x="7451725" y="3573562"/>
            <a:ext cx="522288" cy="558701"/>
          </a:xfrm>
          <a:prstGeom prst="roundRect">
            <a:avLst>
              <a:gd name="adj" fmla="val 12158"/>
            </a:avLst>
          </a:prstGeom>
          <a:solidFill>
            <a:srgbClr val="EAF2EC"/>
          </a:solidFill>
          <a:ln/>
        </p:spPr>
      </p:sp>
      <p:sp>
        <p:nvSpPr>
          <p:cNvPr id="58" name="Text 56"/>
          <p:cNvSpPr/>
          <p:nvPr/>
        </p:nvSpPr>
        <p:spPr>
          <a:xfrm>
            <a:off x="7587456"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B1E3A"/>
                </a:solidFill>
                <a:latin typeface="IBM Plex Sans" pitchFamily="34" charset="0"/>
                <a:ea typeface="IBM Plex Sans" pitchFamily="34" charset="-122"/>
                <a:cs typeface="IBM Plex Sans" pitchFamily="34" charset="-120"/>
              </a:rPr>
              <a:t>Q3</a:t>
            </a:r>
            <a:endParaRPr lang="en-US" sz="1200" dirty="0"/>
          </a:p>
        </p:txBody>
      </p:sp>
      <p:sp>
        <p:nvSpPr>
          <p:cNvPr id="59" name="Text 57"/>
          <p:cNvSpPr/>
          <p:nvPr/>
        </p:nvSpPr>
        <p:spPr>
          <a:xfrm>
            <a:off x="7588349" y="3850382"/>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36</a:t>
            </a:r>
            <a:endParaRPr lang="en-US" sz="1300" dirty="0"/>
          </a:p>
        </p:txBody>
      </p:sp>
      <p:sp>
        <p:nvSpPr>
          <p:cNvPr id="60" name="Shape 58"/>
          <p:cNvSpPr/>
          <p:nvPr/>
        </p:nvSpPr>
        <p:spPr>
          <a:xfrm>
            <a:off x="8012113" y="3573562"/>
            <a:ext cx="522288" cy="558701"/>
          </a:xfrm>
          <a:prstGeom prst="roundRect">
            <a:avLst>
              <a:gd name="adj" fmla="val 12158"/>
            </a:avLst>
          </a:prstGeom>
          <a:solidFill>
            <a:srgbClr val="EAF2EC"/>
          </a:solidFill>
          <a:ln/>
        </p:spPr>
      </p:sp>
      <p:sp>
        <p:nvSpPr>
          <p:cNvPr id="61" name="Text 59"/>
          <p:cNvSpPr/>
          <p:nvPr/>
        </p:nvSpPr>
        <p:spPr>
          <a:xfrm>
            <a:off x="8147844"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Q4</a:t>
            </a:r>
            <a:endParaRPr lang="en-US" sz="1200" dirty="0"/>
          </a:p>
        </p:txBody>
      </p:sp>
      <p:sp>
        <p:nvSpPr>
          <p:cNvPr id="62" name="Text 60"/>
          <p:cNvSpPr/>
          <p:nvPr/>
        </p:nvSpPr>
        <p:spPr>
          <a:xfrm>
            <a:off x="8148737" y="3850382"/>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13</a:t>
            </a:r>
            <a:endParaRPr lang="en-US" sz="1300" dirty="0"/>
          </a:p>
        </p:txBody>
      </p:sp>
      <p:sp>
        <p:nvSpPr>
          <p:cNvPr id="63" name="Text 61"/>
          <p:cNvSpPr/>
          <p:nvPr/>
        </p:nvSpPr>
        <p:spPr>
          <a:xfrm>
            <a:off x="6330950" y="4208463"/>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90 viajes</a:t>
            </a:r>
            <a:endParaRPr lang="en-US" sz="1200" dirty="0"/>
          </a:p>
        </p:txBody>
      </p:sp>
      <p:sp>
        <p:nvSpPr>
          <p:cNvPr id="64" name="Shape 62"/>
          <p:cNvSpPr/>
          <p:nvPr/>
        </p:nvSpPr>
        <p:spPr>
          <a:xfrm>
            <a:off x="8836025" y="1730276"/>
            <a:ext cx="2540000" cy="3060402"/>
          </a:xfrm>
          <a:prstGeom prst="roundRect">
            <a:avLst>
              <a:gd name="adj" fmla="val 3875"/>
            </a:avLst>
          </a:prstGeom>
          <a:solidFill>
            <a:srgbClr val="FCFDFB"/>
          </a:solidFill>
          <a:ln w="6350">
            <a:solidFill>
              <a:srgbClr val="D3E2D7"/>
            </a:solidFill>
            <a:prstDash val="solid"/>
          </a:ln>
        </p:spPr>
      </p:sp>
      <p:sp>
        <p:nvSpPr>
          <p:cNvPr id="65" name="Text 63"/>
          <p:cNvSpPr/>
          <p:nvPr/>
        </p:nvSpPr>
        <p:spPr>
          <a:xfrm>
            <a:off x="9004300" y="1885851"/>
            <a:ext cx="22695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Mié 30</a:t>
            </a:r>
            <a:endParaRPr lang="en-US" sz="1500" dirty="0"/>
          </a:p>
        </p:txBody>
      </p:sp>
      <p:sp>
        <p:nvSpPr>
          <p:cNvPr id="66" name="Text 64"/>
          <p:cNvSpPr/>
          <p:nvPr/>
        </p:nvSpPr>
        <p:spPr>
          <a:xfrm>
            <a:off x="9004300" y="2228751"/>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Ciclo</a:t>
            </a:r>
            <a:endParaRPr lang="en-US" sz="1200" dirty="0"/>
          </a:p>
        </p:txBody>
      </p:sp>
      <p:sp>
        <p:nvSpPr>
          <p:cNvPr id="67" name="Text 65"/>
          <p:cNvSpPr/>
          <p:nvPr/>
        </p:nvSpPr>
        <p:spPr>
          <a:xfrm>
            <a:off x="9004300" y="2518271"/>
            <a:ext cx="2269554"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5E4428"/>
                </a:solidFill>
                <a:latin typeface="IBM Plex Sans" pitchFamily="34" charset="0"/>
                <a:ea typeface="IBM Plex Sans" pitchFamily="34" charset="-122"/>
                <a:cs typeface="IBM Plex Sans" pitchFamily="34" charset="-120"/>
              </a:rPr>
              <a:t>311 min</a:t>
            </a:r>
            <a:endParaRPr lang="en-US" sz="3000" dirty="0"/>
          </a:p>
        </p:txBody>
      </p:sp>
      <p:sp>
        <p:nvSpPr>
          <p:cNvPr id="68" name="Text 66"/>
          <p:cNvSpPr/>
          <p:nvPr/>
        </p:nvSpPr>
        <p:spPr>
          <a:xfrm>
            <a:off x="9004300" y="2994521"/>
            <a:ext cx="9975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Ricardone 86</a:t>
            </a:r>
            <a:endParaRPr lang="en-US" sz="1200" dirty="0"/>
          </a:p>
        </p:txBody>
      </p:sp>
      <p:sp>
        <p:nvSpPr>
          <p:cNvPr id="69" name="Text 67"/>
          <p:cNvSpPr/>
          <p:nvPr/>
        </p:nvSpPr>
        <p:spPr>
          <a:xfrm>
            <a:off x="9972477" y="2994521"/>
            <a:ext cx="1235273"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San Lorenzo 208</a:t>
            </a:r>
            <a:endParaRPr lang="en-US" sz="1200" dirty="0"/>
          </a:p>
        </p:txBody>
      </p:sp>
      <p:sp>
        <p:nvSpPr>
          <p:cNvPr id="70" name="Text 68"/>
          <p:cNvSpPr/>
          <p:nvPr/>
        </p:nvSpPr>
        <p:spPr>
          <a:xfrm>
            <a:off x="9004300" y="3284041"/>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Playa OSL 106 · descarga 86</a:t>
            </a:r>
            <a:endParaRPr lang="en-US" sz="1200" dirty="0"/>
          </a:p>
        </p:txBody>
      </p:sp>
      <p:sp>
        <p:nvSpPr>
          <p:cNvPr id="71" name="Shape 69"/>
          <p:cNvSpPr/>
          <p:nvPr/>
        </p:nvSpPr>
        <p:spPr>
          <a:xfrm>
            <a:off x="9004300" y="3573562"/>
            <a:ext cx="522288" cy="558701"/>
          </a:xfrm>
          <a:prstGeom prst="roundRect">
            <a:avLst>
              <a:gd name="adj" fmla="val 12158"/>
            </a:avLst>
          </a:prstGeom>
          <a:solidFill>
            <a:srgbClr val="EAF2EC"/>
          </a:solidFill>
          <a:ln/>
        </p:spPr>
      </p:sp>
      <p:sp>
        <p:nvSpPr>
          <p:cNvPr id="72" name="Text 70"/>
          <p:cNvSpPr/>
          <p:nvPr/>
        </p:nvSpPr>
        <p:spPr>
          <a:xfrm>
            <a:off x="9140031"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8372D"/>
                </a:solidFill>
                <a:latin typeface="IBM Plex Sans" pitchFamily="34" charset="0"/>
                <a:ea typeface="IBM Plex Sans" pitchFamily="34" charset="-122"/>
                <a:cs typeface="IBM Plex Sans" pitchFamily="34" charset="-120"/>
              </a:rPr>
              <a:t>Q1</a:t>
            </a:r>
            <a:endParaRPr lang="en-US" sz="1200" dirty="0"/>
          </a:p>
        </p:txBody>
      </p:sp>
      <p:sp>
        <p:nvSpPr>
          <p:cNvPr id="73" name="Text 71"/>
          <p:cNvSpPr/>
          <p:nvPr/>
        </p:nvSpPr>
        <p:spPr>
          <a:xfrm>
            <a:off x="9190434" y="3850382"/>
            <a:ext cx="14992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7</a:t>
            </a:r>
            <a:endParaRPr lang="en-US" sz="1300" dirty="0"/>
          </a:p>
        </p:txBody>
      </p:sp>
      <p:sp>
        <p:nvSpPr>
          <p:cNvPr id="74" name="Shape 72"/>
          <p:cNvSpPr/>
          <p:nvPr/>
        </p:nvSpPr>
        <p:spPr>
          <a:xfrm>
            <a:off x="9564688" y="3573562"/>
            <a:ext cx="522288" cy="558701"/>
          </a:xfrm>
          <a:prstGeom prst="roundRect">
            <a:avLst>
              <a:gd name="adj" fmla="val 12158"/>
            </a:avLst>
          </a:prstGeom>
          <a:solidFill>
            <a:srgbClr val="EAF2EC"/>
          </a:solidFill>
          <a:ln/>
        </p:spPr>
      </p:sp>
      <p:sp>
        <p:nvSpPr>
          <p:cNvPr id="75" name="Text 73"/>
          <p:cNvSpPr/>
          <p:nvPr/>
        </p:nvSpPr>
        <p:spPr>
          <a:xfrm>
            <a:off x="9700419"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9651A"/>
                </a:solidFill>
                <a:latin typeface="IBM Plex Sans" pitchFamily="34" charset="0"/>
                <a:ea typeface="IBM Plex Sans" pitchFamily="34" charset="-122"/>
                <a:cs typeface="IBM Plex Sans" pitchFamily="34" charset="-120"/>
              </a:rPr>
              <a:t>Q2</a:t>
            </a:r>
            <a:endParaRPr lang="en-US" sz="1200" dirty="0"/>
          </a:p>
        </p:txBody>
      </p:sp>
      <p:sp>
        <p:nvSpPr>
          <p:cNvPr id="76" name="Text 74"/>
          <p:cNvSpPr/>
          <p:nvPr/>
        </p:nvSpPr>
        <p:spPr>
          <a:xfrm>
            <a:off x="9701312" y="3850382"/>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20</a:t>
            </a:r>
            <a:endParaRPr lang="en-US" sz="1300" dirty="0"/>
          </a:p>
        </p:txBody>
      </p:sp>
      <p:sp>
        <p:nvSpPr>
          <p:cNvPr id="77" name="Shape 75"/>
          <p:cNvSpPr/>
          <p:nvPr/>
        </p:nvSpPr>
        <p:spPr>
          <a:xfrm>
            <a:off x="10125075" y="3573562"/>
            <a:ext cx="522288" cy="558701"/>
          </a:xfrm>
          <a:prstGeom prst="roundRect">
            <a:avLst>
              <a:gd name="adj" fmla="val 12158"/>
            </a:avLst>
          </a:prstGeom>
          <a:solidFill>
            <a:srgbClr val="EAF2EC"/>
          </a:solidFill>
          <a:ln/>
        </p:spPr>
      </p:sp>
      <p:sp>
        <p:nvSpPr>
          <p:cNvPr id="78" name="Text 76"/>
          <p:cNvSpPr/>
          <p:nvPr/>
        </p:nvSpPr>
        <p:spPr>
          <a:xfrm>
            <a:off x="10260806"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B1E3A"/>
                </a:solidFill>
                <a:latin typeface="IBM Plex Sans" pitchFamily="34" charset="0"/>
                <a:ea typeface="IBM Plex Sans" pitchFamily="34" charset="-122"/>
                <a:cs typeface="IBM Plex Sans" pitchFamily="34" charset="-120"/>
              </a:rPr>
              <a:t>Q3</a:t>
            </a:r>
            <a:endParaRPr lang="en-US" sz="1200" dirty="0"/>
          </a:p>
        </p:txBody>
      </p:sp>
      <p:sp>
        <p:nvSpPr>
          <p:cNvPr id="79" name="Text 77"/>
          <p:cNvSpPr/>
          <p:nvPr/>
        </p:nvSpPr>
        <p:spPr>
          <a:xfrm>
            <a:off x="10261699" y="3850382"/>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30</a:t>
            </a:r>
            <a:endParaRPr lang="en-US" sz="1300" dirty="0"/>
          </a:p>
        </p:txBody>
      </p:sp>
      <p:sp>
        <p:nvSpPr>
          <p:cNvPr id="80" name="Shape 78"/>
          <p:cNvSpPr/>
          <p:nvPr/>
        </p:nvSpPr>
        <p:spPr>
          <a:xfrm>
            <a:off x="10685463" y="3573562"/>
            <a:ext cx="522288" cy="558701"/>
          </a:xfrm>
          <a:prstGeom prst="roundRect">
            <a:avLst>
              <a:gd name="adj" fmla="val 12158"/>
            </a:avLst>
          </a:prstGeom>
          <a:solidFill>
            <a:srgbClr val="EAF2EC"/>
          </a:solidFill>
          <a:ln/>
        </p:spPr>
      </p:sp>
      <p:sp>
        <p:nvSpPr>
          <p:cNvPr id="81" name="Text 79"/>
          <p:cNvSpPr/>
          <p:nvPr/>
        </p:nvSpPr>
        <p:spPr>
          <a:xfrm>
            <a:off x="10821194" y="3624362"/>
            <a:ext cx="25082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Q4</a:t>
            </a:r>
            <a:endParaRPr lang="en-US" sz="1200" dirty="0"/>
          </a:p>
        </p:txBody>
      </p:sp>
      <p:sp>
        <p:nvSpPr>
          <p:cNvPr id="82" name="Text 80"/>
          <p:cNvSpPr/>
          <p:nvPr/>
        </p:nvSpPr>
        <p:spPr>
          <a:xfrm>
            <a:off x="10822087" y="3850382"/>
            <a:ext cx="2489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33</a:t>
            </a:r>
            <a:endParaRPr lang="en-US" sz="1300" dirty="0"/>
          </a:p>
        </p:txBody>
      </p:sp>
      <p:sp>
        <p:nvSpPr>
          <p:cNvPr id="83" name="Text 81"/>
          <p:cNvSpPr/>
          <p:nvPr/>
        </p:nvSpPr>
        <p:spPr>
          <a:xfrm>
            <a:off x="9004300" y="4208463"/>
            <a:ext cx="22695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106 viajes</a:t>
            </a:r>
            <a:endParaRPr lang="en-US" sz="1200" dirty="0"/>
          </a:p>
        </p:txBody>
      </p:sp>
      <p:sp>
        <p:nvSpPr>
          <p:cNvPr id="84" name="Shape 82"/>
          <p:cNvSpPr/>
          <p:nvPr/>
        </p:nvSpPr>
        <p:spPr>
          <a:xfrm>
            <a:off x="831850" y="4971653"/>
            <a:ext cx="0" cy="512961"/>
          </a:xfrm>
          <a:prstGeom prst="line">
            <a:avLst/>
          </a:prstGeom>
          <a:noFill/>
          <a:ln w="38100">
            <a:solidFill>
              <a:srgbClr val="3A8F63"/>
            </a:solidFill>
            <a:prstDash val="solid"/>
          </a:ln>
        </p:spPr>
      </p:sp>
      <p:sp>
        <p:nvSpPr>
          <p:cNvPr id="85" name="Text 83"/>
          <p:cNvSpPr/>
          <p:nvPr/>
        </p:nvSpPr>
        <p:spPr>
          <a:xfrm>
            <a:off x="977900" y="4997053"/>
            <a:ext cx="10713339"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El día más rápido fue el sábado 26 (232 min, Playa OSL en 20). El viernes 25 Playa OSL llegó a 173 min; ese día la soja también esperó en el puerto (San Lorenzo 178 min): pellet y soja comparten la playa.</a:t>
            </a:r>
            <a:endParaRPr lang="en-US" sz="1300" dirty="0"/>
          </a:p>
        </p:txBody>
      </p:sp>
      <p:pic>
        <p:nvPicPr>
          <p:cNvPr id="86"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87" name="Text 84"/>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16</a:t>
            </a:r>
            <a:endParaRPr lang="en-US" sz="1200" dirty="0"/>
          </a:p>
        </p:txBody>
      </p:sp>
      <p:pic>
        <p:nvPicPr>
          <p:cNvPr id="88"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893193" cy="289520"/>
          </a:xfrm>
          <a:custGeom>
            <a:avLst/>
            <a:gdLst/>
            <a:ahLst/>
            <a:cxnLst/>
            <a:rect l="l" t="t" r="r" b="b"/>
            <a:pathLst>
              <a:path w="1893193" h="289520">
                <a:moveTo>
                  <a:pt x="144760" y="0"/>
                </a:moveTo>
                <a:lnTo>
                  <a:pt x="1748433" y="0"/>
                </a:lnTo>
                <a:arcTo hR="144760" wR="144760" stAng="16200000" swAng="5400000"/>
                <a:lnTo>
                  <a:pt x="1893193" y="144760"/>
                </a:lnTo>
                <a:arcTo hR="144760" wR="144760" stAng="0" swAng="5400000"/>
                <a:lnTo>
                  <a:pt x="144760" y="289520"/>
                </a:lnTo>
                <a:arcTo hR="144760" wR="144760" stAng="5400000" swAng="5400000"/>
                <a:lnTo>
                  <a:pt x="0" y="144760"/>
                </a:lnTo>
                <a:arcTo hR="144760" wR="144760" stAng="10800000" swAng="5400000"/>
                <a:close/>
              </a:path>
            </a:pathLst>
          </a:custGeom>
          <a:solidFill>
            <a:srgbClr val="5E442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PELLET · R30/31/32</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Los operativos de pellet desde junio</a:t>
            </a:r>
            <a:endParaRPr lang="en-US" sz="3200" dirty="0"/>
          </a:p>
        </p:txBody>
      </p:sp>
      <p:sp>
        <p:nvSpPr>
          <p:cNvPr id="4" name="Text 2"/>
          <p:cNvSpPr/>
          <p:nvPr/>
        </p:nvSpPr>
        <p:spPr>
          <a:xfrm>
            <a:off x="812800" y="1701701"/>
            <a:ext cx="1003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Comité</a:t>
            </a:r>
            <a:endParaRPr lang="en-US" sz="1200" dirty="0"/>
          </a:p>
        </p:txBody>
      </p:sp>
      <p:sp>
        <p:nvSpPr>
          <p:cNvPr id="5" name="Text 3"/>
          <p:cNvSpPr/>
          <p:nvPr/>
        </p:nvSpPr>
        <p:spPr>
          <a:xfrm>
            <a:off x="1765300" y="1701701"/>
            <a:ext cx="1511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Período</a:t>
            </a:r>
            <a:endParaRPr lang="en-US" sz="1200" dirty="0"/>
          </a:p>
        </p:txBody>
      </p:sp>
      <p:sp>
        <p:nvSpPr>
          <p:cNvPr id="6" name="Text 4"/>
          <p:cNvSpPr/>
          <p:nvPr/>
        </p:nvSpPr>
        <p:spPr>
          <a:xfrm>
            <a:off x="3175000" y="1701701"/>
            <a:ext cx="749300" cy="45204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Viajes</a:t>
            </a:r>
            <a:endParaRPr lang="en-US" sz="1200" dirty="0"/>
          </a:p>
        </p:txBody>
      </p:sp>
      <p:sp>
        <p:nvSpPr>
          <p:cNvPr id="7" name="Text 5"/>
          <p:cNvSpPr/>
          <p:nvPr/>
        </p:nvSpPr>
        <p:spPr>
          <a:xfrm>
            <a:off x="3873500" y="1701701"/>
            <a:ext cx="939800" cy="45204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Camiones</a:t>
            </a:r>
            <a:endParaRPr lang="en-US" sz="1200" dirty="0"/>
          </a:p>
        </p:txBody>
      </p:sp>
      <p:sp>
        <p:nvSpPr>
          <p:cNvPr id="8" name="Text 6"/>
          <p:cNvSpPr/>
          <p:nvPr/>
        </p:nvSpPr>
        <p:spPr>
          <a:xfrm>
            <a:off x="4762500" y="1701701"/>
            <a:ext cx="1257300" cy="45204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Viajes por camión y día</a:t>
            </a:r>
            <a:endParaRPr lang="en-US" sz="1200" dirty="0"/>
          </a:p>
        </p:txBody>
      </p:sp>
      <p:sp>
        <p:nvSpPr>
          <p:cNvPr id="9" name="Text 7"/>
          <p:cNvSpPr/>
          <p:nvPr/>
        </p:nvSpPr>
        <p:spPr>
          <a:xfrm>
            <a:off x="5969000" y="1701701"/>
            <a:ext cx="1130300" cy="45204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Toneladas</a:t>
            </a:r>
            <a:endParaRPr lang="en-US" sz="1200" dirty="0"/>
          </a:p>
        </p:txBody>
      </p:sp>
      <p:sp>
        <p:nvSpPr>
          <p:cNvPr id="10" name="Text 8"/>
          <p:cNvSpPr/>
          <p:nvPr/>
        </p:nvSpPr>
        <p:spPr>
          <a:xfrm>
            <a:off x="7048500" y="1701701"/>
            <a:ext cx="1130300" cy="45204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Flete</a:t>
            </a:r>
            <a:endParaRPr lang="en-US" sz="1200" dirty="0"/>
          </a:p>
        </p:txBody>
      </p:sp>
      <p:sp>
        <p:nvSpPr>
          <p:cNvPr id="11" name="Text 9"/>
          <p:cNvSpPr/>
          <p:nvPr/>
        </p:nvSpPr>
        <p:spPr>
          <a:xfrm>
            <a:off x="8128000" y="1701701"/>
            <a:ext cx="812800" cy="45204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Horas</a:t>
            </a:r>
            <a:endParaRPr lang="en-US" sz="1200" dirty="0"/>
          </a:p>
        </p:txBody>
      </p:sp>
      <p:sp>
        <p:nvSpPr>
          <p:cNvPr id="12" name="Text 10"/>
          <p:cNvSpPr/>
          <p:nvPr/>
        </p:nvSpPr>
        <p:spPr>
          <a:xfrm>
            <a:off x="8890000" y="1701701"/>
            <a:ext cx="939800" cy="45204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Ciclo</a:t>
            </a:r>
            <a:endParaRPr lang="en-US" sz="1200" dirty="0"/>
          </a:p>
        </p:txBody>
      </p:sp>
      <p:sp>
        <p:nvSpPr>
          <p:cNvPr id="13" name="Shape 11"/>
          <p:cNvSpPr/>
          <p:nvPr/>
        </p:nvSpPr>
        <p:spPr>
          <a:xfrm>
            <a:off x="812800" y="2169616"/>
            <a:ext cx="10566400" cy="0"/>
          </a:xfrm>
          <a:prstGeom prst="line">
            <a:avLst/>
          </a:prstGeom>
          <a:noFill/>
          <a:ln w="6350">
            <a:solidFill>
              <a:srgbClr val="D3E2D7"/>
            </a:solidFill>
            <a:prstDash val="solid"/>
          </a:ln>
        </p:spPr>
      </p:sp>
      <p:sp>
        <p:nvSpPr>
          <p:cNvPr id="14" name="Text 12"/>
          <p:cNvSpPr/>
          <p:nvPr/>
        </p:nvSpPr>
        <p:spPr>
          <a:xfrm>
            <a:off x="812800" y="2236291"/>
            <a:ext cx="1003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a:t>
            </a:r>
            <a:endParaRPr lang="en-US" sz="1300" dirty="0"/>
          </a:p>
        </p:txBody>
      </p:sp>
      <p:sp>
        <p:nvSpPr>
          <p:cNvPr id="15" name="Text 13"/>
          <p:cNvSpPr/>
          <p:nvPr/>
        </p:nvSpPr>
        <p:spPr>
          <a:xfrm>
            <a:off x="1765300" y="2236291"/>
            <a:ext cx="1511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30/06 a 04/07</a:t>
            </a:r>
            <a:endParaRPr lang="en-US" sz="1300" dirty="0"/>
          </a:p>
        </p:txBody>
      </p:sp>
      <p:sp>
        <p:nvSpPr>
          <p:cNvPr id="16" name="Text 14"/>
          <p:cNvSpPr/>
          <p:nvPr/>
        </p:nvSpPr>
        <p:spPr>
          <a:xfrm>
            <a:off x="3175000" y="2236291"/>
            <a:ext cx="749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337</a:t>
            </a:r>
            <a:endParaRPr lang="en-US" sz="1300" dirty="0"/>
          </a:p>
        </p:txBody>
      </p:sp>
      <p:sp>
        <p:nvSpPr>
          <p:cNvPr id="17" name="Text 15"/>
          <p:cNvSpPr/>
          <p:nvPr/>
        </p:nvSpPr>
        <p:spPr>
          <a:xfrm>
            <a:off x="3873500" y="2236291"/>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49</a:t>
            </a:r>
            <a:endParaRPr lang="en-US" sz="1300" dirty="0"/>
          </a:p>
        </p:txBody>
      </p:sp>
      <p:sp>
        <p:nvSpPr>
          <p:cNvPr id="18" name="Text 16"/>
          <p:cNvSpPr/>
          <p:nvPr/>
        </p:nvSpPr>
        <p:spPr>
          <a:xfrm>
            <a:off x="4762500" y="2236291"/>
            <a:ext cx="1257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a:t>
            </a:r>
            <a:endParaRPr lang="en-US" sz="1300" dirty="0"/>
          </a:p>
        </p:txBody>
      </p:sp>
      <p:sp>
        <p:nvSpPr>
          <p:cNvPr id="19" name="Text 17"/>
          <p:cNvSpPr/>
          <p:nvPr/>
        </p:nvSpPr>
        <p:spPr>
          <a:xfrm>
            <a:off x="5969000" y="2236291"/>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10.110 t</a:t>
            </a:r>
            <a:endParaRPr lang="en-US" sz="1300" dirty="0"/>
          </a:p>
        </p:txBody>
      </p:sp>
      <p:sp>
        <p:nvSpPr>
          <p:cNvPr id="20" name="Text 18"/>
          <p:cNvSpPr/>
          <p:nvPr/>
        </p:nvSpPr>
        <p:spPr>
          <a:xfrm>
            <a:off x="7048500" y="2236291"/>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$ 60,7 M</a:t>
            </a:r>
            <a:endParaRPr lang="en-US" sz="1300" dirty="0"/>
          </a:p>
        </p:txBody>
      </p:sp>
      <p:sp>
        <p:nvSpPr>
          <p:cNvPr id="21" name="Text 19"/>
          <p:cNvSpPr/>
          <p:nvPr/>
        </p:nvSpPr>
        <p:spPr>
          <a:xfrm>
            <a:off x="8128000" y="2236291"/>
            <a:ext cx="812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62,7</a:t>
            </a:r>
            <a:endParaRPr lang="en-US" sz="1300" dirty="0"/>
          </a:p>
        </p:txBody>
      </p:sp>
      <p:sp>
        <p:nvSpPr>
          <p:cNvPr id="22" name="Text 20"/>
          <p:cNvSpPr/>
          <p:nvPr/>
        </p:nvSpPr>
        <p:spPr>
          <a:xfrm>
            <a:off x="8890000" y="2236291"/>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a:t>
            </a:r>
            <a:endParaRPr lang="en-US" sz="1300" dirty="0"/>
          </a:p>
        </p:txBody>
      </p:sp>
      <p:sp>
        <p:nvSpPr>
          <p:cNvPr id="23" name="Shape 21"/>
          <p:cNvSpPr/>
          <p:nvPr/>
        </p:nvSpPr>
        <p:spPr>
          <a:xfrm>
            <a:off x="812800" y="2534047"/>
            <a:ext cx="10566400" cy="0"/>
          </a:xfrm>
          <a:prstGeom prst="line">
            <a:avLst/>
          </a:prstGeom>
          <a:noFill/>
          <a:ln w="6350">
            <a:solidFill>
              <a:srgbClr val="D3E2D7"/>
            </a:solidFill>
            <a:prstDash val="solid"/>
          </a:ln>
        </p:spPr>
      </p:sp>
      <p:sp>
        <p:nvSpPr>
          <p:cNvPr id="24" name="Text 22"/>
          <p:cNvSpPr/>
          <p:nvPr/>
        </p:nvSpPr>
        <p:spPr>
          <a:xfrm>
            <a:off x="812800" y="2600722"/>
            <a:ext cx="1003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a:t>
            </a:r>
            <a:endParaRPr lang="en-US" sz="1300" dirty="0"/>
          </a:p>
        </p:txBody>
      </p:sp>
      <p:sp>
        <p:nvSpPr>
          <p:cNvPr id="25" name="Text 23"/>
          <p:cNvSpPr/>
          <p:nvPr/>
        </p:nvSpPr>
        <p:spPr>
          <a:xfrm>
            <a:off x="1765300" y="2600722"/>
            <a:ext cx="1511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08/07 a 15/07</a:t>
            </a:r>
            <a:endParaRPr lang="en-US" sz="1300" dirty="0"/>
          </a:p>
        </p:txBody>
      </p:sp>
      <p:sp>
        <p:nvSpPr>
          <p:cNvPr id="26" name="Text 24"/>
          <p:cNvSpPr/>
          <p:nvPr/>
        </p:nvSpPr>
        <p:spPr>
          <a:xfrm>
            <a:off x="3175000" y="2600722"/>
            <a:ext cx="749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768</a:t>
            </a:r>
            <a:endParaRPr lang="en-US" sz="1300" dirty="0"/>
          </a:p>
        </p:txBody>
      </p:sp>
      <p:sp>
        <p:nvSpPr>
          <p:cNvPr id="27" name="Text 25"/>
          <p:cNvSpPr/>
          <p:nvPr/>
        </p:nvSpPr>
        <p:spPr>
          <a:xfrm>
            <a:off x="3873500" y="2600722"/>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74</a:t>
            </a:r>
            <a:endParaRPr lang="en-US" sz="1300" dirty="0"/>
          </a:p>
        </p:txBody>
      </p:sp>
      <p:sp>
        <p:nvSpPr>
          <p:cNvPr id="28" name="Text 26"/>
          <p:cNvSpPr/>
          <p:nvPr/>
        </p:nvSpPr>
        <p:spPr>
          <a:xfrm>
            <a:off x="4762500" y="2600722"/>
            <a:ext cx="1257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a:t>
            </a:r>
            <a:endParaRPr lang="en-US" sz="1300" dirty="0"/>
          </a:p>
        </p:txBody>
      </p:sp>
      <p:sp>
        <p:nvSpPr>
          <p:cNvPr id="29" name="Text 27"/>
          <p:cNvSpPr/>
          <p:nvPr/>
        </p:nvSpPr>
        <p:spPr>
          <a:xfrm>
            <a:off x="5969000" y="260072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23.040 t</a:t>
            </a:r>
            <a:endParaRPr lang="en-US" sz="1300" dirty="0"/>
          </a:p>
        </p:txBody>
      </p:sp>
      <p:sp>
        <p:nvSpPr>
          <p:cNvPr id="30" name="Text 28"/>
          <p:cNvSpPr/>
          <p:nvPr/>
        </p:nvSpPr>
        <p:spPr>
          <a:xfrm>
            <a:off x="7048500" y="260072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$ 138,2 M</a:t>
            </a:r>
            <a:endParaRPr lang="en-US" sz="1300" dirty="0"/>
          </a:p>
        </p:txBody>
      </p:sp>
      <p:sp>
        <p:nvSpPr>
          <p:cNvPr id="31" name="Text 29"/>
          <p:cNvSpPr/>
          <p:nvPr/>
        </p:nvSpPr>
        <p:spPr>
          <a:xfrm>
            <a:off x="8128000" y="2600722"/>
            <a:ext cx="812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126,2</a:t>
            </a:r>
            <a:endParaRPr lang="en-US" sz="1300" dirty="0"/>
          </a:p>
        </p:txBody>
      </p:sp>
      <p:sp>
        <p:nvSpPr>
          <p:cNvPr id="32" name="Text 30"/>
          <p:cNvSpPr/>
          <p:nvPr/>
        </p:nvSpPr>
        <p:spPr>
          <a:xfrm>
            <a:off x="8890000" y="2600722"/>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a:t>
            </a:r>
            <a:endParaRPr lang="en-US" sz="1300" dirty="0"/>
          </a:p>
        </p:txBody>
      </p:sp>
      <p:sp>
        <p:nvSpPr>
          <p:cNvPr id="33" name="Shape 31"/>
          <p:cNvSpPr/>
          <p:nvPr/>
        </p:nvSpPr>
        <p:spPr>
          <a:xfrm>
            <a:off x="812800" y="2898477"/>
            <a:ext cx="10566400" cy="0"/>
          </a:xfrm>
          <a:prstGeom prst="line">
            <a:avLst/>
          </a:prstGeom>
          <a:noFill/>
          <a:ln w="6350">
            <a:solidFill>
              <a:srgbClr val="D3E2D7"/>
            </a:solidFill>
            <a:prstDash val="solid"/>
          </a:ln>
        </p:spPr>
      </p:sp>
      <p:sp>
        <p:nvSpPr>
          <p:cNvPr id="34" name="Text 32"/>
          <p:cNvSpPr/>
          <p:nvPr/>
        </p:nvSpPr>
        <p:spPr>
          <a:xfrm>
            <a:off x="812800" y="2965152"/>
            <a:ext cx="1003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28/8</a:t>
            </a:r>
            <a:endParaRPr lang="en-US" sz="1300" dirty="0"/>
          </a:p>
        </p:txBody>
      </p:sp>
      <p:sp>
        <p:nvSpPr>
          <p:cNvPr id="35" name="Text 33"/>
          <p:cNvSpPr/>
          <p:nvPr/>
        </p:nvSpPr>
        <p:spPr>
          <a:xfrm>
            <a:off x="1765300" y="2965152"/>
            <a:ext cx="1511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18/08 a 22/08</a:t>
            </a:r>
            <a:endParaRPr lang="en-US" sz="1300" dirty="0"/>
          </a:p>
        </p:txBody>
      </p:sp>
      <p:sp>
        <p:nvSpPr>
          <p:cNvPr id="36" name="Text 34"/>
          <p:cNvSpPr/>
          <p:nvPr/>
        </p:nvSpPr>
        <p:spPr>
          <a:xfrm>
            <a:off x="3175000" y="2965152"/>
            <a:ext cx="749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532</a:t>
            </a:r>
            <a:endParaRPr lang="en-US" sz="1300" dirty="0"/>
          </a:p>
        </p:txBody>
      </p:sp>
      <p:sp>
        <p:nvSpPr>
          <p:cNvPr id="37" name="Text 35"/>
          <p:cNvSpPr/>
          <p:nvPr/>
        </p:nvSpPr>
        <p:spPr>
          <a:xfrm>
            <a:off x="3873500" y="2965152"/>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60</a:t>
            </a:r>
            <a:endParaRPr lang="en-US" sz="1300" dirty="0"/>
          </a:p>
        </p:txBody>
      </p:sp>
      <p:sp>
        <p:nvSpPr>
          <p:cNvPr id="38" name="Text 36"/>
          <p:cNvSpPr/>
          <p:nvPr/>
        </p:nvSpPr>
        <p:spPr>
          <a:xfrm>
            <a:off x="4762500" y="2965152"/>
            <a:ext cx="1257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a:t>
            </a:r>
            <a:endParaRPr lang="en-US" sz="1300" dirty="0"/>
          </a:p>
        </p:txBody>
      </p:sp>
      <p:sp>
        <p:nvSpPr>
          <p:cNvPr id="39" name="Text 37"/>
          <p:cNvSpPr/>
          <p:nvPr/>
        </p:nvSpPr>
        <p:spPr>
          <a:xfrm>
            <a:off x="5969000" y="296515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15.960 t</a:t>
            </a:r>
            <a:endParaRPr lang="en-US" sz="1300" dirty="0"/>
          </a:p>
        </p:txBody>
      </p:sp>
      <p:sp>
        <p:nvSpPr>
          <p:cNvPr id="40" name="Text 38"/>
          <p:cNvSpPr/>
          <p:nvPr/>
        </p:nvSpPr>
        <p:spPr>
          <a:xfrm>
            <a:off x="7048500" y="296515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$ 95,8 M</a:t>
            </a:r>
            <a:endParaRPr lang="en-US" sz="1300" dirty="0"/>
          </a:p>
        </p:txBody>
      </p:sp>
      <p:sp>
        <p:nvSpPr>
          <p:cNvPr id="41" name="Text 39"/>
          <p:cNvSpPr/>
          <p:nvPr/>
        </p:nvSpPr>
        <p:spPr>
          <a:xfrm>
            <a:off x="8128000" y="2965152"/>
            <a:ext cx="812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89,2</a:t>
            </a:r>
            <a:endParaRPr lang="en-US" sz="1300" dirty="0"/>
          </a:p>
        </p:txBody>
      </p:sp>
      <p:sp>
        <p:nvSpPr>
          <p:cNvPr id="42" name="Text 40"/>
          <p:cNvSpPr/>
          <p:nvPr/>
        </p:nvSpPr>
        <p:spPr>
          <a:xfrm>
            <a:off x="8890000" y="2965152"/>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396 min</a:t>
            </a:r>
            <a:endParaRPr lang="en-US" sz="1300" dirty="0"/>
          </a:p>
        </p:txBody>
      </p:sp>
      <p:sp>
        <p:nvSpPr>
          <p:cNvPr id="43" name="Shape 41"/>
          <p:cNvSpPr/>
          <p:nvPr/>
        </p:nvSpPr>
        <p:spPr>
          <a:xfrm>
            <a:off x="812800" y="3262908"/>
            <a:ext cx="10566400" cy="0"/>
          </a:xfrm>
          <a:prstGeom prst="line">
            <a:avLst/>
          </a:prstGeom>
          <a:noFill/>
          <a:ln w="6350">
            <a:solidFill>
              <a:srgbClr val="D3E2D7"/>
            </a:solidFill>
            <a:prstDash val="solid"/>
          </a:ln>
        </p:spPr>
      </p:sp>
      <p:sp>
        <p:nvSpPr>
          <p:cNvPr id="44" name="Text 42"/>
          <p:cNvSpPr/>
          <p:nvPr/>
        </p:nvSpPr>
        <p:spPr>
          <a:xfrm>
            <a:off x="812800" y="3329583"/>
            <a:ext cx="1003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4/9</a:t>
            </a:r>
            <a:endParaRPr lang="en-US" sz="1300" dirty="0"/>
          </a:p>
        </p:txBody>
      </p:sp>
      <p:sp>
        <p:nvSpPr>
          <p:cNvPr id="45" name="Text 43"/>
          <p:cNvSpPr/>
          <p:nvPr/>
        </p:nvSpPr>
        <p:spPr>
          <a:xfrm>
            <a:off x="1765300" y="3329583"/>
            <a:ext cx="1511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28/08 a 02/09</a:t>
            </a:r>
            <a:endParaRPr lang="en-US" sz="1300" dirty="0"/>
          </a:p>
        </p:txBody>
      </p:sp>
      <p:sp>
        <p:nvSpPr>
          <p:cNvPr id="46" name="Text 44"/>
          <p:cNvSpPr/>
          <p:nvPr/>
        </p:nvSpPr>
        <p:spPr>
          <a:xfrm>
            <a:off x="3175000" y="3329583"/>
            <a:ext cx="749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723</a:t>
            </a:r>
            <a:endParaRPr lang="en-US" sz="1300" dirty="0"/>
          </a:p>
        </p:txBody>
      </p:sp>
      <p:sp>
        <p:nvSpPr>
          <p:cNvPr id="47" name="Text 45"/>
          <p:cNvSpPr/>
          <p:nvPr/>
        </p:nvSpPr>
        <p:spPr>
          <a:xfrm>
            <a:off x="3873500" y="3329583"/>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63</a:t>
            </a:r>
            <a:endParaRPr lang="en-US" sz="1300" dirty="0"/>
          </a:p>
        </p:txBody>
      </p:sp>
      <p:sp>
        <p:nvSpPr>
          <p:cNvPr id="48" name="Text 46"/>
          <p:cNvSpPr/>
          <p:nvPr/>
        </p:nvSpPr>
        <p:spPr>
          <a:xfrm>
            <a:off x="4762500" y="3329583"/>
            <a:ext cx="1257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3</a:t>
            </a:r>
            <a:endParaRPr lang="en-US" sz="1300" dirty="0"/>
          </a:p>
        </p:txBody>
      </p:sp>
      <p:sp>
        <p:nvSpPr>
          <p:cNvPr id="49" name="Text 47"/>
          <p:cNvSpPr/>
          <p:nvPr/>
        </p:nvSpPr>
        <p:spPr>
          <a:xfrm>
            <a:off x="5969000" y="332958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21.690 t</a:t>
            </a:r>
            <a:endParaRPr lang="en-US" sz="1300" dirty="0"/>
          </a:p>
        </p:txBody>
      </p:sp>
      <p:sp>
        <p:nvSpPr>
          <p:cNvPr id="50" name="Text 48"/>
          <p:cNvSpPr/>
          <p:nvPr/>
        </p:nvSpPr>
        <p:spPr>
          <a:xfrm>
            <a:off x="7048500" y="332958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$ 130,1 M</a:t>
            </a:r>
            <a:endParaRPr lang="en-US" sz="1300" dirty="0"/>
          </a:p>
        </p:txBody>
      </p:sp>
      <p:sp>
        <p:nvSpPr>
          <p:cNvPr id="51" name="Text 49"/>
          <p:cNvSpPr/>
          <p:nvPr/>
        </p:nvSpPr>
        <p:spPr>
          <a:xfrm>
            <a:off x="8128000" y="3329583"/>
            <a:ext cx="812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121,6</a:t>
            </a:r>
            <a:endParaRPr lang="en-US" sz="1300" dirty="0"/>
          </a:p>
        </p:txBody>
      </p:sp>
      <p:sp>
        <p:nvSpPr>
          <p:cNvPr id="52" name="Text 50"/>
          <p:cNvSpPr/>
          <p:nvPr/>
        </p:nvSpPr>
        <p:spPr>
          <a:xfrm>
            <a:off x="8890000" y="3329583"/>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381 min</a:t>
            </a:r>
            <a:endParaRPr lang="en-US" sz="1300" dirty="0"/>
          </a:p>
        </p:txBody>
      </p:sp>
      <p:sp>
        <p:nvSpPr>
          <p:cNvPr id="53" name="Shape 51"/>
          <p:cNvSpPr/>
          <p:nvPr/>
        </p:nvSpPr>
        <p:spPr>
          <a:xfrm>
            <a:off x="812800" y="3627338"/>
            <a:ext cx="10566400" cy="0"/>
          </a:xfrm>
          <a:prstGeom prst="line">
            <a:avLst/>
          </a:prstGeom>
          <a:noFill/>
          <a:ln w="6350">
            <a:solidFill>
              <a:srgbClr val="D3E2D7"/>
            </a:solidFill>
            <a:prstDash val="solid"/>
          </a:ln>
        </p:spPr>
      </p:sp>
      <p:sp>
        <p:nvSpPr>
          <p:cNvPr id="54" name="Text 52"/>
          <p:cNvSpPr/>
          <p:nvPr/>
        </p:nvSpPr>
        <p:spPr>
          <a:xfrm>
            <a:off x="812800" y="3694013"/>
            <a:ext cx="1003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11/9</a:t>
            </a:r>
            <a:endParaRPr lang="en-US" sz="1300" dirty="0"/>
          </a:p>
        </p:txBody>
      </p:sp>
      <p:sp>
        <p:nvSpPr>
          <p:cNvPr id="55" name="Text 53"/>
          <p:cNvSpPr/>
          <p:nvPr/>
        </p:nvSpPr>
        <p:spPr>
          <a:xfrm>
            <a:off x="1765300" y="3694013"/>
            <a:ext cx="1511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03/09 a 05/09</a:t>
            </a:r>
            <a:endParaRPr lang="en-US" sz="1300" dirty="0"/>
          </a:p>
        </p:txBody>
      </p:sp>
      <p:sp>
        <p:nvSpPr>
          <p:cNvPr id="56" name="Text 54"/>
          <p:cNvSpPr/>
          <p:nvPr/>
        </p:nvSpPr>
        <p:spPr>
          <a:xfrm>
            <a:off x="3175000" y="3694013"/>
            <a:ext cx="749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383</a:t>
            </a:r>
            <a:endParaRPr lang="en-US" sz="1300" dirty="0"/>
          </a:p>
        </p:txBody>
      </p:sp>
      <p:sp>
        <p:nvSpPr>
          <p:cNvPr id="57" name="Text 55"/>
          <p:cNvSpPr/>
          <p:nvPr/>
        </p:nvSpPr>
        <p:spPr>
          <a:xfrm>
            <a:off x="3873500" y="3694013"/>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65</a:t>
            </a:r>
            <a:endParaRPr lang="en-US" sz="1300" dirty="0"/>
          </a:p>
        </p:txBody>
      </p:sp>
      <p:sp>
        <p:nvSpPr>
          <p:cNvPr id="58" name="Text 56"/>
          <p:cNvSpPr/>
          <p:nvPr/>
        </p:nvSpPr>
        <p:spPr>
          <a:xfrm>
            <a:off x="4762500" y="3694013"/>
            <a:ext cx="1257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a:t>
            </a:r>
            <a:endParaRPr lang="en-US" sz="1300" dirty="0"/>
          </a:p>
        </p:txBody>
      </p:sp>
      <p:sp>
        <p:nvSpPr>
          <p:cNvPr id="59" name="Text 57"/>
          <p:cNvSpPr/>
          <p:nvPr/>
        </p:nvSpPr>
        <p:spPr>
          <a:xfrm>
            <a:off x="5969000" y="369401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11.490 t</a:t>
            </a:r>
            <a:endParaRPr lang="en-US" sz="1300" dirty="0"/>
          </a:p>
        </p:txBody>
      </p:sp>
      <p:sp>
        <p:nvSpPr>
          <p:cNvPr id="60" name="Text 58"/>
          <p:cNvSpPr/>
          <p:nvPr/>
        </p:nvSpPr>
        <p:spPr>
          <a:xfrm>
            <a:off x="7048500" y="369401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$ 68,9 M</a:t>
            </a:r>
            <a:endParaRPr lang="en-US" sz="1300" dirty="0"/>
          </a:p>
        </p:txBody>
      </p:sp>
      <p:sp>
        <p:nvSpPr>
          <p:cNvPr id="61" name="Text 59"/>
          <p:cNvSpPr/>
          <p:nvPr/>
        </p:nvSpPr>
        <p:spPr>
          <a:xfrm>
            <a:off x="8128000" y="3694013"/>
            <a:ext cx="812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60,1</a:t>
            </a:r>
            <a:endParaRPr lang="en-US" sz="1300" dirty="0"/>
          </a:p>
        </p:txBody>
      </p:sp>
      <p:sp>
        <p:nvSpPr>
          <p:cNvPr id="62" name="Text 60"/>
          <p:cNvSpPr/>
          <p:nvPr/>
        </p:nvSpPr>
        <p:spPr>
          <a:xfrm>
            <a:off x="8890000" y="3694013"/>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392 min</a:t>
            </a:r>
            <a:endParaRPr lang="en-US" sz="1300" dirty="0"/>
          </a:p>
        </p:txBody>
      </p:sp>
      <p:sp>
        <p:nvSpPr>
          <p:cNvPr id="63" name="Shape 61"/>
          <p:cNvSpPr/>
          <p:nvPr/>
        </p:nvSpPr>
        <p:spPr>
          <a:xfrm>
            <a:off x="812800" y="3991769"/>
            <a:ext cx="10566400" cy="0"/>
          </a:xfrm>
          <a:prstGeom prst="line">
            <a:avLst/>
          </a:prstGeom>
          <a:noFill/>
          <a:ln w="6350">
            <a:solidFill>
              <a:srgbClr val="D3E2D7"/>
            </a:solidFill>
            <a:prstDash val="solid"/>
          </a:ln>
        </p:spPr>
      </p:sp>
      <p:sp>
        <p:nvSpPr>
          <p:cNvPr id="64" name="Text 62"/>
          <p:cNvSpPr/>
          <p:nvPr/>
        </p:nvSpPr>
        <p:spPr>
          <a:xfrm>
            <a:off x="812800" y="4058444"/>
            <a:ext cx="1003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18/9</a:t>
            </a:r>
            <a:endParaRPr lang="en-US" sz="1300" dirty="0"/>
          </a:p>
        </p:txBody>
      </p:sp>
      <p:sp>
        <p:nvSpPr>
          <p:cNvPr id="65" name="Text 63"/>
          <p:cNvSpPr/>
          <p:nvPr/>
        </p:nvSpPr>
        <p:spPr>
          <a:xfrm>
            <a:off x="1765300" y="4058444"/>
            <a:ext cx="1511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14/09 a 15/09</a:t>
            </a:r>
            <a:endParaRPr lang="en-US" sz="1300" dirty="0"/>
          </a:p>
        </p:txBody>
      </p:sp>
      <p:sp>
        <p:nvSpPr>
          <p:cNvPr id="66" name="Text 64"/>
          <p:cNvSpPr/>
          <p:nvPr/>
        </p:nvSpPr>
        <p:spPr>
          <a:xfrm>
            <a:off x="3175000" y="4058444"/>
            <a:ext cx="749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189</a:t>
            </a:r>
            <a:endParaRPr lang="en-US" sz="1300" dirty="0"/>
          </a:p>
        </p:txBody>
      </p:sp>
      <p:sp>
        <p:nvSpPr>
          <p:cNvPr id="67" name="Text 65"/>
          <p:cNvSpPr/>
          <p:nvPr/>
        </p:nvSpPr>
        <p:spPr>
          <a:xfrm>
            <a:off x="3873500" y="4058444"/>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48</a:t>
            </a:r>
            <a:endParaRPr lang="en-US" sz="1300" dirty="0"/>
          </a:p>
        </p:txBody>
      </p:sp>
      <p:sp>
        <p:nvSpPr>
          <p:cNvPr id="68" name="Text 66"/>
          <p:cNvSpPr/>
          <p:nvPr/>
        </p:nvSpPr>
        <p:spPr>
          <a:xfrm>
            <a:off x="4762500" y="4058444"/>
            <a:ext cx="1257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a:t>
            </a:r>
            <a:endParaRPr lang="en-US" sz="1300" dirty="0"/>
          </a:p>
        </p:txBody>
      </p:sp>
      <p:sp>
        <p:nvSpPr>
          <p:cNvPr id="69" name="Text 67"/>
          <p:cNvSpPr/>
          <p:nvPr/>
        </p:nvSpPr>
        <p:spPr>
          <a:xfrm>
            <a:off x="5969000" y="4058444"/>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5.670 t</a:t>
            </a:r>
            <a:endParaRPr lang="en-US" sz="1300" dirty="0"/>
          </a:p>
        </p:txBody>
      </p:sp>
      <p:sp>
        <p:nvSpPr>
          <p:cNvPr id="70" name="Text 68"/>
          <p:cNvSpPr/>
          <p:nvPr/>
        </p:nvSpPr>
        <p:spPr>
          <a:xfrm>
            <a:off x="7048500" y="4058444"/>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$ 34,0 M</a:t>
            </a:r>
            <a:endParaRPr lang="en-US" sz="1300" dirty="0"/>
          </a:p>
        </p:txBody>
      </p:sp>
      <p:sp>
        <p:nvSpPr>
          <p:cNvPr id="71" name="Text 69"/>
          <p:cNvSpPr/>
          <p:nvPr/>
        </p:nvSpPr>
        <p:spPr>
          <a:xfrm>
            <a:off x="8128000" y="4058444"/>
            <a:ext cx="812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27,3</a:t>
            </a:r>
            <a:endParaRPr lang="en-US" sz="1300" dirty="0"/>
          </a:p>
        </p:txBody>
      </p:sp>
      <p:sp>
        <p:nvSpPr>
          <p:cNvPr id="72" name="Text 70"/>
          <p:cNvSpPr/>
          <p:nvPr/>
        </p:nvSpPr>
        <p:spPr>
          <a:xfrm>
            <a:off x="8890000" y="4058444"/>
            <a:ext cx="9398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263 min</a:t>
            </a:r>
            <a:endParaRPr lang="en-US" sz="1300" dirty="0"/>
          </a:p>
        </p:txBody>
      </p:sp>
      <p:sp>
        <p:nvSpPr>
          <p:cNvPr id="73" name="Shape 71"/>
          <p:cNvSpPr/>
          <p:nvPr/>
        </p:nvSpPr>
        <p:spPr>
          <a:xfrm>
            <a:off x="812800" y="4353024"/>
            <a:ext cx="10566400" cy="364430"/>
          </a:xfrm>
          <a:prstGeom prst="rect">
            <a:avLst/>
          </a:prstGeom>
          <a:solidFill>
            <a:srgbClr val="F3EADF"/>
          </a:solidFill>
          <a:ln/>
        </p:spPr>
      </p:sp>
      <p:sp>
        <p:nvSpPr>
          <p:cNvPr id="74" name="Shape 72"/>
          <p:cNvSpPr/>
          <p:nvPr/>
        </p:nvSpPr>
        <p:spPr>
          <a:xfrm>
            <a:off x="812800" y="4356199"/>
            <a:ext cx="10566400" cy="0"/>
          </a:xfrm>
          <a:prstGeom prst="line">
            <a:avLst/>
          </a:prstGeom>
          <a:noFill/>
          <a:ln w="6350">
            <a:solidFill>
              <a:srgbClr val="D3E2D7"/>
            </a:solidFill>
            <a:prstDash val="solid"/>
          </a:ln>
        </p:spPr>
      </p:sp>
      <p:sp>
        <p:nvSpPr>
          <p:cNvPr id="75" name="Text 73"/>
          <p:cNvSpPr/>
          <p:nvPr/>
        </p:nvSpPr>
        <p:spPr>
          <a:xfrm>
            <a:off x="812800" y="4422874"/>
            <a:ext cx="1003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2/10</a:t>
            </a:r>
            <a:endParaRPr lang="en-US" sz="1300" dirty="0"/>
          </a:p>
        </p:txBody>
      </p:sp>
      <p:sp>
        <p:nvSpPr>
          <p:cNvPr id="76" name="Text 74"/>
          <p:cNvSpPr/>
          <p:nvPr/>
        </p:nvSpPr>
        <p:spPr>
          <a:xfrm>
            <a:off x="1765300" y="4422874"/>
            <a:ext cx="1511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24/09 a 30/09</a:t>
            </a:r>
            <a:endParaRPr lang="en-US" sz="1300" dirty="0"/>
          </a:p>
        </p:txBody>
      </p:sp>
      <p:sp>
        <p:nvSpPr>
          <p:cNvPr id="77" name="Text 75"/>
          <p:cNvSpPr/>
          <p:nvPr/>
        </p:nvSpPr>
        <p:spPr>
          <a:xfrm>
            <a:off x="3175000" y="4422874"/>
            <a:ext cx="749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307</a:t>
            </a:r>
            <a:endParaRPr lang="en-US" sz="1300" dirty="0"/>
          </a:p>
        </p:txBody>
      </p:sp>
      <p:sp>
        <p:nvSpPr>
          <p:cNvPr id="78" name="Text 76"/>
          <p:cNvSpPr/>
          <p:nvPr/>
        </p:nvSpPr>
        <p:spPr>
          <a:xfrm>
            <a:off x="3873500" y="442287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62</a:t>
            </a:r>
            <a:endParaRPr lang="en-US" sz="1300" dirty="0"/>
          </a:p>
        </p:txBody>
      </p:sp>
      <p:sp>
        <p:nvSpPr>
          <p:cNvPr id="79" name="Text 77"/>
          <p:cNvSpPr/>
          <p:nvPr/>
        </p:nvSpPr>
        <p:spPr>
          <a:xfrm>
            <a:off x="4762500" y="4422874"/>
            <a:ext cx="1257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2</a:t>
            </a:r>
            <a:endParaRPr lang="en-US" sz="1300" dirty="0"/>
          </a:p>
        </p:txBody>
      </p:sp>
      <p:sp>
        <p:nvSpPr>
          <p:cNvPr id="80" name="Text 78"/>
          <p:cNvSpPr/>
          <p:nvPr/>
        </p:nvSpPr>
        <p:spPr>
          <a:xfrm>
            <a:off x="5969000" y="442287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9.210 t</a:t>
            </a:r>
            <a:endParaRPr lang="en-US" sz="1300" dirty="0"/>
          </a:p>
        </p:txBody>
      </p:sp>
      <p:sp>
        <p:nvSpPr>
          <p:cNvPr id="81" name="Text 79"/>
          <p:cNvSpPr/>
          <p:nvPr/>
        </p:nvSpPr>
        <p:spPr>
          <a:xfrm>
            <a:off x="7048500" y="442287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$ 55,3 M</a:t>
            </a:r>
            <a:endParaRPr lang="en-US" sz="1300" dirty="0"/>
          </a:p>
        </p:txBody>
      </p:sp>
      <p:sp>
        <p:nvSpPr>
          <p:cNvPr id="82" name="Text 80"/>
          <p:cNvSpPr/>
          <p:nvPr/>
        </p:nvSpPr>
        <p:spPr>
          <a:xfrm>
            <a:off x="8128000" y="4422874"/>
            <a:ext cx="812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48,5</a:t>
            </a:r>
            <a:endParaRPr lang="en-US" sz="1300" dirty="0"/>
          </a:p>
        </p:txBody>
      </p:sp>
      <p:sp>
        <p:nvSpPr>
          <p:cNvPr id="83" name="Text 81"/>
          <p:cNvSpPr/>
          <p:nvPr/>
        </p:nvSpPr>
        <p:spPr>
          <a:xfrm>
            <a:off x="8890000" y="442287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281 min</a:t>
            </a:r>
            <a:endParaRPr lang="en-US" sz="1300" dirty="0"/>
          </a:p>
        </p:txBody>
      </p:sp>
      <p:sp>
        <p:nvSpPr>
          <p:cNvPr id="84" name="Text 82"/>
          <p:cNvSpPr/>
          <p:nvPr/>
        </p:nvSpPr>
        <p:spPr>
          <a:xfrm>
            <a:off x="812800" y="4869855"/>
            <a:ext cx="5284724"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Todos los operativos usaron entre </a:t>
            </a:r>
            <a:r>
              <a:rPr lang="en-US" sz="1300" b="1" dirty="0">
                <a:solidFill>
                  <a:srgbClr val="4A5D52"/>
                </a:solidFill>
                <a:latin typeface="IBM Plex Sans" pitchFamily="34" charset="0"/>
                <a:ea typeface="IBM Plex Sans" pitchFamily="34" charset="-122"/>
                <a:cs typeface="IBM Plex Sans" pitchFamily="34" charset="-120"/>
              </a:rPr>
              <a:t>48 y 74 camiones</a:t>
            </a:r>
            <a:r>
              <a:rPr lang="en-US" sz="1300" dirty="0">
                <a:solidFill>
                  <a:srgbClr val="4A5D52"/>
                </a:solidFill>
                <a:latin typeface="IBM Plex Sans" pitchFamily="34" charset="0"/>
                <a:ea typeface="IBM Plex Sans" pitchFamily="34" charset="-122"/>
                <a:cs typeface="IBM Plex Sans" pitchFamily="34" charset="-120"/>
              </a:rPr>
              <a:t>. Cada camión hace entre 2 y 3 viajes por día: el volumen depende de cuántos camiones se suman y cuántas horas corre, no de que cada uno haga más vueltas.</a:t>
            </a:r>
            <a:endParaRPr lang="en-US" sz="1300" dirty="0"/>
          </a:p>
        </p:txBody>
      </p:sp>
      <p:sp>
        <p:nvSpPr>
          <p:cNvPr id="85" name="Shape 83"/>
          <p:cNvSpPr/>
          <p:nvPr/>
        </p:nvSpPr>
        <p:spPr>
          <a:xfrm>
            <a:off x="6267450" y="4869855"/>
            <a:ext cx="0" cy="744041"/>
          </a:xfrm>
          <a:prstGeom prst="line">
            <a:avLst/>
          </a:prstGeom>
          <a:noFill/>
          <a:ln w="38100">
            <a:solidFill>
              <a:srgbClr val="3A8F63"/>
            </a:solidFill>
            <a:prstDash val="solid"/>
          </a:ln>
        </p:spPr>
      </p:sp>
      <p:sp>
        <p:nvSpPr>
          <p:cNvPr id="86" name="Text 84"/>
          <p:cNvSpPr/>
          <p:nvPr/>
        </p:nvSpPr>
        <p:spPr>
          <a:xfrm>
            <a:off x="6413500" y="4895255"/>
            <a:ext cx="5114671" cy="7186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Esta semana se usaron 62 camiones, como en los operativos grandes, pero en 48,5 h repartidas en 3 tandas: rindió 2 viajes por camión y día, de los valores más bajos de la serie.</a:t>
            </a:r>
            <a:endParaRPr lang="en-US" sz="1300" dirty="0"/>
          </a:p>
        </p:txBody>
      </p:sp>
      <p:pic>
        <p:nvPicPr>
          <p:cNvPr id="87"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88" name="Text 8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17</a:t>
            </a:r>
            <a:endParaRPr lang="en-US" sz="1200" dirty="0"/>
          </a:p>
        </p:txBody>
      </p:sp>
      <p:pic>
        <p:nvPicPr>
          <p:cNvPr id="89"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567160" cy="289520"/>
          </a:xfrm>
          <a:custGeom>
            <a:avLst/>
            <a:gdLst/>
            <a:ahLst/>
            <a:cxnLst/>
            <a:rect l="l" t="t" r="r" b="b"/>
            <a:pathLst>
              <a:path w="1567160" h="289520">
                <a:moveTo>
                  <a:pt x="144760" y="0"/>
                </a:moveTo>
                <a:lnTo>
                  <a:pt x="1422400" y="0"/>
                </a:lnTo>
                <a:arcTo hR="144760" wR="144760" stAng="16200000" swAng="5400000"/>
                <a:lnTo>
                  <a:pt x="1567160" y="144760"/>
                </a:lnTo>
                <a:arcTo hR="144760" wR="144760" stAng="0" swAng="5400000"/>
                <a:lnTo>
                  <a:pt x="144760" y="289520"/>
                </a:lnTo>
                <a:arcTo hR="144760" wR="144760" stAng="5400000" swAng="5400000"/>
                <a:lnTo>
                  <a:pt x="0" y="144760"/>
                </a:lnTo>
                <a:arcTo hR="144760" wR="144760" stAng="10800000" swAng="5400000"/>
                <a:close/>
              </a:path>
            </a:pathLst>
          </a:custGeom>
          <a:solidFill>
            <a:srgbClr val="5E442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PELLET · ANEXO</a:t>
            </a:r>
            <a:endParaRPr lang="en-US" sz="1200" dirty="0"/>
          </a:p>
        </p:txBody>
      </p:sp>
      <p:sp>
        <p:nvSpPr>
          <p:cNvPr id="3" name="Text 1"/>
          <p:cNvSpPr/>
          <p:nvPr>
            <p:ph type="title"/>
          </p:nvPr>
        </p:nvSpPr>
        <p:spPr>
          <a:xfrm>
            <a:off x="812800" y="1102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Una prueba: menos camiones y menos espera en el puerto</a:t>
            </a:r>
            <a:endParaRPr lang="en-US" sz="3200" dirty="0"/>
          </a:p>
        </p:txBody>
      </p:sp>
      <p:sp>
        <p:nvSpPr>
          <p:cNvPr id="4" name="Text 2"/>
          <p:cNvSpPr/>
          <p:nvPr/>
        </p:nvSpPr>
        <p:spPr>
          <a:xfrm>
            <a:off x="812800" y="2148681"/>
            <a:ext cx="58079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Ciclo por viaje según cuántos camiones trabajaron ese día (17 días de operativo, agosto y septiembre)</a:t>
            </a:r>
            <a:endParaRPr lang="en-US" sz="1200" dirty="0"/>
          </a:p>
        </p:txBody>
      </p:sp>
      <p:sp>
        <p:nvSpPr>
          <p:cNvPr id="5" name="Text 3"/>
          <p:cNvSpPr/>
          <p:nvPr/>
        </p:nvSpPr>
        <p:spPr>
          <a:xfrm>
            <a:off x="812800" y="2701032"/>
            <a:ext cx="1562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Hasta 45 camiones</a:t>
            </a:r>
            <a:endParaRPr lang="en-US" sz="1300" dirty="0"/>
          </a:p>
        </p:txBody>
      </p:sp>
      <p:sp>
        <p:nvSpPr>
          <p:cNvPr id="6" name="Shape 4"/>
          <p:cNvSpPr/>
          <p:nvPr/>
        </p:nvSpPr>
        <p:spPr>
          <a:xfrm>
            <a:off x="2374900" y="2676922"/>
            <a:ext cx="1517650" cy="279400"/>
          </a:xfrm>
          <a:custGeom>
            <a:avLst/>
            <a:gdLst/>
            <a:ahLst/>
            <a:cxnLst/>
            <a:rect l="l" t="t" r="r" b="b"/>
            <a:pathLst>
              <a:path w="1517650" h="279400">
                <a:moveTo>
                  <a:pt x="0" y="0"/>
                </a:moveTo>
                <a:lnTo>
                  <a:pt x="1466850" y="0"/>
                </a:lnTo>
                <a:arcTo hR="50800" wR="50800" stAng="16200000" swAng="5400000"/>
                <a:lnTo>
                  <a:pt x="1517650" y="228600"/>
                </a:lnTo>
                <a:arcTo hR="50800" wR="50800" stAng="0" swAng="5400000"/>
                <a:lnTo>
                  <a:pt x="0" y="279400"/>
                </a:lnTo>
                <a:lnTo>
                  <a:pt x="0" y="0"/>
                </a:lnTo>
                <a:close/>
              </a:path>
            </a:pathLst>
          </a:custGeom>
          <a:solidFill>
            <a:srgbClr val="5E4428"/>
          </a:solidFill>
          <a:ln/>
        </p:spPr>
      </p:sp>
      <p:sp>
        <p:nvSpPr>
          <p:cNvPr id="7" name="Text 5"/>
          <p:cNvSpPr/>
          <p:nvPr/>
        </p:nvSpPr>
        <p:spPr>
          <a:xfrm>
            <a:off x="3994150" y="2701032"/>
            <a:ext cx="1655663"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270 min · puerto 151</a:t>
            </a:r>
            <a:endParaRPr lang="en-US" sz="1300" dirty="0"/>
          </a:p>
        </p:txBody>
      </p:sp>
      <p:sp>
        <p:nvSpPr>
          <p:cNvPr id="8" name="Text 6"/>
          <p:cNvSpPr/>
          <p:nvPr/>
        </p:nvSpPr>
        <p:spPr>
          <a:xfrm>
            <a:off x="812800" y="3082032"/>
            <a:ext cx="1511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46 a 55</a:t>
            </a:r>
            <a:endParaRPr lang="en-US" sz="1300" dirty="0"/>
          </a:p>
        </p:txBody>
      </p:sp>
      <p:sp>
        <p:nvSpPr>
          <p:cNvPr id="9" name="Shape 7"/>
          <p:cNvSpPr/>
          <p:nvPr/>
        </p:nvSpPr>
        <p:spPr>
          <a:xfrm>
            <a:off x="2374900" y="3057922"/>
            <a:ext cx="1974850" cy="279400"/>
          </a:xfrm>
          <a:custGeom>
            <a:avLst/>
            <a:gdLst/>
            <a:ahLst/>
            <a:cxnLst/>
            <a:rect l="l" t="t" r="r" b="b"/>
            <a:pathLst>
              <a:path w="1974850" h="279400">
                <a:moveTo>
                  <a:pt x="0" y="0"/>
                </a:moveTo>
                <a:lnTo>
                  <a:pt x="1924050" y="0"/>
                </a:lnTo>
                <a:arcTo hR="50800" wR="50800" stAng="16200000" swAng="5400000"/>
                <a:lnTo>
                  <a:pt x="1974850" y="228600"/>
                </a:lnTo>
                <a:arcTo hR="50800" wR="50800" stAng="0" swAng="5400000"/>
                <a:lnTo>
                  <a:pt x="0" y="279400"/>
                </a:lnTo>
                <a:lnTo>
                  <a:pt x="0" y="0"/>
                </a:lnTo>
                <a:close/>
              </a:path>
            </a:pathLst>
          </a:custGeom>
          <a:solidFill>
            <a:srgbClr val="C9AE8A"/>
          </a:solidFill>
          <a:ln/>
        </p:spPr>
      </p:sp>
      <p:sp>
        <p:nvSpPr>
          <p:cNvPr id="10" name="Text 8"/>
          <p:cNvSpPr/>
          <p:nvPr/>
        </p:nvSpPr>
        <p:spPr>
          <a:xfrm>
            <a:off x="4451350" y="3082032"/>
            <a:ext cx="1655663"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351 min · puerto 200</a:t>
            </a:r>
            <a:endParaRPr lang="en-US" sz="1300" dirty="0"/>
          </a:p>
        </p:txBody>
      </p:sp>
      <p:sp>
        <p:nvSpPr>
          <p:cNvPr id="11" name="Text 9"/>
          <p:cNvSpPr/>
          <p:nvPr/>
        </p:nvSpPr>
        <p:spPr>
          <a:xfrm>
            <a:off x="812800" y="3463032"/>
            <a:ext cx="1511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Más de 55</a:t>
            </a:r>
            <a:endParaRPr lang="en-US" sz="1300" dirty="0"/>
          </a:p>
        </p:txBody>
      </p:sp>
      <p:sp>
        <p:nvSpPr>
          <p:cNvPr id="12" name="Shape 10"/>
          <p:cNvSpPr/>
          <p:nvPr/>
        </p:nvSpPr>
        <p:spPr>
          <a:xfrm>
            <a:off x="2374900" y="3438922"/>
            <a:ext cx="2413000" cy="279400"/>
          </a:xfrm>
          <a:custGeom>
            <a:avLst/>
            <a:gdLst/>
            <a:ahLst/>
            <a:cxnLst/>
            <a:rect l="l" t="t" r="r" b="b"/>
            <a:pathLst>
              <a:path w="2413000" h="279400">
                <a:moveTo>
                  <a:pt x="0" y="0"/>
                </a:moveTo>
                <a:lnTo>
                  <a:pt x="2362200" y="0"/>
                </a:lnTo>
                <a:arcTo hR="50800" wR="50800" stAng="16200000" swAng="5400000"/>
                <a:lnTo>
                  <a:pt x="2413000" y="228600"/>
                </a:lnTo>
                <a:arcTo hR="50800" wR="50800" stAng="0" swAng="5400000"/>
                <a:lnTo>
                  <a:pt x="0" y="279400"/>
                </a:lnTo>
                <a:lnTo>
                  <a:pt x="0" y="0"/>
                </a:lnTo>
                <a:close/>
              </a:path>
            </a:pathLst>
          </a:custGeom>
          <a:solidFill>
            <a:srgbClr val="C9AE8A"/>
          </a:solidFill>
          <a:ln/>
        </p:spPr>
      </p:sp>
      <p:sp>
        <p:nvSpPr>
          <p:cNvPr id="13" name="Text 11"/>
          <p:cNvSpPr/>
          <p:nvPr/>
        </p:nvSpPr>
        <p:spPr>
          <a:xfrm>
            <a:off x="4889500" y="3463032"/>
            <a:ext cx="1612900"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429 min · puerto 214</a:t>
            </a:r>
            <a:endParaRPr lang="en-US" sz="1300" dirty="0"/>
          </a:p>
        </p:txBody>
      </p:sp>
      <p:sp>
        <p:nvSpPr>
          <p:cNvPr id="14" name="Text 12"/>
          <p:cNvSpPr/>
          <p:nvPr/>
        </p:nvSpPr>
        <p:spPr>
          <a:xfrm>
            <a:off x="812800" y="3819922"/>
            <a:ext cx="580796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Con más camiones el ciclo se alarga y el puerto no descarga más: entre 5,5 y 6,6 viajes por hora. Los días con dos volcables y pocos camiones, la espera en el puerto bajó a 52–77 min.</a:t>
            </a:r>
            <a:endParaRPr lang="en-US" sz="1300" dirty="0"/>
          </a:p>
        </p:txBody>
      </p:sp>
      <p:sp>
        <p:nvSpPr>
          <p:cNvPr id="15" name="Text 13"/>
          <p:cNvSpPr/>
          <p:nvPr/>
        </p:nvSpPr>
        <p:spPr>
          <a:xfrm>
            <a:off x="9296400" y="2148681"/>
            <a:ext cx="1003300" cy="231775"/>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E4428"/>
                </a:solidFill>
                <a:latin typeface="IBM Plex Sans" pitchFamily="34" charset="0"/>
                <a:ea typeface="IBM Plex Sans" pitchFamily="34" charset="-122"/>
                <a:cs typeface="IBM Plex Sans" pitchFamily="34" charset="-120"/>
              </a:rPr>
              <a:t>Hoy</a:t>
            </a:r>
            <a:endParaRPr lang="en-US" sz="1200" dirty="0"/>
          </a:p>
        </p:txBody>
      </p:sp>
      <p:sp>
        <p:nvSpPr>
          <p:cNvPr id="16" name="Text 14"/>
          <p:cNvSpPr/>
          <p:nvPr/>
        </p:nvSpPr>
        <p:spPr>
          <a:xfrm>
            <a:off x="10248900" y="2148681"/>
            <a:ext cx="1130300" cy="231775"/>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Prueba</a:t>
            </a:r>
            <a:endParaRPr lang="en-US" sz="1200" dirty="0"/>
          </a:p>
        </p:txBody>
      </p:sp>
      <p:sp>
        <p:nvSpPr>
          <p:cNvPr id="17" name="Shape 15"/>
          <p:cNvSpPr/>
          <p:nvPr/>
        </p:nvSpPr>
        <p:spPr>
          <a:xfrm>
            <a:off x="6807200" y="2383631"/>
            <a:ext cx="4572000" cy="0"/>
          </a:xfrm>
          <a:prstGeom prst="line">
            <a:avLst/>
          </a:prstGeom>
          <a:noFill/>
          <a:ln w="6350">
            <a:solidFill>
              <a:srgbClr val="D3E2D7"/>
            </a:solidFill>
            <a:prstDash val="solid"/>
          </a:ln>
        </p:spPr>
      </p:sp>
      <p:sp>
        <p:nvSpPr>
          <p:cNvPr id="18" name="Text 16"/>
          <p:cNvSpPr/>
          <p:nvPr/>
        </p:nvSpPr>
        <p:spPr>
          <a:xfrm>
            <a:off x="6807200" y="2467769"/>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Camiones contratados</a:t>
            </a:r>
            <a:endParaRPr lang="en-US" sz="1300" dirty="0"/>
          </a:p>
        </p:txBody>
      </p:sp>
      <p:sp>
        <p:nvSpPr>
          <p:cNvPr id="19" name="Text 17"/>
          <p:cNvSpPr/>
          <p:nvPr/>
        </p:nvSpPr>
        <p:spPr>
          <a:xfrm>
            <a:off x="9296400" y="2458938"/>
            <a:ext cx="1003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5E4428"/>
                </a:solidFill>
                <a:latin typeface="IBM Plex Sans" pitchFamily="34" charset="0"/>
                <a:ea typeface="IBM Plex Sans" pitchFamily="34" charset="-122"/>
                <a:cs typeface="IBM Plex Sans" pitchFamily="34" charset="-120"/>
              </a:rPr>
              <a:t>62</a:t>
            </a:r>
            <a:endParaRPr lang="en-US" sz="1400" dirty="0"/>
          </a:p>
        </p:txBody>
      </p:sp>
      <p:sp>
        <p:nvSpPr>
          <p:cNvPr id="20" name="Text 18"/>
          <p:cNvSpPr/>
          <p:nvPr/>
        </p:nvSpPr>
        <p:spPr>
          <a:xfrm>
            <a:off x="10248900" y="2458938"/>
            <a:ext cx="1130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40</a:t>
            </a:r>
            <a:endParaRPr lang="en-US" sz="1400" dirty="0"/>
          </a:p>
        </p:txBody>
      </p:sp>
      <p:sp>
        <p:nvSpPr>
          <p:cNvPr id="21" name="Shape 19"/>
          <p:cNvSpPr/>
          <p:nvPr/>
        </p:nvSpPr>
        <p:spPr>
          <a:xfrm>
            <a:off x="6807200" y="2783086"/>
            <a:ext cx="4572000" cy="0"/>
          </a:xfrm>
          <a:prstGeom prst="line">
            <a:avLst/>
          </a:prstGeom>
          <a:noFill/>
          <a:ln w="6350">
            <a:solidFill>
              <a:srgbClr val="D3E2D7"/>
            </a:solidFill>
            <a:prstDash val="solid"/>
          </a:ln>
        </p:spPr>
      </p:sp>
      <p:sp>
        <p:nvSpPr>
          <p:cNvPr id="22" name="Text 20"/>
          <p:cNvSpPr/>
          <p:nvPr/>
        </p:nvSpPr>
        <p:spPr>
          <a:xfrm>
            <a:off x="6807200" y="2867223"/>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Dando vueltas a la vez</a:t>
            </a:r>
            <a:endParaRPr lang="en-US" sz="1300" dirty="0"/>
          </a:p>
        </p:txBody>
      </p:sp>
      <p:sp>
        <p:nvSpPr>
          <p:cNvPr id="23" name="Text 21"/>
          <p:cNvSpPr/>
          <p:nvPr/>
        </p:nvSpPr>
        <p:spPr>
          <a:xfrm>
            <a:off x="9296400" y="2858393"/>
            <a:ext cx="1003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5E4428"/>
                </a:solidFill>
                <a:latin typeface="IBM Plex Sans" pitchFamily="34" charset="0"/>
                <a:ea typeface="IBM Plex Sans" pitchFamily="34" charset="-122"/>
                <a:cs typeface="IBM Plex Sans" pitchFamily="34" charset="-120"/>
              </a:rPr>
              <a:t>~32</a:t>
            </a:r>
            <a:endParaRPr lang="en-US" sz="1400" dirty="0"/>
          </a:p>
        </p:txBody>
      </p:sp>
      <p:sp>
        <p:nvSpPr>
          <p:cNvPr id="24" name="Text 22"/>
          <p:cNvSpPr/>
          <p:nvPr/>
        </p:nvSpPr>
        <p:spPr>
          <a:xfrm>
            <a:off x="10248900" y="2858393"/>
            <a:ext cx="1130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~25</a:t>
            </a:r>
            <a:endParaRPr lang="en-US" sz="1400" dirty="0"/>
          </a:p>
        </p:txBody>
      </p:sp>
      <p:sp>
        <p:nvSpPr>
          <p:cNvPr id="25" name="Shape 23"/>
          <p:cNvSpPr/>
          <p:nvPr/>
        </p:nvSpPr>
        <p:spPr>
          <a:xfrm>
            <a:off x="6807200" y="3182541"/>
            <a:ext cx="4572000" cy="0"/>
          </a:xfrm>
          <a:prstGeom prst="line">
            <a:avLst/>
          </a:prstGeom>
          <a:noFill/>
          <a:ln w="6350">
            <a:solidFill>
              <a:srgbClr val="D3E2D7"/>
            </a:solidFill>
            <a:prstDash val="solid"/>
          </a:ln>
        </p:spPr>
      </p:sp>
      <p:sp>
        <p:nvSpPr>
          <p:cNvPr id="26" name="Text 24"/>
          <p:cNvSpPr/>
          <p:nvPr/>
        </p:nvSpPr>
        <p:spPr>
          <a:xfrm>
            <a:off x="6807200" y="3266678"/>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Carga en Ricardone</a:t>
            </a:r>
            <a:endParaRPr lang="en-US" sz="1300" dirty="0"/>
          </a:p>
        </p:txBody>
      </p:sp>
      <p:sp>
        <p:nvSpPr>
          <p:cNvPr id="27" name="Text 25"/>
          <p:cNvSpPr/>
          <p:nvPr/>
        </p:nvSpPr>
        <p:spPr>
          <a:xfrm>
            <a:off x="9296400" y="3257848"/>
            <a:ext cx="1003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5E4428"/>
                </a:solidFill>
                <a:latin typeface="IBM Plex Sans" pitchFamily="34" charset="0"/>
                <a:ea typeface="IBM Plex Sans" pitchFamily="34" charset="-122"/>
                <a:cs typeface="IBM Plex Sans" pitchFamily="34" charset="-120"/>
              </a:rPr>
              <a:t>91 min</a:t>
            </a:r>
            <a:endParaRPr lang="en-US" sz="1400" dirty="0"/>
          </a:p>
        </p:txBody>
      </p:sp>
      <p:sp>
        <p:nvSpPr>
          <p:cNvPr id="28" name="Text 26"/>
          <p:cNvSpPr/>
          <p:nvPr/>
        </p:nvSpPr>
        <p:spPr>
          <a:xfrm>
            <a:off x="10248900" y="3257848"/>
            <a:ext cx="1130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91 min</a:t>
            </a:r>
            <a:endParaRPr lang="en-US" sz="1400" dirty="0"/>
          </a:p>
        </p:txBody>
      </p:sp>
      <p:sp>
        <p:nvSpPr>
          <p:cNvPr id="29" name="Shape 27"/>
          <p:cNvSpPr/>
          <p:nvPr/>
        </p:nvSpPr>
        <p:spPr>
          <a:xfrm>
            <a:off x="6807200" y="3581995"/>
            <a:ext cx="4572000" cy="0"/>
          </a:xfrm>
          <a:prstGeom prst="line">
            <a:avLst/>
          </a:prstGeom>
          <a:noFill/>
          <a:ln w="6350">
            <a:solidFill>
              <a:srgbClr val="D3E2D7"/>
            </a:solidFill>
            <a:prstDash val="solid"/>
          </a:ln>
        </p:spPr>
      </p:sp>
      <p:sp>
        <p:nvSpPr>
          <p:cNvPr id="30" name="Text 28"/>
          <p:cNvSpPr/>
          <p:nvPr/>
        </p:nvSpPr>
        <p:spPr>
          <a:xfrm>
            <a:off x="6807200" y="3666133"/>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Playa OSL + descarga</a:t>
            </a:r>
            <a:endParaRPr lang="en-US" sz="1300" dirty="0"/>
          </a:p>
        </p:txBody>
      </p:sp>
      <p:sp>
        <p:nvSpPr>
          <p:cNvPr id="31" name="Text 29"/>
          <p:cNvSpPr/>
          <p:nvPr/>
        </p:nvSpPr>
        <p:spPr>
          <a:xfrm>
            <a:off x="9296400" y="3657302"/>
            <a:ext cx="1003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5E4428"/>
                </a:solidFill>
                <a:latin typeface="IBM Plex Sans" pitchFamily="34" charset="0"/>
                <a:ea typeface="IBM Plex Sans" pitchFamily="34" charset="-122"/>
                <a:cs typeface="IBM Plex Sans" pitchFamily="34" charset="-120"/>
              </a:rPr>
              <a:t>163 min</a:t>
            </a:r>
            <a:endParaRPr lang="en-US" sz="1400" dirty="0"/>
          </a:p>
        </p:txBody>
      </p:sp>
      <p:sp>
        <p:nvSpPr>
          <p:cNvPr id="32" name="Text 30"/>
          <p:cNvSpPr/>
          <p:nvPr/>
        </p:nvSpPr>
        <p:spPr>
          <a:xfrm>
            <a:off x="10248900" y="3657302"/>
            <a:ext cx="1130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100 min</a:t>
            </a:r>
            <a:endParaRPr lang="en-US" sz="1400" dirty="0"/>
          </a:p>
        </p:txBody>
      </p:sp>
      <p:sp>
        <p:nvSpPr>
          <p:cNvPr id="33" name="Shape 31"/>
          <p:cNvSpPr/>
          <p:nvPr/>
        </p:nvSpPr>
        <p:spPr>
          <a:xfrm>
            <a:off x="6807200" y="3981450"/>
            <a:ext cx="4572000" cy="0"/>
          </a:xfrm>
          <a:prstGeom prst="line">
            <a:avLst/>
          </a:prstGeom>
          <a:noFill/>
          <a:ln w="6350">
            <a:solidFill>
              <a:srgbClr val="D3E2D7"/>
            </a:solidFill>
            <a:prstDash val="solid"/>
          </a:ln>
        </p:spPr>
      </p:sp>
      <p:sp>
        <p:nvSpPr>
          <p:cNvPr id="34" name="Text 32"/>
          <p:cNvSpPr/>
          <p:nvPr/>
        </p:nvSpPr>
        <p:spPr>
          <a:xfrm>
            <a:off x="6807200" y="4065588"/>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Ciclo por viaje</a:t>
            </a:r>
            <a:endParaRPr lang="en-US" sz="1300" dirty="0"/>
          </a:p>
        </p:txBody>
      </p:sp>
      <p:sp>
        <p:nvSpPr>
          <p:cNvPr id="35" name="Text 33"/>
          <p:cNvSpPr/>
          <p:nvPr/>
        </p:nvSpPr>
        <p:spPr>
          <a:xfrm>
            <a:off x="9296400" y="4056757"/>
            <a:ext cx="1003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5E4428"/>
                </a:solidFill>
                <a:latin typeface="IBM Plex Sans" pitchFamily="34" charset="0"/>
                <a:ea typeface="IBM Plex Sans" pitchFamily="34" charset="-122"/>
                <a:cs typeface="IBM Plex Sans" pitchFamily="34" charset="-120"/>
              </a:rPr>
              <a:t>281 min</a:t>
            </a:r>
            <a:endParaRPr lang="en-US" sz="1400" dirty="0"/>
          </a:p>
        </p:txBody>
      </p:sp>
      <p:sp>
        <p:nvSpPr>
          <p:cNvPr id="36" name="Text 34"/>
          <p:cNvSpPr/>
          <p:nvPr/>
        </p:nvSpPr>
        <p:spPr>
          <a:xfrm>
            <a:off x="10248900" y="4056757"/>
            <a:ext cx="1130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218 min</a:t>
            </a:r>
            <a:endParaRPr lang="en-US" sz="1400" dirty="0"/>
          </a:p>
        </p:txBody>
      </p:sp>
      <p:sp>
        <p:nvSpPr>
          <p:cNvPr id="37" name="Shape 35"/>
          <p:cNvSpPr/>
          <p:nvPr/>
        </p:nvSpPr>
        <p:spPr>
          <a:xfrm>
            <a:off x="6807200" y="4380905"/>
            <a:ext cx="4572000" cy="0"/>
          </a:xfrm>
          <a:prstGeom prst="line">
            <a:avLst/>
          </a:prstGeom>
          <a:noFill/>
          <a:ln w="6350">
            <a:solidFill>
              <a:srgbClr val="D3E2D7"/>
            </a:solidFill>
            <a:prstDash val="solid"/>
          </a:ln>
        </p:spPr>
      </p:sp>
      <p:sp>
        <p:nvSpPr>
          <p:cNvPr id="38" name="Text 36"/>
          <p:cNvSpPr/>
          <p:nvPr/>
        </p:nvSpPr>
        <p:spPr>
          <a:xfrm>
            <a:off x="6807200" y="4465042"/>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Viajes por camión en el operativo</a:t>
            </a:r>
            <a:endParaRPr lang="en-US" sz="1300" dirty="0"/>
          </a:p>
        </p:txBody>
      </p:sp>
      <p:sp>
        <p:nvSpPr>
          <p:cNvPr id="39" name="Text 37"/>
          <p:cNvSpPr/>
          <p:nvPr/>
        </p:nvSpPr>
        <p:spPr>
          <a:xfrm>
            <a:off x="9296400" y="4456212"/>
            <a:ext cx="1003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5E4428"/>
                </a:solidFill>
                <a:latin typeface="IBM Plex Sans" pitchFamily="34" charset="0"/>
                <a:ea typeface="IBM Plex Sans" pitchFamily="34" charset="-122"/>
                <a:cs typeface="IBM Plex Sans" pitchFamily="34" charset="-120"/>
              </a:rPr>
              <a:t>5</a:t>
            </a:r>
            <a:endParaRPr lang="en-US" sz="1400" dirty="0"/>
          </a:p>
        </p:txBody>
      </p:sp>
      <p:sp>
        <p:nvSpPr>
          <p:cNvPr id="40" name="Text 38"/>
          <p:cNvSpPr/>
          <p:nvPr/>
        </p:nvSpPr>
        <p:spPr>
          <a:xfrm>
            <a:off x="10248900" y="4456212"/>
            <a:ext cx="1130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8</a:t>
            </a:r>
            <a:endParaRPr lang="en-US" sz="1400" dirty="0"/>
          </a:p>
        </p:txBody>
      </p:sp>
      <p:sp>
        <p:nvSpPr>
          <p:cNvPr id="41" name="Shape 39"/>
          <p:cNvSpPr/>
          <p:nvPr/>
        </p:nvSpPr>
        <p:spPr>
          <a:xfrm>
            <a:off x="6807200" y="4780359"/>
            <a:ext cx="4572000" cy="0"/>
          </a:xfrm>
          <a:prstGeom prst="line">
            <a:avLst/>
          </a:prstGeom>
          <a:noFill/>
          <a:ln w="6350">
            <a:solidFill>
              <a:srgbClr val="D3E2D7"/>
            </a:solidFill>
            <a:prstDash val="solid"/>
          </a:ln>
        </p:spPr>
      </p:sp>
      <p:sp>
        <p:nvSpPr>
          <p:cNvPr id="42" name="Text 40"/>
          <p:cNvSpPr/>
          <p:nvPr/>
        </p:nvSpPr>
        <p:spPr>
          <a:xfrm>
            <a:off x="6807200" y="4864497"/>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1E"/>
                </a:solidFill>
                <a:latin typeface="IBM Plex Sans" pitchFamily="34" charset="0"/>
                <a:ea typeface="IBM Plex Sans" pitchFamily="34" charset="-122"/>
                <a:cs typeface="IBM Plex Sans" pitchFamily="34" charset="-120"/>
              </a:rPr>
              <a:t>Viajes por camión y día</a:t>
            </a:r>
            <a:endParaRPr lang="en-US" sz="1300" dirty="0"/>
          </a:p>
        </p:txBody>
      </p:sp>
      <p:sp>
        <p:nvSpPr>
          <p:cNvPr id="43" name="Text 41"/>
          <p:cNvSpPr/>
          <p:nvPr/>
        </p:nvSpPr>
        <p:spPr>
          <a:xfrm>
            <a:off x="9296400" y="4855666"/>
            <a:ext cx="1003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5E4428"/>
                </a:solidFill>
                <a:latin typeface="IBM Plex Sans" pitchFamily="34" charset="0"/>
                <a:ea typeface="IBM Plex Sans" pitchFamily="34" charset="-122"/>
                <a:cs typeface="IBM Plex Sans" pitchFamily="34" charset="-120"/>
              </a:rPr>
              <a:t>2</a:t>
            </a:r>
            <a:endParaRPr lang="en-US" sz="1400" dirty="0"/>
          </a:p>
        </p:txBody>
      </p:sp>
      <p:sp>
        <p:nvSpPr>
          <p:cNvPr id="44" name="Text 42"/>
          <p:cNvSpPr/>
          <p:nvPr/>
        </p:nvSpPr>
        <p:spPr>
          <a:xfrm>
            <a:off x="10248900" y="4855666"/>
            <a:ext cx="1130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B5638"/>
                </a:solidFill>
                <a:latin typeface="IBM Plex Sans" pitchFamily="34" charset="0"/>
                <a:ea typeface="IBM Plex Sans" pitchFamily="34" charset="-122"/>
                <a:cs typeface="IBM Plex Sans" pitchFamily="34" charset="-120"/>
              </a:rPr>
              <a:t>3</a:t>
            </a:r>
            <a:endParaRPr lang="en-US" sz="1400" dirty="0"/>
          </a:p>
        </p:txBody>
      </p:sp>
      <p:sp>
        <p:nvSpPr>
          <p:cNvPr id="45" name="Shape 43"/>
          <p:cNvSpPr/>
          <p:nvPr/>
        </p:nvSpPr>
        <p:spPr>
          <a:xfrm>
            <a:off x="831850" y="5329039"/>
            <a:ext cx="0" cy="512961"/>
          </a:xfrm>
          <a:prstGeom prst="line">
            <a:avLst/>
          </a:prstGeom>
          <a:noFill/>
          <a:ln w="38100">
            <a:solidFill>
              <a:srgbClr val="3A8F63"/>
            </a:solidFill>
            <a:prstDash val="solid"/>
          </a:ln>
        </p:spPr>
      </p:sp>
      <p:sp>
        <p:nvSpPr>
          <p:cNvPr id="46" name="Text 44"/>
          <p:cNvSpPr/>
          <p:nvPr/>
        </p:nvSpPr>
        <p:spPr>
          <a:xfrm>
            <a:off x="977900" y="5354439"/>
            <a:ext cx="10713339"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La carga en Ricardone no cambia; lo que baja es la espera en el puerto, de 163 a 100 min. Con 40 camiones dando vueltas más seguido se mueven las mismas 9.210 t en las mismas horas.</a:t>
            </a:r>
            <a:endParaRPr lang="en-US" sz="1300" dirty="0"/>
          </a:p>
        </p:txBody>
      </p:sp>
      <p:pic>
        <p:nvPicPr>
          <p:cNvPr id="47"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48" name="Text 4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18</a:t>
            </a:r>
            <a:endParaRPr lang="en-US" sz="1200" dirty="0"/>
          </a:p>
        </p:txBody>
      </p:sp>
      <p:pic>
        <p:nvPicPr>
          <p:cNvPr id="49"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567160" cy="289520"/>
          </a:xfrm>
          <a:custGeom>
            <a:avLst/>
            <a:gdLst/>
            <a:ahLst/>
            <a:cxnLst/>
            <a:rect l="l" t="t" r="r" b="b"/>
            <a:pathLst>
              <a:path w="1567160" h="289520">
                <a:moveTo>
                  <a:pt x="144760" y="0"/>
                </a:moveTo>
                <a:lnTo>
                  <a:pt x="1422400" y="0"/>
                </a:lnTo>
                <a:arcTo hR="144760" wR="144760" stAng="16200000" swAng="5400000"/>
                <a:lnTo>
                  <a:pt x="1567160" y="144760"/>
                </a:lnTo>
                <a:arcTo hR="144760" wR="144760" stAng="0" swAng="5400000"/>
                <a:lnTo>
                  <a:pt x="144760" y="289520"/>
                </a:lnTo>
                <a:arcTo hR="144760" wR="144760" stAng="5400000" swAng="5400000"/>
                <a:lnTo>
                  <a:pt x="0" y="144760"/>
                </a:lnTo>
                <a:arcTo hR="144760" wR="144760" stAng="10800000" swAng="5400000"/>
                <a:close/>
              </a:path>
            </a:pathLst>
          </a:custGeom>
          <a:solidFill>
            <a:srgbClr val="5E442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PELLET · ANEXO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Dos volcables y el flete a $ 5.000 por tonelada</a:t>
            </a:r>
            <a:endParaRPr lang="en-US" sz="3200" dirty="0"/>
          </a:p>
        </p:txBody>
      </p:sp>
      <p:sp>
        <p:nvSpPr>
          <p:cNvPr id="4" name="Text 2"/>
          <p:cNvSpPr/>
          <p:nvPr/>
        </p:nvSpPr>
        <p:spPr>
          <a:xfrm>
            <a:off x="812800" y="1701701"/>
            <a:ext cx="59387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Descarga en el puerto: una volcable contra dos</a:t>
            </a:r>
            <a:endParaRPr lang="en-US" sz="1200" dirty="0"/>
          </a:p>
        </p:txBody>
      </p:sp>
      <p:sp>
        <p:nvSpPr>
          <p:cNvPr id="5" name="Shape 3"/>
          <p:cNvSpPr/>
          <p:nvPr/>
        </p:nvSpPr>
        <p:spPr>
          <a:xfrm>
            <a:off x="812800" y="2016621"/>
            <a:ext cx="2819400" cy="1693962"/>
          </a:xfrm>
          <a:prstGeom prst="roundRect">
            <a:avLst>
              <a:gd name="adj" fmla="val 5998"/>
            </a:avLst>
          </a:prstGeom>
          <a:solidFill>
            <a:srgbClr val="F3EADF"/>
          </a:solidFill>
          <a:ln/>
        </p:spPr>
      </p:sp>
      <p:sp>
        <p:nvSpPr>
          <p:cNvPr id="6" name="Text 4"/>
          <p:cNvSpPr/>
          <p:nvPr/>
        </p:nvSpPr>
        <p:spPr>
          <a:xfrm>
            <a:off x="977900" y="2156321"/>
            <a:ext cx="256387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E4428"/>
                </a:solidFill>
                <a:latin typeface="IBM Plex Sans" pitchFamily="34" charset="0"/>
                <a:ea typeface="IBM Plex Sans" pitchFamily="34" charset="-122"/>
                <a:cs typeface="IBM Plex Sans" pitchFamily="34" charset="-120"/>
              </a:rPr>
              <a:t>Una volcable</a:t>
            </a:r>
            <a:endParaRPr lang="en-US" sz="1300" dirty="0"/>
          </a:p>
        </p:txBody>
      </p:sp>
      <p:sp>
        <p:nvSpPr>
          <p:cNvPr id="7" name="Text 5"/>
          <p:cNvSpPr/>
          <p:nvPr/>
        </p:nvSpPr>
        <p:spPr>
          <a:xfrm>
            <a:off x="977900" y="242550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solo V4 · 9 días</a:t>
            </a:r>
            <a:endParaRPr lang="en-US" sz="1200" dirty="0"/>
          </a:p>
        </p:txBody>
      </p:sp>
      <p:sp>
        <p:nvSpPr>
          <p:cNvPr id="8" name="Text 6"/>
          <p:cNvSpPr/>
          <p:nvPr/>
        </p:nvSpPr>
        <p:spPr>
          <a:xfrm>
            <a:off x="977900" y="2676922"/>
            <a:ext cx="2563876"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5E4428"/>
                </a:solidFill>
                <a:latin typeface="IBM Plex Sans" pitchFamily="34" charset="0"/>
                <a:ea typeface="IBM Plex Sans" pitchFamily="34" charset="-122"/>
                <a:cs typeface="IBM Plex Sans" pitchFamily="34" charset="-120"/>
              </a:rPr>
              <a:t>208 min</a:t>
            </a:r>
            <a:endParaRPr lang="en-US" sz="2800" dirty="0"/>
          </a:p>
        </p:txBody>
      </p:sp>
      <p:sp>
        <p:nvSpPr>
          <p:cNvPr id="9" name="Text 7"/>
          <p:cNvSpPr/>
          <p:nvPr/>
        </p:nvSpPr>
        <p:spPr>
          <a:xfrm>
            <a:off x="977900" y="308838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espera en el puerto por viaje</a:t>
            </a:r>
            <a:endParaRPr lang="en-US" sz="1200" dirty="0"/>
          </a:p>
        </p:txBody>
      </p:sp>
      <p:sp>
        <p:nvSpPr>
          <p:cNvPr id="10" name="Text 8"/>
          <p:cNvSpPr/>
          <p:nvPr/>
        </p:nvSpPr>
        <p:spPr>
          <a:xfrm>
            <a:off x="977900" y="3339802"/>
            <a:ext cx="256387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5,8</a:t>
            </a:r>
            <a:r>
              <a:rPr lang="en-US" sz="1300" dirty="0">
                <a:solidFill>
                  <a:srgbClr val="14281E"/>
                </a:solidFill>
                <a:latin typeface="IBM Plex Sans" pitchFamily="34" charset="0"/>
                <a:ea typeface="IBM Plex Sans" pitchFamily="34" charset="-122"/>
                <a:cs typeface="IBM Plex Sans" pitchFamily="34" charset="-120"/>
              </a:rPr>
              <a:t> viajes por hora</a:t>
            </a:r>
            <a:endParaRPr lang="en-US" sz="1300" dirty="0"/>
          </a:p>
        </p:txBody>
      </p:sp>
      <p:sp>
        <p:nvSpPr>
          <p:cNvPr id="11" name="Shape 9"/>
          <p:cNvSpPr/>
          <p:nvPr/>
        </p:nvSpPr>
        <p:spPr>
          <a:xfrm>
            <a:off x="3759200" y="2016621"/>
            <a:ext cx="2819400" cy="1693962"/>
          </a:xfrm>
          <a:prstGeom prst="roundRect">
            <a:avLst>
              <a:gd name="adj" fmla="val 5998"/>
            </a:avLst>
          </a:prstGeom>
          <a:solidFill>
            <a:srgbClr val="DCEDE1"/>
          </a:solidFill>
          <a:ln/>
        </p:spPr>
      </p:sp>
      <p:sp>
        <p:nvSpPr>
          <p:cNvPr id="12" name="Text 10"/>
          <p:cNvSpPr/>
          <p:nvPr/>
        </p:nvSpPr>
        <p:spPr>
          <a:xfrm>
            <a:off x="3924300" y="2156321"/>
            <a:ext cx="256387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Dos volcables</a:t>
            </a:r>
            <a:endParaRPr lang="en-US" sz="1300" dirty="0"/>
          </a:p>
        </p:txBody>
      </p:sp>
      <p:sp>
        <p:nvSpPr>
          <p:cNvPr id="13" name="Text 11"/>
          <p:cNvSpPr/>
          <p:nvPr/>
        </p:nvSpPr>
        <p:spPr>
          <a:xfrm>
            <a:off x="3924300" y="242550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V3 y V4 · 8 días</a:t>
            </a:r>
            <a:endParaRPr lang="en-US" sz="1200" dirty="0"/>
          </a:p>
        </p:txBody>
      </p:sp>
      <p:sp>
        <p:nvSpPr>
          <p:cNvPr id="14" name="Text 12"/>
          <p:cNvSpPr/>
          <p:nvPr/>
        </p:nvSpPr>
        <p:spPr>
          <a:xfrm>
            <a:off x="3924300" y="2676922"/>
            <a:ext cx="2563876"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0B5638"/>
                </a:solidFill>
                <a:latin typeface="IBM Plex Sans" pitchFamily="34" charset="0"/>
                <a:ea typeface="IBM Plex Sans" pitchFamily="34" charset="-122"/>
                <a:cs typeface="IBM Plex Sans" pitchFamily="34" charset="-120"/>
              </a:rPr>
              <a:t>170 min</a:t>
            </a:r>
            <a:endParaRPr lang="en-US" sz="2800" dirty="0"/>
          </a:p>
        </p:txBody>
      </p:sp>
      <p:sp>
        <p:nvSpPr>
          <p:cNvPr id="15" name="Text 13"/>
          <p:cNvSpPr/>
          <p:nvPr/>
        </p:nvSpPr>
        <p:spPr>
          <a:xfrm>
            <a:off x="3924300" y="308838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espera en el puerto por viaje</a:t>
            </a:r>
            <a:endParaRPr lang="en-US" sz="1200" dirty="0"/>
          </a:p>
        </p:txBody>
      </p:sp>
      <p:sp>
        <p:nvSpPr>
          <p:cNvPr id="16" name="Text 14"/>
          <p:cNvSpPr/>
          <p:nvPr/>
        </p:nvSpPr>
        <p:spPr>
          <a:xfrm>
            <a:off x="3924300" y="3339802"/>
            <a:ext cx="256387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6,1</a:t>
            </a:r>
            <a:r>
              <a:rPr lang="en-US" sz="1300" dirty="0">
                <a:solidFill>
                  <a:srgbClr val="14281E"/>
                </a:solidFill>
                <a:latin typeface="IBM Plex Sans" pitchFamily="34" charset="0"/>
                <a:ea typeface="IBM Plex Sans" pitchFamily="34" charset="-122"/>
                <a:cs typeface="IBM Plex Sans" pitchFamily="34" charset="-120"/>
              </a:rPr>
              <a:t> viajes por hora</a:t>
            </a:r>
            <a:endParaRPr lang="en-US" sz="1300" dirty="0"/>
          </a:p>
        </p:txBody>
      </p:sp>
      <p:sp>
        <p:nvSpPr>
          <p:cNvPr id="17" name="Text 15"/>
          <p:cNvSpPr/>
          <p:nvPr/>
        </p:nvSpPr>
        <p:spPr>
          <a:xfrm>
            <a:off x="812800" y="3812183"/>
            <a:ext cx="593877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Con dos volcables cada viaje espera </a:t>
            </a:r>
            <a:r>
              <a:rPr lang="en-US" sz="1300" b="1" dirty="0">
                <a:solidFill>
                  <a:srgbClr val="4A5D52"/>
                </a:solidFill>
                <a:latin typeface="IBM Plex Sans" pitchFamily="34" charset="0"/>
                <a:ea typeface="IBM Plex Sans" pitchFamily="34" charset="-122"/>
                <a:cs typeface="IBM Plex Sans" pitchFamily="34" charset="-120"/>
              </a:rPr>
              <a:t>38 min menos</a:t>
            </a:r>
            <a:r>
              <a:rPr lang="en-US" sz="1300" dirty="0">
                <a:solidFill>
                  <a:srgbClr val="4A5D52"/>
                </a:solidFill>
                <a:latin typeface="IBM Plex Sans" pitchFamily="34" charset="0"/>
                <a:ea typeface="IBM Plex Sans" pitchFamily="34" charset="-122"/>
                <a:cs typeface="IBM Plex Sans" pitchFamily="34" charset="-120"/>
              </a:rPr>
              <a:t> en el puerto. Esta semana se descargó casi todo por la V4: abrir la V3 es el primer paso para bajar la espera.</a:t>
            </a:r>
            <a:endParaRPr lang="en-US" sz="1300" dirty="0"/>
          </a:p>
        </p:txBody>
      </p:sp>
      <p:sp>
        <p:nvSpPr>
          <p:cNvPr id="18" name="Text 16"/>
          <p:cNvSpPr/>
          <p:nvPr/>
        </p:nvSpPr>
        <p:spPr>
          <a:xfrm>
            <a:off x="6934200" y="1701701"/>
            <a:ext cx="5257800" cy="355699"/>
          </a:xfrm>
          <a:prstGeom prst="rect">
            <a:avLst/>
          </a:prstGeom>
          <a:noFill/>
          <a:ln/>
        </p:spPr>
        <p:txBody>
          <a:bodyPr wrap="square" lIns="0" tIns="0" rIns="0" bIns="0" rtlCol="0" anchor="t">
            <a:normAutofit/>
          </a:bodyPr>
          <a:lstStyle/>
          <a:p>
            <a:pPr algn="l" indent="0" marL="0">
              <a:lnSpc>
                <a:spcPts val="1381"/>
              </a:lnSpc>
              <a:buNone/>
            </a:pPr>
            <a:r>
              <a:rPr lang="en-US" sz="986" dirty="0">
                <a:solidFill>
                  <a:srgbClr val="4A5D52"/>
                </a:solidFill>
                <a:latin typeface="IBM Plex Sans" pitchFamily="34" charset="0"/>
                <a:ea typeface="IBM Plex Sans" pitchFamily="34" charset="-122"/>
                <a:cs typeface="IBM Plex Sans" pitchFamily="34" charset="-120"/>
              </a:rPr>
              <a:t>Propuesta al camionero: flete de $ 6.000 a $ 5.000 por tonelada (30 t por viaje)</a:t>
            </a:r>
            <a:endParaRPr lang="en-US" sz="986" dirty="0"/>
          </a:p>
        </p:txBody>
      </p:sp>
      <p:sp>
        <p:nvSpPr>
          <p:cNvPr id="19" name="Text 17"/>
          <p:cNvSpPr/>
          <p:nvPr/>
        </p:nvSpPr>
        <p:spPr>
          <a:xfrm>
            <a:off x="9042400" y="2108200"/>
            <a:ext cx="1130300" cy="19050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E4428"/>
                </a:solidFill>
                <a:latin typeface="IBM Plex Sans" pitchFamily="34" charset="0"/>
                <a:ea typeface="IBM Plex Sans" pitchFamily="34" charset="-122"/>
                <a:cs typeface="IBM Plex Sans" pitchFamily="34" charset="-120"/>
              </a:rPr>
              <a:t>Hoy</a:t>
            </a:r>
            <a:endParaRPr lang="en-US" sz="1200" dirty="0"/>
          </a:p>
        </p:txBody>
      </p:sp>
      <p:sp>
        <p:nvSpPr>
          <p:cNvPr id="20" name="Text 18"/>
          <p:cNvSpPr/>
          <p:nvPr/>
        </p:nvSpPr>
        <p:spPr>
          <a:xfrm>
            <a:off x="10121900" y="2108200"/>
            <a:ext cx="1257300" cy="19050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Prueba</a:t>
            </a:r>
            <a:endParaRPr lang="en-US" sz="1200" dirty="0"/>
          </a:p>
        </p:txBody>
      </p:sp>
      <p:sp>
        <p:nvSpPr>
          <p:cNvPr id="21" name="Shape 19"/>
          <p:cNvSpPr/>
          <p:nvPr/>
        </p:nvSpPr>
        <p:spPr>
          <a:xfrm>
            <a:off x="6934200" y="2378075"/>
            <a:ext cx="4445000" cy="0"/>
          </a:xfrm>
          <a:prstGeom prst="line">
            <a:avLst/>
          </a:prstGeom>
          <a:noFill/>
          <a:ln w="6350">
            <a:solidFill>
              <a:srgbClr val="D3E2D7"/>
            </a:solidFill>
            <a:prstDash val="solid"/>
          </a:ln>
        </p:spPr>
      </p:sp>
      <p:sp>
        <p:nvSpPr>
          <p:cNvPr id="22" name="Text 20"/>
          <p:cNvSpPr/>
          <p:nvPr/>
        </p:nvSpPr>
        <p:spPr>
          <a:xfrm>
            <a:off x="6934200" y="2381746"/>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Tarifa por viaje</a:t>
            </a:r>
            <a:endParaRPr lang="en-US" sz="1300" dirty="0"/>
          </a:p>
        </p:txBody>
      </p:sp>
      <p:sp>
        <p:nvSpPr>
          <p:cNvPr id="23" name="Text 21"/>
          <p:cNvSpPr/>
          <p:nvPr/>
        </p:nvSpPr>
        <p:spPr>
          <a:xfrm>
            <a:off x="6934200" y="2625527"/>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$ 6.000 → $ 5.000 por tonelada · −17 %</a:t>
            </a:r>
            <a:endParaRPr lang="en-US" sz="1200" dirty="0"/>
          </a:p>
        </p:txBody>
      </p:sp>
      <p:sp>
        <p:nvSpPr>
          <p:cNvPr id="24" name="Text 22"/>
          <p:cNvSpPr/>
          <p:nvPr/>
        </p:nvSpPr>
        <p:spPr>
          <a:xfrm>
            <a:off x="9042400" y="2583557"/>
            <a:ext cx="11303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5E4428"/>
                </a:solidFill>
                <a:latin typeface="IBM Plex Sans" pitchFamily="34" charset="0"/>
                <a:ea typeface="IBM Plex Sans" pitchFamily="34" charset="-122"/>
                <a:cs typeface="IBM Plex Sans" pitchFamily="34" charset="-120"/>
              </a:rPr>
              <a:t>$ 180.000</a:t>
            </a:r>
            <a:endParaRPr lang="en-US" sz="1500" dirty="0"/>
          </a:p>
        </p:txBody>
      </p:sp>
      <p:sp>
        <p:nvSpPr>
          <p:cNvPr id="25" name="Text 23"/>
          <p:cNvSpPr/>
          <p:nvPr/>
        </p:nvSpPr>
        <p:spPr>
          <a:xfrm>
            <a:off x="10121900" y="2583557"/>
            <a:ext cx="12573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0B5638"/>
                </a:solidFill>
                <a:latin typeface="IBM Plex Sans" pitchFamily="34" charset="0"/>
                <a:ea typeface="IBM Plex Sans" pitchFamily="34" charset="-122"/>
                <a:cs typeface="IBM Plex Sans" pitchFamily="34" charset="-120"/>
              </a:rPr>
              <a:t>$ 150.000</a:t>
            </a:r>
            <a:endParaRPr lang="en-US" sz="1500" dirty="0"/>
          </a:p>
        </p:txBody>
      </p:sp>
      <p:sp>
        <p:nvSpPr>
          <p:cNvPr id="26" name="Shape 24"/>
          <p:cNvSpPr/>
          <p:nvPr/>
        </p:nvSpPr>
        <p:spPr>
          <a:xfrm>
            <a:off x="6934200" y="3131939"/>
            <a:ext cx="4445000" cy="0"/>
          </a:xfrm>
          <a:prstGeom prst="line">
            <a:avLst/>
          </a:prstGeom>
          <a:noFill/>
          <a:ln w="6350">
            <a:solidFill>
              <a:srgbClr val="D3E2D7"/>
            </a:solidFill>
            <a:prstDash val="solid"/>
          </a:ln>
        </p:spPr>
      </p:sp>
      <p:sp>
        <p:nvSpPr>
          <p:cNvPr id="27" name="Text 25"/>
          <p:cNvSpPr/>
          <p:nvPr/>
        </p:nvSpPr>
        <p:spPr>
          <a:xfrm>
            <a:off x="6934200" y="3133626"/>
            <a:ext cx="222377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 del camionero por día</a:t>
            </a:r>
            <a:endParaRPr lang="en-US" sz="1300" dirty="0"/>
          </a:p>
        </p:txBody>
      </p:sp>
      <p:sp>
        <p:nvSpPr>
          <p:cNvPr id="28" name="Text 26"/>
          <p:cNvSpPr/>
          <p:nvPr/>
        </p:nvSpPr>
        <p:spPr>
          <a:xfrm>
            <a:off x="6934200" y="3608487"/>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 → 3 viajes · +25 %</a:t>
            </a:r>
            <a:endParaRPr lang="en-US" sz="1200" dirty="0"/>
          </a:p>
        </p:txBody>
      </p:sp>
      <p:sp>
        <p:nvSpPr>
          <p:cNvPr id="29" name="Text 27"/>
          <p:cNvSpPr/>
          <p:nvPr/>
        </p:nvSpPr>
        <p:spPr>
          <a:xfrm>
            <a:off x="9042400" y="3344267"/>
            <a:ext cx="11303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5E4428"/>
                </a:solidFill>
                <a:latin typeface="IBM Plex Sans" pitchFamily="34" charset="0"/>
                <a:ea typeface="IBM Plex Sans" pitchFamily="34" charset="-122"/>
                <a:cs typeface="IBM Plex Sans" pitchFamily="34" charset="-120"/>
              </a:rPr>
              <a:t>$ 360.000</a:t>
            </a:r>
            <a:endParaRPr lang="en-US" sz="1500" dirty="0"/>
          </a:p>
        </p:txBody>
      </p:sp>
      <p:sp>
        <p:nvSpPr>
          <p:cNvPr id="30" name="Text 28"/>
          <p:cNvSpPr/>
          <p:nvPr/>
        </p:nvSpPr>
        <p:spPr>
          <a:xfrm>
            <a:off x="10121900" y="3344267"/>
            <a:ext cx="12573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0B5638"/>
                </a:solidFill>
                <a:latin typeface="IBM Plex Sans" pitchFamily="34" charset="0"/>
                <a:ea typeface="IBM Plex Sans" pitchFamily="34" charset="-122"/>
                <a:cs typeface="IBM Plex Sans" pitchFamily="34" charset="-120"/>
              </a:rPr>
              <a:t>$ 450.000</a:t>
            </a:r>
            <a:endParaRPr lang="en-US" sz="1500" dirty="0"/>
          </a:p>
        </p:txBody>
      </p:sp>
      <p:sp>
        <p:nvSpPr>
          <p:cNvPr id="31" name="Shape 29"/>
          <p:cNvSpPr/>
          <p:nvPr/>
        </p:nvSpPr>
        <p:spPr>
          <a:xfrm>
            <a:off x="6934200" y="3899595"/>
            <a:ext cx="4445000" cy="0"/>
          </a:xfrm>
          <a:prstGeom prst="line">
            <a:avLst/>
          </a:prstGeom>
          <a:noFill/>
          <a:ln w="6350">
            <a:solidFill>
              <a:srgbClr val="D3E2D7"/>
            </a:solidFill>
            <a:prstDash val="solid"/>
          </a:ln>
        </p:spPr>
      </p:sp>
      <p:sp>
        <p:nvSpPr>
          <p:cNvPr id="32" name="Text 30"/>
          <p:cNvSpPr/>
          <p:nvPr/>
        </p:nvSpPr>
        <p:spPr>
          <a:xfrm>
            <a:off x="6934200" y="3927376"/>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Flete de este operativo</a:t>
            </a:r>
            <a:endParaRPr lang="en-US" sz="1300" dirty="0"/>
          </a:p>
        </p:txBody>
      </p:sp>
      <p:sp>
        <p:nvSpPr>
          <p:cNvPr id="33" name="Text 31"/>
          <p:cNvSpPr/>
          <p:nvPr/>
        </p:nvSpPr>
        <p:spPr>
          <a:xfrm>
            <a:off x="6934200" y="4171156"/>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307 viajes · ahorro $ 9,2 M</a:t>
            </a:r>
            <a:endParaRPr lang="en-US" sz="1200" dirty="0"/>
          </a:p>
        </p:txBody>
      </p:sp>
      <p:sp>
        <p:nvSpPr>
          <p:cNvPr id="34" name="Text 32"/>
          <p:cNvSpPr/>
          <p:nvPr/>
        </p:nvSpPr>
        <p:spPr>
          <a:xfrm>
            <a:off x="9042400" y="4022527"/>
            <a:ext cx="11303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5E4428"/>
                </a:solidFill>
                <a:latin typeface="IBM Plex Sans" pitchFamily="34" charset="0"/>
                <a:ea typeface="IBM Plex Sans" pitchFamily="34" charset="-122"/>
                <a:cs typeface="IBM Plex Sans" pitchFamily="34" charset="-120"/>
              </a:rPr>
              <a:t>$ 55,3 M</a:t>
            </a:r>
            <a:endParaRPr lang="en-US" sz="1500" dirty="0"/>
          </a:p>
        </p:txBody>
      </p:sp>
      <p:sp>
        <p:nvSpPr>
          <p:cNvPr id="35" name="Text 33"/>
          <p:cNvSpPr/>
          <p:nvPr/>
        </p:nvSpPr>
        <p:spPr>
          <a:xfrm>
            <a:off x="10121900" y="4022527"/>
            <a:ext cx="12573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0B5638"/>
                </a:solidFill>
                <a:latin typeface="IBM Plex Sans" pitchFamily="34" charset="0"/>
                <a:ea typeface="IBM Plex Sans" pitchFamily="34" charset="-122"/>
                <a:cs typeface="IBM Plex Sans" pitchFamily="34" charset="-120"/>
              </a:rPr>
              <a:t>$ 46,0 M</a:t>
            </a:r>
            <a:endParaRPr lang="en-US" sz="1500" dirty="0"/>
          </a:p>
        </p:txBody>
      </p:sp>
      <p:sp>
        <p:nvSpPr>
          <p:cNvPr id="36" name="Shape 34"/>
          <p:cNvSpPr/>
          <p:nvPr/>
        </p:nvSpPr>
        <p:spPr>
          <a:xfrm>
            <a:off x="6934200" y="4488359"/>
            <a:ext cx="4445000" cy="0"/>
          </a:xfrm>
          <a:prstGeom prst="line">
            <a:avLst/>
          </a:prstGeom>
          <a:noFill/>
          <a:ln w="6350">
            <a:solidFill>
              <a:srgbClr val="D3E2D7"/>
            </a:solidFill>
            <a:prstDash val="solid"/>
          </a:ln>
        </p:spPr>
      </p:sp>
      <p:sp>
        <p:nvSpPr>
          <p:cNvPr id="37" name="Text 35"/>
          <p:cNvSpPr/>
          <p:nvPr/>
        </p:nvSpPr>
        <p:spPr>
          <a:xfrm>
            <a:off x="6934200" y="4490045"/>
            <a:ext cx="222377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Flete de los operativos desde junio</a:t>
            </a:r>
            <a:endParaRPr lang="en-US" sz="1300" dirty="0"/>
          </a:p>
        </p:txBody>
      </p:sp>
      <p:sp>
        <p:nvSpPr>
          <p:cNvPr id="38" name="Text 36"/>
          <p:cNvSpPr/>
          <p:nvPr/>
        </p:nvSpPr>
        <p:spPr>
          <a:xfrm>
            <a:off x="6934200" y="4964906"/>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3.239 viajes · ahorro $ 97,2 M</a:t>
            </a:r>
            <a:endParaRPr lang="en-US" sz="1200" dirty="0"/>
          </a:p>
        </p:txBody>
      </p:sp>
      <p:sp>
        <p:nvSpPr>
          <p:cNvPr id="39" name="Text 37"/>
          <p:cNvSpPr/>
          <p:nvPr/>
        </p:nvSpPr>
        <p:spPr>
          <a:xfrm>
            <a:off x="9042400" y="4700687"/>
            <a:ext cx="11303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5E4428"/>
                </a:solidFill>
                <a:latin typeface="IBM Plex Sans" pitchFamily="34" charset="0"/>
                <a:ea typeface="IBM Plex Sans" pitchFamily="34" charset="-122"/>
                <a:cs typeface="IBM Plex Sans" pitchFamily="34" charset="-120"/>
              </a:rPr>
              <a:t>$ 583,0 M</a:t>
            </a:r>
            <a:endParaRPr lang="en-US" sz="1500" dirty="0"/>
          </a:p>
        </p:txBody>
      </p:sp>
      <p:sp>
        <p:nvSpPr>
          <p:cNvPr id="40" name="Text 38"/>
          <p:cNvSpPr/>
          <p:nvPr/>
        </p:nvSpPr>
        <p:spPr>
          <a:xfrm>
            <a:off x="10121900" y="4700687"/>
            <a:ext cx="12573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0B5638"/>
                </a:solidFill>
                <a:latin typeface="IBM Plex Sans" pitchFamily="34" charset="0"/>
                <a:ea typeface="IBM Plex Sans" pitchFamily="34" charset="-122"/>
                <a:cs typeface="IBM Plex Sans" pitchFamily="34" charset="-120"/>
              </a:rPr>
              <a:t>$ 485,9 M</a:t>
            </a:r>
            <a:endParaRPr lang="en-US" sz="1500" dirty="0"/>
          </a:p>
        </p:txBody>
      </p:sp>
      <p:sp>
        <p:nvSpPr>
          <p:cNvPr id="41" name="Shape 39"/>
          <p:cNvSpPr/>
          <p:nvPr/>
        </p:nvSpPr>
        <p:spPr>
          <a:xfrm>
            <a:off x="831850" y="5329039"/>
            <a:ext cx="0" cy="512961"/>
          </a:xfrm>
          <a:prstGeom prst="line">
            <a:avLst/>
          </a:prstGeom>
          <a:noFill/>
          <a:ln w="38100">
            <a:solidFill>
              <a:srgbClr val="3A8F63"/>
            </a:solidFill>
            <a:prstDash val="solid"/>
          </a:ln>
        </p:spPr>
      </p:sp>
      <p:sp>
        <p:nvSpPr>
          <p:cNvPr id="42" name="Text 40"/>
          <p:cNvSpPr/>
          <p:nvPr/>
        </p:nvSpPr>
        <p:spPr>
          <a:xfrm>
            <a:off x="977900" y="5354439"/>
            <a:ext cx="10713339"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Pagando $ 150.000 por viaje en lugar de $ 180.000, este operativo habría costado $ 9,2 M menos, y el camionero cobraría $ 450.000 por día en lugar de $ 360.000. Vale probarlo en el próximo operativo.</a:t>
            </a:r>
            <a:endParaRPr lang="en-US" sz="1300" dirty="0"/>
          </a:p>
        </p:txBody>
      </p:sp>
      <p:pic>
        <p:nvPicPr>
          <p:cNvPr id="43"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44" name="Text 41"/>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19</a:t>
            </a:r>
            <a:endParaRPr lang="en-US" sz="1200" dirty="0"/>
          </a:p>
        </p:txBody>
      </p:sp>
      <p:pic>
        <p:nvPicPr>
          <p:cNvPr id="45"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E1B4E"/>
        </a:solidFill>
      </p:bgPr>
    </p:bg>
    <p:spTree>
      <p:nvGrpSpPr>
        <p:cNvPr id="1" name=""/>
        <p:cNvGrpSpPr/>
        <p:nvPr/>
      </p:nvGrpSpPr>
      <p:grpSpPr>
        <a:xfrm>
          <a:off x="0" y="0"/>
          <a:ext cx="0" cy="0"/>
          <a:chOff x="0" y="0"/>
          <a:chExt cx="0" cy="0"/>
        </a:xfrm>
      </p:grpSpPr>
      <p:sp>
        <p:nvSpPr>
          <p:cNvPr id="2" name="Text 0"/>
          <p:cNvSpPr/>
          <p:nvPr/>
        </p:nvSpPr>
        <p:spPr>
          <a:xfrm>
            <a:off x="812800" y="2061865"/>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B9A8E0"/>
                </a:solidFill>
                <a:latin typeface="IBM Plex Sans" pitchFamily="34" charset="0"/>
                <a:ea typeface="IBM Plex Sans" pitchFamily="34" charset="-122"/>
                <a:cs typeface="IBM Plex Sans" pitchFamily="34" charset="-120"/>
              </a:rPr>
              <a:t>03</a:t>
            </a:r>
            <a:endParaRPr lang="en-US" sz="8000" dirty="0"/>
          </a:p>
        </p:txBody>
      </p:sp>
      <p:sp>
        <p:nvSpPr>
          <p:cNvPr id="3" name="Text 1"/>
          <p:cNvSpPr/>
          <p:nvPr>
            <p:ph type="title"/>
          </p:nvPr>
        </p:nvSpPr>
        <p:spPr>
          <a:xfrm>
            <a:off x="812800" y="3230265"/>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Girasol</a:t>
            </a:r>
            <a:endParaRPr lang="en-US" sz="6000" dirty="0"/>
          </a:p>
        </p:txBody>
      </p:sp>
      <p:sp>
        <p:nvSpPr>
          <p:cNvPr id="4" name="Text 2"/>
          <p:cNvSpPr/>
          <p:nvPr/>
        </p:nvSpPr>
        <p:spPr>
          <a:xfrm>
            <a:off x="812800" y="4182765"/>
            <a:ext cx="850265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6E4DA"/>
                </a:solidFill>
                <a:latin typeface="IBM Plex Sans" pitchFamily="34" charset="0"/>
                <a:ea typeface="IBM Plex Sans" pitchFamily="34" charset="-122"/>
                <a:cs typeface="IBM Plex Sans" pitchFamily="34" charset="-120"/>
              </a:rPr>
              <a:t>Circuitos R5 y R6: recepción en las volcables 1 y 2 de Ricardone.</a:t>
            </a:r>
            <a:endParaRPr lang="en-US" sz="1800" dirty="0"/>
          </a:p>
        </p:txBody>
      </p:sp>
      <p:pic>
        <p:nvPicPr>
          <p:cNvPr id="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6" name="Text 3"/>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Comité de Logística Nodo Sur · 24–30/09 · 20</a:t>
            </a:r>
            <a:endParaRPr lang="en-US" sz="1200" dirty="0"/>
          </a:p>
        </p:txBody>
      </p:sp>
      <p:pic>
        <p:nvPicPr>
          <p:cNvPr id="7"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692249"/>
            <a:ext cx="1678583" cy="289520"/>
          </a:xfrm>
          <a:custGeom>
            <a:avLst/>
            <a:gdLst/>
            <a:ahLst/>
            <a:cxnLst/>
            <a:rect l="l" t="t" r="r" b="b"/>
            <a:pathLst>
              <a:path w="1678583" h="289520">
                <a:moveTo>
                  <a:pt x="144760" y="0"/>
                </a:moveTo>
                <a:lnTo>
                  <a:pt x="1533823" y="0"/>
                </a:lnTo>
                <a:arcTo hR="144760" wR="144760" stAng="16200000" swAng="5400000"/>
                <a:lnTo>
                  <a:pt x="1678583"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GIRASOL · R5+R6</a:t>
            </a:r>
            <a:endParaRPr lang="en-US" sz="1200" dirty="0"/>
          </a:p>
        </p:txBody>
      </p:sp>
      <p:sp>
        <p:nvSpPr>
          <p:cNvPr id="3" name="Text 1"/>
          <p:cNvSpPr/>
          <p:nvPr>
            <p:ph type="title"/>
          </p:nvPr>
        </p:nvSpPr>
        <p:spPr>
          <a:xfrm>
            <a:off x="812800" y="1064419"/>
            <a:ext cx="10883392" cy="413742"/>
          </a:xfrm>
          <a:prstGeom prst="rect">
            <a:avLst/>
          </a:prstGeom>
          <a:noFill/>
          <a:ln/>
        </p:spPr>
        <p:txBody>
          <a:bodyPr wrap="square" lIns="0" tIns="0" rIns="0" bIns="0" rtlCol="0" anchor="t">
            <a:normAutofit/>
          </a:bodyPr>
          <a:lstStyle/>
          <a:p>
            <a:pPr algn="l" indent="0" marL="0">
              <a:lnSpc>
                <a:spcPts val="3069"/>
              </a:lnSpc>
              <a:buNone/>
            </a:pPr>
            <a:r>
              <a:rPr lang="en-US" sz="2790" b="1" i="0" dirty="0">
                <a:solidFill>
                  <a:srgbClr val="14281E"/>
                </a:solidFill>
                <a:latin typeface="IBM Plex Sans" pitchFamily="34" charset="0"/>
                <a:ea typeface="IBM Plex Sans" pitchFamily="34" charset="-122"/>
                <a:cs typeface="IBM Plex Sans" pitchFamily="34" charset="-120"/>
              </a:rPr>
              <a:t>Girasol: tiempos medios por tramo</a:t>
            </a:r>
            <a:endParaRPr lang="en-US" sz="2790" dirty="0"/>
          </a:p>
        </p:txBody>
      </p:sp>
      <p:sp>
        <p:nvSpPr>
          <p:cNvPr id="4" name="Text 2"/>
          <p:cNvSpPr/>
          <p:nvPr/>
        </p:nvSpPr>
        <p:spPr>
          <a:xfrm>
            <a:off x="812800" y="1655961"/>
            <a:ext cx="17484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Ingreso</a:t>
            </a:r>
            <a:endParaRPr lang="en-US" sz="1400" dirty="0"/>
          </a:p>
        </p:txBody>
      </p:sp>
      <p:sp>
        <p:nvSpPr>
          <p:cNvPr id="5" name="Shape 3"/>
          <p:cNvSpPr/>
          <p:nvPr/>
        </p:nvSpPr>
        <p:spPr>
          <a:xfrm>
            <a:off x="812800" y="1955602"/>
            <a:ext cx="1697534" cy="63500"/>
          </a:xfrm>
          <a:prstGeom prst="roundRect">
            <a:avLst>
              <a:gd name="adj" fmla="val 50000"/>
            </a:avLst>
          </a:prstGeom>
          <a:solidFill>
            <a:srgbClr val="9CCBAE"/>
          </a:solidFill>
          <a:ln/>
        </p:spPr>
      </p:sp>
      <p:sp>
        <p:nvSpPr>
          <p:cNvPr id="6" name="Text 4"/>
          <p:cNvSpPr/>
          <p:nvPr/>
        </p:nvSpPr>
        <p:spPr>
          <a:xfrm>
            <a:off x="812800" y="2069902"/>
            <a:ext cx="174846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Ingreso → Pre-ingreso</a:t>
            </a:r>
            <a:endParaRPr lang="en-US" sz="1200" dirty="0"/>
          </a:p>
        </p:txBody>
      </p:sp>
      <p:sp>
        <p:nvSpPr>
          <p:cNvPr id="7" name="Text 5"/>
          <p:cNvSpPr/>
          <p:nvPr/>
        </p:nvSpPr>
        <p:spPr>
          <a:xfrm>
            <a:off x="2586534" y="1655961"/>
            <a:ext cx="17484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Playa 1</a:t>
            </a:r>
            <a:endParaRPr lang="en-US" sz="1400" dirty="0"/>
          </a:p>
        </p:txBody>
      </p:sp>
      <p:sp>
        <p:nvSpPr>
          <p:cNvPr id="8" name="Shape 6"/>
          <p:cNvSpPr/>
          <p:nvPr/>
        </p:nvSpPr>
        <p:spPr>
          <a:xfrm>
            <a:off x="2586534" y="1955602"/>
            <a:ext cx="1697534" cy="63500"/>
          </a:xfrm>
          <a:prstGeom prst="roundRect">
            <a:avLst>
              <a:gd name="adj" fmla="val 50000"/>
            </a:avLst>
          </a:prstGeom>
          <a:solidFill>
            <a:srgbClr val="0B5638"/>
          </a:solidFill>
          <a:ln/>
        </p:spPr>
      </p:sp>
      <p:sp>
        <p:nvSpPr>
          <p:cNvPr id="9" name="Text 7"/>
          <p:cNvSpPr/>
          <p:nvPr/>
        </p:nvSpPr>
        <p:spPr>
          <a:xfrm>
            <a:off x="2586534" y="2069902"/>
            <a:ext cx="174846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Pre-ingreso → Calada</a:t>
            </a:r>
            <a:endParaRPr lang="en-US" sz="1200" dirty="0"/>
          </a:p>
        </p:txBody>
      </p:sp>
      <p:sp>
        <p:nvSpPr>
          <p:cNvPr id="10" name="Text 8"/>
          <p:cNvSpPr/>
          <p:nvPr/>
        </p:nvSpPr>
        <p:spPr>
          <a:xfrm>
            <a:off x="4360267" y="1655961"/>
            <a:ext cx="1748562" cy="238423"/>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81E"/>
                </a:solidFill>
                <a:latin typeface="IBM Plex Sans" pitchFamily="34" charset="0"/>
                <a:ea typeface="IBM Plex Sans" pitchFamily="34" charset="-122"/>
                <a:cs typeface="IBM Plex Sans" pitchFamily="34" charset="-120"/>
              </a:rPr>
              <a:t>P. Bruto</a:t>
            </a:r>
            <a:endParaRPr lang="en-US" sz="1229" dirty="0"/>
          </a:p>
        </p:txBody>
      </p:sp>
      <p:sp>
        <p:nvSpPr>
          <p:cNvPr id="11" name="Shape 9"/>
          <p:cNvSpPr/>
          <p:nvPr/>
        </p:nvSpPr>
        <p:spPr>
          <a:xfrm>
            <a:off x="4360267" y="1919784"/>
            <a:ext cx="1697633" cy="63500"/>
          </a:xfrm>
          <a:prstGeom prst="roundRect">
            <a:avLst>
              <a:gd name="adj" fmla="val 50000"/>
            </a:avLst>
          </a:prstGeom>
          <a:solidFill>
            <a:srgbClr val="3A8F63"/>
          </a:solidFill>
          <a:ln/>
        </p:spPr>
      </p:sp>
      <p:sp>
        <p:nvSpPr>
          <p:cNvPr id="12" name="Text 10"/>
          <p:cNvSpPr/>
          <p:nvPr/>
        </p:nvSpPr>
        <p:spPr>
          <a:xfrm>
            <a:off x="4360267" y="2034084"/>
            <a:ext cx="1773833" cy="377428"/>
          </a:xfrm>
          <a:prstGeom prst="rect">
            <a:avLst/>
          </a:prstGeom>
          <a:noFill/>
          <a:ln/>
        </p:spPr>
        <p:txBody>
          <a:bodyPr wrap="square" lIns="0" tIns="0" rIns="0" bIns="0" rtlCol="0" anchor="t">
            <a:normAutofit/>
          </a:bodyPr>
          <a:lstStyle/>
          <a:p>
            <a:pPr algn="l" indent="0" marL="0">
              <a:lnSpc>
                <a:spcPts val="1549"/>
              </a:lnSpc>
              <a:buNone/>
            </a:pPr>
            <a:r>
              <a:rPr lang="en-US" sz="1148" dirty="0">
                <a:solidFill>
                  <a:srgbClr val="4A5D52"/>
                </a:solidFill>
                <a:latin typeface="IBM Plex Sans" pitchFamily="34" charset="0"/>
                <a:ea typeface="IBM Plex Sans" pitchFamily="34" charset="-122"/>
                <a:cs typeface="IBM Plex Sans" pitchFamily="34" charset="-120"/>
              </a:rPr>
              <a:t>Calada → Balanza ingreso</a:t>
            </a:r>
            <a:endParaRPr lang="en-US" sz="1148" dirty="0"/>
          </a:p>
        </p:txBody>
      </p:sp>
      <p:sp>
        <p:nvSpPr>
          <p:cNvPr id="13" name="Text 11"/>
          <p:cNvSpPr/>
          <p:nvPr/>
        </p:nvSpPr>
        <p:spPr>
          <a:xfrm>
            <a:off x="6134100" y="1655961"/>
            <a:ext cx="1748460" cy="238423"/>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81E"/>
                </a:solidFill>
                <a:latin typeface="IBM Plex Sans" pitchFamily="34" charset="0"/>
                <a:ea typeface="IBM Plex Sans" pitchFamily="34" charset="-122"/>
                <a:cs typeface="IBM Plex Sans" pitchFamily="34" charset="-120"/>
              </a:rPr>
              <a:t>Acceso P3</a:t>
            </a:r>
            <a:endParaRPr lang="en-US" sz="1229" dirty="0"/>
          </a:p>
        </p:txBody>
      </p:sp>
      <p:sp>
        <p:nvSpPr>
          <p:cNvPr id="14" name="Shape 12"/>
          <p:cNvSpPr/>
          <p:nvPr/>
        </p:nvSpPr>
        <p:spPr>
          <a:xfrm>
            <a:off x="6134100" y="1919784"/>
            <a:ext cx="1697534" cy="63500"/>
          </a:xfrm>
          <a:prstGeom prst="roundRect">
            <a:avLst>
              <a:gd name="adj" fmla="val 50000"/>
            </a:avLst>
          </a:prstGeom>
          <a:solidFill>
            <a:srgbClr val="9CCBAE"/>
          </a:solidFill>
          <a:ln/>
        </p:spPr>
      </p:sp>
      <p:sp>
        <p:nvSpPr>
          <p:cNvPr id="15" name="Text 13"/>
          <p:cNvSpPr/>
          <p:nvPr/>
        </p:nvSpPr>
        <p:spPr>
          <a:xfrm>
            <a:off x="6134100" y="2034084"/>
            <a:ext cx="1773734" cy="377428"/>
          </a:xfrm>
          <a:prstGeom prst="rect">
            <a:avLst/>
          </a:prstGeom>
          <a:noFill/>
          <a:ln/>
        </p:spPr>
        <p:txBody>
          <a:bodyPr wrap="square" lIns="0" tIns="0" rIns="0" bIns="0" rtlCol="0" anchor="t">
            <a:normAutofit/>
          </a:bodyPr>
          <a:lstStyle/>
          <a:p>
            <a:pPr algn="l" indent="0" marL="0">
              <a:lnSpc>
                <a:spcPts val="1524"/>
              </a:lnSpc>
              <a:buNone/>
            </a:pPr>
            <a:r>
              <a:rPr lang="en-US" sz="1129" dirty="0">
                <a:solidFill>
                  <a:srgbClr val="4A5D52"/>
                </a:solidFill>
                <a:latin typeface="IBM Plex Sans" pitchFamily="34" charset="0"/>
                <a:ea typeface="IBM Plex Sans" pitchFamily="34" charset="-122"/>
                <a:cs typeface="IBM Plex Sans" pitchFamily="34" charset="-120"/>
              </a:rPr>
              <a:t>Balanza ingreso → Playa 3</a:t>
            </a:r>
            <a:endParaRPr lang="en-US" sz="1129" dirty="0"/>
          </a:p>
        </p:txBody>
      </p:sp>
      <p:sp>
        <p:nvSpPr>
          <p:cNvPr id="16" name="Text 14"/>
          <p:cNvSpPr/>
          <p:nvPr/>
        </p:nvSpPr>
        <p:spPr>
          <a:xfrm>
            <a:off x="7907834" y="1655961"/>
            <a:ext cx="17484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Descarga</a:t>
            </a:r>
            <a:endParaRPr lang="en-US" sz="1400" dirty="0"/>
          </a:p>
        </p:txBody>
      </p:sp>
      <p:sp>
        <p:nvSpPr>
          <p:cNvPr id="17" name="Shape 15"/>
          <p:cNvSpPr/>
          <p:nvPr/>
        </p:nvSpPr>
        <p:spPr>
          <a:xfrm>
            <a:off x="7907834" y="1955602"/>
            <a:ext cx="1697534" cy="63500"/>
          </a:xfrm>
          <a:prstGeom prst="roundRect">
            <a:avLst>
              <a:gd name="adj" fmla="val 50000"/>
            </a:avLst>
          </a:prstGeom>
          <a:solidFill>
            <a:srgbClr val="2E1B4E"/>
          </a:solidFill>
          <a:ln/>
        </p:spPr>
      </p:sp>
      <p:sp>
        <p:nvSpPr>
          <p:cNvPr id="18" name="Text 16"/>
          <p:cNvSpPr/>
          <p:nvPr/>
        </p:nvSpPr>
        <p:spPr>
          <a:xfrm>
            <a:off x="7907834" y="2069902"/>
            <a:ext cx="174846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Playa 3 → Volcable</a:t>
            </a:r>
            <a:endParaRPr lang="en-US" sz="1200" dirty="0"/>
          </a:p>
        </p:txBody>
      </p:sp>
      <p:sp>
        <p:nvSpPr>
          <p:cNvPr id="19" name="Text 17"/>
          <p:cNvSpPr/>
          <p:nvPr/>
        </p:nvSpPr>
        <p:spPr>
          <a:xfrm>
            <a:off x="9681567" y="1655961"/>
            <a:ext cx="1748562" cy="238423"/>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81E"/>
                </a:solidFill>
                <a:latin typeface="IBM Plex Sans" pitchFamily="34" charset="0"/>
                <a:ea typeface="IBM Plex Sans" pitchFamily="34" charset="-122"/>
                <a:cs typeface="IBM Plex Sans" pitchFamily="34" charset="-120"/>
              </a:rPr>
              <a:t>Tara</a:t>
            </a:r>
            <a:endParaRPr lang="en-US" sz="1229" dirty="0"/>
          </a:p>
        </p:txBody>
      </p:sp>
      <p:sp>
        <p:nvSpPr>
          <p:cNvPr id="20" name="Shape 18"/>
          <p:cNvSpPr/>
          <p:nvPr/>
        </p:nvSpPr>
        <p:spPr>
          <a:xfrm>
            <a:off x="9681567" y="1919784"/>
            <a:ext cx="1697633" cy="63500"/>
          </a:xfrm>
          <a:prstGeom prst="roundRect">
            <a:avLst>
              <a:gd name="adj" fmla="val 50000"/>
            </a:avLst>
          </a:prstGeom>
          <a:solidFill>
            <a:srgbClr val="6B55A3"/>
          </a:solidFill>
          <a:ln/>
        </p:spPr>
      </p:sp>
      <p:sp>
        <p:nvSpPr>
          <p:cNvPr id="21" name="Text 19"/>
          <p:cNvSpPr/>
          <p:nvPr/>
        </p:nvSpPr>
        <p:spPr>
          <a:xfrm>
            <a:off x="9681567" y="2034084"/>
            <a:ext cx="2037159" cy="377428"/>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4A5D52"/>
                </a:solidFill>
                <a:latin typeface="IBM Plex Sans" pitchFamily="34" charset="0"/>
                <a:ea typeface="IBM Plex Sans" pitchFamily="34" charset="-122"/>
                <a:cs typeface="IBM Plex Sans" pitchFamily="34" charset="-120"/>
              </a:rPr>
              <a:t>Volcable → Balanza egreso</a:t>
            </a:r>
            <a:endParaRPr lang="en-US" sz="1099" dirty="0"/>
          </a:p>
        </p:txBody>
      </p:sp>
      <p:sp>
        <p:nvSpPr>
          <p:cNvPr id="22" name="Text 20"/>
          <p:cNvSpPr/>
          <p:nvPr/>
        </p:nvSpPr>
        <p:spPr>
          <a:xfrm>
            <a:off x="787400" y="2589312"/>
            <a:ext cx="114300" cy="30480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3</a:t>
            </a:r>
            <a:endParaRPr lang="en-US" sz="1800" dirty="0"/>
          </a:p>
        </p:txBody>
      </p:sp>
      <p:sp>
        <p:nvSpPr>
          <p:cNvPr id="23" name="Text 21"/>
          <p:cNvSpPr/>
          <p:nvPr/>
        </p:nvSpPr>
        <p:spPr>
          <a:xfrm>
            <a:off x="817531" y="2589312"/>
            <a:ext cx="4035488" cy="30480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0B5638"/>
                </a:solidFill>
                <a:latin typeface="IBM Plex Sans" pitchFamily="34" charset="0"/>
                <a:ea typeface="IBM Plex Sans" pitchFamily="34" charset="-122"/>
                <a:cs typeface="IBM Plex Sans" pitchFamily="34" charset="-120"/>
              </a:rPr>
              <a:t>177</a:t>
            </a:r>
            <a:endParaRPr lang="en-US" sz="1800" dirty="0"/>
          </a:p>
        </p:txBody>
      </p:sp>
      <p:sp>
        <p:nvSpPr>
          <p:cNvPr id="24" name="Text 22"/>
          <p:cNvSpPr/>
          <p:nvPr/>
        </p:nvSpPr>
        <p:spPr>
          <a:xfrm>
            <a:off x="4768850" y="2589312"/>
            <a:ext cx="336550" cy="30480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13</a:t>
            </a:r>
            <a:endParaRPr lang="en-US" sz="1800" dirty="0"/>
          </a:p>
        </p:txBody>
      </p:sp>
      <p:sp>
        <p:nvSpPr>
          <p:cNvPr id="25" name="Text 23"/>
          <p:cNvSpPr/>
          <p:nvPr/>
        </p:nvSpPr>
        <p:spPr>
          <a:xfrm>
            <a:off x="5054600" y="2589312"/>
            <a:ext cx="317500" cy="30480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12</a:t>
            </a:r>
            <a:endParaRPr lang="en-US" sz="1800" dirty="0"/>
          </a:p>
        </p:txBody>
      </p:sp>
      <p:sp>
        <p:nvSpPr>
          <p:cNvPr id="26" name="Text 24"/>
          <p:cNvSpPr/>
          <p:nvPr/>
        </p:nvSpPr>
        <p:spPr>
          <a:xfrm>
            <a:off x="5263833" y="2589312"/>
            <a:ext cx="5690235" cy="30480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2E1B4E"/>
                </a:solidFill>
                <a:latin typeface="IBM Plex Sans" pitchFamily="34" charset="0"/>
                <a:ea typeface="IBM Plex Sans" pitchFamily="34" charset="-122"/>
                <a:cs typeface="IBM Plex Sans" pitchFamily="34" charset="-120"/>
              </a:rPr>
              <a:t>249</a:t>
            </a:r>
            <a:endParaRPr lang="en-US" sz="1800" dirty="0"/>
          </a:p>
        </p:txBody>
      </p:sp>
      <p:sp>
        <p:nvSpPr>
          <p:cNvPr id="27" name="Text 25"/>
          <p:cNvSpPr/>
          <p:nvPr/>
        </p:nvSpPr>
        <p:spPr>
          <a:xfrm>
            <a:off x="10845800" y="2589312"/>
            <a:ext cx="558800" cy="304800"/>
          </a:xfrm>
          <a:prstGeom prst="rect">
            <a:avLst/>
          </a:prstGeom>
          <a:noFill/>
          <a:ln/>
        </p:spPr>
        <p:txBody>
          <a:bodyPr wrap="none" lIns="0" tIns="0" rIns="0" bIns="0" rtlCol="0" anchor="t">
            <a:normAutofit/>
          </a:bodyPr>
          <a:lstStyle/>
          <a:p>
            <a:pPr algn="ctr" indent="0" marL="0">
              <a:lnSpc>
                <a:spcPts val="2520"/>
              </a:lnSpc>
              <a:buNone/>
            </a:pPr>
            <a:r>
              <a:rPr lang="en-US" sz="1800" b="1" dirty="0">
                <a:solidFill>
                  <a:srgbClr val="14281E"/>
                </a:solidFill>
                <a:latin typeface="IBM Plex Sans" pitchFamily="34" charset="0"/>
                <a:ea typeface="IBM Plex Sans" pitchFamily="34" charset="-122"/>
                <a:cs typeface="IBM Plex Sans" pitchFamily="34" charset="-120"/>
              </a:rPr>
              <a:t>23</a:t>
            </a:r>
            <a:endParaRPr lang="en-US" sz="1800" dirty="0"/>
          </a:p>
        </p:txBody>
      </p:sp>
      <p:sp>
        <p:nvSpPr>
          <p:cNvPr id="28" name="Shape 26"/>
          <p:cNvSpPr/>
          <p:nvPr/>
        </p:nvSpPr>
        <p:spPr>
          <a:xfrm>
            <a:off x="812800" y="2919512"/>
            <a:ext cx="63500" cy="355600"/>
          </a:xfrm>
          <a:custGeom>
            <a:avLst/>
            <a:gdLst/>
            <a:ahLst/>
            <a:cxnLst/>
            <a:rect l="l" t="t" r="r" b="b"/>
            <a:pathLst>
              <a:path w="63500" h="355600">
                <a:moveTo>
                  <a:pt x="0" y="50800"/>
                </a:moveTo>
                <a:arcTo hR="50800" wR="50800" stAng="10800000" swAng="5400000"/>
                <a:lnTo>
                  <a:pt x="63500" y="0"/>
                </a:lnTo>
                <a:lnTo>
                  <a:pt x="63500" y="355600"/>
                </a:lnTo>
                <a:lnTo>
                  <a:pt x="0" y="355600"/>
                </a:lnTo>
                <a:close/>
              </a:path>
            </a:pathLst>
          </a:custGeom>
          <a:solidFill>
            <a:srgbClr val="9CCBAE"/>
          </a:solidFill>
          <a:ln/>
        </p:spPr>
      </p:sp>
      <p:sp>
        <p:nvSpPr>
          <p:cNvPr id="29" name="Shape 27"/>
          <p:cNvSpPr/>
          <p:nvPr/>
        </p:nvSpPr>
        <p:spPr>
          <a:xfrm>
            <a:off x="876300" y="2919512"/>
            <a:ext cx="3917950" cy="355600"/>
          </a:xfrm>
          <a:prstGeom prst="rect">
            <a:avLst/>
          </a:prstGeom>
          <a:solidFill>
            <a:srgbClr val="0B5638"/>
          </a:solidFill>
          <a:ln/>
        </p:spPr>
      </p:sp>
      <p:sp>
        <p:nvSpPr>
          <p:cNvPr id="30" name="Shape 28"/>
          <p:cNvSpPr/>
          <p:nvPr/>
        </p:nvSpPr>
        <p:spPr>
          <a:xfrm>
            <a:off x="885825" y="2919512"/>
            <a:ext cx="0" cy="355600"/>
          </a:xfrm>
          <a:prstGeom prst="line">
            <a:avLst/>
          </a:prstGeom>
          <a:noFill/>
          <a:ln w="19050">
            <a:solidFill>
              <a:srgbClr val="F5F8F4"/>
            </a:solidFill>
            <a:prstDash val="solid"/>
          </a:ln>
        </p:spPr>
      </p:sp>
      <p:sp>
        <p:nvSpPr>
          <p:cNvPr id="31" name="Shape 29"/>
          <p:cNvSpPr/>
          <p:nvPr/>
        </p:nvSpPr>
        <p:spPr>
          <a:xfrm>
            <a:off x="4794250" y="2919512"/>
            <a:ext cx="285750" cy="355600"/>
          </a:xfrm>
          <a:prstGeom prst="rect">
            <a:avLst/>
          </a:prstGeom>
          <a:solidFill>
            <a:srgbClr val="3A8F63"/>
          </a:solidFill>
          <a:ln/>
        </p:spPr>
      </p:sp>
      <p:sp>
        <p:nvSpPr>
          <p:cNvPr id="32" name="Shape 30"/>
          <p:cNvSpPr/>
          <p:nvPr/>
        </p:nvSpPr>
        <p:spPr>
          <a:xfrm>
            <a:off x="4803775" y="2919512"/>
            <a:ext cx="0" cy="355600"/>
          </a:xfrm>
          <a:prstGeom prst="line">
            <a:avLst/>
          </a:prstGeom>
          <a:noFill/>
          <a:ln w="19050">
            <a:solidFill>
              <a:srgbClr val="F5F8F4"/>
            </a:solidFill>
            <a:prstDash val="solid"/>
          </a:ln>
        </p:spPr>
      </p:sp>
      <p:sp>
        <p:nvSpPr>
          <p:cNvPr id="33" name="Shape 31"/>
          <p:cNvSpPr/>
          <p:nvPr/>
        </p:nvSpPr>
        <p:spPr>
          <a:xfrm>
            <a:off x="5080000" y="2919512"/>
            <a:ext cx="266700" cy="355600"/>
          </a:xfrm>
          <a:prstGeom prst="rect">
            <a:avLst/>
          </a:prstGeom>
          <a:solidFill>
            <a:srgbClr val="9CCBAE"/>
          </a:solidFill>
          <a:ln/>
        </p:spPr>
      </p:sp>
      <p:sp>
        <p:nvSpPr>
          <p:cNvPr id="34" name="Shape 32"/>
          <p:cNvSpPr/>
          <p:nvPr/>
        </p:nvSpPr>
        <p:spPr>
          <a:xfrm>
            <a:off x="5089525" y="2919512"/>
            <a:ext cx="0" cy="355600"/>
          </a:xfrm>
          <a:prstGeom prst="line">
            <a:avLst/>
          </a:prstGeom>
          <a:noFill/>
          <a:ln w="19050">
            <a:solidFill>
              <a:srgbClr val="F5F8F4"/>
            </a:solidFill>
            <a:prstDash val="solid"/>
          </a:ln>
        </p:spPr>
      </p:sp>
      <p:sp>
        <p:nvSpPr>
          <p:cNvPr id="35" name="Shape 33"/>
          <p:cNvSpPr/>
          <p:nvPr/>
        </p:nvSpPr>
        <p:spPr>
          <a:xfrm>
            <a:off x="5346700" y="2919512"/>
            <a:ext cx="5524500" cy="355600"/>
          </a:xfrm>
          <a:prstGeom prst="rect">
            <a:avLst/>
          </a:prstGeom>
          <a:solidFill>
            <a:srgbClr val="2E1B4E"/>
          </a:solidFill>
          <a:ln/>
        </p:spPr>
      </p:sp>
      <p:sp>
        <p:nvSpPr>
          <p:cNvPr id="36" name="Shape 34"/>
          <p:cNvSpPr/>
          <p:nvPr/>
        </p:nvSpPr>
        <p:spPr>
          <a:xfrm>
            <a:off x="5356225" y="2919512"/>
            <a:ext cx="0" cy="355600"/>
          </a:xfrm>
          <a:prstGeom prst="line">
            <a:avLst/>
          </a:prstGeom>
          <a:noFill/>
          <a:ln w="19050">
            <a:solidFill>
              <a:srgbClr val="F5F8F4"/>
            </a:solidFill>
            <a:prstDash val="solid"/>
          </a:ln>
        </p:spPr>
      </p:sp>
      <p:sp>
        <p:nvSpPr>
          <p:cNvPr id="37" name="Shape 35"/>
          <p:cNvSpPr/>
          <p:nvPr/>
        </p:nvSpPr>
        <p:spPr>
          <a:xfrm>
            <a:off x="10871200" y="2919512"/>
            <a:ext cx="508000" cy="355600"/>
          </a:xfrm>
          <a:custGeom>
            <a:avLst/>
            <a:gdLst/>
            <a:ahLst/>
            <a:cxnLst/>
            <a:rect l="l" t="t" r="r" b="b"/>
            <a:pathLst>
              <a:path w="508000" h="355600">
                <a:moveTo>
                  <a:pt x="457200" y="0"/>
                </a:moveTo>
                <a:arcTo hR="50800" wR="50800" stAng="16200000" swAng="5400000"/>
                <a:lnTo>
                  <a:pt x="508000" y="355600"/>
                </a:lnTo>
                <a:lnTo>
                  <a:pt x="0" y="355600"/>
                </a:lnTo>
                <a:lnTo>
                  <a:pt x="0" y="0"/>
                </a:lnTo>
                <a:close/>
              </a:path>
            </a:pathLst>
          </a:custGeom>
          <a:solidFill>
            <a:srgbClr val="6B55A3"/>
          </a:solidFill>
          <a:ln/>
        </p:spPr>
      </p:sp>
      <p:sp>
        <p:nvSpPr>
          <p:cNvPr id="38" name="Shape 36"/>
          <p:cNvSpPr/>
          <p:nvPr/>
        </p:nvSpPr>
        <p:spPr>
          <a:xfrm>
            <a:off x="10871200" y="2919512"/>
            <a:ext cx="508000" cy="355600"/>
          </a:xfrm>
          <a:custGeom>
            <a:avLst/>
            <a:gdLst/>
            <a:ahLst/>
            <a:cxnLst/>
            <a:rect l="l" t="t" r="r" b="b"/>
            <a:pathLst>
              <a:path w="508000" h="355600">
                <a:moveTo>
                  <a:pt x="0" y="0"/>
                </a:moveTo>
                <a:lnTo>
                  <a:pt x="19050" y="0"/>
                </a:lnTo>
                <a:lnTo>
                  <a:pt x="19050" y="355600"/>
                </a:lnTo>
                <a:lnTo>
                  <a:pt x="0" y="355600"/>
                </a:lnTo>
                <a:lnTo>
                  <a:pt x="0" y="0"/>
                </a:lnTo>
                <a:close/>
              </a:path>
            </a:pathLst>
          </a:custGeom>
          <a:solidFill>
            <a:srgbClr val="F5F8F4"/>
          </a:solidFill>
          <a:ln/>
        </p:spPr>
      </p:sp>
      <p:sp>
        <p:nvSpPr>
          <p:cNvPr id="39" name="Shape 37"/>
          <p:cNvSpPr/>
          <p:nvPr/>
        </p:nvSpPr>
        <p:spPr>
          <a:xfrm>
            <a:off x="812800" y="3293566"/>
            <a:ext cx="10566400" cy="0"/>
          </a:xfrm>
          <a:prstGeom prst="line">
            <a:avLst/>
          </a:prstGeom>
          <a:noFill/>
          <a:ln w="25400">
            <a:solidFill>
              <a:srgbClr val="2E1B4E"/>
            </a:solidFill>
            <a:prstDash val="solid"/>
          </a:ln>
        </p:spPr>
      </p:sp>
      <p:sp>
        <p:nvSpPr>
          <p:cNvPr id="40" name="Text 38"/>
          <p:cNvSpPr/>
          <p:nvPr/>
        </p:nvSpPr>
        <p:spPr>
          <a:xfrm>
            <a:off x="654304" y="3369766"/>
            <a:ext cx="10883392" cy="231477"/>
          </a:xfrm>
          <a:prstGeom prst="rect">
            <a:avLst/>
          </a:prstGeom>
          <a:noFill/>
          <a:ln/>
        </p:spPr>
        <p:txBody>
          <a:bodyPr wrap="square" lIns="0" tIns="0" rIns="0" bIns="0" rtlCol="0" anchor="t">
            <a:normAutofit/>
          </a:bodyPr>
          <a:lstStyle/>
          <a:p>
            <a:pPr algn="ctr" indent="0" marL="0">
              <a:lnSpc>
                <a:spcPts val="1623"/>
              </a:lnSpc>
              <a:buNone/>
            </a:pPr>
            <a:r>
              <a:rPr lang="en-US" sz="1159" b="1" dirty="0">
                <a:solidFill>
                  <a:srgbClr val="2E1B4E"/>
                </a:solidFill>
                <a:latin typeface="IBM Plex Sans" pitchFamily="34" charset="0"/>
                <a:ea typeface="IBM Plex Sans" pitchFamily="34" charset="-122"/>
                <a:cs typeface="IBM Plex Sans" pitchFamily="34" charset="-120"/>
              </a:rPr>
              <a:t>Ricardone · 477 min (7 h 57 m)</a:t>
            </a:r>
            <a:endParaRPr lang="en-US" sz="1159" dirty="0"/>
          </a:p>
        </p:txBody>
      </p:sp>
      <p:sp>
        <p:nvSpPr>
          <p:cNvPr id="41" name="Shape 39"/>
          <p:cNvSpPr/>
          <p:nvPr/>
        </p:nvSpPr>
        <p:spPr>
          <a:xfrm>
            <a:off x="815975" y="3782219"/>
            <a:ext cx="3414117" cy="1189236"/>
          </a:xfrm>
          <a:prstGeom prst="roundRect">
            <a:avLst>
              <a:gd name="adj" fmla="val 7208"/>
            </a:avLst>
          </a:prstGeom>
          <a:solidFill>
            <a:srgbClr val="FCFDFB"/>
          </a:solidFill>
          <a:ln w="6350">
            <a:solidFill>
              <a:srgbClr val="D3E2D7"/>
            </a:solidFill>
            <a:prstDash val="solid"/>
          </a:ln>
        </p:spPr>
      </p:sp>
      <p:sp>
        <p:nvSpPr>
          <p:cNvPr id="42" name="Text 40"/>
          <p:cNvSpPr/>
          <p:nvPr/>
        </p:nvSpPr>
        <p:spPr>
          <a:xfrm>
            <a:off x="1022350" y="3937794"/>
            <a:ext cx="3091408" cy="205383"/>
          </a:xfrm>
          <a:prstGeom prst="rect">
            <a:avLst/>
          </a:prstGeom>
          <a:noFill/>
          <a:ln/>
        </p:spPr>
        <p:txBody>
          <a:bodyPr wrap="square" lIns="0" tIns="0" rIns="0" bIns="0" rtlCol="0" anchor="t">
            <a:normAutofit/>
          </a:bodyPr>
          <a:lstStyle/>
          <a:p>
            <a:pPr algn="l" indent="0" marL="0">
              <a:lnSpc>
                <a:spcPts val="1423"/>
              </a:lnSpc>
              <a:buNone/>
            </a:pPr>
            <a:r>
              <a:rPr lang="en-US" sz="1016" b="1" dirty="0">
                <a:solidFill>
                  <a:srgbClr val="4A5D52"/>
                </a:solidFill>
                <a:latin typeface="IBM Plex Sans" pitchFamily="34" charset="0"/>
                <a:ea typeface="IBM Plex Sans" pitchFamily="34" charset="-122"/>
                <a:cs typeface="IBM Plex Sans" pitchFamily="34" charset="-120"/>
              </a:rPr>
              <a:t>Tiempo total (suma de tramos)</a:t>
            </a:r>
            <a:endParaRPr lang="en-US" sz="1016" dirty="0"/>
          </a:p>
        </p:txBody>
      </p:sp>
      <p:sp>
        <p:nvSpPr>
          <p:cNvPr id="43" name="Text 41"/>
          <p:cNvSpPr/>
          <p:nvPr/>
        </p:nvSpPr>
        <p:spPr>
          <a:xfrm>
            <a:off x="1022350" y="4155877"/>
            <a:ext cx="3204567" cy="685403"/>
          </a:xfrm>
          <a:prstGeom prst="rect">
            <a:avLst/>
          </a:prstGeom>
          <a:noFill/>
          <a:ln/>
        </p:spPr>
        <p:txBody>
          <a:bodyPr wrap="square" lIns="0" tIns="0" rIns="0" bIns="0" rtlCol="0" anchor="t">
            <a:normAutofit/>
          </a:bodyPr>
          <a:lstStyle/>
          <a:p>
            <a:pPr algn="l" indent="0" marL="0">
              <a:lnSpc>
                <a:spcPts val="3022"/>
              </a:lnSpc>
              <a:buNone/>
            </a:pPr>
            <a:r>
              <a:rPr lang="en-US" sz="2748" b="1" dirty="0">
                <a:solidFill>
                  <a:srgbClr val="2E1B4E"/>
                </a:solidFill>
                <a:latin typeface="IBM Plex Sans" pitchFamily="34" charset="0"/>
                <a:ea typeface="IBM Plex Sans" pitchFamily="34" charset="-122"/>
                <a:cs typeface="IBM Plex Sans" pitchFamily="34" charset="-120"/>
              </a:rPr>
              <a:t>477 min · 7 h 57 m</a:t>
            </a:r>
            <a:endParaRPr lang="en-US" sz="2748" dirty="0"/>
          </a:p>
        </p:txBody>
      </p:sp>
      <p:sp>
        <p:nvSpPr>
          <p:cNvPr id="44" name="Shape 42"/>
          <p:cNvSpPr/>
          <p:nvPr/>
        </p:nvSpPr>
        <p:spPr>
          <a:xfrm>
            <a:off x="4388842" y="3782219"/>
            <a:ext cx="3414216" cy="1189236"/>
          </a:xfrm>
          <a:prstGeom prst="roundRect">
            <a:avLst>
              <a:gd name="adj" fmla="val 7208"/>
            </a:avLst>
          </a:prstGeom>
          <a:solidFill>
            <a:srgbClr val="FCFDFB"/>
          </a:solidFill>
          <a:ln w="6350">
            <a:solidFill>
              <a:srgbClr val="D3E2D7"/>
            </a:solidFill>
            <a:prstDash val="solid"/>
          </a:ln>
        </p:spPr>
      </p:sp>
      <p:sp>
        <p:nvSpPr>
          <p:cNvPr id="45" name="Text 43"/>
          <p:cNvSpPr/>
          <p:nvPr/>
        </p:nvSpPr>
        <p:spPr>
          <a:xfrm>
            <a:off x="4595217" y="3937794"/>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Comparativo semana anterior</a:t>
            </a:r>
            <a:endParaRPr lang="en-US" sz="1200" dirty="0"/>
          </a:p>
        </p:txBody>
      </p:sp>
      <p:sp>
        <p:nvSpPr>
          <p:cNvPr id="46" name="Text 44"/>
          <p:cNvSpPr/>
          <p:nvPr/>
        </p:nvSpPr>
        <p:spPr>
          <a:xfrm>
            <a:off x="4595217" y="4189214"/>
            <a:ext cx="309151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5638"/>
                </a:solidFill>
                <a:latin typeface="IBM Plex Sans" pitchFamily="34" charset="0"/>
                <a:ea typeface="IBM Plex Sans" pitchFamily="34" charset="-122"/>
                <a:cs typeface="IBM Plex Sans" pitchFamily="34" charset="-120"/>
              </a:rPr>
              <a:t>+249 min</a:t>
            </a:r>
            <a:endParaRPr lang="en-US" sz="2800" dirty="0"/>
          </a:p>
        </p:txBody>
      </p:sp>
      <p:sp>
        <p:nvSpPr>
          <p:cNvPr id="47" name="Shape 45"/>
          <p:cNvSpPr/>
          <p:nvPr/>
        </p:nvSpPr>
        <p:spPr>
          <a:xfrm>
            <a:off x="7961809" y="3782219"/>
            <a:ext cx="3414216" cy="1189236"/>
          </a:xfrm>
          <a:prstGeom prst="roundRect">
            <a:avLst>
              <a:gd name="adj" fmla="val 7208"/>
            </a:avLst>
          </a:prstGeom>
          <a:solidFill>
            <a:srgbClr val="FCFDFB"/>
          </a:solidFill>
          <a:ln w="6350">
            <a:solidFill>
              <a:srgbClr val="D3E2D7"/>
            </a:solidFill>
            <a:prstDash val="solid"/>
          </a:ln>
        </p:spPr>
      </p:sp>
      <p:sp>
        <p:nvSpPr>
          <p:cNvPr id="48" name="Text 46"/>
          <p:cNvSpPr/>
          <p:nvPr/>
        </p:nvSpPr>
        <p:spPr>
          <a:xfrm>
            <a:off x="8168184" y="3937794"/>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Total de camiones</a:t>
            </a:r>
            <a:endParaRPr lang="en-US" sz="1200" dirty="0"/>
          </a:p>
        </p:txBody>
      </p:sp>
      <p:sp>
        <p:nvSpPr>
          <p:cNvPr id="49" name="Text 47"/>
          <p:cNvSpPr/>
          <p:nvPr/>
        </p:nvSpPr>
        <p:spPr>
          <a:xfrm>
            <a:off x="8168184" y="4189214"/>
            <a:ext cx="309151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5638"/>
                </a:solidFill>
                <a:latin typeface="IBM Plex Sans" pitchFamily="34" charset="0"/>
                <a:ea typeface="IBM Plex Sans" pitchFamily="34" charset="-122"/>
                <a:cs typeface="IBM Plex Sans" pitchFamily="34" charset="-120"/>
              </a:rPr>
              <a:t>208</a:t>
            </a:r>
            <a:endParaRPr lang="en-US" sz="2800" dirty="0"/>
          </a:p>
        </p:txBody>
      </p:sp>
      <p:sp>
        <p:nvSpPr>
          <p:cNvPr id="50" name="Shape 48"/>
          <p:cNvSpPr/>
          <p:nvPr/>
        </p:nvSpPr>
        <p:spPr>
          <a:xfrm>
            <a:off x="831850" y="5177830"/>
            <a:ext cx="0" cy="664170"/>
          </a:xfrm>
          <a:prstGeom prst="line">
            <a:avLst/>
          </a:prstGeom>
          <a:noFill/>
          <a:ln w="38100">
            <a:solidFill>
              <a:srgbClr val="3A8F63"/>
            </a:solidFill>
            <a:prstDash val="solid"/>
          </a:ln>
        </p:spPr>
      </p:sp>
      <p:sp>
        <p:nvSpPr>
          <p:cNvPr id="51" name="Text 49"/>
          <p:cNvSpPr/>
          <p:nvPr/>
        </p:nvSpPr>
        <p:spPr>
          <a:xfrm>
            <a:off x="977900" y="5203230"/>
            <a:ext cx="10713339" cy="638770"/>
          </a:xfrm>
          <a:prstGeom prst="rect">
            <a:avLst/>
          </a:prstGeom>
          <a:noFill/>
          <a:ln/>
        </p:spPr>
        <p:txBody>
          <a:bodyPr wrap="square" lIns="0" tIns="0" rIns="0" bIns="0" rtlCol="0" anchor="t">
            <a:normAutofit/>
          </a:bodyPr>
          <a:lstStyle/>
          <a:p>
            <a:pPr algn="l" indent="0" marL="0">
              <a:lnSpc>
                <a:spcPts val="1621"/>
              </a:lnSpc>
              <a:buNone/>
            </a:pPr>
            <a:r>
              <a:rPr lang="en-US" sz="1158" b="1" dirty="0">
                <a:solidFill>
                  <a:srgbClr val="0B5638"/>
                </a:solidFill>
                <a:latin typeface="IBM Plex Sans" pitchFamily="34" charset="0"/>
                <a:ea typeface="IBM Plex Sans" pitchFamily="34" charset="-122"/>
                <a:cs typeface="IBM Plex Sans" pitchFamily="34" charset="-120"/>
              </a:rPr>
              <a:t>La descarga (Playa 3 → volcable) sigue siendo el tramo más largo y creció a 249 min; Playa 1 subió a 177. Desde el domingo casi todo entró por la volcable 2. La volcable 1 no descargó lunes y martes (OT en la balanza 1 y en la válvula de la celda 5): sin redundancia, la descarga pasó a la volcable 2 y a silos Kepler 2.</a:t>
            </a:r>
            <a:endParaRPr lang="en-US" sz="1158" dirty="0"/>
          </a:p>
        </p:txBody>
      </p:sp>
      <p:pic>
        <p:nvPicPr>
          <p:cNvPr id="52"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53" name="Text 50"/>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21</a:t>
            </a:r>
            <a:endParaRPr lang="en-US" sz="1200" dirty="0"/>
          </a:p>
        </p:txBody>
      </p:sp>
      <p:pic>
        <p:nvPicPr>
          <p:cNvPr id="54"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678583" cy="289520"/>
          </a:xfrm>
          <a:custGeom>
            <a:avLst/>
            <a:gdLst/>
            <a:ahLst/>
            <a:cxnLst/>
            <a:rect l="l" t="t" r="r" b="b"/>
            <a:pathLst>
              <a:path w="1678583" h="289520">
                <a:moveTo>
                  <a:pt x="144760" y="0"/>
                </a:moveTo>
                <a:lnTo>
                  <a:pt x="1533823" y="0"/>
                </a:lnTo>
                <a:arcTo hR="144760" wR="144760" stAng="16200000" swAng="5400000"/>
                <a:lnTo>
                  <a:pt x="1678583"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GIRASOL · R5+R6</a:t>
            </a:r>
            <a:endParaRPr lang="en-US" sz="1200" dirty="0"/>
          </a:p>
        </p:txBody>
      </p:sp>
      <p:sp>
        <p:nvSpPr>
          <p:cNvPr id="3" name="Text 1"/>
          <p:cNvSpPr/>
          <p:nvPr>
            <p:ph type="title"/>
          </p:nvPr>
        </p:nvSpPr>
        <p:spPr>
          <a:xfrm>
            <a:off x="812800" y="11023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Dónde queda la semana: el tiempo más alto desde junio</a:t>
            </a:r>
            <a:endParaRPr lang="en-US" sz="3200" dirty="0"/>
          </a:p>
        </p:txBody>
      </p:sp>
      <p:sp>
        <p:nvSpPr>
          <p:cNvPr id="4" name="Shape 2"/>
          <p:cNvSpPr/>
          <p:nvPr/>
        </p:nvSpPr>
        <p:spPr>
          <a:xfrm>
            <a:off x="812800" y="1719461"/>
            <a:ext cx="177800" cy="177800"/>
          </a:xfrm>
          <a:prstGeom prst="roundRect">
            <a:avLst>
              <a:gd name="adj" fmla="val 21429"/>
            </a:avLst>
          </a:prstGeom>
          <a:solidFill>
            <a:srgbClr val="2E1B4E"/>
          </a:solidFill>
          <a:ln/>
        </p:spPr>
      </p:sp>
      <p:sp>
        <p:nvSpPr>
          <p:cNvPr id="5" name="Text 3"/>
          <p:cNvSpPr/>
          <p:nvPr/>
        </p:nvSpPr>
        <p:spPr>
          <a:xfrm>
            <a:off x="1066800" y="1701701"/>
            <a:ext cx="4394603"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Tiempo total, suma de tramos (min) · rótulo = fecha del comité</a:t>
            </a:r>
            <a:endParaRPr lang="en-US" sz="1200" dirty="0"/>
          </a:p>
        </p:txBody>
      </p:sp>
      <p:sp>
        <p:nvSpPr>
          <p:cNvPr id="6" name="Shape 4"/>
          <p:cNvSpPr/>
          <p:nvPr/>
        </p:nvSpPr>
        <p:spPr>
          <a:xfrm>
            <a:off x="5409605" y="1719461"/>
            <a:ext cx="177800" cy="177800"/>
          </a:xfrm>
          <a:prstGeom prst="roundRect">
            <a:avLst>
              <a:gd name="adj" fmla="val 21429"/>
            </a:avLst>
          </a:prstGeom>
          <a:solidFill>
            <a:srgbClr val="4A5D52"/>
          </a:solidFill>
          <a:ln/>
        </p:spPr>
      </p:sp>
      <p:sp>
        <p:nvSpPr>
          <p:cNvPr id="7" name="Text 5"/>
          <p:cNvSpPr/>
          <p:nvPr/>
        </p:nvSpPr>
        <p:spPr>
          <a:xfrm>
            <a:off x="5663605" y="1701701"/>
            <a:ext cx="180568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Promedio de la serie: 334</a:t>
            </a:r>
            <a:endParaRPr lang="en-US" sz="1200" dirty="0"/>
          </a:p>
        </p:txBody>
      </p:sp>
      <p:pic>
        <p:nvPicPr>
          <p:cNvPr id="8" name="Image 0" descr="Serie semanal 17/06 a 02/10">    </p:cNvPr>
          <p:cNvPicPr>
            <a:picLocks noChangeAspect="1"/>
          </p:cNvPicPr>
          <p:nvPr/>
        </p:nvPicPr>
        <p:blipFill>
          <a:blip r:embed="rId1"/>
          <a:srcRect l="0" r="0" t="-27" b="-27"/>
          <a:stretch/>
        </p:blipFill>
        <p:spPr>
          <a:xfrm>
            <a:off x="939800" y="2286000"/>
            <a:ext cx="6604000" cy="2794000"/>
          </a:xfrm>
          <a:prstGeom prst="rect">
            <a:avLst/>
          </a:prstGeom>
        </p:spPr>
      </p:pic>
      <p:sp>
        <p:nvSpPr>
          <p:cNvPr id="9" name="Text 6"/>
          <p:cNvSpPr/>
          <p:nvPr/>
        </p:nvSpPr>
        <p:spPr>
          <a:xfrm>
            <a:off x="787400" y="36766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315</a:t>
            </a:r>
            <a:endParaRPr lang="en-US" sz="1200" dirty="0"/>
          </a:p>
        </p:txBody>
      </p:sp>
      <p:sp>
        <p:nvSpPr>
          <p:cNvPr id="10" name="Text 7"/>
          <p:cNvSpPr/>
          <p:nvPr/>
        </p:nvSpPr>
        <p:spPr>
          <a:xfrm>
            <a:off x="7874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17/6</a:t>
            </a:r>
            <a:endParaRPr lang="en-US" sz="1200" dirty="0"/>
          </a:p>
        </p:txBody>
      </p:sp>
      <p:sp>
        <p:nvSpPr>
          <p:cNvPr id="11" name="Text 8"/>
          <p:cNvSpPr/>
          <p:nvPr/>
        </p:nvSpPr>
        <p:spPr>
          <a:xfrm>
            <a:off x="1238250" y="39116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287</a:t>
            </a:r>
            <a:endParaRPr lang="en-US" sz="1200" dirty="0"/>
          </a:p>
        </p:txBody>
      </p:sp>
      <p:sp>
        <p:nvSpPr>
          <p:cNvPr id="12" name="Text 9"/>
          <p:cNvSpPr/>
          <p:nvPr/>
        </p:nvSpPr>
        <p:spPr>
          <a:xfrm>
            <a:off x="12382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24/6</a:t>
            </a:r>
            <a:endParaRPr lang="en-US" sz="1200" dirty="0"/>
          </a:p>
        </p:txBody>
      </p:sp>
      <p:sp>
        <p:nvSpPr>
          <p:cNvPr id="13" name="Text 10"/>
          <p:cNvSpPr/>
          <p:nvPr/>
        </p:nvSpPr>
        <p:spPr>
          <a:xfrm>
            <a:off x="1695450" y="36576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317</a:t>
            </a:r>
            <a:endParaRPr lang="en-US" sz="1200" dirty="0"/>
          </a:p>
        </p:txBody>
      </p:sp>
      <p:sp>
        <p:nvSpPr>
          <p:cNvPr id="14" name="Text 11"/>
          <p:cNvSpPr/>
          <p:nvPr/>
        </p:nvSpPr>
        <p:spPr>
          <a:xfrm>
            <a:off x="16954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8/7</a:t>
            </a:r>
            <a:endParaRPr lang="en-US" sz="1200" dirty="0"/>
          </a:p>
        </p:txBody>
      </p:sp>
      <p:sp>
        <p:nvSpPr>
          <p:cNvPr id="15" name="Text 12"/>
          <p:cNvSpPr/>
          <p:nvPr/>
        </p:nvSpPr>
        <p:spPr>
          <a:xfrm>
            <a:off x="2146300" y="37528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306</a:t>
            </a:r>
            <a:endParaRPr lang="en-US" sz="1200" dirty="0"/>
          </a:p>
        </p:txBody>
      </p:sp>
      <p:sp>
        <p:nvSpPr>
          <p:cNvPr id="16" name="Text 13"/>
          <p:cNvSpPr/>
          <p:nvPr/>
        </p:nvSpPr>
        <p:spPr>
          <a:xfrm>
            <a:off x="21463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15/7</a:t>
            </a:r>
            <a:endParaRPr lang="en-US" sz="1200" dirty="0"/>
          </a:p>
        </p:txBody>
      </p:sp>
      <p:sp>
        <p:nvSpPr>
          <p:cNvPr id="17" name="Text 14"/>
          <p:cNvSpPr/>
          <p:nvPr/>
        </p:nvSpPr>
        <p:spPr>
          <a:xfrm>
            <a:off x="2603500" y="33718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351</a:t>
            </a:r>
            <a:endParaRPr lang="en-US" sz="1200" dirty="0"/>
          </a:p>
        </p:txBody>
      </p:sp>
      <p:sp>
        <p:nvSpPr>
          <p:cNvPr id="18" name="Text 15"/>
          <p:cNvSpPr/>
          <p:nvPr/>
        </p:nvSpPr>
        <p:spPr>
          <a:xfrm>
            <a:off x="26035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24/7</a:t>
            </a:r>
            <a:endParaRPr lang="en-US" sz="1200" dirty="0"/>
          </a:p>
        </p:txBody>
      </p:sp>
      <p:sp>
        <p:nvSpPr>
          <p:cNvPr id="19" name="Text 16"/>
          <p:cNvSpPr/>
          <p:nvPr/>
        </p:nvSpPr>
        <p:spPr>
          <a:xfrm>
            <a:off x="3054350" y="32829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361</a:t>
            </a:r>
            <a:endParaRPr lang="en-US" sz="1200" dirty="0"/>
          </a:p>
        </p:txBody>
      </p:sp>
      <p:sp>
        <p:nvSpPr>
          <p:cNvPr id="20" name="Text 17"/>
          <p:cNvSpPr/>
          <p:nvPr/>
        </p:nvSpPr>
        <p:spPr>
          <a:xfrm>
            <a:off x="30543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30/7</a:t>
            </a:r>
            <a:endParaRPr lang="en-US" sz="1200" dirty="0"/>
          </a:p>
        </p:txBody>
      </p:sp>
      <p:sp>
        <p:nvSpPr>
          <p:cNvPr id="21" name="Text 18"/>
          <p:cNvSpPr/>
          <p:nvPr/>
        </p:nvSpPr>
        <p:spPr>
          <a:xfrm>
            <a:off x="3511550" y="34036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347</a:t>
            </a:r>
            <a:endParaRPr lang="en-US" sz="1200" dirty="0"/>
          </a:p>
        </p:txBody>
      </p:sp>
      <p:sp>
        <p:nvSpPr>
          <p:cNvPr id="22" name="Text 19"/>
          <p:cNvSpPr/>
          <p:nvPr/>
        </p:nvSpPr>
        <p:spPr>
          <a:xfrm>
            <a:off x="35115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7/8</a:t>
            </a:r>
            <a:endParaRPr lang="en-US" sz="1200" dirty="0"/>
          </a:p>
        </p:txBody>
      </p:sp>
      <p:sp>
        <p:nvSpPr>
          <p:cNvPr id="23" name="Text 20"/>
          <p:cNvSpPr/>
          <p:nvPr/>
        </p:nvSpPr>
        <p:spPr>
          <a:xfrm>
            <a:off x="3962400" y="42989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241</a:t>
            </a:r>
            <a:endParaRPr lang="en-US" sz="1200" dirty="0"/>
          </a:p>
        </p:txBody>
      </p:sp>
      <p:sp>
        <p:nvSpPr>
          <p:cNvPr id="24" name="Text 21"/>
          <p:cNvSpPr/>
          <p:nvPr/>
        </p:nvSpPr>
        <p:spPr>
          <a:xfrm>
            <a:off x="39624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13/8</a:t>
            </a:r>
            <a:endParaRPr lang="en-US" sz="1200" dirty="0"/>
          </a:p>
        </p:txBody>
      </p:sp>
      <p:sp>
        <p:nvSpPr>
          <p:cNvPr id="25" name="Text 22"/>
          <p:cNvSpPr/>
          <p:nvPr/>
        </p:nvSpPr>
        <p:spPr>
          <a:xfrm>
            <a:off x="4413250" y="38925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289</a:t>
            </a:r>
            <a:endParaRPr lang="en-US" sz="1200" dirty="0"/>
          </a:p>
        </p:txBody>
      </p:sp>
      <p:sp>
        <p:nvSpPr>
          <p:cNvPr id="26" name="Text 23"/>
          <p:cNvSpPr/>
          <p:nvPr/>
        </p:nvSpPr>
        <p:spPr>
          <a:xfrm>
            <a:off x="44132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21/8</a:t>
            </a:r>
            <a:endParaRPr lang="en-US" sz="1200" dirty="0"/>
          </a:p>
        </p:txBody>
      </p:sp>
      <p:sp>
        <p:nvSpPr>
          <p:cNvPr id="27" name="Text 24"/>
          <p:cNvSpPr/>
          <p:nvPr/>
        </p:nvSpPr>
        <p:spPr>
          <a:xfrm>
            <a:off x="4870450" y="33528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353</a:t>
            </a:r>
            <a:endParaRPr lang="en-US" sz="1200" dirty="0"/>
          </a:p>
        </p:txBody>
      </p:sp>
      <p:sp>
        <p:nvSpPr>
          <p:cNvPr id="28" name="Text 25"/>
          <p:cNvSpPr/>
          <p:nvPr/>
        </p:nvSpPr>
        <p:spPr>
          <a:xfrm>
            <a:off x="48704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28/8</a:t>
            </a:r>
            <a:endParaRPr lang="en-US" sz="1200" dirty="0"/>
          </a:p>
        </p:txBody>
      </p:sp>
      <p:sp>
        <p:nvSpPr>
          <p:cNvPr id="29" name="Text 26"/>
          <p:cNvSpPr/>
          <p:nvPr/>
        </p:nvSpPr>
        <p:spPr>
          <a:xfrm>
            <a:off x="5321300" y="26987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430</a:t>
            </a:r>
            <a:endParaRPr lang="en-US" sz="1200" dirty="0"/>
          </a:p>
        </p:txBody>
      </p:sp>
      <p:sp>
        <p:nvSpPr>
          <p:cNvPr id="30" name="Text 27"/>
          <p:cNvSpPr/>
          <p:nvPr/>
        </p:nvSpPr>
        <p:spPr>
          <a:xfrm>
            <a:off x="53213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4/9</a:t>
            </a:r>
            <a:endParaRPr lang="en-US" sz="1200" dirty="0"/>
          </a:p>
        </p:txBody>
      </p:sp>
      <p:sp>
        <p:nvSpPr>
          <p:cNvPr id="31" name="Text 28"/>
          <p:cNvSpPr/>
          <p:nvPr/>
        </p:nvSpPr>
        <p:spPr>
          <a:xfrm>
            <a:off x="5778500" y="36385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319</a:t>
            </a:r>
            <a:endParaRPr lang="en-US" sz="1200" dirty="0"/>
          </a:p>
        </p:txBody>
      </p:sp>
      <p:sp>
        <p:nvSpPr>
          <p:cNvPr id="32" name="Text 29"/>
          <p:cNvSpPr/>
          <p:nvPr/>
        </p:nvSpPr>
        <p:spPr>
          <a:xfrm>
            <a:off x="57785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11/9</a:t>
            </a:r>
            <a:endParaRPr lang="en-US" sz="1200" dirty="0"/>
          </a:p>
        </p:txBody>
      </p:sp>
      <p:sp>
        <p:nvSpPr>
          <p:cNvPr id="33" name="Text 30"/>
          <p:cNvSpPr/>
          <p:nvPr/>
        </p:nvSpPr>
        <p:spPr>
          <a:xfrm>
            <a:off x="6229350" y="31051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382</a:t>
            </a:r>
            <a:endParaRPr lang="en-US" sz="1200" dirty="0"/>
          </a:p>
        </p:txBody>
      </p:sp>
      <p:sp>
        <p:nvSpPr>
          <p:cNvPr id="34" name="Text 31"/>
          <p:cNvSpPr/>
          <p:nvPr/>
        </p:nvSpPr>
        <p:spPr>
          <a:xfrm>
            <a:off x="62293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18/9</a:t>
            </a:r>
            <a:endParaRPr lang="en-US" sz="1200" dirty="0"/>
          </a:p>
        </p:txBody>
      </p:sp>
      <p:sp>
        <p:nvSpPr>
          <p:cNvPr id="35" name="Text 32"/>
          <p:cNvSpPr/>
          <p:nvPr/>
        </p:nvSpPr>
        <p:spPr>
          <a:xfrm>
            <a:off x="6686550" y="44132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228</a:t>
            </a:r>
            <a:endParaRPr lang="en-US" sz="1200" dirty="0"/>
          </a:p>
        </p:txBody>
      </p:sp>
      <p:sp>
        <p:nvSpPr>
          <p:cNvPr id="36" name="Text 33"/>
          <p:cNvSpPr/>
          <p:nvPr/>
        </p:nvSpPr>
        <p:spPr>
          <a:xfrm>
            <a:off x="668655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25/9</a:t>
            </a:r>
            <a:endParaRPr lang="en-US" sz="1200" dirty="0"/>
          </a:p>
        </p:txBody>
      </p:sp>
      <p:sp>
        <p:nvSpPr>
          <p:cNvPr id="37" name="Text 34"/>
          <p:cNvSpPr/>
          <p:nvPr/>
        </p:nvSpPr>
        <p:spPr>
          <a:xfrm>
            <a:off x="7137400" y="230505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477</a:t>
            </a:r>
            <a:endParaRPr lang="en-US" sz="1200" dirty="0"/>
          </a:p>
        </p:txBody>
      </p:sp>
      <p:sp>
        <p:nvSpPr>
          <p:cNvPr id="38" name="Text 35"/>
          <p:cNvSpPr/>
          <p:nvPr/>
        </p:nvSpPr>
        <p:spPr>
          <a:xfrm>
            <a:off x="7137400" y="510540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2/10</a:t>
            </a:r>
            <a:endParaRPr lang="en-US" sz="1200" dirty="0"/>
          </a:p>
        </p:txBody>
      </p:sp>
      <p:sp>
        <p:nvSpPr>
          <p:cNvPr id="39" name="Shape 36"/>
          <p:cNvSpPr/>
          <p:nvPr/>
        </p:nvSpPr>
        <p:spPr>
          <a:xfrm>
            <a:off x="8131175" y="2098675"/>
            <a:ext cx="3244850" cy="1207691"/>
          </a:xfrm>
          <a:prstGeom prst="roundRect">
            <a:avLst>
              <a:gd name="adj" fmla="val 7098"/>
            </a:avLst>
          </a:prstGeom>
          <a:solidFill>
            <a:srgbClr val="FCFDFB"/>
          </a:solidFill>
          <a:ln w="6350">
            <a:solidFill>
              <a:srgbClr val="D3E2D7"/>
            </a:solidFill>
            <a:prstDash val="solid"/>
          </a:ln>
        </p:spPr>
      </p:sp>
      <p:sp>
        <p:nvSpPr>
          <p:cNvPr id="40" name="Text 37"/>
          <p:cNvSpPr/>
          <p:nvPr/>
        </p:nvSpPr>
        <p:spPr>
          <a:xfrm>
            <a:off x="8286750" y="2228850"/>
            <a:ext cx="30217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Espera Playa 1</a:t>
            </a:r>
            <a:endParaRPr lang="en-US" sz="1200" dirty="0"/>
          </a:p>
        </p:txBody>
      </p:sp>
      <p:sp>
        <p:nvSpPr>
          <p:cNvPr id="41" name="Text 38"/>
          <p:cNvSpPr/>
          <p:nvPr/>
        </p:nvSpPr>
        <p:spPr>
          <a:xfrm>
            <a:off x="8286750" y="2551410"/>
            <a:ext cx="1536700"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0B5638"/>
                </a:solidFill>
                <a:latin typeface="IBM Plex Sans" pitchFamily="34" charset="0"/>
                <a:ea typeface="IBM Plex Sans" pitchFamily="34" charset="-122"/>
                <a:cs typeface="IBM Plex Sans" pitchFamily="34" charset="-120"/>
              </a:rPr>
              <a:t>177 min</a:t>
            </a:r>
            <a:endParaRPr lang="en-US" sz="2800" dirty="0"/>
          </a:p>
        </p:txBody>
      </p:sp>
      <p:pic>
        <p:nvPicPr>
          <p:cNvPr id="42" name="Image 1" descr="Evolución de 15 semanas">    </p:cNvPr>
          <p:cNvPicPr>
            <a:picLocks noChangeAspect="1"/>
          </p:cNvPicPr>
          <p:nvPr/>
        </p:nvPicPr>
        <p:blipFill>
          <a:blip r:embed="rId2"/>
          <a:srcRect l="0" r="0" t="0" b="0"/>
          <a:stretch/>
        </p:blipFill>
        <p:spPr>
          <a:xfrm>
            <a:off x="9823450" y="2480270"/>
            <a:ext cx="1397000" cy="444500"/>
          </a:xfrm>
          <a:prstGeom prst="rect">
            <a:avLst/>
          </a:prstGeom>
        </p:spPr>
      </p:pic>
      <p:sp>
        <p:nvSpPr>
          <p:cNvPr id="43" name="Text 39"/>
          <p:cNvSpPr/>
          <p:nvPr/>
        </p:nvSpPr>
        <p:spPr>
          <a:xfrm>
            <a:off x="8286750" y="2962870"/>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Promedio desde junio: 127 · 2.ª más alta</a:t>
            </a:r>
            <a:endParaRPr lang="en-US" sz="1200" dirty="0"/>
          </a:p>
        </p:txBody>
      </p:sp>
      <p:sp>
        <p:nvSpPr>
          <p:cNvPr id="44" name="Shape 40"/>
          <p:cNvSpPr/>
          <p:nvPr/>
        </p:nvSpPr>
        <p:spPr>
          <a:xfrm>
            <a:off x="8131175" y="3439716"/>
            <a:ext cx="3244850" cy="1421011"/>
          </a:xfrm>
          <a:prstGeom prst="roundRect">
            <a:avLst>
              <a:gd name="adj" fmla="val 6033"/>
            </a:avLst>
          </a:prstGeom>
          <a:solidFill>
            <a:srgbClr val="FCFDFB"/>
          </a:solidFill>
          <a:ln w="6350">
            <a:solidFill>
              <a:srgbClr val="D3E2D7"/>
            </a:solidFill>
            <a:prstDash val="solid"/>
          </a:ln>
        </p:spPr>
      </p:sp>
      <p:sp>
        <p:nvSpPr>
          <p:cNvPr id="45" name="Text 41"/>
          <p:cNvSpPr/>
          <p:nvPr/>
        </p:nvSpPr>
        <p:spPr>
          <a:xfrm>
            <a:off x="8286750" y="3569891"/>
            <a:ext cx="30217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Descarga (Playa 3 → volcable y tara)</a:t>
            </a:r>
            <a:endParaRPr lang="en-US" sz="1200" dirty="0"/>
          </a:p>
        </p:txBody>
      </p:sp>
      <p:sp>
        <p:nvSpPr>
          <p:cNvPr id="46" name="Text 42"/>
          <p:cNvSpPr/>
          <p:nvPr/>
        </p:nvSpPr>
        <p:spPr>
          <a:xfrm>
            <a:off x="8286750" y="3892451"/>
            <a:ext cx="1536700"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6B55A3"/>
                </a:solidFill>
                <a:latin typeface="IBM Plex Sans" pitchFamily="34" charset="0"/>
                <a:ea typeface="IBM Plex Sans" pitchFamily="34" charset="-122"/>
                <a:cs typeface="IBM Plex Sans" pitchFamily="34" charset="-120"/>
              </a:rPr>
              <a:t>272 min</a:t>
            </a:r>
            <a:endParaRPr lang="en-US" sz="2800" dirty="0"/>
          </a:p>
        </p:txBody>
      </p:sp>
      <p:pic>
        <p:nvPicPr>
          <p:cNvPr id="47" name="Image 2" descr="Evolución de 15 semanas">    </p:cNvPr>
          <p:cNvPicPr>
            <a:picLocks noChangeAspect="1"/>
          </p:cNvPicPr>
          <p:nvPr/>
        </p:nvPicPr>
        <p:blipFill>
          <a:blip r:embed="rId3"/>
          <a:srcRect l="0" r="0" t="0" b="0"/>
          <a:stretch/>
        </p:blipFill>
        <p:spPr>
          <a:xfrm>
            <a:off x="9823450" y="3821311"/>
            <a:ext cx="1397000" cy="444500"/>
          </a:xfrm>
          <a:prstGeom prst="rect">
            <a:avLst/>
          </a:prstGeom>
        </p:spPr>
      </p:pic>
      <p:sp>
        <p:nvSpPr>
          <p:cNvPr id="48" name="Text 43"/>
          <p:cNvSpPr/>
          <p:nvPr/>
        </p:nvSpPr>
        <p:spPr>
          <a:xfrm>
            <a:off x="8286750" y="4303911"/>
            <a:ext cx="30217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Promedio desde junio: 176 · máximo de la serie</a:t>
            </a:r>
            <a:endParaRPr lang="en-US" sz="1200" dirty="0"/>
          </a:p>
        </p:txBody>
      </p:sp>
      <p:sp>
        <p:nvSpPr>
          <p:cNvPr id="49" name="Shape 44"/>
          <p:cNvSpPr/>
          <p:nvPr/>
        </p:nvSpPr>
        <p:spPr>
          <a:xfrm>
            <a:off x="8147050" y="4990902"/>
            <a:ext cx="0" cy="1899444"/>
          </a:xfrm>
          <a:prstGeom prst="line">
            <a:avLst/>
          </a:prstGeom>
          <a:noFill/>
          <a:ln w="38100">
            <a:solidFill>
              <a:srgbClr val="3A8F63"/>
            </a:solidFill>
            <a:prstDash val="solid"/>
          </a:ln>
        </p:spPr>
      </p:sp>
      <p:sp>
        <p:nvSpPr>
          <p:cNvPr id="50" name="Text 45"/>
          <p:cNvSpPr/>
          <p:nvPr/>
        </p:nvSpPr>
        <p:spPr>
          <a:xfrm>
            <a:off x="8293100" y="5016302"/>
            <a:ext cx="3178683" cy="187404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Subieron a la vez la espera y la descarga. Según la planilla, la mitad de los camiones estuvo más de 14 h en planta: la semana empezó con la volcable 1 demorada (970 min el jueves, OT en la aspiración de polvillo y el calador 1) y la cerró sin ella lunes y martes.</a:t>
            </a:r>
            <a:endParaRPr lang="en-US" sz="1300" dirty="0"/>
          </a:p>
        </p:txBody>
      </p:sp>
      <p:pic>
        <p:nvPicPr>
          <p:cNvPr id="51" name="Image 3" descr="Nueva Vicentin Argentina">    </p:cNvPr>
          <p:cNvPicPr>
            <a:picLocks noChangeAspect="1"/>
          </p:cNvPicPr>
          <p:nvPr/>
        </p:nvPicPr>
        <p:blipFill>
          <a:blip r:embed="rId4"/>
          <a:srcRect l="-167" r="-167" t="0" b="0"/>
          <a:stretch/>
        </p:blipFill>
        <p:spPr>
          <a:xfrm>
            <a:off x="812800" y="6197600"/>
            <a:ext cx="571500" cy="304800"/>
          </a:xfrm>
          <a:prstGeom prst="rect">
            <a:avLst/>
          </a:prstGeom>
        </p:spPr>
      </p:pic>
      <p:sp>
        <p:nvSpPr>
          <p:cNvPr id="52" name="Text 46"/>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22</a:t>
            </a:r>
            <a:endParaRPr lang="en-US" sz="1200" dirty="0"/>
          </a:p>
        </p:txBody>
      </p:sp>
      <p:pic>
        <p:nvPicPr>
          <p:cNvPr id="53" name="Image 4" descr="Bimtrazer">    </p:cNvPr>
          <p:cNvPicPr>
            <a:picLocks noChangeAspect="1"/>
          </p:cNvPicPr>
          <p:nvPr/>
        </p:nvPicPr>
        <p:blipFill>
          <a:blip r:embed="rId5"/>
          <a:srcRect l="0" r="0" t="-63" b="-63"/>
          <a:stretch/>
        </p:blipFill>
        <p:spPr>
          <a:xfrm>
            <a:off x="10731500" y="6197600"/>
            <a:ext cx="647700" cy="304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5638"/>
        </a:solidFill>
      </p:bgPr>
    </p:bg>
    <p:spTree>
      <p:nvGrpSpPr>
        <p:cNvPr id="1" name=""/>
        <p:cNvGrpSpPr/>
        <p:nvPr/>
      </p:nvGrpSpPr>
      <p:grpSpPr>
        <a:xfrm>
          <a:off x="0" y="0"/>
          <a:ext cx="0" cy="0"/>
          <a:chOff x="0" y="0"/>
          <a:chExt cx="0" cy="0"/>
        </a:xfrm>
      </p:grpSpPr>
      <p:sp>
        <p:nvSpPr>
          <p:cNvPr id="2" name="Text 0"/>
          <p:cNvSpPr/>
          <p:nvPr/>
        </p:nvSpPr>
        <p:spPr>
          <a:xfrm>
            <a:off x="812800" y="2061865"/>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9CCBAE"/>
                </a:solidFill>
                <a:latin typeface="IBM Plex Sans" pitchFamily="34" charset="0"/>
                <a:ea typeface="IBM Plex Sans" pitchFamily="34" charset="-122"/>
                <a:cs typeface="IBM Plex Sans" pitchFamily="34" charset="-120"/>
              </a:rPr>
              <a:t>04</a:t>
            </a:r>
            <a:endParaRPr lang="en-US" sz="8000" dirty="0"/>
          </a:p>
        </p:txBody>
      </p:sp>
      <p:sp>
        <p:nvSpPr>
          <p:cNvPr id="3" name="Text 1"/>
          <p:cNvSpPr/>
          <p:nvPr>
            <p:ph type="title"/>
          </p:nvPr>
        </p:nvSpPr>
        <p:spPr>
          <a:xfrm>
            <a:off x="812800" y="3230265"/>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Sectores</a:t>
            </a:r>
            <a:endParaRPr lang="en-US" sz="6000" dirty="0"/>
          </a:p>
        </p:txBody>
      </p:sp>
      <p:sp>
        <p:nvSpPr>
          <p:cNvPr id="4" name="Text 2"/>
          <p:cNvSpPr/>
          <p:nvPr/>
        </p:nvSpPr>
        <p:spPr>
          <a:xfrm>
            <a:off x="812800" y="4182765"/>
            <a:ext cx="850265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6E4DA"/>
                </a:solidFill>
                <a:latin typeface="IBM Plex Sans" pitchFamily="34" charset="0"/>
                <a:ea typeface="IBM Plex Sans" pitchFamily="34" charset="-122"/>
                <a:cs typeface="IBM Plex Sans" pitchFamily="34" charset="-120"/>
              </a:rPr>
              <a:t>Calada, volcables y silos: dónde se concentró la actividad de la semana.</a:t>
            </a:r>
            <a:endParaRPr lang="en-US" sz="1800" dirty="0"/>
          </a:p>
        </p:txBody>
      </p:sp>
      <p:pic>
        <p:nvPicPr>
          <p:cNvPr id="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6" name="Text 3"/>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Comité de Logística Nodo Sur · 24–30/09 · 23</a:t>
            </a:r>
            <a:endParaRPr lang="en-US" sz="1200" dirty="0"/>
          </a:p>
        </p:txBody>
      </p:sp>
      <p:pic>
        <p:nvPicPr>
          <p:cNvPr id="7"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917898" cy="289520"/>
          </a:xfrm>
          <a:custGeom>
            <a:avLst/>
            <a:gdLst/>
            <a:ahLst/>
            <a:cxnLst/>
            <a:rect l="l" t="t" r="r" b="b"/>
            <a:pathLst>
              <a:path w="1917898" h="289520">
                <a:moveTo>
                  <a:pt x="144760" y="0"/>
                </a:moveTo>
                <a:lnTo>
                  <a:pt x="1773138" y="0"/>
                </a:lnTo>
                <a:arcTo hR="144760" wR="144760" stAng="16200000" swAng="5400000"/>
                <a:lnTo>
                  <a:pt x="1917898"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SECTORES · CALADA</a:t>
            </a:r>
            <a:endParaRPr lang="en-US" sz="1200" dirty="0"/>
          </a:p>
        </p:txBody>
      </p:sp>
      <p:sp>
        <p:nvSpPr>
          <p:cNvPr id="3" name="Text 1"/>
          <p:cNvSpPr/>
          <p:nvPr>
            <p:ph type="title"/>
          </p:nvPr>
        </p:nvSpPr>
        <p:spPr>
          <a:xfrm>
            <a:off x="812800" y="1102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Calada con menos recorridos: las calles 3 y 4 hicieron el 87 %</a:t>
            </a:r>
            <a:endParaRPr lang="en-US" sz="3200" dirty="0"/>
          </a:p>
        </p:txBody>
      </p:sp>
      <p:sp>
        <p:nvSpPr>
          <p:cNvPr id="4" name="Text 2"/>
          <p:cNvSpPr/>
          <p:nvPr/>
        </p:nvSpPr>
        <p:spPr>
          <a:xfrm>
            <a:off x="812800" y="2174081"/>
            <a:ext cx="5755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Calada sólida Ricardone · recorridos de cámara por calle (17 pasaron por dos)</a:t>
            </a:r>
            <a:endParaRPr lang="en-US" sz="1200" dirty="0"/>
          </a:p>
        </p:txBody>
      </p:sp>
      <p:sp>
        <p:nvSpPr>
          <p:cNvPr id="5" name="Text 3"/>
          <p:cNvSpPr/>
          <p:nvPr/>
        </p:nvSpPr>
        <p:spPr>
          <a:xfrm>
            <a:off x="812800" y="2542381"/>
            <a:ext cx="939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Calle 4</a:t>
            </a:r>
            <a:endParaRPr lang="en-US" sz="1400" dirty="0"/>
          </a:p>
        </p:txBody>
      </p:sp>
      <p:sp>
        <p:nvSpPr>
          <p:cNvPr id="6" name="Shape 4"/>
          <p:cNvSpPr/>
          <p:nvPr/>
        </p:nvSpPr>
        <p:spPr>
          <a:xfrm>
            <a:off x="1828800" y="2514402"/>
            <a:ext cx="3556000" cy="304800"/>
          </a:xfrm>
          <a:custGeom>
            <a:avLst/>
            <a:gdLst/>
            <a:ahLst/>
            <a:cxnLst/>
            <a:rect l="l" t="t" r="r" b="b"/>
            <a:pathLst>
              <a:path w="3556000" h="304800">
                <a:moveTo>
                  <a:pt x="0" y="0"/>
                </a:moveTo>
                <a:lnTo>
                  <a:pt x="3505200" y="0"/>
                </a:lnTo>
                <a:arcTo hR="50800" wR="50800" stAng="16200000" swAng="5400000"/>
                <a:lnTo>
                  <a:pt x="3556000" y="254000"/>
                </a:lnTo>
                <a:arcTo hR="50800" wR="50800" stAng="0" swAng="5400000"/>
                <a:lnTo>
                  <a:pt x="0" y="304800"/>
                </a:lnTo>
                <a:lnTo>
                  <a:pt x="0" y="0"/>
                </a:lnTo>
                <a:close/>
              </a:path>
            </a:pathLst>
          </a:custGeom>
          <a:solidFill>
            <a:srgbClr val="0B5638"/>
          </a:solidFill>
          <a:ln/>
        </p:spPr>
      </p:sp>
      <p:sp>
        <p:nvSpPr>
          <p:cNvPr id="7" name="Text 5"/>
          <p:cNvSpPr/>
          <p:nvPr/>
        </p:nvSpPr>
        <p:spPr>
          <a:xfrm>
            <a:off x="5511800" y="2542381"/>
            <a:ext cx="370880"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716</a:t>
            </a:r>
            <a:endParaRPr lang="en-US" sz="1400" dirty="0"/>
          </a:p>
        </p:txBody>
      </p:sp>
      <p:sp>
        <p:nvSpPr>
          <p:cNvPr id="8" name="Text 6"/>
          <p:cNvSpPr/>
          <p:nvPr/>
        </p:nvSpPr>
        <p:spPr>
          <a:xfrm>
            <a:off x="812800" y="2974181"/>
            <a:ext cx="939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Calle 3</a:t>
            </a:r>
            <a:endParaRPr lang="en-US" sz="1400" dirty="0"/>
          </a:p>
        </p:txBody>
      </p:sp>
      <p:sp>
        <p:nvSpPr>
          <p:cNvPr id="9" name="Shape 7"/>
          <p:cNvSpPr/>
          <p:nvPr/>
        </p:nvSpPr>
        <p:spPr>
          <a:xfrm>
            <a:off x="1828800" y="2946202"/>
            <a:ext cx="2813050" cy="304800"/>
          </a:xfrm>
          <a:custGeom>
            <a:avLst/>
            <a:gdLst/>
            <a:ahLst/>
            <a:cxnLst/>
            <a:rect l="l" t="t" r="r" b="b"/>
            <a:pathLst>
              <a:path w="2813050" h="304800">
                <a:moveTo>
                  <a:pt x="0" y="0"/>
                </a:moveTo>
                <a:lnTo>
                  <a:pt x="2762250" y="0"/>
                </a:lnTo>
                <a:arcTo hR="50800" wR="50800" stAng="16200000" swAng="5400000"/>
                <a:lnTo>
                  <a:pt x="2813050" y="254000"/>
                </a:lnTo>
                <a:arcTo hR="50800" wR="50800" stAng="0" swAng="5400000"/>
                <a:lnTo>
                  <a:pt x="0" y="304800"/>
                </a:lnTo>
                <a:lnTo>
                  <a:pt x="0" y="0"/>
                </a:lnTo>
                <a:close/>
              </a:path>
            </a:pathLst>
          </a:custGeom>
          <a:solidFill>
            <a:srgbClr val="0B5638"/>
          </a:solidFill>
          <a:ln/>
        </p:spPr>
      </p:sp>
      <p:sp>
        <p:nvSpPr>
          <p:cNvPr id="10" name="Text 8"/>
          <p:cNvSpPr/>
          <p:nvPr/>
        </p:nvSpPr>
        <p:spPr>
          <a:xfrm>
            <a:off x="4768850" y="2974181"/>
            <a:ext cx="370880"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566</a:t>
            </a:r>
            <a:endParaRPr lang="en-US" sz="1400" dirty="0"/>
          </a:p>
        </p:txBody>
      </p:sp>
      <p:sp>
        <p:nvSpPr>
          <p:cNvPr id="11" name="Text 9"/>
          <p:cNvSpPr/>
          <p:nvPr/>
        </p:nvSpPr>
        <p:spPr>
          <a:xfrm>
            <a:off x="812800" y="3405981"/>
            <a:ext cx="939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Calle 2</a:t>
            </a:r>
            <a:endParaRPr lang="en-US" sz="1400" dirty="0"/>
          </a:p>
        </p:txBody>
      </p:sp>
      <p:sp>
        <p:nvSpPr>
          <p:cNvPr id="12" name="Shape 10"/>
          <p:cNvSpPr/>
          <p:nvPr/>
        </p:nvSpPr>
        <p:spPr>
          <a:xfrm>
            <a:off x="1828800" y="3378002"/>
            <a:ext cx="552450" cy="304800"/>
          </a:xfrm>
          <a:custGeom>
            <a:avLst/>
            <a:gdLst/>
            <a:ahLst/>
            <a:cxnLst/>
            <a:rect l="l" t="t" r="r" b="b"/>
            <a:pathLst>
              <a:path w="552450" h="304800">
                <a:moveTo>
                  <a:pt x="0" y="0"/>
                </a:moveTo>
                <a:lnTo>
                  <a:pt x="501650" y="0"/>
                </a:lnTo>
                <a:arcTo hR="50800" wR="50800" stAng="16200000" swAng="5400000"/>
                <a:lnTo>
                  <a:pt x="552450" y="254000"/>
                </a:lnTo>
                <a:arcTo hR="50800" wR="50800" stAng="0" swAng="5400000"/>
                <a:lnTo>
                  <a:pt x="0" y="304800"/>
                </a:lnTo>
                <a:lnTo>
                  <a:pt x="0" y="0"/>
                </a:lnTo>
                <a:close/>
              </a:path>
            </a:pathLst>
          </a:custGeom>
          <a:solidFill>
            <a:srgbClr val="9CCBAE"/>
          </a:solidFill>
          <a:ln/>
        </p:spPr>
      </p:sp>
      <p:sp>
        <p:nvSpPr>
          <p:cNvPr id="13" name="Text 11"/>
          <p:cNvSpPr/>
          <p:nvPr/>
        </p:nvSpPr>
        <p:spPr>
          <a:xfrm>
            <a:off x="2508250" y="3405981"/>
            <a:ext cx="370880"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111</a:t>
            </a:r>
            <a:endParaRPr lang="en-US" sz="1400" dirty="0"/>
          </a:p>
        </p:txBody>
      </p:sp>
      <p:sp>
        <p:nvSpPr>
          <p:cNvPr id="14" name="Text 12"/>
          <p:cNvSpPr/>
          <p:nvPr/>
        </p:nvSpPr>
        <p:spPr>
          <a:xfrm>
            <a:off x="812800" y="3837781"/>
            <a:ext cx="939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Calle 1</a:t>
            </a:r>
            <a:endParaRPr lang="en-US" sz="1400" dirty="0"/>
          </a:p>
        </p:txBody>
      </p:sp>
      <p:sp>
        <p:nvSpPr>
          <p:cNvPr id="15" name="Shape 13"/>
          <p:cNvSpPr/>
          <p:nvPr/>
        </p:nvSpPr>
        <p:spPr>
          <a:xfrm>
            <a:off x="1828800" y="3809802"/>
            <a:ext cx="368300" cy="304800"/>
          </a:xfrm>
          <a:custGeom>
            <a:avLst/>
            <a:gdLst/>
            <a:ahLst/>
            <a:cxnLst/>
            <a:rect l="l" t="t" r="r" b="b"/>
            <a:pathLst>
              <a:path w="368300" h="304800">
                <a:moveTo>
                  <a:pt x="0" y="0"/>
                </a:moveTo>
                <a:lnTo>
                  <a:pt x="317500" y="0"/>
                </a:lnTo>
                <a:arcTo hR="50800" wR="50800" stAng="16200000" swAng="5400000"/>
                <a:lnTo>
                  <a:pt x="368300" y="254000"/>
                </a:lnTo>
                <a:arcTo hR="50800" wR="50800" stAng="0" swAng="5400000"/>
                <a:lnTo>
                  <a:pt x="0" y="304800"/>
                </a:lnTo>
                <a:lnTo>
                  <a:pt x="0" y="0"/>
                </a:lnTo>
                <a:close/>
              </a:path>
            </a:pathLst>
          </a:custGeom>
          <a:solidFill>
            <a:srgbClr val="9CCBAE"/>
          </a:solidFill>
          <a:ln/>
        </p:spPr>
      </p:sp>
      <p:sp>
        <p:nvSpPr>
          <p:cNvPr id="16" name="Text 14"/>
          <p:cNvSpPr/>
          <p:nvPr/>
        </p:nvSpPr>
        <p:spPr>
          <a:xfrm>
            <a:off x="2324100" y="3837781"/>
            <a:ext cx="264220"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74</a:t>
            </a:r>
            <a:endParaRPr lang="en-US" sz="1400" dirty="0"/>
          </a:p>
        </p:txBody>
      </p:sp>
      <p:sp>
        <p:nvSpPr>
          <p:cNvPr id="17" name="Text 15"/>
          <p:cNvSpPr/>
          <p:nvPr/>
        </p:nvSpPr>
        <p:spPr>
          <a:xfrm>
            <a:off x="812800" y="4269581"/>
            <a:ext cx="939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Calle 6</a:t>
            </a:r>
            <a:endParaRPr lang="en-US" sz="1400" dirty="0"/>
          </a:p>
        </p:txBody>
      </p:sp>
      <p:sp>
        <p:nvSpPr>
          <p:cNvPr id="18" name="Shape 16"/>
          <p:cNvSpPr/>
          <p:nvPr/>
        </p:nvSpPr>
        <p:spPr>
          <a:xfrm>
            <a:off x="1828800" y="4241602"/>
            <a:ext cx="38100" cy="304800"/>
          </a:xfrm>
          <a:custGeom>
            <a:avLst/>
            <a:gdLst/>
            <a:ahLst/>
            <a:cxnLst/>
            <a:rect l="l" t="t" r="r" b="b"/>
            <a:pathLst>
              <a:path w="38100" h="304800">
                <a:moveTo>
                  <a:pt x="0" y="0"/>
                </a:moveTo>
                <a:lnTo>
                  <a:pt x="0" y="0"/>
                </a:lnTo>
                <a:arcTo hR="38100" wR="38100" stAng="16200000" swAng="5400000"/>
                <a:lnTo>
                  <a:pt x="38100" y="266700"/>
                </a:lnTo>
                <a:arcTo hR="38100" wR="38100" stAng="0" swAng="5400000"/>
                <a:lnTo>
                  <a:pt x="0" y="304800"/>
                </a:lnTo>
                <a:lnTo>
                  <a:pt x="0" y="0"/>
                </a:lnTo>
                <a:close/>
              </a:path>
            </a:pathLst>
          </a:custGeom>
          <a:solidFill>
            <a:srgbClr val="DCEDE1"/>
          </a:solidFill>
          <a:ln/>
        </p:spPr>
      </p:sp>
      <p:sp>
        <p:nvSpPr>
          <p:cNvPr id="19" name="Text 17"/>
          <p:cNvSpPr/>
          <p:nvPr/>
        </p:nvSpPr>
        <p:spPr>
          <a:xfrm>
            <a:off x="1993900" y="4269581"/>
            <a:ext cx="157559"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5</a:t>
            </a:r>
            <a:endParaRPr lang="en-US" sz="1400" dirty="0"/>
          </a:p>
        </p:txBody>
      </p:sp>
      <p:sp>
        <p:nvSpPr>
          <p:cNvPr id="20" name="Text 18"/>
          <p:cNvSpPr/>
          <p:nvPr/>
        </p:nvSpPr>
        <p:spPr>
          <a:xfrm>
            <a:off x="812800" y="4701381"/>
            <a:ext cx="939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Calle 5</a:t>
            </a:r>
            <a:endParaRPr lang="en-US" sz="1400" dirty="0"/>
          </a:p>
        </p:txBody>
      </p:sp>
      <p:sp>
        <p:nvSpPr>
          <p:cNvPr id="21" name="Shape 19"/>
          <p:cNvSpPr/>
          <p:nvPr/>
        </p:nvSpPr>
        <p:spPr>
          <a:xfrm>
            <a:off x="1828800" y="4673402"/>
            <a:ext cx="38100" cy="304800"/>
          </a:xfrm>
          <a:custGeom>
            <a:avLst/>
            <a:gdLst/>
            <a:ahLst/>
            <a:cxnLst/>
            <a:rect l="l" t="t" r="r" b="b"/>
            <a:pathLst>
              <a:path w="38100" h="304800">
                <a:moveTo>
                  <a:pt x="0" y="0"/>
                </a:moveTo>
                <a:lnTo>
                  <a:pt x="0" y="0"/>
                </a:lnTo>
                <a:arcTo hR="38100" wR="38100" stAng="16200000" swAng="5400000"/>
                <a:lnTo>
                  <a:pt x="38100" y="266700"/>
                </a:lnTo>
                <a:arcTo hR="38100" wR="38100" stAng="0" swAng="5400000"/>
                <a:lnTo>
                  <a:pt x="0" y="304800"/>
                </a:lnTo>
                <a:lnTo>
                  <a:pt x="0" y="0"/>
                </a:lnTo>
                <a:close/>
              </a:path>
            </a:pathLst>
          </a:custGeom>
          <a:solidFill>
            <a:srgbClr val="DCEDE1"/>
          </a:solidFill>
          <a:ln/>
        </p:spPr>
      </p:sp>
      <p:sp>
        <p:nvSpPr>
          <p:cNvPr id="22" name="Text 20"/>
          <p:cNvSpPr/>
          <p:nvPr/>
        </p:nvSpPr>
        <p:spPr>
          <a:xfrm>
            <a:off x="1993900" y="4701381"/>
            <a:ext cx="157559"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0</a:t>
            </a:r>
            <a:endParaRPr lang="en-US" sz="1400" dirty="0"/>
          </a:p>
        </p:txBody>
      </p:sp>
      <p:sp>
        <p:nvSpPr>
          <p:cNvPr id="23" name="Text 21"/>
          <p:cNvSpPr/>
          <p:nvPr/>
        </p:nvSpPr>
        <p:spPr>
          <a:xfrm>
            <a:off x="6756400" y="2174081"/>
            <a:ext cx="47614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Horas con actividad, sobre 168</a:t>
            </a:r>
            <a:endParaRPr lang="en-US" sz="1200" dirty="0"/>
          </a:p>
        </p:txBody>
      </p:sp>
      <p:sp>
        <p:nvSpPr>
          <p:cNvPr id="24" name="Shape 22"/>
          <p:cNvSpPr/>
          <p:nvPr/>
        </p:nvSpPr>
        <p:spPr>
          <a:xfrm>
            <a:off x="6759575" y="2517577"/>
            <a:ext cx="4616450" cy="666651"/>
          </a:xfrm>
          <a:prstGeom prst="roundRect">
            <a:avLst>
              <a:gd name="adj" fmla="val 10954"/>
            </a:avLst>
          </a:prstGeom>
          <a:solidFill>
            <a:srgbClr val="FCFDFB"/>
          </a:solidFill>
          <a:ln w="6350">
            <a:solidFill>
              <a:srgbClr val="D3E2D7"/>
            </a:solidFill>
            <a:prstDash val="solid"/>
          </a:ln>
        </p:spPr>
      </p:sp>
      <p:sp>
        <p:nvSpPr>
          <p:cNvPr id="25" name="Text 23"/>
          <p:cNvSpPr/>
          <p:nvPr/>
        </p:nvSpPr>
        <p:spPr>
          <a:xfrm>
            <a:off x="6915150" y="2622352"/>
            <a:ext cx="183348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Ricardone sólida</a:t>
            </a:r>
            <a:endParaRPr lang="en-US" sz="1300" dirty="0"/>
          </a:p>
        </p:txBody>
      </p:sp>
      <p:sp>
        <p:nvSpPr>
          <p:cNvPr id="26" name="Text 24"/>
          <p:cNvSpPr/>
          <p:nvPr/>
        </p:nvSpPr>
        <p:spPr>
          <a:xfrm>
            <a:off x="6915150" y="2866132"/>
            <a:ext cx="2136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1.455 recorridos en 146 h</a:t>
            </a:r>
            <a:endParaRPr lang="en-US" sz="1200" dirty="0"/>
          </a:p>
        </p:txBody>
      </p:sp>
      <p:sp>
        <p:nvSpPr>
          <p:cNvPr id="27" name="Text 25"/>
          <p:cNvSpPr/>
          <p:nvPr/>
        </p:nvSpPr>
        <p:spPr>
          <a:xfrm>
            <a:off x="10417016" y="2655292"/>
            <a:ext cx="803434" cy="41652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0B5638"/>
                </a:solidFill>
                <a:latin typeface="IBM Plex Sans" pitchFamily="34" charset="0"/>
                <a:ea typeface="IBM Plex Sans" pitchFamily="34" charset="-122"/>
                <a:cs typeface="IBM Plex Sans" pitchFamily="34" charset="-120"/>
              </a:rPr>
              <a:t>87 %</a:t>
            </a:r>
            <a:endParaRPr lang="en-US" sz="2200" dirty="0"/>
          </a:p>
        </p:txBody>
      </p:sp>
      <p:sp>
        <p:nvSpPr>
          <p:cNvPr id="28" name="Shape 26"/>
          <p:cNvSpPr/>
          <p:nvPr/>
        </p:nvSpPr>
        <p:spPr>
          <a:xfrm>
            <a:off x="6759575" y="3292177"/>
            <a:ext cx="4616450" cy="666651"/>
          </a:xfrm>
          <a:prstGeom prst="roundRect">
            <a:avLst>
              <a:gd name="adj" fmla="val 10954"/>
            </a:avLst>
          </a:prstGeom>
          <a:solidFill>
            <a:srgbClr val="FCFDFB"/>
          </a:solidFill>
          <a:ln w="6350">
            <a:solidFill>
              <a:srgbClr val="D3E2D7"/>
            </a:solidFill>
            <a:prstDash val="solid"/>
          </a:ln>
        </p:spPr>
      </p:sp>
      <p:sp>
        <p:nvSpPr>
          <p:cNvPr id="29" name="Text 27"/>
          <p:cNvSpPr/>
          <p:nvPr/>
        </p:nvSpPr>
        <p:spPr>
          <a:xfrm>
            <a:off x="6915150" y="3396952"/>
            <a:ext cx="169803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Ricardone líquida</a:t>
            </a:r>
            <a:endParaRPr lang="en-US" sz="1300" dirty="0"/>
          </a:p>
        </p:txBody>
      </p:sp>
      <p:sp>
        <p:nvSpPr>
          <p:cNvPr id="30" name="Text 28"/>
          <p:cNvSpPr/>
          <p:nvPr/>
        </p:nvSpPr>
        <p:spPr>
          <a:xfrm>
            <a:off x="6915150" y="3640733"/>
            <a:ext cx="19766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562 recorridos en 121 h</a:t>
            </a:r>
            <a:endParaRPr lang="en-US" sz="1200" dirty="0"/>
          </a:p>
        </p:txBody>
      </p:sp>
      <p:sp>
        <p:nvSpPr>
          <p:cNvPr id="31" name="Text 29"/>
          <p:cNvSpPr/>
          <p:nvPr/>
        </p:nvSpPr>
        <p:spPr>
          <a:xfrm>
            <a:off x="10417016" y="3429893"/>
            <a:ext cx="803434" cy="41652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6B55A3"/>
                </a:solidFill>
                <a:latin typeface="IBM Plex Sans" pitchFamily="34" charset="0"/>
                <a:ea typeface="IBM Plex Sans" pitchFamily="34" charset="-122"/>
                <a:cs typeface="IBM Plex Sans" pitchFamily="34" charset="-120"/>
              </a:rPr>
              <a:t>72 %</a:t>
            </a:r>
            <a:endParaRPr lang="en-US" sz="2200" dirty="0"/>
          </a:p>
        </p:txBody>
      </p:sp>
      <p:sp>
        <p:nvSpPr>
          <p:cNvPr id="32" name="Shape 30"/>
          <p:cNvSpPr/>
          <p:nvPr/>
        </p:nvSpPr>
        <p:spPr>
          <a:xfrm>
            <a:off x="6759575" y="4066778"/>
            <a:ext cx="4616450" cy="666651"/>
          </a:xfrm>
          <a:prstGeom prst="roundRect">
            <a:avLst>
              <a:gd name="adj" fmla="val 10954"/>
            </a:avLst>
          </a:prstGeom>
          <a:solidFill>
            <a:srgbClr val="FCFDFB"/>
          </a:solidFill>
          <a:ln w="6350">
            <a:solidFill>
              <a:srgbClr val="D3E2D7"/>
            </a:solidFill>
            <a:prstDash val="solid"/>
          </a:ln>
        </p:spPr>
      </p:sp>
      <p:sp>
        <p:nvSpPr>
          <p:cNvPr id="33" name="Text 31"/>
          <p:cNvSpPr/>
          <p:nvPr/>
        </p:nvSpPr>
        <p:spPr>
          <a:xfrm>
            <a:off x="6915150" y="4171553"/>
            <a:ext cx="16065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San Lorenzo</a:t>
            </a:r>
            <a:endParaRPr lang="en-US" sz="1300" dirty="0"/>
          </a:p>
        </p:txBody>
      </p:sp>
      <p:sp>
        <p:nvSpPr>
          <p:cNvPr id="34" name="Text 32"/>
          <p:cNvSpPr/>
          <p:nvPr/>
        </p:nvSpPr>
        <p:spPr>
          <a:xfrm>
            <a:off x="6915150" y="4415334"/>
            <a:ext cx="1866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215 recorridos en 74 h</a:t>
            </a:r>
            <a:endParaRPr lang="en-US" sz="1200" dirty="0"/>
          </a:p>
        </p:txBody>
      </p:sp>
      <p:sp>
        <p:nvSpPr>
          <p:cNvPr id="35" name="Text 33"/>
          <p:cNvSpPr/>
          <p:nvPr/>
        </p:nvSpPr>
        <p:spPr>
          <a:xfrm>
            <a:off x="10417016" y="4204494"/>
            <a:ext cx="803434" cy="41652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6B55A3"/>
                </a:solidFill>
                <a:latin typeface="IBM Plex Sans" pitchFamily="34" charset="0"/>
                <a:ea typeface="IBM Plex Sans" pitchFamily="34" charset="-122"/>
                <a:cs typeface="IBM Plex Sans" pitchFamily="34" charset="-120"/>
              </a:rPr>
              <a:t>44 %</a:t>
            </a:r>
            <a:endParaRPr lang="en-US" sz="2200" dirty="0"/>
          </a:p>
        </p:txBody>
      </p:sp>
      <p:sp>
        <p:nvSpPr>
          <p:cNvPr id="36" name="Shape 34"/>
          <p:cNvSpPr/>
          <p:nvPr/>
        </p:nvSpPr>
        <p:spPr>
          <a:xfrm>
            <a:off x="831850" y="5329039"/>
            <a:ext cx="0" cy="512961"/>
          </a:xfrm>
          <a:prstGeom prst="line">
            <a:avLst/>
          </a:prstGeom>
          <a:noFill/>
          <a:ln w="38100">
            <a:solidFill>
              <a:srgbClr val="3A8F63"/>
            </a:solidFill>
            <a:prstDash val="solid"/>
          </a:ln>
        </p:spPr>
      </p:sp>
      <p:sp>
        <p:nvSpPr>
          <p:cNvPr id="37" name="Text 35"/>
          <p:cNvSpPr/>
          <p:nvPr/>
        </p:nvSpPr>
        <p:spPr>
          <a:xfrm>
            <a:off x="977900" y="5354439"/>
            <a:ext cx="10713339"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Activa más horas que la semana anterior (146 contra 139) con 25 % menos recorridos (1.455 contra 1.935). Las calles 1 y 2 abrieron solo lunes y martes; la calada líquida casi duplicó sus recorridos con el transile de toda la semana.</a:t>
            </a:r>
            <a:endParaRPr lang="en-US" sz="1300" dirty="0"/>
          </a:p>
        </p:txBody>
      </p:sp>
      <p:pic>
        <p:nvPicPr>
          <p:cNvPr id="38"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39" name="Text 36"/>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24</a:t>
            </a:r>
            <a:endParaRPr lang="en-US" sz="1200" dirty="0"/>
          </a:p>
        </p:txBody>
      </p:sp>
      <p:pic>
        <p:nvPicPr>
          <p:cNvPr id="4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09315"/>
            <a:ext cx="2919115" cy="289520"/>
          </a:xfrm>
          <a:custGeom>
            <a:avLst/>
            <a:gdLst/>
            <a:ahLst/>
            <a:cxnLst/>
            <a:rect l="l" t="t" r="r" b="b"/>
            <a:pathLst>
              <a:path w="2919115" h="289520">
                <a:moveTo>
                  <a:pt x="144760" y="0"/>
                </a:moveTo>
                <a:lnTo>
                  <a:pt x="2774355" y="0"/>
                </a:lnTo>
                <a:arcTo hR="144760" wR="144760" stAng="16200000" swAng="5400000"/>
                <a:lnTo>
                  <a:pt x="2919115"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SECTORES · VOLCABLES PUERTO</a:t>
            </a:r>
            <a:endParaRPr lang="en-US" sz="1200" dirty="0"/>
          </a:p>
        </p:txBody>
      </p:sp>
      <p:sp>
        <p:nvSpPr>
          <p:cNvPr id="3" name="Text 1"/>
          <p:cNvSpPr/>
          <p:nvPr>
            <p:ph type="title"/>
          </p:nvPr>
        </p:nvSpPr>
        <p:spPr>
          <a:xfrm>
            <a:off x="812800" y="1098451"/>
            <a:ext cx="10883392" cy="466229"/>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4281E"/>
                </a:solidFill>
                <a:latin typeface="IBM Plex Sans" pitchFamily="34" charset="0"/>
                <a:ea typeface="IBM Plex Sans" pitchFamily="34" charset="-122"/>
                <a:cs typeface="IBM Plex Sans" pitchFamily="34" charset="-120"/>
              </a:rPr>
              <a:t>La volcable 5 sostuvo la semana</a:t>
            </a:r>
            <a:endParaRPr lang="en-US" sz="3150" dirty="0"/>
          </a:p>
        </p:txBody>
      </p:sp>
      <p:sp>
        <p:nvSpPr>
          <p:cNvPr id="4" name="Text 2"/>
          <p:cNvSpPr/>
          <p:nvPr/>
        </p:nvSpPr>
        <p:spPr>
          <a:xfrm>
            <a:off x="1473200" y="1715393"/>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Camiones en la semana</a:t>
            </a:r>
            <a:endParaRPr lang="en-US" sz="1200" dirty="0"/>
          </a:p>
        </p:txBody>
      </p:sp>
      <p:sp>
        <p:nvSpPr>
          <p:cNvPr id="5" name="Text 3"/>
          <p:cNvSpPr/>
          <p:nvPr/>
        </p:nvSpPr>
        <p:spPr>
          <a:xfrm>
            <a:off x="6426200" y="1715393"/>
            <a:ext cx="406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Ju</a:t>
            </a:r>
            <a:endParaRPr lang="en-US" sz="1200" dirty="0"/>
          </a:p>
        </p:txBody>
      </p:sp>
      <p:sp>
        <p:nvSpPr>
          <p:cNvPr id="6" name="Text 4"/>
          <p:cNvSpPr/>
          <p:nvPr/>
        </p:nvSpPr>
        <p:spPr>
          <a:xfrm>
            <a:off x="6934200" y="1715393"/>
            <a:ext cx="406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Vi</a:t>
            </a:r>
            <a:endParaRPr lang="en-US" sz="1200" dirty="0"/>
          </a:p>
        </p:txBody>
      </p:sp>
      <p:sp>
        <p:nvSpPr>
          <p:cNvPr id="7" name="Text 5"/>
          <p:cNvSpPr/>
          <p:nvPr/>
        </p:nvSpPr>
        <p:spPr>
          <a:xfrm>
            <a:off x="7442200" y="1715393"/>
            <a:ext cx="406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Sá</a:t>
            </a:r>
            <a:endParaRPr lang="en-US" sz="1200" dirty="0"/>
          </a:p>
        </p:txBody>
      </p:sp>
      <p:sp>
        <p:nvSpPr>
          <p:cNvPr id="8" name="Text 6"/>
          <p:cNvSpPr/>
          <p:nvPr/>
        </p:nvSpPr>
        <p:spPr>
          <a:xfrm>
            <a:off x="7950200" y="1715393"/>
            <a:ext cx="406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Do</a:t>
            </a:r>
            <a:endParaRPr lang="en-US" sz="1200" dirty="0"/>
          </a:p>
        </p:txBody>
      </p:sp>
      <p:sp>
        <p:nvSpPr>
          <p:cNvPr id="9" name="Text 7"/>
          <p:cNvSpPr/>
          <p:nvPr/>
        </p:nvSpPr>
        <p:spPr>
          <a:xfrm>
            <a:off x="8458200" y="1715393"/>
            <a:ext cx="406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Lu</a:t>
            </a:r>
            <a:endParaRPr lang="en-US" sz="1200" dirty="0"/>
          </a:p>
        </p:txBody>
      </p:sp>
      <p:sp>
        <p:nvSpPr>
          <p:cNvPr id="10" name="Text 8"/>
          <p:cNvSpPr/>
          <p:nvPr/>
        </p:nvSpPr>
        <p:spPr>
          <a:xfrm>
            <a:off x="8966200" y="1715393"/>
            <a:ext cx="406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Ma</a:t>
            </a:r>
            <a:endParaRPr lang="en-US" sz="1200" dirty="0"/>
          </a:p>
        </p:txBody>
      </p:sp>
      <p:sp>
        <p:nvSpPr>
          <p:cNvPr id="11" name="Text 9"/>
          <p:cNvSpPr/>
          <p:nvPr/>
        </p:nvSpPr>
        <p:spPr>
          <a:xfrm>
            <a:off x="9474200" y="1715393"/>
            <a:ext cx="406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Mi</a:t>
            </a:r>
            <a:endParaRPr lang="en-US" sz="1200" dirty="0"/>
          </a:p>
        </p:txBody>
      </p:sp>
      <p:sp>
        <p:nvSpPr>
          <p:cNvPr id="12" name="Text 10"/>
          <p:cNvSpPr/>
          <p:nvPr/>
        </p:nvSpPr>
        <p:spPr>
          <a:xfrm>
            <a:off x="9956800" y="1715393"/>
            <a:ext cx="14224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Días</a:t>
            </a:r>
            <a:endParaRPr lang="en-US" sz="1200" dirty="0"/>
          </a:p>
        </p:txBody>
      </p:sp>
      <p:sp>
        <p:nvSpPr>
          <p:cNvPr id="13" name="Text 11"/>
          <p:cNvSpPr/>
          <p:nvPr/>
        </p:nvSpPr>
        <p:spPr>
          <a:xfrm>
            <a:off x="812800" y="2086769"/>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81E"/>
                </a:solidFill>
                <a:latin typeface="IBM Plex Sans" pitchFamily="34" charset="0"/>
                <a:ea typeface="IBM Plex Sans" pitchFamily="34" charset="-122"/>
                <a:cs typeface="IBM Plex Sans" pitchFamily="34" charset="-120"/>
              </a:rPr>
              <a:t>V5</a:t>
            </a:r>
            <a:endParaRPr lang="en-US" sz="1600" dirty="0"/>
          </a:p>
        </p:txBody>
      </p:sp>
      <p:sp>
        <p:nvSpPr>
          <p:cNvPr id="14" name="Shape 12"/>
          <p:cNvSpPr/>
          <p:nvPr/>
        </p:nvSpPr>
        <p:spPr>
          <a:xfrm>
            <a:off x="1473200" y="2051248"/>
            <a:ext cx="3556000" cy="355600"/>
          </a:xfrm>
          <a:custGeom>
            <a:avLst/>
            <a:gdLst/>
            <a:ahLst/>
            <a:cxnLst/>
            <a:rect l="l" t="t" r="r" b="b"/>
            <a:pathLst>
              <a:path w="3556000" h="355600">
                <a:moveTo>
                  <a:pt x="0" y="0"/>
                </a:moveTo>
                <a:lnTo>
                  <a:pt x="3505200" y="0"/>
                </a:lnTo>
                <a:arcTo hR="50800" wR="50800" stAng="16200000" swAng="5400000"/>
                <a:lnTo>
                  <a:pt x="3556000" y="304800"/>
                </a:lnTo>
                <a:arcTo hR="50800" wR="50800" stAng="0" swAng="5400000"/>
                <a:lnTo>
                  <a:pt x="0" y="355600"/>
                </a:lnTo>
                <a:lnTo>
                  <a:pt x="0" y="0"/>
                </a:lnTo>
                <a:close/>
              </a:path>
            </a:pathLst>
          </a:custGeom>
          <a:solidFill>
            <a:srgbClr val="2E1B4E"/>
          </a:solidFill>
          <a:ln/>
        </p:spPr>
      </p:sp>
      <p:sp>
        <p:nvSpPr>
          <p:cNvPr id="15" name="Text 13"/>
          <p:cNvSpPr/>
          <p:nvPr/>
        </p:nvSpPr>
        <p:spPr>
          <a:xfrm>
            <a:off x="5130800" y="2095698"/>
            <a:ext cx="1006574"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2E1B4E"/>
                </a:solidFill>
                <a:latin typeface="IBM Plex Sans" pitchFamily="34" charset="0"/>
                <a:ea typeface="IBM Plex Sans" pitchFamily="34" charset="-122"/>
                <a:cs typeface="IBM Plex Sans" pitchFamily="34" charset="-120"/>
              </a:rPr>
              <a:t>481 · 53 %</a:t>
            </a:r>
            <a:endParaRPr lang="en-US" sz="1500" dirty="0"/>
          </a:p>
        </p:txBody>
      </p:sp>
      <p:sp>
        <p:nvSpPr>
          <p:cNvPr id="16" name="Shape 14"/>
          <p:cNvSpPr/>
          <p:nvPr/>
        </p:nvSpPr>
        <p:spPr>
          <a:xfrm>
            <a:off x="6451600" y="2051248"/>
            <a:ext cx="355600" cy="355600"/>
          </a:xfrm>
          <a:prstGeom prst="roundRect">
            <a:avLst>
              <a:gd name="adj" fmla="val 21429"/>
            </a:avLst>
          </a:prstGeom>
          <a:solidFill>
            <a:srgbClr val="2E1B4E"/>
          </a:solidFill>
          <a:ln/>
        </p:spPr>
      </p:sp>
      <p:sp>
        <p:nvSpPr>
          <p:cNvPr id="17" name="Shape 15"/>
          <p:cNvSpPr/>
          <p:nvPr/>
        </p:nvSpPr>
        <p:spPr>
          <a:xfrm>
            <a:off x="6959600" y="2051248"/>
            <a:ext cx="355600" cy="355600"/>
          </a:xfrm>
          <a:prstGeom prst="roundRect">
            <a:avLst>
              <a:gd name="adj" fmla="val 21429"/>
            </a:avLst>
          </a:prstGeom>
          <a:solidFill>
            <a:srgbClr val="2E1B4E"/>
          </a:solidFill>
          <a:ln/>
        </p:spPr>
      </p:sp>
      <p:sp>
        <p:nvSpPr>
          <p:cNvPr id="18" name="Shape 16"/>
          <p:cNvSpPr/>
          <p:nvPr/>
        </p:nvSpPr>
        <p:spPr>
          <a:xfrm>
            <a:off x="7467600" y="2051248"/>
            <a:ext cx="355600" cy="355600"/>
          </a:xfrm>
          <a:prstGeom prst="roundRect">
            <a:avLst>
              <a:gd name="adj" fmla="val 21429"/>
            </a:avLst>
          </a:prstGeom>
          <a:solidFill>
            <a:srgbClr val="2E1B4E"/>
          </a:solidFill>
          <a:ln/>
        </p:spPr>
      </p:sp>
      <p:sp>
        <p:nvSpPr>
          <p:cNvPr id="19" name="Shape 17"/>
          <p:cNvSpPr/>
          <p:nvPr/>
        </p:nvSpPr>
        <p:spPr>
          <a:xfrm>
            <a:off x="7975600" y="2051248"/>
            <a:ext cx="355600" cy="355600"/>
          </a:xfrm>
          <a:prstGeom prst="roundRect">
            <a:avLst>
              <a:gd name="adj" fmla="val 21429"/>
            </a:avLst>
          </a:prstGeom>
          <a:solidFill>
            <a:srgbClr val="2E1B4E"/>
          </a:solidFill>
          <a:ln/>
        </p:spPr>
      </p:sp>
      <p:sp>
        <p:nvSpPr>
          <p:cNvPr id="20" name="Shape 18"/>
          <p:cNvSpPr/>
          <p:nvPr/>
        </p:nvSpPr>
        <p:spPr>
          <a:xfrm>
            <a:off x="8483600" y="2051248"/>
            <a:ext cx="355600" cy="355600"/>
          </a:xfrm>
          <a:prstGeom prst="roundRect">
            <a:avLst>
              <a:gd name="adj" fmla="val 21429"/>
            </a:avLst>
          </a:prstGeom>
          <a:solidFill>
            <a:srgbClr val="2E1B4E"/>
          </a:solidFill>
          <a:ln/>
        </p:spPr>
      </p:sp>
      <p:sp>
        <p:nvSpPr>
          <p:cNvPr id="21" name="Shape 19"/>
          <p:cNvSpPr/>
          <p:nvPr/>
        </p:nvSpPr>
        <p:spPr>
          <a:xfrm>
            <a:off x="8991600" y="2051248"/>
            <a:ext cx="355600" cy="355600"/>
          </a:xfrm>
          <a:prstGeom prst="roundRect">
            <a:avLst>
              <a:gd name="adj" fmla="val 21429"/>
            </a:avLst>
          </a:prstGeom>
          <a:solidFill>
            <a:srgbClr val="2E1B4E"/>
          </a:solidFill>
          <a:ln/>
        </p:spPr>
      </p:sp>
      <p:sp>
        <p:nvSpPr>
          <p:cNvPr id="22" name="Shape 20"/>
          <p:cNvSpPr/>
          <p:nvPr/>
        </p:nvSpPr>
        <p:spPr>
          <a:xfrm>
            <a:off x="9499600" y="2051248"/>
            <a:ext cx="355600" cy="355600"/>
          </a:xfrm>
          <a:prstGeom prst="roundRect">
            <a:avLst>
              <a:gd name="adj" fmla="val 21429"/>
            </a:avLst>
          </a:prstGeom>
          <a:solidFill>
            <a:srgbClr val="2E1B4E"/>
          </a:solidFill>
          <a:ln/>
        </p:spPr>
      </p:sp>
      <p:sp>
        <p:nvSpPr>
          <p:cNvPr id="23" name="Text 21"/>
          <p:cNvSpPr/>
          <p:nvPr/>
        </p:nvSpPr>
        <p:spPr>
          <a:xfrm>
            <a:off x="9956800" y="2086769"/>
            <a:ext cx="14224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2E1B4E"/>
                </a:solidFill>
                <a:latin typeface="IBM Plex Sans" pitchFamily="34" charset="0"/>
                <a:ea typeface="IBM Plex Sans" pitchFamily="34" charset="-122"/>
                <a:cs typeface="IBM Plex Sans" pitchFamily="34" charset="-120"/>
              </a:rPr>
              <a:t>7</a:t>
            </a:r>
            <a:endParaRPr lang="en-US" sz="1600" dirty="0"/>
          </a:p>
        </p:txBody>
      </p:sp>
      <p:sp>
        <p:nvSpPr>
          <p:cNvPr id="24" name="Text 22"/>
          <p:cNvSpPr/>
          <p:nvPr/>
        </p:nvSpPr>
        <p:spPr>
          <a:xfrm>
            <a:off x="812800" y="2563813"/>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81E"/>
                </a:solidFill>
                <a:latin typeface="IBM Plex Sans" pitchFamily="34" charset="0"/>
                <a:ea typeface="IBM Plex Sans" pitchFamily="34" charset="-122"/>
                <a:cs typeface="IBM Plex Sans" pitchFamily="34" charset="-120"/>
              </a:rPr>
              <a:t>V3</a:t>
            </a:r>
            <a:endParaRPr lang="en-US" sz="1600" dirty="0"/>
          </a:p>
        </p:txBody>
      </p:sp>
      <p:sp>
        <p:nvSpPr>
          <p:cNvPr id="25" name="Shape 23"/>
          <p:cNvSpPr/>
          <p:nvPr/>
        </p:nvSpPr>
        <p:spPr>
          <a:xfrm>
            <a:off x="1473200" y="2528292"/>
            <a:ext cx="1428750" cy="355600"/>
          </a:xfrm>
          <a:custGeom>
            <a:avLst/>
            <a:gdLst/>
            <a:ahLst/>
            <a:cxnLst/>
            <a:rect l="l" t="t" r="r" b="b"/>
            <a:pathLst>
              <a:path w="1428750" h="355600">
                <a:moveTo>
                  <a:pt x="0" y="0"/>
                </a:moveTo>
                <a:lnTo>
                  <a:pt x="1377950" y="0"/>
                </a:lnTo>
                <a:arcTo hR="50800" wR="50800" stAng="16200000" swAng="5400000"/>
                <a:lnTo>
                  <a:pt x="1428750" y="304800"/>
                </a:lnTo>
                <a:arcTo hR="50800" wR="50800" stAng="0" swAng="5400000"/>
                <a:lnTo>
                  <a:pt x="0" y="355600"/>
                </a:lnTo>
                <a:lnTo>
                  <a:pt x="0" y="0"/>
                </a:lnTo>
                <a:close/>
              </a:path>
            </a:pathLst>
          </a:custGeom>
          <a:solidFill>
            <a:srgbClr val="3A8F63"/>
          </a:solidFill>
          <a:ln/>
        </p:spPr>
      </p:sp>
      <p:sp>
        <p:nvSpPr>
          <p:cNvPr id="26" name="Text 24"/>
          <p:cNvSpPr/>
          <p:nvPr/>
        </p:nvSpPr>
        <p:spPr>
          <a:xfrm>
            <a:off x="3003550" y="2572742"/>
            <a:ext cx="1006574"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193 · 21 %</a:t>
            </a:r>
            <a:endParaRPr lang="en-US" sz="1500" dirty="0"/>
          </a:p>
        </p:txBody>
      </p:sp>
      <p:sp>
        <p:nvSpPr>
          <p:cNvPr id="27" name="Shape 25"/>
          <p:cNvSpPr/>
          <p:nvPr/>
        </p:nvSpPr>
        <p:spPr>
          <a:xfrm>
            <a:off x="6451600" y="2528292"/>
            <a:ext cx="355600" cy="355600"/>
          </a:xfrm>
          <a:prstGeom prst="roundRect">
            <a:avLst>
              <a:gd name="adj" fmla="val 21429"/>
            </a:avLst>
          </a:prstGeom>
          <a:solidFill>
            <a:srgbClr val="3A8F63"/>
          </a:solidFill>
          <a:ln/>
        </p:spPr>
      </p:sp>
      <p:sp>
        <p:nvSpPr>
          <p:cNvPr id="28" name="Shape 26"/>
          <p:cNvSpPr/>
          <p:nvPr/>
        </p:nvSpPr>
        <p:spPr>
          <a:xfrm>
            <a:off x="6959600" y="2528292"/>
            <a:ext cx="355600" cy="355600"/>
          </a:xfrm>
          <a:prstGeom prst="roundRect">
            <a:avLst>
              <a:gd name="adj" fmla="val 21429"/>
            </a:avLst>
          </a:prstGeom>
          <a:solidFill>
            <a:srgbClr val="3A8F63"/>
          </a:solidFill>
          <a:ln/>
        </p:spPr>
      </p:sp>
      <p:sp>
        <p:nvSpPr>
          <p:cNvPr id="29" name="Shape 27"/>
          <p:cNvSpPr/>
          <p:nvPr/>
        </p:nvSpPr>
        <p:spPr>
          <a:xfrm>
            <a:off x="7467600" y="2528292"/>
            <a:ext cx="355600" cy="355600"/>
          </a:xfrm>
          <a:prstGeom prst="roundRect">
            <a:avLst>
              <a:gd name="adj" fmla="val 21429"/>
            </a:avLst>
          </a:prstGeom>
          <a:solidFill>
            <a:srgbClr val="3A8F63"/>
          </a:solidFill>
          <a:ln/>
        </p:spPr>
      </p:sp>
      <p:sp>
        <p:nvSpPr>
          <p:cNvPr id="30" name="Shape 28"/>
          <p:cNvSpPr/>
          <p:nvPr/>
        </p:nvSpPr>
        <p:spPr>
          <a:xfrm>
            <a:off x="7985125" y="2537817"/>
            <a:ext cx="336550" cy="336550"/>
          </a:xfrm>
          <a:prstGeom prst="roundRect">
            <a:avLst>
              <a:gd name="adj" fmla="val 19811"/>
            </a:avLst>
          </a:prstGeom>
          <a:noFill/>
          <a:ln w="19050">
            <a:solidFill>
              <a:srgbClr val="D3E2D7"/>
            </a:solidFill>
            <a:prstDash val="dash"/>
          </a:ln>
        </p:spPr>
      </p:sp>
      <p:sp>
        <p:nvSpPr>
          <p:cNvPr id="31" name="Shape 29"/>
          <p:cNvSpPr/>
          <p:nvPr/>
        </p:nvSpPr>
        <p:spPr>
          <a:xfrm>
            <a:off x="8483600" y="2528292"/>
            <a:ext cx="355600" cy="355600"/>
          </a:xfrm>
          <a:prstGeom prst="roundRect">
            <a:avLst>
              <a:gd name="adj" fmla="val 21429"/>
            </a:avLst>
          </a:prstGeom>
          <a:solidFill>
            <a:srgbClr val="3A8F63"/>
          </a:solidFill>
          <a:ln/>
        </p:spPr>
      </p:sp>
      <p:sp>
        <p:nvSpPr>
          <p:cNvPr id="32" name="Shape 30"/>
          <p:cNvSpPr/>
          <p:nvPr/>
        </p:nvSpPr>
        <p:spPr>
          <a:xfrm>
            <a:off x="8991600" y="2528292"/>
            <a:ext cx="355600" cy="355600"/>
          </a:xfrm>
          <a:prstGeom prst="roundRect">
            <a:avLst>
              <a:gd name="adj" fmla="val 21429"/>
            </a:avLst>
          </a:prstGeom>
          <a:solidFill>
            <a:srgbClr val="3A8F63"/>
          </a:solidFill>
          <a:ln/>
        </p:spPr>
      </p:sp>
      <p:sp>
        <p:nvSpPr>
          <p:cNvPr id="33" name="Shape 31"/>
          <p:cNvSpPr/>
          <p:nvPr/>
        </p:nvSpPr>
        <p:spPr>
          <a:xfrm>
            <a:off x="9509125" y="2537817"/>
            <a:ext cx="336550" cy="336550"/>
          </a:xfrm>
          <a:prstGeom prst="roundRect">
            <a:avLst>
              <a:gd name="adj" fmla="val 19811"/>
            </a:avLst>
          </a:prstGeom>
          <a:noFill/>
          <a:ln w="19050">
            <a:solidFill>
              <a:srgbClr val="D3E2D7"/>
            </a:solidFill>
            <a:prstDash val="dash"/>
          </a:ln>
        </p:spPr>
      </p:sp>
      <p:sp>
        <p:nvSpPr>
          <p:cNvPr id="34" name="Text 32"/>
          <p:cNvSpPr/>
          <p:nvPr/>
        </p:nvSpPr>
        <p:spPr>
          <a:xfrm>
            <a:off x="9956800" y="2563813"/>
            <a:ext cx="14224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4281E"/>
                </a:solidFill>
                <a:latin typeface="IBM Plex Sans" pitchFamily="34" charset="0"/>
                <a:ea typeface="IBM Plex Sans" pitchFamily="34" charset="-122"/>
                <a:cs typeface="IBM Plex Sans" pitchFamily="34" charset="-120"/>
              </a:rPr>
              <a:t>5</a:t>
            </a:r>
            <a:endParaRPr lang="en-US" sz="1600" dirty="0"/>
          </a:p>
        </p:txBody>
      </p:sp>
      <p:sp>
        <p:nvSpPr>
          <p:cNvPr id="35" name="Text 33"/>
          <p:cNvSpPr/>
          <p:nvPr/>
        </p:nvSpPr>
        <p:spPr>
          <a:xfrm>
            <a:off x="812800" y="3040757"/>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81E"/>
                </a:solidFill>
                <a:latin typeface="IBM Plex Sans" pitchFamily="34" charset="0"/>
                <a:ea typeface="IBM Plex Sans" pitchFamily="34" charset="-122"/>
                <a:cs typeface="IBM Plex Sans" pitchFamily="34" charset="-120"/>
              </a:rPr>
              <a:t>V4</a:t>
            </a:r>
            <a:endParaRPr lang="en-US" sz="1600" dirty="0"/>
          </a:p>
        </p:txBody>
      </p:sp>
      <p:sp>
        <p:nvSpPr>
          <p:cNvPr id="36" name="Shape 34"/>
          <p:cNvSpPr/>
          <p:nvPr/>
        </p:nvSpPr>
        <p:spPr>
          <a:xfrm>
            <a:off x="1473200" y="3005237"/>
            <a:ext cx="1409700" cy="355600"/>
          </a:xfrm>
          <a:custGeom>
            <a:avLst/>
            <a:gdLst/>
            <a:ahLst/>
            <a:cxnLst/>
            <a:rect l="l" t="t" r="r" b="b"/>
            <a:pathLst>
              <a:path w="1409700" h="355600">
                <a:moveTo>
                  <a:pt x="0" y="0"/>
                </a:moveTo>
                <a:lnTo>
                  <a:pt x="1358900" y="0"/>
                </a:lnTo>
                <a:arcTo hR="50800" wR="50800" stAng="16200000" swAng="5400000"/>
                <a:lnTo>
                  <a:pt x="1409700" y="304800"/>
                </a:lnTo>
                <a:arcTo hR="50800" wR="50800" stAng="0" swAng="5400000"/>
                <a:lnTo>
                  <a:pt x="0" y="355600"/>
                </a:lnTo>
                <a:lnTo>
                  <a:pt x="0" y="0"/>
                </a:lnTo>
                <a:close/>
              </a:path>
            </a:pathLst>
          </a:custGeom>
          <a:solidFill>
            <a:srgbClr val="3A8F63"/>
          </a:solidFill>
          <a:ln/>
        </p:spPr>
      </p:sp>
      <p:sp>
        <p:nvSpPr>
          <p:cNvPr id="37" name="Text 35"/>
          <p:cNvSpPr/>
          <p:nvPr/>
        </p:nvSpPr>
        <p:spPr>
          <a:xfrm>
            <a:off x="2984500" y="3049687"/>
            <a:ext cx="1006574"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191 · 21 %</a:t>
            </a:r>
            <a:endParaRPr lang="en-US" sz="1500" dirty="0"/>
          </a:p>
        </p:txBody>
      </p:sp>
      <p:sp>
        <p:nvSpPr>
          <p:cNvPr id="38" name="Shape 36"/>
          <p:cNvSpPr/>
          <p:nvPr/>
        </p:nvSpPr>
        <p:spPr>
          <a:xfrm>
            <a:off x="6451600" y="3005237"/>
            <a:ext cx="355600" cy="355600"/>
          </a:xfrm>
          <a:prstGeom prst="roundRect">
            <a:avLst>
              <a:gd name="adj" fmla="val 21429"/>
            </a:avLst>
          </a:prstGeom>
          <a:solidFill>
            <a:srgbClr val="3A8F63"/>
          </a:solidFill>
          <a:ln/>
        </p:spPr>
      </p:sp>
      <p:sp>
        <p:nvSpPr>
          <p:cNvPr id="39" name="Shape 37"/>
          <p:cNvSpPr/>
          <p:nvPr/>
        </p:nvSpPr>
        <p:spPr>
          <a:xfrm>
            <a:off x="6959600" y="3005237"/>
            <a:ext cx="355600" cy="355600"/>
          </a:xfrm>
          <a:prstGeom prst="roundRect">
            <a:avLst>
              <a:gd name="adj" fmla="val 21429"/>
            </a:avLst>
          </a:prstGeom>
          <a:solidFill>
            <a:srgbClr val="3A8F63"/>
          </a:solidFill>
          <a:ln/>
        </p:spPr>
      </p:sp>
      <p:sp>
        <p:nvSpPr>
          <p:cNvPr id="40" name="Shape 38"/>
          <p:cNvSpPr/>
          <p:nvPr/>
        </p:nvSpPr>
        <p:spPr>
          <a:xfrm>
            <a:off x="7467600" y="3005237"/>
            <a:ext cx="355600" cy="355600"/>
          </a:xfrm>
          <a:prstGeom prst="roundRect">
            <a:avLst>
              <a:gd name="adj" fmla="val 21429"/>
            </a:avLst>
          </a:prstGeom>
          <a:solidFill>
            <a:srgbClr val="3A8F63"/>
          </a:solidFill>
          <a:ln/>
        </p:spPr>
      </p:sp>
      <p:sp>
        <p:nvSpPr>
          <p:cNvPr id="41" name="Shape 39"/>
          <p:cNvSpPr/>
          <p:nvPr/>
        </p:nvSpPr>
        <p:spPr>
          <a:xfrm>
            <a:off x="7985125" y="3014762"/>
            <a:ext cx="336550" cy="336550"/>
          </a:xfrm>
          <a:prstGeom prst="roundRect">
            <a:avLst>
              <a:gd name="adj" fmla="val 19811"/>
            </a:avLst>
          </a:prstGeom>
          <a:noFill/>
          <a:ln w="19050">
            <a:solidFill>
              <a:srgbClr val="D3E2D7"/>
            </a:solidFill>
            <a:prstDash val="dash"/>
          </a:ln>
        </p:spPr>
      </p:sp>
      <p:sp>
        <p:nvSpPr>
          <p:cNvPr id="42" name="Shape 40"/>
          <p:cNvSpPr/>
          <p:nvPr/>
        </p:nvSpPr>
        <p:spPr>
          <a:xfrm>
            <a:off x="8483600" y="3005237"/>
            <a:ext cx="355600" cy="355600"/>
          </a:xfrm>
          <a:prstGeom prst="roundRect">
            <a:avLst>
              <a:gd name="adj" fmla="val 21429"/>
            </a:avLst>
          </a:prstGeom>
          <a:solidFill>
            <a:srgbClr val="3A8F63"/>
          </a:solidFill>
          <a:ln/>
        </p:spPr>
      </p:sp>
      <p:sp>
        <p:nvSpPr>
          <p:cNvPr id="43" name="Shape 41"/>
          <p:cNvSpPr/>
          <p:nvPr/>
        </p:nvSpPr>
        <p:spPr>
          <a:xfrm>
            <a:off x="9001125" y="3014762"/>
            <a:ext cx="336550" cy="336550"/>
          </a:xfrm>
          <a:prstGeom prst="roundRect">
            <a:avLst>
              <a:gd name="adj" fmla="val 19811"/>
            </a:avLst>
          </a:prstGeom>
          <a:solidFill>
            <a:srgbClr val="DCEDE1"/>
          </a:solidFill>
          <a:ln w="19050">
            <a:solidFill>
              <a:srgbClr val="9CCBAE"/>
            </a:solidFill>
            <a:prstDash val="solid"/>
          </a:ln>
        </p:spPr>
      </p:sp>
      <p:sp>
        <p:nvSpPr>
          <p:cNvPr id="44" name="Shape 42"/>
          <p:cNvSpPr/>
          <p:nvPr/>
        </p:nvSpPr>
        <p:spPr>
          <a:xfrm>
            <a:off x="9499600" y="3005237"/>
            <a:ext cx="355600" cy="355600"/>
          </a:xfrm>
          <a:prstGeom prst="roundRect">
            <a:avLst>
              <a:gd name="adj" fmla="val 21429"/>
            </a:avLst>
          </a:prstGeom>
          <a:solidFill>
            <a:srgbClr val="3A8F63"/>
          </a:solidFill>
          <a:ln/>
        </p:spPr>
      </p:sp>
      <p:sp>
        <p:nvSpPr>
          <p:cNvPr id="45" name="Text 43"/>
          <p:cNvSpPr/>
          <p:nvPr/>
        </p:nvSpPr>
        <p:spPr>
          <a:xfrm>
            <a:off x="9956800" y="3040757"/>
            <a:ext cx="14224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4281E"/>
                </a:solidFill>
                <a:latin typeface="IBM Plex Sans" pitchFamily="34" charset="0"/>
                <a:ea typeface="IBM Plex Sans" pitchFamily="34" charset="-122"/>
                <a:cs typeface="IBM Plex Sans" pitchFamily="34" charset="-120"/>
              </a:rPr>
              <a:t>5</a:t>
            </a:r>
            <a:endParaRPr lang="en-US" sz="1600" dirty="0"/>
          </a:p>
        </p:txBody>
      </p:sp>
      <p:sp>
        <p:nvSpPr>
          <p:cNvPr id="46" name="Text 44"/>
          <p:cNvSpPr/>
          <p:nvPr/>
        </p:nvSpPr>
        <p:spPr>
          <a:xfrm>
            <a:off x="812800" y="351780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81E"/>
                </a:solidFill>
                <a:latin typeface="IBM Plex Sans" pitchFamily="34" charset="0"/>
                <a:ea typeface="IBM Plex Sans" pitchFamily="34" charset="-122"/>
                <a:cs typeface="IBM Plex Sans" pitchFamily="34" charset="-120"/>
              </a:rPr>
              <a:t>V2</a:t>
            </a:r>
            <a:endParaRPr lang="en-US" sz="1600" dirty="0"/>
          </a:p>
        </p:txBody>
      </p:sp>
      <p:sp>
        <p:nvSpPr>
          <p:cNvPr id="47" name="Shape 45"/>
          <p:cNvSpPr/>
          <p:nvPr/>
        </p:nvSpPr>
        <p:spPr>
          <a:xfrm>
            <a:off x="1473200" y="3482280"/>
            <a:ext cx="330200" cy="355600"/>
          </a:xfrm>
          <a:custGeom>
            <a:avLst/>
            <a:gdLst/>
            <a:ahLst/>
            <a:cxnLst/>
            <a:rect l="l" t="t" r="r" b="b"/>
            <a:pathLst>
              <a:path w="330200" h="355600">
                <a:moveTo>
                  <a:pt x="0" y="0"/>
                </a:moveTo>
                <a:lnTo>
                  <a:pt x="279400" y="0"/>
                </a:lnTo>
                <a:arcTo hR="50800" wR="50800" stAng="16200000" swAng="5400000"/>
                <a:lnTo>
                  <a:pt x="330200" y="304800"/>
                </a:lnTo>
                <a:arcTo hR="50800" wR="50800" stAng="0" swAng="5400000"/>
                <a:lnTo>
                  <a:pt x="0" y="355600"/>
                </a:lnTo>
                <a:lnTo>
                  <a:pt x="0" y="0"/>
                </a:lnTo>
                <a:close/>
              </a:path>
            </a:pathLst>
          </a:custGeom>
          <a:solidFill>
            <a:srgbClr val="3A8F63"/>
          </a:solidFill>
          <a:ln/>
        </p:spPr>
      </p:sp>
      <p:sp>
        <p:nvSpPr>
          <p:cNvPr id="48" name="Text 46"/>
          <p:cNvSpPr/>
          <p:nvPr/>
        </p:nvSpPr>
        <p:spPr>
          <a:xfrm>
            <a:off x="1905000" y="3526730"/>
            <a:ext cx="777974"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45 · 5 %</a:t>
            </a:r>
            <a:endParaRPr lang="en-US" sz="1500" dirty="0"/>
          </a:p>
        </p:txBody>
      </p:sp>
      <p:sp>
        <p:nvSpPr>
          <p:cNvPr id="49" name="Shape 47"/>
          <p:cNvSpPr/>
          <p:nvPr/>
        </p:nvSpPr>
        <p:spPr>
          <a:xfrm>
            <a:off x="6461125" y="3491805"/>
            <a:ext cx="336550" cy="336550"/>
          </a:xfrm>
          <a:prstGeom prst="roundRect">
            <a:avLst>
              <a:gd name="adj" fmla="val 19811"/>
            </a:avLst>
          </a:prstGeom>
          <a:noFill/>
          <a:ln w="19050">
            <a:solidFill>
              <a:srgbClr val="D3E2D7"/>
            </a:solidFill>
            <a:prstDash val="dash"/>
          </a:ln>
        </p:spPr>
      </p:sp>
      <p:sp>
        <p:nvSpPr>
          <p:cNvPr id="50" name="Shape 48"/>
          <p:cNvSpPr/>
          <p:nvPr/>
        </p:nvSpPr>
        <p:spPr>
          <a:xfrm>
            <a:off x="6969125" y="3491805"/>
            <a:ext cx="336550" cy="336550"/>
          </a:xfrm>
          <a:prstGeom prst="roundRect">
            <a:avLst>
              <a:gd name="adj" fmla="val 19811"/>
            </a:avLst>
          </a:prstGeom>
          <a:noFill/>
          <a:ln w="19050">
            <a:solidFill>
              <a:srgbClr val="D3E2D7"/>
            </a:solidFill>
            <a:prstDash val="dash"/>
          </a:ln>
        </p:spPr>
      </p:sp>
      <p:sp>
        <p:nvSpPr>
          <p:cNvPr id="51" name="Shape 49"/>
          <p:cNvSpPr/>
          <p:nvPr/>
        </p:nvSpPr>
        <p:spPr>
          <a:xfrm>
            <a:off x="7477125" y="3491805"/>
            <a:ext cx="336550" cy="336550"/>
          </a:xfrm>
          <a:prstGeom prst="roundRect">
            <a:avLst>
              <a:gd name="adj" fmla="val 19811"/>
            </a:avLst>
          </a:prstGeom>
          <a:solidFill>
            <a:srgbClr val="DCEDE1"/>
          </a:solidFill>
          <a:ln w="19050">
            <a:solidFill>
              <a:srgbClr val="9CCBAE"/>
            </a:solidFill>
            <a:prstDash val="solid"/>
          </a:ln>
        </p:spPr>
      </p:sp>
      <p:sp>
        <p:nvSpPr>
          <p:cNvPr id="52" name="Shape 50"/>
          <p:cNvSpPr/>
          <p:nvPr/>
        </p:nvSpPr>
        <p:spPr>
          <a:xfrm>
            <a:off x="7975600" y="3482280"/>
            <a:ext cx="355600" cy="355600"/>
          </a:xfrm>
          <a:prstGeom prst="roundRect">
            <a:avLst>
              <a:gd name="adj" fmla="val 21429"/>
            </a:avLst>
          </a:prstGeom>
          <a:solidFill>
            <a:srgbClr val="3A8F63"/>
          </a:solidFill>
          <a:ln/>
        </p:spPr>
      </p:sp>
      <p:sp>
        <p:nvSpPr>
          <p:cNvPr id="53" name="Shape 51"/>
          <p:cNvSpPr/>
          <p:nvPr/>
        </p:nvSpPr>
        <p:spPr>
          <a:xfrm>
            <a:off x="8493125" y="3491805"/>
            <a:ext cx="336550" cy="336550"/>
          </a:xfrm>
          <a:prstGeom prst="roundRect">
            <a:avLst>
              <a:gd name="adj" fmla="val 19811"/>
            </a:avLst>
          </a:prstGeom>
          <a:noFill/>
          <a:ln w="19050">
            <a:solidFill>
              <a:srgbClr val="D3E2D7"/>
            </a:solidFill>
            <a:prstDash val="dash"/>
          </a:ln>
        </p:spPr>
      </p:sp>
      <p:sp>
        <p:nvSpPr>
          <p:cNvPr id="54" name="Shape 52"/>
          <p:cNvSpPr/>
          <p:nvPr/>
        </p:nvSpPr>
        <p:spPr>
          <a:xfrm>
            <a:off x="9001125" y="3491805"/>
            <a:ext cx="336550" cy="336550"/>
          </a:xfrm>
          <a:prstGeom prst="roundRect">
            <a:avLst>
              <a:gd name="adj" fmla="val 19811"/>
            </a:avLst>
          </a:prstGeom>
          <a:noFill/>
          <a:ln w="19050">
            <a:solidFill>
              <a:srgbClr val="D3E2D7"/>
            </a:solidFill>
            <a:prstDash val="dash"/>
          </a:ln>
        </p:spPr>
      </p:sp>
      <p:sp>
        <p:nvSpPr>
          <p:cNvPr id="55" name="Shape 53"/>
          <p:cNvSpPr/>
          <p:nvPr/>
        </p:nvSpPr>
        <p:spPr>
          <a:xfrm>
            <a:off x="9509125" y="3491805"/>
            <a:ext cx="336550" cy="336550"/>
          </a:xfrm>
          <a:prstGeom prst="roundRect">
            <a:avLst>
              <a:gd name="adj" fmla="val 19811"/>
            </a:avLst>
          </a:prstGeom>
          <a:noFill/>
          <a:ln w="19050">
            <a:solidFill>
              <a:srgbClr val="D3E2D7"/>
            </a:solidFill>
            <a:prstDash val="dash"/>
          </a:ln>
        </p:spPr>
      </p:sp>
      <p:sp>
        <p:nvSpPr>
          <p:cNvPr id="56" name="Text 54"/>
          <p:cNvSpPr/>
          <p:nvPr/>
        </p:nvSpPr>
        <p:spPr>
          <a:xfrm>
            <a:off x="9956800" y="3517801"/>
            <a:ext cx="14224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4281E"/>
                </a:solidFill>
                <a:latin typeface="IBM Plex Sans" pitchFamily="34" charset="0"/>
                <a:ea typeface="IBM Plex Sans" pitchFamily="34" charset="-122"/>
                <a:cs typeface="IBM Plex Sans" pitchFamily="34" charset="-120"/>
              </a:rPr>
              <a:t>1</a:t>
            </a:r>
            <a:endParaRPr lang="en-US" sz="1600" dirty="0"/>
          </a:p>
        </p:txBody>
      </p:sp>
      <p:sp>
        <p:nvSpPr>
          <p:cNvPr id="57" name="Text 55"/>
          <p:cNvSpPr/>
          <p:nvPr/>
        </p:nvSpPr>
        <p:spPr>
          <a:xfrm>
            <a:off x="812800" y="3994845"/>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81E"/>
                </a:solidFill>
                <a:latin typeface="IBM Plex Sans" pitchFamily="34" charset="0"/>
                <a:ea typeface="IBM Plex Sans" pitchFamily="34" charset="-122"/>
                <a:cs typeface="IBM Plex Sans" pitchFamily="34" charset="-120"/>
              </a:rPr>
              <a:t>V1</a:t>
            </a:r>
            <a:endParaRPr lang="en-US" sz="1600" dirty="0"/>
          </a:p>
        </p:txBody>
      </p:sp>
      <p:sp>
        <p:nvSpPr>
          <p:cNvPr id="58" name="Shape 56"/>
          <p:cNvSpPr/>
          <p:nvPr/>
        </p:nvSpPr>
        <p:spPr>
          <a:xfrm>
            <a:off x="1473200" y="3959324"/>
            <a:ext cx="63500" cy="355600"/>
          </a:xfrm>
          <a:custGeom>
            <a:avLst/>
            <a:gdLst/>
            <a:ahLst/>
            <a:cxnLst/>
            <a:rect l="l" t="t" r="r" b="b"/>
            <a:pathLst>
              <a:path w="63500" h="355600">
                <a:moveTo>
                  <a:pt x="0" y="0"/>
                </a:moveTo>
                <a:lnTo>
                  <a:pt x="12700" y="0"/>
                </a:lnTo>
                <a:arcTo hR="50800" wR="50800" stAng="16200000" swAng="5400000"/>
                <a:lnTo>
                  <a:pt x="63500" y="304800"/>
                </a:lnTo>
                <a:arcTo hR="50800" wR="50800" stAng="0" swAng="5400000"/>
                <a:lnTo>
                  <a:pt x="0" y="355600"/>
                </a:lnTo>
                <a:lnTo>
                  <a:pt x="0" y="0"/>
                </a:lnTo>
                <a:close/>
              </a:path>
            </a:pathLst>
          </a:custGeom>
          <a:solidFill>
            <a:srgbClr val="3A8F63"/>
          </a:solidFill>
          <a:ln/>
        </p:spPr>
      </p:sp>
      <p:sp>
        <p:nvSpPr>
          <p:cNvPr id="59" name="Text 57"/>
          <p:cNvSpPr/>
          <p:nvPr/>
        </p:nvSpPr>
        <p:spPr>
          <a:xfrm>
            <a:off x="1638300" y="4003774"/>
            <a:ext cx="663674"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1 · 0 %</a:t>
            </a:r>
            <a:endParaRPr lang="en-US" sz="1500" dirty="0"/>
          </a:p>
        </p:txBody>
      </p:sp>
      <p:sp>
        <p:nvSpPr>
          <p:cNvPr id="60" name="Shape 58"/>
          <p:cNvSpPr/>
          <p:nvPr/>
        </p:nvSpPr>
        <p:spPr>
          <a:xfrm>
            <a:off x="6461125" y="3968849"/>
            <a:ext cx="336550" cy="336550"/>
          </a:xfrm>
          <a:prstGeom prst="roundRect">
            <a:avLst>
              <a:gd name="adj" fmla="val 19811"/>
            </a:avLst>
          </a:prstGeom>
          <a:solidFill>
            <a:srgbClr val="DCEDE1"/>
          </a:solidFill>
          <a:ln w="19050">
            <a:solidFill>
              <a:srgbClr val="9CCBAE"/>
            </a:solidFill>
            <a:prstDash val="solid"/>
          </a:ln>
        </p:spPr>
      </p:sp>
      <p:sp>
        <p:nvSpPr>
          <p:cNvPr id="61" name="Shape 59"/>
          <p:cNvSpPr/>
          <p:nvPr/>
        </p:nvSpPr>
        <p:spPr>
          <a:xfrm>
            <a:off x="6969125" y="3968849"/>
            <a:ext cx="336550" cy="336550"/>
          </a:xfrm>
          <a:prstGeom prst="roundRect">
            <a:avLst>
              <a:gd name="adj" fmla="val 19811"/>
            </a:avLst>
          </a:prstGeom>
          <a:noFill/>
          <a:ln w="19050">
            <a:solidFill>
              <a:srgbClr val="D3E2D7"/>
            </a:solidFill>
            <a:prstDash val="dash"/>
          </a:ln>
        </p:spPr>
      </p:sp>
      <p:sp>
        <p:nvSpPr>
          <p:cNvPr id="62" name="Shape 60"/>
          <p:cNvSpPr/>
          <p:nvPr/>
        </p:nvSpPr>
        <p:spPr>
          <a:xfrm>
            <a:off x="7477125" y="3968849"/>
            <a:ext cx="336550" cy="336550"/>
          </a:xfrm>
          <a:prstGeom prst="roundRect">
            <a:avLst>
              <a:gd name="adj" fmla="val 19811"/>
            </a:avLst>
          </a:prstGeom>
          <a:noFill/>
          <a:ln w="19050">
            <a:solidFill>
              <a:srgbClr val="D3E2D7"/>
            </a:solidFill>
            <a:prstDash val="dash"/>
          </a:ln>
        </p:spPr>
      </p:sp>
      <p:sp>
        <p:nvSpPr>
          <p:cNvPr id="63" name="Shape 61"/>
          <p:cNvSpPr/>
          <p:nvPr/>
        </p:nvSpPr>
        <p:spPr>
          <a:xfrm>
            <a:off x="7985125" y="3968849"/>
            <a:ext cx="336550" cy="336550"/>
          </a:xfrm>
          <a:prstGeom prst="roundRect">
            <a:avLst>
              <a:gd name="adj" fmla="val 19811"/>
            </a:avLst>
          </a:prstGeom>
          <a:noFill/>
          <a:ln w="19050">
            <a:solidFill>
              <a:srgbClr val="D3E2D7"/>
            </a:solidFill>
            <a:prstDash val="dash"/>
          </a:ln>
        </p:spPr>
      </p:sp>
      <p:sp>
        <p:nvSpPr>
          <p:cNvPr id="64" name="Shape 62"/>
          <p:cNvSpPr/>
          <p:nvPr/>
        </p:nvSpPr>
        <p:spPr>
          <a:xfrm>
            <a:off x="8493125" y="3968849"/>
            <a:ext cx="336550" cy="336550"/>
          </a:xfrm>
          <a:prstGeom prst="roundRect">
            <a:avLst>
              <a:gd name="adj" fmla="val 19811"/>
            </a:avLst>
          </a:prstGeom>
          <a:noFill/>
          <a:ln w="19050">
            <a:solidFill>
              <a:srgbClr val="D3E2D7"/>
            </a:solidFill>
            <a:prstDash val="dash"/>
          </a:ln>
        </p:spPr>
      </p:sp>
      <p:sp>
        <p:nvSpPr>
          <p:cNvPr id="65" name="Shape 63"/>
          <p:cNvSpPr/>
          <p:nvPr/>
        </p:nvSpPr>
        <p:spPr>
          <a:xfrm>
            <a:off x="9001125" y="3968849"/>
            <a:ext cx="336550" cy="336550"/>
          </a:xfrm>
          <a:prstGeom prst="roundRect">
            <a:avLst>
              <a:gd name="adj" fmla="val 19811"/>
            </a:avLst>
          </a:prstGeom>
          <a:noFill/>
          <a:ln w="19050">
            <a:solidFill>
              <a:srgbClr val="D3E2D7"/>
            </a:solidFill>
            <a:prstDash val="dash"/>
          </a:ln>
        </p:spPr>
      </p:sp>
      <p:sp>
        <p:nvSpPr>
          <p:cNvPr id="66" name="Shape 64"/>
          <p:cNvSpPr/>
          <p:nvPr/>
        </p:nvSpPr>
        <p:spPr>
          <a:xfrm>
            <a:off x="9509125" y="3968849"/>
            <a:ext cx="336550" cy="336550"/>
          </a:xfrm>
          <a:prstGeom prst="roundRect">
            <a:avLst>
              <a:gd name="adj" fmla="val 19811"/>
            </a:avLst>
          </a:prstGeom>
          <a:noFill/>
          <a:ln w="19050">
            <a:solidFill>
              <a:srgbClr val="D3E2D7"/>
            </a:solidFill>
            <a:prstDash val="dash"/>
          </a:ln>
        </p:spPr>
      </p:sp>
      <p:sp>
        <p:nvSpPr>
          <p:cNvPr id="67" name="Text 65"/>
          <p:cNvSpPr/>
          <p:nvPr/>
        </p:nvSpPr>
        <p:spPr>
          <a:xfrm>
            <a:off x="9956800" y="3994845"/>
            <a:ext cx="14224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4281E"/>
                </a:solidFill>
                <a:latin typeface="IBM Plex Sans" pitchFamily="34" charset="0"/>
                <a:ea typeface="IBM Plex Sans" pitchFamily="34" charset="-122"/>
                <a:cs typeface="IBM Plex Sans" pitchFamily="34" charset="-120"/>
              </a:rPr>
              <a:t>0</a:t>
            </a:r>
            <a:endParaRPr lang="en-US" sz="1600" dirty="0"/>
          </a:p>
        </p:txBody>
      </p:sp>
      <p:sp>
        <p:nvSpPr>
          <p:cNvPr id="68" name="Shape 66"/>
          <p:cNvSpPr/>
          <p:nvPr/>
        </p:nvSpPr>
        <p:spPr>
          <a:xfrm>
            <a:off x="812800" y="4506416"/>
            <a:ext cx="177800" cy="177800"/>
          </a:xfrm>
          <a:prstGeom prst="roundRect">
            <a:avLst>
              <a:gd name="adj" fmla="val 21429"/>
            </a:avLst>
          </a:prstGeom>
          <a:solidFill>
            <a:srgbClr val="3A8F63"/>
          </a:solidFill>
          <a:ln/>
        </p:spPr>
      </p:sp>
      <p:sp>
        <p:nvSpPr>
          <p:cNvPr id="69" name="Text 67"/>
          <p:cNvSpPr/>
          <p:nvPr/>
        </p:nvSpPr>
        <p:spPr>
          <a:xfrm>
            <a:off x="1066800" y="4488656"/>
            <a:ext cx="193884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Operó (20 camiones o más)</a:t>
            </a:r>
            <a:endParaRPr lang="en-US" sz="1200" dirty="0"/>
          </a:p>
        </p:txBody>
      </p:sp>
      <p:sp>
        <p:nvSpPr>
          <p:cNvPr id="70" name="Shape 68"/>
          <p:cNvSpPr/>
          <p:nvPr/>
        </p:nvSpPr>
        <p:spPr>
          <a:xfrm>
            <a:off x="3025378" y="4506416"/>
            <a:ext cx="177800" cy="177800"/>
          </a:xfrm>
          <a:prstGeom prst="roundRect">
            <a:avLst>
              <a:gd name="adj" fmla="val 21429"/>
            </a:avLst>
          </a:prstGeom>
          <a:solidFill>
            <a:srgbClr val="DCEDE1"/>
          </a:solidFill>
          <a:ln/>
        </p:spPr>
      </p:sp>
      <p:sp>
        <p:nvSpPr>
          <p:cNvPr id="71" name="Text 69"/>
          <p:cNvSpPr/>
          <p:nvPr/>
        </p:nvSpPr>
        <p:spPr>
          <a:xfrm>
            <a:off x="3279378" y="4488656"/>
            <a:ext cx="123428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Actividad mínima</a:t>
            </a:r>
            <a:endParaRPr lang="en-US" sz="1200" dirty="0"/>
          </a:p>
        </p:txBody>
      </p:sp>
      <p:sp>
        <p:nvSpPr>
          <p:cNvPr id="72" name="Text 70"/>
          <p:cNvSpPr/>
          <p:nvPr/>
        </p:nvSpPr>
        <p:spPr>
          <a:xfrm>
            <a:off x="812800" y="4878487"/>
            <a:ext cx="528472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D52"/>
                </a:solidFill>
                <a:latin typeface="IBM Plex Sans" pitchFamily="34" charset="0"/>
                <a:ea typeface="IBM Plex Sans" pitchFamily="34" charset="-122"/>
                <a:cs typeface="IBM Plex Sans" pitchFamily="34" charset="-120"/>
              </a:rPr>
              <a:t>V5 trabajó todos los días y tomó el </a:t>
            </a:r>
            <a:r>
              <a:rPr lang="en-US" sz="1400" b="1" dirty="0">
                <a:solidFill>
                  <a:srgbClr val="4A5D52"/>
                </a:solidFill>
                <a:latin typeface="IBM Plex Sans" pitchFamily="34" charset="0"/>
                <a:ea typeface="IBM Plex Sans" pitchFamily="34" charset="-122"/>
                <a:cs typeface="IBM Plex Sans" pitchFamily="34" charset="-120"/>
              </a:rPr>
              <a:t>53 %</a:t>
            </a:r>
            <a:r>
              <a:rPr lang="en-US" sz="1400" dirty="0">
                <a:solidFill>
                  <a:srgbClr val="4A5D52"/>
                </a:solidFill>
                <a:latin typeface="IBM Plex Sans" pitchFamily="34" charset="0"/>
                <a:ea typeface="IBM Plex Sans" pitchFamily="34" charset="-122"/>
                <a:cs typeface="IBM Plex Sans" pitchFamily="34" charset="-120"/>
              </a:rPr>
              <a:t> (481 de 911). V3 y V4 se repartieron casi todo el resto; el domingo descargaron solo V2 y V5.</a:t>
            </a:r>
            <a:endParaRPr lang="en-US" sz="1400" dirty="0"/>
          </a:p>
        </p:txBody>
      </p:sp>
      <p:sp>
        <p:nvSpPr>
          <p:cNvPr id="73" name="Shape 71"/>
          <p:cNvSpPr/>
          <p:nvPr/>
        </p:nvSpPr>
        <p:spPr>
          <a:xfrm>
            <a:off x="6267450" y="4878487"/>
            <a:ext cx="0" cy="975122"/>
          </a:xfrm>
          <a:prstGeom prst="line">
            <a:avLst/>
          </a:prstGeom>
          <a:noFill/>
          <a:ln w="38100">
            <a:solidFill>
              <a:srgbClr val="3A8F63"/>
            </a:solidFill>
            <a:prstDash val="solid"/>
          </a:ln>
        </p:spPr>
      </p:sp>
      <p:sp>
        <p:nvSpPr>
          <p:cNvPr id="74" name="Text 72"/>
          <p:cNvSpPr/>
          <p:nvPr/>
        </p:nvSpPr>
        <p:spPr>
          <a:xfrm>
            <a:off x="6413500" y="4903887"/>
            <a:ext cx="5114671" cy="94972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El lunes la PV2 no descargó (preventivo en su compresor) y la PV4 la cubrió; el miércoles quedó sin descargar la PV3, en la parada anual de la cinta C01 de la Terminal. V5 sostuvo los dos días.</a:t>
            </a:r>
            <a:endParaRPr lang="en-US" sz="1300" dirty="0"/>
          </a:p>
        </p:txBody>
      </p:sp>
      <p:pic>
        <p:nvPicPr>
          <p:cNvPr id="7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76" name="Text 73"/>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25</a:t>
            </a:r>
            <a:endParaRPr lang="en-US" sz="1200" dirty="0"/>
          </a:p>
        </p:txBody>
      </p:sp>
      <p:pic>
        <p:nvPicPr>
          <p:cNvPr id="77"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AF2EC"/>
        </a:solidFill>
      </p:bgPr>
    </p:bg>
    <p:spTree>
      <p:nvGrpSpPr>
        <p:cNvPr id="1" name=""/>
        <p:cNvGrpSpPr/>
        <p:nvPr/>
      </p:nvGrpSpPr>
      <p:grpSpPr>
        <a:xfrm>
          <a:off x="0" y="0"/>
          <a:ext cx="0" cy="0"/>
          <a:chOff x="0" y="0"/>
          <a:chExt cx="0" cy="0"/>
        </a:xfrm>
      </p:grpSpPr>
      <p:sp>
        <p:nvSpPr>
          <p:cNvPr id="2" name="Text 0"/>
          <p:cNvSpPr/>
          <p:nvPr/>
        </p:nvSpPr>
        <p:spPr>
          <a:xfrm>
            <a:off x="812800" y="711200"/>
            <a:ext cx="2794695" cy="289520"/>
          </a:xfrm>
          <a:custGeom>
            <a:avLst/>
            <a:gdLst/>
            <a:ahLst/>
            <a:cxnLst/>
            <a:rect l="l" t="t" r="r" b="b"/>
            <a:pathLst>
              <a:path w="2794695" h="289520">
                <a:moveTo>
                  <a:pt x="144760" y="0"/>
                </a:moveTo>
                <a:lnTo>
                  <a:pt x="2649934" y="0"/>
                </a:lnTo>
                <a:arcTo hR="144760" wR="144760" stAng="16200000" swAng="5400000"/>
                <a:lnTo>
                  <a:pt x="2794695"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SECTORES · SILOS RICARDONE</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Silos: el transile corrió casi toda la semana</a:t>
            </a:r>
            <a:endParaRPr lang="en-US" sz="3200" dirty="0"/>
          </a:p>
        </p:txBody>
      </p:sp>
      <p:sp>
        <p:nvSpPr>
          <p:cNvPr id="4" name="Text 2"/>
          <p:cNvSpPr/>
          <p:nvPr/>
        </p:nvSpPr>
        <p:spPr>
          <a:xfrm>
            <a:off x="812800" y="1803301"/>
            <a:ext cx="6802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Camiones en silos por día (recorridos de cámara)</a:t>
            </a:r>
            <a:endParaRPr lang="en-US" sz="1200" dirty="0"/>
          </a:p>
        </p:txBody>
      </p:sp>
      <p:sp>
        <p:nvSpPr>
          <p:cNvPr id="5" name="Text 3"/>
          <p:cNvSpPr/>
          <p:nvPr/>
        </p:nvSpPr>
        <p:spPr>
          <a:xfrm>
            <a:off x="1119684" y="3354189"/>
            <a:ext cx="26422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87</a:t>
            </a:r>
            <a:endParaRPr lang="en-US" sz="1400" dirty="0"/>
          </a:p>
        </p:txBody>
      </p:sp>
      <p:sp>
        <p:nvSpPr>
          <p:cNvPr id="6" name="Shape 4"/>
          <p:cNvSpPr/>
          <p:nvPr/>
        </p:nvSpPr>
        <p:spPr>
          <a:xfrm>
            <a:off x="947043" y="3653830"/>
            <a:ext cx="609600" cy="1924050"/>
          </a:xfrm>
          <a:custGeom>
            <a:avLst/>
            <a:gdLst/>
            <a:ahLst/>
            <a:cxnLst/>
            <a:rect l="l" t="t" r="r" b="b"/>
            <a:pathLst>
              <a:path w="609600" h="1924050">
                <a:moveTo>
                  <a:pt x="50800" y="0"/>
                </a:moveTo>
                <a:lnTo>
                  <a:pt x="558800" y="0"/>
                </a:lnTo>
                <a:arcTo hR="50800" wR="50800" stAng="16200000" swAng="5400000"/>
                <a:lnTo>
                  <a:pt x="609600" y="1924050"/>
                </a:lnTo>
                <a:lnTo>
                  <a:pt x="0" y="1924050"/>
                </a:lnTo>
                <a:lnTo>
                  <a:pt x="0" y="50800"/>
                </a:lnTo>
                <a:arcTo hR="50800" wR="50800" stAng="10800000" swAng="5400000"/>
                <a:close/>
              </a:path>
            </a:pathLst>
          </a:custGeom>
          <a:solidFill>
            <a:srgbClr val="0B5638"/>
          </a:solidFill>
          <a:ln/>
        </p:spPr>
      </p:sp>
      <p:sp>
        <p:nvSpPr>
          <p:cNvPr id="7" name="Text 5"/>
          <p:cNvSpPr/>
          <p:nvPr/>
        </p:nvSpPr>
        <p:spPr>
          <a:xfrm>
            <a:off x="965855" y="5628680"/>
            <a:ext cx="5719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Jue 24</a:t>
            </a:r>
            <a:endParaRPr lang="en-US" sz="1200" dirty="0"/>
          </a:p>
        </p:txBody>
      </p:sp>
      <p:sp>
        <p:nvSpPr>
          <p:cNvPr id="8" name="Text 6"/>
          <p:cNvSpPr/>
          <p:nvPr/>
        </p:nvSpPr>
        <p:spPr>
          <a:xfrm>
            <a:off x="2074069" y="3881239"/>
            <a:ext cx="26422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63</a:t>
            </a:r>
            <a:endParaRPr lang="en-US" sz="1400" dirty="0"/>
          </a:p>
        </p:txBody>
      </p:sp>
      <p:sp>
        <p:nvSpPr>
          <p:cNvPr id="9" name="Shape 7"/>
          <p:cNvSpPr/>
          <p:nvPr/>
        </p:nvSpPr>
        <p:spPr>
          <a:xfrm>
            <a:off x="1901329" y="4180880"/>
            <a:ext cx="609600" cy="1397000"/>
          </a:xfrm>
          <a:custGeom>
            <a:avLst/>
            <a:gdLst/>
            <a:ahLst/>
            <a:cxnLst/>
            <a:rect l="l" t="t" r="r" b="b"/>
            <a:pathLst>
              <a:path w="609600" h="1397000">
                <a:moveTo>
                  <a:pt x="50800" y="0"/>
                </a:moveTo>
                <a:lnTo>
                  <a:pt x="558800" y="0"/>
                </a:lnTo>
                <a:arcTo hR="50800" wR="50800" stAng="16200000" swAng="5400000"/>
                <a:lnTo>
                  <a:pt x="609600" y="1397000"/>
                </a:lnTo>
                <a:lnTo>
                  <a:pt x="0" y="1397000"/>
                </a:lnTo>
                <a:lnTo>
                  <a:pt x="0" y="50800"/>
                </a:lnTo>
                <a:arcTo hR="50800" wR="50800" stAng="10800000" swAng="5400000"/>
                <a:close/>
              </a:path>
            </a:pathLst>
          </a:custGeom>
          <a:solidFill>
            <a:srgbClr val="0B5638"/>
          </a:solidFill>
          <a:ln/>
        </p:spPr>
      </p:sp>
      <p:sp>
        <p:nvSpPr>
          <p:cNvPr id="10" name="Text 8"/>
          <p:cNvSpPr/>
          <p:nvPr/>
        </p:nvSpPr>
        <p:spPr>
          <a:xfrm>
            <a:off x="1940262" y="5628680"/>
            <a:ext cx="53173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Vie 25</a:t>
            </a:r>
            <a:endParaRPr lang="en-US" sz="1200" dirty="0"/>
          </a:p>
        </p:txBody>
      </p:sp>
      <p:sp>
        <p:nvSpPr>
          <p:cNvPr id="11" name="Text 9"/>
          <p:cNvSpPr/>
          <p:nvPr/>
        </p:nvSpPr>
        <p:spPr>
          <a:xfrm>
            <a:off x="3028355" y="4700389"/>
            <a:ext cx="26422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26</a:t>
            </a:r>
            <a:endParaRPr lang="en-US" sz="1400" dirty="0"/>
          </a:p>
        </p:txBody>
      </p:sp>
      <p:sp>
        <p:nvSpPr>
          <p:cNvPr id="12" name="Shape 10"/>
          <p:cNvSpPr/>
          <p:nvPr/>
        </p:nvSpPr>
        <p:spPr>
          <a:xfrm>
            <a:off x="2855714" y="5000030"/>
            <a:ext cx="609600" cy="577850"/>
          </a:xfrm>
          <a:custGeom>
            <a:avLst/>
            <a:gdLst/>
            <a:ahLst/>
            <a:cxnLst/>
            <a:rect l="l" t="t" r="r" b="b"/>
            <a:pathLst>
              <a:path w="609600" h="577850">
                <a:moveTo>
                  <a:pt x="50800" y="0"/>
                </a:moveTo>
                <a:lnTo>
                  <a:pt x="558800" y="0"/>
                </a:lnTo>
                <a:arcTo hR="50800" wR="50800" stAng="16200000" swAng="5400000"/>
                <a:lnTo>
                  <a:pt x="609600" y="577850"/>
                </a:lnTo>
                <a:lnTo>
                  <a:pt x="0" y="577850"/>
                </a:lnTo>
                <a:lnTo>
                  <a:pt x="0" y="50800"/>
                </a:lnTo>
                <a:arcTo hR="50800" wR="50800" stAng="10800000" swAng="5400000"/>
                <a:close/>
              </a:path>
            </a:pathLst>
          </a:custGeom>
          <a:solidFill>
            <a:srgbClr val="9CCBAE"/>
          </a:solidFill>
          <a:ln/>
        </p:spPr>
      </p:sp>
      <p:sp>
        <p:nvSpPr>
          <p:cNvPr id="13" name="Text 11"/>
          <p:cNvSpPr/>
          <p:nvPr/>
        </p:nvSpPr>
        <p:spPr>
          <a:xfrm>
            <a:off x="2867273" y="5628680"/>
            <a:ext cx="58638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Sáb 26</a:t>
            </a:r>
            <a:endParaRPr lang="en-US" sz="1200" dirty="0"/>
          </a:p>
        </p:txBody>
      </p:sp>
      <p:sp>
        <p:nvSpPr>
          <p:cNvPr id="14" name="Text 12"/>
          <p:cNvSpPr/>
          <p:nvPr/>
        </p:nvSpPr>
        <p:spPr>
          <a:xfrm>
            <a:off x="3982740" y="3328789"/>
            <a:ext cx="26422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88</a:t>
            </a:r>
            <a:endParaRPr lang="en-US" sz="1400" dirty="0"/>
          </a:p>
        </p:txBody>
      </p:sp>
      <p:sp>
        <p:nvSpPr>
          <p:cNvPr id="15" name="Shape 13"/>
          <p:cNvSpPr/>
          <p:nvPr/>
        </p:nvSpPr>
        <p:spPr>
          <a:xfrm>
            <a:off x="3810000" y="3628430"/>
            <a:ext cx="609600" cy="1949450"/>
          </a:xfrm>
          <a:custGeom>
            <a:avLst/>
            <a:gdLst/>
            <a:ahLst/>
            <a:cxnLst/>
            <a:rect l="l" t="t" r="r" b="b"/>
            <a:pathLst>
              <a:path w="609600" h="1949450">
                <a:moveTo>
                  <a:pt x="50800" y="0"/>
                </a:moveTo>
                <a:lnTo>
                  <a:pt x="558800" y="0"/>
                </a:lnTo>
                <a:arcTo hR="50800" wR="50800" stAng="16200000" swAng="5400000"/>
                <a:lnTo>
                  <a:pt x="609600" y="1949450"/>
                </a:lnTo>
                <a:lnTo>
                  <a:pt x="0" y="1949450"/>
                </a:lnTo>
                <a:lnTo>
                  <a:pt x="0" y="50800"/>
                </a:lnTo>
                <a:arcTo hR="50800" wR="50800" stAng="10800000" swAng="5400000"/>
                <a:close/>
              </a:path>
            </a:pathLst>
          </a:custGeom>
          <a:solidFill>
            <a:srgbClr val="0B5638"/>
          </a:solidFill>
          <a:ln/>
        </p:spPr>
      </p:sp>
      <p:sp>
        <p:nvSpPr>
          <p:cNvPr id="16" name="Text 14"/>
          <p:cNvSpPr/>
          <p:nvPr/>
        </p:nvSpPr>
        <p:spPr>
          <a:xfrm>
            <a:off x="3787844" y="5628680"/>
            <a:ext cx="6540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Dom 27</a:t>
            </a:r>
            <a:endParaRPr lang="en-US" sz="1200" dirty="0"/>
          </a:p>
        </p:txBody>
      </p:sp>
      <p:sp>
        <p:nvSpPr>
          <p:cNvPr id="17" name="Text 15"/>
          <p:cNvSpPr/>
          <p:nvPr/>
        </p:nvSpPr>
        <p:spPr>
          <a:xfrm>
            <a:off x="4877137" y="2865239"/>
            <a:ext cx="38409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109</a:t>
            </a:r>
            <a:endParaRPr lang="en-US" sz="1400" dirty="0"/>
          </a:p>
        </p:txBody>
      </p:sp>
      <p:sp>
        <p:nvSpPr>
          <p:cNvPr id="18" name="Shape 16"/>
          <p:cNvSpPr/>
          <p:nvPr/>
        </p:nvSpPr>
        <p:spPr>
          <a:xfrm>
            <a:off x="4764385" y="3164880"/>
            <a:ext cx="609600" cy="2413000"/>
          </a:xfrm>
          <a:custGeom>
            <a:avLst/>
            <a:gdLst/>
            <a:ahLst/>
            <a:cxnLst/>
            <a:rect l="l" t="t" r="r" b="b"/>
            <a:pathLst>
              <a:path w="609600" h="2413000">
                <a:moveTo>
                  <a:pt x="50800" y="0"/>
                </a:moveTo>
                <a:lnTo>
                  <a:pt x="558800" y="0"/>
                </a:lnTo>
                <a:arcTo hR="50800" wR="50800" stAng="16200000" swAng="5400000"/>
                <a:lnTo>
                  <a:pt x="609600" y="2413000"/>
                </a:lnTo>
                <a:lnTo>
                  <a:pt x="0" y="2413000"/>
                </a:lnTo>
                <a:lnTo>
                  <a:pt x="0" y="50800"/>
                </a:lnTo>
                <a:arcTo hR="50800" wR="50800" stAng="10800000" swAng="5400000"/>
                <a:close/>
              </a:path>
            </a:pathLst>
          </a:custGeom>
          <a:solidFill>
            <a:srgbClr val="0B5638"/>
          </a:solidFill>
          <a:ln/>
        </p:spPr>
      </p:sp>
      <p:sp>
        <p:nvSpPr>
          <p:cNvPr id="19" name="Text 17"/>
          <p:cNvSpPr/>
          <p:nvPr/>
        </p:nvSpPr>
        <p:spPr>
          <a:xfrm>
            <a:off x="4783207" y="5628680"/>
            <a:ext cx="57185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Lun 28</a:t>
            </a:r>
            <a:endParaRPr lang="en-US" sz="1200" dirty="0"/>
          </a:p>
        </p:txBody>
      </p:sp>
      <p:sp>
        <p:nvSpPr>
          <p:cNvPr id="20" name="Text 18"/>
          <p:cNvSpPr/>
          <p:nvPr/>
        </p:nvSpPr>
        <p:spPr>
          <a:xfrm>
            <a:off x="5891312" y="4103489"/>
            <a:ext cx="26422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53</a:t>
            </a:r>
            <a:endParaRPr lang="en-US" sz="1400" dirty="0"/>
          </a:p>
        </p:txBody>
      </p:sp>
      <p:sp>
        <p:nvSpPr>
          <p:cNvPr id="21" name="Shape 19"/>
          <p:cNvSpPr/>
          <p:nvPr/>
        </p:nvSpPr>
        <p:spPr>
          <a:xfrm>
            <a:off x="5718671" y="4403130"/>
            <a:ext cx="609600" cy="1174750"/>
          </a:xfrm>
          <a:custGeom>
            <a:avLst/>
            <a:gdLst/>
            <a:ahLst/>
            <a:cxnLst/>
            <a:rect l="l" t="t" r="r" b="b"/>
            <a:pathLst>
              <a:path w="609600" h="1174750">
                <a:moveTo>
                  <a:pt x="50800" y="0"/>
                </a:moveTo>
                <a:lnTo>
                  <a:pt x="558800" y="0"/>
                </a:lnTo>
                <a:arcTo hR="50800" wR="50800" stAng="16200000" swAng="5400000"/>
                <a:lnTo>
                  <a:pt x="609600" y="1174750"/>
                </a:lnTo>
                <a:lnTo>
                  <a:pt x="0" y="1174750"/>
                </a:lnTo>
                <a:lnTo>
                  <a:pt x="0" y="50800"/>
                </a:lnTo>
                <a:arcTo hR="50800" wR="50800" stAng="10800000" swAng="5400000"/>
                <a:close/>
              </a:path>
            </a:pathLst>
          </a:custGeom>
          <a:solidFill>
            <a:srgbClr val="0B5638"/>
          </a:solidFill>
          <a:ln/>
        </p:spPr>
      </p:sp>
      <p:sp>
        <p:nvSpPr>
          <p:cNvPr id="22" name="Text 20"/>
          <p:cNvSpPr/>
          <p:nvPr/>
        </p:nvSpPr>
        <p:spPr>
          <a:xfrm>
            <a:off x="5730349" y="5628680"/>
            <a:ext cx="58614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Mar 29</a:t>
            </a:r>
            <a:endParaRPr lang="en-US" sz="1200" dirty="0"/>
          </a:p>
        </p:txBody>
      </p:sp>
      <p:sp>
        <p:nvSpPr>
          <p:cNvPr id="23" name="Text 21"/>
          <p:cNvSpPr/>
          <p:nvPr/>
        </p:nvSpPr>
        <p:spPr>
          <a:xfrm>
            <a:off x="6845598" y="4725789"/>
            <a:ext cx="26422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1E"/>
                </a:solidFill>
                <a:latin typeface="IBM Plex Sans" pitchFamily="34" charset="0"/>
                <a:ea typeface="IBM Plex Sans" pitchFamily="34" charset="-122"/>
                <a:cs typeface="IBM Plex Sans" pitchFamily="34" charset="-120"/>
              </a:rPr>
              <a:t>25</a:t>
            </a:r>
            <a:endParaRPr lang="en-US" sz="1400" dirty="0"/>
          </a:p>
        </p:txBody>
      </p:sp>
      <p:sp>
        <p:nvSpPr>
          <p:cNvPr id="24" name="Shape 22"/>
          <p:cNvSpPr/>
          <p:nvPr/>
        </p:nvSpPr>
        <p:spPr>
          <a:xfrm>
            <a:off x="6672957" y="5025430"/>
            <a:ext cx="609600" cy="552450"/>
          </a:xfrm>
          <a:custGeom>
            <a:avLst/>
            <a:gdLst/>
            <a:ahLst/>
            <a:cxnLst/>
            <a:rect l="l" t="t" r="r" b="b"/>
            <a:pathLst>
              <a:path w="609600" h="552450">
                <a:moveTo>
                  <a:pt x="50800" y="0"/>
                </a:moveTo>
                <a:lnTo>
                  <a:pt x="558800" y="0"/>
                </a:lnTo>
                <a:arcTo hR="50800" wR="50800" stAng="16200000" swAng="5400000"/>
                <a:lnTo>
                  <a:pt x="609600" y="552450"/>
                </a:lnTo>
                <a:lnTo>
                  <a:pt x="0" y="552450"/>
                </a:lnTo>
                <a:lnTo>
                  <a:pt x="0" y="50800"/>
                </a:lnTo>
                <a:arcTo hR="50800" wR="50800" stAng="10800000" swAng="5400000"/>
                <a:close/>
              </a:path>
            </a:pathLst>
          </a:custGeom>
          <a:solidFill>
            <a:srgbClr val="9CCBAE"/>
          </a:solidFill>
          <a:ln/>
        </p:spPr>
      </p:sp>
      <p:sp>
        <p:nvSpPr>
          <p:cNvPr id="25" name="Text 23"/>
          <p:cNvSpPr/>
          <p:nvPr/>
        </p:nvSpPr>
        <p:spPr>
          <a:xfrm>
            <a:off x="6695470" y="5628680"/>
            <a:ext cx="5644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Mié 30</a:t>
            </a:r>
            <a:endParaRPr lang="en-US" sz="1200" dirty="0"/>
          </a:p>
        </p:txBody>
      </p:sp>
      <p:sp>
        <p:nvSpPr>
          <p:cNvPr id="26" name="Text 24"/>
          <p:cNvSpPr/>
          <p:nvPr/>
        </p:nvSpPr>
        <p:spPr>
          <a:xfrm>
            <a:off x="7823200" y="1803301"/>
            <a:ext cx="366268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D52"/>
                </a:solidFill>
                <a:latin typeface="IBM Plex Sans" pitchFamily="34" charset="0"/>
                <a:ea typeface="IBM Plex Sans" pitchFamily="34" charset="-122"/>
                <a:cs typeface="IBM Plex Sans" pitchFamily="34" charset="-120"/>
              </a:rPr>
              <a:t>Casi toda la actividad fue </a:t>
            </a:r>
            <a:r>
              <a:rPr lang="en-US" sz="1400" b="1" dirty="0">
                <a:solidFill>
                  <a:srgbClr val="4A5D52"/>
                </a:solidFill>
                <a:latin typeface="IBM Plex Sans" pitchFamily="34" charset="0"/>
                <a:ea typeface="IBM Plex Sans" pitchFamily="34" charset="-122"/>
                <a:cs typeface="IBM Plex Sans" pitchFamily="34" charset="-120"/>
              </a:rPr>
              <a:t>carga</a:t>
            </a:r>
            <a:r>
              <a:rPr lang="en-US" sz="1400" dirty="0">
                <a:solidFill>
                  <a:srgbClr val="4A5D52"/>
                </a:solidFill>
                <a:latin typeface="IBM Plex Sans" pitchFamily="34" charset="0"/>
                <a:ea typeface="IBM Plex Sans" pitchFamily="34" charset="-122"/>
                <a:cs typeface="IBM Plex Sans" pitchFamily="34" charset="-120"/>
              </a:rPr>
              <a:t> para el transile de soja (516 operaciones R29), de jueves a martes, con el pico el lunes.</a:t>
            </a:r>
            <a:endParaRPr lang="en-US" sz="1400" dirty="0"/>
          </a:p>
        </p:txBody>
      </p:sp>
      <p:sp>
        <p:nvSpPr>
          <p:cNvPr id="27" name="Text 25"/>
          <p:cNvSpPr/>
          <p:nvPr/>
        </p:nvSpPr>
        <p:spPr>
          <a:xfrm>
            <a:off x="7823200" y="2727623"/>
            <a:ext cx="366268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D52"/>
                </a:solidFill>
                <a:latin typeface="IBM Plex Sans" pitchFamily="34" charset="0"/>
                <a:ea typeface="IBM Plex Sans" pitchFamily="34" charset="-122"/>
                <a:cs typeface="IBM Plex Sans" pitchFamily="34" charset="-120"/>
              </a:rPr>
              <a:t>La carga salió casi toda por la línea 2 de S8 (363 de 436); las descargas fueron 62. El miércoles casi no hubo carga.</a:t>
            </a:r>
            <a:endParaRPr lang="en-US" sz="1400" dirty="0"/>
          </a:p>
        </p:txBody>
      </p:sp>
      <p:sp>
        <p:nvSpPr>
          <p:cNvPr id="28" name="Shape 26"/>
          <p:cNvSpPr/>
          <p:nvPr/>
        </p:nvSpPr>
        <p:spPr>
          <a:xfrm>
            <a:off x="7842250" y="3651945"/>
            <a:ext cx="0" cy="744041"/>
          </a:xfrm>
          <a:prstGeom prst="line">
            <a:avLst/>
          </a:prstGeom>
          <a:noFill/>
          <a:ln w="38100">
            <a:solidFill>
              <a:srgbClr val="3A8F63"/>
            </a:solidFill>
            <a:prstDash val="solid"/>
          </a:ln>
        </p:spPr>
      </p:sp>
      <p:sp>
        <p:nvSpPr>
          <p:cNvPr id="29" name="Text 27"/>
          <p:cNvSpPr/>
          <p:nvPr/>
        </p:nvSpPr>
        <p:spPr>
          <a:xfrm>
            <a:off x="7988300" y="3677345"/>
            <a:ext cx="3492627" cy="7186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El transile dejó de ser cosa de inicio de semana: esta vez convivió con la soja externa casi todos los días.</a:t>
            </a:r>
            <a:endParaRPr lang="en-US" sz="1300" dirty="0"/>
          </a:p>
        </p:txBody>
      </p:sp>
      <p:pic>
        <p:nvPicPr>
          <p:cNvPr id="3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sp>
        <p:nvSpPr>
          <p:cNvPr id="31" name="Text 2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Comité de Logística Nodo Sur · 24–30/09 · 26</a:t>
            </a:r>
            <a:endParaRPr lang="en-US" sz="1200" dirty="0"/>
          </a:p>
        </p:txBody>
      </p:sp>
      <p:pic>
        <p:nvPicPr>
          <p:cNvPr id="32"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E1B4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E1B4E"/>
              </a:gs>
              <a:gs pos="60000">
                <a:srgbClr val="1F3A38"/>
              </a:gs>
              <a:gs pos="100000">
                <a:srgbClr val="0B5638"/>
              </a:gs>
            </a:gsLst>
            <a:lin ang="1800000" scaled="0"/>
          </a:gradFill>
          <a:ln/>
        </p:spPr>
      </p:sp>
      <p:sp>
        <p:nvSpPr>
          <p:cNvPr id="3" name="Text 1"/>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CBAE"/>
                </a:solidFill>
                <a:latin typeface="IBM Plex Sans" pitchFamily="34" charset="0"/>
                <a:ea typeface="IBM Plex Sans" pitchFamily="34" charset="-122"/>
                <a:cs typeface="IBM Plex Sans" pitchFamily="34" charset="-120"/>
              </a:rPr>
              <a:t>CIERRE · ANÁLISIS GENERAL</a:t>
            </a:r>
            <a:endParaRPr lang="en-US" sz="1400" dirty="0"/>
          </a:p>
        </p:txBody>
      </p:sp>
      <p:sp>
        <p:nvSpPr>
          <p:cNvPr id="4" name="Text 2"/>
          <p:cNvSpPr/>
          <p:nvPr>
            <p:ph type="title"/>
          </p:nvPr>
        </p:nvSpPr>
        <p:spPr>
          <a:xfrm>
            <a:off x="812800" y="934641"/>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2"/>
                </a:solidFill>
                <a:latin typeface="IBM Plex Sans" pitchFamily="34" charset="0"/>
                <a:ea typeface="IBM Plex Sans" pitchFamily="34" charset="-122"/>
                <a:cs typeface="IBM Plex Sans" pitchFamily="34" charset="-120"/>
              </a:rPr>
              <a:t>La semana en seis lecturas</a:t>
            </a:r>
            <a:endParaRPr lang="en-US" sz="3600" dirty="0"/>
          </a:p>
        </p:txBody>
      </p:sp>
      <p:sp>
        <p:nvSpPr>
          <p:cNvPr id="5" name="Shape 3"/>
          <p:cNvSpPr/>
          <p:nvPr/>
        </p:nvSpPr>
        <p:spPr>
          <a:xfrm>
            <a:off x="815975" y="1618456"/>
            <a:ext cx="3414117" cy="1398191"/>
          </a:xfrm>
          <a:prstGeom prst="roundRect">
            <a:avLst>
              <a:gd name="adj" fmla="val 7039"/>
            </a:avLst>
          </a:prstGeom>
          <a:solidFill>
            <a:srgbClr val="FFFFFF">
              <a:alpha val="7000"/>
            </a:srgbClr>
          </a:solidFill>
          <a:ln w="6350">
            <a:solidFill>
              <a:srgbClr val="F1F6F2">
                <a:alpha val="18000"/>
              </a:srgbClr>
            </a:solidFill>
            <a:prstDash val="solid"/>
          </a:ln>
        </p:spPr>
      </p:sp>
      <p:sp>
        <p:nvSpPr>
          <p:cNvPr id="6" name="Text 4"/>
          <p:cNvSpPr/>
          <p:nvPr/>
        </p:nvSpPr>
        <p:spPr>
          <a:xfrm>
            <a:off x="996950" y="1774031"/>
            <a:ext cx="3143732"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F6F2"/>
                </a:solidFill>
                <a:latin typeface="IBM Plex Sans" pitchFamily="34" charset="0"/>
                <a:ea typeface="IBM Plex Sans" pitchFamily="34" charset="-122"/>
                <a:cs typeface="IBM Plex Sans" pitchFamily="34" charset="-120"/>
              </a:rPr>
              <a:t>265 min</a:t>
            </a:r>
            <a:endParaRPr lang="en-US" sz="2400" dirty="0"/>
          </a:p>
        </p:txBody>
      </p:sp>
      <p:sp>
        <p:nvSpPr>
          <p:cNvPr id="7" name="Text 5"/>
          <p:cNvSpPr/>
          <p:nvPr/>
        </p:nvSpPr>
        <p:spPr>
          <a:xfrm>
            <a:off x="996950" y="2142331"/>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CCBAE"/>
                </a:solidFill>
                <a:latin typeface="IBM Plex Sans" pitchFamily="34" charset="0"/>
                <a:ea typeface="IBM Plex Sans" pitchFamily="34" charset="-122"/>
                <a:cs typeface="IBM Plex Sans" pitchFamily="34" charset="-120"/>
              </a:rPr>
              <a:t>La soja, en su mejor tiempo</a:t>
            </a:r>
            <a:endParaRPr lang="en-US" sz="1500" dirty="0"/>
          </a:p>
        </p:txBody>
      </p:sp>
      <p:sp>
        <p:nvSpPr>
          <p:cNvPr id="8" name="Text 6"/>
          <p:cNvSpPr/>
          <p:nvPr/>
        </p:nvSpPr>
        <p:spPr>
          <a:xfrm>
            <a:off x="996950" y="2434431"/>
            <a:ext cx="31437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4DA"/>
                </a:solidFill>
                <a:latin typeface="IBM Plex Sans" pitchFamily="34" charset="0"/>
                <a:ea typeface="IBM Plex Sans" pitchFamily="34" charset="-122"/>
                <a:cs typeface="IBM Plex Sans" pitchFamily="34" charset="-120"/>
              </a:rPr>
              <a:t>Puerta a puerta por debajo de todo lo visto desde junio (mínimo previo 276).</a:t>
            </a:r>
            <a:endParaRPr lang="en-US" sz="1200" dirty="0"/>
          </a:p>
        </p:txBody>
      </p:sp>
      <p:sp>
        <p:nvSpPr>
          <p:cNvPr id="9" name="Shape 7"/>
          <p:cNvSpPr/>
          <p:nvPr/>
        </p:nvSpPr>
        <p:spPr>
          <a:xfrm>
            <a:off x="4388842" y="1618456"/>
            <a:ext cx="3414216" cy="1398191"/>
          </a:xfrm>
          <a:prstGeom prst="roundRect">
            <a:avLst>
              <a:gd name="adj" fmla="val 7039"/>
            </a:avLst>
          </a:prstGeom>
          <a:solidFill>
            <a:srgbClr val="FFFFFF">
              <a:alpha val="7000"/>
            </a:srgbClr>
          </a:solidFill>
          <a:ln w="6350">
            <a:solidFill>
              <a:srgbClr val="F1F6F2">
                <a:alpha val="18000"/>
              </a:srgbClr>
            </a:solidFill>
            <a:prstDash val="solid"/>
          </a:ln>
        </p:spPr>
      </p:sp>
      <p:sp>
        <p:nvSpPr>
          <p:cNvPr id="10" name="Text 8"/>
          <p:cNvSpPr/>
          <p:nvPr/>
        </p:nvSpPr>
        <p:spPr>
          <a:xfrm>
            <a:off x="4569817" y="1774031"/>
            <a:ext cx="314383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F6F2"/>
                </a:solidFill>
                <a:latin typeface="IBM Plex Sans" pitchFamily="34" charset="0"/>
                <a:ea typeface="IBM Plex Sans" pitchFamily="34" charset="-122"/>
                <a:cs typeface="IBM Plex Sans" pitchFamily="34" charset="-120"/>
              </a:rPr>
              <a:t>74 min</a:t>
            </a:r>
            <a:endParaRPr lang="en-US" sz="2400" dirty="0"/>
          </a:p>
        </p:txBody>
      </p:sp>
      <p:sp>
        <p:nvSpPr>
          <p:cNvPr id="11" name="Text 9"/>
          <p:cNvSpPr/>
          <p:nvPr/>
        </p:nvSpPr>
        <p:spPr>
          <a:xfrm>
            <a:off x="4569817" y="214233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CCBAE"/>
                </a:solidFill>
                <a:latin typeface="IBM Plex Sans" pitchFamily="34" charset="0"/>
                <a:ea typeface="IBM Plex Sans" pitchFamily="34" charset="-122"/>
                <a:cs typeface="IBM Plex Sans" pitchFamily="34" charset="-120"/>
              </a:rPr>
              <a:t>Ricardone volvió a mejorar</a:t>
            </a:r>
            <a:endParaRPr lang="en-US" sz="1500" dirty="0"/>
          </a:p>
        </p:txBody>
      </p:sp>
      <p:sp>
        <p:nvSpPr>
          <p:cNvPr id="12" name="Text 10"/>
          <p:cNvSpPr/>
          <p:nvPr/>
        </p:nvSpPr>
        <p:spPr>
          <a:xfrm>
            <a:off x="4569817" y="243443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4DA"/>
                </a:solidFill>
                <a:latin typeface="IBM Plex Sans" pitchFamily="34" charset="0"/>
                <a:ea typeface="IBM Plex Sans" pitchFamily="34" charset="-122"/>
                <a:cs typeface="IBM Plex Sans" pitchFamily="34" charset="-120"/>
              </a:rPr>
              <a:t>Playa 1 en su mínimo desde junio (antes 87). San Lorenzo, en 188 min, no acompañó.</a:t>
            </a:r>
            <a:endParaRPr lang="en-US" sz="1200" dirty="0"/>
          </a:p>
        </p:txBody>
      </p:sp>
      <p:sp>
        <p:nvSpPr>
          <p:cNvPr id="13" name="Shape 11"/>
          <p:cNvSpPr/>
          <p:nvPr/>
        </p:nvSpPr>
        <p:spPr>
          <a:xfrm>
            <a:off x="7961809" y="1618456"/>
            <a:ext cx="3414216" cy="1398191"/>
          </a:xfrm>
          <a:prstGeom prst="roundRect">
            <a:avLst>
              <a:gd name="adj" fmla="val 7039"/>
            </a:avLst>
          </a:prstGeom>
          <a:solidFill>
            <a:srgbClr val="FFFFFF">
              <a:alpha val="7000"/>
            </a:srgbClr>
          </a:solidFill>
          <a:ln w="6350">
            <a:solidFill>
              <a:srgbClr val="F1F6F2">
                <a:alpha val="18000"/>
              </a:srgbClr>
            </a:solidFill>
            <a:prstDash val="solid"/>
          </a:ln>
        </p:spPr>
      </p:sp>
      <p:sp>
        <p:nvSpPr>
          <p:cNvPr id="14" name="Text 12"/>
          <p:cNvSpPr/>
          <p:nvPr/>
        </p:nvSpPr>
        <p:spPr>
          <a:xfrm>
            <a:off x="8142784" y="1774031"/>
            <a:ext cx="314383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F6F2"/>
                </a:solidFill>
                <a:latin typeface="IBM Plex Sans" pitchFamily="34" charset="0"/>
                <a:ea typeface="IBM Plex Sans" pitchFamily="34" charset="-122"/>
                <a:cs typeface="IBM Plex Sans" pitchFamily="34" charset="-120"/>
              </a:rPr>
              <a:t>87 %</a:t>
            </a:r>
            <a:endParaRPr lang="en-US" sz="2400" dirty="0"/>
          </a:p>
        </p:txBody>
      </p:sp>
      <p:sp>
        <p:nvSpPr>
          <p:cNvPr id="15" name="Text 13"/>
          <p:cNvSpPr/>
          <p:nvPr/>
        </p:nvSpPr>
        <p:spPr>
          <a:xfrm>
            <a:off x="8142784" y="214233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CCBAE"/>
                </a:solidFill>
                <a:latin typeface="IBM Plex Sans" pitchFamily="34" charset="0"/>
                <a:ea typeface="IBM Plex Sans" pitchFamily="34" charset="-122"/>
                <a:cs typeface="IBM Plex Sans" pitchFamily="34" charset="-120"/>
              </a:rPr>
              <a:t>Calada en dos calles</a:t>
            </a:r>
            <a:endParaRPr lang="en-US" sz="1500" dirty="0"/>
          </a:p>
        </p:txBody>
      </p:sp>
      <p:sp>
        <p:nvSpPr>
          <p:cNvPr id="16" name="Text 14"/>
          <p:cNvSpPr/>
          <p:nvPr/>
        </p:nvSpPr>
        <p:spPr>
          <a:xfrm>
            <a:off x="8142784" y="243443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4DA"/>
                </a:solidFill>
                <a:latin typeface="IBM Plex Sans" pitchFamily="34" charset="0"/>
                <a:ea typeface="IBM Plex Sans" pitchFamily="34" charset="-122"/>
                <a:cs typeface="IBM Plex Sans" pitchFamily="34" charset="-120"/>
              </a:rPr>
              <a:t>Las calles 3 y 4 hicieron el 87 %; la 1 y la 2 abrieron solo lunes y martes.</a:t>
            </a:r>
            <a:endParaRPr lang="en-US" sz="1200" dirty="0"/>
          </a:p>
        </p:txBody>
      </p:sp>
      <p:sp>
        <p:nvSpPr>
          <p:cNvPr id="17" name="Shape 15"/>
          <p:cNvSpPr/>
          <p:nvPr/>
        </p:nvSpPr>
        <p:spPr>
          <a:xfrm>
            <a:off x="815975" y="3175397"/>
            <a:ext cx="3414117" cy="1611511"/>
          </a:xfrm>
          <a:prstGeom prst="roundRect">
            <a:avLst>
              <a:gd name="adj" fmla="val 6108"/>
            </a:avLst>
          </a:prstGeom>
          <a:solidFill>
            <a:srgbClr val="FFFFFF">
              <a:alpha val="7000"/>
            </a:srgbClr>
          </a:solidFill>
          <a:ln w="6350">
            <a:solidFill>
              <a:srgbClr val="F1F6F2">
                <a:alpha val="18000"/>
              </a:srgbClr>
            </a:solidFill>
            <a:prstDash val="solid"/>
          </a:ln>
        </p:spPr>
      </p:sp>
      <p:sp>
        <p:nvSpPr>
          <p:cNvPr id="18" name="Text 16"/>
          <p:cNvSpPr/>
          <p:nvPr/>
        </p:nvSpPr>
        <p:spPr>
          <a:xfrm>
            <a:off x="996950" y="3330972"/>
            <a:ext cx="3143732"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F6F2"/>
                </a:solidFill>
                <a:latin typeface="IBM Plex Sans" pitchFamily="34" charset="0"/>
                <a:ea typeface="IBM Plex Sans" pitchFamily="34" charset="-122"/>
                <a:cs typeface="IBM Plex Sans" pitchFamily="34" charset="-120"/>
              </a:rPr>
              <a:t>477 min</a:t>
            </a:r>
            <a:endParaRPr lang="en-US" sz="2400" dirty="0"/>
          </a:p>
        </p:txBody>
      </p:sp>
      <p:sp>
        <p:nvSpPr>
          <p:cNvPr id="19" name="Text 17"/>
          <p:cNvSpPr/>
          <p:nvPr/>
        </p:nvSpPr>
        <p:spPr>
          <a:xfrm>
            <a:off x="996950" y="3699272"/>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9A8E0"/>
                </a:solidFill>
                <a:latin typeface="IBM Plex Sans" pitchFamily="34" charset="0"/>
                <a:ea typeface="IBM Plex Sans" pitchFamily="34" charset="-122"/>
                <a:cs typeface="IBM Plex Sans" pitchFamily="34" charset="-120"/>
              </a:rPr>
              <a:t>Girasol, con más espera</a:t>
            </a:r>
            <a:endParaRPr lang="en-US" sz="1500" dirty="0"/>
          </a:p>
        </p:txBody>
      </p:sp>
      <p:sp>
        <p:nvSpPr>
          <p:cNvPr id="20" name="Text 18"/>
          <p:cNvSpPr/>
          <p:nvPr/>
        </p:nvSpPr>
        <p:spPr>
          <a:xfrm>
            <a:off x="996950" y="3991372"/>
            <a:ext cx="314373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4DA"/>
                </a:solidFill>
                <a:latin typeface="IBM Plex Sans" pitchFamily="34" charset="0"/>
                <a:ea typeface="IBM Plex Sans" pitchFamily="34" charset="-122"/>
                <a:cs typeface="IBM Plex Sans" pitchFamily="34" charset="-120"/>
              </a:rPr>
              <a:t>Playa 1 en 177 y Playa 3 → volcable en 249 min: la volcable 1 estuvo demorada el jueves y parada lunes y martes.</a:t>
            </a:r>
            <a:endParaRPr lang="en-US" sz="1200" dirty="0"/>
          </a:p>
        </p:txBody>
      </p:sp>
      <p:sp>
        <p:nvSpPr>
          <p:cNvPr id="21" name="Shape 19"/>
          <p:cNvSpPr/>
          <p:nvPr/>
        </p:nvSpPr>
        <p:spPr>
          <a:xfrm>
            <a:off x="4388842" y="3175397"/>
            <a:ext cx="3414216" cy="1611511"/>
          </a:xfrm>
          <a:prstGeom prst="roundRect">
            <a:avLst>
              <a:gd name="adj" fmla="val 6108"/>
            </a:avLst>
          </a:prstGeom>
          <a:solidFill>
            <a:srgbClr val="FFFFFF">
              <a:alpha val="7000"/>
            </a:srgbClr>
          </a:solidFill>
          <a:ln w="6350">
            <a:solidFill>
              <a:srgbClr val="F1F6F2">
                <a:alpha val="18000"/>
              </a:srgbClr>
            </a:solidFill>
            <a:prstDash val="solid"/>
          </a:ln>
        </p:spPr>
      </p:sp>
      <p:sp>
        <p:nvSpPr>
          <p:cNvPr id="22" name="Text 20"/>
          <p:cNvSpPr/>
          <p:nvPr/>
        </p:nvSpPr>
        <p:spPr>
          <a:xfrm>
            <a:off x="4569817" y="3330972"/>
            <a:ext cx="314383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F6F2"/>
                </a:solidFill>
                <a:latin typeface="IBM Plex Sans" pitchFamily="34" charset="0"/>
                <a:ea typeface="IBM Plex Sans" pitchFamily="34" charset="-122"/>
                <a:cs typeface="IBM Plex Sans" pitchFamily="34" charset="-120"/>
              </a:rPr>
              <a:t>516</a:t>
            </a:r>
            <a:endParaRPr lang="en-US" sz="2400" dirty="0"/>
          </a:p>
        </p:txBody>
      </p:sp>
      <p:sp>
        <p:nvSpPr>
          <p:cNvPr id="23" name="Text 21"/>
          <p:cNvSpPr/>
          <p:nvPr/>
        </p:nvSpPr>
        <p:spPr>
          <a:xfrm>
            <a:off x="4569817" y="369927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9A8E0"/>
                </a:solidFill>
                <a:latin typeface="IBM Plex Sans" pitchFamily="34" charset="0"/>
                <a:ea typeface="IBM Plex Sans" pitchFamily="34" charset="-122"/>
                <a:cs typeface="IBM Plex Sans" pitchFamily="34" charset="-120"/>
              </a:rPr>
              <a:t>El transile, toda la semana</a:t>
            </a:r>
            <a:endParaRPr lang="en-US" sz="1500" dirty="0"/>
          </a:p>
        </p:txBody>
      </p:sp>
      <p:sp>
        <p:nvSpPr>
          <p:cNvPr id="24" name="Text 22"/>
          <p:cNvSpPr/>
          <p:nvPr/>
        </p:nvSpPr>
        <p:spPr>
          <a:xfrm>
            <a:off x="4569817" y="3991372"/>
            <a:ext cx="314383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4DA"/>
                </a:solidFill>
                <a:latin typeface="IBM Plex Sans" pitchFamily="34" charset="0"/>
                <a:ea typeface="IBM Plex Sans" pitchFamily="34" charset="-122"/>
                <a:cs typeface="IBM Plex Sans" pitchFamily="34" charset="-120"/>
              </a:rPr>
              <a:t>Silos cargó de jueves a martes; vueltas de 5 h 0 m, con la espera en silo como tramo más largo.</a:t>
            </a:r>
            <a:endParaRPr lang="en-US" sz="1200" dirty="0"/>
          </a:p>
        </p:txBody>
      </p:sp>
      <p:sp>
        <p:nvSpPr>
          <p:cNvPr id="25" name="Shape 23"/>
          <p:cNvSpPr/>
          <p:nvPr/>
        </p:nvSpPr>
        <p:spPr>
          <a:xfrm>
            <a:off x="7961809" y="3175397"/>
            <a:ext cx="3414216" cy="1611511"/>
          </a:xfrm>
          <a:prstGeom prst="roundRect">
            <a:avLst>
              <a:gd name="adj" fmla="val 6108"/>
            </a:avLst>
          </a:prstGeom>
          <a:solidFill>
            <a:srgbClr val="FFFFFF">
              <a:alpha val="7000"/>
            </a:srgbClr>
          </a:solidFill>
          <a:ln w="6350">
            <a:solidFill>
              <a:srgbClr val="F1F6F2">
                <a:alpha val="18000"/>
              </a:srgbClr>
            </a:solidFill>
            <a:prstDash val="solid"/>
          </a:ln>
        </p:spPr>
      </p:sp>
      <p:sp>
        <p:nvSpPr>
          <p:cNvPr id="26" name="Text 24"/>
          <p:cNvSpPr/>
          <p:nvPr/>
        </p:nvSpPr>
        <p:spPr>
          <a:xfrm>
            <a:off x="8142784" y="3330972"/>
            <a:ext cx="314383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F6F2"/>
                </a:solidFill>
                <a:latin typeface="IBM Plex Sans" pitchFamily="34" charset="0"/>
                <a:ea typeface="IBM Plex Sans" pitchFamily="34" charset="-122"/>
                <a:cs typeface="IBM Plex Sans" pitchFamily="34" charset="-120"/>
              </a:rPr>
              <a:t>Lun 28</a:t>
            </a:r>
            <a:endParaRPr lang="en-US" sz="2400" dirty="0"/>
          </a:p>
        </p:txBody>
      </p:sp>
      <p:sp>
        <p:nvSpPr>
          <p:cNvPr id="27" name="Text 25"/>
          <p:cNvSpPr/>
          <p:nvPr/>
        </p:nvSpPr>
        <p:spPr>
          <a:xfrm>
            <a:off x="8142784" y="369927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9A8E0"/>
                </a:solidFill>
                <a:latin typeface="IBM Plex Sans" pitchFamily="34" charset="0"/>
                <a:ea typeface="IBM Plex Sans" pitchFamily="34" charset="-122"/>
                <a:cs typeface="IBM Plex Sans" pitchFamily="34" charset="-120"/>
              </a:rPr>
              <a:t>El día para revisar</a:t>
            </a:r>
            <a:endParaRPr lang="en-US" sz="1500" dirty="0"/>
          </a:p>
        </p:txBody>
      </p:sp>
      <p:sp>
        <p:nvSpPr>
          <p:cNvPr id="28" name="Text 26"/>
          <p:cNvSpPr/>
          <p:nvPr/>
        </p:nvSpPr>
        <p:spPr>
          <a:xfrm>
            <a:off x="8142784" y="3991372"/>
            <a:ext cx="314383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4DA"/>
                </a:solidFill>
                <a:latin typeface="IBM Plex Sans" pitchFamily="34" charset="0"/>
                <a:ea typeface="IBM Plex Sans" pitchFamily="34" charset="-122"/>
                <a:cs typeface="IBM Plex Sans" pitchFamily="34" charset="-120"/>
              </a:rPr>
              <a:t>Más soja de la semana (135), PV2 del puerto y volcable 1 de Ricardone sin descargar, San Lorenzo en 248 min.</a:t>
            </a:r>
            <a:endParaRPr lang="en-US" sz="1200" dirty="0"/>
          </a:p>
        </p:txBody>
      </p:sp>
      <p:pic>
        <p:nvPicPr>
          <p:cNvPr id="29" name="Image 0" descr="Nueva Vicentin Argentina">    </p:cNvPr>
          <p:cNvPicPr>
            <a:picLocks noChangeAspect="1"/>
          </p:cNvPicPr>
          <p:nvPr/>
        </p:nvPicPr>
        <p:blipFill>
          <a:blip r:embed="rId1"/>
          <a:srcRect l="-167" r="-167" t="0" b="0"/>
          <a:stretch/>
        </p:blipFill>
        <p:spPr>
          <a:xfrm>
            <a:off x="812800" y="5638800"/>
            <a:ext cx="1143000" cy="609600"/>
          </a:xfrm>
          <a:prstGeom prst="rect">
            <a:avLst/>
          </a:prstGeom>
        </p:spPr>
      </p:pic>
      <p:sp>
        <p:nvSpPr>
          <p:cNvPr id="30" name="Text 27"/>
          <p:cNvSpPr/>
          <p:nvPr/>
        </p:nvSpPr>
        <p:spPr>
          <a:xfrm>
            <a:off x="4717157" y="5836940"/>
            <a:ext cx="33855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Comité de Logística Nodo Sur · 24–30/09</a:t>
            </a:r>
            <a:endParaRPr lang="en-US" sz="1200" dirty="0"/>
          </a:p>
        </p:txBody>
      </p:sp>
      <p:pic>
        <p:nvPicPr>
          <p:cNvPr id="31" name="Image 1" descr="Bimtrazer">    </p:cNvPr>
          <p:cNvPicPr>
            <a:picLocks noChangeAspect="1"/>
          </p:cNvPicPr>
          <p:nvPr/>
        </p:nvPicPr>
        <p:blipFill>
          <a:blip r:embed="rId2"/>
          <a:srcRect l="0" r="0" t="-63" b="-63"/>
          <a:stretch/>
        </p:blipFill>
        <p:spPr>
          <a:xfrm>
            <a:off x="10299700" y="5689600"/>
            <a:ext cx="1079500" cy="508000"/>
          </a:xfrm>
          <a:prstGeom prst="rect">
            <a:avLst/>
          </a:prstGeom>
        </p:spPr>
      </p:pic>
    </p:spTree>
  </p:cSld>
  <p:clrMapOvr>
    <a:masterClrMapping/>
  </p:clrMapOvr>
</p:sld>
</file>

<file path=ppt/theme/theme1.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Comité de Logística Nodo Sur · Semana 24–30 sep</dc:title>
  <dc:subject/>
  <dc:creator/>
  <cp:lastModifiedBy/>
  <cp:revision>1</cp:revision>
  <dcterms:created xsi:type="dcterms:W3CDTF">2026-10-02T14:54:25Z</dcterms:created>
  <dcterms:modified xsi:type="dcterms:W3CDTF">2026-10-02T14:54:25Z</dcterms:modified>
</cp:coreProperties>
</file>