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ac58d8d564664" /><Relationship Type="http://schemas.openxmlformats.org/officeDocument/2006/relationships/extended-properties" Target="/docProps/app.xml" Id="R05fa71f6d3694a0f" /><Relationship Type="http://schemas.openxmlformats.org/officeDocument/2006/relationships/officeDocument" Target="/ppt/presentation.xml" Id="Re1b976903fc2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22ad4e60c24f0e"/>
  </p:sldMasterIdLst>
  <p:notesMasterIdLst>
    <p:notesMasterId xmlns:r="http://schemas.openxmlformats.org/officeDocument/2006/relationships" r:id="Rdadf8e8b1586403c"/>
  </p:notesMasterIdLst>
  <p:sldIdLst>
    <p:sldId xmlns:r="http://schemas.openxmlformats.org/officeDocument/2006/relationships" id="256" r:id="R33f4166e74e644af"/>
    <p:sldId xmlns:r="http://schemas.openxmlformats.org/officeDocument/2006/relationships" id="257" r:id="R6502180a2c104a93"/>
    <p:sldId xmlns:r="http://schemas.openxmlformats.org/officeDocument/2006/relationships" id="258" r:id="R9715e405c5554390"/>
    <p:sldId xmlns:r="http://schemas.openxmlformats.org/officeDocument/2006/relationships" id="259" r:id="Rfdb5d2ca49f74c90"/>
    <p:sldId xmlns:r="http://schemas.openxmlformats.org/officeDocument/2006/relationships" id="260" r:id="R20d32f7b4d584e2d"/>
    <p:sldId xmlns:r="http://schemas.openxmlformats.org/officeDocument/2006/relationships" id="261" r:id="Rb67205e2421f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02bfa3c344379" /><Relationship Type="http://schemas.openxmlformats.org/officeDocument/2006/relationships/slideMaster" Target="/ppt/slideMasters/slideMaster1.xml" Id="R4522ad4e60c24f0e" /><Relationship Type="http://schemas.openxmlformats.org/officeDocument/2006/relationships/notesMaster" Target="/ppt/notesMasters/notesMaster1.xml" Id="Rdadf8e8b1586403c" /><Relationship Type="http://schemas.openxmlformats.org/officeDocument/2006/relationships/presProps" Target="/ppt/presProps.xml" Id="R23f8855aecd4422b" /><Relationship Type="http://schemas.openxmlformats.org/officeDocument/2006/relationships/tableStyles" Target="/ppt/tableStyles.xml" Id="R1b7d7f9ca5f24b74" /><Relationship Type="http://schemas.openxmlformats.org/officeDocument/2006/relationships/slide" Target="/ppt/slides/slide1.xml" Id="R33f4166e74e644af" /><Relationship Type="http://schemas.openxmlformats.org/officeDocument/2006/relationships/slide" Target="/ppt/slides/slide2.xml" Id="R6502180a2c104a93" /><Relationship Type="http://schemas.openxmlformats.org/officeDocument/2006/relationships/slide" Target="/ppt/slides/slide3.xml" Id="R9715e405c5554390" /><Relationship Type="http://schemas.openxmlformats.org/officeDocument/2006/relationships/slide" Target="/ppt/slides/slide4.xml" Id="Rfdb5d2ca49f74c90" /><Relationship Type="http://schemas.openxmlformats.org/officeDocument/2006/relationships/slide" Target="/ppt/slides/slide5.xml" Id="R20d32f7b4d584e2d" /><Relationship Type="http://schemas.openxmlformats.org/officeDocument/2006/relationships/slide" Target="/ppt/slides/slide6.xml" Id="Rb67205e2421f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fc8c45c9f5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bcbc44d324990" /><Relationship Type="http://schemas.openxmlformats.org/officeDocument/2006/relationships/notesMaster" Target="/ppt/notesMasters/notesMaster1.xml" Id="R433ae45c65ce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76a37d2034ca5" /><Relationship Type="http://schemas.openxmlformats.org/officeDocument/2006/relationships/notesMaster" Target="/ppt/notesMasters/notesMaster1.xml" Id="R1bead0f18fea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c163c5490f41b4" /><Relationship Type="http://schemas.openxmlformats.org/officeDocument/2006/relationships/notesMaster" Target="/ppt/notesMasters/notesMaster1.xml" Id="Rf1ec71d64905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fa5adc85e34311" /><Relationship Type="http://schemas.openxmlformats.org/officeDocument/2006/relationships/notesMaster" Target="/ppt/notesMasters/notesMaster1.xml" Id="R4838693b95a542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6a18834df142a2" /><Relationship Type="http://schemas.openxmlformats.org/officeDocument/2006/relationships/notesMaster" Target="/ppt/notesMasters/notesMaster1.xml" Id="Rc1bc5d8f13a84d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200deaaea04423" /><Relationship Type="http://schemas.openxmlformats.org/officeDocument/2006/relationships/notesMaster" Target="/ppt/notesMasters/notesMaster1.xml" Id="Rbe5ad9497f2f42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Runs: 2026-09-21_2026-09-27 y 2026-09-28_2026-10-04. rulesVersion: etl_transform_v17. Octubre: ejecución aislada camera-runs, sin Excel. Fuentes: excel_operations_with_truckflow; calada_camera_events; san_lorenzo_volcable_events; ricardone_volcable_events; calada_ricardone_liquid_events; circuit_timing_summary, circuit_timing_journeys y segment_timing_legs. Cálculos reproducibles: analyze.mjs y 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Runs: 2026-09-21_2026-09-27 y 2026-09-28_2026-10-04. rulesVersion: etl_transform_v17. Octubre: ejecución aislada camera-runs, sin Excel. Fuentes: excel_operations_with_truckflow; calada_camera_events; san_lorenzo_volcable_events; ricardone_volcable_events; calada_ricardone_liquid_events; circuit_timing_summary, circuit_timing_journeys y segment_timing_legs. Cálculos reproducibles: analyze.mjs y 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Runs: 2026-09-21_2026-09-27 y 2026-09-28_2026-10-04. rulesVersion: etl_transform_v17. Octubre: ejecución aislada camera-runs, sin Excel. Fuentes: excel_operations_with_truckflow; calada_camera_events; san_lorenzo_volcable_events; ricardone_volcable_events; calada_ricardone_liquid_events; circuit_timing_summary, circuit_timing_journeys y segment_timing_legs. Cálculos reproducibles: analyze.mjs y 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Runs: 2026-09-21_2026-09-27 y 2026-09-28_2026-10-04. rulesVersion: etl_transform_v17. Octubre: ejecución aislada camera-runs, sin Excel. Fuentes: excel_operations_with_truckflow; calada_camera_events; san_lorenzo_volcable_events; ricardone_volcable_events; calada_ricardone_liquid_events; circuit_timing_summary, circuit_timing_journeys y segment_timing_legs. Cálculos reproducibles: analyze.mjs y 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Runs: 2026-09-21_2026-09-27 y 2026-09-28_2026-10-04. rulesVersion: etl_transform_v17. Octubre: ejecución aislada camera-runs, sin Excel. Fuentes: excel_operations_with_truckflow; calada_camera_events; san_lorenzo_volcable_events; ricardone_volcable_events; calada_ricardone_liquid_events; circuit_timing_summary, circuit_timing_journeys y segment_timing_legs. Cálculos reproducibles: analyze.mjs y 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Runs: 2026-09-21_2026-09-27 y 2026-09-28_2026-10-04. rulesVersion: etl_transform_v17. Octubre: ejecución aislada camera-runs, sin Excel. Fuentes: excel_operations_with_truckflow; calada_camera_events; san_lorenzo_volcable_events; ricardone_volcable_events; calada_ricardone_liquid_events; circuit_timing_summary, circuit_timing_journeys y segment_timing_legs. Cálculos reproducibles: analyze.mjs y 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443d2f2aa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15097dcfd74e69" /><Relationship Type="http://schemas.openxmlformats.org/officeDocument/2006/relationships/slideLayout" Target="/ppt/slideLayouts/slideLayout1.xml" Id="R3f7a297a83424b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7a297a83424b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4881e22ba4026" /><Relationship Type="http://schemas.openxmlformats.org/officeDocument/2006/relationships/notesSlide" Target="/ppt/notesSlides/notesSlide1.xml" Id="R90706c96590f44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6ecefd5a54034" /><Relationship Type="http://schemas.openxmlformats.org/officeDocument/2006/relationships/notesSlide" Target="/ppt/notesSlides/notesSlide2.xml" Id="Rf0f3a0918d05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0e57b0a454c0a" /><Relationship Type="http://schemas.openxmlformats.org/officeDocument/2006/relationships/notesSlide" Target="/ppt/notesSlides/notesSlide3.xml" Id="Rd8e07dc24ebf4b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87d373b40496e" /><Relationship Type="http://schemas.openxmlformats.org/officeDocument/2006/relationships/notesSlide" Target="/ppt/notesSlides/notesSlide4.xml" Id="R0dbffe804ae24b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ca811b1a8431b" /><Relationship Type="http://schemas.openxmlformats.org/officeDocument/2006/relationships/notesSlide" Target="/ppt/notesSlides/notesSlide5.xml" Id="R045bb4351f844f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82c61e91b4d88" /><Relationship Type="http://schemas.openxmlformats.org/officeDocument/2006/relationships/notesSlide" Target="/ppt/notesSlides/notesSlide6.xml" Id="R420685a88c1f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2EFA7-2449-4DD7-94E2-8C1AD61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Cuánto cambiarían los movimientos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BA57-9510-4E02-BAC9-B2EDDCA8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Escenario sin Excel de octubre. Misma base temporal: fecha de ingreso; todos los circuitos del producto.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C0E34-D85B-424D-A09C-29CA01F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Comité de Logística · Actualización 1–3/10/2026 · Provisional · Anexo 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190750"/>
                <a:gridCol w="2286000"/>
                <a:gridCol w="2476500"/>
                <a:gridCol w="2095500"/>
              </a:tblGrid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24–30/9 real¹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1–3/10 estimado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24/9–3/10²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Aumento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Soja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1.223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277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1.500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+23%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Pellet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350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86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436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+25%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Girasol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230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29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259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+12%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Líquidos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392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111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503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+28%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  <a:tr h="4857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2.195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503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2.698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+23%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9A0C6-C2ED-4FA8-A9D1-AC1E388F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¹ Movimientos registrados en Excel, no descargas verificadas. ² Acumulado condicional, no cierre confirmado.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7AED0-0647-4EBD-A47A-10451D97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rPr>
              <a:t>No sumar estos valores a los 770 / 307 / 208 / 383 de la portada: corresponden a otras poblaciones.</a:t>
            </a:r>
          </a:p>
        </p:txBody>
      </p:sp>
    </p:spTree>
    <p:extLst>
      <p:ext uri="{BB962C8B-B14F-4D97-AF65-F5344CB8AC3E}">
        <p14:creationId xmlns:p14="http://schemas.microsoft.com/office/powerpoint/2010/main" val="84144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444BF-37A1-4AA2-8199-A007D250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Qué registraron las cámaras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D433-AD16-4621-88AE-199534A4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Conteos observados por punto. Un registro no equivale a un movimiento Excel ni identifica por sí solo el producto.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FC5C3-C6CD-4C60-A454-E7FD1240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Comité de Logística · Actualización 1–3/10/2026 · Provisional · Anexo 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57400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1619250"/>
                <a:gridCol w="1619250"/>
                <a:gridCol w="1619250"/>
                <a:gridCol w="161925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Punto observado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Jue 1/10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Vie 2/10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Sáb 3/10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 días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Calada sólida Ricardone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114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96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338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Volcables Ricardone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36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Volcables San Lorenzo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318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Calada calle de líquidos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134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168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CA33C-FDC0-403F-88DA-8A8ECB9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No se suman puntos entre sí: un mismo recorrido puede aparecer en varias cámaras.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01101-579A-4D52-8D9F-50FAE83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Cobertura limitada a los archivos disponibles. La caída del sábado puede reflejar actividad o menor captura; no prueba una caída de descargas.</a:t>
            </a:r>
          </a:p>
        </p:txBody>
      </p:sp>
    </p:spTree>
    <p:extLst>
      <p:ext uri="{BB962C8B-B14F-4D97-AF65-F5344CB8AC3E}">
        <p14:creationId xmlns:p14="http://schemas.microsoft.com/office/powerpoint/2010/main" val="147691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0E49A-06F2-4F5F-95C3-839F1F6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Estimación diaria por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80A78-3CC5-4F9F-A136-839D047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Relación histórica entre movimientos Excel y actividad del punto de cámara. No se reconstruyen contratos ni toneladas.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F9647-7EB0-4776-8077-F809122C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Comité de Logística · Actualización 1–3/10/2026 · Provisional · Anexo 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190750"/>
                <a:gridCol w="2190750"/>
                <a:gridCol w="2190750"/>
                <a:gridCol w="219075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1/10 estimado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2/10 estimado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3/10 estimado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Total estimado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Soja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94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104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79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277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Pellet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49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22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15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86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Girasol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16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8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5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29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Líquidos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88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18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5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111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D1FF1-00FE-47EC-BB95-E704A46F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Soja: calada sólida · Pellet: volcables del puerto · Girasol: volcables de Ricardone · Líquidos: calada de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57BDB-BDE5-412C-B3D2-2AAF512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rPr>
              <a:t>Son indicadores indirectos y compartidos. Suponer la misma mezcla de productos que en septiembre es la principal limitación.</a:t>
            </a:r>
          </a:p>
        </p:txBody>
      </p:sp>
    </p:spTree>
    <p:extLst>
      <p:ext uri="{BB962C8B-B14F-4D97-AF65-F5344CB8AC3E}">
        <p14:creationId xmlns:p14="http://schemas.microsoft.com/office/powerpoint/2010/main" val="1811257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2B8EB-45BA-43E2-86AD-5D4E261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Cuánto confiar en la reconstrucción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5DFB-8BC2-4B35-A662-3CAFD26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Prueba temporal: calibración 24–27/9 y evaluación 28–30/9. WAPE = error absoluto total / movimientos reales.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BCDD4-D97E-4E80-B7BC-D093CB6C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Comité de Logística · Actualización 1–3/10/2026 · Provisional · Anexo 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57400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2857500"/>
                <a:gridCol w="2667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Escenario 1–3/10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Sensibilidad¹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Error temporal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Soja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277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195–345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Pellet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86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4–190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109%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Girasol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29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5–84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54%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Líquidos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≈ 111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7–542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89F31-A67E-4B25-BC28-86AC7485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rPr>
              <a:t>Soja es el escenario más consistente, pero sigue siendo provisional. Pellet, Girasol y Líquidos no tienen precisión suficiente para cerrar volúmenes.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ED01E-E445-4D34-A803-788158AE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42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¹ Mínimo y máximo de las razones diarias históricas aplicados a octubre; no es un intervalo de confianza. Modelo final calibrado con 7 días; muestra muy pequeña.</a:t>
            </a:r>
          </a:p>
        </p:txBody>
      </p:sp>
    </p:spTree>
    <p:extLst>
      <p:ext uri="{BB962C8B-B14F-4D97-AF65-F5344CB8AC3E}">
        <p14:creationId xmlns:p14="http://schemas.microsoft.com/office/powerpoint/2010/main" val="1546413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9A20D-2CAC-47D0-B9B4-12700728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Líquidos: nuevos tiempos por tramo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61AEF-5C65-4680-819E-7A0E49B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R8 de cámara con inicio entre el 1 y el 3/10. Son recorridos, no movimientos de producto confirmados por Excel.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250A3-6442-47A2-9CED-05186BF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Comité de Logística · Actualización 1–3/10/2026 · Provisional · Anexo 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14550"/>
          <a:ext xmlns:a="http://schemas.openxmlformats.org/drawingml/2006/main" cx="108585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2381250"/>
                <a:gridCol w="238125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Tramo observado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Promedio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Muestra</a:t>
                      </a:r>
                    </a:p>
                  </a:txBody>
                  <a:tcPr marL="91440" marR="91440" marT="45720" marB="45720">
                    <a:solidFill>
                      <a:srgbClr val="0B5638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Preingreso → Punto líquido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 min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10 recorridos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Punto líquido → Balanza egreso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40,6 min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2 recorridos</a:t>
                      </a:r>
                    </a:p>
                  </a:txBody>
                  <a:tcPr marL="91440" marR="91440" marT="45720" marB="45720">
                    <a:solidFill>
                      <a:srgbClr val="FCFDFB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Resto de los tramos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Sin evidencia suficiente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4281E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9C39D-6547-4ADA-90A8-C3F4E000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1">
                <a:solidFill>
                  <a:srgbClr val="91520C"/>
                </a:solidFill>
                <a:latin typeface="IBM Plex Sans"/>
                <a:ea typeface="IBM Plex Sans"/>
                <a:cs typeface="IBM Plex Sans"/>
              </a:rPr>
              <a:t>No sumar 7,0 + 40,6 como tiempo total: las muestras son distintas y faltan tramos del circuito.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A7A9F-4AA1-40D2-B972-9BCD858F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Se conserva el histórico de 328 min de la presentación, sin recalcularlo con esta muestra parcial. No hay una nueva medición comparable de puerta a puerta.</a:t>
            </a:r>
          </a:p>
        </p:txBody>
      </p:sp>
    </p:spTree>
    <p:extLst>
      <p:ext uri="{BB962C8B-B14F-4D97-AF65-F5344CB8AC3E}">
        <p14:creationId xmlns:p14="http://schemas.microsoft.com/office/powerpoint/2010/main" val="1932655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F43DB-757F-4CB6-8456-DCDA290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Qué cambia para el comité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FC982-C430-4365-9D4D-0E0BC52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La ampliación agrega evidencia de octubre y escenarios; no reemplaza el cierre histórico del 24–30/9.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28932-1E67-41FC-BAF2-020C4C2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4A5D52"/>
                </a:solidFill>
                <a:latin typeface="IBM Plex Sans"/>
                <a:ea typeface="IBM Plex Sans"/>
                <a:cs typeface="IBM Plex Sans"/>
              </a:rPr>
              <a:t>Comité de Logística · Actualización 1–3/10/2026 · Provisional · Anexo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3E463-394F-4538-8242-04260C08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Mantener los resultados históricos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EB93F-27BC-417F-BDC8-90061DBA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1E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14281E"/>
                </a:solidFill>
                <a:latin typeface="IBM Plex Sans"/>
                <a:ea typeface="IBM Plex Sans"/>
                <a:cs typeface="IBM Plex Sans"/>
              </a:rPr>
              <a:t>Los 770 Soja, 307 Pellet, 208 Girasol y 383 Líquidos del resumen original conservan su alcance. Las cifras del anexo no se suman directamente a esas tarjetas.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AA88C-3770-4D89-92F9-BEDCE6B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Usar la estimación para dimensionar, no para certificar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B3730-73BD-4DAF-A79C-D1030D9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1E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14281E"/>
                </a:solidFill>
                <a:latin typeface="IBM Plex Sans"/>
                <a:ea typeface="IBM Plex Sans"/>
                <a:cs typeface="IBM Plex Sans"/>
              </a:rPr>
              <a:t>El escenario suma aproximadamente 503 movimientos al universo de ingreso comparable. No confirma descargas, toneladas ni mejoras de tiempos.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8F478-E8F3-4918-8F77-870C2215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0B5638"/>
                </a:solidFill>
                <a:latin typeface="IBM Plex Sans"/>
                <a:ea typeface="IBM Plex Sans"/>
                <a:cs typeface="IBM Plex Sans"/>
              </a:rPr>
              <a:t>Reemplazar el escenario cuando llegue el Excel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316D5-8FC0-4DBF-A09D-CA90BEC8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1E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14281E"/>
                </a:solidFill>
                <a:latin typeface="IBM Plex Sans"/>
                <a:ea typeface="IBM Plex Sans"/>
                <a:cs typeface="IBM Plex Sans"/>
              </a:rPr>
              <a:t>Conciliar movimientos, producto y plataforma. Recalcular el acumulado y los tiempos con la misma población; publicar el desvío entre estimado y real.</a:t>
            </a:r>
          </a:p>
        </p:txBody>
      </p:sp>
    </p:spTree>
    <p:extLst>
      <p:ext uri="{BB962C8B-B14F-4D97-AF65-F5344CB8AC3E}">
        <p14:creationId xmlns:p14="http://schemas.microsoft.com/office/powerpoint/2010/main" val="953829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2026-10-05T03:27:19.4700000Z</dcterms:created>
  <dcterms:modified xsi:type="dcterms:W3CDTF">2026-10-05T03:27:19.4700000Z</dcterms:modified>
</coreProperties>
</file>